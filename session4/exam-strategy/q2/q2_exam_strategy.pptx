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6400800" cy="457200"/>
          </a:xfrm>
          <a:prstGeom prst="rect">
            <a:avLst/>
          </a:prstGeom>
          <a:noFill/>
        </p:spPr>
        <p:txBody>
          <a:bodyPr wrap="square">
            <a:spAutoFit/>
          </a:bodyPr>
          <a:lstStyle/>
          <a:p>
            <a:pPr>
              <a:defRPr sz="2000" b="1">
                <a:solidFill>
                  <a:srgbClr val="1E88E5"/>
                </a:solidFill>
                <a:latin typeface="Segoe UI"/>
              </a:defRPr>
            </a:pPr>
            <a:r>
              <a:t>Session 4 - Question 2</a:t>
            </a:r>
          </a:p>
        </p:txBody>
      </p:sp>
      <p:sp>
        <p:nvSpPr>
          <p:cNvPr id="4" name="TextBox 3"/>
          <p:cNvSpPr txBox="1"/>
          <p:nvPr/>
        </p:nvSpPr>
        <p:spPr>
          <a:xfrm>
            <a:off x="274320" y="640080"/>
            <a:ext cx="6583680" cy="1280160"/>
          </a:xfrm>
          <a:prstGeom prst="rect">
            <a:avLst/>
          </a:prstGeom>
          <a:noFill/>
        </p:spPr>
        <p:txBody>
          <a:bodyPr wrap="square" tIns="0" bIns="0">
            <a:spAutoFit/>
          </a:bodyPr>
          <a:lstStyle/>
          <a:p>
            <a:pPr>
              <a:defRPr sz="900">
                <a:solidFill>
                  <a:srgbClr val="FFFFFF"/>
                </a:solidFill>
                <a:latin typeface="Segoe UI"/>
              </a:defRPr>
            </a:pPr>
            <a:r>
              <a:t>A developer migrates a web application from an on-premises data center to the AWS Cloud. Authenticated customers use the application from many different clients simultaneously, including laptops, smartphones, and tablets. The application runs on Amazon EC2 instances behind an Application Load Balancer. The instances run in an Amazon EC2 Auto Sca...</a:t>
            </a:r>
          </a:p>
        </p:txBody>
      </p:sp>
      <p:sp>
        <p:nvSpPr>
          <p:cNvPr id="5" name="Oval 4"/>
          <p:cNvSpPr/>
          <p:nvPr/>
        </p:nvSpPr>
        <p:spPr>
          <a:xfrm>
            <a:off x="274320" y="205740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A</a:t>
            </a:r>
          </a:p>
        </p:txBody>
      </p:sp>
      <p:sp>
        <p:nvSpPr>
          <p:cNvPr id="6" name="TextBox 5"/>
          <p:cNvSpPr txBox="1"/>
          <p:nvPr/>
        </p:nvSpPr>
        <p:spPr>
          <a:xfrm>
            <a:off x="548640" y="2011680"/>
            <a:ext cx="6400800" cy="736092"/>
          </a:xfrm>
          <a:prstGeom prst="rect">
            <a:avLst/>
          </a:prstGeom>
          <a:noFill/>
        </p:spPr>
        <p:txBody>
          <a:bodyPr wrap="square" tIns="25400" bIns="0" lIns="0">
            <a:spAutoFit/>
          </a:bodyPr>
          <a:lstStyle/>
          <a:p>
            <a:pPr>
              <a:defRPr sz="800">
                <a:solidFill>
                  <a:srgbClr val="CCCCCC"/>
                </a:solidFill>
                <a:latin typeface="Segoe UI"/>
              </a:defRPr>
            </a:pPr>
            <a:r>
              <a:t>The sticky session feature of the Application Load Balancer does not solve the problem across device</a:t>
            </a:r>
          </a:p>
        </p:txBody>
      </p:sp>
      <p:sp>
        <p:nvSpPr>
          <p:cNvPr id="7" name="Oval 6"/>
          <p:cNvSpPr/>
          <p:nvPr/>
        </p:nvSpPr>
        <p:spPr>
          <a:xfrm>
            <a:off x="274320" y="281178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B</a:t>
            </a:r>
          </a:p>
        </p:txBody>
      </p:sp>
      <p:sp>
        <p:nvSpPr>
          <p:cNvPr id="8" name="TextBox 7"/>
          <p:cNvSpPr txBox="1"/>
          <p:nvPr/>
        </p:nvSpPr>
        <p:spPr>
          <a:xfrm>
            <a:off x="548640" y="2766060"/>
            <a:ext cx="6400800" cy="736092"/>
          </a:xfrm>
          <a:prstGeom prst="rect">
            <a:avLst/>
          </a:prstGeom>
          <a:noFill/>
        </p:spPr>
        <p:txBody>
          <a:bodyPr wrap="square" tIns="25400" bIns="0" lIns="0">
            <a:spAutoFit/>
          </a:bodyPr>
          <a:lstStyle/>
          <a:p>
            <a:pPr>
              <a:defRPr sz="800">
                <a:solidFill>
                  <a:srgbClr val="CCCCCC"/>
                </a:solidFill>
                <a:latin typeface="Segoe UI"/>
              </a:defRPr>
            </a:pPr>
            <a:r>
              <a:t>ElastiCache for Redis is a fast in-memory data store that provides sub-millisecond latency to power </a:t>
            </a:r>
          </a:p>
        </p:txBody>
      </p:sp>
      <p:sp>
        <p:nvSpPr>
          <p:cNvPr id="9" name="Oval 8"/>
          <p:cNvSpPr/>
          <p:nvPr/>
        </p:nvSpPr>
        <p:spPr>
          <a:xfrm>
            <a:off x="274320" y="356616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C</a:t>
            </a:r>
          </a:p>
        </p:txBody>
      </p:sp>
      <p:sp>
        <p:nvSpPr>
          <p:cNvPr id="10" name="TextBox 9"/>
          <p:cNvSpPr txBox="1"/>
          <p:nvPr/>
        </p:nvSpPr>
        <p:spPr>
          <a:xfrm>
            <a:off x="548640" y="3520440"/>
            <a:ext cx="6400800" cy="736092"/>
          </a:xfrm>
          <a:prstGeom prst="rect">
            <a:avLst/>
          </a:prstGeom>
          <a:noFill/>
        </p:spPr>
        <p:txBody>
          <a:bodyPr wrap="square" tIns="25400" bIns="0" lIns="0">
            <a:spAutoFit/>
          </a:bodyPr>
          <a:lstStyle/>
          <a:p>
            <a:pPr>
              <a:defRPr sz="800">
                <a:solidFill>
                  <a:srgbClr val="CCCCCC"/>
                </a:solidFill>
                <a:latin typeface="Segoe UI"/>
              </a:defRPr>
            </a:pPr>
            <a:r>
              <a:t>A local file could store session state information persistently over time, but this does not solve t</a:t>
            </a:r>
          </a:p>
        </p:txBody>
      </p:sp>
      <p:sp>
        <p:nvSpPr>
          <p:cNvPr id="11" name="Oval 10"/>
          <p:cNvSpPr/>
          <p:nvPr/>
        </p:nvSpPr>
        <p:spPr>
          <a:xfrm>
            <a:off x="274320" y="432054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D</a:t>
            </a:r>
          </a:p>
        </p:txBody>
      </p:sp>
      <p:sp>
        <p:nvSpPr>
          <p:cNvPr id="12" name="TextBox 11"/>
          <p:cNvSpPr txBox="1"/>
          <p:nvPr/>
        </p:nvSpPr>
        <p:spPr>
          <a:xfrm>
            <a:off x="548640" y="4274820"/>
            <a:ext cx="6400800" cy="736092"/>
          </a:xfrm>
          <a:prstGeom prst="rect">
            <a:avLst/>
          </a:prstGeom>
          <a:noFill/>
        </p:spPr>
        <p:txBody>
          <a:bodyPr wrap="square" tIns="25400" bIns="0" lIns="0">
            <a:spAutoFit/>
          </a:bodyPr>
          <a:lstStyle/>
          <a:p>
            <a:pPr>
              <a:defRPr sz="800">
                <a:solidFill>
                  <a:srgbClr val="CCCCCC"/>
                </a:solidFill>
                <a:latin typeface="Segoe UI"/>
              </a:defRPr>
            </a:pPr>
            <a:r>
              <a:t>Systems Manager State Manager is not for use of session state information management. Systems Manage</a:t>
            </a:r>
          </a:p>
        </p:txBody>
      </p:sp>
      <p:sp>
        <p:nvSpPr>
          <p:cNvPr id="13" name="Rounded Rectangle 12"/>
          <p:cNvSpPr/>
          <p:nvPr/>
        </p:nvSpPr>
        <p:spPr>
          <a:xfrm>
            <a:off x="7132320" y="182880"/>
            <a:ext cx="1828800" cy="21031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274320"/>
            <a:ext cx="1828800" cy="274320"/>
          </a:xfrm>
          <a:prstGeom prst="rect">
            <a:avLst/>
          </a:prstGeom>
          <a:noFill/>
        </p:spPr>
        <p:txBody>
          <a:bodyPr wrap="none">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269480" y="54864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A: The sticky session feature of the Application Load Balancer does not solve the problem across device</a:t>
            </a:r>
          </a:p>
        </p:txBody>
      </p:sp>
      <p:pic>
        <p:nvPicPr>
          <p:cNvPr id="5" name="Picture 4" descr="option_a.png"/>
          <p:cNvPicPr>
            <a:picLocks noChangeAspect="1"/>
          </p:cNvPicPr>
          <p:nvPr/>
        </p:nvPicPr>
        <p:blipFill>
          <a:blip r:embed="rId2"/>
          <a:stretch>
            <a:fillRect/>
          </a:stretch>
        </p:blipFill>
        <p:spPr>
          <a:xfrm>
            <a:off x="182880" y="914400"/>
            <a:ext cx="4625457"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The sticky session feature of the Application Load Balancer does not solve the problem across devices</a:t>
            </a:r>
          </a:p>
          <a:p>
            <a:pPr>
              <a:spcAft>
                <a:spcPts val="400"/>
              </a:spcAft>
              <a:defRPr sz="800">
                <a:solidFill>
                  <a:srgbClr val="212121"/>
                </a:solidFill>
                <a:latin typeface="Segoe UI"/>
              </a:defRPr>
            </a:pPr>
            <a:r>
              <a:t>• Sticky sessions rely on a cookie that is not going to be consistent across devices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B: ElastiCache for Redis is a fast in-memory data store that provides sub-millisecond latency to power </a:t>
            </a:r>
          </a:p>
        </p:txBody>
      </p:sp>
      <p:pic>
        <p:nvPicPr>
          <p:cNvPr id="5" name="Picture 4" descr="option_b.png"/>
          <p:cNvPicPr>
            <a:picLocks noChangeAspect="1"/>
          </p:cNvPicPr>
          <p:nvPr/>
        </p:nvPicPr>
        <p:blipFill>
          <a:blip r:embed="rId2"/>
          <a:stretch>
            <a:fillRect/>
          </a:stretch>
        </p:blipFill>
        <p:spPr>
          <a:xfrm>
            <a:off x="182880" y="1440242"/>
            <a:ext cx="5303520" cy="2788795"/>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400"/>
              </a:spcAft>
              <a:defRPr sz="800">
                <a:solidFill>
                  <a:srgbClr val="212121"/>
                </a:solidFill>
                <a:latin typeface="Segoe UI"/>
              </a:defRPr>
            </a:pPr>
            <a:r>
              <a:t>• ElastiCache for Redis is a fast in-memory data store that provides sub-millisecond latency to power internet-scale applications in real time</a:t>
            </a:r>
          </a:p>
          <a:p>
            <a:pPr>
              <a:spcAft>
                <a:spcPts val="400"/>
              </a:spcAft>
              <a:defRPr sz="800">
                <a:solidFill>
                  <a:srgbClr val="212121"/>
                </a:solidFill>
                <a:latin typeface="Segoe UI"/>
              </a:defRPr>
            </a:pPr>
            <a:r>
              <a:t>• The data will not be stored on the instance itself</a:t>
            </a:r>
          </a:p>
          <a:p>
            <a:pPr>
              <a:spcAft>
                <a:spcPts val="400"/>
              </a:spcAft>
              <a:defRPr sz="800">
                <a:solidFill>
                  <a:srgbClr val="212121"/>
                </a:solidFill>
                <a:latin typeface="Segoe UI"/>
              </a:defRPr>
            </a:pPr>
            <a:r>
              <a:t>• This choice is ideal for ensuring that the session state information persists across devices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C: A local file could store session state information persistently over time, but this does not solve t</a:t>
            </a:r>
          </a:p>
        </p:txBody>
      </p:sp>
      <p:pic>
        <p:nvPicPr>
          <p:cNvPr id="5" name="Picture 4" descr="option_c.png"/>
          <p:cNvPicPr>
            <a:picLocks noChangeAspect="1"/>
          </p:cNvPicPr>
          <p:nvPr/>
        </p:nvPicPr>
        <p:blipFill>
          <a:blip r:embed="rId2"/>
          <a:stretch>
            <a:fillRect/>
          </a:stretch>
        </p:blipFill>
        <p:spPr>
          <a:xfrm>
            <a:off x="182880" y="914400"/>
            <a:ext cx="3706301"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A local file could store session state information persistently over time</a:t>
            </a:r>
          </a:p>
          <a:p>
            <a:pPr>
              <a:spcAft>
                <a:spcPts val="400"/>
              </a:spcAft>
              <a:defRPr sz="800">
                <a:solidFill>
                  <a:srgbClr val="212121"/>
                </a:solidFill>
                <a:latin typeface="Segoe UI"/>
              </a:defRPr>
            </a:pPr>
            <a:r>
              <a:t>• But this does not solve the problem presented</a:t>
            </a:r>
          </a:p>
          <a:p>
            <a:pPr>
              <a:spcAft>
                <a:spcPts val="400"/>
              </a:spcAft>
              <a:defRPr sz="800">
                <a:solidFill>
                  <a:srgbClr val="212121"/>
                </a:solidFill>
                <a:latin typeface="Segoe UI"/>
              </a:defRPr>
            </a:pPr>
            <a:r>
              <a:t>• If session state information is stored locally on the instance when a request is sent to another node behind the Application Load Balancer</a:t>
            </a:r>
          </a:p>
          <a:p>
            <a:pPr>
              <a:spcAft>
                <a:spcPts val="400"/>
              </a:spcAft>
              <a:defRPr sz="800">
                <a:solidFill>
                  <a:srgbClr val="212121"/>
                </a:solidFill>
                <a:latin typeface="Segoe UI"/>
              </a:defRPr>
            </a:pPr>
            <a:r>
              <a:t>• The other node does not have access to the session state information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D: Systems Manager State Manager is not for use of session state information management. Systems Manage</a:t>
            </a:r>
          </a:p>
        </p:txBody>
      </p:sp>
      <p:pic>
        <p:nvPicPr>
          <p:cNvPr id="5" name="Picture 4" descr="option_d.png"/>
          <p:cNvPicPr>
            <a:picLocks noChangeAspect="1"/>
          </p:cNvPicPr>
          <p:nvPr/>
        </p:nvPicPr>
        <p:blipFill>
          <a:blip r:embed="rId2"/>
          <a:stretch>
            <a:fillRect/>
          </a:stretch>
        </p:blipFill>
        <p:spPr>
          <a:xfrm>
            <a:off x="182880" y="1241496"/>
            <a:ext cx="5303520" cy="3186287"/>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Systems Manager State Manager is not for use of session state information management</a:t>
            </a:r>
          </a:p>
          <a:p>
            <a:pPr>
              <a:spcAft>
                <a:spcPts val="400"/>
              </a:spcAft>
              <a:defRPr sz="800">
                <a:solidFill>
                  <a:srgbClr val="212121"/>
                </a:solidFill>
                <a:latin typeface="Segoe UI"/>
              </a:defRPr>
            </a:pPr>
            <a:r>
              <a:t>• Systems Manager State Manager is used to manage the state of an instance itself</a:t>
            </a:r>
          </a:p>
          <a:p>
            <a:pPr>
              <a:spcAft>
                <a:spcPts val="400"/>
              </a:spcAft>
              <a:defRPr sz="800">
                <a:solidFill>
                  <a:srgbClr val="212121"/>
                </a:solidFill>
                <a:latin typeface="Segoe UI"/>
              </a:defRPr>
            </a:pPr>
            <a:r>
              <a:t>• Such as specific instance configurations or software installations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