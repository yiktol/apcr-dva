
<file path=[Content_Types].xml><?xml version="1.0" encoding="utf-8"?>
<Types xmlns="http://schemas.openxmlformats.org/package/2006/content-types">
  <Default Extension="bin" ContentType="application/vnd.openxmlformats-officedocument.presentationml.printerSettings"/>
  <Default Extension="gif" ContentType="image/gif"/>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Lst>
  <p:sldSz cx="9144000" cy="51435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gif"/></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D1B2A"/>
        </a:solidFill>
        <a:effectLst/>
      </p:bgPr>
    </p:bg>
    <p:spTree>
      <p:nvGrpSpPr>
        <p:cNvPr id="1" name=""/>
        <p:cNvGrpSpPr/>
        <p:nvPr/>
      </p:nvGrpSpPr>
      <p:grpSpPr/>
      <p:sp>
        <p:nvSpPr>
          <p:cNvPr id="2" name="Rectangle 1"/>
          <p:cNvSpPr/>
          <p:nvPr/>
        </p:nvSpPr>
        <p:spPr>
          <a:xfrm>
            <a:off x="0" y="0"/>
            <a:ext cx="45720" cy="5143500"/>
          </a:xfrm>
          <a:prstGeom prst="rect">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274320" y="182880"/>
            <a:ext cx="6400800" cy="457200"/>
          </a:xfrm>
          <a:prstGeom prst="rect">
            <a:avLst/>
          </a:prstGeom>
          <a:noFill/>
        </p:spPr>
        <p:txBody>
          <a:bodyPr wrap="square">
            <a:spAutoFit/>
          </a:bodyPr>
          <a:lstStyle/>
          <a:p>
            <a:pPr>
              <a:defRPr sz="2000" b="1">
                <a:solidFill>
                  <a:srgbClr val="1E88E5"/>
                </a:solidFill>
                <a:latin typeface="Segoe UI"/>
              </a:defRPr>
            </a:pPr>
            <a:r>
              <a:t>Session 4 - Question 1</a:t>
            </a:r>
          </a:p>
        </p:txBody>
      </p:sp>
      <p:sp>
        <p:nvSpPr>
          <p:cNvPr id="4" name="TextBox 3"/>
          <p:cNvSpPr txBox="1"/>
          <p:nvPr/>
        </p:nvSpPr>
        <p:spPr>
          <a:xfrm>
            <a:off x="274320" y="685800"/>
            <a:ext cx="6400800" cy="1645920"/>
          </a:xfrm>
          <a:prstGeom prst="rect">
            <a:avLst/>
          </a:prstGeom>
          <a:noFill/>
        </p:spPr>
        <p:txBody>
          <a:bodyPr wrap="square">
            <a:spAutoFit/>
          </a:bodyPr>
          <a:lstStyle/>
          <a:p>
            <a:pPr>
              <a:defRPr sz="1100">
                <a:solidFill>
                  <a:srgbClr val="FFFFFF"/>
                </a:solidFill>
                <a:latin typeface="Segoe UI"/>
              </a:defRPr>
            </a:pPr>
            <a:r>
              <a:t>A company notices performance degradation in one of its production web applications. The application is running on AWS services and uses a microservices architecture. The company suspects that one of these microservices is causing the performance issue. Which AWS solution should the company use to identify the service that is contributing to higher application latency?</a:t>
            </a:r>
          </a:p>
        </p:txBody>
      </p:sp>
      <p:sp>
        <p:nvSpPr>
          <p:cNvPr id="5" name="Oval 4"/>
          <p:cNvSpPr/>
          <p:nvPr/>
        </p:nvSpPr>
        <p:spPr>
          <a:xfrm>
            <a:off x="365760" y="23774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A</a:t>
            </a:r>
          </a:p>
        </p:txBody>
      </p:sp>
      <p:sp>
        <p:nvSpPr>
          <p:cNvPr id="6" name="TextBox 5"/>
          <p:cNvSpPr txBox="1"/>
          <p:nvPr/>
        </p:nvSpPr>
        <p:spPr>
          <a:xfrm>
            <a:off x="777240" y="2377440"/>
            <a:ext cx="5943600" cy="411480"/>
          </a:xfrm>
          <a:prstGeom prst="rect">
            <a:avLst/>
          </a:prstGeom>
          <a:noFill/>
        </p:spPr>
        <p:txBody>
          <a:bodyPr wrap="square">
            <a:spAutoFit/>
          </a:bodyPr>
          <a:lstStyle/>
          <a:p>
            <a:pPr>
              <a:defRPr sz="1000">
                <a:solidFill>
                  <a:srgbClr val="CCCCCC"/>
                </a:solidFill>
                <a:latin typeface="Segoe UI"/>
              </a:defRPr>
            </a:pPr>
            <a:r>
              <a:t>X-Ray creates a map of services used by your application with trace data. You can use the trace data to drill into speci</a:t>
            </a:r>
          </a:p>
        </p:txBody>
      </p:sp>
      <p:sp>
        <p:nvSpPr>
          <p:cNvPr id="7" name="Oval 6"/>
          <p:cNvSpPr/>
          <p:nvPr/>
        </p:nvSpPr>
        <p:spPr>
          <a:xfrm>
            <a:off x="365760" y="28346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B</a:t>
            </a:r>
          </a:p>
        </p:txBody>
      </p:sp>
      <p:sp>
        <p:nvSpPr>
          <p:cNvPr id="8" name="TextBox 7"/>
          <p:cNvSpPr txBox="1"/>
          <p:nvPr/>
        </p:nvSpPr>
        <p:spPr>
          <a:xfrm>
            <a:off x="777240" y="2834640"/>
            <a:ext cx="5943600" cy="411480"/>
          </a:xfrm>
          <a:prstGeom prst="rect">
            <a:avLst/>
          </a:prstGeom>
          <a:noFill/>
        </p:spPr>
        <p:txBody>
          <a:bodyPr wrap="square">
            <a:spAutoFit/>
          </a:bodyPr>
          <a:lstStyle/>
          <a:p>
            <a:pPr>
              <a:defRPr sz="1000">
                <a:solidFill>
                  <a:srgbClr val="CCCCCC"/>
                </a:solidFill>
                <a:latin typeface="Segoe UI"/>
              </a:defRPr>
            </a:pPr>
            <a:r>
              <a:t>CloudTrail event history is used to record API calls for governance, compliance operation, and risk auditing purposes. C</a:t>
            </a:r>
          </a:p>
        </p:txBody>
      </p:sp>
      <p:sp>
        <p:nvSpPr>
          <p:cNvPr id="9" name="Oval 8"/>
          <p:cNvSpPr/>
          <p:nvPr/>
        </p:nvSpPr>
        <p:spPr>
          <a:xfrm>
            <a:off x="365760" y="3291840"/>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C</a:t>
            </a:r>
          </a:p>
        </p:txBody>
      </p:sp>
      <p:sp>
        <p:nvSpPr>
          <p:cNvPr id="10" name="TextBox 9"/>
          <p:cNvSpPr txBox="1"/>
          <p:nvPr/>
        </p:nvSpPr>
        <p:spPr>
          <a:xfrm>
            <a:off x="777240" y="3291840"/>
            <a:ext cx="5943600" cy="411480"/>
          </a:xfrm>
          <a:prstGeom prst="rect">
            <a:avLst/>
          </a:prstGeom>
          <a:noFill/>
        </p:spPr>
        <p:txBody>
          <a:bodyPr wrap="square">
            <a:spAutoFit/>
          </a:bodyPr>
          <a:lstStyle/>
          <a:p>
            <a:pPr>
              <a:defRPr sz="1000">
                <a:solidFill>
                  <a:srgbClr val="CCCCCC"/>
                </a:solidFill>
                <a:latin typeface="Segoe UI"/>
              </a:defRPr>
            </a:pPr>
            <a:r>
              <a:t>EventBridge (CloudWatch Events) delivers a near-real-time stream of system events that describe changes in Amazon Web Se</a:t>
            </a:r>
          </a:p>
        </p:txBody>
      </p:sp>
      <p:sp>
        <p:nvSpPr>
          <p:cNvPr id="11" name="Oval 10"/>
          <p:cNvSpPr/>
          <p:nvPr/>
        </p:nvSpPr>
        <p:spPr>
          <a:xfrm>
            <a:off x="365760" y="3749039"/>
            <a:ext cx="274320" cy="274320"/>
          </a:xfrm>
          <a:prstGeom prst="ellipse">
            <a:avLst/>
          </a:prstGeom>
          <a:solidFill>
            <a:srgbClr val="1E88E5"/>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900" b="1">
                <a:solidFill>
                  <a:srgbClr val="FFFFFF"/>
                </a:solidFill>
              </a:defRPr>
            </a:pPr>
            <a:r>
              <a:t>D</a:t>
            </a:r>
          </a:p>
        </p:txBody>
      </p:sp>
      <p:sp>
        <p:nvSpPr>
          <p:cNvPr id="12" name="TextBox 11"/>
          <p:cNvSpPr txBox="1"/>
          <p:nvPr/>
        </p:nvSpPr>
        <p:spPr>
          <a:xfrm>
            <a:off x="777240" y="3749039"/>
            <a:ext cx="5943600" cy="411480"/>
          </a:xfrm>
          <a:prstGeom prst="rect">
            <a:avLst/>
          </a:prstGeom>
          <a:noFill/>
        </p:spPr>
        <p:txBody>
          <a:bodyPr wrap="square">
            <a:spAutoFit/>
          </a:bodyPr>
          <a:lstStyle/>
          <a:p>
            <a:pPr>
              <a:defRPr sz="1000">
                <a:solidFill>
                  <a:srgbClr val="CCCCCC"/>
                </a:solidFill>
                <a:latin typeface="Segoe UI"/>
              </a:defRPr>
            </a:pPr>
            <a:r>
              <a:t>Trusted Advisor provides real-time guidance to help provision AWS resources to follow AWS best practices. It can report </a:t>
            </a:r>
          </a:p>
        </p:txBody>
      </p:sp>
      <p:sp>
        <p:nvSpPr>
          <p:cNvPr id="13" name="Rounded Rectangle 12"/>
          <p:cNvSpPr/>
          <p:nvPr/>
        </p:nvSpPr>
        <p:spPr>
          <a:xfrm>
            <a:off x="7132320" y="182880"/>
            <a:ext cx="1828800" cy="2103120"/>
          </a:xfrm>
          <a:prstGeom prst="roundRect">
            <a:avLst/>
          </a:prstGeom>
          <a:solidFill>
            <a:srgbClr val="1A237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7132320" y="274320"/>
            <a:ext cx="1828800" cy="274320"/>
          </a:xfrm>
          <a:prstGeom prst="rect">
            <a:avLst/>
          </a:prstGeom>
          <a:noFill/>
        </p:spPr>
        <p:txBody>
          <a:bodyPr wrap="none">
            <a:spAutoFit/>
          </a:bodyPr>
          <a:lstStyle/>
          <a:p>
            <a:pPr algn="ctr">
              <a:defRPr sz="900" b="1">
                <a:solidFill>
                  <a:srgbClr val="00E676"/>
                </a:solidFill>
                <a:latin typeface="Segoe UI"/>
              </a:defRPr>
            </a:pPr>
            <a:r>
              <a:t>⏱ TIME</a:t>
            </a:r>
          </a:p>
        </p:txBody>
      </p:sp>
      <p:pic>
        <p:nvPicPr>
          <p:cNvPr id="15" name="Picture 14" descr="countdown_2min.gif"/>
          <p:cNvPicPr>
            <a:picLocks noChangeAspect="1"/>
          </p:cNvPicPr>
          <p:nvPr/>
        </p:nvPicPr>
        <p:blipFill>
          <a:blip r:embed="rId2"/>
          <a:stretch>
            <a:fillRect/>
          </a:stretch>
        </p:blipFill>
        <p:spPr>
          <a:xfrm>
            <a:off x="7269480" y="548640"/>
            <a:ext cx="1554480" cy="1554480"/>
          </a:xfrm>
          <a:prstGeom prst="rect">
            <a:avLst/>
          </a:prstGeom>
        </p:spPr>
      </p:pic>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A: X-Ray creates a map of services used by your application with trace data. You can use the trace data</a:t>
            </a:r>
          </a:p>
        </p:txBody>
      </p:sp>
      <p:pic>
        <p:nvPicPr>
          <p:cNvPr id="5" name="Picture 4" descr="option_a.png"/>
          <p:cNvPicPr>
            <a:picLocks noChangeAspect="1"/>
          </p:cNvPicPr>
          <p:nvPr/>
        </p:nvPicPr>
        <p:blipFill>
          <a:blip r:embed="rId2"/>
          <a:stretch>
            <a:fillRect/>
          </a:stretch>
        </p:blipFill>
        <p:spPr>
          <a:xfrm>
            <a:off x="182880" y="914400"/>
            <a:ext cx="2442151"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00C85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00C853"/>
                </a:solidFill>
                <a:latin typeface="Segoe UI"/>
              </a:defRPr>
            </a:pPr>
            <a:r>
              <a:t>Why this is correct:</a:t>
            </a:r>
          </a:p>
          <a:p>
            <a:pPr>
              <a:spcAft>
                <a:spcPts val="600"/>
              </a:spcAft>
              <a:defRPr sz="900">
                <a:solidFill>
                  <a:srgbClr val="212121"/>
                </a:solidFill>
                <a:latin typeface="Segoe UI"/>
              </a:defRPr>
            </a:pPr>
            <a:r>
              <a:t>• X-Ray creates a map of services used by your application with trace data.</a:t>
            </a:r>
          </a:p>
          <a:p>
            <a:pPr>
              <a:spcAft>
                <a:spcPts val="600"/>
              </a:spcAft>
              <a:defRPr sz="900">
                <a:solidFill>
                  <a:srgbClr val="212121"/>
                </a:solidFill>
                <a:latin typeface="Segoe UI"/>
              </a:defRPr>
            </a:pPr>
            <a:r>
              <a:t>• You can use the trace data to drill into specific services or issues.</a:t>
            </a:r>
          </a:p>
          <a:p>
            <a:pPr>
              <a:spcAft>
                <a:spcPts val="600"/>
              </a:spcAft>
              <a:defRPr sz="900">
                <a:solidFill>
                  <a:srgbClr val="212121"/>
                </a:solidFill>
                <a:latin typeface="Segoe UI"/>
              </a:defRPr>
            </a:pPr>
            <a:r>
              <a:t>• This data provides a view of connections between services in your application and aggregated data for each service, including average latency and failure rates.</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B: CloudTrail event history is used to record API calls for governance, compliance operation, and risk </a:t>
            </a:r>
          </a:p>
        </p:txBody>
      </p:sp>
      <p:pic>
        <p:nvPicPr>
          <p:cNvPr id="5" name="Picture 4" descr="option_b.png"/>
          <p:cNvPicPr>
            <a:picLocks noChangeAspect="1"/>
          </p:cNvPicPr>
          <p:nvPr/>
        </p:nvPicPr>
        <p:blipFill>
          <a:blip r:embed="rId2"/>
          <a:stretch>
            <a:fillRect/>
          </a:stretch>
        </p:blipFill>
        <p:spPr>
          <a:xfrm>
            <a:off x="182880" y="914400"/>
            <a:ext cx="3952239" cy="3840480"/>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CloudTrail event history is used to record API calls for governance, compliance operation, and risk auditing purposes.</a:t>
            </a:r>
          </a:p>
          <a:p>
            <a:pPr>
              <a:spcAft>
                <a:spcPts val="600"/>
              </a:spcAft>
              <a:defRPr sz="900">
                <a:solidFill>
                  <a:srgbClr val="212121"/>
                </a:solidFill>
                <a:latin typeface="Segoe UI"/>
              </a:defRPr>
            </a:pPr>
            <a:r>
              <a:t>• CloudTrail is not a service that is used for identifying application performance issues.</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C: EventBridge (CloudWatch Events) delivers a near-real-time stream of system events that describe chan</a:t>
            </a:r>
          </a:p>
        </p:txBody>
      </p:sp>
      <p:pic>
        <p:nvPicPr>
          <p:cNvPr id="5" name="Picture 4" descr="option_c.png"/>
          <p:cNvPicPr>
            <a:picLocks noChangeAspect="1"/>
          </p:cNvPicPr>
          <p:nvPr/>
        </p:nvPicPr>
        <p:blipFill>
          <a:blip r:embed="rId2"/>
          <a:stretch>
            <a:fillRect/>
          </a:stretch>
        </p:blipFill>
        <p:spPr>
          <a:xfrm>
            <a:off x="182880" y="1797926"/>
            <a:ext cx="5303520" cy="2073427"/>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EventBridge (CloudWatch Events) delivers a near-real-time stream of system events that describe changes in Amazon Web Services resources.</a:t>
            </a:r>
          </a:p>
          <a:p>
            <a:pPr>
              <a:spcAft>
                <a:spcPts val="600"/>
              </a:spcAft>
              <a:defRPr sz="900">
                <a:solidFill>
                  <a:srgbClr val="212121"/>
                </a:solidFill>
                <a:latin typeface="Segoe UI"/>
              </a:defRPr>
            </a:pPr>
            <a:r>
              <a:t>• It is not used for identifying application performance issues.</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8F9FA"/>
        </a:solidFill>
        <a:effectLst/>
      </p:bgPr>
    </p:bg>
    <p:spTree>
      <p:nvGrpSpPr>
        <p:cNvPr id="1" name=""/>
        <p:cNvGrpSpPr/>
        <p:nvPr/>
      </p:nvGrpSpPr>
      <p:grpSpPr/>
      <p:sp>
        <p:nvSpPr>
          <p:cNvPr id="2" name="Rectangle 1"/>
          <p:cNvSpPr/>
          <p:nvPr/>
        </p:nvSpPr>
        <p:spPr>
          <a:xfrm>
            <a:off x="0" y="0"/>
            <a:ext cx="9144000" cy="822960"/>
          </a:xfrm>
          <a:prstGeom prst="rect">
            <a:avLst/>
          </a:prstGeom>
          <a:solidFill>
            <a:srgbClr val="0D1B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Rounded Rectangle 2"/>
          <p:cNvSpPr/>
          <p:nvPr/>
        </p:nvSpPr>
        <p:spPr>
          <a:xfrm>
            <a:off x="274320" y="182880"/>
            <a:ext cx="1188720" cy="365760"/>
          </a:xfrm>
          <a:prstGeom prst="round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defRPr sz="1000" b="1">
                <a:solidFill>
                  <a:srgbClr val="FFFFFF"/>
                </a:solidFill>
                <a:latin typeface="Segoe UI"/>
              </a:defRPr>
            </a:pPr>
            <a:r>
              <a:t>✗ INCORRECT</a:t>
            </a:r>
          </a:p>
        </p:txBody>
      </p:sp>
      <p:sp>
        <p:nvSpPr>
          <p:cNvPr id="4" name="TextBox 3"/>
          <p:cNvSpPr txBox="1"/>
          <p:nvPr/>
        </p:nvSpPr>
        <p:spPr>
          <a:xfrm>
            <a:off x="1645920" y="182880"/>
            <a:ext cx="7132320" cy="457200"/>
          </a:xfrm>
          <a:prstGeom prst="rect">
            <a:avLst/>
          </a:prstGeom>
          <a:noFill/>
        </p:spPr>
        <p:txBody>
          <a:bodyPr wrap="square">
            <a:spAutoFit/>
          </a:bodyPr>
          <a:lstStyle/>
          <a:p>
            <a:pPr>
              <a:defRPr sz="1000">
                <a:solidFill>
                  <a:srgbClr val="FFFFFF"/>
                </a:solidFill>
                <a:latin typeface="Segoe UI"/>
              </a:defRPr>
            </a:pPr>
            <a:r>
              <a:t>Option D: Trusted Advisor provides real-time guidance to help provision AWS resources to follow AWS best pract</a:t>
            </a:r>
          </a:p>
        </p:txBody>
      </p:sp>
      <p:pic>
        <p:nvPicPr>
          <p:cNvPr id="5" name="Picture 4" descr="option_d.png"/>
          <p:cNvPicPr>
            <a:picLocks noChangeAspect="1"/>
          </p:cNvPicPr>
          <p:nvPr/>
        </p:nvPicPr>
        <p:blipFill>
          <a:blip r:embed="rId2"/>
          <a:stretch>
            <a:fillRect/>
          </a:stretch>
        </p:blipFill>
        <p:spPr>
          <a:xfrm>
            <a:off x="182880" y="1093384"/>
            <a:ext cx="5303520" cy="3482511"/>
          </a:xfrm>
          <a:prstGeom prst="rect">
            <a:avLst/>
          </a:prstGeom>
        </p:spPr>
      </p:pic>
      <p:sp>
        <p:nvSpPr>
          <p:cNvPr id="6" name="Rounded Rectangle 5"/>
          <p:cNvSpPr/>
          <p:nvPr/>
        </p:nvSpPr>
        <p:spPr>
          <a:xfrm>
            <a:off x="5669280" y="1005840"/>
            <a:ext cx="3200400" cy="3840480"/>
          </a:xfrm>
          <a:prstGeom prst="roundRect">
            <a:avLst/>
          </a:prstGeom>
          <a:solidFill>
            <a:srgbClr val="FFFFFF"/>
          </a:solidFill>
          <a:ln>
            <a:solidFill>
              <a:srgbClr val="E0E0E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Rectangle 6"/>
          <p:cNvSpPr/>
          <p:nvPr/>
        </p:nvSpPr>
        <p:spPr>
          <a:xfrm>
            <a:off x="5669280" y="1188720"/>
            <a:ext cx="45720" cy="3474720"/>
          </a:xfrm>
          <a:prstGeom prst="rect">
            <a:avLst/>
          </a:prstGeom>
          <a:solidFill>
            <a:srgbClr val="FF174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TextBox 7"/>
          <p:cNvSpPr txBox="1"/>
          <p:nvPr/>
        </p:nvSpPr>
        <p:spPr>
          <a:xfrm>
            <a:off x="5852160" y="1188720"/>
            <a:ext cx="2834640" cy="3566160"/>
          </a:xfrm>
          <a:prstGeom prst="rect">
            <a:avLst/>
          </a:prstGeom>
          <a:noFill/>
        </p:spPr>
        <p:txBody>
          <a:bodyPr wrap="square">
            <a:spAutoFit/>
          </a:bodyPr>
          <a:lstStyle/>
          <a:p>
            <a:pPr>
              <a:spcAft>
                <a:spcPts val="600"/>
              </a:spcAft>
              <a:defRPr sz="1000" b="1">
                <a:solidFill>
                  <a:srgbClr val="FF1744"/>
                </a:solidFill>
                <a:latin typeface="Segoe UI"/>
              </a:defRPr>
            </a:pPr>
            <a:r>
              <a:t>Why this is incorrect:</a:t>
            </a:r>
          </a:p>
          <a:p>
            <a:pPr>
              <a:spcAft>
                <a:spcPts val="600"/>
              </a:spcAft>
              <a:defRPr sz="900">
                <a:solidFill>
                  <a:srgbClr val="212121"/>
                </a:solidFill>
                <a:latin typeface="Segoe UI"/>
              </a:defRPr>
            </a:pPr>
            <a:r>
              <a:t>• Trusted Advisor provides real-time guidance to help provision AWS resources to follow AWS best practices.</a:t>
            </a:r>
          </a:p>
          <a:p>
            <a:pPr>
              <a:spcAft>
                <a:spcPts val="600"/>
              </a:spcAft>
              <a:defRPr sz="900">
                <a:solidFill>
                  <a:srgbClr val="212121"/>
                </a:solidFill>
                <a:latin typeface="Segoe UI"/>
              </a:defRPr>
            </a:pPr>
            <a:r>
              <a:t>• It can report overall system utilization, but it is not used for identifying application performance issues.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