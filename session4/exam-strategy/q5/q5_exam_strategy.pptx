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4 - Question 5</a:t>
            </a:r>
          </a:p>
        </p:txBody>
      </p:sp>
      <p:sp>
        <p:nvSpPr>
          <p:cNvPr id="4" name="TextBox 3"/>
          <p:cNvSpPr txBox="1"/>
          <p:nvPr/>
        </p:nvSpPr>
        <p:spPr>
          <a:xfrm>
            <a:off x="274320" y="640080"/>
            <a:ext cx="6583680" cy="1280160"/>
          </a:xfrm>
          <a:prstGeom prst="rect">
            <a:avLst/>
          </a:prstGeom>
          <a:noFill/>
        </p:spPr>
        <p:txBody>
          <a:bodyPr wrap="square" tIns="0" bIns="0">
            <a:spAutoFit/>
          </a:bodyPr>
          <a:lstStyle/>
          <a:p>
            <a:pPr>
              <a:defRPr sz="900">
                <a:solidFill>
                  <a:srgbClr val="FFFFFF"/>
                </a:solidFill>
                <a:latin typeface="Segoe UI"/>
              </a:defRPr>
            </a:pPr>
            <a:r>
              <a:t>Each time a developer publishes a new version of an AWS Lambda function, all the dependent event source mappings need to be updated with the reference to the new version’s Amazon Resource Name (ARN). These updates are time consuming and error-prone. Which combination of actions should the developer take to avoid performing these updates when pub...</a:t>
            </a:r>
          </a:p>
        </p:txBody>
      </p:sp>
      <p:sp>
        <p:nvSpPr>
          <p:cNvPr id="5" name="Oval 4"/>
          <p:cNvSpPr/>
          <p:nvPr/>
        </p:nvSpPr>
        <p:spPr>
          <a:xfrm>
            <a:off x="274320" y="205740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A</a:t>
            </a:r>
          </a:p>
        </p:txBody>
      </p:sp>
      <p:sp>
        <p:nvSpPr>
          <p:cNvPr id="6" name="TextBox 5"/>
          <p:cNvSpPr txBox="1"/>
          <p:nvPr/>
        </p:nvSpPr>
        <p:spPr>
          <a:xfrm>
            <a:off x="548640" y="2011680"/>
            <a:ext cx="6400800" cy="585215"/>
          </a:xfrm>
          <a:prstGeom prst="rect">
            <a:avLst/>
          </a:prstGeom>
          <a:noFill/>
        </p:spPr>
        <p:txBody>
          <a:bodyPr wrap="square" tIns="25400" bIns="0" lIns="0">
            <a:spAutoFit/>
          </a:bodyPr>
          <a:lstStyle/>
          <a:p>
            <a:pPr>
              <a:defRPr sz="800">
                <a:solidFill>
                  <a:srgbClr val="CCCCCC"/>
                </a:solidFill>
                <a:latin typeface="Segoe UI"/>
              </a:defRPr>
            </a:pPr>
            <a:r>
              <a:t>A Lambda event source mapping can either point to the version ARN, or an alias ARN, but not to the l</a:t>
            </a:r>
          </a:p>
        </p:txBody>
      </p:sp>
      <p:sp>
        <p:nvSpPr>
          <p:cNvPr id="7" name="Oval 6"/>
          <p:cNvSpPr/>
          <p:nvPr/>
        </p:nvSpPr>
        <p:spPr>
          <a:xfrm>
            <a:off x="274320" y="2660904"/>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B</a:t>
            </a:r>
          </a:p>
        </p:txBody>
      </p:sp>
      <p:sp>
        <p:nvSpPr>
          <p:cNvPr id="8" name="TextBox 7"/>
          <p:cNvSpPr txBox="1"/>
          <p:nvPr/>
        </p:nvSpPr>
        <p:spPr>
          <a:xfrm>
            <a:off x="548640" y="2615184"/>
            <a:ext cx="6400800" cy="585215"/>
          </a:xfrm>
          <a:prstGeom prst="rect">
            <a:avLst/>
          </a:prstGeom>
          <a:noFill/>
        </p:spPr>
        <p:txBody>
          <a:bodyPr wrap="square" tIns="25400" bIns="0" lIns="0">
            <a:spAutoFit/>
          </a:bodyPr>
          <a:lstStyle/>
          <a:p>
            <a:pPr>
              <a:defRPr sz="800">
                <a:solidFill>
                  <a:srgbClr val="CCCCCC"/>
                </a:solidFill>
                <a:latin typeface="Segoe UI"/>
              </a:defRPr>
            </a:pPr>
            <a:r>
              <a:t>A Lambda alias is a pointer to a specific Lambda function version.</a:t>
            </a:r>
          </a:p>
        </p:txBody>
      </p:sp>
      <p:sp>
        <p:nvSpPr>
          <p:cNvPr id="9" name="Oval 8"/>
          <p:cNvSpPr/>
          <p:nvPr/>
        </p:nvSpPr>
        <p:spPr>
          <a:xfrm>
            <a:off x="274320" y="3264408"/>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C</a:t>
            </a:r>
          </a:p>
        </p:txBody>
      </p:sp>
      <p:sp>
        <p:nvSpPr>
          <p:cNvPr id="10" name="TextBox 9"/>
          <p:cNvSpPr txBox="1"/>
          <p:nvPr/>
        </p:nvSpPr>
        <p:spPr>
          <a:xfrm>
            <a:off x="548640" y="3218688"/>
            <a:ext cx="6400800" cy="585215"/>
          </a:xfrm>
          <a:prstGeom prst="rect">
            <a:avLst/>
          </a:prstGeom>
          <a:noFill/>
        </p:spPr>
        <p:txBody>
          <a:bodyPr wrap="square" tIns="25400" bIns="0" lIns="0">
            <a:spAutoFit/>
          </a:bodyPr>
          <a:lstStyle/>
          <a:p>
            <a:pPr>
              <a:defRPr sz="800">
                <a:solidFill>
                  <a:srgbClr val="CCCCCC"/>
                </a:solidFill>
                <a:latin typeface="Segoe UI"/>
              </a:defRPr>
            </a:pPr>
            <a:r>
              <a:t>This solution does not address your problem. Every alias has its own unique ARN. Therefore, you woul</a:t>
            </a:r>
          </a:p>
        </p:txBody>
      </p:sp>
      <p:sp>
        <p:nvSpPr>
          <p:cNvPr id="11" name="Oval 10"/>
          <p:cNvSpPr/>
          <p:nvPr/>
        </p:nvSpPr>
        <p:spPr>
          <a:xfrm>
            <a:off x="274320" y="3867911"/>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D</a:t>
            </a:r>
          </a:p>
        </p:txBody>
      </p:sp>
      <p:sp>
        <p:nvSpPr>
          <p:cNvPr id="12" name="TextBox 11"/>
          <p:cNvSpPr txBox="1"/>
          <p:nvPr/>
        </p:nvSpPr>
        <p:spPr>
          <a:xfrm>
            <a:off x="548640" y="3822191"/>
            <a:ext cx="6400800" cy="585215"/>
          </a:xfrm>
          <a:prstGeom prst="rect">
            <a:avLst/>
          </a:prstGeom>
          <a:noFill/>
        </p:spPr>
        <p:txBody>
          <a:bodyPr wrap="square" tIns="25400" bIns="0" lIns="0">
            <a:spAutoFit/>
          </a:bodyPr>
          <a:lstStyle/>
          <a:p>
            <a:pPr>
              <a:defRPr sz="800">
                <a:solidFill>
                  <a:srgbClr val="CCCCCC"/>
                </a:solidFill>
                <a:latin typeface="Segoe UI"/>
              </a:defRPr>
            </a:pPr>
            <a:r>
              <a:t>A Lambda alias cannot point to another Lambda alias, only to a Lambda function version.</a:t>
            </a:r>
          </a:p>
        </p:txBody>
      </p:sp>
      <p:sp>
        <p:nvSpPr>
          <p:cNvPr id="13" name="Oval 12"/>
          <p:cNvSpPr/>
          <p:nvPr/>
        </p:nvSpPr>
        <p:spPr>
          <a:xfrm>
            <a:off x="274320" y="4471416"/>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E</a:t>
            </a:r>
          </a:p>
        </p:txBody>
      </p:sp>
      <p:sp>
        <p:nvSpPr>
          <p:cNvPr id="14" name="TextBox 13"/>
          <p:cNvSpPr txBox="1"/>
          <p:nvPr/>
        </p:nvSpPr>
        <p:spPr>
          <a:xfrm>
            <a:off x="548640" y="4425696"/>
            <a:ext cx="6400800" cy="585215"/>
          </a:xfrm>
          <a:prstGeom prst="rect">
            <a:avLst/>
          </a:prstGeom>
          <a:noFill/>
        </p:spPr>
        <p:txBody>
          <a:bodyPr wrap="square" tIns="25400" bIns="0" lIns="0">
            <a:spAutoFit/>
          </a:bodyPr>
          <a:lstStyle/>
          <a:p>
            <a:pPr>
              <a:defRPr sz="800">
                <a:solidFill>
                  <a:srgbClr val="CCCCCC"/>
                </a:solidFill>
                <a:latin typeface="Segoe UI"/>
              </a:defRPr>
            </a:pPr>
            <a:r>
              <a:t>Instead of using ARNs for the Lambda function in event source mappings, you can use an alias ARN. Yo</a:t>
            </a:r>
          </a:p>
        </p:txBody>
      </p:sp>
      <p:sp>
        <p:nvSpPr>
          <p:cNvPr id="15" name="Rounded Rectangle 14"/>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7" name="Picture 16"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A Lambda event source mapping can either point to the version ARN, or an alias ARN, but not to the l</a:t>
            </a:r>
          </a:p>
        </p:txBody>
      </p:sp>
      <p:pic>
        <p:nvPicPr>
          <p:cNvPr id="5" name="Picture 4" descr="option_a.png"/>
          <p:cNvPicPr>
            <a:picLocks noChangeAspect="1"/>
          </p:cNvPicPr>
          <p:nvPr/>
        </p:nvPicPr>
        <p:blipFill>
          <a:blip r:embed="rId2"/>
          <a:stretch>
            <a:fillRect/>
          </a:stretch>
        </p:blipFill>
        <p:spPr>
          <a:xfrm>
            <a:off x="182880" y="1222454"/>
            <a:ext cx="5303520" cy="3224371"/>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A Lambda event source mapping can either point to the version ARN, or an alias ARN, but not to the layer ARN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A Lambda alias is a pointer to a specific Lambda function version.</a:t>
            </a:r>
          </a:p>
        </p:txBody>
      </p:sp>
      <p:pic>
        <p:nvPicPr>
          <p:cNvPr id="5" name="Picture 4" descr="option_b.png"/>
          <p:cNvPicPr>
            <a:picLocks noChangeAspect="1"/>
          </p:cNvPicPr>
          <p:nvPr/>
        </p:nvPicPr>
        <p:blipFill>
          <a:blip r:embed="rId2"/>
          <a:stretch>
            <a:fillRect/>
          </a:stretch>
        </p:blipFill>
        <p:spPr>
          <a:xfrm>
            <a:off x="182880" y="914400"/>
            <a:ext cx="3995417"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400"/>
              </a:spcAft>
              <a:defRPr sz="800">
                <a:solidFill>
                  <a:srgbClr val="212121"/>
                </a:solidFill>
                <a:latin typeface="Segoe UI"/>
              </a:defRPr>
            </a:pPr>
            <a:r>
              <a:t>• A Lambda alias is a pointer to a specific Lambda function version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This solution does not address your problem. Every alias has its own unique ARN. Therefore, you woul</a:t>
            </a:r>
          </a:p>
        </p:txBody>
      </p:sp>
      <p:pic>
        <p:nvPicPr>
          <p:cNvPr id="5" name="Picture 4" descr="option_c.png"/>
          <p:cNvPicPr>
            <a:picLocks noChangeAspect="1"/>
          </p:cNvPicPr>
          <p:nvPr/>
        </p:nvPicPr>
        <p:blipFill>
          <a:blip r:embed="rId2"/>
          <a:stretch>
            <a:fillRect/>
          </a:stretch>
        </p:blipFill>
        <p:spPr>
          <a:xfrm>
            <a:off x="182880" y="914400"/>
            <a:ext cx="3942497"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This solution does not address your problem</a:t>
            </a:r>
          </a:p>
          <a:p>
            <a:pPr>
              <a:spcAft>
                <a:spcPts val="400"/>
              </a:spcAft>
              <a:defRPr sz="800">
                <a:solidFill>
                  <a:srgbClr val="212121"/>
                </a:solidFill>
                <a:latin typeface="Segoe UI"/>
              </a:defRPr>
            </a:pPr>
            <a:r>
              <a:t>• Every alias has its own unique ARN</a:t>
            </a:r>
          </a:p>
          <a:p>
            <a:pPr>
              <a:spcAft>
                <a:spcPts val="400"/>
              </a:spcAft>
              <a:defRPr sz="800">
                <a:solidFill>
                  <a:srgbClr val="212121"/>
                </a:solidFill>
                <a:latin typeface="Segoe UI"/>
              </a:defRPr>
            </a:pPr>
            <a:r>
              <a:t>• Therefore, you would still need to update the event source mapping with the new ARN when a new version is published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A Lambda alias cannot point to another Lambda alias, only to a Lambda function version.</a:t>
            </a:r>
          </a:p>
        </p:txBody>
      </p:sp>
      <p:pic>
        <p:nvPicPr>
          <p:cNvPr id="5" name="Picture 4" descr="option_d.png"/>
          <p:cNvPicPr>
            <a:picLocks noChangeAspect="1"/>
          </p:cNvPicPr>
          <p:nvPr/>
        </p:nvPicPr>
        <p:blipFill>
          <a:blip r:embed="rId2"/>
          <a:stretch>
            <a:fillRect/>
          </a:stretch>
        </p:blipFill>
        <p:spPr>
          <a:xfrm>
            <a:off x="182880" y="1307539"/>
            <a:ext cx="5303520" cy="3054201"/>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A Lambda alias cannot point to another Lambda alias, only to a Lambda function version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E: Instead of using ARNs for the Lambda function in event source mappings, you can use an alias ARN. Yo</a:t>
            </a:r>
          </a:p>
        </p:txBody>
      </p:sp>
      <p:pic>
        <p:nvPicPr>
          <p:cNvPr id="5" name="Picture 4" descr="option_e.png"/>
          <p:cNvPicPr>
            <a:picLocks noChangeAspect="1"/>
          </p:cNvPicPr>
          <p:nvPr/>
        </p:nvPicPr>
        <p:blipFill>
          <a:blip r:embed="rId2"/>
          <a:stretch>
            <a:fillRect/>
          </a:stretch>
        </p:blipFill>
        <p:spPr>
          <a:xfrm>
            <a:off x="182880" y="1236099"/>
            <a:ext cx="5303520" cy="3197081"/>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400"/>
              </a:spcAft>
              <a:defRPr sz="800">
                <a:solidFill>
                  <a:srgbClr val="212121"/>
                </a:solidFill>
                <a:latin typeface="Segoe UI"/>
              </a:defRPr>
            </a:pPr>
            <a:r>
              <a:t>• Instead of using ARNs for the Lambda function in event source mappings</a:t>
            </a:r>
          </a:p>
          <a:p>
            <a:pPr>
              <a:spcAft>
                <a:spcPts val="400"/>
              </a:spcAft>
              <a:defRPr sz="800">
                <a:solidFill>
                  <a:srgbClr val="212121"/>
                </a:solidFill>
                <a:latin typeface="Segoe UI"/>
              </a:defRPr>
            </a:pPr>
            <a:r>
              <a:t>• You can use an alias ARN</a:t>
            </a:r>
          </a:p>
          <a:p>
            <a:pPr>
              <a:spcAft>
                <a:spcPts val="400"/>
              </a:spcAft>
              <a:defRPr sz="800">
                <a:solidFill>
                  <a:srgbClr val="212121"/>
                </a:solidFill>
                <a:latin typeface="Segoe UI"/>
              </a:defRPr>
            </a:pPr>
            <a:r>
              <a:t>• You do not need to update your event source mappings when you promote a new version or roll back to a previous version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