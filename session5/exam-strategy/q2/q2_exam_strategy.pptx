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45720" cy="5143500"/>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182880"/>
            <a:ext cx="6400800" cy="457200"/>
          </a:xfrm>
          <a:prstGeom prst="rect">
            <a:avLst/>
          </a:prstGeom>
          <a:noFill/>
        </p:spPr>
        <p:txBody>
          <a:bodyPr wrap="square">
            <a:spAutoFit/>
          </a:bodyPr>
          <a:lstStyle/>
          <a:p>
            <a:pPr>
              <a:defRPr sz="2000" b="1">
                <a:solidFill>
                  <a:srgbClr val="1E88E5"/>
                </a:solidFill>
                <a:latin typeface="Segoe UI"/>
              </a:defRPr>
            </a:pPr>
            <a:r>
              <a:t>Session 5 - Question 2</a:t>
            </a:r>
          </a:p>
        </p:txBody>
      </p:sp>
      <p:sp>
        <p:nvSpPr>
          <p:cNvPr id="4" name="TextBox 3"/>
          <p:cNvSpPr txBox="1"/>
          <p:nvPr/>
        </p:nvSpPr>
        <p:spPr>
          <a:xfrm>
            <a:off x="274320" y="685800"/>
            <a:ext cx="6400800" cy="1645920"/>
          </a:xfrm>
          <a:prstGeom prst="rect">
            <a:avLst/>
          </a:prstGeom>
          <a:noFill/>
        </p:spPr>
        <p:txBody>
          <a:bodyPr wrap="square">
            <a:spAutoFit/>
          </a:bodyPr>
          <a:lstStyle/>
          <a:p>
            <a:pPr>
              <a:defRPr sz="1100">
                <a:solidFill>
                  <a:srgbClr val="FFFFFF"/>
                </a:solidFill>
                <a:latin typeface="Segoe UI"/>
              </a:defRPr>
            </a:pPr>
            <a:r>
              <a:t>A developer needs to query a relational database from an AWS Lambda function. The Lambda function will be called frequently. The developer needs to avoid the latency introduced by the initial JDBC connection to the database in subsequent invocations of the Lambda function. How can the developer ensure the database connection is reused by Lambda?</a:t>
            </a:r>
          </a:p>
        </p:txBody>
      </p:sp>
      <p:sp>
        <p:nvSpPr>
          <p:cNvPr id="5" name="Oval 4"/>
          <p:cNvSpPr/>
          <p:nvPr/>
        </p:nvSpPr>
        <p:spPr>
          <a:xfrm>
            <a:off x="365760" y="2377440"/>
            <a:ext cx="274320" cy="274320"/>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900" b="1">
                <a:solidFill>
                  <a:srgbClr val="FFFFFF"/>
                </a:solidFill>
              </a:defRPr>
            </a:pPr>
            <a:r>
              <a:t>A</a:t>
            </a:r>
          </a:p>
        </p:txBody>
      </p:sp>
      <p:sp>
        <p:nvSpPr>
          <p:cNvPr id="6" name="TextBox 5"/>
          <p:cNvSpPr txBox="1"/>
          <p:nvPr/>
        </p:nvSpPr>
        <p:spPr>
          <a:xfrm>
            <a:off x="777240" y="2377440"/>
            <a:ext cx="5943600" cy="411480"/>
          </a:xfrm>
          <a:prstGeom prst="rect">
            <a:avLst/>
          </a:prstGeom>
          <a:noFill/>
        </p:spPr>
        <p:txBody>
          <a:bodyPr wrap="square">
            <a:spAutoFit/>
          </a:bodyPr>
          <a:lstStyle/>
          <a:p>
            <a:pPr>
              <a:defRPr sz="1000">
                <a:solidFill>
                  <a:srgbClr val="CCCCCC"/>
                </a:solidFill>
                <a:latin typeface="Segoe UI"/>
              </a:defRPr>
            </a:pPr>
            <a:r>
              <a:t>Database connection details can be stored as an environment variable. However, the developer still needs to initialize t</a:t>
            </a:r>
          </a:p>
        </p:txBody>
      </p:sp>
      <p:sp>
        <p:nvSpPr>
          <p:cNvPr id="7" name="Oval 6"/>
          <p:cNvSpPr/>
          <p:nvPr/>
        </p:nvSpPr>
        <p:spPr>
          <a:xfrm>
            <a:off x="365760" y="2834640"/>
            <a:ext cx="274320" cy="274320"/>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900" b="1">
                <a:solidFill>
                  <a:srgbClr val="FFFFFF"/>
                </a:solidFill>
              </a:defRPr>
            </a:pPr>
            <a:r>
              <a:t>B</a:t>
            </a:r>
          </a:p>
        </p:txBody>
      </p:sp>
      <p:sp>
        <p:nvSpPr>
          <p:cNvPr id="8" name="TextBox 7"/>
          <p:cNvSpPr txBox="1"/>
          <p:nvPr/>
        </p:nvSpPr>
        <p:spPr>
          <a:xfrm>
            <a:off x="777240" y="2834640"/>
            <a:ext cx="5943600" cy="411480"/>
          </a:xfrm>
          <a:prstGeom prst="rect">
            <a:avLst/>
          </a:prstGeom>
          <a:noFill/>
        </p:spPr>
        <p:txBody>
          <a:bodyPr wrap="square">
            <a:spAutoFit/>
          </a:bodyPr>
          <a:lstStyle/>
          <a:p>
            <a:pPr>
              <a:defRPr sz="1000">
                <a:solidFill>
                  <a:srgbClr val="CCCCCC"/>
                </a:solidFill>
                <a:latin typeface="Segoe UI"/>
              </a:defRPr>
            </a:pPr>
            <a:r>
              <a:t>The Lambda environment can reuse the same database connection for subsequent invocations when defining the database conn</a:t>
            </a:r>
          </a:p>
        </p:txBody>
      </p:sp>
      <p:sp>
        <p:nvSpPr>
          <p:cNvPr id="9" name="Oval 8"/>
          <p:cNvSpPr/>
          <p:nvPr/>
        </p:nvSpPr>
        <p:spPr>
          <a:xfrm>
            <a:off x="365760" y="3291840"/>
            <a:ext cx="274320" cy="274320"/>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900" b="1">
                <a:solidFill>
                  <a:srgbClr val="FFFFFF"/>
                </a:solidFill>
              </a:defRPr>
            </a:pPr>
            <a:r>
              <a:t>C</a:t>
            </a:r>
          </a:p>
        </p:txBody>
      </p:sp>
      <p:sp>
        <p:nvSpPr>
          <p:cNvPr id="10" name="TextBox 9"/>
          <p:cNvSpPr txBox="1"/>
          <p:nvPr/>
        </p:nvSpPr>
        <p:spPr>
          <a:xfrm>
            <a:off x="777240" y="3291840"/>
            <a:ext cx="5943600" cy="411480"/>
          </a:xfrm>
          <a:prstGeom prst="rect">
            <a:avLst/>
          </a:prstGeom>
          <a:noFill/>
        </p:spPr>
        <p:txBody>
          <a:bodyPr wrap="square">
            <a:spAutoFit/>
          </a:bodyPr>
          <a:lstStyle/>
          <a:p>
            <a:pPr>
              <a:defRPr sz="1000">
                <a:solidFill>
                  <a:srgbClr val="CCCCCC"/>
                </a:solidFill>
                <a:latin typeface="Segoe UI"/>
              </a:defRPr>
            </a:pPr>
            <a:r>
              <a:t>Database connection details can be stored in Systems Manager Parameter Store. However, initializing the connection withi</a:t>
            </a:r>
          </a:p>
        </p:txBody>
      </p:sp>
      <p:sp>
        <p:nvSpPr>
          <p:cNvPr id="11" name="Oval 10"/>
          <p:cNvSpPr/>
          <p:nvPr/>
        </p:nvSpPr>
        <p:spPr>
          <a:xfrm>
            <a:off x="365760" y="3749039"/>
            <a:ext cx="274320" cy="274320"/>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900" b="1">
                <a:solidFill>
                  <a:srgbClr val="FFFFFF"/>
                </a:solidFill>
              </a:defRPr>
            </a:pPr>
            <a:r>
              <a:t>D</a:t>
            </a:r>
          </a:p>
        </p:txBody>
      </p:sp>
      <p:sp>
        <p:nvSpPr>
          <p:cNvPr id="12" name="TextBox 11"/>
          <p:cNvSpPr txBox="1"/>
          <p:nvPr/>
        </p:nvSpPr>
        <p:spPr>
          <a:xfrm>
            <a:off x="777240" y="3749039"/>
            <a:ext cx="5943600" cy="411480"/>
          </a:xfrm>
          <a:prstGeom prst="rect">
            <a:avLst/>
          </a:prstGeom>
          <a:noFill/>
        </p:spPr>
        <p:txBody>
          <a:bodyPr wrap="square">
            <a:spAutoFit/>
          </a:bodyPr>
          <a:lstStyle/>
          <a:p>
            <a:pPr>
              <a:defRPr sz="1000">
                <a:solidFill>
                  <a:srgbClr val="CCCCCC"/>
                </a:solidFill>
                <a:latin typeface="Segoe UI"/>
              </a:defRPr>
            </a:pPr>
            <a:r>
              <a:t>Initializing the connection within the handler method will result in it re-initializing each subsequent Lambda function </a:t>
            </a:r>
          </a:p>
        </p:txBody>
      </p:sp>
      <p:sp>
        <p:nvSpPr>
          <p:cNvPr id="13" name="Rounded Rectangle 12"/>
          <p:cNvSpPr/>
          <p:nvPr/>
        </p:nvSpPr>
        <p:spPr>
          <a:xfrm>
            <a:off x="7132320" y="182880"/>
            <a:ext cx="1828800" cy="2103120"/>
          </a:xfrm>
          <a:prstGeom prst="round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0" y="274320"/>
            <a:ext cx="1828800" cy="274320"/>
          </a:xfrm>
          <a:prstGeom prst="rect">
            <a:avLst/>
          </a:prstGeom>
          <a:noFill/>
        </p:spPr>
        <p:txBody>
          <a:bodyPr wrap="none">
            <a:spAutoFit/>
          </a:bodyPr>
          <a:lstStyle/>
          <a:p>
            <a:pPr algn="ctr">
              <a:defRPr sz="900" b="1">
                <a:solidFill>
                  <a:srgbClr val="00E676"/>
                </a:solidFill>
                <a:latin typeface="Segoe UI"/>
              </a:defRPr>
            </a:pPr>
            <a:r>
              <a:t>⏱ TIME</a:t>
            </a:r>
          </a:p>
        </p:txBody>
      </p:sp>
      <p:pic>
        <p:nvPicPr>
          <p:cNvPr id="15" name="Picture 14" descr="countdown_2min.gif"/>
          <p:cNvPicPr>
            <a:picLocks noChangeAspect="1"/>
          </p:cNvPicPr>
          <p:nvPr/>
        </p:nvPicPr>
        <p:blipFill>
          <a:blip r:embed="rId2"/>
          <a:stretch>
            <a:fillRect/>
          </a:stretch>
        </p:blipFill>
        <p:spPr>
          <a:xfrm>
            <a:off x="7269480" y="548640"/>
            <a:ext cx="1554480" cy="155448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188720" cy="365760"/>
          </a:xfrm>
          <a:prstGeom prst="round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INCORRECT</a:t>
            </a:r>
          </a:p>
        </p:txBody>
      </p:sp>
      <p:sp>
        <p:nvSpPr>
          <p:cNvPr id="4" name="TextBox 3"/>
          <p:cNvSpPr txBox="1"/>
          <p:nvPr/>
        </p:nvSpPr>
        <p:spPr>
          <a:xfrm>
            <a:off x="1645920" y="182880"/>
            <a:ext cx="7132320" cy="457200"/>
          </a:xfrm>
          <a:prstGeom prst="rect">
            <a:avLst/>
          </a:prstGeom>
          <a:noFill/>
        </p:spPr>
        <p:txBody>
          <a:bodyPr wrap="square">
            <a:spAutoFit/>
          </a:bodyPr>
          <a:lstStyle/>
          <a:p>
            <a:pPr>
              <a:defRPr sz="1000">
                <a:solidFill>
                  <a:srgbClr val="FFFFFF"/>
                </a:solidFill>
                <a:latin typeface="Segoe UI"/>
              </a:defRPr>
            </a:pPr>
            <a:r>
              <a:t>Option A: Database connection details can be stored as an environment variable. However, the developer still n</a:t>
            </a:r>
          </a:p>
        </p:txBody>
      </p:sp>
      <p:pic>
        <p:nvPicPr>
          <p:cNvPr id="5" name="Picture 4" descr="option_a.png"/>
          <p:cNvPicPr>
            <a:picLocks noChangeAspect="1"/>
          </p:cNvPicPr>
          <p:nvPr/>
        </p:nvPicPr>
        <p:blipFill>
          <a:blip r:embed="rId2"/>
          <a:stretch>
            <a:fillRect/>
          </a:stretch>
        </p:blipFill>
        <p:spPr>
          <a:xfrm>
            <a:off x="182880" y="1602011"/>
            <a:ext cx="5303520" cy="2465257"/>
          </a:xfrm>
          <a:prstGeom prst="rect">
            <a:avLst/>
          </a:prstGeom>
        </p:spPr>
      </p:pic>
      <p:sp>
        <p:nvSpPr>
          <p:cNvPr id="6" name="Rounded Rectangle 5"/>
          <p:cNvSpPr/>
          <p:nvPr/>
        </p:nvSpPr>
        <p:spPr>
          <a:xfrm>
            <a:off x="5669280" y="1005840"/>
            <a:ext cx="3200400" cy="384048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188720"/>
            <a:ext cx="45720" cy="3474720"/>
          </a:xfrm>
          <a:prstGeom prst="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0" y="1188720"/>
            <a:ext cx="2834640" cy="3566160"/>
          </a:xfrm>
          <a:prstGeom prst="rect">
            <a:avLst/>
          </a:prstGeom>
          <a:noFill/>
        </p:spPr>
        <p:txBody>
          <a:bodyPr wrap="square">
            <a:spAutoFit/>
          </a:bodyPr>
          <a:lstStyle/>
          <a:p>
            <a:pPr>
              <a:spcAft>
                <a:spcPts val="600"/>
              </a:spcAft>
              <a:defRPr sz="1000" b="1">
                <a:solidFill>
                  <a:srgbClr val="FF1744"/>
                </a:solidFill>
                <a:latin typeface="Segoe UI"/>
              </a:defRPr>
            </a:pPr>
            <a:r>
              <a:t>Why this is incorrect:</a:t>
            </a:r>
          </a:p>
          <a:p>
            <a:pPr>
              <a:spcAft>
                <a:spcPts val="600"/>
              </a:spcAft>
              <a:defRPr sz="900">
                <a:solidFill>
                  <a:srgbClr val="212121"/>
                </a:solidFill>
                <a:latin typeface="Segoe UI"/>
              </a:defRPr>
            </a:pPr>
            <a:r>
              <a:t>• Database connection details can be stored as an environment variable.</a:t>
            </a:r>
          </a:p>
          <a:p>
            <a:pPr>
              <a:spcAft>
                <a:spcPts val="600"/>
              </a:spcAft>
              <a:defRPr sz="900">
                <a:solidFill>
                  <a:srgbClr val="212121"/>
                </a:solidFill>
                <a:latin typeface="Segoe UI"/>
              </a:defRPr>
            </a:pPr>
            <a:r>
              <a:t>• However, the developer still needs to initialize the connection within the code for the connection to be used in queries.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188720" cy="365760"/>
          </a:xfrm>
          <a:prstGeom prst="roundRect">
            <a:avLst/>
          </a:prstGeom>
          <a:solidFill>
            <a:srgbClr val="00C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CORRECT</a:t>
            </a:r>
          </a:p>
        </p:txBody>
      </p:sp>
      <p:sp>
        <p:nvSpPr>
          <p:cNvPr id="4" name="TextBox 3"/>
          <p:cNvSpPr txBox="1"/>
          <p:nvPr/>
        </p:nvSpPr>
        <p:spPr>
          <a:xfrm>
            <a:off x="1645920" y="182880"/>
            <a:ext cx="7132320" cy="457200"/>
          </a:xfrm>
          <a:prstGeom prst="rect">
            <a:avLst/>
          </a:prstGeom>
          <a:noFill/>
        </p:spPr>
        <p:txBody>
          <a:bodyPr wrap="square">
            <a:spAutoFit/>
          </a:bodyPr>
          <a:lstStyle/>
          <a:p>
            <a:pPr>
              <a:defRPr sz="1000">
                <a:solidFill>
                  <a:srgbClr val="FFFFFF"/>
                </a:solidFill>
                <a:latin typeface="Segoe UI"/>
              </a:defRPr>
            </a:pPr>
            <a:r>
              <a:t>Option B: The Lambda environment can reuse the same database connection for subsequent invocations when defini</a:t>
            </a:r>
          </a:p>
        </p:txBody>
      </p:sp>
      <p:pic>
        <p:nvPicPr>
          <p:cNvPr id="5" name="Picture 4" descr="option_b.png"/>
          <p:cNvPicPr>
            <a:picLocks noChangeAspect="1"/>
          </p:cNvPicPr>
          <p:nvPr/>
        </p:nvPicPr>
        <p:blipFill>
          <a:blip r:embed="rId2"/>
          <a:stretch>
            <a:fillRect/>
          </a:stretch>
        </p:blipFill>
        <p:spPr>
          <a:xfrm>
            <a:off x="182880" y="1708694"/>
            <a:ext cx="5303520" cy="2251891"/>
          </a:xfrm>
          <a:prstGeom prst="rect">
            <a:avLst/>
          </a:prstGeom>
        </p:spPr>
      </p:pic>
      <p:sp>
        <p:nvSpPr>
          <p:cNvPr id="6" name="Rounded Rectangle 5"/>
          <p:cNvSpPr/>
          <p:nvPr/>
        </p:nvSpPr>
        <p:spPr>
          <a:xfrm>
            <a:off x="5669280" y="1005840"/>
            <a:ext cx="3200400" cy="384048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188720"/>
            <a:ext cx="45720" cy="3474720"/>
          </a:xfrm>
          <a:prstGeom prst="rect">
            <a:avLst/>
          </a:prstGeom>
          <a:solidFill>
            <a:srgbClr val="00C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0" y="1188720"/>
            <a:ext cx="2834640" cy="3566160"/>
          </a:xfrm>
          <a:prstGeom prst="rect">
            <a:avLst/>
          </a:prstGeom>
          <a:noFill/>
        </p:spPr>
        <p:txBody>
          <a:bodyPr wrap="square">
            <a:spAutoFit/>
          </a:bodyPr>
          <a:lstStyle/>
          <a:p>
            <a:pPr>
              <a:spcAft>
                <a:spcPts val="600"/>
              </a:spcAft>
              <a:defRPr sz="1000" b="1">
                <a:solidFill>
                  <a:srgbClr val="00C853"/>
                </a:solidFill>
                <a:latin typeface="Segoe UI"/>
              </a:defRPr>
            </a:pPr>
            <a:r>
              <a:t>Why this is correct:</a:t>
            </a:r>
          </a:p>
          <a:p>
            <a:pPr>
              <a:spcAft>
                <a:spcPts val="600"/>
              </a:spcAft>
              <a:defRPr sz="900">
                <a:solidFill>
                  <a:srgbClr val="212121"/>
                </a:solidFill>
                <a:latin typeface="Segoe UI"/>
              </a:defRPr>
            </a:pPr>
            <a:r>
              <a:t>• The Lambda environment can reuse the same database connection for subsequent invocations when defining the database connection details in the code but outside the handler method.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188720" cy="365760"/>
          </a:xfrm>
          <a:prstGeom prst="round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INCORRECT</a:t>
            </a:r>
          </a:p>
        </p:txBody>
      </p:sp>
      <p:sp>
        <p:nvSpPr>
          <p:cNvPr id="4" name="TextBox 3"/>
          <p:cNvSpPr txBox="1"/>
          <p:nvPr/>
        </p:nvSpPr>
        <p:spPr>
          <a:xfrm>
            <a:off x="1645920" y="182880"/>
            <a:ext cx="7132320" cy="457200"/>
          </a:xfrm>
          <a:prstGeom prst="rect">
            <a:avLst/>
          </a:prstGeom>
          <a:noFill/>
        </p:spPr>
        <p:txBody>
          <a:bodyPr wrap="square">
            <a:spAutoFit/>
          </a:bodyPr>
          <a:lstStyle/>
          <a:p>
            <a:pPr>
              <a:defRPr sz="1000">
                <a:solidFill>
                  <a:srgbClr val="FFFFFF"/>
                </a:solidFill>
                <a:latin typeface="Segoe UI"/>
              </a:defRPr>
            </a:pPr>
            <a:r>
              <a:t>Option C: Database connection details can be stored in Systems Manager Parameter Store. However, initializing </a:t>
            </a:r>
          </a:p>
        </p:txBody>
      </p:sp>
      <p:pic>
        <p:nvPicPr>
          <p:cNvPr id="5" name="Picture 4" descr="option_c.png"/>
          <p:cNvPicPr>
            <a:picLocks noChangeAspect="1"/>
          </p:cNvPicPr>
          <p:nvPr/>
        </p:nvPicPr>
        <p:blipFill>
          <a:blip r:embed="rId2"/>
          <a:stretch>
            <a:fillRect/>
          </a:stretch>
        </p:blipFill>
        <p:spPr>
          <a:xfrm>
            <a:off x="182880" y="1643961"/>
            <a:ext cx="5303520" cy="2381357"/>
          </a:xfrm>
          <a:prstGeom prst="rect">
            <a:avLst/>
          </a:prstGeom>
        </p:spPr>
      </p:pic>
      <p:sp>
        <p:nvSpPr>
          <p:cNvPr id="6" name="Rounded Rectangle 5"/>
          <p:cNvSpPr/>
          <p:nvPr/>
        </p:nvSpPr>
        <p:spPr>
          <a:xfrm>
            <a:off x="5669280" y="1005840"/>
            <a:ext cx="3200400" cy="384048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188720"/>
            <a:ext cx="45720" cy="3474720"/>
          </a:xfrm>
          <a:prstGeom prst="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0" y="1188720"/>
            <a:ext cx="2834640" cy="3566160"/>
          </a:xfrm>
          <a:prstGeom prst="rect">
            <a:avLst/>
          </a:prstGeom>
          <a:noFill/>
        </p:spPr>
        <p:txBody>
          <a:bodyPr wrap="square">
            <a:spAutoFit/>
          </a:bodyPr>
          <a:lstStyle/>
          <a:p>
            <a:pPr>
              <a:spcAft>
                <a:spcPts val="600"/>
              </a:spcAft>
              <a:defRPr sz="1000" b="1">
                <a:solidFill>
                  <a:srgbClr val="FF1744"/>
                </a:solidFill>
                <a:latin typeface="Segoe UI"/>
              </a:defRPr>
            </a:pPr>
            <a:r>
              <a:t>Why this is incorrect:</a:t>
            </a:r>
          </a:p>
          <a:p>
            <a:pPr>
              <a:spcAft>
                <a:spcPts val="600"/>
              </a:spcAft>
              <a:defRPr sz="900">
                <a:solidFill>
                  <a:srgbClr val="212121"/>
                </a:solidFill>
                <a:latin typeface="Segoe UI"/>
              </a:defRPr>
            </a:pPr>
            <a:r>
              <a:t>• Database connection details can be stored in Systems Manager Parameter Store.</a:t>
            </a:r>
          </a:p>
          <a:p>
            <a:pPr>
              <a:spcAft>
                <a:spcPts val="600"/>
              </a:spcAft>
              <a:defRPr sz="900">
                <a:solidFill>
                  <a:srgbClr val="212121"/>
                </a:solidFill>
                <a:latin typeface="Segoe UI"/>
              </a:defRPr>
            </a:pPr>
            <a:r>
              <a:t>• However, initializing the connection within the handler method will result in it re-initializing each subsequent Lambda function invocation.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82296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274320" y="182880"/>
            <a:ext cx="1188720" cy="365760"/>
          </a:xfrm>
          <a:prstGeom prst="round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latin typeface="Segoe UI"/>
              </a:defRPr>
            </a:pPr>
            <a:r>
              <a:t>✗ INCORRECT</a:t>
            </a:r>
          </a:p>
        </p:txBody>
      </p:sp>
      <p:sp>
        <p:nvSpPr>
          <p:cNvPr id="4" name="TextBox 3"/>
          <p:cNvSpPr txBox="1"/>
          <p:nvPr/>
        </p:nvSpPr>
        <p:spPr>
          <a:xfrm>
            <a:off x="1645920" y="182880"/>
            <a:ext cx="7132320" cy="457200"/>
          </a:xfrm>
          <a:prstGeom prst="rect">
            <a:avLst/>
          </a:prstGeom>
          <a:noFill/>
        </p:spPr>
        <p:txBody>
          <a:bodyPr wrap="square">
            <a:spAutoFit/>
          </a:bodyPr>
          <a:lstStyle/>
          <a:p>
            <a:pPr>
              <a:defRPr sz="1000">
                <a:solidFill>
                  <a:srgbClr val="FFFFFF"/>
                </a:solidFill>
                <a:latin typeface="Segoe UI"/>
              </a:defRPr>
            </a:pPr>
            <a:r>
              <a:t>Option D: Initializing the connection within the handler method will result in it re-initializing each subsequ</a:t>
            </a:r>
          </a:p>
        </p:txBody>
      </p:sp>
      <p:pic>
        <p:nvPicPr>
          <p:cNvPr id="5" name="Picture 4" descr="option_d.png"/>
          <p:cNvPicPr>
            <a:picLocks noChangeAspect="1"/>
          </p:cNvPicPr>
          <p:nvPr/>
        </p:nvPicPr>
        <p:blipFill>
          <a:blip r:embed="rId2"/>
          <a:stretch>
            <a:fillRect/>
          </a:stretch>
        </p:blipFill>
        <p:spPr>
          <a:xfrm>
            <a:off x="182880" y="914400"/>
            <a:ext cx="2731008" cy="3840480"/>
          </a:xfrm>
          <a:prstGeom prst="rect">
            <a:avLst/>
          </a:prstGeom>
        </p:spPr>
      </p:pic>
      <p:sp>
        <p:nvSpPr>
          <p:cNvPr id="6" name="Rounded Rectangle 5"/>
          <p:cNvSpPr/>
          <p:nvPr/>
        </p:nvSpPr>
        <p:spPr>
          <a:xfrm>
            <a:off x="5669280" y="1005840"/>
            <a:ext cx="3200400" cy="384048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0" y="1188720"/>
            <a:ext cx="45720" cy="3474720"/>
          </a:xfrm>
          <a:prstGeom prst="rect">
            <a:avLst/>
          </a:prstGeom>
          <a:solidFill>
            <a:srgbClr val="FF17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52160" y="1188720"/>
            <a:ext cx="2834640" cy="3566160"/>
          </a:xfrm>
          <a:prstGeom prst="rect">
            <a:avLst/>
          </a:prstGeom>
          <a:noFill/>
        </p:spPr>
        <p:txBody>
          <a:bodyPr wrap="square">
            <a:spAutoFit/>
          </a:bodyPr>
          <a:lstStyle/>
          <a:p>
            <a:pPr>
              <a:spcAft>
                <a:spcPts val="600"/>
              </a:spcAft>
              <a:defRPr sz="1000" b="1">
                <a:solidFill>
                  <a:srgbClr val="FF1744"/>
                </a:solidFill>
                <a:latin typeface="Segoe UI"/>
              </a:defRPr>
            </a:pPr>
            <a:r>
              <a:t>Why this is incorrect:</a:t>
            </a:r>
          </a:p>
          <a:p>
            <a:pPr>
              <a:spcAft>
                <a:spcPts val="600"/>
              </a:spcAft>
              <a:defRPr sz="900">
                <a:solidFill>
                  <a:srgbClr val="212121"/>
                </a:solidFill>
                <a:latin typeface="Segoe UI"/>
              </a:defRPr>
            </a:pPr>
            <a:r>
              <a:t>• Initializing the connection within the handler method will result in it re-initializing each subsequent Lambda function invocation.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