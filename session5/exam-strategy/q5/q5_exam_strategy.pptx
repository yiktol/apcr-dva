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45720" cy="51435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6400800" cy="457200"/>
          </a:xfrm>
          <a:prstGeom prst="rect">
            <a:avLst/>
          </a:prstGeom>
          <a:noFill/>
        </p:spPr>
        <p:txBody>
          <a:bodyPr wrap="square">
            <a:spAutoFit/>
          </a:bodyPr>
          <a:lstStyle/>
          <a:p>
            <a:pPr>
              <a:defRPr sz="2000" b="1">
                <a:solidFill>
                  <a:srgbClr val="1E88E5"/>
                </a:solidFill>
                <a:latin typeface="Segoe UI"/>
              </a:defRPr>
            </a:pPr>
            <a:r>
              <a:t>Session 5 - Question 5</a:t>
            </a:r>
          </a:p>
        </p:txBody>
      </p:sp>
      <p:sp>
        <p:nvSpPr>
          <p:cNvPr id="4" name="TextBox 3"/>
          <p:cNvSpPr txBox="1"/>
          <p:nvPr/>
        </p:nvSpPr>
        <p:spPr>
          <a:xfrm>
            <a:off x="274320" y="685800"/>
            <a:ext cx="6400800" cy="1645920"/>
          </a:xfrm>
          <a:prstGeom prst="rect">
            <a:avLst/>
          </a:prstGeom>
          <a:noFill/>
        </p:spPr>
        <p:txBody>
          <a:bodyPr wrap="square">
            <a:spAutoFit/>
          </a:bodyPr>
          <a:lstStyle/>
          <a:p>
            <a:pPr>
              <a:defRPr sz="1100">
                <a:solidFill>
                  <a:srgbClr val="FFFFFF"/>
                </a:solidFill>
                <a:latin typeface="Segoe UI"/>
              </a:defRPr>
            </a:pPr>
            <a:r>
              <a:t>A developer wants to deploy an AWS Serverless Application Model (AWS SAM) application with the AWS SAM CLI. The developer is using the AWS CLI in an AWS Cloud9 environment for deployment and has run the sam build command to prepare the application for deployment. The next day, the developer connects to the same AWS Cloud9 environment and attempts to deploy the application. The sam deploy command returns the following error: Invalid (or missing) template file (path must be workspace-relative, ...</a:t>
            </a:r>
          </a:p>
        </p:txBody>
      </p:sp>
      <p:sp>
        <p:nvSpPr>
          <p:cNvPr id="5" name="Oval 4"/>
          <p:cNvSpPr/>
          <p:nvPr/>
        </p:nvSpPr>
        <p:spPr>
          <a:xfrm>
            <a:off x="365760" y="23774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A</a:t>
            </a:r>
          </a:p>
        </p:txBody>
      </p:sp>
      <p:sp>
        <p:nvSpPr>
          <p:cNvPr id="6" name="TextBox 5"/>
          <p:cNvSpPr txBox="1"/>
          <p:nvPr/>
        </p:nvSpPr>
        <p:spPr>
          <a:xfrm>
            <a:off x="777240" y="2377440"/>
            <a:ext cx="5943600" cy="411480"/>
          </a:xfrm>
          <a:prstGeom prst="rect">
            <a:avLst/>
          </a:prstGeom>
          <a:noFill/>
        </p:spPr>
        <p:txBody>
          <a:bodyPr wrap="square">
            <a:spAutoFit/>
          </a:bodyPr>
          <a:lstStyle/>
          <a:p>
            <a:pPr>
              <a:defRPr sz="1000">
                <a:solidFill>
                  <a:srgbClr val="CCCCCC"/>
                </a:solidFill>
                <a:latin typeface="Segoe UI"/>
              </a:defRPr>
            </a:pPr>
            <a:r>
              <a:t>The template.yaml file is required, and it needs to be located in either the aws-sam subfolder or in the root of the cur</a:t>
            </a:r>
          </a:p>
        </p:txBody>
      </p:sp>
      <p:sp>
        <p:nvSpPr>
          <p:cNvPr id="7" name="Oval 6"/>
          <p:cNvSpPr/>
          <p:nvPr/>
        </p:nvSpPr>
        <p:spPr>
          <a:xfrm>
            <a:off x="365760" y="28346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B</a:t>
            </a:r>
          </a:p>
        </p:txBody>
      </p:sp>
      <p:sp>
        <p:nvSpPr>
          <p:cNvPr id="8" name="TextBox 7"/>
          <p:cNvSpPr txBox="1"/>
          <p:nvPr/>
        </p:nvSpPr>
        <p:spPr>
          <a:xfrm>
            <a:off x="777240" y="2834640"/>
            <a:ext cx="5943600" cy="411480"/>
          </a:xfrm>
          <a:prstGeom prst="rect">
            <a:avLst/>
          </a:prstGeom>
          <a:noFill/>
        </p:spPr>
        <p:txBody>
          <a:bodyPr wrap="square">
            <a:spAutoFit/>
          </a:bodyPr>
          <a:lstStyle/>
          <a:p>
            <a:pPr>
              <a:defRPr sz="1000">
                <a:solidFill>
                  <a:srgbClr val="CCCCCC"/>
                </a:solidFill>
                <a:latin typeface="Segoe UI"/>
              </a:defRPr>
            </a:pPr>
            <a:r>
              <a:t>The template.yaml file is required, and it needs to be located either in the aws-sam subfolder or in the root of the cur</a:t>
            </a:r>
          </a:p>
        </p:txBody>
      </p:sp>
      <p:sp>
        <p:nvSpPr>
          <p:cNvPr id="9" name="Oval 8"/>
          <p:cNvSpPr/>
          <p:nvPr/>
        </p:nvSpPr>
        <p:spPr>
          <a:xfrm>
            <a:off x="365760" y="32918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C</a:t>
            </a:r>
          </a:p>
        </p:txBody>
      </p:sp>
      <p:sp>
        <p:nvSpPr>
          <p:cNvPr id="10" name="TextBox 9"/>
          <p:cNvSpPr txBox="1"/>
          <p:nvPr/>
        </p:nvSpPr>
        <p:spPr>
          <a:xfrm>
            <a:off x="777240" y="3291840"/>
            <a:ext cx="5943600" cy="411480"/>
          </a:xfrm>
          <a:prstGeom prst="rect">
            <a:avLst/>
          </a:prstGeom>
          <a:noFill/>
        </p:spPr>
        <p:txBody>
          <a:bodyPr wrap="square">
            <a:spAutoFit/>
          </a:bodyPr>
          <a:lstStyle/>
          <a:p>
            <a:pPr>
              <a:defRPr sz="1000">
                <a:solidFill>
                  <a:srgbClr val="CCCCCC"/>
                </a:solidFill>
                <a:latin typeface="Segoe UI"/>
              </a:defRPr>
            </a:pPr>
            <a:r>
              <a:t>The developer needs to change the working directory to the root of the application that was created by sam build. By def</a:t>
            </a:r>
          </a:p>
        </p:txBody>
      </p:sp>
      <p:sp>
        <p:nvSpPr>
          <p:cNvPr id="11" name="Oval 10"/>
          <p:cNvSpPr/>
          <p:nvPr/>
        </p:nvSpPr>
        <p:spPr>
          <a:xfrm>
            <a:off x="365760" y="3749039"/>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D</a:t>
            </a:r>
          </a:p>
        </p:txBody>
      </p:sp>
      <p:sp>
        <p:nvSpPr>
          <p:cNvPr id="12" name="TextBox 11"/>
          <p:cNvSpPr txBox="1"/>
          <p:nvPr/>
        </p:nvSpPr>
        <p:spPr>
          <a:xfrm>
            <a:off x="777240" y="3749039"/>
            <a:ext cx="5943600" cy="411480"/>
          </a:xfrm>
          <a:prstGeom prst="rect">
            <a:avLst/>
          </a:prstGeom>
          <a:noFill/>
        </p:spPr>
        <p:txBody>
          <a:bodyPr wrap="square">
            <a:spAutoFit/>
          </a:bodyPr>
          <a:lstStyle/>
          <a:p>
            <a:pPr>
              <a:defRPr sz="1000">
                <a:solidFill>
                  <a:srgbClr val="CCCCCC"/>
                </a:solidFill>
                <a:latin typeface="Segoe UI"/>
              </a:defRPr>
            </a:pPr>
            <a:r>
              <a:t>Because the sam build command completed successfully, the focus of problem resolution should be the location of the temp</a:t>
            </a:r>
          </a:p>
        </p:txBody>
      </p:sp>
      <p:sp>
        <p:nvSpPr>
          <p:cNvPr id="13" name="Rounded Rectangle 12"/>
          <p:cNvSpPr/>
          <p:nvPr/>
        </p:nvSpPr>
        <p:spPr>
          <a:xfrm>
            <a:off x="7132320" y="182880"/>
            <a:ext cx="1828800" cy="210312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74320"/>
            <a:ext cx="1828800" cy="274320"/>
          </a:xfrm>
          <a:prstGeom prst="rect">
            <a:avLst/>
          </a:prstGeom>
          <a:noFill/>
        </p:spPr>
        <p:txBody>
          <a:bodyPr wrap="none">
            <a:spAutoFit/>
          </a:bodyPr>
          <a:lstStyle/>
          <a:p>
            <a:pPr algn="ctr">
              <a:defRPr sz="900" b="1">
                <a:solidFill>
                  <a:srgbClr val="00E676"/>
                </a:solidFill>
                <a:latin typeface="Segoe UI"/>
              </a:defRPr>
            </a:pPr>
            <a:r>
              <a:t>⏱ TIME</a:t>
            </a:r>
          </a:p>
        </p:txBody>
      </p:sp>
      <p:pic>
        <p:nvPicPr>
          <p:cNvPr id="15" name="Picture 14" descr="countdown_2min.gif"/>
          <p:cNvPicPr>
            <a:picLocks noChangeAspect="1"/>
          </p:cNvPicPr>
          <p:nvPr/>
        </p:nvPicPr>
        <p:blipFill>
          <a:blip r:embed="rId2"/>
          <a:stretch>
            <a:fillRect/>
          </a:stretch>
        </p:blipFill>
        <p:spPr>
          <a:xfrm>
            <a:off x="7269480" y="548640"/>
            <a:ext cx="1554480" cy="15544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A: The template.yaml file is required, and it needs to be located in either the aws-sam subfolder or in</a:t>
            </a:r>
          </a:p>
        </p:txBody>
      </p:sp>
      <p:pic>
        <p:nvPicPr>
          <p:cNvPr id="5" name="Picture 4" descr="option_a.png"/>
          <p:cNvPicPr>
            <a:picLocks noChangeAspect="1"/>
          </p:cNvPicPr>
          <p:nvPr/>
        </p:nvPicPr>
        <p:blipFill>
          <a:blip r:embed="rId2"/>
          <a:stretch>
            <a:fillRect/>
          </a:stretch>
        </p:blipFill>
        <p:spPr>
          <a:xfrm>
            <a:off x="182880" y="914400"/>
            <a:ext cx="3228638"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The template.yaml file is required, and it needs to be located in either the aws-sam subfolder or in the root of the current working directory for the sam deploy command to succeed.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B: The template.yaml file is required, and it needs to be located either in the aws-sam subfolder or in</a:t>
            </a:r>
          </a:p>
        </p:txBody>
      </p:sp>
      <p:pic>
        <p:nvPicPr>
          <p:cNvPr id="5" name="Picture 4" descr="option_b.png"/>
          <p:cNvPicPr>
            <a:picLocks noChangeAspect="1"/>
          </p:cNvPicPr>
          <p:nvPr/>
        </p:nvPicPr>
        <p:blipFill>
          <a:blip r:embed="rId2"/>
          <a:stretch>
            <a:fillRect/>
          </a:stretch>
        </p:blipFill>
        <p:spPr>
          <a:xfrm>
            <a:off x="182880" y="914400"/>
            <a:ext cx="3228638"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The template.yaml file is required, and it needs to be located either in the aws-sam subfolder or in the root of the current working directory for the sam deploy command to succeed.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C: The developer needs to change the working directory to the root of the application that was created </a:t>
            </a:r>
          </a:p>
        </p:txBody>
      </p:sp>
      <p:pic>
        <p:nvPicPr>
          <p:cNvPr id="5" name="Picture 4" descr="option_c.png"/>
          <p:cNvPicPr>
            <a:picLocks noChangeAspect="1"/>
          </p:cNvPicPr>
          <p:nvPr/>
        </p:nvPicPr>
        <p:blipFill>
          <a:blip r:embed="rId2"/>
          <a:stretch>
            <a:fillRect/>
          </a:stretch>
        </p:blipFill>
        <p:spPr>
          <a:xfrm>
            <a:off x="182880" y="914400"/>
            <a:ext cx="3115683"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600"/>
              </a:spcAft>
              <a:defRPr sz="900">
                <a:solidFill>
                  <a:srgbClr val="212121"/>
                </a:solidFill>
                <a:latin typeface="Segoe UI"/>
              </a:defRPr>
            </a:pPr>
            <a:r>
              <a:t>• The developer needs to change the working directory to the root of the application that was created by sam build.</a:t>
            </a:r>
          </a:p>
          <a:p>
            <a:pPr>
              <a:spcAft>
                <a:spcPts val="600"/>
              </a:spcAft>
              <a:defRPr sz="900">
                <a:solidFill>
                  <a:srgbClr val="212121"/>
                </a:solidFill>
                <a:latin typeface="Segoe UI"/>
              </a:defRPr>
            </a:pPr>
            <a:r>
              <a:t>• By default, sam deploy assumes that the current working directory is the project's root directory and tries to locate the template.</a:t>
            </a:r>
          </a:p>
          <a:p>
            <a:pPr>
              <a:spcAft>
                <a:spcPts val="600"/>
              </a:spcAft>
              <a:defRPr sz="900">
                <a:solidFill>
                  <a:srgbClr val="212121"/>
                </a:solidFill>
                <a:latin typeface="Segoe UI"/>
              </a:defRPr>
            </a:pPr>
            <a:r>
              <a:t>• yaml file either in the .</a:t>
            </a:r>
          </a:p>
          <a:p>
            <a:pPr>
              <a:spcAft>
                <a:spcPts val="600"/>
              </a:spcAft>
              <a:defRPr sz="900">
                <a:solidFill>
                  <a:srgbClr val="212121"/>
                </a:solidFill>
                <a:latin typeface="Segoe UI"/>
              </a:defRPr>
            </a:pPr>
            <a:r>
              <a:t>• aws-sam subfolder or in the root of the current working directory.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D: Because the sam build command completed successfully, the focus of problem resolution should be the </a:t>
            </a:r>
          </a:p>
        </p:txBody>
      </p:sp>
      <p:pic>
        <p:nvPicPr>
          <p:cNvPr id="5" name="Picture 4" descr="option_d.png"/>
          <p:cNvPicPr>
            <a:picLocks noChangeAspect="1"/>
          </p:cNvPicPr>
          <p:nvPr/>
        </p:nvPicPr>
        <p:blipFill>
          <a:blip r:embed="rId2"/>
          <a:stretch>
            <a:fillRect/>
          </a:stretch>
        </p:blipFill>
        <p:spPr>
          <a:xfrm>
            <a:off x="182880" y="914400"/>
            <a:ext cx="3238051"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Because the sam build command completed successfully, the focus of problem resolution should be the location of the template.</a:t>
            </a:r>
          </a:p>
          <a:p>
            <a:pPr>
              <a:spcAft>
                <a:spcPts val="600"/>
              </a:spcAft>
              <a:defRPr sz="900">
                <a:solidFill>
                  <a:srgbClr val="212121"/>
                </a:solidFill>
                <a:latin typeface="Segoe UI"/>
              </a:defRPr>
            </a:pPr>
            <a:r>
              <a:t>• yaml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