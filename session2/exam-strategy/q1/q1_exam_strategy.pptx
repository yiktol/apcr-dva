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45720" cy="514350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6400800" cy="457200"/>
          </a:xfrm>
          <a:prstGeom prst="rect">
            <a:avLst/>
          </a:prstGeom>
          <a:noFill/>
        </p:spPr>
        <p:txBody>
          <a:bodyPr wrap="square">
            <a:spAutoFit/>
          </a:bodyPr>
          <a:lstStyle/>
          <a:p>
            <a:pPr>
              <a:defRPr sz="2000" b="1">
                <a:solidFill>
                  <a:srgbClr val="1E88E5"/>
                </a:solidFill>
                <a:latin typeface="Segoe UI"/>
              </a:defRPr>
            </a:pPr>
            <a:r>
              <a:t>Session 2 - Question 1</a:t>
            </a:r>
          </a:p>
        </p:txBody>
      </p:sp>
      <p:sp>
        <p:nvSpPr>
          <p:cNvPr id="4" name="TextBox 3"/>
          <p:cNvSpPr txBox="1"/>
          <p:nvPr/>
        </p:nvSpPr>
        <p:spPr>
          <a:xfrm>
            <a:off x="274320" y="685800"/>
            <a:ext cx="6400800" cy="1645920"/>
          </a:xfrm>
          <a:prstGeom prst="rect">
            <a:avLst/>
          </a:prstGeom>
          <a:noFill/>
        </p:spPr>
        <p:txBody>
          <a:bodyPr wrap="square">
            <a:spAutoFit/>
          </a:bodyPr>
          <a:lstStyle/>
          <a:p>
            <a:pPr>
              <a:defRPr sz="1100">
                <a:solidFill>
                  <a:srgbClr val="FFFFFF"/>
                </a:solidFill>
                <a:latin typeface="Segoe UI"/>
              </a:defRPr>
            </a:pPr>
            <a:r>
              <a:t>A developer is testing an application locally and has deployed the application to an AWS Lambda function. To avoid exceeding the deployment package size quota, the developer did not include the dependencies in the deployment file. When the developer tests the application remotely, the Lambda function does not run because of missing dependencies. Which solution will resolve this issue?</a:t>
            </a:r>
          </a:p>
        </p:txBody>
      </p:sp>
      <p:sp>
        <p:nvSpPr>
          <p:cNvPr id="5" name="Oval 4"/>
          <p:cNvSpPr/>
          <p:nvPr/>
        </p:nvSpPr>
        <p:spPr>
          <a:xfrm>
            <a:off x="365760" y="2377440"/>
            <a:ext cx="274320" cy="274320"/>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900" b="1">
                <a:solidFill>
                  <a:srgbClr val="FFFFFF"/>
                </a:solidFill>
              </a:defRPr>
            </a:pPr>
            <a:r>
              <a:t>A</a:t>
            </a:r>
          </a:p>
        </p:txBody>
      </p:sp>
      <p:sp>
        <p:nvSpPr>
          <p:cNvPr id="6" name="TextBox 5"/>
          <p:cNvSpPr txBox="1"/>
          <p:nvPr/>
        </p:nvSpPr>
        <p:spPr>
          <a:xfrm>
            <a:off x="777240" y="2377440"/>
            <a:ext cx="5943600" cy="411480"/>
          </a:xfrm>
          <a:prstGeom prst="rect">
            <a:avLst/>
          </a:prstGeom>
          <a:noFill/>
        </p:spPr>
        <p:txBody>
          <a:bodyPr wrap="square">
            <a:spAutoFit/>
          </a:bodyPr>
          <a:lstStyle/>
          <a:p>
            <a:pPr>
              <a:defRPr sz="1000">
                <a:solidFill>
                  <a:srgbClr val="CCCCCC"/>
                </a:solidFill>
                <a:latin typeface="Segoe UI"/>
              </a:defRPr>
            </a:pPr>
            <a:r>
              <a:t>Use the Lambda console editor to update the code and include the missing dependencies</a:t>
            </a:r>
          </a:p>
        </p:txBody>
      </p:sp>
      <p:sp>
        <p:nvSpPr>
          <p:cNvPr id="7" name="Oval 6"/>
          <p:cNvSpPr/>
          <p:nvPr/>
        </p:nvSpPr>
        <p:spPr>
          <a:xfrm>
            <a:off x="365760" y="2834640"/>
            <a:ext cx="274320" cy="274320"/>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900" b="1">
                <a:solidFill>
                  <a:srgbClr val="FFFFFF"/>
                </a:solidFill>
              </a:defRPr>
            </a:pPr>
            <a:r>
              <a:t>B</a:t>
            </a:r>
          </a:p>
        </p:txBody>
      </p:sp>
      <p:sp>
        <p:nvSpPr>
          <p:cNvPr id="8" name="TextBox 7"/>
          <p:cNvSpPr txBox="1"/>
          <p:nvPr/>
        </p:nvSpPr>
        <p:spPr>
          <a:xfrm>
            <a:off x="777240" y="2834640"/>
            <a:ext cx="5943600" cy="411480"/>
          </a:xfrm>
          <a:prstGeom prst="rect">
            <a:avLst/>
          </a:prstGeom>
          <a:noFill/>
        </p:spPr>
        <p:txBody>
          <a:bodyPr wrap="square">
            <a:spAutoFit/>
          </a:bodyPr>
          <a:lstStyle/>
          <a:p>
            <a:pPr>
              <a:defRPr sz="1000">
                <a:solidFill>
                  <a:srgbClr val="CCCCCC"/>
                </a:solidFill>
                <a:latin typeface="Segoe UI"/>
              </a:defRPr>
            </a:pPr>
            <a:r>
              <a:t>Create an additional .zip file that contains the missing dependencies. Include the .zip file in the original Lambda deployment package.</a:t>
            </a:r>
          </a:p>
        </p:txBody>
      </p:sp>
      <p:sp>
        <p:nvSpPr>
          <p:cNvPr id="9" name="Oval 8"/>
          <p:cNvSpPr/>
          <p:nvPr/>
        </p:nvSpPr>
        <p:spPr>
          <a:xfrm>
            <a:off x="365760" y="3291840"/>
            <a:ext cx="274320" cy="274320"/>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900" b="1">
                <a:solidFill>
                  <a:srgbClr val="FFFFFF"/>
                </a:solidFill>
              </a:defRPr>
            </a:pPr>
            <a:r>
              <a:t>C</a:t>
            </a:r>
          </a:p>
        </p:txBody>
      </p:sp>
      <p:sp>
        <p:nvSpPr>
          <p:cNvPr id="10" name="TextBox 9"/>
          <p:cNvSpPr txBox="1"/>
          <p:nvPr/>
        </p:nvSpPr>
        <p:spPr>
          <a:xfrm>
            <a:off x="777240" y="3291840"/>
            <a:ext cx="5943600" cy="411480"/>
          </a:xfrm>
          <a:prstGeom prst="rect">
            <a:avLst/>
          </a:prstGeom>
          <a:noFill/>
        </p:spPr>
        <p:txBody>
          <a:bodyPr wrap="square">
            <a:spAutoFit/>
          </a:bodyPr>
          <a:lstStyle/>
          <a:p>
            <a:pPr>
              <a:defRPr sz="1000">
                <a:solidFill>
                  <a:srgbClr val="CCCCCC"/>
                </a:solidFill>
                <a:latin typeface="Segoe UI"/>
              </a:defRPr>
            </a:pPr>
            <a:r>
              <a:t>Add references to the missing dependencies in the Lambda function's environment variables.</a:t>
            </a:r>
          </a:p>
        </p:txBody>
      </p:sp>
      <p:sp>
        <p:nvSpPr>
          <p:cNvPr id="11" name="Oval 10"/>
          <p:cNvSpPr/>
          <p:nvPr/>
        </p:nvSpPr>
        <p:spPr>
          <a:xfrm>
            <a:off x="365760" y="3749039"/>
            <a:ext cx="274320" cy="274320"/>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900" b="1">
                <a:solidFill>
                  <a:srgbClr val="FFFFFF"/>
                </a:solidFill>
              </a:defRPr>
            </a:pPr>
            <a:r>
              <a:t>D</a:t>
            </a:r>
          </a:p>
        </p:txBody>
      </p:sp>
      <p:sp>
        <p:nvSpPr>
          <p:cNvPr id="12" name="TextBox 11"/>
          <p:cNvSpPr txBox="1"/>
          <p:nvPr/>
        </p:nvSpPr>
        <p:spPr>
          <a:xfrm>
            <a:off x="777240" y="3749039"/>
            <a:ext cx="5943600" cy="411480"/>
          </a:xfrm>
          <a:prstGeom prst="rect">
            <a:avLst/>
          </a:prstGeom>
          <a:noFill/>
        </p:spPr>
        <p:txBody>
          <a:bodyPr wrap="square">
            <a:spAutoFit/>
          </a:bodyPr>
          <a:lstStyle/>
          <a:p>
            <a:pPr>
              <a:defRPr sz="1000">
                <a:solidFill>
                  <a:srgbClr val="CCCCCC"/>
                </a:solidFill>
                <a:latin typeface="Segoe UI"/>
              </a:defRPr>
            </a:pPr>
            <a:r>
              <a:t>Create a layer that contains the missing dependencies. Attach the layer to the Lambda function.</a:t>
            </a:r>
          </a:p>
        </p:txBody>
      </p:sp>
      <p:sp>
        <p:nvSpPr>
          <p:cNvPr id="13" name="Rounded Rectangle 12"/>
          <p:cNvSpPr/>
          <p:nvPr/>
        </p:nvSpPr>
        <p:spPr>
          <a:xfrm>
            <a:off x="7132320" y="182880"/>
            <a:ext cx="1828800" cy="2103120"/>
          </a:xfrm>
          <a:prstGeom prst="round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0" y="274320"/>
            <a:ext cx="1828800" cy="274320"/>
          </a:xfrm>
          <a:prstGeom prst="rect">
            <a:avLst/>
          </a:prstGeom>
          <a:noFill/>
        </p:spPr>
        <p:txBody>
          <a:bodyPr wrap="none">
            <a:spAutoFit/>
          </a:bodyPr>
          <a:lstStyle/>
          <a:p>
            <a:pPr algn="ctr">
              <a:defRPr sz="900" b="1">
                <a:solidFill>
                  <a:srgbClr val="00E676"/>
                </a:solidFill>
                <a:latin typeface="Segoe UI"/>
              </a:defRPr>
            </a:pPr>
            <a:r>
              <a:t>⏱ TIME</a:t>
            </a:r>
          </a:p>
        </p:txBody>
      </p:sp>
      <p:pic>
        <p:nvPicPr>
          <p:cNvPr id="15" name="Picture 14" descr="countdown_2min.gif"/>
          <p:cNvPicPr>
            <a:picLocks noChangeAspect="1"/>
          </p:cNvPicPr>
          <p:nvPr/>
        </p:nvPicPr>
        <p:blipFill>
          <a:blip r:embed="rId2"/>
          <a:stretch>
            <a:fillRect/>
          </a:stretch>
        </p:blipFill>
        <p:spPr>
          <a:xfrm>
            <a:off x="7269480" y="548640"/>
            <a:ext cx="1554480" cy="155448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188720" cy="365760"/>
          </a:xfrm>
          <a:prstGeom prst="round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INCORRECT</a:t>
            </a:r>
          </a:p>
        </p:txBody>
      </p:sp>
      <p:sp>
        <p:nvSpPr>
          <p:cNvPr id="4" name="TextBox 3"/>
          <p:cNvSpPr txBox="1"/>
          <p:nvPr/>
        </p:nvSpPr>
        <p:spPr>
          <a:xfrm>
            <a:off x="1645920" y="182880"/>
            <a:ext cx="7132320" cy="457200"/>
          </a:xfrm>
          <a:prstGeom prst="rect">
            <a:avLst/>
          </a:prstGeom>
          <a:noFill/>
        </p:spPr>
        <p:txBody>
          <a:bodyPr wrap="square">
            <a:spAutoFit/>
          </a:bodyPr>
          <a:lstStyle/>
          <a:p>
            <a:pPr>
              <a:defRPr sz="1000">
                <a:solidFill>
                  <a:srgbClr val="FFFFFF"/>
                </a:solidFill>
                <a:latin typeface="Segoe UI"/>
              </a:defRPr>
            </a:pPr>
            <a:r>
              <a:t>Option A: Use the Lambda console editor to update the code and include the missing dependencies</a:t>
            </a:r>
          </a:p>
        </p:txBody>
      </p:sp>
      <p:pic>
        <p:nvPicPr>
          <p:cNvPr id="5" name="Picture 4" descr="option_a.png"/>
          <p:cNvPicPr>
            <a:picLocks noChangeAspect="1"/>
          </p:cNvPicPr>
          <p:nvPr/>
        </p:nvPicPr>
        <p:blipFill>
          <a:blip r:embed="rId2"/>
          <a:stretch>
            <a:fillRect/>
          </a:stretch>
        </p:blipFill>
        <p:spPr>
          <a:xfrm>
            <a:off x="182880" y="1701261"/>
            <a:ext cx="5303520" cy="2266757"/>
          </a:xfrm>
          <a:prstGeom prst="rect">
            <a:avLst/>
          </a:prstGeom>
        </p:spPr>
      </p:pic>
      <p:sp>
        <p:nvSpPr>
          <p:cNvPr id="6" name="Rounded Rectangle 5"/>
          <p:cNvSpPr/>
          <p:nvPr/>
        </p:nvSpPr>
        <p:spPr>
          <a:xfrm>
            <a:off x="5669280" y="1005840"/>
            <a:ext cx="3200400" cy="38404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188720"/>
            <a:ext cx="45720" cy="3474720"/>
          </a:xfrm>
          <a:prstGeom prst="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188720"/>
            <a:ext cx="2834640" cy="3566160"/>
          </a:xfrm>
          <a:prstGeom prst="rect">
            <a:avLst/>
          </a:prstGeom>
          <a:noFill/>
        </p:spPr>
        <p:txBody>
          <a:bodyPr wrap="square">
            <a:spAutoFit/>
          </a:bodyPr>
          <a:lstStyle/>
          <a:p>
            <a:pPr>
              <a:spcAft>
                <a:spcPts val="600"/>
              </a:spcAft>
              <a:defRPr sz="1000" b="1">
                <a:solidFill>
                  <a:srgbClr val="FF1744"/>
                </a:solidFill>
                <a:latin typeface="Segoe UI"/>
              </a:defRPr>
            </a:pPr>
            <a:r>
              <a:t>Why this is incorrect:</a:t>
            </a:r>
          </a:p>
          <a:p>
            <a:pPr>
              <a:spcAft>
                <a:spcPts val="600"/>
              </a:spcAft>
              <a:defRPr sz="900">
                <a:solidFill>
                  <a:srgbClr val="212121"/>
                </a:solidFill>
                <a:latin typeface="Segoe UI"/>
              </a:defRPr>
            </a:pPr>
            <a:r>
              <a:t>• because this will not necessarily avoid exceeding the deployment package size quota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188720" cy="365760"/>
          </a:xfrm>
          <a:prstGeom prst="round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INCORRECT</a:t>
            </a:r>
          </a:p>
        </p:txBody>
      </p:sp>
      <p:sp>
        <p:nvSpPr>
          <p:cNvPr id="4" name="TextBox 3"/>
          <p:cNvSpPr txBox="1"/>
          <p:nvPr/>
        </p:nvSpPr>
        <p:spPr>
          <a:xfrm>
            <a:off x="1645920" y="182880"/>
            <a:ext cx="7132320" cy="457200"/>
          </a:xfrm>
          <a:prstGeom prst="rect">
            <a:avLst/>
          </a:prstGeom>
          <a:noFill/>
        </p:spPr>
        <p:txBody>
          <a:bodyPr wrap="square">
            <a:spAutoFit/>
          </a:bodyPr>
          <a:lstStyle/>
          <a:p>
            <a:pPr>
              <a:defRPr sz="1000">
                <a:solidFill>
                  <a:srgbClr val="FFFFFF"/>
                </a:solidFill>
                <a:latin typeface="Segoe UI"/>
              </a:defRPr>
            </a:pPr>
            <a:r>
              <a:t>Option B: Create an additional .zip file that contains the missing dependencies. Include the .zip file in the original Lambda deployment package.</a:t>
            </a:r>
          </a:p>
        </p:txBody>
      </p:sp>
      <p:pic>
        <p:nvPicPr>
          <p:cNvPr id="5" name="Picture 4" descr="option_b.png"/>
          <p:cNvPicPr>
            <a:picLocks noChangeAspect="1"/>
          </p:cNvPicPr>
          <p:nvPr/>
        </p:nvPicPr>
        <p:blipFill>
          <a:blip r:embed="rId2"/>
          <a:stretch>
            <a:fillRect/>
          </a:stretch>
        </p:blipFill>
        <p:spPr>
          <a:xfrm>
            <a:off x="182880" y="1714699"/>
            <a:ext cx="5303520" cy="2239881"/>
          </a:xfrm>
          <a:prstGeom prst="rect">
            <a:avLst/>
          </a:prstGeom>
        </p:spPr>
      </p:pic>
      <p:sp>
        <p:nvSpPr>
          <p:cNvPr id="6" name="Rounded Rectangle 5"/>
          <p:cNvSpPr/>
          <p:nvPr/>
        </p:nvSpPr>
        <p:spPr>
          <a:xfrm>
            <a:off x="5669280" y="1005840"/>
            <a:ext cx="3200400" cy="38404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188720"/>
            <a:ext cx="45720" cy="3474720"/>
          </a:xfrm>
          <a:prstGeom prst="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188720"/>
            <a:ext cx="2834640" cy="3566160"/>
          </a:xfrm>
          <a:prstGeom prst="rect">
            <a:avLst/>
          </a:prstGeom>
          <a:noFill/>
        </p:spPr>
        <p:txBody>
          <a:bodyPr wrap="square">
            <a:spAutoFit/>
          </a:bodyPr>
          <a:lstStyle/>
          <a:p>
            <a:pPr>
              <a:spcAft>
                <a:spcPts val="600"/>
              </a:spcAft>
              <a:defRPr sz="1000" b="1">
                <a:solidFill>
                  <a:srgbClr val="FF1744"/>
                </a:solidFill>
                <a:latin typeface="Segoe UI"/>
              </a:defRPr>
            </a:pPr>
            <a:r>
              <a:t>Why this is incorrect:</a:t>
            </a:r>
          </a:p>
          <a:p>
            <a:pPr>
              <a:spcAft>
                <a:spcPts val="600"/>
              </a:spcAft>
              <a:defRPr sz="900">
                <a:solidFill>
                  <a:srgbClr val="212121"/>
                </a:solidFill>
                <a:latin typeface="Segoe UI"/>
              </a:defRPr>
            </a:pPr>
            <a:r>
              <a:t>• because this will not necessarily avoid exceeding the deployment package size quota.</a:t>
            </a:r>
          </a:p>
          <a:p>
            <a:pPr>
              <a:spcAft>
                <a:spcPts val="600"/>
              </a:spcAft>
              <a:defRPr sz="900">
                <a:solidFill>
                  <a:srgbClr val="212121"/>
                </a:solidFill>
                <a:latin typeface="Segoe UI"/>
              </a:defRPr>
            </a:pPr>
            <a:r>
              <a:t>• Even when you zip 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188720" cy="365760"/>
          </a:xfrm>
          <a:prstGeom prst="round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INCORRECT</a:t>
            </a:r>
          </a:p>
        </p:txBody>
      </p:sp>
      <p:sp>
        <p:nvSpPr>
          <p:cNvPr id="4" name="TextBox 3"/>
          <p:cNvSpPr txBox="1"/>
          <p:nvPr/>
        </p:nvSpPr>
        <p:spPr>
          <a:xfrm>
            <a:off x="1645920" y="182880"/>
            <a:ext cx="7132320" cy="457200"/>
          </a:xfrm>
          <a:prstGeom prst="rect">
            <a:avLst/>
          </a:prstGeom>
          <a:noFill/>
        </p:spPr>
        <p:txBody>
          <a:bodyPr wrap="square">
            <a:spAutoFit/>
          </a:bodyPr>
          <a:lstStyle/>
          <a:p>
            <a:pPr>
              <a:defRPr sz="1000">
                <a:solidFill>
                  <a:srgbClr val="FFFFFF"/>
                </a:solidFill>
                <a:latin typeface="Segoe UI"/>
              </a:defRPr>
            </a:pPr>
            <a:r>
              <a:t>Option C: Add references to the missing dependencies in the Lambda function's environment variables.</a:t>
            </a:r>
          </a:p>
        </p:txBody>
      </p:sp>
      <p:pic>
        <p:nvPicPr>
          <p:cNvPr id="5" name="Picture 4" descr="option_c.png"/>
          <p:cNvPicPr>
            <a:picLocks noChangeAspect="1"/>
          </p:cNvPicPr>
          <p:nvPr/>
        </p:nvPicPr>
        <p:blipFill>
          <a:blip r:embed="rId2"/>
          <a:stretch>
            <a:fillRect/>
          </a:stretch>
        </p:blipFill>
        <p:spPr>
          <a:xfrm>
            <a:off x="182880" y="1732964"/>
            <a:ext cx="5303520" cy="2203350"/>
          </a:xfrm>
          <a:prstGeom prst="rect">
            <a:avLst/>
          </a:prstGeom>
        </p:spPr>
      </p:pic>
      <p:sp>
        <p:nvSpPr>
          <p:cNvPr id="6" name="Rounded Rectangle 5"/>
          <p:cNvSpPr/>
          <p:nvPr/>
        </p:nvSpPr>
        <p:spPr>
          <a:xfrm>
            <a:off x="5669280" y="1005840"/>
            <a:ext cx="3200400" cy="38404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188720"/>
            <a:ext cx="45720" cy="3474720"/>
          </a:xfrm>
          <a:prstGeom prst="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188720"/>
            <a:ext cx="2834640" cy="3566160"/>
          </a:xfrm>
          <a:prstGeom prst="rect">
            <a:avLst/>
          </a:prstGeom>
          <a:noFill/>
        </p:spPr>
        <p:txBody>
          <a:bodyPr wrap="square">
            <a:spAutoFit/>
          </a:bodyPr>
          <a:lstStyle/>
          <a:p>
            <a:pPr>
              <a:spcAft>
                <a:spcPts val="600"/>
              </a:spcAft>
              <a:defRPr sz="1000" b="1">
                <a:solidFill>
                  <a:srgbClr val="FF1744"/>
                </a:solidFill>
                <a:latin typeface="Segoe UI"/>
              </a:defRPr>
            </a:pPr>
            <a:r>
              <a:t>Why this is incorrect:</a:t>
            </a:r>
          </a:p>
          <a:p>
            <a:pPr>
              <a:spcAft>
                <a:spcPts val="600"/>
              </a:spcAft>
              <a:defRPr sz="900">
                <a:solidFill>
                  <a:srgbClr val="212121"/>
                </a:solidFill>
                <a:latin typeface="Segoe UI"/>
              </a:defRPr>
            </a:pPr>
            <a:r>
              <a:t>• because Lambda environment variables are pairs of strings that is stored in a function's version-specific configuration.</a:t>
            </a:r>
          </a:p>
          <a:p>
            <a:pPr>
              <a:spcAft>
                <a:spcPts val="600"/>
              </a:spcAft>
              <a:defRPr sz="900">
                <a:solidFill>
                  <a:srgbClr val="212121"/>
                </a:solidFill>
                <a:latin typeface="Segoe UI"/>
              </a:defRPr>
            </a:pPr>
            <a:r>
              <a:t>• The Lambda runtime makes environment variables available to your code and sets additional environment variables that contain information about the function and invocation request.</a:t>
            </a:r>
          </a:p>
          <a:p>
            <a:pPr>
              <a:spcAft>
                <a:spcPts val="600"/>
              </a:spcAft>
              <a:defRPr sz="900">
                <a:solidFill>
                  <a:srgbClr val="212121"/>
                </a:solidFill>
                <a:latin typeface="Segoe UI"/>
              </a:defRPr>
            </a:pPr>
            <a:r>
              <a:t>• They’re not meant to store missing dependencies.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188720" cy="365760"/>
          </a:xfrm>
          <a:prstGeom prst="roundRect">
            <a:avLst/>
          </a:prstGeom>
          <a:solidFill>
            <a:srgbClr val="00C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CORRECT</a:t>
            </a:r>
          </a:p>
        </p:txBody>
      </p:sp>
      <p:sp>
        <p:nvSpPr>
          <p:cNvPr id="4" name="TextBox 3"/>
          <p:cNvSpPr txBox="1"/>
          <p:nvPr/>
        </p:nvSpPr>
        <p:spPr>
          <a:xfrm>
            <a:off x="1645920" y="182880"/>
            <a:ext cx="7132320" cy="457200"/>
          </a:xfrm>
          <a:prstGeom prst="rect">
            <a:avLst/>
          </a:prstGeom>
          <a:noFill/>
        </p:spPr>
        <p:txBody>
          <a:bodyPr wrap="square">
            <a:spAutoFit/>
          </a:bodyPr>
          <a:lstStyle/>
          <a:p>
            <a:pPr>
              <a:defRPr sz="1000">
                <a:solidFill>
                  <a:srgbClr val="FFFFFF"/>
                </a:solidFill>
                <a:latin typeface="Segoe UI"/>
              </a:defRPr>
            </a:pPr>
            <a:r>
              <a:t>Option D: Create a layer that contains the missing dependencies. Attach the layer to the Lambda function.</a:t>
            </a:r>
          </a:p>
        </p:txBody>
      </p:sp>
      <p:pic>
        <p:nvPicPr>
          <p:cNvPr id="5" name="Picture 4" descr="option_d.png"/>
          <p:cNvPicPr>
            <a:picLocks noChangeAspect="1"/>
          </p:cNvPicPr>
          <p:nvPr/>
        </p:nvPicPr>
        <p:blipFill>
          <a:blip r:embed="rId2"/>
          <a:stretch>
            <a:fillRect/>
          </a:stretch>
        </p:blipFill>
        <p:spPr>
          <a:xfrm>
            <a:off x="182880" y="1061660"/>
            <a:ext cx="5303520" cy="3545958"/>
          </a:xfrm>
          <a:prstGeom prst="rect">
            <a:avLst/>
          </a:prstGeom>
        </p:spPr>
      </p:pic>
      <p:sp>
        <p:nvSpPr>
          <p:cNvPr id="6" name="Rounded Rectangle 5"/>
          <p:cNvSpPr/>
          <p:nvPr/>
        </p:nvSpPr>
        <p:spPr>
          <a:xfrm>
            <a:off x="5669280" y="1005840"/>
            <a:ext cx="3200400" cy="38404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188720"/>
            <a:ext cx="45720" cy="3474720"/>
          </a:xfrm>
          <a:prstGeom prst="rect">
            <a:avLst/>
          </a:prstGeom>
          <a:solidFill>
            <a:srgbClr val="00C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188720"/>
            <a:ext cx="2834640" cy="3566160"/>
          </a:xfrm>
          <a:prstGeom prst="rect">
            <a:avLst/>
          </a:prstGeom>
          <a:noFill/>
        </p:spPr>
        <p:txBody>
          <a:bodyPr wrap="square">
            <a:spAutoFit/>
          </a:bodyPr>
          <a:lstStyle/>
          <a:p>
            <a:pPr>
              <a:spcAft>
                <a:spcPts val="600"/>
              </a:spcAft>
              <a:defRPr sz="1000" b="1">
                <a:solidFill>
                  <a:srgbClr val="00C853"/>
                </a:solidFill>
                <a:latin typeface="Segoe UI"/>
              </a:defRPr>
            </a:pPr>
            <a:r>
              <a:t>Why this is correct:</a:t>
            </a:r>
          </a:p>
          <a:p>
            <a:pPr>
              <a:spcAft>
                <a:spcPts val="600"/>
              </a:spcAft>
              <a:defRPr sz="900">
                <a:solidFill>
                  <a:srgbClr val="212121"/>
                </a:solidFill>
                <a:latin typeface="Segoe UI"/>
              </a:defRPr>
            </a:pPr>
            <a:r>
              <a:t>• You can configure an AWS Lambda function to pull in additional code and content in the form of layers.</a:t>
            </a:r>
          </a:p>
          <a:p>
            <a:pPr>
              <a:spcAft>
                <a:spcPts val="600"/>
              </a:spcAft>
              <a:defRPr sz="900">
                <a:solidFill>
                  <a:srgbClr val="212121"/>
                </a:solidFill>
                <a:latin typeface="Segoe UI"/>
              </a:defRPr>
            </a:pPr>
            <a:r>
              <a:t>• A layer is a .zip file archive that contains libraries, a custom runtime, or other dependencies.</a:t>
            </a:r>
          </a:p>
          <a:p>
            <a:pPr>
              <a:spcAft>
                <a:spcPts val="600"/>
              </a:spcAft>
              <a:defRPr sz="900">
                <a:solidFill>
                  <a:srgbClr val="212121"/>
                </a:solidFill>
                <a:latin typeface="Segoe UI"/>
              </a:defRPr>
            </a:pPr>
            <a:r>
              <a:t>• With layers, you can use libraries in a Lambda function without needing to include the libraries in a deployment package.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