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E88E5"/>
                </a:solidFill>
                <a:latin typeface="Segoe UI"/>
              </a:defRPr>
            </a:pPr>
            <a:r>
              <a:t>Session 1 - Question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0080"/>
            <a:ext cx="6583680" cy="12801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Segoe UI"/>
              </a:defRPr>
            </a:pPr>
            <a:r>
              <a:t>A developer has built a three-tier application and needs to verify security group rules that have been setup by a security engineer: Presentation Tier - Accessed by users over the web, protected by the security group, presentation-sg Logic Tier - RESTful API accessed from the Presentation Tier via https, protected by the security group, logic-sg...</a:t>
            </a:r>
          </a:p>
        </p:txBody>
      </p:sp>
      <p:sp>
        <p:nvSpPr>
          <p:cNvPr id="5" name="Oval 4"/>
          <p:cNvSpPr/>
          <p:nvPr/>
        </p:nvSpPr>
        <p:spPr>
          <a:xfrm>
            <a:off x="274320" y="2057400"/>
            <a:ext cx="201168" cy="201168"/>
          </a:xfrm>
          <a:prstGeom prst="ellipse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6400800" cy="484631"/>
          </a:xfrm>
          <a:prstGeom prst="rect">
            <a:avLst/>
          </a:prstGeom>
          <a:noFill/>
        </p:spPr>
        <p:txBody>
          <a:bodyPr wrap="square" tIns="25400" bIns="0" lIns="0">
            <a:spAutoFit/>
          </a:bodyPr>
          <a:lstStyle/>
          <a:p>
            <a:pPr>
              <a:defRPr sz="800">
                <a:solidFill>
                  <a:srgbClr val="CCCCCC"/>
                </a:solidFill>
                <a:latin typeface="Segoe UI"/>
              </a:defRPr>
            </a:pPr>
            <a:r>
              <a:t>presentation-sg: Allow ports 80 and 443 from 0.0.0.0/0 - This rule allows access to the Pr...</a:t>
            </a:r>
          </a:p>
        </p:txBody>
      </p:sp>
      <p:sp>
        <p:nvSpPr>
          <p:cNvPr id="7" name="Oval 6"/>
          <p:cNvSpPr/>
          <p:nvPr/>
        </p:nvSpPr>
        <p:spPr>
          <a:xfrm>
            <a:off x="274320" y="2560320"/>
            <a:ext cx="201168" cy="201168"/>
          </a:xfrm>
          <a:prstGeom prst="ellipse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514600"/>
            <a:ext cx="6400800" cy="484631"/>
          </a:xfrm>
          <a:prstGeom prst="rect">
            <a:avLst/>
          </a:prstGeom>
          <a:noFill/>
        </p:spPr>
        <p:txBody>
          <a:bodyPr wrap="square" tIns="25400" bIns="0" lIns="0">
            <a:spAutoFit/>
          </a:bodyPr>
          <a:lstStyle/>
          <a:p>
            <a:pPr>
              <a:defRPr sz="800">
                <a:solidFill>
                  <a:srgbClr val="CCCCCC"/>
                </a:solidFill>
                <a:latin typeface="Segoe UI"/>
              </a:defRPr>
            </a:pPr>
            <a:r>
              <a:t>data-sg: Allow port 1433 from presentation-sg - This rule would allow access from the Pres...</a:t>
            </a:r>
          </a:p>
        </p:txBody>
      </p:sp>
      <p:sp>
        <p:nvSpPr>
          <p:cNvPr id="9" name="Oval 8"/>
          <p:cNvSpPr/>
          <p:nvPr/>
        </p:nvSpPr>
        <p:spPr>
          <a:xfrm>
            <a:off x="274320" y="3063239"/>
            <a:ext cx="201168" cy="201168"/>
          </a:xfrm>
          <a:prstGeom prst="ellipse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017520"/>
            <a:ext cx="6400800" cy="484631"/>
          </a:xfrm>
          <a:prstGeom prst="rect">
            <a:avLst/>
          </a:prstGeom>
          <a:noFill/>
        </p:spPr>
        <p:txBody>
          <a:bodyPr wrap="square" tIns="25400" bIns="0" lIns="0">
            <a:spAutoFit/>
          </a:bodyPr>
          <a:lstStyle/>
          <a:p>
            <a:pPr>
              <a:defRPr sz="800">
                <a:solidFill>
                  <a:srgbClr val="CCCCCC"/>
                </a:solidFill>
                <a:latin typeface="Segoe UI"/>
              </a:defRPr>
            </a:pPr>
            <a:r>
              <a:t>data-sg: Allow port 1433 from logic-sg - This rule allows access to the Data Tier SQL Serv...</a:t>
            </a:r>
          </a:p>
        </p:txBody>
      </p:sp>
      <p:sp>
        <p:nvSpPr>
          <p:cNvPr id="11" name="Oval 10"/>
          <p:cNvSpPr/>
          <p:nvPr/>
        </p:nvSpPr>
        <p:spPr>
          <a:xfrm>
            <a:off x="274320" y="3566160"/>
            <a:ext cx="201168" cy="201168"/>
          </a:xfrm>
          <a:prstGeom prst="ellipse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520440"/>
            <a:ext cx="6400800" cy="484631"/>
          </a:xfrm>
          <a:prstGeom prst="rect">
            <a:avLst/>
          </a:prstGeom>
          <a:noFill/>
        </p:spPr>
        <p:txBody>
          <a:bodyPr wrap="square" tIns="25400" bIns="0" lIns="0">
            <a:spAutoFit/>
          </a:bodyPr>
          <a:lstStyle/>
          <a:p>
            <a:pPr>
              <a:defRPr sz="800">
                <a:solidFill>
                  <a:srgbClr val="CCCCCC"/>
                </a:solidFill>
                <a:latin typeface="Segoe UI"/>
              </a:defRPr>
            </a:pPr>
            <a:r>
              <a:t>presentation-sg: Allow port 1433 from data-sg - This rule would allow access from the Data...</a:t>
            </a:r>
          </a:p>
        </p:txBody>
      </p:sp>
      <p:sp>
        <p:nvSpPr>
          <p:cNvPr id="13" name="Oval 12"/>
          <p:cNvSpPr/>
          <p:nvPr/>
        </p:nvSpPr>
        <p:spPr>
          <a:xfrm>
            <a:off x="274320" y="4069080"/>
            <a:ext cx="201168" cy="201168"/>
          </a:xfrm>
          <a:prstGeom prst="ellipse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023360"/>
            <a:ext cx="6400800" cy="484631"/>
          </a:xfrm>
          <a:prstGeom prst="rect">
            <a:avLst/>
          </a:prstGeom>
          <a:noFill/>
        </p:spPr>
        <p:txBody>
          <a:bodyPr wrap="square" tIns="25400" bIns="0" lIns="0">
            <a:spAutoFit/>
          </a:bodyPr>
          <a:lstStyle/>
          <a:p>
            <a:pPr>
              <a:defRPr sz="800">
                <a:solidFill>
                  <a:srgbClr val="CCCCCC"/>
                </a:solidFill>
                <a:latin typeface="Segoe UI"/>
              </a:defRPr>
            </a:pPr>
            <a:r>
              <a:t>logic-sg: Allow port 443 from presentation-sg - This rule allows access to the Logic Tier ...</a:t>
            </a:r>
          </a:p>
        </p:txBody>
      </p:sp>
      <p:sp>
        <p:nvSpPr>
          <p:cNvPr id="15" name="Oval 14"/>
          <p:cNvSpPr/>
          <p:nvPr/>
        </p:nvSpPr>
        <p:spPr>
          <a:xfrm>
            <a:off x="274320" y="4571999"/>
            <a:ext cx="201168" cy="201168"/>
          </a:xfrm>
          <a:prstGeom prst="ellipse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526279"/>
            <a:ext cx="6400800" cy="484631"/>
          </a:xfrm>
          <a:prstGeom prst="rect">
            <a:avLst/>
          </a:prstGeom>
          <a:noFill/>
        </p:spPr>
        <p:txBody>
          <a:bodyPr wrap="square" tIns="25400" bIns="0" lIns="0">
            <a:spAutoFit/>
          </a:bodyPr>
          <a:lstStyle/>
          <a:p>
            <a:pPr>
              <a:defRPr sz="800">
                <a:solidFill>
                  <a:srgbClr val="CCCCCC"/>
                </a:solidFill>
                <a:latin typeface="Segoe UI"/>
              </a:defRPr>
            </a:pPr>
            <a:r>
              <a:t>logic-sg: Allow port 443 from 0.0.0.0/0 - This rule would allow access to the Logic Tier R...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0" y="182880"/>
            <a:ext cx="1828800" cy="2103120"/>
          </a:xfrm>
          <a:prstGeom prst="round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0" y="2743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00E676"/>
                </a:solidFill>
                <a:latin typeface="Segoe UI"/>
              </a:defRPr>
            </a:pPr>
            <a:r>
              <a:t>⏱ TIME</a:t>
            </a:r>
          </a:p>
        </p:txBody>
      </p:sp>
      <p:pic>
        <p:nvPicPr>
          <p:cNvPr id="19" name="Picture 18" descr="countdown_2mi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9480" y="548640"/>
            <a:ext cx="1554480" cy="15544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82880"/>
            <a:ext cx="1188720" cy="365760"/>
          </a:xfrm>
          <a:prstGeom prst="round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✓ CORRECT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182880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Segoe UI"/>
              </a:defRPr>
            </a:pPr>
            <a:r>
              <a:t>Option A: presentation-sg: Allow ports 80 and 443 from 0.0.0.0/0 - This rule allows access to the Presentation Tier over the web via HTTP (port 80) and HTTPS (port 443) from anywhere.</a:t>
            </a:r>
          </a:p>
        </p:txBody>
      </p:sp>
      <p:pic>
        <p:nvPicPr>
          <p:cNvPr id="5" name="Picture 4" descr="option_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678509"/>
            <a:ext cx="5303520" cy="2312261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669280" y="1005840"/>
            <a:ext cx="3200400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0" y="1188720"/>
            <a:ext cx="45720" cy="347472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52160" y="1188720"/>
            <a:ext cx="28346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00C853"/>
                </a:solidFill>
                <a:latin typeface="Segoe UI"/>
              </a:defRPr>
            </a:pPr>
            <a:r>
              <a:t>Why this is correct:</a:t>
            </a:r>
          </a:p>
          <a:p>
            <a:pPr>
              <a:spcAft>
                <a:spcPts val="400"/>
              </a:spcAft>
              <a:defRPr sz="800">
                <a:solidFill>
                  <a:srgbClr val="212121"/>
                </a:solidFill>
                <a:latin typeface="Segoe UI"/>
              </a:defRPr>
            </a:pPr>
            <a:r>
              <a:t>• Presentation-sg: Allow ports 80 and 443 from 0.0.0.0/0 - This rule allows access to the Presentation Tier over the web via HTTP (port 80) and HTTPS (port 443) from anywhere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82880"/>
            <a:ext cx="1188720" cy="365760"/>
          </a:xfrm>
          <a:prstGeom prst="roundRect">
            <a:avLst/>
          </a:prstGeom>
          <a:solidFill>
            <a:srgbClr val="FF1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✗ INCORRECT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182880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Segoe UI"/>
              </a:defRPr>
            </a:pPr>
            <a:r>
              <a:t>Option B: data-sg: Allow port 1433 from presentation-sg - This rule would allow access from the Presentation Tier to the Data Tier's SQL Server database, which is not the desired configuration according to the application's architecture.</a:t>
            </a:r>
          </a:p>
        </p:txBody>
      </p:sp>
      <p:pic>
        <p:nvPicPr>
          <p:cNvPr id="5" name="Picture 4" descr="option_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275475"/>
            <a:ext cx="5303520" cy="311832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669280" y="1005840"/>
            <a:ext cx="3200400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0" y="1188720"/>
            <a:ext cx="45720" cy="3474720"/>
          </a:xfrm>
          <a:prstGeom prst="rect">
            <a:avLst/>
          </a:prstGeom>
          <a:solidFill>
            <a:srgbClr val="FF1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52160" y="1188720"/>
            <a:ext cx="28346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FF1744"/>
                </a:solidFill>
                <a:latin typeface="Segoe UI"/>
              </a:defRPr>
            </a:pPr>
            <a:r>
              <a:t>Why this is incorrect:</a:t>
            </a:r>
          </a:p>
          <a:p>
            <a:pPr>
              <a:spcAft>
                <a:spcPts val="400"/>
              </a:spcAft>
              <a:defRPr sz="800">
                <a:solidFill>
                  <a:srgbClr val="212121"/>
                </a:solidFill>
                <a:latin typeface="Segoe UI"/>
              </a:defRPr>
            </a:pPr>
            <a:r>
              <a:t>• Data-sg: Allow port 1433 from presentation-sg - This rule would allow access from the Presentation Tier to the Data Tier's SQL Server database</a:t>
            </a:r>
          </a:p>
          <a:p>
            <a:pPr>
              <a:spcAft>
                <a:spcPts val="400"/>
              </a:spcAft>
              <a:defRPr sz="800">
                <a:solidFill>
                  <a:srgbClr val="212121"/>
                </a:solidFill>
                <a:latin typeface="Segoe UI"/>
              </a:defRPr>
            </a:pPr>
            <a:r>
              <a:t>• Is not the desired configuration according to the application's architecture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82880"/>
            <a:ext cx="1188720" cy="365760"/>
          </a:xfrm>
          <a:prstGeom prst="round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✓ CORRECT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182880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Segoe UI"/>
              </a:defRPr>
            </a:pPr>
            <a:r>
              <a:t>Option C: data-sg: Allow port 1433 from logic-sg - This rule allows access to the Data Tier SQL Server database from the Logic Tier via port 1433, as required by the application architecture.</a:t>
            </a:r>
          </a:p>
        </p:txBody>
      </p:sp>
      <p:pic>
        <p:nvPicPr>
          <p:cNvPr id="5" name="Picture 4" descr="option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151368"/>
            <a:ext cx="5303520" cy="3366543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669280" y="1005840"/>
            <a:ext cx="3200400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0" y="1188720"/>
            <a:ext cx="45720" cy="347472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52160" y="1188720"/>
            <a:ext cx="28346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00C853"/>
                </a:solidFill>
                <a:latin typeface="Segoe UI"/>
              </a:defRPr>
            </a:pPr>
            <a:r>
              <a:t>Why this is correct:</a:t>
            </a:r>
          </a:p>
          <a:p>
            <a:pPr>
              <a:spcAft>
                <a:spcPts val="400"/>
              </a:spcAft>
              <a:defRPr sz="800">
                <a:solidFill>
                  <a:srgbClr val="212121"/>
                </a:solidFill>
                <a:latin typeface="Segoe UI"/>
              </a:defRPr>
            </a:pPr>
            <a:r>
              <a:t>• Data-sg: Allow port 1433 from logic-sg - This rule allows access to the Data Tier SQL Server database from the Logic Tier via port 1433</a:t>
            </a:r>
          </a:p>
          <a:p>
            <a:pPr>
              <a:spcAft>
                <a:spcPts val="400"/>
              </a:spcAft>
              <a:defRPr sz="800">
                <a:solidFill>
                  <a:srgbClr val="212121"/>
                </a:solidFill>
                <a:latin typeface="Segoe UI"/>
              </a:defRPr>
            </a:pPr>
            <a:r>
              <a:t>• As required by the application architecture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82880"/>
            <a:ext cx="1188720" cy="365760"/>
          </a:xfrm>
          <a:prstGeom prst="roundRect">
            <a:avLst/>
          </a:prstGeom>
          <a:solidFill>
            <a:srgbClr val="FF1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✗ INCORRECT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182880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Segoe UI"/>
              </a:defRPr>
            </a:pPr>
            <a:r>
              <a:t>Option D: presentation-sg: Allow port 1433 from data-sg - This rule would allow access from the Data Tier to the Presentation Tier, which is not necessary for the application's functionality.</a:t>
            </a:r>
          </a:p>
        </p:txBody>
      </p:sp>
      <p:pic>
        <p:nvPicPr>
          <p:cNvPr id="5" name="Picture 4" descr="option_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321331"/>
            <a:ext cx="5303520" cy="3026616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669280" y="1005840"/>
            <a:ext cx="3200400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0" y="1188720"/>
            <a:ext cx="45720" cy="3474720"/>
          </a:xfrm>
          <a:prstGeom prst="rect">
            <a:avLst/>
          </a:prstGeom>
          <a:solidFill>
            <a:srgbClr val="FF1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52160" y="1188720"/>
            <a:ext cx="28346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FF1744"/>
                </a:solidFill>
                <a:latin typeface="Segoe UI"/>
              </a:defRPr>
            </a:pPr>
            <a:r>
              <a:t>Why this is incorrect:</a:t>
            </a:r>
          </a:p>
          <a:p>
            <a:pPr>
              <a:spcAft>
                <a:spcPts val="400"/>
              </a:spcAft>
              <a:defRPr sz="800">
                <a:solidFill>
                  <a:srgbClr val="212121"/>
                </a:solidFill>
                <a:latin typeface="Segoe UI"/>
              </a:defRPr>
            </a:pPr>
            <a:r>
              <a:t>• Presentation-sg: Allow port 1433 from data-sg - This rule would allow access from the Data Tier to the Presentation Tier</a:t>
            </a:r>
          </a:p>
          <a:p>
            <a:pPr>
              <a:spcAft>
                <a:spcPts val="400"/>
              </a:spcAft>
              <a:defRPr sz="800">
                <a:solidFill>
                  <a:srgbClr val="212121"/>
                </a:solidFill>
                <a:latin typeface="Segoe UI"/>
              </a:defRPr>
            </a:pPr>
            <a:r>
              <a:t>• Is not necessary for the application's functionality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82880"/>
            <a:ext cx="1188720" cy="365760"/>
          </a:xfrm>
          <a:prstGeom prst="round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✓ CORRECT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182880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Segoe UI"/>
              </a:defRPr>
            </a:pPr>
            <a:r>
              <a:t>Option E: logic-sg: Allow port 443 from presentation-sg - This rule allows access to the Logic Tier RESTful API from the Presentation Tier via HTTPS (port 443).</a:t>
            </a:r>
          </a:p>
        </p:txBody>
      </p:sp>
      <p:pic>
        <p:nvPicPr>
          <p:cNvPr id="5" name="Picture 4" descr="option_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208198"/>
            <a:ext cx="5303520" cy="325288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669280" y="1005840"/>
            <a:ext cx="3200400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0" y="1188720"/>
            <a:ext cx="45720" cy="347472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52160" y="1188720"/>
            <a:ext cx="28346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00C853"/>
                </a:solidFill>
                <a:latin typeface="Segoe UI"/>
              </a:defRPr>
            </a:pPr>
            <a:r>
              <a:t>Why this is correct:</a:t>
            </a:r>
          </a:p>
          <a:p>
            <a:pPr>
              <a:spcAft>
                <a:spcPts val="400"/>
              </a:spcAft>
              <a:defRPr sz="800">
                <a:solidFill>
                  <a:srgbClr val="212121"/>
                </a:solidFill>
                <a:latin typeface="Segoe UI"/>
              </a:defRPr>
            </a:pPr>
            <a:r>
              <a:t>• Logic-sg: Allow port 443 from presentation-sg - This rule allows access to the Logic Tier RESTful API from the Presentation Tier via HTTPS (port 443)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82880"/>
            <a:ext cx="1188720" cy="365760"/>
          </a:xfrm>
          <a:prstGeom prst="roundRect">
            <a:avLst/>
          </a:prstGeom>
          <a:solidFill>
            <a:srgbClr val="FF1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✗ INCORRECT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182880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Segoe UI"/>
              </a:defRPr>
            </a:pPr>
            <a:r>
              <a:t>Option F: logic-sg: Allow port 443 from 0.0.0.0/0 - This rule would allow access to the Logic Tier RESTful API over HTTPS from anywhere, which may not align with the desired security posture.</a:t>
            </a:r>
          </a:p>
        </p:txBody>
      </p:sp>
      <p:pic>
        <p:nvPicPr>
          <p:cNvPr id="5" name="Picture 4" descr="option_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0"/>
            <a:ext cx="3950207" cy="38404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669280" y="1005840"/>
            <a:ext cx="3200400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0" y="1188720"/>
            <a:ext cx="45720" cy="3474720"/>
          </a:xfrm>
          <a:prstGeom prst="rect">
            <a:avLst/>
          </a:prstGeom>
          <a:solidFill>
            <a:srgbClr val="FF1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52160" y="1188720"/>
            <a:ext cx="28346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FF1744"/>
                </a:solidFill>
                <a:latin typeface="Segoe UI"/>
              </a:defRPr>
            </a:pPr>
            <a:r>
              <a:t>Why this is incorrect:</a:t>
            </a:r>
          </a:p>
          <a:p>
            <a:pPr>
              <a:spcAft>
                <a:spcPts val="400"/>
              </a:spcAft>
              <a:defRPr sz="800">
                <a:solidFill>
                  <a:srgbClr val="212121"/>
                </a:solidFill>
                <a:latin typeface="Segoe UI"/>
              </a:defRPr>
            </a:pPr>
            <a:r>
              <a:t>• Logic-sg: Allow port 443 from 0.0.0.0/0 - This rule would allow access to the Logic Tier RESTful API over HTTPS from anywhere</a:t>
            </a:r>
          </a:p>
          <a:p>
            <a:pPr>
              <a:spcAft>
                <a:spcPts val="400"/>
              </a:spcAft>
              <a:defRPr sz="800">
                <a:solidFill>
                  <a:srgbClr val="212121"/>
                </a:solidFill>
                <a:latin typeface="Segoe UI"/>
              </a:defRPr>
            </a:pPr>
            <a:r>
              <a:t>• May not align with the desired security posture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