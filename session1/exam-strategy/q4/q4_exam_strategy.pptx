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6400800" cy="457200"/>
          </a:xfrm>
          <a:prstGeom prst="rect">
            <a:avLst/>
          </a:prstGeom>
          <a:noFill/>
        </p:spPr>
        <p:txBody>
          <a:bodyPr wrap="square">
            <a:spAutoFit/>
          </a:bodyPr>
          <a:lstStyle/>
          <a:p>
            <a:pPr>
              <a:defRPr sz="2000" b="1">
                <a:solidFill>
                  <a:srgbClr val="1E88E5"/>
                </a:solidFill>
                <a:latin typeface="Segoe UI"/>
              </a:defRPr>
            </a:pPr>
            <a:r>
              <a:t>Session 1 - Question 4</a:t>
            </a:r>
          </a:p>
        </p:txBody>
      </p:sp>
      <p:sp>
        <p:nvSpPr>
          <p:cNvPr id="4" name="TextBox 3"/>
          <p:cNvSpPr txBox="1"/>
          <p:nvPr/>
        </p:nvSpPr>
        <p:spPr>
          <a:xfrm>
            <a:off x="274320" y="640080"/>
            <a:ext cx="6583680" cy="1280160"/>
          </a:xfrm>
          <a:prstGeom prst="rect">
            <a:avLst/>
          </a:prstGeom>
          <a:noFill/>
        </p:spPr>
        <p:txBody>
          <a:bodyPr wrap="square" tIns="0" bIns="0">
            <a:spAutoFit/>
          </a:bodyPr>
          <a:lstStyle/>
          <a:p>
            <a:pPr>
              <a:defRPr sz="900">
                <a:solidFill>
                  <a:srgbClr val="FFFFFF"/>
                </a:solidFill>
                <a:latin typeface="Segoe UI"/>
              </a:defRPr>
            </a:pPr>
            <a:r>
              <a:t>An application running on Amazon EC2 instances processes sensitive information stored on Amazon S3. The information is accessed over the Internet. The security team is concerned that the Amazon EC2 instance connectivity to the to Amazon S3 bucket is a security risk. Which solution will resolve the security concern?</a:t>
            </a:r>
          </a:p>
        </p:txBody>
      </p:sp>
      <p:sp>
        <p:nvSpPr>
          <p:cNvPr id="5" name="Oval 4"/>
          <p:cNvSpPr/>
          <p:nvPr/>
        </p:nvSpPr>
        <p:spPr>
          <a:xfrm>
            <a:off x="274320" y="205740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A</a:t>
            </a:r>
          </a:p>
        </p:txBody>
      </p:sp>
      <p:sp>
        <p:nvSpPr>
          <p:cNvPr id="6" name="TextBox 5"/>
          <p:cNvSpPr txBox="1"/>
          <p:nvPr/>
        </p:nvSpPr>
        <p:spPr>
          <a:xfrm>
            <a:off x="548640" y="2011680"/>
            <a:ext cx="6400800" cy="736092"/>
          </a:xfrm>
          <a:prstGeom prst="rect">
            <a:avLst/>
          </a:prstGeom>
          <a:noFill/>
        </p:spPr>
        <p:txBody>
          <a:bodyPr wrap="square" tIns="25400" bIns="0" lIns="0">
            <a:spAutoFit/>
          </a:bodyPr>
          <a:lstStyle/>
          <a:p>
            <a:pPr>
              <a:defRPr sz="800">
                <a:solidFill>
                  <a:srgbClr val="CCCCCC"/>
                </a:solidFill>
                <a:latin typeface="Segoe UI"/>
              </a:defRPr>
            </a:pPr>
            <a:r>
              <a:t>Configuring the EC2 instance to access the data through an Internet Gateway...</a:t>
            </a:r>
          </a:p>
        </p:txBody>
      </p:sp>
      <p:sp>
        <p:nvSpPr>
          <p:cNvPr id="7" name="Oval 6"/>
          <p:cNvSpPr/>
          <p:nvPr/>
        </p:nvSpPr>
        <p:spPr>
          <a:xfrm>
            <a:off x="274320" y="281178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B</a:t>
            </a:r>
          </a:p>
        </p:txBody>
      </p:sp>
      <p:sp>
        <p:nvSpPr>
          <p:cNvPr id="8" name="TextBox 7"/>
          <p:cNvSpPr txBox="1"/>
          <p:nvPr/>
        </p:nvSpPr>
        <p:spPr>
          <a:xfrm>
            <a:off x="548640" y="2766060"/>
            <a:ext cx="6400800" cy="736092"/>
          </a:xfrm>
          <a:prstGeom prst="rect">
            <a:avLst/>
          </a:prstGeom>
          <a:noFill/>
        </p:spPr>
        <p:txBody>
          <a:bodyPr wrap="square" tIns="25400" bIns="0" lIns="0">
            <a:spAutoFit/>
          </a:bodyPr>
          <a:lstStyle/>
          <a:p>
            <a:pPr>
              <a:defRPr sz="800">
                <a:solidFill>
                  <a:srgbClr val="CCCCCC"/>
                </a:solidFill>
                <a:latin typeface="Segoe UI"/>
              </a:defRPr>
            </a:pPr>
            <a:r>
              <a:t>Configuring the EC2 instance to access the data through a VPN connection...</a:t>
            </a:r>
          </a:p>
        </p:txBody>
      </p:sp>
      <p:sp>
        <p:nvSpPr>
          <p:cNvPr id="9" name="Oval 8"/>
          <p:cNvSpPr/>
          <p:nvPr/>
        </p:nvSpPr>
        <p:spPr>
          <a:xfrm>
            <a:off x="274320" y="356616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C</a:t>
            </a:r>
          </a:p>
        </p:txBody>
      </p:sp>
      <p:sp>
        <p:nvSpPr>
          <p:cNvPr id="10" name="TextBox 9"/>
          <p:cNvSpPr txBox="1"/>
          <p:nvPr/>
        </p:nvSpPr>
        <p:spPr>
          <a:xfrm>
            <a:off x="548640" y="3520440"/>
            <a:ext cx="6400800" cy="736092"/>
          </a:xfrm>
          <a:prstGeom prst="rect">
            <a:avLst/>
          </a:prstGeom>
          <a:noFill/>
        </p:spPr>
        <p:txBody>
          <a:bodyPr wrap="square" tIns="25400" bIns="0" lIns="0">
            <a:spAutoFit/>
          </a:bodyPr>
          <a:lstStyle/>
          <a:p>
            <a:pPr>
              <a:defRPr sz="800">
                <a:solidFill>
                  <a:srgbClr val="CCCCCC"/>
                </a:solidFill>
                <a:latin typeface="Segoe UI"/>
              </a:defRPr>
            </a:pPr>
            <a:r>
              <a:t>Configuring the EC2 instance to access the data through a NAT Gateway...</a:t>
            </a:r>
          </a:p>
        </p:txBody>
      </p:sp>
      <p:sp>
        <p:nvSpPr>
          <p:cNvPr id="11" name="Oval 10"/>
          <p:cNvSpPr/>
          <p:nvPr/>
        </p:nvSpPr>
        <p:spPr>
          <a:xfrm>
            <a:off x="274320" y="432054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D</a:t>
            </a:r>
          </a:p>
        </p:txBody>
      </p:sp>
      <p:sp>
        <p:nvSpPr>
          <p:cNvPr id="12" name="TextBox 11"/>
          <p:cNvSpPr txBox="1"/>
          <p:nvPr/>
        </p:nvSpPr>
        <p:spPr>
          <a:xfrm>
            <a:off x="548640" y="4274820"/>
            <a:ext cx="6400800" cy="736092"/>
          </a:xfrm>
          <a:prstGeom prst="rect">
            <a:avLst/>
          </a:prstGeom>
          <a:noFill/>
        </p:spPr>
        <p:txBody>
          <a:bodyPr wrap="square" tIns="25400" bIns="0" lIns="0">
            <a:spAutoFit/>
          </a:bodyPr>
          <a:lstStyle/>
          <a:p>
            <a:pPr>
              <a:defRPr sz="800">
                <a:solidFill>
                  <a:srgbClr val="CCCCCC"/>
                </a:solidFill>
                <a:latin typeface="Segoe UI"/>
              </a:defRPr>
            </a:pPr>
            <a:r>
              <a:t>Configure the EC2 instance to access the data through a VPC endpoint for Amazon S3.</a:t>
            </a:r>
          </a:p>
        </p:txBody>
      </p:sp>
      <p:sp>
        <p:nvSpPr>
          <p:cNvPr id="13" name="Rounded Rectangle 12"/>
          <p:cNvSpPr/>
          <p:nvPr/>
        </p:nvSpPr>
        <p:spPr>
          <a:xfrm>
            <a:off x="7132320" y="182880"/>
            <a:ext cx="1828800" cy="21031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274320"/>
            <a:ext cx="1828800" cy="274320"/>
          </a:xfrm>
          <a:prstGeom prst="rect">
            <a:avLst/>
          </a:prstGeom>
          <a:noFill/>
        </p:spPr>
        <p:txBody>
          <a:bodyPr wrap="none">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269480" y="54864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A: Configuring the EC2 instance to access the data through an Internet Gateway: This option does not address the security concern, as it would still require the EC2 instance to access S3 over the public Internet, which poses a security risk.</a:t>
            </a:r>
          </a:p>
        </p:txBody>
      </p:sp>
      <p:pic>
        <p:nvPicPr>
          <p:cNvPr id="5" name="Picture 4" descr="option_a.png"/>
          <p:cNvPicPr>
            <a:picLocks noChangeAspect="1"/>
          </p:cNvPicPr>
          <p:nvPr/>
        </p:nvPicPr>
        <p:blipFill>
          <a:blip r:embed="rId2"/>
          <a:stretch>
            <a:fillRect/>
          </a:stretch>
        </p:blipFill>
        <p:spPr>
          <a:xfrm>
            <a:off x="182880" y="1925699"/>
            <a:ext cx="5303520" cy="18178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Configuring the EC2 instance to access the data through an Internet Gateway: This option does not address the security concern</a:t>
            </a:r>
          </a:p>
          <a:p>
            <a:pPr>
              <a:spcAft>
                <a:spcPts val="400"/>
              </a:spcAft>
              <a:defRPr sz="800">
                <a:solidFill>
                  <a:srgbClr val="212121"/>
                </a:solidFill>
                <a:latin typeface="Segoe UI"/>
              </a:defRPr>
            </a:pPr>
            <a:r>
              <a:t>• Would still require the EC2 instance to access S3 over the public Internet</a:t>
            </a:r>
          </a:p>
          <a:p>
            <a:pPr>
              <a:spcAft>
                <a:spcPts val="400"/>
              </a:spcAft>
              <a:defRPr sz="800">
                <a:solidFill>
                  <a:srgbClr val="212121"/>
                </a:solidFill>
                <a:latin typeface="Segoe UI"/>
              </a:defRPr>
            </a:pPr>
            <a:r>
              <a:t>• Poses a security risk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B: Configuring the EC2 instance to access the data through a VPN connection: While a VPN connection can provide secure access to resources over the Internet, it does not eliminate the security risk associated with accessing S3 over the public Internet.</a:t>
            </a:r>
          </a:p>
        </p:txBody>
      </p:sp>
      <p:pic>
        <p:nvPicPr>
          <p:cNvPr id="5" name="Picture 4" descr="option_b.png"/>
          <p:cNvPicPr>
            <a:picLocks noChangeAspect="1"/>
          </p:cNvPicPr>
          <p:nvPr/>
        </p:nvPicPr>
        <p:blipFill>
          <a:blip r:embed="rId2"/>
          <a:stretch>
            <a:fillRect/>
          </a:stretch>
        </p:blipFill>
        <p:spPr>
          <a:xfrm>
            <a:off x="182880" y="1761844"/>
            <a:ext cx="5303520" cy="2145591"/>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Configuring the EC2 instance to access the data through a VPN connection: While a VPN connection can provide secure access to resources over the Internet</a:t>
            </a:r>
          </a:p>
          <a:p>
            <a:pPr>
              <a:spcAft>
                <a:spcPts val="400"/>
              </a:spcAft>
              <a:defRPr sz="800">
                <a:solidFill>
                  <a:srgbClr val="212121"/>
                </a:solidFill>
                <a:latin typeface="Segoe UI"/>
              </a:defRPr>
            </a:pPr>
            <a:r>
              <a:t>• Not eliminate the security risk associated with accessing S3 over the public Internet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C: Configuring the EC2 instance to access the data through a NAT Gateway: NAT Gateway allows instances in a private subnet to initiate outbound traffic to the Internet, but it does not provide a secure way to access resources like Amazon S3.</a:t>
            </a:r>
          </a:p>
        </p:txBody>
      </p:sp>
      <p:pic>
        <p:nvPicPr>
          <p:cNvPr id="5" name="Picture 4" descr="option_c.png"/>
          <p:cNvPicPr>
            <a:picLocks noChangeAspect="1"/>
          </p:cNvPicPr>
          <p:nvPr/>
        </p:nvPicPr>
        <p:blipFill>
          <a:blip r:embed="rId2"/>
          <a:stretch>
            <a:fillRect/>
          </a:stretch>
        </p:blipFill>
        <p:spPr>
          <a:xfrm>
            <a:off x="182880" y="1950339"/>
            <a:ext cx="5303520" cy="176860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Configuring the EC2 instance to access the data through a NAT Gateway: NAT Gateway allows instances in a private subnet to initiate outbound traffic to the Internet</a:t>
            </a:r>
          </a:p>
          <a:p>
            <a:pPr>
              <a:spcAft>
                <a:spcPts val="400"/>
              </a:spcAft>
              <a:defRPr sz="800">
                <a:solidFill>
                  <a:srgbClr val="212121"/>
                </a:solidFill>
                <a:latin typeface="Segoe UI"/>
              </a:defRPr>
            </a:pPr>
            <a:r>
              <a:t>• But it does not provide a secure way to access resources like Amazon S3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D: Configure the EC2 instance to access the data through a VPC endpoint for Amazon S3.</a:t>
            </a:r>
          </a:p>
        </p:txBody>
      </p:sp>
      <p:pic>
        <p:nvPicPr>
          <p:cNvPr id="5" name="Picture 4" descr="option_d.png"/>
          <p:cNvPicPr>
            <a:picLocks noChangeAspect="1"/>
          </p:cNvPicPr>
          <p:nvPr/>
        </p:nvPicPr>
        <p:blipFill>
          <a:blip r:embed="rId2"/>
          <a:stretch>
            <a:fillRect/>
          </a:stretch>
        </p:blipFill>
        <p:spPr>
          <a:xfrm>
            <a:off x="182880" y="1596269"/>
            <a:ext cx="5303520" cy="247674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400"/>
              </a:spcAft>
              <a:defRPr sz="800">
                <a:solidFill>
                  <a:srgbClr val="212121"/>
                </a:solidFill>
                <a:latin typeface="Segoe UI"/>
              </a:defRPr>
            </a:pPr>
            <a:r>
              <a:t>• Configure the EC2 instance to access the data through a VPC endpoint for Amazon S3</a:t>
            </a:r>
          </a:p>
          <a:p>
            <a:pPr>
              <a:spcAft>
                <a:spcPts val="400"/>
              </a:spcAft>
              <a:defRPr sz="800">
                <a:solidFill>
                  <a:srgbClr val="212121"/>
                </a:solidFill>
                <a:latin typeface="Segoe UI"/>
              </a:defRPr>
            </a:pPr>
            <a:r>
              <a:t>• This solution resolves the security concern by ensuring that the EC2 instance can access the data stored on Amazon S3 without traversing the public Internet</a:t>
            </a:r>
          </a:p>
          <a:p>
            <a:pPr>
              <a:spcAft>
                <a:spcPts val="400"/>
              </a:spcAft>
              <a:defRPr sz="800">
                <a:solidFill>
                  <a:srgbClr val="212121"/>
                </a:solidFill>
                <a:latin typeface="Segoe UI"/>
              </a:defRPr>
            </a:pPr>
            <a:r>
              <a:t>• A VPC endpoint for Amazon S3 allows communication between the EC2 instance and S3 to occur entirely within the AWS network</a:t>
            </a:r>
          </a:p>
          <a:p>
            <a:pPr>
              <a:spcAft>
                <a:spcPts val="400"/>
              </a:spcAft>
              <a:defRPr sz="800">
                <a:solidFill>
                  <a:srgbClr val="212121"/>
                </a:solidFill>
                <a:latin typeface="Segoe UI"/>
              </a:defRPr>
            </a:pPr>
            <a:r>
              <a:t>• The need for Internet access</a:t>
            </a:r>
          </a:p>
          <a:p>
            <a:pPr>
              <a:spcAft>
                <a:spcPts val="400"/>
              </a:spcAft>
              <a:defRPr sz="800">
                <a:solidFill>
                  <a:srgbClr val="212121"/>
                </a:solidFill>
                <a:latin typeface="Segoe UI"/>
              </a:defRPr>
            </a:pPr>
            <a:r>
              <a:t>• This enhances security by reducing exposure to potential security risks associated with Internet connectivity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