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1 - Question 1</a:t>
            </a:r>
          </a:p>
        </p:txBody>
      </p:sp>
      <p:sp>
        <p:nvSpPr>
          <p:cNvPr id="4" name="TextBox 3"/>
          <p:cNvSpPr txBox="1"/>
          <p:nvPr/>
        </p:nvSpPr>
        <p:spPr>
          <a:xfrm>
            <a:off x="274320" y="685800"/>
            <a:ext cx="6400800" cy="1645920"/>
          </a:xfrm>
          <a:prstGeom prst="rect">
            <a:avLst/>
          </a:prstGeom>
          <a:noFill/>
        </p:spPr>
        <p:txBody>
          <a:bodyPr wrap="square">
            <a:spAutoFit/>
          </a:bodyPr>
          <a:lstStyle/>
          <a:p>
            <a:pPr>
              <a:defRPr sz="1100">
                <a:solidFill>
                  <a:srgbClr val="FFFFFF"/>
                </a:solidFill>
                <a:latin typeface="Segoe UI"/>
              </a:defRPr>
            </a:pPr>
            <a:r>
              <a:t>As a developer you are tasked with creating an application so that your customers can leverage your microservices by making HTTP API calls. Your goal is to create an event-driven architecture to support this application. What combination of AWS Services can you use so that your customers can make the HTTP API calls, serverless compute containing the business logic processes the incoming API calls, and the corresponding microservices data can be persistently stored? (SELECT THREE)</a:t>
            </a:r>
          </a:p>
        </p:txBody>
      </p:sp>
      <p:sp>
        <p:nvSpPr>
          <p:cNvPr id="5" name="Oval 4"/>
          <p:cNvSpPr/>
          <p:nvPr/>
        </p:nvSpPr>
        <p:spPr>
          <a:xfrm>
            <a:off x="365760" y="2377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A</a:t>
            </a:r>
          </a:p>
        </p:txBody>
      </p:sp>
      <p:sp>
        <p:nvSpPr>
          <p:cNvPr id="6" name="TextBox 5"/>
          <p:cNvSpPr txBox="1"/>
          <p:nvPr/>
        </p:nvSpPr>
        <p:spPr>
          <a:xfrm>
            <a:off x="777240" y="2377440"/>
            <a:ext cx="5943600" cy="411480"/>
          </a:xfrm>
          <a:prstGeom prst="rect">
            <a:avLst/>
          </a:prstGeom>
          <a:noFill/>
        </p:spPr>
        <p:txBody>
          <a:bodyPr wrap="square">
            <a:spAutoFit/>
          </a:bodyPr>
          <a:lstStyle/>
          <a:p>
            <a:pPr>
              <a:defRPr sz="1000">
                <a:solidFill>
                  <a:srgbClr val="CCCCCC"/>
                </a:solidFill>
                <a:latin typeface="Segoe UI"/>
              </a:defRPr>
            </a:pPr>
            <a:r>
              <a:t>Amazon CloudWatch</a:t>
            </a:r>
          </a:p>
        </p:txBody>
      </p:sp>
      <p:sp>
        <p:nvSpPr>
          <p:cNvPr id="7" name="Oval 6"/>
          <p:cNvSpPr/>
          <p:nvPr/>
        </p:nvSpPr>
        <p:spPr>
          <a:xfrm>
            <a:off x="365760" y="28346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B</a:t>
            </a:r>
          </a:p>
        </p:txBody>
      </p:sp>
      <p:sp>
        <p:nvSpPr>
          <p:cNvPr id="8" name="TextBox 7"/>
          <p:cNvSpPr txBox="1"/>
          <p:nvPr/>
        </p:nvSpPr>
        <p:spPr>
          <a:xfrm>
            <a:off x="777240" y="2834640"/>
            <a:ext cx="5943600" cy="411480"/>
          </a:xfrm>
          <a:prstGeom prst="rect">
            <a:avLst/>
          </a:prstGeom>
          <a:noFill/>
        </p:spPr>
        <p:txBody>
          <a:bodyPr wrap="square">
            <a:spAutoFit/>
          </a:bodyPr>
          <a:lstStyle/>
          <a:p>
            <a:pPr>
              <a:defRPr sz="1000">
                <a:solidFill>
                  <a:srgbClr val="CCCCCC"/>
                </a:solidFill>
                <a:latin typeface="Segoe UI"/>
              </a:defRPr>
            </a:pPr>
            <a:r>
              <a:t>Amazon API Gateway</a:t>
            </a:r>
          </a:p>
        </p:txBody>
      </p:sp>
      <p:sp>
        <p:nvSpPr>
          <p:cNvPr id="9" name="Oval 8"/>
          <p:cNvSpPr/>
          <p:nvPr/>
        </p:nvSpPr>
        <p:spPr>
          <a:xfrm>
            <a:off x="365760" y="32918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C</a:t>
            </a:r>
          </a:p>
        </p:txBody>
      </p:sp>
      <p:sp>
        <p:nvSpPr>
          <p:cNvPr id="10" name="TextBox 9"/>
          <p:cNvSpPr txBox="1"/>
          <p:nvPr/>
        </p:nvSpPr>
        <p:spPr>
          <a:xfrm>
            <a:off x="777240" y="3291840"/>
            <a:ext cx="5943600" cy="411480"/>
          </a:xfrm>
          <a:prstGeom prst="rect">
            <a:avLst/>
          </a:prstGeom>
          <a:noFill/>
        </p:spPr>
        <p:txBody>
          <a:bodyPr wrap="square">
            <a:spAutoFit/>
          </a:bodyPr>
          <a:lstStyle/>
          <a:p>
            <a:pPr>
              <a:defRPr sz="1000">
                <a:solidFill>
                  <a:srgbClr val="CCCCCC"/>
                </a:solidFill>
                <a:latin typeface="Segoe UI"/>
              </a:defRPr>
            </a:pPr>
            <a:r>
              <a:t>AWS Secrets Manager</a:t>
            </a:r>
          </a:p>
        </p:txBody>
      </p:sp>
      <p:sp>
        <p:nvSpPr>
          <p:cNvPr id="11" name="Oval 10"/>
          <p:cNvSpPr/>
          <p:nvPr/>
        </p:nvSpPr>
        <p:spPr>
          <a:xfrm>
            <a:off x="365760" y="3749039"/>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D</a:t>
            </a:r>
          </a:p>
        </p:txBody>
      </p:sp>
      <p:sp>
        <p:nvSpPr>
          <p:cNvPr id="12" name="TextBox 11"/>
          <p:cNvSpPr txBox="1"/>
          <p:nvPr/>
        </p:nvSpPr>
        <p:spPr>
          <a:xfrm>
            <a:off x="777240" y="3749039"/>
            <a:ext cx="5943600" cy="411480"/>
          </a:xfrm>
          <a:prstGeom prst="rect">
            <a:avLst/>
          </a:prstGeom>
          <a:noFill/>
        </p:spPr>
        <p:txBody>
          <a:bodyPr wrap="square">
            <a:spAutoFit/>
          </a:bodyPr>
          <a:lstStyle/>
          <a:p>
            <a:pPr>
              <a:defRPr sz="1000">
                <a:solidFill>
                  <a:srgbClr val="CCCCCC"/>
                </a:solidFill>
                <a:latin typeface="Segoe UI"/>
              </a:defRPr>
            </a:pPr>
            <a:r>
              <a:t>Amazon DynamoDB</a:t>
            </a:r>
          </a:p>
        </p:txBody>
      </p:sp>
      <p:sp>
        <p:nvSpPr>
          <p:cNvPr id="13" name="Oval 12"/>
          <p:cNvSpPr/>
          <p:nvPr/>
        </p:nvSpPr>
        <p:spPr>
          <a:xfrm>
            <a:off x="365760" y="42062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E</a:t>
            </a:r>
          </a:p>
        </p:txBody>
      </p:sp>
      <p:sp>
        <p:nvSpPr>
          <p:cNvPr id="14" name="TextBox 13"/>
          <p:cNvSpPr txBox="1"/>
          <p:nvPr/>
        </p:nvSpPr>
        <p:spPr>
          <a:xfrm>
            <a:off x="777240" y="4206240"/>
            <a:ext cx="5943600" cy="411480"/>
          </a:xfrm>
          <a:prstGeom prst="rect">
            <a:avLst/>
          </a:prstGeom>
          <a:noFill/>
        </p:spPr>
        <p:txBody>
          <a:bodyPr wrap="square">
            <a:spAutoFit/>
          </a:bodyPr>
          <a:lstStyle/>
          <a:p>
            <a:pPr>
              <a:defRPr sz="1000">
                <a:solidFill>
                  <a:srgbClr val="CCCCCC"/>
                </a:solidFill>
                <a:latin typeface="Segoe UI"/>
              </a:defRPr>
            </a:pPr>
            <a:r>
              <a:t>AWS Lambda</a:t>
            </a:r>
          </a:p>
        </p:txBody>
      </p:sp>
      <p:sp>
        <p:nvSpPr>
          <p:cNvPr id="15" name="Oval 14"/>
          <p:cNvSpPr/>
          <p:nvPr/>
        </p:nvSpPr>
        <p:spPr>
          <a:xfrm>
            <a:off x="365760" y="4663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F</a:t>
            </a:r>
          </a:p>
        </p:txBody>
      </p:sp>
      <p:sp>
        <p:nvSpPr>
          <p:cNvPr id="16" name="TextBox 15"/>
          <p:cNvSpPr txBox="1"/>
          <p:nvPr/>
        </p:nvSpPr>
        <p:spPr>
          <a:xfrm>
            <a:off x="777240" y="4663440"/>
            <a:ext cx="5943600" cy="411480"/>
          </a:xfrm>
          <a:prstGeom prst="rect">
            <a:avLst/>
          </a:prstGeom>
          <a:noFill/>
        </p:spPr>
        <p:txBody>
          <a:bodyPr wrap="square">
            <a:spAutoFit/>
          </a:bodyPr>
          <a:lstStyle/>
          <a:p>
            <a:pPr>
              <a:defRPr sz="1000">
                <a:solidFill>
                  <a:srgbClr val="CCCCCC"/>
                </a:solidFill>
                <a:latin typeface="Segoe UI"/>
              </a:defRPr>
            </a:pPr>
            <a:r>
              <a:t>AWS Elastic Beanstalk</a:t>
            </a:r>
          </a:p>
        </p:txBody>
      </p:sp>
      <p:sp>
        <p:nvSpPr>
          <p:cNvPr id="17" name="Rounded Rectangle 16"/>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9" name="Picture 18"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Amazon CloudWatch</a:t>
            </a:r>
          </a:p>
        </p:txBody>
      </p:sp>
      <p:pic>
        <p:nvPicPr>
          <p:cNvPr id="5" name="Picture 4" descr="option_a.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While Amazon CloudWatch is a monitoring service for AWS resources and applications, it is not directly related to creating an event-driven architecture for handling HTTP API calls and persistently storing microservices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Amazon API Gateway</a:t>
            </a:r>
          </a:p>
        </p:txBody>
      </p:sp>
      <p:pic>
        <p:nvPicPr>
          <p:cNvPr id="5" name="Picture 4" descr="option_b.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Amazon API Gateway allows you to create, publish, maintain, monitor, and secure APIs at any scale.</a:t>
            </a:r>
          </a:p>
          <a:p>
            <a:pPr>
              <a:spcAft>
                <a:spcPts val="600"/>
              </a:spcAft>
              <a:defRPr sz="900">
                <a:solidFill>
                  <a:srgbClr val="212121"/>
                </a:solidFill>
                <a:latin typeface="Segoe UI"/>
              </a:defRPr>
            </a:pPr>
            <a:r>
              <a:t>• It enables customers to make HTTP API calls to interact with your application.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AWS Secrets Manager</a:t>
            </a:r>
          </a:p>
        </p:txBody>
      </p:sp>
      <p:pic>
        <p:nvPicPr>
          <p:cNvPr id="5" name="Picture 4" descr="option_c.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AWS Secrets Manager is a service that helps you protect access to your applications, services, and IT resources.</a:t>
            </a:r>
          </a:p>
          <a:p>
            <a:pPr>
              <a:spcAft>
                <a:spcPts val="600"/>
              </a:spcAft>
              <a:defRPr sz="900">
                <a:solidFill>
                  <a:srgbClr val="212121"/>
                </a:solidFill>
                <a:latin typeface="Segoe UI"/>
              </a:defRPr>
            </a:pPr>
            <a:r>
              <a:t>• While it plays a crucial role in managing secrets, it is not directly involved in creating an event-driven architecture for handling HTTP API calls and persistently storing microservices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Amazon DynamoDB</a:t>
            </a:r>
          </a:p>
        </p:txBody>
      </p:sp>
      <p:pic>
        <p:nvPicPr>
          <p:cNvPr id="5" name="Picture 4" descr="option_d.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Amazon DynamoDB is a fully managed NoSQL database service that provides fast and predictable performance with seamless scalability.</a:t>
            </a:r>
          </a:p>
          <a:p>
            <a:pPr>
              <a:spcAft>
                <a:spcPts val="600"/>
              </a:spcAft>
              <a:defRPr sz="900">
                <a:solidFill>
                  <a:srgbClr val="212121"/>
                </a:solidFill>
                <a:latin typeface="Segoe UI"/>
              </a:defRPr>
            </a:pPr>
            <a:r>
              <a:t>• It can persistently store the microservices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E: AWS Lambda</a:t>
            </a:r>
          </a:p>
        </p:txBody>
      </p:sp>
      <p:pic>
        <p:nvPicPr>
          <p:cNvPr id="5" name="Picture 4" descr="option_e.png"/>
          <p:cNvPicPr>
            <a:picLocks noChangeAspect="1"/>
          </p:cNvPicPr>
          <p:nvPr/>
        </p:nvPicPr>
        <p:blipFill>
          <a:blip r:embed="rId2"/>
          <a:stretch>
            <a:fillRect/>
          </a:stretch>
        </p:blipFill>
        <p:spPr>
          <a:xfrm>
            <a:off x="182880" y="914400"/>
            <a:ext cx="3115683"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AWS Lambda is a serverless compute service that runs your code in response to events and automatically scales to handle them.</a:t>
            </a:r>
          </a:p>
          <a:p>
            <a:pPr>
              <a:spcAft>
                <a:spcPts val="600"/>
              </a:spcAft>
              <a:defRPr sz="900">
                <a:solidFill>
                  <a:srgbClr val="212121"/>
                </a:solidFill>
                <a:latin typeface="Segoe UI"/>
              </a:defRPr>
            </a:pPr>
            <a:r>
              <a:t>• It can contain the business logic processes for handling the incoming API calls without provisioning or managing servers.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F: AWS Elastic Beanstalk</a:t>
            </a:r>
          </a:p>
        </p:txBody>
      </p:sp>
      <p:pic>
        <p:nvPicPr>
          <p:cNvPr id="5" name="Picture 4" descr="option_f.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AWS Elastic Beanstalk is an easy-to-use service for deploying and scaling web applications and services.</a:t>
            </a:r>
          </a:p>
          <a:p>
            <a:pPr>
              <a:spcAft>
                <a:spcPts val="600"/>
              </a:spcAft>
              <a:defRPr sz="900">
                <a:solidFill>
                  <a:srgbClr val="212121"/>
                </a:solidFill>
                <a:latin typeface="Segoe UI"/>
              </a:defRPr>
            </a:pPr>
            <a:r>
              <a:t>• However, it is not specifically designed for creating event-driven architectures or handling HTTP API calls and persistently storing microservices data in a serverless manner.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