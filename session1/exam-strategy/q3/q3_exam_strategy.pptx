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1 - Question 3</a:t>
            </a:r>
          </a:p>
        </p:txBody>
      </p:sp>
      <p:sp>
        <p:nvSpPr>
          <p:cNvPr id="4" name="TextBox 3"/>
          <p:cNvSpPr txBox="1"/>
          <p:nvPr/>
        </p:nvSpPr>
        <p:spPr>
          <a:xfrm>
            <a:off x="274320" y="640080"/>
            <a:ext cx="6583680" cy="1280160"/>
          </a:xfrm>
          <a:prstGeom prst="rect">
            <a:avLst/>
          </a:prstGeom>
          <a:noFill/>
        </p:spPr>
        <p:txBody>
          <a:bodyPr wrap="square" tIns="0" bIns="0">
            <a:spAutoFit/>
          </a:bodyPr>
          <a:lstStyle/>
          <a:p>
            <a:pPr>
              <a:defRPr sz="900">
                <a:solidFill>
                  <a:srgbClr val="FFFFFF"/>
                </a:solidFill>
                <a:latin typeface="Segoe UI"/>
              </a:defRPr>
            </a:pPr>
            <a:r>
              <a:t>A company has an inventory system that receives sporadic inventory updates from a fulfillment system in the form of large JSON files. While many files can be sent in a short time period, days can pass when no files are sent. The company wants to process these files as soon as they arrive. Which solution will meet these requirements?</a:t>
            </a:r>
          </a:p>
        </p:txBody>
      </p:sp>
      <p:sp>
        <p:nvSpPr>
          <p:cNvPr id="5" name="Oval 4"/>
          <p:cNvSpPr/>
          <p:nvPr/>
        </p:nvSpPr>
        <p:spPr>
          <a:xfrm>
            <a:off x="274320" y="205740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A</a:t>
            </a:r>
          </a:p>
        </p:txBody>
      </p:sp>
      <p:sp>
        <p:nvSpPr>
          <p:cNvPr id="6" name="TextBox 5"/>
          <p:cNvSpPr txBox="1"/>
          <p:nvPr/>
        </p:nvSpPr>
        <p:spPr>
          <a:xfrm>
            <a:off x="548640" y="2011680"/>
            <a:ext cx="6400800" cy="736092"/>
          </a:xfrm>
          <a:prstGeom prst="rect">
            <a:avLst/>
          </a:prstGeom>
          <a:noFill/>
        </p:spPr>
        <p:txBody>
          <a:bodyPr wrap="square" tIns="25400" bIns="0" lIns="0">
            <a:spAutoFit/>
          </a:bodyPr>
          <a:lstStyle/>
          <a:p>
            <a:pPr>
              <a:defRPr sz="800">
                <a:solidFill>
                  <a:srgbClr val="CCCCCC"/>
                </a:solidFill>
                <a:latin typeface="Segoe UI"/>
              </a:defRPr>
            </a:pPr>
            <a:r>
              <a:t>Sending the JSON files to Amazon Elastic File System (Amazon EFS) and configuring an AWS Lambda function with ...</a:t>
            </a:r>
          </a:p>
        </p:txBody>
      </p:sp>
      <p:sp>
        <p:nvSpPr>
          <p:cNvPr id="7" name="Oval 6"/>
          <p:cNvSpPr/>
          <p:nvPr/>
        </p:nvSpPr>
        <p:spPr>
          <a:xfrm>
            <a:off x="274320" y="281178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B</a:t>
            </a:r>
          </a:p>
        </p:txBody>
      </p:sp>
      <p:sp>
        <p:nvSpPr>
          <p:cNvPr id="8" name="TextBox 7"/>
          <p:cNvSpPr txBox="1"/>
          <p:nvPr/>
        </p:nvSpPr>
        <p:spPr>
          <a:xfrm>
            <a:off x="548640" y="2766060"/>
            <a:ext cx="6400800" cy="736092"/>
          </a:xfrm>
          <a:prstGeom prst="rect">
            <a:avLst/>
          </a:prstGeom>
          <a:noFill/>
        </p:spPr>
        <p:txBody>
          <a:bodyPr wrap="square" tIns="25400" bIns="0" lIns="0">
            <a:spAutoFit/>
          </a:bodyPr>
          <a:lstStyle/>
          <a:p>
            <a:pPr>
              <a:defRPr sz="800">
                <a:solidFill>
                  <a:srgbClr val="CCCCCC"/>
                </a:solidFill>
                <a:latin typeface="Segoe UI"/>
              </a:defRPr>
            </a:pPr>
            <a:r>
              <a:t>Sending the JSON files to Amazon Elastic File System (Amazon EFS) and scheduling an AWS Lambda function to pro...</a:t>
            </a:r>
          </a:p>
        </p:txBody>
      </p:sp>
      <p:sp>
        <p:nvSpPr>
          <p:cNvPr id="9" name="Oval 8"/>
          <p:cNvSpPr/>
          <p:nvPr/>
        </p:nvSpPr>
        <p:spPr>
          <a:xfrm>
            <a:off x="274320" y="356616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C</a:t>
            </a:r>
          </a:p>
        </p:txBody>
      </p:sp>
      <p:sp>
        <p:nvSpPr>
          <p:cNvPr id="10" name="TextBox 9"/>
          <p:cNvSpPr txBox="1"/>
          <p:nvPr/>
        </p:nvSpPr>
        <p:spPr>
          <a:xfrm>
            <a:off x="548640" y="3520440"/>
            <a:ext cx="6400800" cy="736092"/>
          </a:xfrm>
          <a:prstGeom prst="rect">
            <a:avLst/>
          </a:prstGeom>
          <a:noFill/>
        </p:spPr>
        <p:txBody>
          <a:bodyPr wrap="square" tIns="25400" bIns="0" lIns="0">
            <a:spAutoFit/>
          </a:bodyPr>
          <a:lstStyle/>
          <a:p>
            <a:pPr>
              <a:defRPr sz="800">
                <a:solidFill>
                  <a:srgbClr val="CCCCCC"/>
                </a:solidFill>
                <a:latin typeface="Segoe UI"/>
              </a:defRPr>
            </a:pPr>
            <a:r>
              <a:t>Send the JSON files to an Amazon S3 bucket...</a:t>
            </a:r>
          </a:p>
        </p:txBody>
      </p:sp>
      <p:sp>
        <p:nvSpPr>
          <p:cNvPr id="11" name="Oval 10"/>
          <p:cNvSpPr/>
          <p:nvPr/>
        </p:nvSpPr>
        <p:spPr>
          <a:xfrm>
            <a:off x="274320" y="4320540"/>
            <a:ext cx="201168" cy="20116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700" b="1">
                <a:solidFill>
                  <a:srgbClr val="FFFFFF"/>
                </a:solidFill>
              </a:defRPr>
            </a:pPr>
            <a:r>
              <a:t>D</a:t>
            </a:r>
          </a:p>
        </p:txBody>
      </p:sp>
      <p:sp>
        <p:nvSpPr>
          <p:cNvPr id="12" name="TextBox 11"/>
          <p:cNvSpPr txBox="1"/>
          <p:nvPr/>
        </p:nvSpPr>
        <p:spPr>
          <a:xfrm>
            <a:off x="548640" y="4274820"/>
            <a:ext cx="6400800" cy="736092"/>
          </a:xfrm>
          <a:prstGeom prst="rect">
            <a:avLst/>
          </a:prstGeom>
          <a:noFill/>
        </p:spPr>
        <p:txBody>
          <a:bodyPr wrap="square" tIns="25400" bIns="0" lIns="0">
            <a:spAutoFit/>
          </a:bodyPr>
          <a:lstStyle/>
          <a:p>
            <a:pPr>
              <a:defRPr sz="800">
                <a:solidFill>
                  <a:srgbClr val="CCCCCC"/>
                </a:solidFill>
                <a:latin typeface="Segoe UI"/>
              </a:defRPr>
            </a:pPr>
            <a:r>
              <a:t>Sending the JSON files to an Amazon S3 bucket and scheduling an AWS Lambda function to process the S3 objects ...</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Sending the JSON files to Amazon Elastic File System (Amazon EFS) and configuring an AWS Lambda function with an Amazon EFS event source: While this option uses Amazon EFS for file storage, it does not address the requirement to process the files as soon as they arrive. Additionally, using an EFS event source would require the Lambda function to wait for files to be written to the EFS, rather than triggering the function immediately upon file upload.</a:t>
            </a:r>
          </a:p>
        </p:txBody>
      </p:sp>
      <p:pic>
        <p:nvPicPr>
          <p:cNvPr id="5" name="Picture 4" descr="option_a.png"/>
          <p:cNvPicPr>
            <a:picLocks noChangeAspect="1"/>
          </p:cNvPicPr>
          <p:nvPr/>
        </p:nvPicPr>
        <p:blipFill>
          <a:blip r:embed="rId2"/>
          <a:stretch>
            <a:fillRect/>
          </a:stretch>
        </p:blipFill>
        <p:spPr>
          <a:xfrm>
            <a:off x="182880" y="1767857"/>
            <a:ext cx="5303520" cy="2133565"/>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Sending the JSON files to Amazon Elastic File System (Amazon EFS) and configuring an AWS Lambda function with an Amazon EFS event source: While this option uses Amazon EFS for file storage</a:t>
            </a:r>
          </a:p>
          <a:p>
            <a:pPr>
              <a:spcAft>
                <a:spcPts val="400"/>
              </a:spcAft>
              <a:defRPr sz="800">
                <a:solidFill>
                  <a:srgbClr val="212121"/>
                </a:solidFill>
                <a:latin typeface="Segoe UI"/>
              </a:defRPr>
            </a:pPr>
            <a:r>
              <a:t>• Not address the requirement to process the files as soon as they arrive</a:t>
            </a:r>
          </a:p>
          <a:p>
            <a:pPr>
              <a:spcAft>
                <a:spcPts val="400"/>
              </a:spcAft>
              <a:defRPr sz="800">
                <a:solidFill>
                  <a:srgbClr val="212121"/>
                </a:solidFill>
                <a:latin typeface="Segoe UI"/>
              </a:defRPr>
            </a:pPr>
            <a:r>
              <a:t>• Additionally, using an EFS event source would require the Lambda function to wait for files to be written to the EFS</a:t>
            </a:r>
          </a:p>
          <a:p>
            <a:pPr>
              <a:spcAft>
                <a:spcPts val="400"/>
              </a:spcAft>
              <a:defRPr sz="800">
                <a:solidFill>
                  <a:srgbClr val="212121"/>
                </a:solidFill>
                <a:latin typeface="Segoe UI"/>
              </a:defRPr>
            </a:pPr>
            <a:r>
              <a:t>• Triggering the function immediately upon file upload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Sending the JSON files to Amazon Elastic File System (Amazon EFS) and scheduling an AWS Lambda function to process the files once each hour: This option does not meet the requirement to process the files as soon as they arrive. Additionally, scheduling the Lambda function to run once each hour may result in delays in processing the files, especially during periods when no files are sent for days.</a:t>
            </a:r>
          </a:p>
        </p:txBody>
      </p:sp>
      <p:pic>
        <p:nvPicPr>
          <p:cNvPr id="5" name="Picture 4" descr="option_b.png"/>
          <p:cNvPicPr>
            <a:picLocks noChangeAspect="1"/>
          </p:cNvPicPr>
          <p:nvPr/>
        </p:nvPicPr>
        <p:blipFill>
          <a:blip r:embed="rId2"/>
          <a:stretch>
            <a:fillRect/>
          </a:stretch>
        </p:blipFill>
        <p:spPr>
          <a:xfrm>
            <a:off x="182880" y="1090099"/>
            <a:ext cx="5303520" cy="3489081"/>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Sending the JSON files to Amazon Elastic File System (Amazon EFS) and scheduling an AWS Lambda function to process the files once each hour: This option does not meet the requirement to process the files as soon as they arrive</a:t>
            </a:r>
          </a:p>
          <a:p>
            <a:pPr>
              <a:spcAft>
                <a:spcPts val="400"/>
              </a:spcAft>
              <a:defRPr sz="800">
                <a:solidFill>
                  <a:srgbClr val="212121"/>
                </a:solidFill>
                <a:latin typeface="Segoe UI"/>
              </a:defRPr>
            </a:pPr>
            <a:r>
              <a:t>• Additionally, scheduling the Lambda function to run once each hour may result in delays in processing the files, especially during periods when no files are sent for days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Send the JSON files to an Amazon S3 bucket. Configure an AWS Lambda function with an S3 event source to process the S3 objects.</a:t>
            </a:r>
          </a:p>
        </p:txBody>
      </p:sp>
      <p:pic>
        <p:nvPicPr>
          <p:cNvPr id="5" name="Picture 4" descr="option_c.png"/>
          <p:cNvPicPr>
            <a:picLocks noChangeAspect="1"/>
          </p:cNvPicPr>
          <p:nvPr/>
        </p:nvPicPr>
        <p:blipFill>
          <a:blip r:embed="rId2"/>
          <a:stretch>
            <a:fillRect/>
          </a:stretch>
        </p:blipFill>
        <p:spPr>
          <a:xfrm>
            <a:off x="182880" y="1707457"/>
            <a:ext cx="5303520" cy="2254365"/>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400"/>
              </a:spcAft>
              <a:defRPr sz="800">
                <a:solidFill>
                  <a:srgbClr val="212121"/>
                </a:solidFill>
                <a:latin typeface="Segoe UI"/>
              </a:defRPr>
            </a:pPr>
            <a:r>
              <a:t>• Send the JSON files to an Amazon S3 bucket</a:t>
            </a:r>
          </a:p>
          <a:p>
            <a:pPr>
              <a:spcAft>
                <a:spcPts val="400"/>
              </a:spcAft>
              <a:defRPr sz="800">
                <a:solidFill>
                  <a:srgbClr val="212121"/>
                </a:solidFill>
                <a:latin typeface="Segoe UI"/>
              </a:defRPr>
            </a:pPr>
            <a:r>
              <a:t>• Configure an AWS Lambda function with an S3 event source to process the S3 objects</a:t>
            </a:r>
          </a:p>
          <a:p>
            <a:pPr>
              <a:spcAft>
                <a:spcPts val="400"/>
              </a:spcAft>
              <a:defRPr sz="800">
                <a:solidFill>
                  <a:srgbClr val="212121"/>
                </a:solidFill>
                <a:latin typeface="Segoe UI"/>
              </a:defRPr>
            </a:pPr>
            <a:r>
              <a:t>• This solution meets the requirements because it leverages Amazon S3</a:t>
            </a:r>
          </a:p>
          <a:p>
            <a:pPr>
              <a:spcAft>
                <a:spcPts val="400"/>
              </a:spcAft>
              <a:defRPr sz="800">
                <a:solidFill>
                  <a:srgbClr val="212121"/>
                </a:solidFill>
                <a:latin typeface="Segoe UI"/>
              </a:defRPr>
            </a:pPr>
            <a:r>
              <a:t>• A highly durable object storage service</a:t>
            </a:r>
          </a:p>
          <a:p>
            <a:pPr>
              <a:spcAft>
                <a:spcPts val="400"/>
              </a:spcAft>
              <a:defRPr sz="800">
                <a:solidFill>
                  <a:srgbClr val="212121"/>
                </a:solidFill>
                <a:latin typeface="Segoe UI"/>
              </a:defRPr>
            </a:pPr>
            <a:r>
              <a:t>• To store the JSON files</a:t>
            </a:r>
          </a:p>
          <a:p>
            <a:pPr>
              <a:spcAft>
                <a:spcPts val="400"/>
              </a:spcAft>
              <a:defRPr sz="800">
                <a:solidFill>
                  <a:srgbClr val="212121"/>
                </a:solidFill>
                <a:latin typeface="Segoe UI"/>
              </a:defRPr>
            </a:pPr>
            <a:r>
              <a:t>• AWS Lambda can be configured with an S3 event source</a:t>
            </a:r>
          </a:p>
          <a:p>
            <a:pPr>
              <a:spcAft>
                <a:spcPts val="400"/>
              </a:spcAft>
              <a:defRPr sz="800">
                <a:solidFill>
                  <a:srgbClr val="212121"/>
                </a:solidFill>
                <a:latin typeface="Segoe UI"/>
              </a:defRPr>
            </a:pPr>
            <a:r>
              <a:t>• It to process the files as soon as they are uploaded to the S3 bucket</a:t>
            </a:r>
          </a:p>
          <a:p>
            <a:pPr>
              <a:spcAft>
                <a:spcPts val="400"/>
              </a:spcAft>
              <a:defRPr sz="800">
                <a:solidFill>
                  <a:srgbClr val="212121"/>
                </a:solidFill>
                <a:latin typeface="Segoe UI"/>
              </a:defRPr>
            </a:pPr>
            <a:r>
              <a:t>• This ensures that the files are processed promptly upon arrival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Sending the JSON files to an Amazon S3 bucket and scheduling an AWS Lambda function to process the S3 objects once each hour: Similar to option B, this solution does not meet the requirement to process the files as soon as they arrive. Additionally, scheduling the Lambda function to run once each hour may introduce delays in processing the files, especially during periods when no files are sent for days.</a:t>
            </a:r>
          </a:p>
        </p:txBody>
      </p:sp>
      <p:pic>
        <p:nvPicPr>
          <p:cNvPr id="5" name="Picture 4" descr="option_d.png"/>
          <p:cNvPicPr>
            <a:picLocks noChangeAspect="1"/>
          </p:cNvPicPr>
          <p:nvPr/>
        </p:nvPicPr>
        <p:blipFill>
          <a:blip r:embed="rId2"/>
          <a:stretch>
            <a:fillRect/>
          </a:stretch>
        </p:blipFill>
        <p:spPr>
          <a:xfrm>
            <a:off x="182880" y="1142147"/>
            <a:ext cx="5303520" cy="3384985"/>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400"/>
              </a:spcAft>
              <a:defRPr sz="800">
                <a:solidFill>
                  <a:srgbClr val="212121"/>
                </a:solidFill>
                <a:latin typeface="Segoe UI"/>
              </a:defRPr>
            </a:pPr>
            <a:r>
              <a:t>• Sending the JSON files to an Amazon S3 bucket and scheduling an AWS Lambda function to process the S3 objects once each hour: Similar to option B</a:t>
            </a:r>
          </a:p>
          <a:p>
            <a:pPr>
              <a:spcAft>
                <a:spcPts val="400"/>
              </a:spcAft>
              <a:defRPr sz="800">
                <a:solidFill>
                  <a:srgbClr val="212121"/>
                </a:solidFill>
                <a:latin typeface="Segoe UI"/>
              </a:defRPr>
            </a:pPr>
            <a:r>
              <a:t>• This solution does not meet the requirement to process the files as soon as they arrive</a:t>
            </a:r>
          </a:p>
          <a:p>
            <a:pPr>
              <a:spcAft>
                <a:spcPts val="400"/>
              </a:spcAft>
              <a:defRPr sz="800">
                <a:solidFill>
                  <a:srgbClr val="212121"/>
                </a:solidFill>
                <a:latin typeface="Segoe UI"/>
              </a:defRPr>
            </a:pPr>
            <a:r>
              <a:t>• Additionally, scheduling the Lambda function to run once each hour may introduce delays in processing the files, especially during periods when no files are sent for days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