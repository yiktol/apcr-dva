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1.svg" ContentType="image/svg+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1" r:id="rId1"/>
  </p:sldMasterIdLst>
  <p:notesMasterIdLst>
    <p:notesMasterId r:id="rId78"/>
  </p:notesMasterIdLst>
  <p:handoutMasterIdLst>
    <p:handoutMasterId r:id="rId79"/>
  </p:handoutMasterIdLst>
  <p:sldIdLst>
    <p:sldId id="256" r:id="rId2"/>
    <p:sldId id="257" r:id="rId3"/>
    <p:sldId id="258" r:id="rId4"/>
    <p:sldId id="259" r:id="rId5"/>
    <p:sldId id="260" r:id="rId6"/>
    <p:sldId id="261" r:id="rId7"/>
    <p:sldId id="262" r:id="rId8"/>
    <p:sldId id="263" r:id="rId9"/>
    <p:sldId id="264" r:id="rId10"/>
    <p:sldId id="265" r:id="rId11"/>
    <p:sldId id="341" r:id="rId12"/>
    <p:sldId id="267" r:id="rId13"/>
    <p:sldId id="340" r:id="rId14"/>
    <p:sldId id="269" r:id="rId15"/>
    <p:sldId id="270" r:id="rId16"/>
    <p:sldId id="271" r:id="rId17"/>
    <p:sldId id="272" r:id="rId18"/>
    <p:sldId id="273" r:id="rId19"/>
    <p:sldId id="274" r:id="rId20"/>
    <p:sldId id="275" r:id="rId21"/>
    <p:sldId id="276" r:id="rId22"/>
    <p:sldId id="339" r:id="rId23"/>
    <p:sldId id="278" r:id="rId24"/>
    <p:sldId id="338" r:id="rId25"/>
    <p:sldId id="304" r:id="rId26"/>
    <p:sldId id="280" r:id="rId27"/>
    <p:sldId id="281" r:id="rId28"/>
    <p:sldId id="282" r:id="rId29"/>
    <p:sldId id="283" r:id="rId30"/>
    <p:sldId id="284" r:id="rId31"/>
    <p:sldId id="303" r:id="rId32"/>
    <p:sldId id="285" r:id="rId33"/>
    <p:sldId id="337" r:id="rId34"/>
    <p:sldId id="287" r:id="rId35"/>
    <p:sldId id="336" r:id="rId36"/>
    <p:sldId id="289" r:id="rId37"/>
    <p:sldId id="290" r:id="rId38"/>
    <p:sldId id="335" r:id="rId39"/>
    <p:sldId id="292" r:id="rId40"/>
    <p:sldId id="334" r:id="rId41"/>
    <p:sldId id="294" r:id="rId42"/>
    <p:sldId id="295" r:id="rId43"/>
    <p:sldId id="333" r:id="rId44"/>
    <p:sldId id="297" r:id="rId45"/>
    <p:sldId id="332" r:id="rId46"/>
    <p:sldId id="299" r:id="rId47"/>
    <p:sldId id="300" r:id="rId48"/>
    <p:sldId id="301" r:id="rId49"/>
    <p:sldId id="302"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sldSz cx="12192000" cy="6858000"/>
  <p:notesSz cx="6858000" cy="9144000"/>
  <p:defaultTextStyle>
    <a:defPPr>
      <a:defRPr lang="en-US"/>
    </a:defPPr>
    <a:lvl1pPr marL="0" algn="l" defTabSz="1097212" rtl="0" eaLnBrk="1" latinLnBrk="0" hangingPunct="1">
      <a:defRPr sz="2118" kern="1200">
        <a:solidFill>
          <a:schemeClr val="tx1"/>
        </a:solidFill>
        <a:latin typeface="+mn-lt"/>
        <a:ea typeface="+mn-ea"/>
        <a:cs typeface="+mn-cs"/>
      </a:defRPr>
    </a:lvl1pPr>
    <a:lvl2pPr marL="548606" algn="l" defTabSz="1097212" rtl="0" eaLnBrk="1" latinLnBrk="0" hangingPunct="1">
      <a:defRPr sz="2118" kern="1200">
        <a:solidFill>
          <a:schemeClr val="tx1"/>
        </a:solidFill>
        <a:latin typeface="+mn-lt"/>
        <a:ea typeface="+mn-ea"/>
        <a:cs typeface="+mn-cs"/>
      </a:defRPr>
    </a:lvl2pPr>
    <a:lvl3pPr marL="1097212" algn="l" defTabSz="1097212" rtl="0" eaLnBrk="1" latinLnBrk="0" hangingPunct="1">
      <a:defRPr sz="2118" kern="1200">
        <a:solidFill>
          <a:schemeClr val="tx1"/>
        </a:solidFill>
        <a:latin typeface="+mn-lt"/>
        <a:ea typeface="+mn-ea"/>
        <a:cs typeface="+mn-cs"/>
      </a:defRPr>
    </a:lvl3pPr>
    <a:lvl4pPr marL="1645818" algn="l" defTabSz="1097212" rtl="0" eaLnBrk="1" latinLnBrk="0" hangingPunct="1">
      <a:defRPr sz="2118" kern="1200">
        <a:solidFill>
          <a:schemeClr val="tx1"/>
        </a:solidFill>
        <a:latin typeface="+mn-lt"/>
        <a:ea typeface="+mn-ea"/>
        <a:cs typeface="+mn-cs"/>
      </a:defRPr>
    </a:lvl4pPr>
    <a:lvl5pPr marL="2194424" algn="l" defTabSz="1097212" rtl="0" eaLnBrk="1" latinLnBrk="0" hangingPunct="1">
      <a:defRPr sz="2118" kern="1200">
        <a:solidFill>
          <a:schemeClr val="tx1"/>
        </a:solidFill>
        <a:latin typeface="+mn-lt"/>
        <a:ea typeface="+mn-ea"/>
        <a:cs typeface="+mn-cs"/>
      </a:defRPr>
    </a:lvl5pPr>
    <a:lvl6pPr marL="2743031" algn="l" defTabSz="1097212" rtl="0" eaLnBrk="1" latinLnBrk="0" hangingPunct="1">
      <a:defRPr sz="2118" kern="1200">
        <a:solidFill>
          <a:schemeClr val="tx1"/>
        </a:solidFill>
        <a:latin typeface="+mn-lt"/>
        <a:ea typeface="+mn-ea"/>
        <a:cs typeface="+mn-cs"/>
      </a:defRPr>
    </a:lvl6pPr>
    <a:lvl7pPr marL="3291635" algn="l" defTabSz="1097212" rtl="0" eaLnBrk="1" latinLnBrk="0" hangingPunct="1">
      <a:defRPr sz="2118" kern="1200">
        <a:solidFill>
          <a:schemeClr val="tx1"/>
        </a:solidFill>
        <a:latin typeface="+mn-lt"/>
        <a:ea typeface="+mn-ea"/>
        <a:cs typeface="+mn-cs"/>
      </a:defRPr>
    </a:lvl7pPr>
    <a:lvl8pPr marL="3840241" algn="l" defTabSz="1097212" rtl="0" eaLnBrk="1" latinLnBrk="0" hangingPunct="1">
      <a:defRPr sz="2118" kern="1200">
        <a:solidFill>
          <a:schemeClr val="tx1"/>
        </a:solidFill>
        <a:latin typeface="+mn-lt"/>
        <a:ea typeface="+mn-ea"/>
        <a:cs typeface="+mn-cs"/>
      </a:defRPr>
    </a:lvl8pPr>
    <a:lvl9pPr marL="4388848" algn="l" defTabSz="1097212" rtl="0" eaLnBrk="1" latinLnBrk="0" hangingPunct="1">
      <a:defRPr sz="2118"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800"/>
    <a:srgbClr val="FFAB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6" autoAdjust="0"/>
    <p:restoredTop sz="77130" autoAdjust="0"/>
  </p:normalViewPr>
  <p:slideViewPr>
    <p:cSldViewPr snapToGrid="0" snapToObjects="1">
      <p:cViewPr varScale="1">
        <p:scale>
          <a:sx n="57" d="100"/>
          <a:sy n="57" d="100"/>
        </p:scale>
        <p:origin x="288" y="40"/>
      </p:cViewPr>
      <p:guideLst/>
    </p:cSldViewPr>
  </p:slideViewPr>
  <p:notesTextViewPr>
    <p:cViewPr>
      <p:scale>
        <a:sx n="1" d="1"/>
        <a:sy n="1" d="1"/>
      </p:scale>
      <p:origin x="0" y="0"/>
    </p:cViewPr>
  </p:notesTextViewPr>
  <p:notesViewPr>
    <p:cSldViewPr snapToGrid="0" snapToObjects="1">
      <p:cViewPr varScale="1">
        <p:scale>
          <a:sx n="51" d="100"/>
          <a:sy n="51" d="100"/>
        </p:scale>
        <p:origin x="2692" y="5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handoutMaster" Target="handoutMasters/handout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8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ith, Brady" userId="e76634a4-7138-4bc5-b76d-07c789b36324" providerId="ADAL" clId="{9E9136EE-B768-4B6D-95DA-B300D70FE1B5}"/>
    <pc:docChg chg="modSld">
      <pc:chgData name="Smith, Brady" userId="e76634a4-7138-4bc5-b76d-07c789b36324" providerId="ADAL" clId="{9E9136EE-B768-4B6D-95DA-B300D70FE1B5}" dt="2026-09-09T04:16:46.539" v="2" actId="14100"/>
      <pc:docMkLst>
        <pc:docMk/>
      </pc:docMkLst>
      <pc:sldChg chg="modSp mod">
        <pc:chgData name="Smith, Brady" userId="e76634a4-7138-4bc5-b76d-07c789b36324" providerId="ADAL" clId="{9E9136EE-B768-4B6D-95DA-B300D70FE1B5}" dt="2026-09-08T22:09:45.470" v="0" actId="207"/>
        <pc:sldMkLst>
          <pc:docMk/>
          <pc:sldMk cId="0" sldId="257"/>
        </pc:sldMkLst>
        <pc:spChg chg="mod">
          <ac:chgData name="Smith, Brady" userId="e76634a4-7138-4bc5-b76d-07c789b36324" providerId="ADAL" clId="{9E9136EE-B768-4B6D-95DA-B300D70FE1B5}" dt="2026-09-08T22:09:45.470" v="0" actId="207"/>
          <ac:spMkLst>
            <pc:docMk/>
            <pc:sldMk cId="0" sldId="257"/>
            <ac:spMk id="2" creationId="{00000000-0000-0000-0000-000000000000}"/>
          </ac:spMkLst>
        </pc:spChg>
      </pc:sldChg>
      <pc:sldChg chg="modSp mod">
        <pc:chgData name="Smith, Brady" userId="e76634a4-7138-4bc5-b76d-07c789b36324" providerId="ADAL" clId="{9E9136EE-B768-4B6D-95DA-B300D70FE1B5}" dt="2026-09-09T04:16:46.539" v="2" actId="14100"/>
        <pc:sldMkLst>
          <pc:docMk/>
          <pc:sldMk cId="0" sldId="324"/>
        </pc:sldMkLst>
        <pc:spChg chg="mod">
          <ac:chgData name="Smith, Brady" userId="e76634a4-7138-4bc5-b76d-07c789b36324" providerId="ADAL" clId="{9E9136EE-B768-4B6D-95DA-B300D70FE1B5}" dt="2026-09-09T04:16:46.539" v="2" actId="14100"/>
          <ac:spMkLst>
            <pc:docMk/>
            <pc:sldMk cId="0" sldId="324"/>
            <ac:spMk id="4" creationId="{00000000-0000-0000-0000-000000000000}"/>
          </ac:spMkLst>
        </pc:spChg>
      </pc:sldChg>
      <pc:sldChg chg="modSp mod">
        <pc:chgData name="Smith, Brady" userId="e76634a4-7138-4bc5-b76d-07c789b36324" providerId="ADAL" clId="{9E9136EE-B768-4B6D-95DA-B300D70FE1B5}" dt="2026-09-09T04:15:41.923" v="1" actId="1076"/>
        <pc:sldMkLst>
          <pc:docMk/>
          <pc:sldMk cId="0" sldId="339"/>
        </pc:sldMkLst>
        <pc:spChg chg="mod">
          <ac:chgData name="Smith, Brady" userId="e76634a4-7138-4bc5-b76d-07c789b36324" providerId="ADAL" clId="{9E9136EE-B768-4B6D-95DA-B300D70FE1B5}" dt="2026-09-09T04:15:41.923" v="1" actId="1076"/>
          <ac:spMkLst>
            <pc:docMk/>
            <pc:sldMk cId="0" sldId="339"/>
            <ac:spMk id="19"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B49863-5898-48C0-B335-EF7C42A7C1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0789FC4-4114-4B52-A22A-1F17116A1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032EE-C96B-41D6-9557-FA34E120A057}" type="datetimeFigureOut">
              <a:rPr lang="en-US" smtClean="0"/>
              <a:t>9/8/2026</a:t>
            </a:fld>
            <a:endParaRPr lang="en-US"/>
          </a:p>
        </p:txBody>
      </p:sp>
      <p:sp>
        <p:nvSpPr>
          <p:cNvPr id="4" name="Footer Placeholder 3">
            <a:extLst>
              <a:ext uri="{FF2B5EF4-FFF2-40B4-BE49-F238E27FC236}">
                <a16:creationId xmlns:a16="http://schemas.microsoft.com/office/drawing/2014/main" id="{0EA4DEFB-5DD5-4B18-8601-B9AF598D84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6A61B93-3624-41CB-914E-ED63C5DA8D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0796CC6-91F0-4B8D-B770-5904E1401C62}" type="slidenum">
              <a:rPr lang="en-US" smtClean="0"/>
              <a:t>‹#›</a:t>
            </a:fld>
            <a:endParaRPr lang="en-US"/>
          </a:p>
        </p:txBody>
      </p:sp>
    </p:spTree>
    <p:extLst>
      <p:ext uri="{BB962C8B-B14F-4D97-AF65-F5344CB8AC3E}">
        <p14:creationId xmlns:p14="http://schemas.microsoft.com/office/powerpoint/2010/main" val="36129601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C9830B-90A4-EA47-B8ED-2BCF3026A734}" type="datetimeFigureOut">
              <a:rPr lang="en-US" smtClean="0"/>
              <a:t>9/8/2026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DA6E1F-B7C3-CB4A-8789-7F0039C49383}" type="slidenum">
              <a:rPr lang="en-US" smtClean="0"/>
              <a:t>‹#›</a:t>
            </a:fld>
            <a:endParaRPr lang="en-US"/>
          </a:p>
        </p:txBody>
      </p:sp>
    </p:spTree>
    <p:extLst>
      <p:ext uri="{BB962C8B-B14F-4D97-AF65-F5344CB8AC3E}">
        <p14:creationId xmlns:p14="http://schemas.microsoft.com/office/powerpoint/2010/main" val="3509571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FACILITATOR: This slide is hidden on purpose. Confirm it stays hidden, or delete it, before you export a PDF or share the deck with a partner.</a:t>
            </a:r>
          </a:p>
          <a:p>
            <a:endParaRPr/>
          </a:p>
          <a:p>
            <a:pPr>
              <a:spcAft>
                <a:spcPts val="600"/>
              </a:spcAft>
            </a:pPr>
            <a:r>
              <a:t>The content is APCR-team owned and is licensed only for delivery inside an authorized event. If a partner asks for the deck, point them to the official event materials rather than forwarding this file.</a:t>
            </a:r>
          </a:p>
          <a:p>
            <a:endParaRPr/>
          </a:p>
          <a:p>
            <a:pPr>
              <a:spcAft>
                <a:spcPts val="600"/>
              </a:spcAft>
            </a:pPr>
            <a:r>
              <a:t>Nothing here is presented to the room. Advance straight past it into the title slide.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WHY THESE SLIDES EXIST: two Customer Case slides ground the session in real customers with real problems. They are NOT promotional. Each works backwards from the customer's challenge, which is why the title is the problem and not the result.</a:t>
            </a:r>
          </a:p>
          <a:p>
            <a:endParaRPr/>
          </a:p>
          <a:p>
            <a:pPr>
              <a:spcAft>
                <a:spcPts val="600"/>
              </a:spcAft>
            </a:pPr>
            <a:r>
              <a:t>YOU MAY: name the customer exactly as AWS's published page names it; state any figure that appears on that page; describe the services the page names; and point people at the SOURCE link on the slide. Everything on these slides is verified word for word against the published case study.</a:t>
            </a:r>
          </a:p>
          <a:p>
            <a:endParaRPr/>
          </a:p>
          <a:p>
            <a:pPr>
              <a:spcAft>
                <a:spcPts val="600"/>
              </a:spcAft>
            </a:pPr>
            <a:r>
              <a:t>YOU MAY NOT: add a figure, a service, or an architectural detail that is not on the page. Do not infer how the customer built something. Do not say or imply that an attendee's own customer will get the same result. Do not present these as your own work, and do not use customer logos.</a:t>
            </a:r>
          </a:p>
          <a:p>
            <a:endParaRPr/>
          </a:p>
          <a:p>
            <a:pPr>
              <a:spcAft>
                <a:spcPts val="600"/>
              </a:spcAft>
            </a:pPr>
            <a:r>
              <a:t>WHY THE RULES ARE THIS TIGHT: a published case study has already been through the customer's own legal and marketing approval, and that approval covers presentations. Anything added on top of it has been approved by nobody, so an added detail is the one thing that turns an approved reference into a problem.</a:t>
            </a:r>
          </a:p>
          <a:p>
            <a:endParaRPr/>
          </a:p>
          <a:p>
            <a:pPr>
              <a:spcAft>
                <a:spcPts val="600"/>
              </a:spcAft>
            </a:pPr>
            <a:r>
              <a:t>IF A LINK IS DEAD, DROP THE SLIDE. Customer consent can be withdrawn, and AWS then removes the page. A case-study URL that stops working may mean permission lapsed rather than a broken link, so do not present it from a cached copy or an older deck. Tell the APCR team instead.</a:t>
            </a:r>
          </a:p>
          <a:p>
            <a:endParaRPr/>
          </a:p>
          <a:p>
            <a:pPr>
              <a:spcAft>
                <a:spcPts val="600"/>
              </a:spcAft>
            </a:pPr>
            <a:r>
              <a:t>ON SPEAKING FOR AWS: present these as AWS's published customer stories, not as an AWS position you are announcing and not as your own findings. If someone asks a question the page does not answer, the honest answer is that the case study does not say, and you can follow up.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FACILITATOR: The opening slide for the first content-review session. Welcome the room, introduce yourself briefly, and set the frame: this is a working session, not a lecture, and everyone here already holds Cloud Practitioner.</a:t>
            </a:r>
          </a:p>
          <a:p>
            <a:endParaRPr/>
          </a:p>
          <a:p>
            <a:pPr>
              <a:spcAft>
                <a:spcPts val="600"/>
              </a:spcAft>
            </a:pPr>
            <a:r>
              <a:t>Say what the next two hours look like -- roughly half is a fast re-grounding in the week-one services, and half is exam-strategy practice on live questions.</a:t>
            </a:r>
          </a:p>
          <a:p>
            <a:endParaRPr/>
          </a:p>
          <a:p>
            <a:pPr>
              <a:spcAft>
                <a:spcPts val="600"/>
              </a:spcAft>
            </a:pPr>
            <a:r>
              <a:t>Keep this short. The energy you set here carries into the whole session.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FACILITATOR: A quick pulse check before the content starts. Ask how the first week has gone -- who has started the digital training, who feels behind, what got in the way.</a:t>
            </a:r>
          </a:p>
          <a:p>
            <a:endParaRPr/>
          </a:p>
          <a:p>
            <a:pPr>
              <a:spcAft>
                <a:spcPts val="600"/>
              </a:spcAft>
            </a:pPr>
            <a:r>
              <a:t>Expect a few people to have fallen behind; that is normal this early. Be encouraging and share a little of your own study experience so the room relaxes and talks.</a:t>
            </a:r>
          </a:p>
          <a:p>
            <a:endParaRPr/>
          </a:p>
          <a:p>
            <a:pPr>
              <a:spcAft>
                <a:spcPts val="600"/>
              </a:spcAft>
            </a:pPr>
            <a:r>
              <a:t>Keep it to two or three minutes, then move into the weekly summary.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five things that make up the event, and the modality of each. Walk the room across the rows so everyone knows what is a live session and what is self-paced.</a:t>
            </a:r>
          </a:p>
          <a:p>
            <a:endParaRPr/>
          </a:p>
          <a:p>
            <a:pPr>
              <a:spcAft>
                <a:spcPts val="600"/>
              </a:spcAft>
            </a:pPr>
            <a:r>
              <a:t>Say the cadence out loud, because the rows do not show it. Grounded in the program guide's Detailed Program Overview: the kickoff happens in week 1 and nothing else, and booking the exam is a week 2 task. Only the weekly digital training and the content review session repeat every week. This is the thing attendees get wrong -- some wait for a second kickoff, and some leave the booking to the end and then do not book at all.</a:t>
            </a:r>
          </a:p>
          <a:p>
            <a:endParaRPr/>
          </a:p>
          <a:p>
            <a:pPr>
              <a:spcAft>
                <a:spcPts val="600"/>
              </a:spcAft>
            </a:pPr>
            <a:r>
              <a:t>The weekly digital training is the Developer Associate Learning Plan, with weekly expectations reviewed live and listed in the event guide. The optional Exam Prep Plan adds domain-based review and practice tests, and AWS Cloud Quest: Serverless Developer gives hands-on lab practice; both need a Skill Builder subscription. The content review and exam strategy sessions are where an AWS expert walks the key services and reviews sample questions live.</a:t>
            </a:r>
          </a:p>
          <a:p>
            <a:endParaRPr/>
          </a:p>
          <a:p>
            <a:pPr>
              <a:spcAft>
                <a:spcPts val="600"/>
              </a:spcAft>
            </a:pPr>
            <a:r>
              <a:t>FACILITATOR: Close by pointing at the last row -- scheduling the exam is theirs to own, and encouraging them to book it early keeps the momentum going.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This week's training checklist. The left card is the free Learning Plan; the right card is the optional Exam Prep Plan a subscriber can add.</a:t>
            </a:r>
          </a:p>
          <a:p>
            <a:endParaRPr/>
          </a:p>
          <a:p>
            <a:pPr>
              <a:spcAft>
                <a:spcPts val="600"/>
              </a:spcAft>
            </a:pPr>
            <a:r>
              <a:t>FACILITATOR: Use this as a check-in. Ask how people are doing with the material and relate it to your own experience studying for the exam -- which modules stood out, what your key takeaways were. Expect some to have fallen behind; show empathy and encourage them to keep at it.</a:t>
            </a:r>
          </a:p>
          <a:p>
            <a:endParaRPr/>
          </a:p>
          <a:p>
            <a:pPr>
              <a:spcAft>
                <a:spcPts val="600"/>
              </a:spcAft>
            </a:pPr>
            <a:r>
              <a:t>The Exam Prep Plan is the subscription-based, cert-aligned companion plan. Remind the room of the value of Cloud Quest -- the lab practice in particular -- and check whether anyone has tried the labs yet.</a:t>
            </a:r>
          </a:p>
          <a:p>
            <a:endParaRPr/>
          </a:p>
          <a:p>
            <a:pPr>
              <a:spcAft>
                <a:spcPts val="600"/>
              </a:spcAft>
            </a:pPr>
            <a:r>
              <a:t>Note: the item names beginning "Domain 1" are the actual Exam Prep Plan module names in Skill Builder, so learners can find them; they are navigation, not exam-coverage claims. Keep any talk of exam weighting out of this slide.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comparison of what the free Skill Builder tier includes against what an individual subscription adds. The subscription is optional and is not required to take part in this event.</a:t>
            </a:r>
          </a:p>
          <a:p>
            <a:endParaRPr/>
          </a:p>
          <a:p>
            <a:pPr>
              <a:spcAft>
                <a:spcPts val="600"/>
              </a:spcAft>
            </a:pPr>
            <a:r>
              <a:t>FACILITATOR: Frame the subscription around the labs and practice exams -- the hands-on practice and official practice questions are what most people find worth it when preparing for an Associate exam. Point the room at the Developer Associate Exam Prep Plan they can access during the event, and recommend Cloud Quest for extra lab work.</a:t>
            </a:r>
          </a:p>
          <a:p>
            <a:endParaRPr/>
          </a:p>
          <a:p>
            <a:pPr>
              <a:spcAft>
                <a:spcPts val="600"/>
              </a:spcAft>
            </a:pPr>
            <a:r>
              <a:t>Verify before delivery: the feature counts and the $29 per month / $449 per year pricing are carried from the source logistics slide and can change. The Skill Builder pricing page does not render for automated checking, so confirm the current numbers on skillbuilder.aws before you state them to the room, and speak to the free tier if you are unsure.</a:t>
            </a:r>
          </a:p>
          <a:p>
            <a:endParaRPr/>
          </a:p>
          <a:p>
            <a:pPr>
              <a:spcAft>
                <a:spcPts val="600"/>
              </a:spcAft>
            </a:pPr>
            <a:r>
              <a:t>The free tier already covers a great deal, so nobody should feel they must pay to succeed here.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section opener. Put the question to the room and let two or three people answer before advancing -- most will say "the cloud", which is exactly the vagueness the next three slides fix. This audience already holds Cloud Practitioner, so treat it as a fast re-grounding, not a first lecture.</a:t>
            </a:r>
          </a:p>
          <a:p>
            <a:endParaRPr/>
          </a:p>
          <a:p>
            <a:pPr>
              <a:spcAft>
                <a:spcPts val="600"/>
              </a:spcAft>
            </a:pPr>
            <a:r>
              <a:t>EXAM RELEVANCE: Regions, Availability Zones, and edge locations are the vocabulary every later networking, resilience, and deployment answer is built on. Getting the hierarchy precise now pays off across the whole exam.</a:t>
            </a:r>
          </a:p>
          <a:p>
            <a:endParaRPr/>
          </a:p>
          <a:p>
            <a:pPr>
              <a:spcAft>
                <a:spcPts val="600"/>
              </a:spcAft>
            </a:pPr>
            <a:r>
              <a:t>PARTNER CONTEXT: "Where does our data live?" is the first question a customer's security or compliance stakeholder asks. A vague answer here costs trust, so this section exists to make the answer precise.</a:t>
            </a:r>
          </a:p>
          <a:p>
            <a:endParaRPr/>
          </a:p>
          <a:p>
            <a:pPr>
              <a:spcAft>
                <a:spcPts val="600"/>
              </a:spcAft>
            </a:pPr>
            <a:r>
              <a:t>EXAM MAPPING: Domain 3 (define the AWS global infrastructure).</a:t>
            </a:r>
          </a:p>
          <a:p>
            <a:endParaRPr/>
          </a:p>
          <a:p>
            <a:pPr>
              <a:spcAft>
                <a:spcPts val="600"/>
              </a:spcAft>
            </a:pPr>
            <a:r>
              <a:t>REFERENCE: https://docs.aws.amazon.com/whitepapers/latest/aws-overview/global-infrastructure.html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Region is a separate geographic area that contains multiple, isolated, physically separate Availability Zones. The recap for a Cloud Practitioner holder: Regions are independent of one another, and resources are not automatically copied between them -- you choose a Region and your workload lives there until you decide otherwise.</a:t>
            </a:r>
          </a:p>
          <a:p>
            <a:endParaRPr/>
          </a:p>
          <a:p>
            <a:pPr>
              <a:spcAft>
                <a:spcPts val="600"/>
              </a:spcAft>
            </a:pPr>
            <a:r>
              <a:t>EXAM RELEVANCE: Know that Regions are isolated from each other and that nothing replicates across them by default. A scenario about data that must stay in one country, or about surviving a regional event, is testing this distinction.</a:t>
            </a:r>
          </a:p>
          <a:p>
            <a:endParaRPr/>
          </a:p>
          <a:p>
            <a:pPr>
              <a:spcAft>
                <a:spcPts val="600"/>
              </a:spcAft>
            </a:pPr>
            <a:r>
              <a:t>PARTNER CONTEXT: Region selection is usually the first design decision you make with a customer and one of the hardest to reverse. Ask early whether their data is allowed to leave a particular country -- the answer can eliminate options before any architecture work begins.</a:t>
            </a:r>
          </a:p>
          <a:p>
            <a:endParaRPr/>
          </a:p>
          <a:p>
            <a:pPr>
              <a:spcAft>
                <a:spcPts val="600"/>
              </a:spcAft>
            </a:pPr>
            <a:r>
              <a:t>EXAM MAPPING: Domain 3.</a:t>
            </a:r>
          </a:p>
          <a:p>
            <a:endParaRPr/>
          </a:p>
          <a:p>
            <a:pPr>
              <a:spcAft>
                <a:spcPts val="600"/>
              </a:spcAft>
            </a:pPr>
            <a:r>
              <a:t>REFERENCE: https://docs.aws.amazon.com/whitepapers/latest/aws-overview/global-infrastructure.html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An Availability Zone is one or more discrete data centers with independent power, cooling, and networking, inside a Region. Zones sit far enough apart to fail independently and close enough for low-latency replication over private fiber. Running across two Zones is the standard answer to a single-Zone failure.</a:t>
            </a:r>
          </a:p>
          <a:p>
            <a:endParaRPr/>
          </a:p>
          <a:p>
            <a:pPr>
              <a:spcAft>
                <a:spcPts val="600"/>
              </a:spcAft>
            </a:pPr>
            <a:r>
              <a:t>EXAM RELEVANCE: If a question describes surviving the loss of a single data center, the answer usually involves multiple Availability Zones -- not multiple Regions. Keep that boundary sharp: multi-AZ protects against a facility failure; multi-Region protects against a regional event and costs considerably more.</a:t>
            </a:r>
          </a:p>
          <a:p>
            <a:endParaRPr/>
          </a:p>
          <a:p>
            <a:pPr>
              <a:spcAft>
                <a:spcPts val="600"/>
              </a:spcAft>
            </a:pPr>
            <a:r>
              <a:t>PARTNER CONTEXT: This is the distinction customers get wrong most often. Being precise about which one a stated requirement actually needs is a real piece of advisory value, and it often changes the cost of the proposal.</a:t>
            </a:r>
          </a:p>
          <a:p>
            <a:endParaRPr/>
          </a:p>
          <a:p>
            <a:pPr>
              <a:spcAft>
                <a:spcPts val="600"/>
              </a:spcAft>
            </a:pPr>
            <a:r>
              <a:t>EXAM MAPPING: Domain 3.</a:t>
            </a:r>
          </a:p>
          <a:p>
            <a:endParaRPr/>
          </a:p>
          <a:p>
            <a:pPr>
              <a:spcAft>
                <a:spcPts val="600"/>
              </a:spcAft>
            </a:pPr>
            <a:r>
              <a:t>REFERENCE: https://docs.aws.amazon.com/AWSEC2/latest/UserGuide/using-regions-availability-zones.html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three places, drawn on one axis, and the axis is the lesson. Your users sit on the left, an edge location in the middle, an AWS Region on the right. Read it left to right and the distance is the point.</a:t>
            </a:r>
          </a:p>
          <a:p>
            <a:endParaRPr/>
          </a:p>
          <a:p>
            <a:pPr>
              <a:spcAft>
                <a:spcPts val="600"/>
              </a:spcAft>
            </a:pPr>
            <a:r>
              <a:t>Point at the middle card first. An edge location is a point of presence -- it is AWS infrastructure that sits nearer your users than any Region does. Nothing runs there in the sense that your application runs in a Region; it is there to be close.</a:t>
            </a:r>
          </a:p>
          <a:p>
            <a:endParaRPr/>
          </a:p>
          <a:p>
            <a:pPr>
              <a:spcAft>
                <a:spcPts val="600"/>
              </a:spcAft>
            </a:pPr>
            <a:r>
              <a:t>The Region on the right is where your workloads actually run, which is why it carries the compute icon. It is farther away, and that distance is what the edge location exists to shorten.</a:t>
            </a:r>
          </a:p>
          <a:p>
            <a:endParaRPr/>
          </a:p>
          <a:p>
            <a:pPr>
              <a:spcAft>
                <a:spcPts val="600"/>
              </a:spcAft>
            </a:pPr>
            <a:r>
              <a:t>EXAM RELEVANCE: the vocabulary to hold is that a Region is where you deploy and an edge location is where content is served from. A scenario about reducing latency for users far from your Region is pointing at the edge.</a:t>
            </a:r>
          </a:p>
          <a:p>
            <a:endParaRPr/>
          </a:p>
          <a:p>
            <a:pPr>
              <a:spcAft>
                <a:spcPts val="600"/>
              </a:spcAft>
            </a:pPr>
            <a:r>
              <a:t>PARTNER CONTEXT: a customer with users on another continent feels this before they can name it. The picture is usually enough to move the conversation from "the app is slow" to "the app is far away", which are different problems with different answers.</a:t>
            </a:r>
          </a:p>
          <a:p>
            <a:endParaRPr/>
          </a:p>
          <a:p>
            <a:pPr>
              <a:spcAft>
                <a:spcPts val="600"/>
              </a:spcAft>
            </a:pPr>
            <a:r>
              <a:t>Verified against https://docs.aws.amazon.com/AmazonCloudFront/latest/DeveloperGuide/Introduction.html</a:t>
            </a:r>
          </a:p>
          <a:p>
            <a:endParaRPr/>
          </a:p>
          <a:p>
            <a:pPr>
              <a:spcAft>
                <a:spcPts val="600"/>
              </a:spcAft>
            </a:pPr>
            <a:r>
              <a:t>EXAM MAPPING: Domain 3.</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section opener for content delivery. Ask the room how they would make a website feel fast for a user on the other side of the world, and how they would then keep a paid video or a private document from being shared freely. Those two questions frame the whole section: a delivery layer, then an access-control layer on top of it.</a:t>
            </a:r>
          </a:p>
          <a:p>
            <a:endParaRPr/>
          </a:p>
          <a:p>
            <a:pPr>
              <a:spcAft>
                <a:spcPts val="600"/>
              </a:spcAft>
            </a:pPr>
            <a:r>
              <a:t>EXAM RELEVANCE: Content delivery scenarios are common on the exam, and they almost always resolve to Amazon CloudFront. Pair that with the mechanisms for handing out temporary, controlled access, and you cover both halves of a very testable topic.</a:t>
            </a:r>
          </a:p>
          <a:p>
            <a:endParaRPr/>
          </a:p>
          <a:p>
            <a:pPr>
              <a:spcAft>
                <a:spcPts val="600"/>
              </a:spcAft>
            </a:pPr>
            <a:r>
              <a:t>PARTNER CONTEXT: "The app feels slow overseas" and "how do we share this file without making it public" are two of the most frequent customer asks. Both have clean, well-understood AWS answers, which makes this an easy section to add value in.</a:t>
            </a:r>
          </a:p>
          <a:p>
            <a:endParaRPr/>
          </a:p>
          <a:p>
            <a:pPr>
              <a:spcAft>
                <a:spcPts val="600"/>
              </a:spcAft>
            </a:pPr>
            <a:r>
              <a:t>EXAM MAPPING: Domain 3; Domain 2 (presigned URLs).</a:t>
            </a:r>
          </a:p>
          <a:p>
            <a:endParaRPr/>
          </a:p>
          <a:p>
            <a:pPr>
              <a:spcAft>
                <a:spcPts val="600"/>
              </a:spcAft>
            </a:pPr>
            <a:r>
              <a:t>REFERENCE: https://docs.aws.amazon.com/AmazonCloudFront/latest/DeveloperGuide/Introduction.html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same axis as before, with the cache tiers filled in. Viewer, edge cache, regional edge cache, origin -- and each step outward is farther from the person waiting.</a:t>
            </a:r>
          </a:p>
          <a:p>
            <a:endParaRPr/>
          </a:p>
          <a:p>
            <a:pPr>
              <a:spcAft>
                <a:spcPts val="600"/>
              </a:spcAft>
            </a:pPr>
            <a:r>
              <a:t>Walk it outward. The viewer's request reaches the nearest edge cache first. If that cache does not have the object, the request goes to a regional edge cache, which is larger and there are fewer of them. Only if that misses too does the request reach your origin.</a:t>
            </a:r>
          </a:p>
          <a:p>
            <a:endParaRPr/>
          </a:p>
          <a:p>
            <a:pPr>
              <a:spcAft>
                <a:spcPts val="600"/>
              </a:spcAft>
            </a:pPr>
            <a:r>
              <a:t>Say why the middle tier exists. A regional edge cache holds more, for longer, so an object that has fallen out of a small edge cache can often still be served without troubling the origin at all.</a:t>
            </a:r>
          </a:p>
          <a:p>
            <a:endParaRPr/>
          </a:p>
          <a:p>
            <a:pPr>
              <a:spcAft>
                <a:spcPts val="600"/>
              </a:spcAft>
            </a:pPr>
            <a:r>
              <a:t>Note that both cache tiers carry the CloudFront icon, because both are CloudFront. The origin is yours -- that is the boundary this picture draws.</a:t>
            </a:r>
          </a:p>
          <a:p>
            <a:endParaRPr/>
          </a:p>
          <a:p>
            <a:pPr>
              <a:spcAft>
                <a:spcPts val="600"/>
              </a:spcAft>
            </a:pPr>
            <a:r>
              <a:t>EXAM RELEVANCE: the tested idea is that a miss at one tier does not go straight to the origin. A scenario describing origin load dropping after a caching change is describing this hierarchy.</a:t>
            </a:r>
          </a:p>
          <a:p>
            <a:endParaRPr/>
          </a:p>
          <a:p>
            <a:pPr>
              <a:spcAft>
                <a:spcPts val="600"/>
              </a:spcAft>
            </a:pPr>
            <a:r>
              <a:t>PARTNER CONTEXT: a customer worried about origin capacity during a launch is asking a caching question, and the tiers are what let you answer it without resizing anything.</a:t>
            </a:r>
          </a:p>
          <a:p>
            <a:endParaRPr/>
          </a:p>
          <a:p>
            <a:pPr>
              <a:spcAft>
                <a:spcPts val="600"/>
              </a:spcAft>
            </a:pPr>
            <a:r>
              <a:t>Verified against https://docs.aws.amazon.com/AmazonCloudFront/latest/DeveloperGuide/HowCloudFrontWorks.html</a:t>
            </a:r>
          </a:p>
          <a:p>
            <a:endParaRPr/>
          </a:p>
          <a:p>
            <a:pPr>
              <a:spcAft>
                <a:spcPts val="600"/>
              </a:spcAft>
            </a:pPr>
            <a:r>
              <a:t>EXAM MAPPING: Domain 3.</a:t>
            </a:r>
          </a:p>
          <a:p>
            <a:endParaRPr/>
          </a:p>
          <a:p>
            <a:pPr>
              <a:spcAft>
                <a:spcPts val="600"/>
              </a:spcAft>
            </a:pPr>
            <a:r>
              <a:t>REFERENCE: https://docs.aws.amazon.com/AmazonCloudFront/latest/DeveloperGuide/Introduction.html</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CloudFront speeds up both static and dynamic content. A viewer request is routed to the edge location that can serve it with the lowest latency. If the object is already cached there, the edge returns it immediately; if it is not, the edge fetches it from the origin, such as an Amazon S3 bucket or an HTTP server, caches it, and serves it. Subsequent viewers near that edge get the cached copy.</a:t>
            </a:r>
          </a:p>
          <a:p>
            <a:endParaRPr/>
          </a:p>
          <a:p>
            <a:pPr>
              <a:spcAft>
                <a:spcPts val="600"/>
              </a:spcAft>
            </a:pPr>
            <a:r>
              <a:t>EXAM RELEVANCE: Know the request path -- viewer to edge, edge to origin only on a cache miss. A question about accelerating APIs or streaming video, not just static files, is testing that CloudFront handles dynamic content too, which learners often forget.</a:t>
            </a:r>
          </a:p>
          <a:p>
            <a:endParaRPr/>
          </a:p>
          <a:p>
            <a:pPr>
              <a:spcAft>
                <a:spcPts val="600"/>
              </a:spcAft>
            </a:pPr>
            <a:r>
              <a:t>PARTNER CONTEXT: When a customer weighs whether CloudFront is worth it for a mostly dynamic application, the answer is usually yes -- it still terminates connections close to the user and can cache dynamic responses selectively. It is worth correcting the "CDNs are only for images" assumption.</a:t>
            </a:r>
          </a:p>
          <a:p>
            <a:endParaRPr/>
          </a:p>
          <a:p>
            <a:pPr>
              <a:spcAft>
                <a:spcPts val="600"/>
              </a:spcAft>
            </a:pPr>
            <a:r>
              <a:t>EXAM MAPPING: Domain 3.</a:t>
            </a:r>
          </a:p>
          <a:p>
            <a:endParaRPr/>
          </a:p>
          <a:p>
            <a:pPr>
              <a:spcAft>
                <a:spcPts val="600"/>
              </a:spcAft>
            </a:pPr>
            <a:r>
              <a:t>REFERENCE: https://docs.aws.amazon.com/AmazonCloudFront/latest/DeveloperGuide/HowCloudFrontWorks.html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Regional edge caches sit between the edge locations and your origin, and they are larger than an individual edge cache. When content is not requested often enough to stay in an edge location, it can still live in a regional edge cache, so a viewer request checks the edge first, then the regional edge cache, and only reaches the origin if neither has it. This keeps more of your content closer to viewers.</a:t>
            </a:r>
          </a:p>
          <a:p>
            <a:endParaRPr/>
          </a:p>
          <a:p>
            <a:pPr>
              <a:spcAft>
                <a:spcPts val="600"/>
              </a:spcAft>
            </a:pPr>
            <a:r>
              <a:t>EXAM RELEVANCE: The useful distinction is popularity-driven: edge locations hold the hottest content, regional edge caches hold content whose popularity has faded but is still requested. A scenario about user-generated media or catalogs that cool off over time is pointing at this layer.</a:t>
            </a:r>
          </a:p>
          <a:p>
            <a:endParaRPr/>
          </a:p>
          <a:p>
            <a:pPr>
              <a:spcAft>
                <a:spcPts val="600"/>
              </a:spcAft>
            </a:pPr>
            <a:r>
              <a:t>PARTNER CONTEXT: This is a detail worth raising when a customer worries that a large, long-tail content library will constantly hit the origin. The regional edge cache absorbs much of that, which can lower origin load and cost without any change to how they publish content.</a:t>
            </a:r>
          </a:p>
          <a:p>
            <a:endParaRPr/>
          </a:p>
          <a:p>
            <a:pPr>
              <a:spcAft>
                <a:spcPts val="600"/>
              </a:spcAft>
            </a:pPr>
            <a:r>
              <a:t>EXAM MAPPING: Domain 3.</a:t>
            </a:r>
          </a:p>
          <a:p>
            <a:endParaRPr/>
          </a:p>
          <a:p>
            <a:pPr>
              <a:spcAft>
                <a:spcPts val="600"/>
              </a:spcAft>
            </a:pPr>
            <a:r>
              <a:t>REFERENCE: https://docs.aws.amazon.com/AmazonCloudFront/latest/DeveloperGuide/HowCloudFrontWorks.html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presigned URL grants time-limited access to a single Amazon S3 object without changing the bucket policy. The person who generates the URL signs it with their own credentials, so the URL can only do what that IAM principal is allowed to do -- and anyone holding the URL can use it until it expires, which is why it is best thought of as a bearer token. The same mechanism works for uploads, letting an outside party put a specific object into a bucket without any AWS credentials of their own.</a:t>
            </a:r>
          </a:p>
          <a:p>
            <a:endParaRPr/>
          </a:p>
          <a:p>
            <a:pPr>
              <a:spcAft>
                <a:spcPts val="600"/>
              </a:spcAft>
            </a:pPr>
            <a:r>
              <a:t>EXAM RELEVANCE: Watch for expiry behavior. A presigned URL is valid for the shorter of its configured lifetime and the life of the credentials that signed it, so a URL signed with a temporary role session expires when that session does, even if a longer time was requested. Console-generated URLs last up to twelve hours; ones made with the CLI or an SDK can last up to seven days.</a:t>
            </a:r>
          </a:p>
          <a:p>
            <a:endParaRPr/>
          </a:p>
          <a:p>
            <a:pPr>
              <a:spcAft>
                <a:spcPts val="600"/>
              </a:spcAft>
            </a:pPr>
            <a:r>
              <a:t>PARTNER CONTEXT: When a customer needs to share a private file or accept a direct upload without handing out credentials or making a bucket public, presigned URLs are the clean answer. At the delivery layer, CloudFront signed URLs and signed cookies do the same job for content served through the CDN -- worth naming so the customer picks the right layer.</a:t>
            </a:r>
          </a:p>
          <a:p>
            <a:endParaRPr/>
          </a:p>
          <a:p>
            <a:pPr>
              <a:spcAft>
                <a:spcPts val="600"/>
              </a:spcAft>
            </a:pPr>
            <a:r>
              <a:t>EXAM MAPPING: Domain 2 (presigned URLs).</a:t>
            </a:r>
          </a:p>
          <a:p>
            <a:endParaRPr/>
          </a:p>
          <a:p>
            <a:pPr>
              <a:spcAft>
                <a:spcPts val="600"/>
              </a:spcAft>
            </a:pPr>
            <a:r>
              <a:t>REFERENCE: https://docs.aws.amazon.com/AmazonS3/latest/userguide/using-presigned-url.html  ·  CloudFront signed URLs: https://docs.aws.amazon.com/AmazonCloudFront/latest/DeveloperGuide/PrivateContent.html</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section opener for compute. Put the question to the room and let a few answers land before advancing. Most will name Amazon EC2, which is the right instinct and also the chance to widen the picture: there is a spectrum from a raw virtual server you manage entirely, through containers, to functions where you manage nothing but the code. This audience already holds Cloud Practitioner, so treat it as a fast re-grounding rather than a first lecture.</a:t>
            </a:r>
          </a:p>
          <a:p>
            <a:endParaRPr/>
          </a:p>
          <a:p>
            <a:pPr>
              <a:spcAft>
                <a:spcPts val="600"/>
              </a:spcAft>
            </a:pPr>
            <a:r>
              <a:t>EXAM RELEVANCE: Choosing the right compute model for a described workload is a recurring question. The examiner rewards matching the level of control a scenario asks for to the service that provides exactly that much and no more.</a:t>
            </a:r>
          </a:p>
          <a:p>
            <a:endParaRPr/>
          </a:p>
          <a:p>
            <a:pPr>
              <a:spcAft>
                <a:spcPts val="600"/>
              </a:spcAft>
            </a:pPr>
            <a:r>
              <a:t>PARTNER CONTEXT: "Should this run on EC2, containers, or serverless?" is one of the most common early design conversations with a customer. Framing it as a spectrum of how much you want to manage keeps the discussion concrete instead of religious.</a:t>
            </a:r>
          </a:p>
          <a:p>
            <a:endParaRPr/>
          </a:p>
          <a:p>
            <a:pPr>
              <a:spcAft>
                <a:spcPts val="600"/>
              </a:spcAft>
            </a:pPr>
            <a:r>
              <a:t>EXAM MAPPING: Domain 1 (select the appropriate compute for the workload).</a:t>
            </a:r>
          </a:p>
          <a:p>
            <a:endParaRPr/>
          </a:p>
          <a:p>
            <a:pPr>
              <a:spcAft>
                <a:spcPts val="600"/>
              </a:spcAft>
            </a:pPr>
            <a:r>
              <a:t>REFERENCE: https://docs.aws.amazon.com/whitepapers/latest/aws-overview/compute-services.html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AWS offers a spectrum of compute. Amazon EC2 gives you a full virtual server, so you control the operating system, storage, networking, and scaling. Amazon ECS runs and scales containers whose orchestration you manage. AWS Fargate runs those same containers with no servers for you to provision or patch. AWS Lambda runs your code on demand in response to events, with nothing to manage but the function. The one-line frame for a Cloud Practitioner holder: the less you want to manage, the further right on this list you move.</a:t>
            </a:r>
          </a:p>
          <a:p>
            <a:endParaRPr dirty="0"/>
          </a:p>
          <a:p>
            <a:pPr>
              <a:spcAft>
                <a:spcPts val="600"/>
              </a:spcAft>
            </a:pPr>
            <a:r>
              <a:rPr dirty="0"/>
              <a:t>EXAM RELEVANCE: The distinction the exam leans on is how much the customer wants to manage versus how much they want AWS to manage. A scenario that stresses full OS control points to EC2; one that stresses no server management and short-lived, event-driven work points to Lambda; containers sit between, with Fargate removing the servers.</a:t>
            </a:r>
          </a:p>
          <a:p>
            <a:endParaRPr dirty="0"/>
          </a:p>
          <a:p>
            <a:pPr>
              <a:spcAft>
                <a:spcPts val="600"/>
              </a:spcAft>
            </a:pPr>
            <a:r>
              <a:rPr dirty="0"/>
              <a:t>PARTNER CONTEXT: Reaching for the most managed option that still meets the requirement usually lowers a customer's operational burden and cost. The useful advisory move is to ask what they genuinely need to control before defaulting to EC2 out of habit.</a:t>
            </a:r>
          </a:p>
          <a:p>
            <a:endParaRPr dirty="0"/>
          </a:p>
          <a:p>
            <a:pPr>
              <a:spcAft>
                <a:spcPts val="600"/>
              </a:spcAft>
            </a:pPr>
            <a:r>
              <a:rPr dirty="0"/>
              <a:t>EXAM MAPPING: Domain 1. Service pages: Amazon EC2 (https://docs.aws.amazon.com/AWSEC2/latest/UserGuide/concepts.html), Amazon ECS (https://docs.aws.amazon.com/AmazonECS/latest/developerguide/Welcome.html), AWS Fargate (https://docs.aws.amazon.com/AmazonECS/latest/developerguide/AWS_Fargate.html), AWS Lambda (https://docs.aws.amazon.com/lambda/latest/dg/welcome.html).</a:t>
            </a:r>
          </a:p>
          <a:p>
            <a:endParaRPr dirty="0"/>
          </a:p>
          <a:p>
            <a:pPr>
              <a:spcAft>
                <a:spcPts val="600"/>
              </a:spcAft>
            </a:pPr>
            <a:r>
              <a:rPr dirty="0"/>
              <a:t>REFERENCE: https://docs.aws.amazon.com/whitepapers/latest/aws-overview/compute-services.html</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An Amazon Machine Image is the template an EC2 instance is launched from. It contains a root volume image -- the operating system, and any application server and software you have baked in -- along with launch permissions that control which accounts may use it, and a block device mapping that specifies the volumes attached at launch. You must specify an AMI every time you launch an instance, and you can launch as many instances as you like from one AMI. You can also create your own AMI by customizing an instance and saving that configuration.</a:t>
            </a:r>
          </a:p>
          <a:p>
            <a:endParaRPr/>
          </a:p>
          <a:p>
            <a:pPr>
              <a:spcAft>
                <a:spcPts val="600"/>
              </a:spcAft>
            </a:pPr>
            <a:r>
              <a:t>EXAM RELEVANCE: The testable idea is that the AMI captures the starting state of an instance. A scenario about launching many identical, pre-configured servers quickly is describing a custom AMI, so instances come up ready rather than being configured one by one after boot.</a:t>
            </a:r>
          </a:p>
          <a:p>
            <a:endParaRPr/>
          </a:p>
          <a:p>
            <a:pPr>
              <a:spcAft>
                <a:spcPts val="600"/>
              </a:spcAft>
            </a:pPr>
            <a:r>
              <a:t>PARTNER CONTEXT: A customer who bakes their dependencies into a custom AMI gets faster, more consistent launches and less configuration drift across a fleet. It is a small practice that pays off directly in Auto Scaling, where new instances must come up ready without manual steps.</a:t>
            </a:r>
          </a:p>
          <a:p>
            <a:endParaRPr/>
          </a:p>
          <a:p>
            <a:pPr>
              <a:spcAft>
                <a:spcPts val="600"/>
              </a:spcAft>
            </a:pPr>
            <a:r>
              <a:t>EXAM MAPPING: Domain 1; Domain 3 (immutable deployment images).</a:t>
            </a:r>
          </a:p>
          <a:p>
            <a:endParaRPr/>
          </a:p>
          <a:p>
            <a:pPr>
              <a:spcAft>
                <a:spcPts val="600"/>
              </a:spcAft>
            </a:pPr>
            <a:r>
              <a:t>REFERENCE: https://docs.aws.amazon.com/AWSEC2/latest/UserGuide/AMIs.html</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An EC2 instance can work with four different kinds of storage, and each answers a different need. Amazon EBS provides persistent block volumes attached to a single instance. The local instance store provides temporary block storage physically attached to the host, which is fast but lost when the instance stops. Amazon S3 provides durable object storage reached over an API. Amazon EFS provides a shared file system many instances can mount at once. The recap for a Cloud Practitioner holder is to sort any storage question by three questions: does the data need to persist, is it attached to one instance or shared, and is the access pattern block, object, or file.</a:t>
            </a:r>
          </a:p>
          <a:p>
            <a:endParaRPr/>
          </a:p>
          <a:p>
            <a:pPr>
              <a:spcAft>
                <a:spcPts val="600"/>
              </a:spcAft>
            </a:pPr>
            <a:r>
              <a:t>EXAM RELEVANCE: The examiner tests whether you match the storage type to the requirement. The strongest signals are persistence -- does the data survive the instance stopping -- and sharing -- does one instance need it or many. Those two questions resolve most storage scenarios before you consider anything else.</a:t>
            </a:r>
          </a:p>
          <a:p>
            <a:endParaRPr/>
          </a:p>
          <a:p>
            <a:pPr>
              <a:spcAft>
                <a:spcPts val="600"/>
              </a:spcAft>
            </a:pPr>
            <a:r>
              <a:t>PARTNER CONTEXT: Customers often reach for the storage they know rather than the one that fits. Walking through persistence and sharing first turns a vague preference into a defensible choice and frequently changes the cost of the design.</a:t>
            </a:r>
          </a:p>
          <a:p>
            <a:endParaRPr/>
          </a:p>
          <a:p>
            <a:pPr>
              <a:spcAft>
                <a:spcPts val="600"/>
              </a:spcAft>
            </a:pPr>
            <a:r>
              <a:t>EXAM MAPPING: Domain 1 (select appropriate storage for the workload).</a:t>
            </a:r>
          </a:p>
          <a:p>
            <a:endParaRPr/>
          </a:p>
          <a:p>
            <a:pPr>
              <a:spcAft>
                <a:spcPts val="600"/>
              </a:spcAft>
            </a:pPr>
            <a:r>
              <a:t>REFERENCE: https://docs.aws.amazon.com/whitepapers/latest/aws-overview/storage-services.html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This is the same four storage services, chosen by how the data is used. Amazon Elastic Block Store (Amazon EBS) is persistent block storage, well suited to the primary storage for a database or a file system where you need fine-grained, low-latency access to raw block storage. The EC2 instance store is temporary storage for data that changes constantly, such as buffers, caches, and scratch data, and it is lost when the instance stops. Amazon S3 is reliable, inexpensive object storage for files and datasets accessed over an API. Amazon EFS is a shared file system designed to give many instances parallel access to a common data source.</a:t>
            </a:r>
          </a:p>
          <a:p>
            <a:endParaRPr/>
          </a:p>
          <a:p>
            <a:pPr>
              <a:spcAft>
                <a:spcPts val="600"/>
              </a:spcAft>
            </a:pPr>
            <a:r>
              <a:t>EXAM RELEVANCE: The two decisive questions are persistence and sharing. Persistent and attached to one instance points to EBS; temporary and host-local points to the instance store; durable, cheap, and reached over an API points to S3; shared across many instances at once points to EFS. A scenario that mentions data surviving a stop, or many instances reading the same files, is testing exactly this.</a:t>
            </a:r>
          </a:p>
          <a:p>
            <a:endParaRPr/>
          </a:p>
          <a:p>
            <a:pPr>
              <a:spcAft>
                <a:spcPts val="600"/>
              </a:spcAft>
            </a:pPr>
            <a:r>
              <a:t>PARTNER CONTEXT: The instance store catches customers out most often, because its speed is attractive until they learn the data does not survive a stop. Being explicit that instance-store data is ephemeral avoids a painful surprise and steers durable needs to EBS or S3.</a:t>
            </a:r>
          </a:p>
          <a:p>
            <a:endParaRPr/>
          </a:p>
          <a:p>
            <a:pPr>
              <a:spcAft>
                <a:spcPts val="600"/>
              </a:spcAft>
            </a:pPr>
            <a:r>
              <a:t>EXAM MAPPING: Domain 1. Service pages: Amazon EBS (https://docs.aws.amazon.com/ebs/latest/userguide/what-is-ebs.html), EC2 instance store (https://docs.aws.amazon.com/AWSEC2/latest/UserGuide/InstanceStorage.html), Amazon S3 storage classes (https://docs.aws.amazon.com/AmazonS3/latest/userguide/storage-class-intro.html), Amazon EFS (https://docs.aws.amazon.com/efs/latest/ug/whatisefs.html).</a:t>
            </a:r>
          </a:p>
          <a:p>
            <a:endParaRPr/>
          </a:p>
          <a:p>
            <a:pPr>
              <a:spcAft>
                <a:spcPts val="600"/>
              </a:spcAft>
            </a:pPr>
            <a:r>
              <a:t>REFERENCE: https://docs.aws.amazon.com/whitepapers/latest/aws-overview/storage-services.html</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same distinction drawn as count versus size. On the left, three instances of the identical type. On the right, one instance of a larger type. Both panels are the same size on purpose, so the only difference the eye finds is what changed inside them.</a:t>
            </a:r>
          </a:p>
          <a:p>
            <a:endParaRPr/>
          </a:p>
          <a:p>
            <a:pPr>
              <a:spcAft>
                <a:spcPts val="600"/>
              </a:spcAft>
            </a:pPr>
            <a:r>
              <a:t>Say which one Auto Scaling does. It adds and removes instances -- the left panel. It does not resize a running instance, which is why the right panel is a different operation entirely and generally means replacing the instance.</a:t>
            </a:r>
          </a:p>
          <a:p>
            <a:endParaRPr/>
          </a:p>
          <a:p>
            <a:pPr>
              <a:spcAft>
                <a:spcPts val="600"/>
              </a:spcAft>
            </a:pPr>
            <a:r>
              <a:t>The instance icon is deliberately identical in both panels. Only the card grows, because what changes when you scale up is the amount of capacity, not the service.</a:t>
            </a:r>
          </a:p>
          <a:p>
            <a:endParaRPr/>
          </a:p>
          <a:p>
            <a:pPr>
              <a:spcAft>
                <a:spcPts val="600"/>
              </a:spcAft>
            </a:pPr>
            <a:r>
              <a:t>EXAM RELEVANCE: horizontal and vertical are the vocabulary to hold. A scenario describing capacity that follows demand automatically points at adding instances; one describing a single machine that has run out of memory points at changing its type.</a:t>
            </a:r>
          </a:p>
          <a:p>
            <a:endParaRPr/>
          </a:p>
          <a:p>
            <a:pPr>
              <a:spcAft>
                <a:spcPts val="600"/>
              </a:spcAft>
            </a:pPr>
            <a:r>
              <a:t>PARTNER CONTEXT: a customer whose workload cannot be split across instances gets a different answer from one whose workload can, and that constraint decides the conversation before cost does.</a:t>
            </a:r>
          </a:p>
          <a:p>
            <a:endParaRPr/>
          </a:p>
          <a:p>
            <a:pPr>
              <a:spcAft>
                <a:spcPts val="600"/>
              </a:spcAft>
            </a:pPr>
            <a:r>
              <a:t>Verified against https://docs.aws.amazon.com/autoscaling/ec2/userguide/what-is-amazon-ec2-auto-scaling.html</a:t>
            </a:r>
          </a:p>
          <a:p>
            <a:endParaRPr/>
          </a:p>
          <a:p>
            <a:pPr>
              <a:spcAft>
                <a:spcPts val="600"/>
              </a:spcAft>
            </a:pPr>
            <a:r>
              <a:t>EXAM MAPPING: Domain 1; Domain 4 (cost and performance efficiency).</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AWS Auto Scaling is a helper that sits above EC2 Auto Scaling. Where EC2 Auto Scaling adjusts a group of EC2 instances, AWS Auto Scaling coordinates scaling for multiple resources across multiple services from a single scaling plan -- for example EC2 instances together with the supporting resources an application depends on. When an application's needs grow, AWS Auto Scaling can grow the related services alongside the instances so the whole application scales together rather than just one tier.</a:t>
            </a:r>
          </a:p>
          <a:p>
            <a:endParaRPr/>
          </a:p>
          <a:p>
            <a:pPr>
              <a:spcAft>
                <a:spcPts val="600"/>
              </a:spcAft>
            </a:pPr>
            <a:r>
              <a:t>EXAM RELEVANCE: The useful distinction is scope. Use EC2 Auto Scaling to scale a fleet of instances; use AWS Auto Scaling to manage scaling for several resources across services at once. A scenario about keeping an entire application's tiers in step, not just its web servers, is pointing at AWS Auto Scaling.</a:t>
            </a:r>
          </a:p>
          <a:p>
            <a:endParaRPr/>
          </a:p>
          <a:p>
            <a:pPr>
              <a:spcAft>
                <a:spcPts val="600"/>
              </a:spcAft>
            </a:pPr>
            <a:r>
              <a:t>PARTNER CONTEXT: When a customer scales the compute tier but a downstream resource becomes the new bottleneck, a single scaling plan across the dependent services is a cleaner answer than wiring each one up separately. It is worth raising once the first EC2 Auto Scaling group is in place.</a:t>
            </a:r>
          </a:p>
          <a:p>
            <a:endParaRPr/>
          </a:p>
          <a:p>
            <a:pPr>
              <a:spcAft>
                <a:spcPts val="600"/>
              </a:spcAft>
            </a:pPr>
            <a:r>
              <a:t>EXAM MAPPING: Domain 1; Domain 4 (performance efficiency).</a:t>
            </a:r>
          </a:p>
          <a:p>
            <a:endParaRPr/>
          </a:p>
          <a:p>
            <a:pPr>
              <a:spcAft>
                <a:spcPts val="600"/>
              </a:spcAft>
            </a:pPr>
            <a:r>
              <a:t>REFERENCE: https://docs.aws.amazon.com/autoscaling/plans/userguide/what-is-a-scaling-plan.html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one address on the left, three targets on the right, and traffic arriving at the address being spread across them. The load balancer is the single entry point -- that is what the heavier border is saying.</a:t>
            </a:r>
          </a:p>
          <a:p>
            <a:endParaRPr/>
          </a:p>
          <a:p>
            <a:pPr>
              <a:spcAft>
                <a:spcPts val="600"/>
              </a:spcAft>
            </a:pPr>
            <a:r>
              <a:t>Point at the fan. Each target gets its own arrow, and each arrow arrives at the middle of its target rather than at a corner, because the balancer treats them as peers.</a:t>
            </a:r>
          </a:p>
          <a:p>
            <a:endParaRPr/>
          </a:p>
          <a:p>
            <a:pPr>
              <a:spcAft>
                <a:spcPts val="600"/>
              </a:spcAft>
            </a:pPr>
            <a:r>
              <a:t>Say what "healthy" is doing on those cards. The balancer sends traffic only to targets that are passing their health checks, so a target that stops responding simply stops receiving requests. Nothing about the address the client uses changes.</a:t>
            </a:r>
          </a:p>
          <a:p>
            <a:endParaRPr/>
          </a:p>
          <a:p>
            <a:pPr>
              <a:spcAft>
                <a:spcPts val="600"/>
              </a:spcAft>
            </a:pPr>
            <a:r>
              <a:t>EXAM RELEVANCE: the distinction worth holding is between the entry point and the capacity behind it. A scenario describing one instance failing without an outage is describing health checks plus more than one target.</a:t>
            </a:r>
          </a:p>
          <a:p>
            <a:endParaRPr/>
          </a:p>
          <a:p>
            <a:pPr>
              <a:spcAft>
                <a:spcPts val="600"/>
              </a:spcAft>
            </a:pPr>
            <a:r>
              <a:t>PARTNER CONTEXT: a customer who has one instance behind a DNS name has no way to take that instance out of service. Introducing the balancer is what makes routine maintenance stop being an outage.</a:t>
            </a:r>
          </a:p>
          <a:p>
            <a:endParaRPr/>
          </a:p>
          <a:p>
            <a:pPr>
              <a:spcAft>
                <a:spcPts val="600"/>
              </a:spcAft>
            </a:pPr>
            <a:r>
              <a:t>Verified against https://docs.aws.amazon.com/elasticloadbalancing/latest/userguide/what-is-load-balancing.html</a:t>
            </a:r>
          </a:p>
          <a:p>
            <a:endParaRPr/>
          </a:p>
          <a:p>
            <a:pPr>
              <a:spcAft>
                <a:spcPts val="600"/>
              </a:spcAft>
            </a:pPr>
            <a:r>
              <a:t>EXAM MAPPING: Domain 1; Domain 4 (reliability and availability).</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published AWS case study, so the figures are Anzu's and AWS's rather than ours. Anzu is an in-game advertising company whose solution serves ads to tens of millions of users a day. Read the rows left to right: this is working backwards from the customer's problem.</a:t>
            </a:r>
          </a:p>
          <a:p>
            <a:endParaRPr/>
          </a:p>
          <a:p>
            <a:pPr>
              <a:spcAft>
                <a:spcPts val="600"/>
              </a:spcAft>
            </a:pPr>
            <a:r>
              <a:t>THE SETUP: at that scale, networking, load balancing, and availability on Anzu's previous provider became the limit. After repeated events in one year, it migrated to AWS and rebuilt the delivery path for its programmatic advertising.</a:t>
            </a:r>
          </a:p>
          <a:p>
            <a:endParaRPr/>
          </a:p>
          <a:p>
            <a:pPr>
              <a:spcAft>
                <a:spcPts val="600"/>
              </a:spcAft>
            </a:pPr>
            <a:r>
              <a:t>THE DECISION: Anzu delivers ad content through Amazon CloudFront and distributes incoming traffic with Elastic Load Balancing across healthy targets in multiple Availability Zones. Those two services are what this part of the session covers, and they are the pieces to recognize on the slide.</a:t>
            </a:r>
          </a:p>
          <a:p>
            <a:endParaRPr/>
          </a:p>
          <a:p>
            <a:pPr>
              <a:spcAft>
                <a:spcPts val="600"/>
              </a:spcAft>
            </a:pPr>
            <a:r>
              <a:t>EXAM RELEVANCE: the phrasing to notice is content delivered close to the user and traffic spread across healthy targets. A scenario about global latency points at a content delivery network; a scenario about spreading traffic and routing around a failed target points at a load balancer.</a:t>
            </a:r>
          </a:p>
          <a:p>
            <a:endParaRPr/>
          </a:p>
          <a:p>
            <a:pPr>
              <a:spcAft>
                <a:spcPts val="600"/>
              </a:spcAft>
            </a:pPr>
            <a:r>
              <a:t>UNDER THE HOOD (say if asked): Anzu runs its bidders and scanners on Amazon EKS with Amazon EC2 Spot Instances and a cluster autoscaler, taking spare capacity at up to a 90 percent discount. EKS and EC2 are covered elsewhere in Session 1.</a:t>
            </a:r>
          </a:p>
          <a:p>
            <a:endParaRPr/>
          </a:p>
          <a:p>
            <a:pPr>
              <a:spcAft>
                <a:spcPts val="600"/>
              </a:spcAft>
            </a:pPr>
            <a:r>
              <a:t>IF THEY ASK ABOUT RESULTS: the page reports a 30 percent increase in bid request capacity, a 20 percent reduction in ad auction latency, a 50 percent reduction in monthly cloud costs, and 40 percent fewer servers, with the migration completed in 90 days.</a:t>
            </a:r>
          </a:p>
          <a:p>
            <a:endParaRPr/>
          </a:p>
          <a:p>
            <a:pPr>
              <a:spcAft>
                <a:spcPts val="600"/>
              </a:spcAft>
            </a:pPr>
            <a:r>
              <a:t>PARTNER CONTEXT: when a customer says the application feels slow or fragile under load from many regions, this is the cheapest first place to look -- content delivery and load balancing -- before anyone proposes re-architecting the compute layer.</a:t>
            </a:r>
          </a:p>
          <a:p>
            <a:endParaRPr/>
          </a:p>
          <a:p>
            <a:pPr>
              <a:spcAft>
                <a:spcPts val="600"/>
              </a:spcAft>
            </a:pPr>
            <a:r>
              <a:t>EXAM MAPPING: Domain 3 (content delivery); Domain 4 (reliability).</a:t>
            </a:r>
          </a:p>
          <a:p>
            <a:endParaRPr/>
          </a:p>
          <a:p>
            <a:pPr>
              <a:spcAft>
                <a:spcPts val="600"/>
              </a:spcAft>
            </a:pPr>
            <a:r>
              <a:t>ON DELIVERY: the SOURCE link is the published case study. Put it on screen and say plainly that this is the customer we are discussing. Tell the room these pages reward their own time afterwards -- not as exam preparation, but to see the services working together for a real customer.</a:t>
            </a:r>
          </a:p>
          <a:p>
            <a:endParaRPr/>
          </a:p>
          <a:p>
            <a:pPr>
              <a:spcAft>
                <a:spcPts val="600"/>
              </a:spcAft>
            </a:pPr>
            <a:r>
              <a:t>REFERENCE: https://aws.amazon.com/solutions/case-studies/anzu-case-study/</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The section opener for containers. Ask the room what problem a container solves before naming a single AWS service. The answer to land is consistency: a container bundles the application with everything it needs to run, so it behaves the same on a laptop, in a test account, and in production. Once that is agreed, the AWS question becomes narrower and more useful -- who runs and scales the containers, and how much of that do you want to manage yourself. This audience already holds Cloud Practitioner, so treat it as fast re-grounding rather than a first lecture.</a:t>
            </a:r>
          </a:p>
          <a:p>
            <a:endParaRPr dirty="0"/>
          </a:p>
          <a:p>
            <a:pPr>
              <a:spcAft>
                <a:spcPts val="600"/>
              </a:spcAft>
            </a:pPr>
            <a:r>
              <a:rPr dirty="0"/>
              <a:t>EXAM RELEVANCE: The three container services in this section -- Amazon ECS, Amazon EKS, and AWS Fargate -- are frequently offered together as answer choices. The distinction that resolves most questions is orchestration model and how much you manage: ECS is the AWS-native orchestrator, EKS is managed Kubernetes, and Fargate removes the servers under either one.</a:t>
            </a:r>
          </a:p>
          <a:p>
            <a:endParaRPr dirty="0"/>
          </a:p>
          <a:p>
            <a:pPr>
              <a:spcAft>
                <a:spcPts val="600"/>
              </a:spcAft>
            </a:pPr>
            <a:r>
              <a:rPr dirty="0"/>
              <a:t>PARTNER CONTEXT: "We want to containerize but do not want to run a cluster" is a common customer position, and it usually points at Fargate. Framing the section as a spectrum of how much the customer manages keeps the ECS-versus-EKS conversation from becoming a preference argument.</a:t>
            </a:r>
          </a:p>
          <a:p>
            <a:endParaRPr dirty="0"/>
          </a:p>
          <a:p>
            <a:pPr>
              <a:spcAft>
                <a:spcPts val="600"/>
              </a:spcAft>
            </a:pPr>
            <a:r>
              <a:rPr dirty="0"/>
              <a:t>EXAM MAPPING: Domain 1 (select appropriate compute); Domain 3 (deploy containerized applications).</a:t>
            </a:r>
          </a:p>
          <a:p>
            <a:endParaRPr dirty="0"/>
          </a:p>
          <a:p>
            <a:pPr>
              <a:spcAft>
                <a:spcPts val="600"/>
              </a:spcAft>
            </a:pPr>
            <a:r>
              <a:rPr dirty="0"/>
              <a:t>REFERENCE: https://docs.aws.amazon.com/AmazonECS/latest/developerguide/Welcome.html</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Amazon Elastic Container Service is a fully managed container orchestration service that helps you deploy, manage, and scale containerized applications. With ECS you do not have to operate your own cluster management or configuration systems, and you do not have to worry about scaling that management infrastructure yourself. You launch and stop container-based applications with simple API calls, and ECS handles placing and keeping the containers running. For a Cloud Practitioner holder, the one-line recap is that ECS is the AWS-native way to run containers without standing up your own orchestrator.</a:t>
            </a:r>
          </a:p>
          <a:p>
            <a:endParaRPr dirty="0"/>
          </a:p>
          <a:p>
            <a:pPr>
              <a:spcAft>
                <a:spcPts val="600"/>
              </a:spcAft>
            </a:pPr>
            <a:r>
              <a:rPr dirty="0"/>
              <a:t>EXAM RELEVANCE: The testable idea is that ECS removes the operational work of running an orchestrator. A scenario that stresses an AWS-native container service, deep integration with other AWS services, and not wanting to manage Kubernetes is pointing at ECS. Remember that ECS chooses where the containers run -- on EC2 instances you manage, or on Fargate with no servers.</a:t>
            </a:r>
          </a:p>
          <a:p>
            <a:endParaRPr dirty="0"/>
          </a:p>
          <a:p>
            <a:pPr>
              <a:spcAft>
                <a:spcPts val="600"/>
              </a:spcAft>
            </a:pPr>
            <a:r>
              <a:rPr dirty="0"/>
              <a:t>PARTNER CONTEXT: For a customer new to containers on AWS and not already invested in Kubernetes, ECS is usually the lower-friction starting point because it is native and there is less to learn and operate. It is worth asking whether they have an existing Kubernetes practice before defaulting either way.</a:t>
            </a:r>
          </a:p>
          <a:p>
            <a:endParaRPr dirty="0"/>
          </a:p>
          <a:p>
            <a:pPr>
              <a:spcAft>
                <a:spcPts val="600"/>
              </a:spcAft>
            </a:pPr>
            <a:r>
              <a:rPr dirty="0"/>
              <a:t>EXAM MAPPING: Domain 1; Domain 3.</a:t>
            </a:r>
          </a:p>
          <a:p>
            <a:endParaRPr dirty="0"/>
          </a:p>
          <a:p>
            <a:pPr>
              <a:spcAft>
                <a:spcPts val="600"/>
              </a:spcAft>
            </a:pPr>
            <a:r>
              <a:rPr dirty="0"/>
              <a:t>REFERENCE: https://docs.aws.amazon.com/AmazonECS/latest/developerguide/Welcome.html</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Amazon Elastic Kubernetes Service gives you the flexibility to start, run, and scale Kubernetes applications in the AWS Cloud or on-premises. EKS runs the Kubernetes control plane across multiple Availability Zones, automatically detects and replaces unhealthy control plane nodes, and provides on-demand, zero-downtime upgrades and patching. With EKS managed node groups you do not have to separately provision the compute capacity that scales your Kubernetes applications. The one-line recap for a Cloud Practitioner holder: EKS is Kubernetes with AWS running the hard parts of the control plane.</a:t>
            </a:r>
          </a:p>
          <a:p>
            <a:endParaRPr/>
          </a:p>
          <a:p>
            <a:pPr>
              <a:spcAft>
                <a:spcPts val="600"/>
              </a:spcAft>
            </a:pPr>
            <a:r>
              <a:t>EXAM RELEVANCE: The distinction that matters is that EKS is the choice when a customer specifically wants Kubernetes -- its APIs, its ecosystem, or an existing Kubernetes practice they want to bring to AWS. A scenario that names Kubernetes, or portability between on-premises and the cloud, is pointing at EKS rather than ECS.</a:t>
            </a:r>
          </a:p>
          <a:p>
            <a:endParaRPr/>
          </a:p>
          <a:p>
            <a:pPr>
              <a:spcAft>
                <a:spcPts val="600"/>
              </a:spcAft>
            </a:pPr>
            <a:r>
              <a:t>PARTNER CONTEXT: A customer with an existing Kubernetes investment gets to keep their tooling and skills on EKS, which is often the deciding factor over ECS. If they have no such investment, raise whether the added Kubernetes surface is worth it before recommending EKS by default.</a:t>
            </a:r>
          </a:p>
          <a:p>
            <a:endParaRPr/>
          </a:p>
          <a:p>
            <a:pPr>
              <a:spcAft>
                <a:spcPts val="600"/>
              </a:spcAft>
            </a:pPr>
            <a:r>
              <a:t>EXAM MAPPING: Domain 1; Domain 3.</a:t>
            </a:r>
          </a:p>
          <a:p>
            <a:endParaRPr/>
          </a:p>
          <a:p>
            <a:pPr>
              <a:spcAft>
                <a:spcPts val="600"/>
              </a:spcAft>
            </a:pPr>
            <a:r>
              <a:t>REFERENCE: https://docs.aws.amazon.com/eks/latest/userguide/what-is-eks.html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AWS Fargate is a serverless, pay-as-you-go compute engine that lets you run containers without managing servers. It is not a third orchestrator; it is a launch mode that works with both Amazon ECS and Amazon EKS, running and scaling your containerized workloads without you provisioning, patching, or right-sizing any EC2 hosts. Fargate removes the need to own, run, and manage the lifecycle of the compute infrastructure, so the team focuses on building the application and its microservices. The one-line recap for a Cloud Practitioner holder: Fargate is how ECS or EKS runs your containers when you do not want servers at all.</a:t>
            </a:r>
          </a:p>
          <a:p>
            <a:endParaRPr dirty="0"/>
          </a:p>
          <a:p>
            <a:pPr>
              <a:spcAft>
                <a:spcPts val="600"/>
              </a:spcAft>
            </a:pPr>
            <a:r>
              <a:rPr dirty="0"/>
              <a:t>EXAM RELEVANCE: The pairing to hold is that Fargate sits underneath ECS or EKS as the no-servers option, and it is chosen when a scenario stresses removing infrastructure management rather than a particular orchestrator. A question that offers ECS, EKS, and Fargate together is usually testing whether you know Fargate is the serverless way to run the other two.</a:t>
            </a:r>
          </a:p>
          <a:p>
            <a:endParaRPr dirty="0"/>
          </a:p>
          <a:p>
            <a:pPr>
              <a:spcAft>
                <a:spcPts val="600"/>
              </a:spcAft>
            </a:pPr>
            <a:r>
              <a:rPr dirty="0"/>
              <a:t>PARTNER CONTEXT: When a customer wants containers but has no appetite to run a fleet of EC2 hosts, Fargate is the clean answer and it pairs with whichever orchestrator they chose. The trade to name honestly is that the convenience has a per-task cost model, so a steady, high-utilization workload is worth comparing against EC2 launch type.</a:t>
            </a:r>
          </a:p>
          <a:p>
            <a:endParaRPr dirty="0"/>
          </a:p>
          <a:p>
            <a:pPr>
              <a:spcAft>
                <a:spcPts val="600"/>
              </a:spcAft>
            </a:pPr>
            <a:r>
              <a:rPr dirty="0"/>
              <a:t>EXAM MAPPING: Domain 1; Domain 3.</a:t>
            </a:r>
          </a:p>
          <a:p>
            <a:endParaRPr dirty="0"/>
          </a:p>
          <a:p>
            <a:pPr>
              <a:spcAft>
                <a:spcPts val="600"/>
              </a:spcAft>
            </a:pPr>
            <a:r>
              <a:rPr dirty="0"/>
              <a:t>REFERENCE: https://docs.aws.amazon.com/AmazonECS/latest/developerguide/AWS_Fargate.html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Amazon Elastic Container Registry is a fully managed container image registry that is secure, scalable, and reliable. You build a container image from a </a:t>
            </a:r>
            <a:r>
              <a:rPr dirty="0" err="1"/>
              <a:t>Dockerfile</a:t>
            </a:r>
            <a:r>
              <a:rPr dirty="0"/>
              <a:t>, push it to a private ECR repository, and then Amazon ECS, Amazon EKS, or AWS Fargate pulls that image to run it -- so ECR is the store that sits between building an image and running it. Access to private repositories is controlled with AWS IAM, and you can push, pull, and manage Docker and Open Container Initiative images with your preferred CLI. The one-line recap for a Cloud Practitioner holder: the container services you just saw run images, and ECR is where those images live.</a:t>
            </a:r>
          </a:p>
          <a:p>
            <a:endParaRPr dirty="0"/>
          </a:p>
          <a:p>
            <a:pPr>
              <a:spcAft>
                <a:spcPts val="600"/>
              </a:spcAft>
            </a:pPr>
            <a:r>
              <a:rPr dirty="0"/>
              <a:t>EXAM RELEVANCE: A few ECR capabilities recur. Lifecycle policies define rules that clean up unused images so a repository does not grow without bound. Image scanning can be set to scan on push, so each new image is checked for known software vulnerabilities as it arrives. Tag immutability prevents a tag such as a release version from being overwritten, which keeps a deployed version from silently changing. A scenario about where container images are stored, or about automatically removing old images, is pointing at ECR.</a:t>
            </a:r>
          </a:p>
          <a:p>
            <a:endParaRPr dirty="0"/>
          </a:p>
          <a:p>
            <a:pPr>
              <a:spcAft>
                <a:spcPts val="600"/>
              </a:spcAft>
            </a:pPr>
            <a:r>
              <a:rPr dirty="0"/>
              <a:t>PARTNER CONTEXT: When a customer moves containers to AWS, ECR is the natural place to keep their images close to the services that run them, with IAM instead of a separately managed registry credential. Scan-on-push and tag immutability are two low-effort settings worth raising early, because they add supply-chain safety before a pipeline is built rather than after.</a:t>
            </a:r>
          </a:p>
          <a:p>
            <a:endParaRPr dirty="0"/>
          </a:p>
          <a:p>
            <a:pPr>
              <a:spcAft>
                <a:spcPts val="600"/>
              </a:spcAft>
            </a:pPr>
            <a:r>
              <a:rPr dirty="0"/>
              <a:t>EXAM MAPPING: Domain 3 (container images -- build, tag, lifecycle) (deploy containerized applications) / 3.3.2.</a:t>
            </a:r>
          </a:p>
          <a:p>
            <a:endParaRPr dirty="0"/>
          </a:p>
          <a:p>
            <a:pPr>
              <a:spcAft>
                <a:spcPts val="600"/>
              </a:spcAft>
            </a:pPr>
            <a:r>
              <a:rPr dirty="0"/>
              <a:t>REFERENCE: https://docs.aws.amazon.com/AmazonECR/latest/userguide/what-is-ecr.html</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WHAT'S HERE: A published AWS case study, so every figure here is BILL's and AWS's rather than ours. BILL is a financial operations platform for small and midsize businesses. Read the rows left to right and you are working backwards from the customer's problem.</a:t>
            </a:r>
          </a:p>
          <a:p>
            <a:endParaRPr dirty="0"/>
          </a:p>
          <a:p>
            <a:pPr>
              <a:spcAft>
                <a:spcPts val="600"/>
              </a:spcAft>
            </a:pPr>
            <a:r>
              <a:rPr dirty="0"/>
              <a:t>THE SETUP: BILL previously ran static web server farms continuously -- capacity sized for peak and paid for around the clock. To grow more flexibly, it moved to the cloud and began refactoring its core applications.</a:t>
            </a:r>
          </a:p>
          <a:p>
            <a:endParaRPr dirty="0"/>
          </a:p>
          <a:p>
            <a:pPr>
              <a:spcAft>
                <a:spcPts val="600"/>
              </a:spcAft>
            </a:pPr>
            <a:r>
              <a:rPr dirty="0"/>
              <a:t>THE DECISION: BILL migrated those applications to Amazon ECS with AWS Fargate. Fargate is a serverless compute engine for containers, so developers stopped sizing and patching servers and let capacity follow demand rather than lead it.</a:t>
            </a:r>
          </a:p>
          <a:p>
            <a:endParaRPr dirty="0"/>
          </a:p>
          <a:p>
            <a:pPr>
              <a:spcAft>
                <a:spcPts val="600"/>
              </a:spcAft>
            </a:pPr>
            <a:r>
              <a:rPr dirty="0"/>
              <a:t>EXAM RELEVANCE: this is the compute and container material made real. The point is not that containers beat servers everywhere; a serverless container platform fit a workload that had to scale with traffic. A workload characteristic points at a service.</a:t>
            </a:r>
          </a:p>
          <a:p>
            <a:endParaRPr dirty="0"/>
          </a:p>
          <a:p>
            <a:pPr>
              <a:spcAft>
                <a:spcPts val="600"/>
              </a:spcAft>
            </a:pPr>
            <a:r>
              <a:rPr dirty="0"/>
              <a:t>IF THEY ASK ABOUT RESULTS: the page reports the front end handling around 150,000 to 200,000 requests per minute with scaling, and running interruption-tolerant tasks on AWS Fargate Spot at up to a 70 percent discount.</a:t>
            </a:r>
          </a:p>
          <a:p>
            <a:endParaRPr dirty="0"/>
          </a:p>
          <a:p>
            <a:pPr>
              <a:spcAft>
                <a:spcPts val="600"/>
              </a:spcAft>
            </a:pPr>
            <a:r>
              <a:rPr dirty="0"/>
              <a:t>ALSO ON THE PAGE: BILL now spins up new environments in a few weeks rather than a couple of months. State these figures if asked; do not lead with them, and do not imply another customer will see the same.</a:t>
            </a:r>
          </a:p>
          <a:p>
            <a:endParaRPr dirty="0"/>
          </a:p>
          <a:p>
            <a:pPr>
              <a:spcAft>
                <a:spcPts val="600"/>
              </a:spcAft>
            </a:pPr>
            <a:r>
              <a:rPr dirty="0"/>
              <a:t>PARTNER CONTEXT: the row a developer reacts to is the last one -- new environments in weeks instead of months. Cost gets a nod in a business case, but shipping faster is what changes what a team will commit to.</a:t>
            </a:r>
          </a:p>
          <a:p>
            <a:endParaRPr dirty="0"/>
          </a:p>
          <a:p>
            <a:pPr>
              <a:spcAft>
                <a:spcPts val="600"/>
              </a:spcAft>
            </a:pPr>
            <a:r>
              <a:rPr dirty="0"/>
              <a:t>EXAM MAPPING: Domain 1 (containers and compute); Domain 3 (deploy).</a:t>
            </a:r>
          </a:p>
          <a:p>
            <a:endParaRPr dirty="0"/>
          </a:p>
          <a:p>
            <a:pPr>
              <a:spcAft>
                <a:spcPts val="600"/>
              </a:spcAft>
            </a:pPr>
            <a:r>
              <a:rPr dirty="0"/>
              <a:t>ON DELIVERY: the SOURCE link is the published case study. Put it on screen and say plainly that this is the customer we are discussing. Tell the room these pages reward their own time afterwards -- not as exam preparation, but to see the services working together for a real customer.</a:t>
            </a:r>
          </a:p>
          <a:p>
            <a:endParaRPr dirty="0"/>
          </a:p>
          <a:p>
            <a:pPr>
              <a:spcAft>
                <a:spcPts val="600"/>
              </a:spcAft>
            </a:pPr>
            <a:r>
              <a:rPr dirty="0"/>
              <a:t>REFERENCE: https://aws.amazon.com/solutions/case-studies/bill-ecs-case-study/</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section opener for networking. Before naming a feature, agree on the question a virtual private cloud answers -- where do our resources actually live, and who can reach them. An Amazon VPC is your own logically isolated section of the AWS Cloud, a virtual network you define and control. This audience already holds Cloud Practitioner, so treat it as fast re-grounding: the VPC is the private network your compute and databases sit inside, isolated from other customers by default.</a:t>
            </a:r>
          </a:p>
          <a:p>
            <a:endParaRPr/>
          </a:p>
          <a:p>
            <a:pPr>
              <a:spcAft>
                <a:spcPts val="600"/>
              </a:spcAft>
            </a:pPr>
            <a:r>
              <a:t>EXAM RELEVANCE: Networking questions in this session are less about drawing a topology and more about which control does which job -- a VPC provides the isolated network, subnets place resources across Availability Zones, and security groups and network ACLs filter the traffic. Framing the whole block as layers of control makes the later security-group-versus-network-ACL question much easier to answer.</a:t>
            </a:r>
          </a:p>
          <a:p>
            <a:endParaRPr/>
          </a:p>
          <a:p>
            <a:pPr>
              <a:spcAft>
                <a:spcPts val="600"/>
              </a:spcAft>
            </a:pPr>
            <a:r>
              <a:t>PARTNER CONTEXT: Customers moving from on-premises often ask how AWS keeps their environment separate from everyone else's. The VPC is the honest answer, and it connects back to their existing network through a VPN or AWS Direct Connect, so it is familiar ground rather than a wholly new concept.</a:t>
            </a:r>
          </a:p>
          <a:p>
            <a:endParaRPr/>
          </a:p>
          <a:p>
            <a:pPr>
              <a:spcAft>
                <a:spcPts val="600"/>
              </a:spcAft>
            </a:pPr>
            <a:r>
              <a:t>EXAM MAPPING: Domain 2 (security); Domain 1 (development). Section divider -- no single service claim.</a:t>
            </a:r>
          </a:p>
          <a:p>
            <a:endParaRPr/>
          </a:p>
          <a:p>
            <a:pPr>
              <a:spcAft>
                <a:spcPts val="600"/>
              </a:spcAft>
            </a:pPr>
            <a:r>
              <a:t>REFERENCE: https://docs.aws.amazon.com/vpc/latest/userguide/what-is-amazon-vpc.html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containment, drawn rather than described. The outer boundary is your VPC. Inside it are two subnets, and inside each subnet is an instance. Nothing on this slide says "contains" -- the geometry says it.</a:t>
            </a:r>
          </a:p>
          <a:p>
            <a:endParaRPr/>
          </a:p>
          <a:p>
            <a:pPr>
              <a:spcAft>
                <a:spcPts val="600"/>
              </a:spcAft>
            </a:pPr>
            <a:r>
              <a:t>Point at the nesting from the outside in. The VPC is an isolated network inside one Region. A subnet is a slice of that network. An instance lives in exactly one subnet, which means it lives in exactly one VPC.</a:t>
            </a:r>
          </a:p>
          <a:p>
            <a:endParaRPr/>
          </a:p>
          <a:p>
            <a:pPr>
              <a:spcAft>
                <a:spcPts val="600"/>
              </a:spcAft>
            </a:pPr>
            <a:r>
              <a:t>The difference between the two subnets is reachability, not size. The public subnet can be reached from the internet; the private one cannot. Both are inside the same VPC and both are yours.</a:t>
            </a:r>
          </a:p>
          <a:p>
            <a:endParaRPr/>
          </a:p>
          <a:p>
            <a:pPr>
              <a:spcAft>
                <a:spcPts val="600"/>
              </a:spcAft>
            </a:pPr>
            <a:r>
              <a:t>EXAM RELEVANCE: the vocabulary is the exam-relevant part -- VPC, subnet, instance, in that order of containment. A scenario asking where a resource can be reached from is a subnet question before it is anything else.</a:t>
            </a:r>
          </a:p>
          <a:p>
            <a:endParaRPr/>
          </a:p>
          <a:p>
            <a:pPr>
              <a:spcAft>
                <a:spcPts val="600"/>
              </a:spcAft>
            </a:pPr>
            <a:r>
              <a:t>PARTNER CONTEXT: "where does my thing actually live" is the hardest question at this level, and a picture answers it faster than a paragraph. Once a customer can see the nesting, security group and route table conversations get much shorter.</a:t>
            </a:r>
          </a:p>
          <a:p>
            <a:endParaRPr/>
          </a:p>
          <a:p>
            <a:pPr>
              <a:spcAft>
                <a:spcPts val="600"/>
              </a:spcAft>
            </a:pPr>
            <a:r>
              <a:t>Verified against https://docs.aws.amazon.com/vpc/latest/userguide/what-is-amazon-vpc.html</a:t>
            </a:r>
          </a:p>
          <a:p>
            <a:endParaRPr/>
          </a:p>
          <a:p>
            <a:pPr>
              <a:spcAft>
                <a:spcPts val="600"/>
              </a:spcAft>
            </a:pPr>
            <a:r>
              <a:t>EXAM MAPPING: Domain 2 (security); Domain 1 (development).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This slide answers a question that trips people up early: does everything sit inside the VPC? Resources such as Amazon EC2 instances and databases like Amazon RDS and Amazon Redshift are launched into your VPC's subnets, so they get private addresses inside your network. Other services -- Amazon S3 and Amazon DynamoDB are the usual examples -- are regional services that live outside any single VPC and are reached over the network. The recap for a Cloud Practitioner holder is that the VPC is where your own compute and databases live, and it is also the private vantage point from which you reach the wider set of AWS services.</a:t>
            </a:r>
          </a:p>
          <a:p>
            <a:endParaRPr/>
          </a:p>
          <a:p>
            <a:pPr>
              <a:spcAft>
                <a:spcPts val="600"/>
              </a:spcAft>
            </a:pPr>
            <a:r>
              <a:t>EXAM RELEVANCE: The distinction to carry forward is between resources you place inside a subnet and services you connect to. That difference is exactly what makes VPC endpoints matter a few slides from now: they are how a VPC reaches services like S3 and DynamoDB privately rather than over the public internet. A scenario that mixes "in my VPC" resources with regional services is testing whether you know the line between the two.</a:t>
            </a:r>
          </a:p>
          <a:p>
            <a:endParaRPr/>
          </a:p>
          <a:p>
            <a:pPr>
              <a:spcAft>
                <a:spcPts val="600"/>
              </a:spcAft>
            </a:pPr>
            <a:r>
              <a:t>PARTNER CONTEXT: When a customer assumes every AWS service must be dragged inside their VPC, this is the correction that saves them effort -- the network is where their instances and databases belong, and managed regional services are reached from it, cleanly and privately when needed.</a:t>
            </a:r>
          </a:p>
          <a:p>
            <a:endParaRPr/>
          </a:p>
          <a:p>
            <a:pPr>
              <a:spcAft>
                <a:spcPts val="600"/>
              </a:spcAft>
            </a:pPr>
            <a:r>
              <a:t>EXAM MAPPING: Domain 1 (development); Domain 2 (security).</a:t>
            </a:r>
          </a:p>
          <a:p>
            <a:endParaRPr/>
          </a:p>
          <a:p>
            <a:pPr>
              <a:spcAft>
                <a:spcPts val="600"/>
              </a:spcAft>
            </a:pPr>
            <a:r>
              <a:t>REFERENCE: https://docs.aws.amazon.com/vpc/latest/userguide/what-is-amazon-vpc.html</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one picture instead of two lists. Point at the bars, not the boxes -- each bar sits on the edge it actually guards. The network ACL bar is on the subnet's edge, the security group bar is on the instance's edge, and the instance sits inside the subnet, which sits inside the VPC.</a:t>
            </a:r>
          </a:p>
          <a:p>
            <a:endParaRPr/>
          </a:p>
          <a:p>
            <a:pPr>
              <a:spcAft>
                <a:spcPts val="600"/>
              </a:spcAft>
            </a:pPr>
            <a:r>
              <a:t>Walk the arrow. Inbound traffic meets the network ACL first, because it reaches the subnet before it reaches any instance. Then it meets the security group. That order is the thing a comparison table cannot show, and it is why the two are not interchangeable.</a:t>
            </a:r>
          </a:p>
          <a:p>
            <a:endParaRPr/>
          </a:p>
          <a:p>
            <a:pPr>
              <a:spcAft>
                <a:spcPts val="600"/>
              </a:spcAft>
            </a:pPr>
            <a:r>
              <a:t>Say the two mechanical differences out loud. A security group is stateful, so return traffic for an allowed request comes back automatically and you write allow rules only. A network ACL is stateless, so the return direction needs its own rule, and it accepts deny rules as well as allow.</a:t>
            </a:r>
          </a:p>
          <a:p>
            <a:endParaRPr/>
          </a:p>
          <a:p>
            <a:pPr>
              <a:spcAft>
                <a:spcPts val="600"/>
              </a:spcAft>
            </a:pPr>
            <a:r>
              <a:t>EXAM RELEVANCE: the tested distinction is WHERE each one attaches, not what each one is called. A question describing traffic blocked for every instance in a subnet is pointing at the network ACL; one describing traffic blocked for a single instance is pointing at the security group.</a:t>
            </a:r>
          </a:p>
          <a:p>
            <a:endParaRPr/>
          </a:p>
          <a:p>
            <a:pPr>
              <a:spcAft>
                <a:spcPts val="600"/>
              </a:spcAft>
            </a:pPr>
            <a:r>
              <a:t>PARTNER CONTEXT: a customer reporting that one instance is unreachable while its neighbours are fine has a security group question. A customer reporting a whole tier unreachable has a subnet-level question. The picture tells you which layer to open first.</a:t>
            </a:r>
          </a:p>
          <a:p>
            <a:endParaRPr/>
          </a:p>
          <a:p>
            <a:pPr>
              <a:spcAft>
                <a:spcPts val="600"/>
              </a:spcAft>
            </a:pPr>
            <a:r>
              <a:t>Verified against https://docs.aws.amazon.com/vpc/latest/userguide/vpc-security-groups.html and https://docs.aws.amazon.com/vpc/latest/userguide/vpc-network-acls.html</a:t>
            </a:r>
          </a:p>
          <a:p>
            <a:endParaRPr/>
          </a:p>
          <a:p>
            <a:pPr>
              <a:spcAft>
                <a:spcPts val="600"/>
              </a:spcAft>
            </a:pPr>
            <a:r>
              <a:t>EXAM MAPPING: Domain 2 (security).</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network access control list is an optional layer of security for your VPC that acts as a firewall controlling traffic in and out of one or more subnets. Where a security group sits on the resource, a network ACL sits on the subnet boundary, so it applies to everything in that subnet. It evaluates numbered rules in order, and unlike a security group it is stateless -- return traffic is not automatically allowed, so you write rules for both directions. The recap for a Cloud Practitioner holder is that the network ACL is the perimeter firewall at the subnet edge.</a:t>
            </a:r>
          </a:p>
          <a:p>
            <a:endParaRPr/>
          </a:p>
          <a:p>
            <a:pPr>
              <a:spcAft>
                <a:spcPts val="600"/>
              </a:spcAft>
            </a:pPr>
            <a:r>
              <a:t>EXAM RELEVANCE: The contrast with the previous slide is the whole point. A network ACL is stateless and supports both allow and deny rules, evaluated in numbered order until one matches. So a scenario that needs an explicit deny -- for example blocking a specific address range -- points at a network ACL, because a security group cannot deny. Keeping stateful-versus-stateless and allow-only-versus-allow-and-deny straight answers most of these questions.</a:t>
            </a:r>
          </a:p>
          <a:p>
            <a:endParaRPr/>
          </a:p>
          <a:p>
            <a:pPr>
              <a:spcAft>
                <a:spcPts val="600"/>
              </a:spcAft>
            </a:pPr>
            <a:r>
              <a:t>PARTNER CONTEXT: When a customer wants a broad guardrail across a whole subnet, or specifically needs to block something, the network ACL is the tool, and it complements rather than replaces their security groups. Presenting the two together as resource-level and subnet-level layers keeps the conversation from turning into an either-or choice.</a:t>
            </a:r>
          </a:p>
          <a:p>
            <a:endParaRPr/>
          </a:p>
          <a:p>
            <a:pPr>
              <a:spcAft>
                <a:spcPts val="600"/>
              </a:spcAft>
            </a:pPr>
            <a:r>
              <a:t>EXAM MAPPING: Domain 2 (security).</a:t>
            </a:r>
          </a:p>
          <a:p>
            <a:endParaRPr/>
          </a:p>
          <a:p>
            <a:pPr>
              <a:spcAft>
                <a:spcPts val="600"/>
              </a:spcAft>
            </a:pPr>
            <a:r>
              <a:t>REFERENCE: https://docs.aws.amazon.com/vpc/latest/userguide/vpc-network-acls.html</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common use of a database instance in a VPC is to share data with an application server running on an EC2 instance in the same VPC. The simplest way to manage that access is to create a security group for the database and, in its inbound rule, allow the application server's security group as the source rather than a range of IP addresses. The recap for a Cloud Practitioner holder is that security groups can reference each other, so access is expressed in terms of roles -- the app tier reaches the database tier -- rather than in terms of addresses.</a:t>
            </a:r>
          </a:p>
          <a:p>
            <a:endParaRPr/>
          </a:p>
          <a:p>
            <a:pPr>
              <a:spcAft>
                <a:spcPts val="600"/>
              </a:spcAft>
            </a:pPr>
            <a:r>
              <a:t>EXAM RELEVANCE: The testable idea is referencing a security group as the source in another security group's rule. Because the rule names a group rather than an address, it keeps working as instances are added, removed, or replaced -- there is nothing to renumber. A scenario about letting an application tier reach a database tier in the same VPC, without hardcoding IP addresses, is pointing at this pattern.</a:t>
            </a:r>
          </a:p>
          <a:p>
            <a:endParaRPr/>
          </a:p>
          <a:p>
            <a:pPr>
              <a:spcAft>
                <a:spcPts val="600"/>
              </a:spcAft>
            </a:pPr>
            <a:r>
              <a:t>PARTNER CONTEXT: For a customer, referencing groups instead of addresses is what makes a tiered application maintainable -- the rule survives Auto Scaling replacing instances, which ties directly back to the scaling and load-balancing conversation earlier in this session.</a:t>
            </a:r>
          </a:p>
          <a:p>
            <a:endParaRPr/>
          </a:p>
          <a:p>
            <a:pPr>
              <a:spcAft>
                <a:spcPts val="600"/>
              </a:spcAft>
            </a:pPr>
            <a:r>
              <a:t>EXAM MAPPING: Domain 2 (security).</a:t>
            </a:r>
          </a:p>
          <a:p>
            <a:endParaRPr/>
          </a:p>
          <a:p>
            <a:pPr>
              <a:spcAft>
                <a:spcPts val="600"/>
              </a:spcAft>
            </a:pPr>
            <a:r>
              <a:t>REFERENCE: https://docs.aws.amazon.com/vpc/latest/userguide/vpc-security-groups.html</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two paths to the same destination, and the difference is whether the traffic ever leaves the AWS network. Point at the dashed box first -- that is the public internet, and it is drawn dashed because it is not a resource you own or control.</a:t>
            </a:r>
          </a:p>
          <a:p>
            <a:endParaRPr/>
          </a:p>
          <a:p>
            <a:pPr>
              <a:spcAft>
                <a:spcPts val="600"/>
              </a:spcAft>
            </a:pPr>
            <a:r>
              <a:t>Follow the upper path. It leaves the VPC, crosses the internet, and arrives at Amazon S3. The data gets there, but it has travelled somewhere you do not administer.</a:t>
            </a:r>
          </a:p>
          <a:p>
            <a:endParaRPr/>
          </a:p>
          <a:p>
            <a:pPr>
              <a:spcAft>
                <a:spcPts val="600"/>
              </a:spcAft>
            </a:pPr>
            <a:r>
              <a:t>Now the lower path. It goes through a VPC endpoint sitting on the VPC's own boundary and reaches the same service without touching the dashed box at all. That is the whole idea: same destination, private route.</a:t>
            </a:r>
          </a:p>
          <a:p>
            <a:endParaRPr/>
          </a:p>
          <a:p>
            <a:pPr>
              <a:spcAft>
                <a:spcPts val="600"/>
              </a:spcAft>
            </a:pPr>
            <a:r>
              <a:t>EXAM RELEVANCE: the tested distinction is the ROUTE, not the permission. A scenario that says traffic to an AWS service must not traverse the public internet is describing an endpoint, and it is a networking answer rather than an IAM one.</a:t>
            </a:r>
          </a:p>
          <a:p>
            <a:endParaRPr/>
          </a:p>
          <a:p>
            <a:pPr>
              <a:spcAft>
                <a:spcPts val="600"/>
              </a:spcAft>
            </a:pPr>
            <a:r>
              <a:t>PARTNER CONTEXT: a customer under a data-handling obligation often cannot accept a public path even when the traffic is encrypted, because the requirement is about the route rather than the confidentiality. The endpoint is what lets you say the traffic stayed inside.</a:t>
            </a:r>
          </a:p>
          <a:p>
            <a:endParaRPr/>
          </a:p>
          <a:p>
            <a:pPr>
              <a:spcAft>
                <a:spcPts val="600"/>
              </a:spcAft>
            </a:pPr>
            <a:r>
              <a:t>Verified against https://docs.aws.amazon.com/vpc/latest/privatelink/what-is-privatelink.html</a:t>
            </a:r>
          </a:p>
          <a:p>
            <a:endParaRPr/>
          </a:p>
          <a:p>
            <a:pPr>
              <a:spcAft>
                <a:spcPts val="600"/>
              </a:spcAft>
            </a:pPr>
            <a:r>
              <a:t>EXAM MAPPING: Domain 2 (security); forward pointer to task 2.3 (Session 5, AI service security -- skippable for the current live exam).</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section opener for DNS. Ask the room how a user's browser actually finds the application once it is deployed behind a load balancer and a scaled fleet. The answer is the Domain Name System, and on AWS that service is Amazon Route 53. It connects user requests to infrastructure running in AWS and is a highly available and scalable cloud DNS web service. This audience holds Cloud Practitioner, so this is fast re-grounding: Route 53 is the front-of-the-front-door that translates a name into the right endpoint.</a:t>
            </a:r>
          </a:p>
          <a:p>
            <a:endParaRPr/>
          </a:p>
          <a:p>
            <a:pPr>
              <a:spcAft>
                <a:spcPts val="600"/>
              </a:spcAft>
            </a:pPr>
            <a:r>
              <a:t>EXAM RELEVANCE: Route 53 shows up in scenarios about directing users to the right place -- routing by latency, by geography, or by the health of an endpoint -- and as part of high-availability designs where it fails traffic over from an unhealthy target to a healthy one. Recognizing it as the DNS layer that sits in front of load balancers and other resources is usually enough to place it correctly.</a:t>
            </a:r>
          </a:p>
          <a:p>
            <a:endParaRPr/>
          </a:p>
          <a:p>
            <a:pPr>
              <a:spcAft>
                <a:spcPts val="600"/>
              </a:spcAft>
            </a:pPr>
            <a:r>
              <a:t>PARTNER CONTEXT: For a customer, Route 53 is where global routing decisions and failover behavior are expressed, so it is the natural next conversation after load balancing and Auto Scaling -- those keep a Region healthy, and Route 53 decides which endpoint a user reaches in the first place.</a:t>
            </a:r>
          </a:p>
          <a:p>
            <a:endParaRPr/>
          </a:p>
          <a:p>
            <a:pPr>
              <a:spcAft>
                <a:spcPts val="600"/>
              </a:spcAft>
            </a:pPr>
            <a:r>
              <a:t>EXAM MAPPING: Domain 1 (development); Domain 4 (reliability and availability). Section divider -- no single service claim.</a:t>
            </a:r>
          </a:p>
          <a:p>
            <a:endParaRPr/>
          </a:p>
          <a:p>
            <a:pPr>
              <a:spcAft>
                <a:spcPts val="600"/>
              </a:spcAft>
            </a:pPr>
            <a:r>
              <a:t>REFERENCE: https://docs.aws.amazon.com/Route53/latest/DeveloperGuide/Welcome.html</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one name on the left, three possible endpoints on the right, and Route 53 choosing between them. The heavier border marks the thing doing the deciding.</a:t>
            </a:r>
          </a:p>
          <a:p>
            <a:endParaRPr/>
          </a:p>
          <a:p>
            <a:pPr>
              <a:spcAft>
                <a:spcPts val="600"/>
              </a:spcAft>
            </a:pPr>
            <a:r>
              <a:t>Say what a resolution actually returns. A client asks for your domain name and gets back an address. Which address it gets is the decision Route 53 makes, and the three cards are the candidates it can choose from.</a:t>
            </a:r>
          </a:p>
          <a:p>
            <a:endParaRPr/>
          </a:p>
          <a:p>
            <a:pPr>
              <a:spcAft>
                <a:spcPts val="600"/>
              </a:spcAft>
            </a:pPr>
            <a:r>
              <a:t>Point out that the candidates are not all the same kind of thing -- two are load balancers in different Regions, one is a CloudFront distribution. Route 53 does not care; it answers with whichever endpoint its records point at.</a:t>
            </a:r>
          </a:p>
          <a:p>
            <a:endParaRPr/>
          </a:p>
          <a:p>
            <a:pPr>
              <a:spcAft>
                <a:spcPts val="600"/>
              </a:spcAft>
            </a:pPr>
            <a:r>
              <a:t>The client only ever knows the name. That is why this sits in front of everything else: the endpoint can change without anything changing for the person typing the address.</a:t>
            </a:r>
          </a:p>
          <a:p>
            <a:endParaRPr/>
          </a:p>
          <a:p>
            <a:pPr>
              <a:spcAft>
                <a:spcPts val="600"/>
              </a:spcAft>
            </a:pPr>
            <a:r>
              <a:t>EXAM RELEVANCE: the distinction to hold is between resolving a name and balancing traffic. Route 53 answers the question "which address"; a load balancer answers "which target". A scenario spanning Regions is usually the first of those.</a:t>
            </a:r>
          </a:p>
          <a:p>
            <a:endParaRPr/>
          </a:p>
          <a:p>
            <a:pPr>
              <a:spcAft>
                <a:spcPts val="600"/>
              </a:spcAft>
            </a:pPr>
            <a:r>
              <a:t>PARTNER CONTEXT: a customer who wants to move traffic between Regions without touching client configuration is describing DNS. Being clear that the name is the stable part is what makes the rest of the design negotiable.</a:t>
            </a:r>
          </a:p>
          <a:p>
            <a:endParaRPr/>
          </a:p>
          <a:p>
            <a:pPr>
              <a:spcAft>
                <a:spcPts val="600"/>
              </a:spcAft>
            </a:pPr>
            <a:r>
              <a:t>Verified against https://docs.aws.amazon.com/Route53/latest/DeveloperGuide/Welcome.html</a:t>
            </a:r>
          </a:p>
          <a:p>
            <a:endParaRPr/>
          </a:p>
          <a:p>
            <a:pPr>
              <a:spcAft>
                <a:spcPts val="600"/>
              </a:spcAft>
            </a:pPr>
            <a:r>
              <a:t>EXAM MAPPING: Domain 1 (development); Domain 4 (reliability and availability).</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section opener for identity and access. Before any feature, agree on the question IAM answers -- who is allowed to take which action, on which resource, under which conditions. AWS Identity and Access Management is the service that lets you manage that access centrally across all of AWS. This audience already holds Cloud Practitioner, so treat it as fast re-grounding: IAM is where identities live and where permissions are granted, and it is the control plane behind almost every security decision in the cloud.</a:t>
            </a:r>
          </a:p>
          <a:p>
            <a:endParaRPr/>
          </a:p>
          <a:p>
            <a:pPr>
              <a:spcAft>
                <a:spcPts val="600"/>
              </a:spcAft>
            </a:pPr>
            <a:r>
              <a:t>EXAM RELEVANCE: Security is a large share of this exam, and most of it runs through IAM. The block ahead builds up in layers -- users and groups are the identities, roles grant temporary permissions, the Security Token Service issues the short-lived credentials, and policies express what is actually allowed. Holding that structure in mind is what makes an individual policy or role question easy rather than fiddly.</a:t>
            </a:r>
          </a:p>
          <a:p>
            <a:endParaRPr/>
          </a:p>
          <a:p>
            <a:pPr>
              <a:spcAft>
                <a:spcPts val="600"/>
              </a:spcAft>
            </a:pPr>
            <a:r>
              <a:t>PARTNER CONTEXT: Customers moving to AWS often ask how to give their teams and applications exactly the access they need and nothing more. IAM is the honest answer, and least-privilege is the principle that keeps that access tight. It is familiar ground for anyone who has managed users and permissions before, now expressed as policies.</a:t>
            </a:r>
          </a:p>
          <a:p>
            <a:endParaRPr/>
          </a:p>
          <a:p>
            <a:pPr>
              <a:spcAft>
                <a:spcPts val="600"/>
              </a:spcAft>
            </a:pPr>
            <a:r>
              <a:t>EXAM MAPPING: Domain 2 (security). Section divider -- no single service claim.</a:t>
            </a:r>
          </a:p>
          <a:p>
            <a:endParaRPr/>
          </a:p>
          <a:p>
            <a:pPr>
              <a:spcAft>
                <a:spcPts val="600"/>
              </a:spcAft>
            </a:pPr>
            <a:r>
              <a:t>REFERENCE: https://docs.aws.amazon.com/IAM/latest/UserGuide/introduction.html</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AWS Identity and Access Management provides fine-grained access control across all of AWS. With IAM you specify who -- which person or application -- can access which services and resources, and under which conditions. The mechanism that expresses all of that is the IAM policy: policies let you manage permissions for your workforce and your systems so that each identity has least-privileged access. The one-line recap for a Cloud Practitioner holder is that IAM is the front door to every AWS action, and a policy is the written rule that opens or closes it.</a:t>
            </a:r>
          </a:p>
          <a:p>
            <a:endParaRPr/>
          </a:p>
          <a:p>
            <a:pPr>
              <a:spcAft>
                <a:spcPts val="600"/>
              </a:spcAft>
            </a:pPr>
            <a:r>
              <a:t>EXAM RELEVANCE: The idea to carry is that permission questions come down to a policy attached to an identity or a resource. When a scenario asks whether an action will succeed, or how to grant only the access that is required, it is pointing at IAM and at the principle of least privilege. Recognizing the who / what / under-which-conditions shape of an IAM decision is most of the work.</a:t>
            </a:r>
          </a:p>
          <a:p>
            <a:endParaRPr/>
          </a:p>
          <a:p>
            <a:pPr>
              <a:spcAft>
                <a:spcPts val="600"/>
              </a:spcAft>
            </a:pPr>
            <a:r>
              <a:t>PARTNER CONTEXT: For a customer, IAM is where they translate their organizational structure into access -- teams, applications, and services each get exactly the permissions their job needs. Framing it as least privilege from the start avoids the far more painful conversation about over-broad access later.</a:t>
            </a:r>
          </a:p>
          <a:p>
            <a:endParaRPr/>
          </a:p>
          <a:p>
            <a:pPr>
              <a:spcAft>
                <a:spcPts val="600"/>
              </a:spcAft>
            </a:pPr>
            <a:r>
              <a:t>EXAM MAPPING: Domain 2 (security).</a:t>
            </a:r>
          </a:p>
          <a:p>
            <a:endParaRPr/>
          </a:p>
          <a:p>
            <a:pPr>
              <a:spcAft>
                <a:spcPts val="600"/>
              </a:spcAft>
            </a:pPr>
            <a:r>
              <a:t>REFERENCE: https://docs.aws.amazon.com/IAM/latest/UserGuide/introduction.html</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group holding three users, with one policy attached to the group rather than to any of them. Point at the chip on the boundary first -- its position is the whole lesson.</a:t>
            </a:r>
          </a:p>
          <a:p>
            <a:endParaRPr/>
          </a:p>
          <a:p>
            <a:pPr>
              <a:spcAft>
                <a:spcPts val="600"/>
              </a:spcAft>
            </a:pPr>
            <a:r>
              <a:t>Say what that buys you. The permissions are written once, on the group. Every user inside receives them, so adding a fourth developer is adding them to the group, not writing a fourth policy.</a:t>
            </a:r>
          </a:p>
          <a:p>
            <a:endParaRPr/>
          </a:p>
          <a:p>
            <a:pPr>
              <a:spcAft>
                <a:spcPts val="600"/>
              </a:spcAft>
            </a:pPr>
            <a:r>
              <a:t>And the reverse, which is the part that matters operationally. Removing someone's access means removing them from the group. You are not hunting through per-user permissions hoping you found all of them.</a:t>
            </a:r>
          </a:p>
          <a:p>
            <a:endParaRPr/>
          </a:p>
          <a:p>
            <a:pPr>
              <a:spcAft>
                <a:spcPts val="600"/>
              </a:spcAft>
            </a:pPr>
            <a:r>
              <a:t>Note that the users are drawn inside the group deliberately. Membership is what carries the permissions, so a user outside the boundary has none of them.</a:t>
            </a:r>
          </a:p>
          <a:p>
            <a:endParaRPr/>
          </a:p>
          <a:p>
            <a:pPr>
              <a:spcAft>
                <a:spcPts val="600"/>
              </a:spcAft>
            </a:pPr>
            <a:r>
              <a:t>EXAM RELEVANCE: the tested idea is that policies attach to the group and users inherit through membership. A scenario about granting the same access to several people points at a group rather than at repeated per-user grants.</a:t>
            </a:r>
          </a:p>
          <a:p>
            <a:endParaRPr/>
          </a:p>
          <a:p>
            <a:pPr>
              <a:spcAft>
                <a:spcPts val="600"/>
              </a:spcAft>
            </a:pPr>
            <a:r>
              <a:t>PARTNER CONTEXT: a customer managing permissions user by user will eventually have a leaver whose access was missed. Groups turn that from a search problem into a membership change.</a:t>
            </a:r>
          </a:p>
          <a:p>
            <a:endParaRPr/>
          </a:p>
          <a:p>
            <a:pPr>
              <a:spcAft>
                <a:spcPts val="600"/>
              </a:spcAft>
            </a:pPr>
            <a:r>
              <a:t>Verified against https://docs.aws.amazon.com/IAM/latest/UserGuide/id_groups.html</a:t>
            </a:r>
          </a:p>
          <a:p>
            <a:endParaRPr/>
          </a:p>
          <a:p>
            <a:pPr>
              <a:spcAft>
                <a:spcPts val="600"/>
              </a:spcAft>
            </a:pPr>
            <a:r>
              <a:t>EXAM MAPPING: Domain 2 (security).</a:t>
            </a:r>
          </a:p>
          <a:p>
            <a:endParaRPr/>
          </a:p>
          <a:p>
            <a:pPr>
              <a:spcAft>
                <a:spcPts val="600"/>
              </a:spcAft>
            </a:pPr>
            <a:r>
              <a:t>REFERENCE: https://docs.aws.amazon.com/IAM/latest/UserGuide/id.html</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An IAM role has the same makeup as an IAM user -- it carries permissions -- but with one crucial difference: a role has no long-term credentials associated with it. Instead, a principal (a user, a service, or an authenticated identity) assumes the role and inherits its permissions for a limited time. Roles cover four common scenarios: one AWS service accessing another, one AWS account accessing another, a third-party web identity such as Google or Amazon Cognito needing access, and authentication through SAML 2.0 federation. The recap for a Cloud Practitioner holder is that a role is a set of permissions you step into temporarily, rather than an identity you log in as.</a:t>
            </a:r>
          </a:p>
          <a:p>
            <a:endParaRPr/>
          </a:p>
          <a:p>
            <a:pPr>
              <a:spcAft>
                <a:spcPts val="600"/>
              </a:spcAft>
            </a:pPr>
            <a:r>
              <a:t>EXAM RELEVANCE: The idea to hold is temporary access with no stored keys. A scenario where an EC2 instance or a Lambda function needs to call another AWS service, or where access must be granted across accounts or to a federated identity, is pointing at a role rather than a user. The absence of long-term credentials is the property that makes roles the secure choice.</a:t>
            </a:r>
          </a:p>
          <a:p>
            <a:endParaRPr/>
          </a:p>
          <a:p>
            <a:pPr>
              <a:spcAft>
                <a:spcPts val="600"/>
              </a:spcAft>
            </a:pPr>
            <a:r>
              <a:t>PARTNER CONTEXT: For a customer, roles are how an application gets AWS permissions without anyone embedding an access key in code -- the workload assumes a role and receives short-lived credentials automatically. That is usually the single biggest security improvement available to a team still using static keys.</a:t>
            </a:r>
          </a:p>
          <a:p>
            <a:endParaRPr/>
          </a:p>
          <a:p>
            <a:pPr>
              <a:spcAft>
                <a:spcPts val="600"/>
              </a:spcAft>
            </a:pPr>
            <a:r>
              <a:t>EXAM MAPPING: Domain 2 (security); Domain 1 (development).</a:t>
            </a:r>
          </a:p>
          <a:p>
            <a:endParaRPr/>
          </a:p>
          <a:p>
            <a:pPr>
              <a:spcAft>
                <a:spcPts val="600"/>
              </a:spcAft>
            </a:pPr>
            <a:r>
              <a:t>REFERENCE: https://docs.aws.amazon.com/IAM/latest/UserGuide/id_roles.html</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an exchange between two parties, read top to bottom, so the ORDER is visible in a way a description cannot make it. Your application is on the left, AWS STS on the right, and time runs downward.</a:t>
            </a:r>
          </a:p>
          <a:p>
            <a:endParaRPr/>
          </a:p>
          <a:p>
            <a:pPr>
              <a:spcAft>
                <a:spcPts val="600"/>
              </a:spcAft>
            </a:pPr>
            <a:r>
              <a:t>Walk the three steps. The application asks to assume a role. STS returns credentials that are short-lived. The application then calls the service using those credentials -- not using anything long-lived it was holding beforehand.</a:t>
            </a:r>
          </a:p>
          <a:p>
            <a:endParaRPr/>
          </a:p>
          <a:p>
            <a:pPr>
              <a:spcAft>
                <a:spcPts val="600"/>
              </a:spcAft>
            </a:pPr>
            <a:r>
              <a:t>The line at the bottom is the point of the whole pattern. The credentials expire on their own, so there is nothing to rotate and nothing to leak permanently. That is the difference from a long-term key.</a:t>
            </a:r>
          </a:p>
          <a:p>
            <a:endParaRPr/>
          </a:p>
          <a:p>
            <a:pPr>
              <a:spcAft>
                <a:spcPts val="600"/>
              </a:spcAft>
            </a:pPr>
            <a:r>
              <a:t>Notice the application carries a generic icon, not a service icon. It is your code -- the only AWS resource in this exchange is STS itself.</a:t>
            </a:r>
          </a:p>
          <a:p>
            <a:endParaRPr/>
          </a:p>
          <a:p>
            <a:pPr>
              <a:spcAft>
                <a:spcPts val="600"/>
              </a:spcAft>
            </a:pPr>
            <a:r>
              <a:t>EXAM RELEVANCE: the sequence is what gets tested. A scenario describing code that needs access without embedded credentials is describing a role and this exchange.</a:t>
            </a:r>
          </a:p>
          <a:p>
            <a:endParaRPr/>
          </a:p>
          <a:p>
            <a:pPr>
              <a:spcAft>
                <a:spcPts val="600"/>
              </a:spcAft>
            </a:pPr>
            <a:r>
              <a:t>PARTNER CONTEXT: a customer with access keys in a configuration file has a problem they usually cannot see. This picture is often enough to show why a role is not extra work but less of it.</a:t>
            </a:r>
          </a:p>
          <a:p>
            <a:endParaRPr/>
          </a:p>
          <a:p>
            <a:pPr>
              <a:spcAft>
                <a:spcPts val="600"/>
              </a:spcAft>
            </a:pPr>
            <a:r>
              <a:t>Verified against https://docs.aws.amazon.com/IAM/latest/UserGuide/id_credentials_temp.html</a:t>
            </a:r>
          </a:p>
          <a:p>
            <a:endParaRPr/>
          </a:p>
          <a:p>
            <a:pPr>
              <a:spcAft>
                <a:spcPts val="600"/>
              </a:spcAft>
            </a:pPr>
            <a:r>
              <a:t>EXAM MAPPING: Domain 2 (security).</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There are two vantage points for a policy. An identity-based policy is attached to a user, group, or role and describes what that identity is permitted to do. A resource-based policy is attached to the resource -- an S3 bucket is the classic example -- and describes who, meaning which principal, is allowed to access that resource. The principals a resource-based policy can name include accounts, IAM users, federated users, IAM roles, assumed-role sessions, and AWS services. The recap for a Cloud Practitioner holder is that the same permission can be expressed from the identity's side or the resource's side, and knowing which side you are reading is half of interpreting a policy.</a:t>
            </a:r>
          </a:p>
          <a:p>
            <a:endParaRPr/>
          </a:p>
          <a:p>
            <a:pPr>
              <a:spcAft>
                <a:spcPts val="600"/>
              </a:spcAft>
            </a:pPr>
            <a:r>
              <a:t>EXAM RELEVANCE: This distinction matters most in cross-account access, which is very commonly set up with an S3 bucket policy naming a principal in another account. A scenario that grants access from the resource's perspective, or that mixes an identity policy with a bucket policy, is testing whether you can tell the two apart. You do not need to author these policies for the exam, but you must be able to interpret them.</a:t>
            </a:r>
          </a:p>
          <a:p>
            <a:endParaRPr/>
          </a:p>
          <a:p>
            <a:pPr>
              <a:spcAft>
                <a:spcPts val="600"/>
              </a:spcAft>
            </a:pPr>
            <a:r>
              <a:t>PARTNER CONTEXT: For a customer, the resource-based policy is often the cleanest way to share a specific bucket or queue with another account or service without minting new identities. Reading both sides correctly is what keeps a sharing arrangement secure rather than accidentally open.</a:t>
            </a:r>
          </a:p>
          <a:p>
            <a:endParaRPr/>
          </a:p>
          <a:p>
            <a:pPr>
              <a:spcAft>
                <a:spcPts val="600"/>
              </a:spcAft>
            </a:pPr>
            <a:r>
              <a:t>EXAM MAPPING: Domain 2 (security).</a:t>
            </a:r>
          </a:p>
          <a:p>
            <a:endParaRPr/>
          </a:p>
          <a:p>
            <a:pPr>
              <a:spcAft>
                <a:spcPts val="600"/>
              </a:spcAft>
            </a:pPr>
            <a:r>
              <a:t>REFERENCE: https://docs.aws.amazon.com/IAM/latest/UserGuide/access_policies.html</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policy is easiest to read one element at a time. The Effect is either Allow or Deny. The Action lists the API calls the statement covers. The Resource names the Amazon Resource Names the statement applies to. The optional Condition narrows when the statement takes effect. To interpret a policy, you take a specific request -- this principal, this action, this resource -- and check it against the statement's elements to see whether it matches. The recap for a Cloud Practitioner holder is that a policy is not a wall of syntax to memorize; it is four familiar questions asked in order.</a:t>
            </a:r>
          </a:p>
          <a:p>
            <a:endParaRPr/>
          </a:p>
          <a:p>
            <a:pPr>
              <a:spcAft>
                <a:spcPts val="600"/>
              </a:spcAft>
            </a:pPr>
            <a:r>
              <a:t>EXAM RELEVANCE: Expect to be handed a policy and asked what it allows or denies. Working element by element -- effect, then action, then resource, then any condition -- turns that from a guessing game into a checklist. The exam tests interpretation rather than authoring, so speed comes from reading the structure fluently, not from remembering exact strings.</a:t>
            </a:r>
          </a:p>
          <a:p>
            <a:endParaRPr/>
          </a:p>
          <a:p>
            <a:pPr>
              <a:spcAft>
                <a:spcPts val="600"/>
              </a:spcAft>
            </a:pPr>
            <a:r>
              <a:t>PARTNER CONTEXT: For a customer, the same element-by-element habit is what makes a policy review productive -- everyone in the room can walk the effect, actions, resources, and conditions together and agree on what a statement actually grants before it ships.</a:t>
            </a:r>
          </a:p>
          <a:p>
            <a:endParaRPr/>
          </a:p>
          <a:p>
            <a:pPr>
              <a:spcAft>
                <a:spcPts val="600"/>
              </a:spcAft>
            </a:pPr>
            <a:r>
              <a:t>EXAM MAPPING: Domain 2 (security).</a:t>
            </a:r>
          </a:p>
          <a:p>
            <a:endParaRPr/>
          </a:p>
          <a:p>
            <a:pPr>
              <a:spcAft>
                <a:spcPts val="600"/>
              </a:spcAft>
            </a:pPr>
            <a:r>
              <a:t>REFERENCE: https://docs.aws.amazon.com/IAM/latest/UserGuide/access_policies.html</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condition can compare tags rather than list resources by name. This is attribute-based access control: you write a policy whose condition tests the tags on the resource and the tags on the principal making the request, and access is granted only when they match. In the worked example, an EC2 instance must carry the tag Project set to DataAnalytics, and in addition the IAM principal -- the user or role making the request -- must carry the tag Department set to Data. The recap for a Cloud Practitioner holder is that conditions let a single policy say "match on these attributes" instead of enumerating every resource.</a:t>
            </a:r>
          </a:p>
          <a:p>
            <a:endParaRPr/>
          </a:p>
          <a:p>
            <a:pPr>
              <a:spcAft>
                <a:spcPts val="600"/>
              </a:spcAft>
            </a:pPr>
            <a:r>
              <a:t>EXAM RELEVANCE: The testable idea is that one attribute-based policy can cover many resources, because it grants by tag rather than by explicit name. A scenario where access should follow a project or team tag, or where you want a policy that keeps working as new resources are created, is pointing at attribute-based access control and the Condition element. Watch for the requirement that BOTH the resource and the principal carry the matching tag.</a:t>
            </a:r>
          </a:p>
          <a:p>
            <a:endParaRPr/>
          </a:p>
          <a:p>
            <a:pPr>
              <a:spcAft>
                <a:spcPts val="600"/>
              </a:spcAft>
            </a:pPr>
            <a:r>
              <a:t>PARTNER CONTEXT: For a customer with many resources and teams, attribute-based access control is what keeps the number of policies from exploding -- they tag resources and identities consistently, and one policy expresses the rule for all of them. It scales far better than writing a new policy for each new resource.</a:t>
            </a:r>
          </a:p>
          <a:p>
            <a:endParaRPr/>
          </a:p>
          <a:p>
            <a:pPr>
              <a:spcAft>
                <a:spcPts val="600"/>
              </a:spcAft>
            </a:pPr>
            <a:r>
              <a:t>EXAM MAPPING: Domain 2 (security).</a:t>
            </a:r>
          </a:p>
          <a:p>
            <a:endParaRPr/>
          </a:p>
          <a:p>
            <a:pPr>
              <a:spcAft>
                <a:spcPts val="600"/>
              </a:spcAft>
            </a:pPr>
            <a:r>
              <a:t>REFERENCE: https://docs.aws.amazon.com/IAM/latest/UserGuide/introduction_attribute-based-access-control.html</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This is a worked troubleshooting example that ties the whole IAM block to a real symptom. The situation: your VPC Flow Logs records are incomplete or are no longer being published, and there appears to be a problem delivering them to the CloudWatch Logs log group. The most common cause is an access error -- the IAM role for your flow log does not have sufficient permission to publish flow log records to the destination. A second cause is rate limiting: if the record rate for a network interface is higher than allowed in a given timeframe, publication is throttled. The recap for a Cloud Practitioner holder is that a delivery failure like this is usually an IAM permissions problem before it is anything exotic.</a:t>
            </a:r>
          </a:p>
          <a:p>
            <a:endParaRPr/>
          </a:p>
          <a:p>
            <a:pPr>
              <a:spcAft>
                <a:spcPts val="600"/>
              </a:spcAft>
            </a:pPr>
            <a:r>
              <a:t>EXAM RELEVANCE: The pattern to recognize is that a service acting on your behalf -- here, flow logs writing to CloudWatch Logs -- needs a role with permission to do so, and a missing or insufficient permission shows up as data that never arrives. A scenario describing logs or records that stop appearing is often pointing at the delivery role's permissions rather than at the source service being broken.</a:t>
            </a:r>
          </a:p>
          <a:p>
            <a:endParaRPr/>
          </a:p>
          <a:p>
            <a:pPr>
              <a:spcAft>
                <a:spcPts val="600"/>
              </a:spcAft>
            </a:pPr>
            <a:r>
              <a:t>PARTNER CONTEXT: For a customer, this is the everyday face of least privilege -- the fix is to grant the flow log role exactly the permission it needs to publish, no more. It is a good closing example because it connects roles, permissions, and a concrete operational outcome the customer can see in their own account.</a:t>
            </a:r>
          </a:p>
          <a:p>
            <a:endParaRPr/>
          </a:p>
          <a:p>
            <a:pPr>
              <a:spcAft>
                <a:spcPts val="600"/>
              </a:spcAft>
            </a:pPr>
            <a:r>
              <a:t>EXAM MAPPING: Domain 2 (security); Domain 4 (monitoring and troubleshooting).</a:t>
            </a:r>
          </a:p>
          <a:p>
            <a:endParaRPr/>
          </a:p>
          <a:p>
            <a:pPr>
              <a:spcAft>
                <a:spcPts val="600"/>
              </a:spcAft>
            </a:pPr>
            <a:r>
              <a:t>REFERENCE: https://docs.aws.amazon.com/vpc/latest/userguide/flow-logs.html</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FACILITATOR: The pivot from content review into the exam-strategy half of the session. Reset the room's mode: the goal now is not to learn new services but to practice reading a question and choosing well under time.</a:t>
            </a:r>
          </a:p>
          <a:p>
            <a:endParaRPr/>
          </a:p>
          <a:p>
            <a:pPr>
              <a:spcAft>
                <a:spcPts val="600"/>
              </a:spcAft>
            </a:pPr>
            <a:r>
              <a:t>Explain the rhythm of what follows -- read the question, find the key phrases, reveal the answer, then talk through why the right choice wins and why the others do not.</a:t>
            </a:r>
          </a:p>
          <a:p>
            <a:endParaRPr/>
          </a:p>
          <a:p>
            <a:pPr>
              <a:spcAft>
                <a:spcPts val="600"/>
              </a:spcAft>
            </a:pPr>
            <a:r>
              <a:t>Encourage people to commit to an answer before the reveal; the practice is worth far more when they have made a choice first.</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put question 1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1: Development with AWS Services. Difficulty: Medium. Watch the room: if most people have answered by 90 seconds, move on; if they are still reading, give another 20 seconds rather than rushing the discussion that follows.</a:t>
            </a:r>
          </a:p>
          <a:p>
            <a:endParaRPr/>
          </a:p>
          <a:p>
            <a:pPr>
              <a:spcAft>
                <a:spcPts val="600"/>
              </a:spcAft>
            </a:pPr>
            <a:r>
              <a:t>PARTNER CONTEXT: A customer scaling a stateful web app hits this the moment a second instance appears and sessions start dropping. Moving session state to a shared in-memory store is the fix you propose before it becomes an outage, not after.</a:t>
            </a:r>
          </a:p>
          <a:p>
            <a:endParaRPr/>
          </a:p>
          <a:p>
            <a:pPr>
              <a:spcAft>
                <a:spcPts val="600"/>
              </a:spcAft>
            </a:pPr>
            <a:r>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“maintains session state across all instances with the LEAST latency”, and it tells you: A shared external store optimized for speed points to an in-memory cache.</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1: Development with AWS Services. Difficulty: Medium. Ask the room which words they underlined before you show them the tell, so they practise finding it rather than being handed it.</a:t>
            </a:r>
          </a:p>
          <a:p>
            <a:endParaRPr/>
          </a:p>
          <a:p>
            <a:pPr>
              <a:spcAft>
                <a:spcPts val="600"/>
              </a:spcAft>
            </a:pPr>
            <a:r>
              <a:t>PARTNER CONTEXT: A customer scaling a stateful web app hits this the moment a second instance appears and sessions start dropping. Moving session state to a shared in-memory store is the fix you propose before it becomes an outage, not after.</a:t>
            </a:r>
          </a:p>
          <a:p>
            <a:endParaRPr/>
          </a:p>
          <a:p>
            <a:pPr>
              <a:spcAft>
                <a:spcPts val="600"/>
              </a:spcAft>
            </a:pPr>
            <a:r>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ANSWER OVERVIEW: the answer is B. An in-memory store all instances share, at submillisecond latency.</a:t>
            </a:r>
          </a:p>
          <a:p>
            <a:endParaRPr/>
          </a:p>
          <a:p>
            <a:pPr>
              <a:spcAft>
                <a:spcPts val="600"/>
              </a:spcAft>
            </a:pPr>
            <a:r>
              <a:t>A. Store session data in an Amazon DynamoDB table. Configure the application to read and write session data to DynamoDB. — Incorrect — DynamoDB can store session data durably. However, DynamoDB has higher read latency compared to an in-memory data store. For session management where latency is critical, an in-memory store is more appropriate.</a:t>
            </a:r>
          </a:p>
          <a:p>
            <a:endParaRPr/>
          </a:p>
          <a:p>
            <a:pPr>
              <a:spcAft>
                <a:spcPts val="600"/>
              </a:spcAft>
            </a:pPr>
            <a:r>
              <a:t>B. Store session data in Amazon ElastiCache. Configure the application to read and write session data to the ElastiCache cluster. — Correct — ElastiCache provides an in-memory data store that enables sub-millisecond latency for session data. All instances can access the shared session store. This decouples session state from individual instances and provides the lowest latency option for session management.</a:t>
            </a:r>
          </a:p>
          <a:p>
            <a:endParaRPr/>
          </a:p>
          <a:p>
            <a:pPr>
              <a:spcAft>
                <a:spcPts val="600"/>
              </a:spcAft>
            </a:pPr>
            <a:r>
              <a:t>C. Enable sticky sessions on the ALB target group. Configure the session cookie duration to match the application timeout. — Incorrect — Sticky sessions bind a user to a specific instance. This does not maintain state across instances. If the bound instance becomes unhealthy or is terminated during scaling events, the session is still lost. This approach does not meet the requirement to maintain session state across all instances.</a:t>
            </a:r>
          </a:p>
          <a:p>
            <a:endParaRPr/>
          </a:p>
          <a:p>
            <a:pPr>
              <a:spcAft>
                <a:spcPts val="600"/>
              </a:spcAft>
            </a:pPr>
            <a:r>
              <a:t>D. Store session data in an Amazon S3 bucket. Configure the application to read and write session data to S3 on each request. — Incorrect — Amazon S3 is a durable object store but has higher latency compared to an in-memory data store. S3 is not designed for frequent small read/write operations typical of session management. The per-request latency would not meet the requirement for least latency.</a:t>
            </a:r>
          </a:p>
          <a:p>
            <a:endParaRPr/>
          </a:p>
          <a:p>
            <a:pPr>
              <a:spcAft>
                <a:spcPts val="600"/>
              </a:spcAft>
            </a:pPr>
            <a:r>
              <a:t>EXAM RELEVANCE: Domain 1: Development with AWS Services. Difficulty: Medium.</a:t>
            </a:r>
          </a:p>
          <a:p>
            <a:endParaRPr/>
          </a:p>
          <a:p>
            <a:pPr>
              <a:spcAft>
                <a:spcPts val="600"/>
              </a:spcAft>
            </a:pPr>
            <a:r>
              <a:t>SOURCE: https://docs.aws.amazon.com/AmazonElastiCache/latest/dg/elasticache-use-cases.html</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elimination, made visible. B wins because an in-memory store all instances share, at submillisecond latency. The other three are ruled out for one reason each: A — DynamoDB is shared and durable, but slower than memory; C — Sticky sessions still lose state when an instance fails; D — S3 per request adds the most latency of any option. Read the tell strip aloud -- pairing a phrase with what it signals is the transferable skill, not memorizing the service name.</a:t>
            </a:r>
          </a:p>
          <a:p>
            <a:endParaRPr/>
          </a:p>
          <a:p>
            <a:pPr>
              <a:spcAft>
                <a:spcPts val="600"/>
              </a:spcAft>
            </a:pPr>
            <a:r>
              <a:t>EXAM RELEVANCE: Domain 1: Development with AWS Services. Difficulty: Medium. The pattern to teach: a scenario question rarely offers three absurd options. It offers one that matches the requirement exactly and others that match a nearby requirement. Here the discriminator is “maintains session state across all instances with the LEAST latency”, which points at A shared external store optimized for speed points to an in-memory cache. Encourage the room to name the phrase before naming the service.</a:t>
            </a:r>
          </a:p>
          <a:p>
            <a:endParaRPr/>
          </a:p>
          <a:p>
            <a:pPr>
              <a:spcAft>
                <a:spcPts val="600"/>
              </a:spcAft>
            </a:pPr>
            <a:r>
              <a:t>PARTNER CONTEXT: A customer scaling a stateful web app hits this the moment a second instance appears and sessions start dropping. Moving session state to a shared in-memory store is the fix you propose before it becomes an outage, not after.</a:t>
            </a:r>
          </a:p>
          <a:p>
            <a:endParaRPr/>
          </a:p>
          <a:p>
            <a:pPr>
              <a:spcAft>
                <a:spcPts val="600"/>
              </a:spcAft>
            </a:pPr>
            <a:r>
              <a:t>SOURCE: https://docs.aws.amazon.com/AmazonElastiCache/latest/dg/elasticache-use-cases.html</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put question 2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1: Development with AWS Services. Difficulty: Medium. Watch the room: if most people have answered by 90 seconds, move on; if they are still reading, give another 20 seconds rather than rushing the discussion that follows.</a:t>
            </a:r>
          </a:p>
          <a:p>
            <a:endParaRPr/>
          </a:p>
          <a:p>
            <a:pPr>
              <a:spcAft>
                <a:spcPts val="600"/>
              </a:spcAft>
            </a:pPr>
            <a:r>
              <a:t>PARTNER CONTEXT: A customer breaking a monolith into microservices may need to show their security team that internal calls never leave the VPC. An internal Application Load Balancer resolves only to private addresses, so each service reaches its peers through a private DNS name and no public endpoint is involved.</a:t>
            </a:r>
          </a:p>
          <a:p>
            <a:endParaRPr/>
          </a:p>
          <a:p>
            <a:pPr>
              <a:spcAft>
                <a:spcPts val="600"/>
              </a:spcAft>
            </a:pPr>
            <a:r>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“stay inside the VPC and never traverse the public internet”, and it tells you: “inside the VPC” rules out anything internet-facing and points to an internal load balancer sitting in the private subnets.</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1: Development with AWS Services. Difficulty: Medium. Ask the room which words they underlined before you show them the tell, so they practise finding it rather than being handed it.</a:t>
            </a:r>
          </a:p>
          <a:p>
            <a:endParaRPr/>
          </a:p>
          <a:p>
            <a:pPr>
              <a:spcAft>
                <a:spcPts val="600"/>
              </a:spcAft>
            </a:pPr>
            <a:r>
              <a:t>PARTNER CONTEXT: A customer breaking a monolith into microservices may need to show their security team that internal calls never leave the VPC. An internal Application Load Balancer resolves only to private addresses, so each service reaches its peers through a private DNS name and no public endpoint is involved.</a:t>
            </a:r>
          </a:p>
          <a:p>
            <a:endParaRPr/>
          </a:p>
          <a:p>
            <a:pPr>
              <a:spcAft>
                <a:spcPts val="600"/>
              </a:spcAft>
            </a:pPr>
            <a:r>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ANSWER OVERVIEW: the answer is C. Tasks in private subnets behind an internal Application Load Balancer keep the traffic inside the VPC.</a:t>
            </a:r>
          </a:p>
          <a:p>
            <a:endParaRPr/>
          </a:p>
          <a:p>
            <a:pPr>
              <a:spcAft>
                <a:spcPts val="600"/>
              </a:spcAft>
            </a:pPr>
            <a:r>
              <a:t>A. Deploy the tasks in public subnets with public IP addresses, and restrict the security groups to the service ports. — Incorrect — Assigning public IP addresses places the task network interfaces in a public subnet, so traffic between the services leaves through the internet gateway. Security groups restrict which sources may connect, but they do not keep the traffic inside the VPC.</a:t>
            </a:r>
          </a:p>
          <a:p>
            <a:endParaRPr/>
          </a:p>
          <a:p>
            <a:pPr>
              <a:spcAft>
                <a:spcPts val="600"/>
              </a:spcAft>
            </a:pPr>
            <a:r>
              <a:t>B. Deploy the tasks in private subnets, and place an internet-facing Application Load Balancer in the public subnets. — Incorrect — An internet-facing load balancer is created in public subnets and resolves to public IP addresses, so a call from one service to another would leave the VPC and come back through the internet gateway. The tasks are private but the path between them is not.</a:t>
            </a:r>
          </a:p>
          <a:p>
            <a:endParaRPr/>
          </a:p>
          <a:p>
            <a:pPr>
              <a:spcAft>
                <a:spcPts val="600"/>
              </a:spcAft>
            </a:pPr>
            <a:r>
              <a:t>C. Deploy the tasks in private subnets, and place an internal Application Load Balancer in the same private subnets. — Correct — An internal Application Load Balancer resolves only to private IP addresses, so it can be reached solely from inside the VPC. With the tasks in private subnets using awsvpc network mode, each service calls the internal load balancer's private DNS name and the traffic never leaves the VPC, which satisfies the security review.</a:t>
            </a:r>
          </a:p>
          <a:p>
            <a:endParaRPr/>
          </a:p>
          <a:p>
            <a:pPr>
              <a:spcAft>
                <a:spcPts val="600"/>
              </a:spcAft>
            </a:pPr>
            <a:r>
              <a:t>D. Deploy the tasks in public subnets, and route the traffic between the services through a NAT gateway. — Incorrect — A NAT gateway provides outbound internet access for resources in private subnets and cannot accept inbound connections, so it cannot carry traffic from one service to another. Tasks in public subnets do not send traffic through a NAT gateway either.</a:t>
            </a:r>
          </a:p>
          <a:p>
            <a:endParaRPr/>
          </a:p>
          <a:p>
            <a:pPr>
              <a:spcAft>
                <a:spcPts val="600"/>
              </a:spcAft>
            </a:pPr>
            <a:r>
              <a:t>EXAM RELEVANCE: Domain 1: Development with AWS Services. Difficulty: Medium.</a:t>
            </a:r>
          </a:p>
          <a:p>
            <a:endParaRPr/>
          </a:p>
          <a:p>
            <a:pPr>
              <a:spcAft>
                <a:spcPts val="600"/>
              </a:spcAft>
            </a:pPr>
            <a:r>
              <a:t>SOURCE: https://docs.aws.amazon.com/elasticloadbalancing/latest/application/application-load-balancers.html</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elimination, made visible. C wins because an internal load balancer resolves only to private addresses, so the call never leaves the VPC. The other three are ruled out for one reason each: A — Public IPs put the task traffic on the public internet; B — An internet-facing load balancer resolves to public IPs; D — A NAT gateway is outbound only, not service to service. Read the tell strip aloud -- pairing a phrase with what it signals is the transferable skill, not memorizing the service name.</a:t>
            </a:r>
          </a:p>
          <a:p>
            <a:endParaRPr/>
          </a:p>
          <a:p>
            <a:pPr>
              <a:spcAft>
                <a:spcPts val="600"/>
              </a:spcAft>
            </a:pPr>
            <a:r>
              <a:t>EXAM RELEVANCE: Domain 1: Development with AWS Services. Difficulty: Medium. The pattern to teach: a scenario question rarely offers three absurd options. It offers one that matches the requirement exactly and others that match a nearby requirement. Here the discriminator is “stay inside the VPC and never traverse the public internet”, and the word that does the work is “internal” -- an internet-facing load balancer is still a load balancer, and still wrong. Encourage the room to name the phrase before naming the service.</a:t>
            </a:r>
          </a:p>
          <a:p>
            <a:endParaRPr/>
          </a:p>
          <a:p>
            <a:pPr>
              <a:spcAft>
                <a:spcPts val="600"/>
              </a:spcAft>
            </a:pPr>
            <a:r>
              <a:t>PARTNER CONTEXT: A customer breaking a monolith into microservices may need to show their security team that internal calls never leave the VPC. An internal Application Load Balancer resolves only to private addresses, so each service reaches its peers through a private DNS name and no public endpoint is involved.</a:t>
            </a:r>
          </a:p>
          <a:p>
            <a:endParaRPr/>
          </a:p>
          <a:p>
            <a:pPr>
              <a:spcAft>
                <a:spcPts val="600"/>
              </a:spcAft>
            </a:pPr>
            <a:r>
              <a:t>SOURCE: https://docs.aws.amazon.com/elasticloadbalancing/latest/application/application-load-balancers.html</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put question 3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2: Security. Difficulty: Easy. Watch the room: if most people have answered by 90 seconds, move on; if they are still reading, give another 20 seconds rather than rushing the discussion that follows.</a:t>
            </a:r>
          </a:p>
          <a:p>
            <a:endParaRPr/>
          </a:p>
          <a:p>
            <a:pPr>
              <a:spcAft>
                <a:spcPts val="600"/>
              </a:spcAft>
            </a:pPr>
            <a:r>
              <a:t>PARTNER CONTEXT: Customers reach for an IAM user with static keys out of habit. The value you add is showing that an instance-profile role removes the credential to manage entirely, and can be narrowed to just the two ARNs the microservice actually touches.</a:t>
            </a:r>
          </a:p>
          <a:p>
            <a:endParaRPr/>
          </a:p>
          <a:p>
            <a:pPr>
              <a:spcAft>
                <a:spcPts val="600"/>
              </a:spcAft>
            </a:pPr>
            <a:r>
              <a:t>EXAM MAPPING: Domain 2: Security.</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“must follow the principle of least privilege”, and it tells you: Least privilege means only these actions on these exact resources.</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2: Security. Difficulty: Easy. Ask the room which words they underlined before you show them the tell, so they practise finding it rather than being handed it.</a:t>
            </a:r>
          </a:p>
          <a:p>
            <a:endParaRPr/>
          </a:p>
          <a:p>
            <a:pPr>
              <a:spcAft>
                <a:spcPts val="600"/>
              </a:spcAft>
            </a:pPr>
            <a:r>
              <a:t>PARTNER CONTEXT: Customers reach for an IAM user with static keys out of habit. The value you add is showing that an instance-profile role removes the credential to manage entirely, and can be narrowed to just the two ARNs the microservice actually touches.</a:t>
            </a:r>
          </a:p>
          <a:p>
            <a:endParaRPr/>
          </a:p>
          <a:p>
            <a:pPr>
              <a:spcAft>
                <a:spcPts val="600"/>
              </a:spcAft>
            </a:pPr>
            <a:r>
              <a:t>EXAM MAPPING: Domain 2: Security.</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ANSWER OVERVIEW: the answer is B. A role scoped to the exact bucket and queue ARNs, via an instance profile.</a:t>
            </a:r>
          </a:p>
          <a:p>
            <a:endParaRPr/>
          </a:p>
          <a:p>
            <a:pPr>
              <a:spcAft>
                <a:spcPts val="600"/>
              </a:spcAft>
            </a:pPr>
            <a:r>
              <a:t>A. Create an IAM user with an access key and secret key. Attach policies that allow s3:GetObject and sqs:SendMessage. Store the credentials in the application configuration file. — Incorrect — Storing long-term credentials in application configuration files is a security risk. If the file is compromised or accidentally committed to source control, the credentials are exposed. IAM roles with instance profiles are the recommended approach for EC2-based applications.</a:t>
            </a:r>
          </a:p>
          <a:p>
            <a:endParaRPr/>
          </a:p>
          <a:p>
            <a:pPr>
              <a:spcAft>
                <a:spcPts val="600"/>
              </a:spcAft>
            </a:pPr>
            <a:r>
              <a:t>B. Create an IAM role with a policy that allows s3:GetObject on the specific bucket ARN and sqs:SendMessage on the specific queue ARN. Attach the role to the EC2 instance profile. — Correct — An IAM role attached to an instance profile provides temporary credentials that are automatically rotated. Scoping the policy to specific resource ARNs follows least privilege. The application can use the AWS SDK to assume the role credentials without storing long-term keys.</a:t>
            </a:r>
          </a:p>
          <a:p>
            <a:endParaRPr/>
          </a:p>
          <a:p>
            <a:pPr>
              <a:spcAft>
                <a:spcPts val="600"/>
              </a:spcAft>
            </a:pPr>
            <a:r>
              <a:t>C. Create an IAM role with the AmazonS3FullAccess and AmazonSQSFullAccess managed policies. Attach the role to the EC2 instance profile. — Incorrect — Using FullAccess managed policies grants permissions far beyond what the microservice needs. This violates the principle of least privilege. The microservice only needs s3:GetObject and sqs:SendMessage on specific resources, not full access to all S3 and SQS operations across the account.</a:t>
            </a:r>
          </a:p>
          <a:p>
            <a:endParaRPr/>
          </a:p>
          <a:p>
            <a:pPr>
              <a:spcAft>
                <a:spcPts val="600"/>
              </a:spcAft>
            </a:pPr>
            <a:r>
              <a:t>D. Create an IAM role with a policy that allows s3:* and sqs:* actions. Add a condition key to restrict access to the current AWS Region only. — Incorrect — Allowing all S3 and SQS actions (s3:* and sqs:*) is overly permissive even with a Region restriction. Least privilege requires specifying only the exact actions needed (s3:GetObject and sqs:SendMessage) and scoping to specific resource ARNs.</a:t>
            </a:r>
          </a:p>
          <a:p>
            <a:endParaRPr/>
          </a:p>
          <a:p>
            <a:pPr>
              <a:spcAft>
                <a:spcPts val="600"/>
              </a:spcAft>
            </a:pPr>
            <a:r>
              <a:t>EXAM RELEVANCE: Domain 2: Security. Difficulty: Easy.</a:t>
            </a:r>
          </a:p>
          <a:p>
            <a:endParaRPr/>
          </a:p>
          <a:p>
            <a:pPr>
              <a:spcAft>
                <a:spcPts val="600"/>
              </a:spcAft>
            </a:pPr>
            <a:r>
              <a:t>SOURCE: https://docs.aws.amazon.com/IAM/latest/UserGuide/id_roles_use_switch-role-ec2.html</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elimination, made visible. B wins because a role scoped to the exact bucket and queue ARNs, via an instance profile. The other three are ruled out for one reason each: A — Long-lived access keys in a file are not least privilege; C — Full-access managed policies grant far more than needed; D — Wildcards on every action stay over-broad despite the Region. Read the tell strip aloud -- pairing a phrase with what it signals is the transferable skill, not memorizing the service name.</a:t>
            </a:r>
          </a:p>
          <a:p>
            <a:endParaRPr/>
          </a:p>
          <a:p>
            <a:pPr>
              <a:spcAft>
                <a:spcPts val="600"/>
              </a:spcAft>
            </a:pPr>
            <a:r>
              <a:t>EXAM RELEVANCE: Domain 2: Security. Difficulty: Easy. The pattern to teach: a scenario question rarely offers three absurd options. It offers one that matches the requirement exactly and others that match a nearby requirement. Here the discriminator is “must follow the principle of least privilege”, which points at Least privilege means only these actions on these exact resources. Encourage the room to name the phrase before naming the service.</a:t>
            </a:r>
          </a:p>
          <a:p>
            <a:endParaRPr/>
          </a:p>
          <a:p>
            <a:pPr>
              <a:spcAft>
                <a:spcPts val="600"/>
              </a:spcAft>
            </a:pPr>
            <a:r>
              <a:t>PARTNER CONTEXT: Customers reach for an IAM user with static keys out of habit. The value you add is showing that an instance-profile role removes the credential to manage entirely, and can be narrowed to just the two ARNs the microservice actually touches.</a:t>
            </a:r>
          </a:p>
          <a:p>
            <a:endParaRPr/>
          </a:p>
          <a:p>
            <a:pPr>
              <a:spcAft>
                <a:spcPts val="600"/>
              </a:spcAft>
            </a:pPr>
            <a:r>
              <a:t>SOURCE: https://docs.aws.amazon.com/IAM/latest/UserGuide/id_roles_use_switch-role-ec2.html</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put question 4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1: Development with AWS Services. Difficulty: Medium. Watch the room: if most people have answered by 90 seconds, move on; if they are still reading, give another 20 seconds rather than rushing the discussion that follows.</a:t>
            </a:r>
          </a:p>
          <a:p>
            <a:endParaRPr/>
          </a:p>
          <a:p>
            <a:pPr>
              <a:spcAft>
                <a:spcPts val="600"/>
              </a:spcAft>
            </a:pPr>
            <a:r>
              <a:t>PARTNER CONTEXT: When a customer's scale-out keeps thrashing, the fix is rarely more capacity. It is telling Auto Scaling how long the application takes to warm up, so a healthy instance is not killed mid-boot and replaced by another that dies the same way.</a:t>
            </a:r>
          </a:p>
          <a:p>
            <a:endParaRPr/>
          </a:p>
          <a:p>
            <a:pPr>
              <a:spcAft>
                <a:spcPts val="600"/>
              </a:spcAft>
            </a:pPr>
            <a:r>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“terminate them before initialization completes”, and it tells you: Give an instance time to warm up before health checks count → grace period.</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1: Development with AWS Services. Difficulty: Medium. Ask the room which words they underlined before you show them the tell, so they practise finding it rather than being handed it.</a:t>
            </a:r>
          </a:p>
          <a:p>
            <a:endParaRPr/>
          </a:p>
          <a:p>
            <a:pPr>
              <a:spcAft>
                <a:spcPts val="600"/>
              </a:spcAft>
            </a:pPr>
            <a:r>
              <a:t>PARTNER CONTEXT: When a customer's scale-out keeps thrashing, the fix is rarely more capacity. It is telling Auto Scaling how long the application takes to warm up, so a healthy instance is not killed mid-boot and replaced by another that dies the same way.</a:t>
            </a:r>
          </a:p>
          <a:p>
            <a:endParaRPr/>
          </a:p>
          <a:p>
            <a:pPr>
              <a:spcAft>
                <a:spcPts val="600"/>
              </a:spcAft>
            </a:pPr>
            <a:r>
              <a:t>EXAM MAPPING: Domain 1: Development with AWS Services.</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ANSWER OVERVIEW: the answer is B. A grace period longer than start-up lets checks wait before counting.</a:t>
            </a:r>
          </a:p>
          <a:p>
            <a:endParaRPr/>
          </a:p>
          <a:p>
            <a:pPr>
              <a:spcAft>
                <a:spcPts val="600"/>
              </a:spcAft>
            </a:pPr>
            <a:r>
              <a:t>A. Increase the ALB health check interval to 5 minutes. — Incorrect — Increasing the health check interval changes how often the ALB checks instance health. However, the instance could still fail multiple consecutive checks during the 3-minute initialization period and be deregistered. The health check interval alone does not account for initialization time.</a:t>
            </a:r>
          </a:p>
          <a:p>
            <a:endParaRPr/>
          </a:p>
          <a:p>
            <a:pPr>
              <a:spcAft>
                <a:spcPts val="600"/>
              </a:spcAft>
            </a:pPr>
            <a:r>
              <a:t>B. Configure a health check grace period on the Auto Scaling group that exceeds the application initialization time. — Correct — The health check grace period tells Auto Scaling to wait a specified duration before checking the health status of a newly launched instance. Setting this value to longer than the 3-minute initialization time prevents Auto Scaling from terminating instances that are still starting up. During the grace period, the instance is not terminated regardless of health check status.</a:t>
            </a:r>
          </a:p>
          <a:p>
            <a:endParaRPr/>
          </a:p>
          <a:p>
            <a:pPr>
              <a:spcAft>
                <a:spcPts val="600"/>
              </a:spcAft>
            </a:pPr>
            <a:r>
              <a:t>C. Set the deregistration delay on the target group to 5 minutes. — Incorrect — The deregistration delay controls how long the load balancer waits before completing deregistration of an instance being removed. It applies to instances being removed from the target group, not instances being added. This setting does not prevent premature termination during initialization.</a:t>
            </a:r>
          </a:p>
          <a:p>
            <a:endParaRPr/>
          </a:p>
          <a:p>
            <a:pPr>
              <a:spcAft>
                <a:spcPts val="600"/>
              </a:spcAft>
            </a:pPr>
            <a:r>
              <a:t>D. Add a lifecycle hook to the Auto Scaling group that pauses the instance in a Pending:Wait state indefinitely. — Incorrect — A lifecycle hook can pause an instance before it enters service. However, configuring it to wait indefinitely requires manual intervention to complete the lifecycle action. This does not automatically transition the instance to InService after initialization and creates operational overhead.</a:t>
            </a:r>
          </a:p>
          <a:p>
            <a:endParaRPr/>
          </a:p>
          <a:p>
            <a:pPr>
              <a:spcAft>
                <a:spcPts val="600"/>
              </a:spcAft>
            </a:pPr>
            <a:r>
              <a:t>EXAM RELEVANCE: Domain 1: Development with AWS Services. Difficulty: Medium.</a:t>
            </a:r>
          </a:p>
          <a:p>
            <a:endParaRPr/>
          </a:p>
          <a:p>
            <a:pPr>
              <a:spcAft>
                <a:spcPts val="600"/>
              </a:spcAft>
            </a:pPr>
            <a:r>
              <a:t>SOURCE: https://docs.aws.amazon.com/autoscaling/ec2/userguide/health-checks-overview.html</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elimination, made visible. B wins because a grace period longer than start-up lets checks wait before counting. The other three are ruled out for one reason each: A — A longer check interval slows detection; checks still start too early; C — Deregistration delay drains connections, it does not delay checks; D — An indefinite Pending:Wait pause stops instances ever serving. Read the tell strip aloud -- pairing a phrase with what it signals is the transferable skill, not memorizing the service name.</a:t>
            </a:r>
          </a:p>
          <a:p>
            <a:endParaRPr/>
          </a:p>
          <a:p>
            <a:pPr>
              <a:spcAft>
                <a:spcPts val="600"/>
              </a:spcAft>
            </a:pPr>
            <a:r>
              <a:t>EXAM RELEVANCE: Domain 1: Development with AWS Services. Difficulty: Medium. The pattern to teach: a scenario question rarely offers three absurd options. It offers one that matches the requirement exactly and others that match a nearby requirement. Here the discriminator is “terminate them before initialization completes”, which points at Give an instance time to warm up before health checks count → grace period. Encourage the room to name the phrase before naming the service.</a:t>
            </a:r>
          </a:p>
          <a:p>
            <a:endParaRPr/>
          </a:p>
          <a:p>
            <a:pPr>
              <a:spcAft>
                <a:spcPts val="600"/>
              </a:spcAft>
            </a:pPr>
            <a:r>
              <a:t>PARTNER CONTEXT: When a customer's scale-out keeps thrashing, the fix is rarely more capacity. It is telling Auto Scaling how long the application takes to warm up, so a healthy instance is not killed mid-boot and replaced by another that dies the same way.</a:t>
            </a:r>
          </a:p>
          <a:p>
            <a:endParaRPr/>
          </a:p>
          <a:p>
            <a:pPr>
              <a:spcAft>
                <a:spcPts val="600"/>
              </a:spcAft>
            </a:pPr>
            <a:r>
              <a:t>SOURCE: https://docs.aws.amazon.com/autoscaling/ec2/userguide/health-checks-overview.html</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put question 5 on screen and give the room about 90 seconds to read it in silence and commit to an answer before anyone speaks aloud. That is close to the pace the exam demands, so this rehearses timing as much as content.</a:t>
            </a:r>
          </a:p>
          <a:p>
            <a:endParaRPr/>
          </a:p>
          <a:p>
            <a:pPr>
              <a:spcAft>
                <a:spcPts val="600"/>
              </a:spcAft>
            </a:pPr>
            <a:r>
              <a:t>Do not reveal or hint at the answer on this beat. The silent read is what makes the key-phrases beat and the reveal land -- if you talk through it now, both lose their effect.</a:t>
            </a:r>
          </a:p>
          <a:p>
            <a:endParaRPr/>
          </a:p>
          <a:p>
            <a:pPr>
              <a:spcAft>
                <a:spcPts val="600"/>
              </a:spcAft>
            </a:pPr>
            <a:r>
              <a:t>EXAM RELEVANCE: Domain 4: Troubleshooting and Optimization. Difficulty: Medium. Watch the room: if most people have answered by 90 seconds, move on; if they are still reading, give another 20 seconds rather than rushing the discussion that follows.</a:t>
            </a:r>
          </a:p>
          <a:p>
            <a:endParaRPr/>
          </a:p>
          <a:p>
            <a:pPr>
              <a:spcAft>
                <a:spcPts val="600"/>
              </a:spcAft>
            </a:pPr>
            <a:r>
              <a:t>PARTNER CONTEXT: A customer reporting “the site is down for our Frankfurt office” needs the problem localized before anyone touches code. Regional health checks tell you quickly whether the endpoint is even reachable from there, separating a network or DNS problem from a backend one.</a:t>
            </a:r>
          </a:p>
          <a:p>
            <a:endParaRPr/>
          </a:p>
          <a:p>
            <a:pPr>
              <a:spcAft>
                <a:spcPts val="600"/>
              </a:spcAft>
            </a:pPr>
            <a:r>
              <a:t>EXAM MAPPING: Domain 4: Troubleshooting and Optimization.</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KEY PHRASES: walk the question, do not answer it yet. The phrase that decides it is “determine whether ... DNS resolution, network connectivity, or the application”, and it tells you: Testing reachability from many Regions points to Route 53 health checks.</a:t>
            </a:r>
          </a:p>
          <a:p>
            <a:endParaRPr/>
          </a:p>
          <a:p>
            <a:pPr>
              <a:spcAft>
                <a:spcPts val="600"/>
              </a:spcAft>
            </a:pPr>
            <a:r>
              <a:t>WHAT'S HERE: the same question with the timer removed. This beat teaches HOW to read a scenario question -- find the requirement, then find the words that separate options that all look plausible on a first pass.</a:t>
            </a:r>
          </a:p>
          <a:p>
            <a:endParaRPr/>
          </a:p>
          <a:p>
            <a:pPr>
              <a:spcAft>
                <a:spcPts val="600"/>
              </a:spcAft>
            </a:pPr>
            <a:r>
              <a:t>EXAM RELEVANCE: Domain 4: Troubleshooting and Optimization. Difficulty: Medium. Ask the room which words they underlined before you show them the tell, so they practise finding it rather than being handed it.</a:t>
            </a:r>
          </a:p>
          <a:p>
            <a:endParaRPr/>
          </a:p>
          <a:p>
            <a:pPr>
              <a:spcAft>
                <a:spcPts val="600"/>
              </a:spcAft>
            </a:pPr>
            <a:r>
              <a:t>PARTNER CONTEXT: A customer reporting “the site is down for our Frankfurt office” needs the problem localized before anyone touches code. Regional health checks tell you quickly whether the endpoint is even reachable from there, separating a network or DNS problem from a backend one.</a:t>
            </a:r>
          </a:p>
          <a:p>
            <a:endParaRPr/>
          </a:p>
          <a:p>
            <a:pPr>
              <a:spcAft>
                <a:spcPts val="600"/>
              </a:spcAft>
            </a:pPr>
            <a:r>
              <a:t>EXAM MAPPING: Domain 4: Troubleshooting and Optimization.</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ANSWER OVERVIEW: the answer is C. Route 53 health checks isolate endpoint reachability by Region.</a:t>
            </a:r>
          </a:p>
          <a:p>
            <a:endParaRPr/>
          </a:p>
          <a:p>
            <a:pPr>
              <a:spcAft>
                <a:spcPts val="600"/>
              </a:spcAft>
            </a:pPr>
            <a:r>
              <a:t>A. Use Amazon CloudWatch Logs Insights to query API Gateway access logs for the affected Region. — Incorrect — CloudWatch Logs Insights can analyze API Gateway logs. However, this only shows requests that successfully reached API Gateway. It cannot identify DNS resolution failures or network connectivity issues that prevent requests from reaching the API.</a:t>
            </a:r>
          </a:p>
          <a:p>
            <a:endParaRPr/>
          </a:p>
          <a:p>
            <a:pPr>
              <a:spcAft>
                <a:spcPts val="600"/>
              </a:spcAft>
            </a:pPr>
            <a:r>
              <a:t>B. Use AWS X-Ray to trace requests from CloudFront through API Gateway. — Incorrect — X-Ray traces requests within the application after they reach AWS services. X-Ray cannot diagnose DNS resolution failures or network connectivity issues between end users and AWS edge locations. It only traces requests that successfully reach instrumented services.</a:t>
            </a:r>
          </a:p>
          <a:p>
            <a:endParaRPr/>
          </a:p>
          <a:p>
            <a:pPr>
              <a:spcAft>
                <a:spcPts val="600"/>
              </a:spcAft>
            </a:pPr>
            <a:r>
              <a:t>C. Use Route 53 health checks to monitor the endpoint and analyze the health check results by Region. — Correct — Route 53 health checks monitor endpoints from multiple geographic locations. The health check results show which regions experience failures and can distinguish between DNS, TCP connection, and HTTP response issues. This provides visibility into whether the problem is DNS resolution, network connectivity, or the application itself.</a:t>
            </a:r>
          </a:p>
          <a:p>
            <a:endParaRPr/>
          </a:p>
          <a:p>
            <a:pPr>
              <a:spcAft>
                <a:spcPts val="600"/>
              </a:spcAft>
            </a:pPr>
            <a:r>
              <a:t>D. Use AWS CloudTrail to review API calls made to Route 53 and CloudFront. — Incorrect — CloudTrail records AWS API management calls (such as creating or modifying resources). It does not record end-user data plane requests like DNS queries or content delivery. CloudTrail cannot diagnose connectivity issues experienced by end users.</a:t>
            </a:r>
          </a:p>
          <a:p>
            <a:endParaRPr/>
          </a:p>
          <a:p>
            <a:pPr>
              <a:spcAft>
                <a:spcPts val="600"/>
              </a:spcAft>
            </a:pPr>
            <a:r>
              <a:t>EXAM RELEVANCE: Domain 4: Troubleshooting and Optimization. Difficulty: Medium.</a:t>
            </a:r>
          </a:p>
          <a:p>
            <a:endParaRPr/>
          </a:p>
          <a:p>
            <a:pPr>
              <a:spcAft>
                <a:spcPts val="600"/>
              </a:spcAft>
            </a:pPr>
            <a:r>
              <a:t>SOURCE: https://docs.aws.amazon.com/Route53/latest/DeveloperGuide/dns-failover.html</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the elimination, made visible. C wins because route 53 health checks isolate endpoint reachability by Region. The other three are ruled out for one reason each: A — Logs Insights shows backend logs only, not DNS or the network; B — X-Ray traces the backend path, not regional reachability; D — CloudTrail records API calls, not live connectivity. Read the tell strip aloud -- pairing a phrase with what it signals is the transferable skill, not memorizing the service name.</a:t>
            </a:r>
          </a:p>
          <a:p>
            <a:endParaRPr/>
          </a:p>
          <a:p>
            <a:pPr>
              <a:spcAft>
                <a:spcPts val="600"/>
              </a:spcAft>
            </a:pPr>
            <a:r>
              <a:t>EXAM RELEVANCE: Domain 4: Troubleshooting and Optimization. Difficulty: Medium. The pattern to teach: a scenario question rarely offers three absurd options. It offers one that matches the requirement exactly and others that match a nearby requirement. Here the discriminator is “determine whether ... DNS resolution, network connectivity, or the application”, which points at Testing reachability from many Regions points to Route 53 health checks. Encourage the room to name the phrase before naming the service.</a:t>
            </a:r>
          </a:p>
          <a:p>
            <a:endParaRPr/>
          </a:p>
          <a:p>
            <a:pPr>
              <a:spcAft>
                <a:spcPts val="600"/>
              </a:spcAft>
            </a:pPr>
            <a:r>
              <a:t>PARTNER CONTEXT: A customer reporting “the site is down for our Frankfurt office” needs the problem localized before anyone touches code. Regional health checks tell you quickly whether the endpoint is even reachable from there, separating a network or DNS problem from a backend one.</a:t>
            </a:r>
          </a:p>
          <a:p>
            <a:endParaRPr/>
          </a:p>
          <a:p>
            <a:pPr>
              <a:spcAft>
                <a:spcPts val="600"/>
              </a:spcAft>
            </a:pPr>
            <a:r>
              <a:t>SOURCE: https://docs.aws.amazon.com/Route53/latest/DeveloperGuide/dns-failover.html</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WHAT'S HERE: A preview of next week's training so people can get a head start whenever they are ready. The left card is the free Learning Plan; the right is the optional Exam Prep Plan.</a:t>
            </a:r>
          </a:p>
          <a:p>
            <a:endParaRPr/>
          </a:p>
          <a:p>
            <a:pPr>
              <a:spcAft>
                <a:spcPts val="600"/>
              </a:spcAft>
            </a:pPr>
            <a:r>
              <a:t>FACILITATOR: Keep this light -- it is a look ahead, not an assignment for today. Note that week two shifts toward databases and the serverless mindset, which builds directly on this week's compute and networking foundations.</a:t>
            </a:r>
          </a:p>
          <a:p>
            <a:endParaRPr/>
          </a:p>
          <a:p>
            <a:pPr>
              <a:spcAft>
                <a:spcPts val="600"/>
              </a:spcAft>
            </a:pPr>
            <a:r>
              <a:t>Encourage anyone who is ahead to start early, and reassure anyone still catching up on week one that the sessions build gradually.</a:t>
            </a:r>
          </a:p>
          <a:p>
            <a:endParaRPr/>
          </a:p>
          <a:p>
            <a:pPr>
              <a:spcAft>
                <a:spcPts val="600"/>
              </a:spcAft>
            </a:pPr>
            <a:r>
              <a:t>Note: the "Domain 2" item names are the actual Exam Prep Plan module names in Skill Builder, so learners can locate them; they are navigation, not exam-coverage claims.</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FACILITATOR: Open the floor. Invite questions on anything from this week's services to study logistics and exam scheduling.</a:t>
            </a:r>
          </a:p>
          <a:p>
            <a:endParaRPr/>
          </a:p>
          <a:p>
            <a:pPr>
              <a:spcAft>
                <a:spcPts val="600"/>
              </a:spcAft>
            </a:pPr>
            <a:r>
              <a:t>If the room is quiet, prime it with a question of your own -- ask which service felt least clear this week, or how people are finding the practice questions.</a:t>
            </a:r>
          </a:p>
          <a:p>
            <a:endParaRPr/>
          </a:p>
          <a:p>
            <a:pPr>
              <a:spcAft>
                <a:spcPts val="600"/>
              </a:spcAft>
            </a:pPr>
            <a:r>
              <a:t>Keep answers short and point to the relevant documentation or the exam prep resources where a deeper follow-up is warranted.</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FACILITATOR: Close warmly. Thank the room for their time and their engagement, and remind them of the two things that keep momentum: finish this week's training and make a start on next week's preview.</a:t>
            </a:r>
          </a:p>
          <a:p>
            <a:endParaRPr/>
          </a:p>
          <a:p>
            <a:pPr>
              <a:spcAft>
                <a:spcPts val="600"/>
              </a:spcAft>
            </a:pPr>
            <a:r>
              <a:t>Restate when the next session is and encourage anyone who has not yet scheduled their exam to plan a target date.</a:t>
            </a:r>
          </a:p>
          <a:p>
            <a:endParaRPr/>
          </a:p>
          <a:p>
            <a:pPr>
              <a:spcAft>
                <a:spcPts val="600"/>
              </a:spcAft>
            </a:pPr>
            <a:r>
              <a:t>End on encouragement -- they are building real, job-relevant skills, and steady weekly progress is what gets them exam-ready.</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APPENDIX: divider. This block is self-study reference for anyone who plans to sit DVA-C02 rather than C03. It is not taught in the session -- point the room at it and move on. The three appendix slides sit together at the end of the deck by design.</a:t>
            </a:r>
          </a:p>
          <a:p>
            <a:endParaRPr/>
          </a:p>
          <a:p>
            <a:pPr>
              <a:spcAft>
                <a:spcPts val="600"/>
              </a:spcAft>
            </a:pPr>
            <a:r>
              <a:t>WHAT'S HERE: The session decks are built for DVA-C03. This appendix collects what a C02 candidate needs that the C03 body does not spell out: how the exam guide's weightings shifted, what C03 added for this week's topics, and which main-body slides a C02 candidate can skip.</a:t>
            </a:r>
          </a:p>
          <a:p>
            <a:endParaRPr/>
          </a:p>
          <a:p>
            <a:pPr>
              <a:spcAft>
                <a:spcPts val="600"/>
              </a:spcAft>
            </a:pPr>
            <a:r>
              <a:t>EXAM RELEVANCE: DVA-C02 is the live exam today; DVA-C03 is the version this course trains toward. The two overlap heavily in Session 1's foundational material, so most of the deck serves both.</a:t>
            </a:r>
          </a:p>
          <a:p>
            <a:endParaRPr/>
          </a:p>
          <a:p>
            <a:pPr>
              <a:spcAft>
                <a:spcPts val="600"/>
              </a:spcAft>
            </a:pPr>
            <a:r>
              <a:t>REFERENCE: The C02 figures come from the DVA-C02 exam guide; the C03 figures come from the September 2026 certification updates blog. Both are linked from the delta slides that follow. EXAM MAPPING: DVA-C02 to DVA-C03 comparison.</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t>APPENDIX: week-1 delta table. Walk the left column first: the four domain weightings barely move between C02 and C03. Development eases from 32% to 30%, Security holds at 26%, Testing and Deployment eases from 24% to 22%, and Troubleshooting and Optimization rises from 18% to 22% -- the largest single shift.</a:t>
            </a:r>
          </a:p>
          <a:p>
            <a:endParaRPr/>
          </a:p>
          <a:p>
            <a:pPr>
              <a:spcAft>
                <a:spcPts val="600"/>
              </a:spcAft>
            </a:pPr>
            <a:r>
              <a:t>WHAT'S HERE: Domain 3 is also renamed -- C02 called it Deployment, C03 calls it Testing and Deployment. The right column is this week's only documented content change: AWS Fargate joins the in-scope service list at C03. Amazon ECR, Amazon ECS and Amazon EKS were already in scope for C02, so only the Fargate slide is new ground.</a:t>
            </a:r>
          </a:p>
          <a:p>
            <a:endParaRPr/>
          </a:p>
          <a:p>
            <a:pPr>
              <a:spcAft>
                <a:spcPts val="600"/>
              </a:spcAft>
            </a:pPr>
            <a:r>
              <a:t>EXAM RELEVANCE: Week 1 is the lightest delta of the five sessions. The foundational compute, networking, and identity arc is effectively unchanged between the two exam versions, so a C02 candidate can follow almost all of Session 1 as-is.</a:t>
            </a:r>
          </a:p>
          <a:p>
            <a:endParaRPr/>
          </a:p>
          <a:p>
            <a:pPr>
              <a:spcAft>
                <a:spcPts val="600"/>
              </a:spcAft>
            </a:pPr>
            <a:r>
              <a:t>REFERENCE: C02 weightings and domains are from the DVA-C02 exam guide at docs.aws.amazon.com/aws-certification/latest/developer-associate-02/; the C03 figures and the AWS Fargate addition are from the September 2026 certification updates blog linked on this slide. EXAM MAPPING: Domain 1 through Domain 4 weightings, plus the C03 AWS Fargate addition.</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600"/>
              </a:spcAft>
            </a:pPr>
            <a:r>
              <a:rPr dirty="0"/>
              <a:t>APPENDIX: C02 reference. For a candidate sitting C02 rather than C03, this slide covers the Session 1 body. The left column names the one slide built for C03: the AWS Fargate slide. Amazon ECR, Amazon ECS and Amazon EKS are all in the published C02 in-scope list, so a C02 candidate studies those; only the Fargate slide can be skipped.</a:t>
            </a:r>
          </a:p>
          <a:p>
            <a:endParaRPr dirty="0"/>
          </a:p>
          <a:p>
            <a:pPr>
              <a:spcAft>
                <a:spcPts val="600"/>
              </a:spcAft>
            </a:pPr>
            <a:r>
              <a:rPr dirty="0"/>
              <a:t>WHAT'S HERE: The right column is the reassuring one. Nothing taught in Session 1 is needed only for C02, so a C02 candidate can follow the session as-is apart from the Fargate slide.</a:t>
            </a:r>
          </a:p>
          <a:p>
            <a:endParaRPr dirty="0"/>
          </a:p>
          <a:p>
            <a:pPr>
              <a:spcAft>
                <a:spcPts val="600"/>
              </a:spcAft>
            </a:pPr>
            <a:r>
              <a:rPr dirty="0"/>
              <a:t>EXAM RELEVANCE: One service a C02 candidate does need, AWS AppSync, is in the published DVA-C02 in-scope list and is taught in Sessions 3 and 5 rather than here.</a:t>
            </a:r>
          </a:p>
          <a:p>
            <a:endParaRPr dirty="0"/>
          </a:p>
          <a:p>
            <a:pPr>
              <a:spcAft>
                <a:spcPts val="600"/>
              </a:spcAft>
            </a:pPr>
            <a:r>
              <a:rPr dirty="0"/>
              <a:t>REFERENCE: Grounded in the public DVA-C02 exam guide and the September 2026 certification updates blog. EXAM MAPPING: DVA-C02 versus DVA-C03 scope for Session 1.</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DECE4897-D006-04E8-2681-7867EB4BFAE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1" name="Subtitle 2">
            <a:extLst>
              <a:ext uri="{FF2B5EF4-FFF2-40B4-BE49-F238E27FC236}">
                <a16:creationId xmlns:a16="http://schemas.microsoft.com/office/drawing/2014/main" id="{017B680B-B713-4DE0-ECDB-C55919E29177}"/>
              </a:ext>
            </a:extLst>
          </p:cNvPr>
          <p:cNvSpPr>
            <a:spLocks noGrp="1"/>
          </p:cNvSpPr>
          <p:nvPr>
            <p:ph type="subTitle" idx="1" hasCustomPrompt="1"/>
          </p:nvPr>
        </p:nvSpPr>
        <p:spPr>
          <a:xfrm>
            <a:off x="444858" y="2580462"/>
            <a:ext cx="8274329" cy="258532"/>
          </a:xfrm>
        </p:spPr>
        <p:txBody>
          <a:bodyPr/>
          <a:lstStyle>
            <a:lvl1pPr marL="0" indent="0" algn="l">
              <a:buNone/>
              <a:defRPr sz="1200" b="1" cap="all" spc="300" baseline="0">
                <a:solidFill>
                  <a:schemeClr val="bg1"/>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Episode Number</a:t>
            </a:r>
          </a:p>
        </p:txBody>
      </p:sp>
      <p:sp>
        <p:nvSpPr>
          <p:cNvPr id="32" name="Title 7">
            <a:extLst>
              <a:ext uri="{FF2B5EF4-FFF2-40B4-BE49-F238E27FC236}">
                <a16:creationId xmlns:a16="http://schemas.microsoft.com/office/drawing/2014/main" id="{726B64B0-D96B-3DF8-6454-63BF2A121926}"/>
              </a:ext>
            </a:extLst>
          </p:cNvPr>
          <p:cNvSpPr>
            <a:spLocks noGrp="1"/>
          </p:cNvSpPr>
          <p:nvPr>
            <p:ph type="title" hasCustomPrompt="1"/>
          </p:nvPr>
        </p:nvSpPr>
        <p:spPr>
          <a:xfrm>
            <a:off x="444858" y="2838994"/>
            <a:ext cx="8274329" cy="1018123"/>
          </a:xfrm>
        </p:spPr>
        <p:txBody>
          <a:bodyPr tIns="146304" bIns="146304"/>
          <a:lstStyle>
            <a:lvl1pPr>
              <a:defRPr sz="4400">
                <a:solidFill>
                  <a:schemeClr val="bg1"/>
                </a:solidFill>
              </a:defRPr>
            </a:lvl1pPr>
          </a:lstStyle>
          <a:p>
            <a:r>
              <a:rPr lang="en-US" dirty="0"/>
              <a:t>Episode Title</a:t>
            </a:r>
          </a:p>
        </p:txBody>
      </p:sp>
      <p:sp>
        <p:nvSpPr>
          <p:cNvPr id="33" name="Text Placeholder 11">
            <a:extLst>
              <a:ext uri="{FF2B5EF4-FFF2-40B4-BE49-F238E27FC236}">
                <a16:creationId xmlns:a16="http://schemas.microsoft.com/office/drawing/2014/main" id="{07A5623B-633C-9CC5-4899-4613B3CBE79D}"/>
              </a:ext>
            </a:extLst>
          </p:cNvPr>
          <p:cNvSpPr>
            <a:spLocks noGrp="1"/>
          </p:cNvSpPr>
          <p:nvPr>
            <p:ph type="body" sz="quarter" idx="10" hasCustomPrompt="1"/>
          </p:nvPr>
        </p:nvSpPr>
        <p:spPr>
          <a:xfrm>
            <a:off x="1836487" y="4414358"/>
            <a:ext cx="2100871"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4" name="Text Placeholder 13">
            <a:extLst>
              <a:ext uri="{FF2B5EF4-FFF2-40B4-BE49-F238E27FC236}">
                <a16:creationId xmlns:a16="http://schemas.microsoft.com/office/drawing/2014/main" id="{1DC750B3-F3E1-D955-C00F-73CB87616E13}"/>
              </a:ext>
            </a:extLst>
          </p:cNvPr>
          <p:cNvSpPr>
            <a:spLocks noGrp="1"/>
          </p:cNvSpPr>
          <p:nvPr>
            <p:ph type="body" sz="quarter" idx="11" hasCustomPrompt="1"/>
          </p:nvPr>
        </p:nvSpPr>
        <p:spPr>
          <a:xfrm>
            <a:off x="444858" y="1873037"/>
            <a:ext cx="3492500" cy="23586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35" name="Text Placeholder 15">
            <a:extLst>
              <a:ext uri="{FF2B5EF4-FFF2-40B4-BE49-F238E27FC236}">
                <a16:creationId xmlns:a16="http://schemas.microsoft.com/office/drawing/2014/main" id="{DBDA1516-F788-DC01-7A21-C9D9451A0D77}"/>
              </a:ext>
            </a:extLst>
          </p:cNvPr>
          <p:cNvSpPr>
            <a:spLocks noGrp="1"/>
          </p:cNvSpPr>
          <p:nvPr>
            <p:ph type="body" sz="quarter" idx="12" hasCustomPrompt="1"/>
          </p:nvPr>
        </p:nvSpPr>
        <p:spPr>
          <a:xfrm>
            <a:off x="1836487" y="4788420"/>
            <a:ext cx="2100871"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6" name="Text Placeholder 11">
            <a:extLst>
              <a:ext uri="{FF2B5EF4-FFF2-40B4-BE49-F238E27FC236}">
                <a16:creationId xmlns:a16="http://schemas.microsoft.com/office/drawing/2014/main" id="{32F75F50-675B-63CD-A721-0046941BC384}"/>
              </a:ext>
            </a:extLst>
          </p:cNvPr>
          <p:cNvSpPr>
            <a:spLocks noGrp="1"/>
          </p:cNvSpPr>
          <p:nvPr>
            <p:ph type="body" sz="quarter" idx="13" hasCustomPrompt="1"/>
          </p:nvPr>
        </p:nvSpPr>
        <p:spPr>
          <a:xfrm>
            <a:off x="5437961" y="4416281"/>
            <a:ext cx="1888206"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7" name="Text Placeholder 15">
            <a:extLst>
              <a:ext uri="{FF2B5EF4-FFF2-40B4-BE49-F238E27FC236}">
                <a16:creationId xmlns:a16="http://schemas.microsoft.com/office/drawing/2014/main" id="{E627A98F-EE39-F4E2-6584-2735E36FB110}"/>
              </a:ext>
            </a:extLst>
          </p:cNvPr>
          <p:cNvSpPr>
            <a:spLocks noGrp="1"/>
          </p:cNvSpPr>
          <p:nvPr>
            <p:ph type="body" sz="quarter" idx="14" hasCustomPrompt="1"/>
          </p:nvPr>
        </p:nvSpPr>
        <p:spPr>
          <a:xfrm>
            <a:off x="5437961" y="4790343"/>
            <a:ext cx="1888206"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38" name="Text Placeholder 11">
            <a:extLst>
              <a:ext uri="{FF2B5EF4-FFF2-40B4-BE49-F238E27FC236}">
                <a16:creationId xmlns:a16="http://schemas.microsoft.com/office/drawing/2014/main" id="{7045F368-B0CB-CED2-AE2D-42268048BBE2}"/>
              </a:ext>
            </a:extLst>
          </p:cNvPr>
          <p:cNvSpPr>
            <a:spLocks noGrp="1"/>
          </p:cNvSpPr>
          <p:nvPr>
            <p:ph type="body" sz="quarter" idx="15" hasCustomPrompt="1"/>
          </p:nvPr>
        </p:nvSpPr>
        <p:spPr>
          <a:xfrm>
            <a:off x="8827920" y="4414358"/>
            <a:ext cx="2028829" cy="369332"/>
          </a:xfrm>
        </p:spPr>
        <p:txBody>
          <a:bodyPr/>
          <a:lstStyle>
            <a:lvl1pPr marL="0" indent="0">
              <a:buNone/>
              <a:defRPr sz="2000" b="1" cap="none" spc="0" baseline="0">
                <a:solidFill>
                  <a:schemeClr val="bg1"/>
                </a:solidFill>
              </a:defRPr>
            </a:lvl1pPr>
          </a:lstStyle>
          <a:p>
            <a:pPr lvl="0"/>
            <a:r>
              <a:rPr lang="en-US" dirty="0"/>
              <a:t>Speaker name</a:t>
            </a:r>
          </a:p>
        </p:txBody>
      </p:sp>
      <p:sp>
        <p:nvSpPr>
          <p:cNvPr id="39" name="Text Placeholder 15">
            <a:extLst>
              <a:ext uri="{FF2B5EF4-FFF2-40B4-BE49-F238E27FC236}">
                <a16:creationId xmlns:a16="http://schemas.microsoft.com/office/drawing/2014/main" id="{19D42F3F-E95D-05DF-6564-67D9CFA0A192}"/>
              </a:ext>
            </a:extLst>
          </p:cNvPr>
          <p:cNvSpPr>
            <a:spLocks noGrp="1"/>
          </p:cNvSpPr>
          <p:nvPr>
            <p:ph type="body" sz="quarter" idx="16" hasCustomPrompt="1"/>
          </p:nvPr>
        </p:nvSpPr>
        <p:spPr>
          <a:xfrm>
            <a:off x="8827920" y="4788420"/>
            <a:ext cx="2028829" cy="757130"/>
          </a:xfrm>
        </p:spPr>
        <p:txBody>
          <a:bodyPr/>
          <a:lstStyle>
            <a:lvl1pPr marL="0" indent="0">
              <a:spcBef>
                <a:spcPts val="0"/>
              </a:spcBef>
              <a:spcAft>
                <a:spcPts val="0"/>
              </a:spcAft>
              <a:buNone/>
              <a:defRPr sz="1600">
                <a:solidFill>
                  <a:schemeClr val="bg1"/>
                </a:solidFill>
              </a:defRPr>
            </a:lvl1pPr>
            <a:lvl2pPr marL="228600" indent="0">
              <a:buNone/>
              <a:defRPr/>
            </a:lvl2pPr>
            <a:lvl3pPr marL="457200" indent="0">
              <a:buNone/>
              <a:defRPr/>
            </a:lvl3pPr>
            <a:lvl4pPr marL="685800" indent="0">
              <a:buNone/>
              <a:defRPr/>
            </a:lvl4pPr>
            <a:lvl5pPr marL="685800" indent="0">
              <a:buNone/>
              <a:defRPr/>
            </a:lvl5pPr>
          </a:lstStyle>
          <a:p>
            <a:pPr lvl="0"/>
            <a:r>
              <a:rPr lang="en-US" dirty="0"/>
              <a:t>(pronouns)</a:t>
            </a:r>
            <a:br>
              <a:rPr lang="en-US" dirty="0"/>
            </a:br>
            <a:r>
              <a:rPr lang="en-US" dirty="0"/>
              <a:t>Job title</a:t>
            </a:r>
            <a:br>
              <a:rPr lang="en-US" dirty="0"/>
            </a:br>
            <a:r>
              <a:rPr lang="en-US" dirty="0"/>
              <a:t>Company</a:t>
            </a:r>
          </a:p>
        </p:txBody>
      </p:sp>
      <p:sp>
        <p:nvSpPr>
          <p:cNvPr id="40" name="Picture Placeholder 15">
            <a:extLst>
              <a:ext uri="{FF2B5EF4-FFF2-40B4-BE49-F238E27FC236}">
                <a16:creationId xmlns:a16="http://schemas.microsoft.com/office/drawing/2014/main" id="{F9CFA88C-3221-7272-FD28-9139A4266985}"/>
              </a:ext>
            </a:extLst>
          </p:cNvPr>
          <p:cNvSpPr>
            <a:spLocks noGrp="1"/>
          </p:cNvSpPr>
          <p:nvPr>
            <p:ph type="pic" sz="quarter" idx="17"/>
          </p:nvPr>
        </p:nvSpPr>
        <p:spPr>
          <a:xfrm>
            <a:off x="45651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1" name="Picture Placeholder 15">
            <a:extLst>
              <a:ext uri="{FF2B5EF4-FFF2-40B4-BE49-F238E27FC236}">
                <a16:creationId xmlns:a16="http://schemas.microsoft.com/office/drawing/2014/main" id="{080562CF-55EC-4675-D354-7620EDCBF08E}"/>
              </a:ext>
            </a:extLst>
          </p:cNvPr>
          <p:cNvSpPr>
            <a:spLocks noGrp="1"/>
          </p:cNvSpPr>
          <p:nvPr>
            <p:ph type="pic" sz="quarter" idx="18"/>
          </p:nvPr>
        </p:nvSpPr>
        <p:spPr>
          <a:xfrm>
            <a:off x="4044941"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
        <p:nvSpPr>
          <p:cNvPr id="42" name="Picture Placeholder 15">
            <a:extLst>
              <a:ext uri="{FF2B5EF4-FFF2-40B4-BE49-F238E27FC236}">
                <a16:creationId xmlns:a16="http://schemas.microsoft.com/office/drawing/2014/main" id="{9AB33088-FC29-9ECC-93A2-DE04E7DF5FB3}"/>
              </a:ext>
            </a:extLst>
          </p:cNvPr>
          <p:cNvSpPr>
            <a:spLocks noGrp="1"/>
          </p:cNvSpPr>
          <p:nvPr>
            <p:ph type="pic" sz="quarter" idx="19"/>
          </p:nvPr>
        </p:nvSpPr>
        <p:spPr>
          <a:xfrm>
            <a:off x="7434900" y="4328673"/>
            <a:ext cx="1284287" cy="1341850"/>
          </a:xfrm>
          <a:solidFill>
            <a:srgbClr val="232E3D"/>
          </a:solidFill>
        </p:spPr>
        <p:txBody>
          <a:bodyPr lIns="182880" tIns="182880" rIns="182880"/>
          <a:lstStyle>
            <a:lvl1pPr marL="0" indent="0">
              <a:buNone/>
              <a:defRPr sz="1200">
                <a:solidFill>
                  <a:schemeClr val="bg1"/>
                </a:solidFill>
              </a:defRPr>
            </a:lvl1pPr>
          </a:lstStyle>
          <a:p>
            <a:endParaRPr lang="en-US"/>
          </a:p>
        </p:txBody>
      </p:sp>
    </p:spTree>
    <p:extLst>
      <p:ext uri="{BB962C8B-B14F-4D97-AF65-F5344CB8AC3E}">
        <p14:creationId xmlns:p14="http://schemas.microsoft.com/office/powerpoint/2010/main" val="1692841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6289AB8-60F4-E8B7-2CB5-44FCA28311C4}"/>
              </a:ext>
            </a:extLst>
          </p:cNvPr>
          <p:cNvSpPr>
            <a:spLocks noGrp="1"/>
          </p:cNvSpPr>
          <p:nvPr>
            <p:ph type="title" hasCustomPrompt="1"/>
          </p:nvPr>
        </p:nvSpPr>
        <p:spPr>
          <a:xfrm>
            <a:off x="304800" y="304800"/>
            <a:ext cx="11582400" cy="638175"/>
          </a:xfrm>
        </p:spPr>
        <p:txBody>
          <a:bodyPr/>
          <a:lstStyle>
            <a:lvl1pPr>
              <a:defRPr/>
            </a:lvl1pPr>
          </a:lstStyle>
          <a:p>
            <a:r>
              <a:rPr lang="en-US"/>
              <a:t>Title only layout</a:t>
            </a:r>
          </a:p>
        </p:txBody>
      </p:sp>
    </p:spTree>
    <p:extLst>
      <p:ext uri="{BB962C8B-B14F-4D97-AF65-F5344CB8AC3E}">
        <p14:creationId xmlns:p14="http://schemas.microsoft.com/office/powerpoint/2010/main" val="2826318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C289-2488-596E-9697-016C13565121}"/>
              </a:ext>
            </a:extLst>
          </p:cNvPr>
          <p:cNvSpPr>
            <a:spLocks noGrp="1"/>
          </p:cNvSpPr>
          <p:nvPr>
            <p:ph type="title" hasCustomPrompt="1"/>
          </p:nvPr>
        </p:nvSpPr>
        <p:spPr>
          <a:xfrm>
            <a:off x="304800" y="304800"/>
            <a:ext cx="11582400" cy="638175"/>
          </a:xfrm>
        </p:spPr>
        <p:txBody>
          <a:bodyPr/>
          <a:lstStyle>
            <a:lvl1pPr>
              <a:defRPr/>
            </a:lvl1pPr>
          </a:lstStyle>
          <a:p>
            <a:r>
              <a:rPr lang="en-US"/>
              <a:t>Title and subtitle layout</a:t>
            </a:r>
          </a:p>
        </p:txBody>
      </p:sp>
      <p:sp>
        <p:nvSpPr>
          <p:cNvPr id="3" name="Text Placeholder 3">
            <a:extLst>
              <a:ext uri="{FF2B5EF4-FFF2-40B4-BE49-F238E27FC236}">
                <a16:creationId xmlns:a16="http://schemas.microsoft.com/office/drawing/2014/main" id="{F4181E47-DCB2-5ADB-B154-CE0C46918C9F}"/>
              </a:ext>
            </a:extLst>
          </p:cNvPr>
          <p:cNvSpPr>
            <a:spLocks noGrp="1"/>
          </p:cNvSpPr>
          <p:nvPr>
            <p:ph type="body" sz="quarter" idx="10" hasCustomPrompt="1"/>
          </p:nvPr>
        </p:nvSpPr>
        <p:spPr>
          <a:xfrm>
            <a:off x="304800" y="1000125"/>
            <a:ext cx="11582400" cy="276999"/>
          </a:xfrm>
        </p:spPr>
        <p:txBody>
          <a:bodyPr/>
          <a:lstStyle>
            <a:lvl1pPr marL="0" indent="0">
              <a:lnSpc>
                <a:spcPct val="100000"/>
              </a:lnSpc>
              <a:spcAft>
                <a:spcPts val="1200"/>
              </a:spcAft>
              <a:buNone/>
              <a:defRPr sz="1200" b="1" cap="all" spc="300" baseline="0">
                <a:solidFill>
                  <a:srgbClr val="232E3D"/>
                </a:solidFill>
                <a:latin typeface="Amazon Ember Mono" panose="020B0509020204020204" pitchFamily="49" charset="0"/>
                <a:ea typeface="Amazon Ember Mono" panose="020B0509020204020204" pitchFamily="49" charset="0"/>
                <a:cs typeface="Amazon Ember Mono" panose="020B0509020204020204" pitchFamily="49" charset="0"/>
              </a:defRPr>
            </a:lvl1pPr>
          </a:lstStyle>
          <a:p>
            <a:pPr lvl="0"/>
            <a:r>
              <a:rPr lang="en-US" dirty="0"/>
              <a:t>Enter subtitle</a:t>
            </a:r>
          </a:p>
        </p:txBody>
      </p:sp>
    </p:spTree>
    <p:extLst>
      <p:ext uri="{BB962C8B-B14F-4D97-AF65-F5344CB8AC3E}">
        <p14:creationId xmlns:p14="http://schemas.microsoft.com/office/powerpoint/2010/main" val="3689020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482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lvl1pPr>
          </a:lstStyle>
          <a:p>
            <a:r>
              <a:rPr lang="en-US"/>
              <a:t>Title and content layout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2049792"/>
          </a:xfrm>
        </p:spPr>
        <p:txBody>
          <a:bodyPr/>
          <a:lstStyle>
            <a:lvl1pPr marL="0" indent="0">
              <a:buNone/>
              <a:defRPr/>
            </a:lvl1pPr>
            <a:lvl2pPr marL="228600" indent="0">
              <a:buNone/>
              <a:defRPr/>
            </a:lvl2pPr>
            <a:lvl3pPr marL="457200" indent="0">
              <a:buNone/>
              <a:defRPr/>
            </a:lvl3pPr>
            <a:lvl4pPr marL="685800" indent="0">
              <a:buNone/>
              <a:defRPr/>
            </a:lvl4pPr>
            <a:lvl5pPr marL="685800" indent="0">
              <a:buNone/>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0561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ark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F1562C6-CADD-976D-3F2B-6564E0678DFC}"/>
              </a:ext>
            </a:extLst>
          </p:cNvPr>
          <p:cNvSpPr/>
          <p:nvPr userDrawn="1"/>
        </p:nvSpPr>
        <p:spPr>
          <a:xfrm>
            <a:off x="0" y="0"/>
            <a:ext cx="12192000" cy="6858000"/>
          </a:xfrm>
          <a:prstGeom prst="rect">
            <a:avLst/>
          </a:prstGeom>
          <a:solidFill>
            <a:srgbClr val="232E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79368527-8E4E-BA37-763F-5B8448ED677D}"/>
              </a:ext>
            </a:extLst>
          </p:cNvPr>
          <p:cNvSpPr>
            <a:spLocks noGrp="1"/>
          </p:cNvSpPr>
          <p:nvPr>
            <p:ph type="title" hasCustomPrompt="1"/>
          </p:nvPr>
        </p:nvSpPr>
        <p:spPr>
          <a:xfrm>
            <a:off x="304800" y="304800"/>
            <a:ext cx="11582400" cy="638175"/>
          </a:xfrm>
        </p:spPr>
        <p:txBody>
          <a:bodyPr/>
          <a:lstStyle>
            <a:lvl1pPr>
              <a:defRPr>
                <a:solidFill>
                  <a:schemeClr val="bg1"/>
                </a:solidFill>
              </a:defRPr>
            </a:lvl1pPr>
          </a:lstStyle>
          <a:p>
            <a:r>
              <a:rPr lang="en-US" dirty="0"/>
              <a:t>Dark Slide Content</a:t>
            </a:r>
          </a:p>
        </p:txBody>
      </p:sp>
      <p:sp>
        <p:nvSpPr>
          <p:cNvPr id="5" name="Content Placeholder 2">
            <a:extLst>
              <a:ext uri="{FF2B5EF4-FFF2-40B4-BE49-F238E27FC236}">
                <a16:creationId xmlns:a16="http://schemas.microsoft.com/office/drawing/2014/main" id="{A6CA5580-3EED-6121-38E3-2E9DF5973317}"/>
              </a:ext>
            </a:extLst>
          </p:cNvPr>
          <p:cNvSpPr>
            <a:spLocks noGrp="1"/>
          </p:cNvSpPr>
          <p:nvPr>
            <p:ph idx="1" hasCustomPrompt="1"/>
          </p:nvPr>
        </p:nvSpPr>
        <p:spPr>
          <a:xfrm>
            <a:off x="304801" y="1485900"/>
            <a:ext cx="11582400" cy="1844608"/>
          </a:xfrm>
        </p:spPr>
        <p:txBody>
          <a:bodyPr/>
          <a:lstStyle>
            <a:lvl1pPr marL="0" indent="0">
              <a:buNone/>
              <a:defRPr>
                <a:solidFill>
                  <a:schemeClr val="bg1"/>
                </a:solidFill>
              </a:defRPr>
            </a:lvl1pPr>
            <a:lvl2pPr marL="228600" indent="0">
              <a:buNone/>
              <a:defRPr>
                <a:solidFill>
                  <a:schemeClr val="bg1"/>
                </a:solidFill>
              </a:defRPr>
            </a:lvl2pPr>
            <a:lvl3pPr marL="457200" indent="0">
              <a:buNone/>
              <a:defRPr>
                <a:solidFill>
                  <a:schemeClr val="bg1"/>
                </a:solidFill>
              </a:defRPr>
            </a:lvl3pPr>
            <a:lvl4pPr marL="685800" indent="0">
              <a:buNone/>
              <a:defRPr>
                <a:solidFill>
                  <a:schemeClr val="bg1"/>
                </a:solidFill>
              </a:defRPr>
            </a:lvl4pPr>
            <a:lvl5pPr marL="685800" indent="0">
              <a:buNone/>
              <a:defRPr>
                <a:solidFill>
                  <a:schemeClr val="bg1"/>
                </a:solidFill>
              </a:defRPr>
            </a:lvl5pPr>
          </a:lstStyle>
          <a:p>
            <a:pPr lvl="0"/>
            <a:r>
              <a:rPr lang="en-US" dirty="0"/>
              <a:t>Enter slide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3">
            <a:extLst>
              <a:ext uri="{FF2B5EF4-FFF2-40B4-BE49-F238E27FC236}">
                <a16:creationId xmlns:a16="http://schemas.microsoft.com/office/drawing/2014/main" id="{CC7AB398-3A72-5A7E-F727-619703EE3678}"/>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6" name="Graphic 5">
            <a:extLst>
              <a:ext uri="{FF2B5EF4-FFF2-40B4-BE49-F238E27FC236}">
                <a16:creationId xmlns:a16="http://schemas.microsoft.com/office/drawing/2014/main" id="{814F634E-2E85-A427-EA08-4854ACA5CCB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04801" y="6428661"/>
            <a:ext cx="388818" cy="232516"/>
          </a:xfrm>
          <a:prstGeom prst="rect">
            <a:avLst/>
          </a:prstGeom>
        </p:spPr>
      </p:pic>
    </p:spTree>
    <p:extLst>
      <p:ext uri="{BB962C8B-B14F-4D97-AF65-F5344CB8AC3E}">
        <p14:creationId xmlns:p14="http://schemas.microsoft.com/office/powerpoint/2010/main" val="3339395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pic>
        <p:nvPicPr>
          <p:cNvPr id="3" name="Picture 2">
            <a:extLst>
              <a:ext uri="{FF2B5EF4-FFF2-40B4-BE49-F238E27FC236}">
                <a16:creationId xmlns:a16="http://schemas.microsoft.com/office/drawing/2014/main" id="{7531FA05-2F99-9ACC-9868-10215B36A29D}"/>
              </a:ext>
            </a:extLst>
          </p:cNvPr>
          <p:cNvPicPr>
            <a:picLocks noChangeAspect="1"/>
          </p:cNvPicPr>
          <p:nvPr userDrawn="1"/>
        </p:nvPicPr>
        <p:blipFill>
          <a:blip r:embed="rId4"/>
          <a:stretch>
            <a:fillRect/>
          </a:stretch>
        </p:blipFill>
        <p:spPr>
          <a:xfrm>
            <a:off x="0" y="2748483"/>
            <a:ext cx="12192001" cy="3352800"/>
          </a:xfrm>
          <a:prstGeom prst="rect">
            <a:avLst/>
          </a:prstGeom>
        </p:spPr>
      </p:pic>
      <p:sp>
        <p:nvSpPr>
          <p:cNvPr id="4" name="Title 7">
            <a:extLst>
              <a:ext uri="{FF2B5EF4-FFF2-40B4-BE49-F238E27FC236}">
                <a16:creationId xmlns:a16="http://schemas.microsoft.com/office/drawing/2014/main" id="{CECD060C-64DD-AFED-2399-FCF725A6184C}"/>
              </a:ext>
            </a:extLst>
          </p:cNvPr>
          <p:cNvSpPr>
            <a:spLocks noGrp="1"/>
          </p:cNvSpPr>
          <p:nvPr>
            <p:ph type="title" hasCustomPrompt="1"/>
          </p:nvPr>
        </p:nvSpPr>
        <p:spPr>
          <a:xfrm>
            <a:off x="322916" y="2748483"/>
            <a:ext cx="8274329" cy="1341851"/>
          </a:xfrm>
        </p:spPr>
        <p:txBody>
          <a:bodyPr tIns="146304" bIns="146304"/>
          <a:lstStyle>
            <a:lvl1pPr>
              <a:defRPr sz="4800">
                <a:solidFill>
                  <a:schemeClr val="bg1"/>
                </a:solidFill>
              </a:defRPr>
            </a:lvl1pPr>
          </a:lstStyle>
          <a:p>
            <a:r>
              <a:rPr lang="en-US" dirty="0"/>
              <a:t>Breaker Slide</a:t>
            </a:r>
          </a:p>
        </p:txBody>
      </p:sp>
      <p:sp>
        <p:nvSpPr>
          <p:cNvPr id="5" name="Text Placeholder 13">
            <a:extLst>
              <a:ext uri="{FF2B5EF4-FFF2-40B4-BE49-F238E27FC236}">
                <a16:creationId xmlns:a16="http://schemas.microsoft.com/office/drawing/2014/main" id="{56278F1B-135C-F62D-FAF9-513D324ABC45}"/>
              </a:ext>
            </a:extLst>
          </p:cNvPr>
          <p:cNvSpPr>
            <a:spLocks noGrp="1"/>
          </p:cNvSpPr>
          <p:nvPr>
            <p:ph type="body" sz="quarter" idx="11" hasCustomPrompt="1"/>
          </p:nvPr>
        </p:nvSpPr>
        <p:spPr>
          <a:xfrm>
            <a:off x="322916" y="2434551"/>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Tree>
    <p:extLst>
      <p:ext uri="{BB962C8B-B14F-4D97-AF65-F5344CB8AC3E}">
        <p14:creationId xmlns:p14="http://schemas.microsoft.com/office/powerpoint/2010/main" val="2402045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ank You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19D9E3-7A5D-C087-3987-95DB0498499C}"/>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TextBox 3">
            <a:extLst>
              <a:ext uri="{FF2B5EF4-FFF2-40B4-BE49-F238E27FC236}">
                <a16:creationId xmlns:a16="http://schemas.microsoft.com/office/drawing/2014/main" id="{F77A7879-C923-5CCE-CD04-A6D623A41480}"/>
              </a:ext>
            </a:extLst>
          </p:cNvPr>
          <p:cNvSpPr txBox="1">
            <a:spLocks noChangeArrowheads="1"/>
          </p:cNvSpPr>
          <p:nvPr userDrawn="1"/>
        </p:nvSpPr>
        <p:spPr bwMode="white">
          <a:xfrm>
            <a:off x="322916"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2" name="Graphic 1">
            <a:extLst>
              <a:ext uri="{FF2B5EF4-FFF2-40B4-BE49-F238E27FC236}">
                <a16:creationId xmlns:a16="http://schemas.microsoft.com/office/drawing/2014/main" id="{DA8D99E7-C3A0-223B-32E3-B22BFBAAABF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6510" y="473514"/>
            <a:ext cx="963262" cy="576038"/>
          </a:xfrm>
          <a:prstGeom prst="rect">
            <a:avLst/>
          </a:prstGeom>
        </p:spPr>
      </p:pic>
      <p:sp>
        <p:nvSpPr>
          <p:cNvPr id="3" name="Text Placeholder 13">
            <a:extLst>
              <a:ext uri="{FF2B5EF4-FFF2-40B4-BE49-F238E27FC236}">
                <a16:creationId xmlns:a16="http://schemas.microsoft.com/office/drawing/2014/main" id="{AC7FD113-3CFD-4B62-B18A-92F60583D795}"/>
              </a:ext>
            </a:extLst>
          </p:cNvPr>
          <p:cNvSpPr>
            <a:spLocks noGrp="1"/>
          </p:cNvSpPr>
          <p:nvPr>
            <p:ph type="body" sz="quarter" idx="11" hasCustomPrompt="1"/>
          </p:nvPr>
        </p:nvSpPr>
        <p:spPr>
          <a:xfrm>
            <a:off x="456510" y="1655302"/>
            <a:ext cx="3492500" cy="313932"/>
          </a:xfrm>
        </p:spPr>
        <p:txBody>
          <a:bodyPr/>
          <a:lstStyle>
            <a:lvl1pPr marL="0" indent="0">
              <a:buNone/>
              <a:defRPr sz="1600" b="1" cap="all" spc="300" baseline="0">
                <a:solidFill>
                  <a:srgbClr val="FFCBC0"/>
                </a:solidFill>
                <a:latin typeface="Amazon Ember Mono" panose="020B0509020204020204" pitchFamily="49" charset="0"/>
                <a:ea typeface="Amazon Ember Mono" panose="020B0509020204020204" pitchFamily="49" charset="0"/>
                <a:cs typeface="Amazon Ember Mono" panose="020B0509020204020204" pitchFamily="49" charset="0"/>
              </a:defRPr>
            </a:lvl1pPr>
            <a:lvl2pPr marL="228600" indent="0">
              <a:buNone/>
              <a:defRPr/>
            </a:lvl2pPr>
            <a:lvl3pPr marL="457200" indent="0">
              <a:buNone/>
              <a:defRPr/>
            </a:lvl3pPr>
            <a:lvl4pPr marL="685800" indent="0">
              <a:buNone/>
              <a:defRPr/>
            </a:lvl4pPr>
            <a:lvl5pPr marL="685800" indent="0">
              <a:buNone/>
              <a:defRPr/>
            </a:lvl5pPr>
          </a:lstStyle>
          <a:p>
            <a:pPr lvl="0"/>
            <a:r>
              <a:rPr lang="en-US" dirty="0"/>
              <a:t>Show name</a:t>
            </a:r>
          </a:p>
        </p:txBody>
      </p:sp>
      <p:sp>
        <p:nvSpPr>
          <p:cNvPr id="4" name="Text Placeholder 4">
            <a:extLst>
              <a:ext uri="{FF2B5EF4-FFF2-40B4-BE49-F238E27FC236}">
                <a16:creationId xmlns:a16="http://schemas.microsoft.com/office/drawing/2014/main" id="{EE3B1C24-0FBE-4EF4-E1A2-72AA0D9B65FB}"/>
              </a:ext>
            </a:extLst>
          </p:cNvPr>
          <p:cNvSpPr>
            <a:spLocks noGrp="1"/>
          </p:cNvSpPr>
          <p:nvPr>
            <p:ph type="body" sz="quarter" idx="12" hasCustomPrompt="1"/>
          </p:nvPr>
        </p:nvSpPr>
        <p:spPr>
          <a:xfrm>
            <a:off x="456510" y="4668254"/>
            <a:ext cx="6816725" cy="480131"/>
          </a:xfrm>
        </p:spPr>
        <p:txBody>
          <a:bodyPr/>
          <a:lstStyle>
            <a:lvl1pPr marL="0" indent="0">
              <a:buNone/>
              <a:defRPr>
                <a:solidFill>
                  <a:schemeClr val="bg1"/>
                </a:solidFill>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Episode #: Episode Title</a:t>
            </a:r>
          </a:p>
        </p:txBody>
      </p:sp>
      <p:sp>
        <p:nvSpPr>
          <p:cNvPr id="5" name="Text Placeholder 4">
            <a:extLst>
              <a:ext uri="{FF2B5EF4-FFF2-40B4-BE49-F238E27FC236}">
                <a16:creationId xmlns:a16="http://schemas.microsoft.com/office/drawing/2014/main" id="{A85E35AF-BFB0-CF57-A2E9-72A6471E9558}"/>
              </a:ext>
            </a:extLst>
          </p:cNvPr>
          <p:cNvSpPr>
            <a:spLocks noGrp="1"/>
          </p:cNvSpPr>
          <p:nvPr>
            <p:ph type="body" sz="quarter" idx="13" hasCustomPrompt="1"/>
          </p:nvPr>
        </p:nvSpPr>
        <p:spPr>
          <a:xfrm>
            <a:off x="456510" y="5460260"/>
            <a:ext cx="6816725" cy="480131"/>
          </a:xfrm>
        </p:spPr>
        <p:txBody>
          <a:bodyPr/>
          <a:lstStyle>
            <a:lvl1pPr marL="0" indent="0">
              <a:buNone/>
              <a:defRPr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sz="2800" b="0" i="0" dirty="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Day Month Date | 00:00am – 00:00pm TZ</a:t>
            </a:r>
          </a:p>
        </p:txBody>
      </p:sp>
      <p:sp>
        <p:nvSpPr>
          <p:cNvPr id="6" name="TextBox 5">
            <a:extLst>
              <a:ext uri="{FF2B5EF4-FFF2-40B4-BE49-F238E27FC236}">
                <a16:creationId xmlns:a16="http://schemas.microsoft.com/office/drawing/2014/main" id="{B507C1CA-987D-33F9-519F-917868267F71}"/>
              </a:ext>
            </a:extLst>
          </p:cNvPr>
          <p:cNvSpPr txBox="1"/>
          <p:nvPr userDrawn="1"/>
        </p:nvSpPr>
        <p:spPr>
          <a:xfrm>
            <a:off x="371042" y="2533310"/>
            <a:ext cx="10296959" cy="1015663"/>
          </a:xfrm>
          <a:prstGeom prst="rect">
            <a:avLst/>
          </a:prstGeom>
          <a:noFill/>
        </p:spPr>
        <p:txBody>
          <a:bodyPr wrap="square" rtlCol="0">
            <a:spAutoFit/>
          </a:bodyPr>
          <a:lstStyle/>
          <a:p>
            <a:r>
              <a:rPr lang="en-US" sz="6000" b="1" i="0">
                <a:solidFill>
                  <a:schemeClr val="bg1"/>
                </a:solidFill>
                <a:latin typeface="Amazon Ember Display" panose="020F0603020204020204" pitchFamily="34" charset="0"/>
                <a:ea typeface="Amazon Ember Display" panose="020F0603020204020204" pitchFamily="34" charset="0"/>
                <a:cs typeface="Amazon Ember Display" panose="020F0603020204020204" pitchFamily="34" charset="0"/>
              </a:rPr>
              <a:t>Thank you for joining us!</a:t>
            </a:r>
          </a:p>
        </p:txBody>
      </p:sp>
    </p:spTree>
    <p:extLst>
      <p:ext uri="{BB962C8B-B14F-4D97-AF65-F5344CB8AC3E}">
        <p14:creationId xmlns:p14="http://schemas.microsoft.com/office/powerpoint/2010/main" val="3174797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Quote_1">
    <p:spTree>
      <p:nvGrpSpPr>
        <p:cNvPr id="1" name=""/>
        <p:cNvGrpSpPr/>
        <p:nvPr/>
      </p:nvGrpSpPr>
      <p:grpSpPr>
        <a:xfrm>
          <a:off x="0" y="0"/>
          <a:ext cx="0" cy="0"/>
          <a:chOff x="0" y="0"/>
          <a:chExt cx="0" cy="0"/>
        </a:xfrm>
      </p:grpSpPr>
      <p:sp>
        <p:nvSpPr>
          <p:cNvPr id="10" name="Title 4">
            <a:extLst>
              <a:ext uri="{FF2B5EF4-FFF2-40B4-BE49-F238E27FC236}">
                <a16:creationId xmlns:a16="http://schemas.microsoft.com/office/drawing/2014/main" id="{40F0A962-F39A-4F7C-AFB8-1D55B110FA1F}"/>
              </a:ext>
            </a:extLst>
          </p:cNvPr>
          <p:cNvSpPr>
            <a:spLocks noGrp="1"/>
          </p:cNvSpPr>
          <p:nvPr>
            <p:ph type="title" hasCustomPrompt="1"/>
          </p:nvPr>
        </p:nvSpPr>
        <p:spPr bwMode="white">
          <a:xfrm>
            <a:off x="269875" y="1854993"/>
            <a:ext cx="8334375" cy="2669382"/>
          </a:xfrm>
        </p:spPr>
        <p:txBody>
          <a:bodyPr lIns="182880" tIns="146304" rIns="182880" bIns="146304"/>
          <a:lstStyle>
            <a:lvl1pPr marL="142869" indent="-142869" algn="l">
              <a:defRPr sz="4500">
                <a:solidFill>
                  <a:schemeClr val="bg1"/>
                </a:solidFill>
              </a:defRPr>
            </a:lvl1pPr>
          </a:lstStyle>
          <a:p>
            <a:r>
              <a:rPr lang="en-US" dirty="0"/>
              <a:t>“Lorem ipsum dolor sit </a:t>
            </a:r>
            <a:r>
              <a:rPr lang="en-US" dirty="0" err="1"/>
              <a:t>amet</a:t>
            </a:r>
            <a:r>
              <a:rPr lang="en-US" dirty="0"/>
              <a:t>, </a:t>
            </a:r>
            <a:r>
              <a:rPr lang="en-US" dirty="0" err="1"/>
              <a:t>consectetuer</a:t>
            </a:r>
            <a:r>
              <a:rPr lang="en-US" dirty="0"/>
              <a:t> adipiscing </a:t>
            </a:r>
            <a:r>
              <a:rPr lang="en-US" dirty="0" err="1"/>
              <a:t>elit</a:t>
            </a:r>
            <a:r>
              <a:rPr lang="en-US" dirty="0"/>
              <a:t>. Maecenas </a:t>
            </a:r>
            <a:r>
              <a:rPr lang="en-US" dirty="0" err="1"/>
              <a:t>porttitor</a:t>
            </a:r>
            <a:r>
              <a:rPr lang="en-US" dirty="0"/>
              <a:t> </a:t>
            </a:r>
            <a:r>
              <a:rPr lang="en-US" dirty="0" err="1"/>
              <a:t>congue</a:t>
            </a:r>
            <a:r>
              <a:rPr lang="en-US" dirty="0"/>
              <a:t>‚ </a:t>
            </a:r>
            <a:r>
              <a:rPr lang="en-US" dirty="0" err="1"/>
              <a:t>massa</a:t>
            </a:r>
            <a:r>
              <a:rPr lang="en-US" dirty="0"/>
              <a:t>.” </a:t>
            </a:r>
          </a:p>
        </p:txBody>
      </p:sp>
      <p:sp>
        <p:nvSpPr>
          <p:cNvPr id="11" name="Text Placeholder 6">
            <a:extLst>
              <a:ext uri="{FF2B5EF4-FFF2-40B4-BE49-F238E27FC236}">
                <a16:creationId xmlns:a16="http://schemas.microsoft.com/office/drawing/2014/main" id="{26FA47B6-AF7F-4583-B619-AA67D7C65CDC}"/>
              </a:ext>
            </a:extLst>
          </p:cNvPr>
          <p:cNvSpPr>
            <a:spLocks noGrp="1"/>
          </p:cNvSpPr>
          <p:nvPr>
            <p:ph type="body" sz="quarter" idx="10" hasCustomPrompt="1"/>
          </p:nvPr>
        </p:nvSpPr>
        <p:spPr bwMode="white">
          <a:xfrm>
            <a:off x="3436143" y="4700537"/>
            <a:ext cx="5168107" cy="618567"/>
          </a:xfrm>
        </p:spPr>
        <p:txBody>
          <a:bodyPr lIns="182880" tIns="146304" rIns="182880" bIns="146304"/>
          <a:lstStyle>
            <a:lvl1pPr marL="190492" indent="0" algn="r">
              <a:buNone/>
              <a:defRPr sz="2333" b="1">
                <a:solidFill>
                  <a:schemeClr val="bg1"/>
                </a:solidFill>
                <a:latin typeface="+mn-lt"/>
                <a:ea typeface="Amazon Ember Heavy" panose="020B0803020204020204" pitchFamily="34" charset="0"/>
                <a:cs typeface="Amazon Ember Heavy" panose="020B0803020204020204" pitchFamily="34" charset="0"/>
              </a:defRPr>
            </a:lvl1pPr>
            <a:lvl2pPr marL="336143" indent="0">
              <a:buNone/>
              <a:defRPr>
                <a:gradFill>
                  <a:gsLst>
                    <a:gs pos="1250">
                      <a:schemeClr val="bg1"/>
                    </a:gs>
                    <a:gs pos="100000">
                      <a:schemeClr val="bg1"/>
                    </a:gs>
                  </a:gsLst>
                  <a:lin ang="5400000" scaled="0"/>
                </a:gradFill>
              </a:defRPr>
            </a:lvl2pPr>
            <a:lvl3pPr marL="560238" indent="0">
              <a:buNone/>
              <a:defRPr>
                <a:gradFill>
                  <a:gsLst>
                    <a:gs pos="1250">
                      <a:schemeClr val="bg1"/>
                    </a:gs>
                    <a:gs pos="100000">
                      <a:schemeClr val="bg1"/>
                    </a:gs>
                  </a:gsLst>
                  <a:lin ang="5400000" scaled="0"/>
                </a:gradFill>
              </a:defRPr>
            </a:lvl3pPr>
            <a:lvl4pPr marL="784334" indent="0">
              <a:buNone/>
              <a:defRPr>
                <a:gradFill>
                  <a:gsLst>
                    <a:gs pos="1250">
                      <a:schemeClr val="bg1"/>
                    </a:gs>
                    <a:gs pos="100000">
                      <a:schemeClr val="bg1"/>
                    </a:gs>
                  </a:gsLst>
                  <a:lin ang="5400000" scaled="0"/>
                </a:gradFill>
              </a:defRPr>
            </a:lvl4pPr>
            <a:lvl5pPr marL="1008429" indent="0">
              <a:buNone/>
              <a:defRPr>
                <a:gradFill>
                  <a:gsLst>
                    <a:gs pos="1250">
                      <a:schemeClr val="bg1"/>
                    </a:gs>
                    <a:gs pos="100000">
                      <a:schemeClr val="bg1"/>
                    </a:gs>
                  </a:gsLst>
                  <a:lin ang="5400000" scaled="0"/>
                </a:gradFill>
              </a:defRPr>
            </a:lvl5pPr>
          </a:lstStyle>
          <a:p>
            <a:pPr lvl="0"/>
            <a:r>
              <a:rPr lang="en-US" dirty="0"/>
              <a:t>Quotation Author</a:t>
            </a:r>
          </a:p>
        </p:txBody>
      </p:sp>
      <p:sp>
        <p:nvSpPr>
          <p:cNvPr id="15" name="Text Placeholder 6">
            <a:extLst>
              <a:ext uri="{FF2B5EF4-FFF2-40B4-BE49-F238E27FC236}">
                <a16:creationId xmlns:a16="http://schemas.microsoft.com/office/drawing/2014/main" id="{F78CCF1D-C382-4338-9CBC-EE540D3CAB4F}"/>
              </a:ext>
            </a:extLst>
          </p:cNvPr>
          <p:cNvSpPr>
            <a:spLocks noGrp="1"/>
          </p:cNvSpPr>
          <p:nvPr>
            <p:ph type="body" sz="quarter" idx="11" hasCustomPrompt="1"/>
          </p:nvPr>
        </p:nvSpPr>
        <p:spPr bwMode="white">
          <a:xfrm>
            <a:off x="3436143" y="5168900"/>
            <a:ext cx="5168107" cy="618567"/>
          </a:xfrm>
        </p:spPr>
        <p:txBody>
          <a:bodyPr lIns="182880" tIns="146304" rIns="182880" bIns="146304"/>
          <a:lstStyle>
            <a:lvl1pPr marL="190492" indent="0" algn="r">
              <a:buNone/>
              <a:defRPr sz="2333" b="0">
                <a:solidFill>
                  <a:schemeClr val="bg1"/>
                </a:solidFill>
                <a:latin typeface="+mn-lt"/>
                <a:ea typeface="Amazon Ember Heavy" panose="020B0803020204020204" pitchFamily="34" charset="0"/>
                <a:cs typeface="Amazon Ember Heavy" panose="020B0803020204020204" pitchFamily="34" charset="0"/>
              </a:defRPr>
            </a:lvl1pPr>
            <a:lvl2pPr marL="336143" indent="0">
              <a:buNone/>
              <a:defRPr>
                <a:gradFill>
                  <a:gsLst>
                    <a:gs pos="1250">
                      <a:schemeClr val="bg1"/>
                    </a:gs>
                    <a:gs pos="100000">
                      <a:schemeClr val="bg1"/>
                    </a:gs>
                  </a:gsLst>
                  <a:lin ang="5400000" scaled="0"/>
                </a:gradFill>
              </a:defRPr>
            </a:lvl2pPr>
            <a:lvl3pPr marL="560238" indent="0">
              <a:buNone/>
              <a:defRPr>
                <a:gradFill>
                  <a:gsLst>
                    <a:gs pos="1250">
                      <a:schemeClr val="bg1"/>
                    </a:gs>
                    <a:gs pos="100000">
                      <a:schemeClr val="bg1"/>
                    </a:gs>
                  </a:gsLst>
                  <a:lin ang="5400000" scaled="0"/>
                </a:gradFill>
              </a:defRPr>
            </a:lvl3pPr>
            <a:lvl4pPr marL="784334" indent="0">
              <a:buNone/>
              <a:defRPr>
                <a:gradFill>
                  <a:gsLst>
                    <a:gs pos="1250">
                      <a:schemeClr val="bg1"/>
                    </a:gs>
                    <a:gs pos="100000">
                      <a:schemeClr val="bg1"/>
                    </a:gs>
                  </a:gsLst>
                  <a:lin ang="5400000" scaled="0"/>
                </a:gradFill>
              </a:defRPr>
            </a:lvl4pPr>
            <a:lvl5pPr marL="1008429" indent="0">
              <a:buNone/>
              <a:defRPr>
                <a:gradFill>
                  <a:gsLst>
                    <a:gs pos="1250">
                      <a:schemeClr val="bg1"/>
                    </a:gs>
                    <a:gs pos="100000">
                      <a:schemeClr val="bg1"/>
                    </a:gs>
                  </a:gsLst>
                  <a:lin ang="5400000" scaled="0"/>
                </a:gradFill>
              </a:defRPr>
            </a:lvl5pPr>
          </a:lstStyle>
          <a:p>
            <a:pPr lvl="0"/>
            <a:r>
              <a:rPr lang="en-US" dirty="0"/>
              <a:t>Title</a:t>
            </a:r>
          </a:p>
        </p:txBody>
      </p:sp>
    </p:spTree>
    <p:extLst>
      <p:ext uri="{BB962C8B-B14F-4D97-AF65-F5344CB8AC3E}">
        <p14:creationId xmlns:p14="http://schemas.microsoft.com/office/powerpoint/2010/main" val="125538211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_Sub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ACC7F-A1B5-49B5-821A-D9FB8D49F7B5}"/>
              </a:ext>
            </a:extLst>
          </p:cNvPr>
          <p:cNvSpPr>
            <a:spLocks noGrp="1"/>
          </p:cNvSpPr>
          <p:nvPr>
            <p:ph type="title" hasCustomPrompt="1"/>
          </p:nvPr>
        </p:nvSpPr>
        <p:spPr>
          <a:xfrm>
            <a:off x="269875" y="289511"/>
            <a:ext cx="11652356" cy="670560"/>
          </a:xfrm>
        </p:spPr>
        <p:txBody>
          <a:bodyPr vert="horz" wrap="square" lIns="182880" tIns="146304" rIns="182880" bIns="146304" rtlCol="0" anchor="t">
            <a:noAutofit/>
          </a:bodyPr>
          <a:lstStyle>
            <a:lvl1pPr>
              <a:defRPr lang="en-US"/>
            </a:lvl1pPr>
          </a:lstStyle>
          <a:p>
            <a:pPr lvl="0"/>
            <a:r>
              <a:rPr lang="en-US" dirty="0"/>
              <a:t>Click to edit master title style</a:t>
            </a:r>
          </a:p>
        </p:txBody>
      </p:sp>
      <p:sp>
        <p:nvSpPr>
          <p:cNvPr id="5" name="Text Placeholder 4">
            <a:extLst>
              <a:ext uri="{FF2B5EF4-FFF2-40B4-BE49-F238E27FC236}">
                <a16:creationId xmlns:a16="http://schemas.microsoft.com/office/drawing/2014/main" id="{D7598F06-5E9F-4A11-8610-CF80CCE5BE9F}"/>
              </a:ext>
            </a:extLst>
          </p:cNvPr>
          <p:cNvSpPr>
            <a:spLocks noGrp="1"/>
          </p:cNvSpPr>
          <p:nvPr>
            <p:ph type="body" sz="quarter" idx="10" hasCustomPrompt="1"/>
          </p:nvPr>
        </p:nvSpPr>
        <p:spPr>
          <a:xfrm>
            <a:off x="478221" y="986966"/>
            <a:ext cx="11652250" cy="424732"/>
          </a:xfrm>
        </p:spPr>
        <p:txBody>
          <a:bodyPr/>
          <a:lstStyle>
            <a:lvl1pPr marL="0" indent="0">
              <a:buNone/>
              <a:defRPr sz="2400">
                <a:solidFill>
                  <a:schemeClr val="accent1"/>
                </a:solidFill>
              </a:defRPr>
            </a:lvl1pPr>
          </a:lstStyle>
          <a:p>
            <a:pPr lvl="0"/>
            <a:r>
              <a:rPr lang="en-US" dirty="0"/>
              <a:t>Edit Master text styles</a:t>
            </a:r>
          </a:p>
        </p:txBody>
      </p:sp>
      <p:sp>
        <p:nvSpPr>
          <p:cNvPr id="7" name="Text Placeholder 3">
            <a:extLst>
              <a:ext uri="{FF2B5EF4-FFF2-40B4-BE49-F238E27FC236}">
                <a16:creationId xmlns:a16="http://schemas.microsoft.com/office/drawing/2014/main" id="{4D7A8912-5838-1B46-B696-DA489AB593FE}"/>
              </a:ext>
            </a:extLst>
          </p:cNvPr>
          <p:cNvSpPr>
            <a:spLocks noGrp="1"/>
          </p:cNvSpPr>
          <p:nvPr>
            <p:ph idx="11" hasCustomPrompt="1"/>
          </p:nvPr>
        </p:nvSpPr>
        <p:spPr>
          <a:xfrm>
            <a:off x="269769" y="1586325"/>
            <a:ext cx="11652356" cy="2031325"/>
          </a:xfrm>
          <a:prstGeom prst="rect">
            <a:avLst/>
          </a:prstGeom>
        </p:spPr>
        <p:txBody>
          <a:bodyPr vert="horz" wrap="square" lIns="182880" tIns="146304" rIns="182880" bIns="146304" rtlCol="0">
            <a:spAutoFit/>
          </a:bodyPr>
          <a:lstStyle>
            <a:lvl1pPr>
              <a:spcAft>
                <a:spcPts val="667"/>
              </a:spcAft>
              <a:defRPr b="0" i="0">
                <a:latin typeface="+mn-lt"/>
                <a:ea typeface="Amazon Ember Thin" panose="020B0303020204020204" pitchFamily="34" charset="0"/>
                <a:cs typeface="Amazon Ember Thin" panose="020B0303020204020204" pitchFamily="34" charset="0"/>
              </a:defRPr>
            </a:lvl1pPr>
            <a:lvl2pPr marL="33614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2pPr>
            <a:lvl3pPr marL="560238" indent="0">
              <a:spcAft>
                <a:spcPts val="667"/>
              </a:spcAft>
              <a:buFont typeface="Arial" panose="020B0604020202020204" pitchFamily="34" charset="0"/>
              <a:buNone/>
              <a:defRPr sz="2000" b="0" i="0">
                <a:latin typeface="+mn-lt"/>
                <a:ea typeface="Amazon Ember Light" panose="020B0403020204020204" pitchFamily="34" charset="0"/>
                <a:cs typeface="Amazon Ember Light" panose="020B0403020204020204" pitchFamily="34" charset="0"/>
              </a:defRPr>
            </a:lvl3pPr>
            <a:lvl4pPr marL="784333" indent="0">
              <a:spcAft>
                <a:spcPts val="667"/>
              </a:spcAft>
              <a:buFont typeface="Arial" panose="020B0604020202020204" pitchFamily="34" charset="0"/>
              <a:buNone/>
              <a:defRPr b="0" i="0">
                <a:latin typeface="+mn-lt"/>
                <a:ea typeface="Amazon Ember" panose="020B0603020204020204" pitchFamily="34" charset="0"/>
                <a:cs typeface="Amazon Ember" panose="020B0603020204020204" pitchFamily="34" charset="0"/>
              </a:defRPr>
            </a:lvl4pPr>
            <a:lvl5pPr marL="1008428" marR="0" indent="0" algn="l" defTabSz="914362" rtl="0" eaLnBrk="1" fontAlgn="auto" latinLnBrk="0" hangingPunct="1">
              <a:lnSpc>
                <a:spcPct val="90000"/>
              </a:lnSpc>
              <a:spcBef>
                <a:spcPts val="500"/>
              </a:spcBef>
              <a:spcAft>
                <a:spcPts val="667"/>
              </a:spcAft>
              <a:buClrTx/>
              <a:buSzPct val="90000"/>
              <a:buFont typeface="Arial" panose="020B0604020202020204" pitchFamily="34" charset="0"/>
              <a:buNone/>
              <a:tabLst/>
              <a:defRPr b="0" i="0">
                <a:latin typeface="Amazon Ember" panose="020B0603020204020204" pitchFamily="34" charset="0"/>
                <a:ea typeface="Amazon Ember" panose="020B0603020204020204" pitchFamily="34" charset="0"/>
                <a:cs typeface="Amazon Ember" panose="020B0603020204020204" pitchFamily="34" charset="0"/>
              </a:defRPr>
            </a:lvl5pPr>
            <a:lvl6pPr marL="2228755" indent="0">
              <a:buNone/>
              <a:defRPr/>
            </a:lvl6pPr>
          </a:lstStyle>
          <a:p>
            <a:pPr lvl="0"/>
            <a:r>
              <a:rPr lang="en-US" dirty="0"/>
              <a:t>Click to edit master text styles</a:t>
            </a:r>
          </a:p>
          <a:p>
            <a:pPr lvl="1"/>
            <a:r>
              <a:rPr lang="en-US" dirty="0"/>
              <a:t>Second level</a:t>
            </a:r>
          </a:p>
          <a:p>
            <a:pPr lvl="1"/>
            <a:r>
              <a:rPr lang="en-US" dirty="0"/>
              <a:t>Third  level</a:t>
            </a:r>
          </a:p>
          <a:p>
            <a:pPr lvl="1"/>
            <a:r>
              <a:rPr lang="en-US" dirty="0"/>
              <a:t>Fourth level</a:t>
            </a:r>
          </a:p>
        </p:txBody>
      </p:sp>
    </p:spTree>
    <p:extLst>
      <p:ext uri="{BB962C8B-B14F-4D97-AF65-F5344CB8AC3E}">
        <p14:creationId xmlns:p14="http://schemas.microsoft.com/office/powerpoint/2010/main" val="349119910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Title_and_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875" y="289511"/>
            <a:ext cx="11652356" cy="671065"/>
          </a:xfrm>
        </p:spPr>
        <p:txBody>
          <a:bodyPr lIns="182880" tIns="146304" rIns="182880" bIns="146304"/>
          <a:lstStyle>
            <a:lvl1pPr>
              <a:defRPr/>
            </a:lvl1pPr>
          </a:lstStyle>
          <a:p>
            <a:r>
              <a:rPr lang="en-US" dirty="0"/>
              <a:t>Click to edit master title style</a:t>
            </a:r>
          </a:p>
        </p:txBody>
      </p:sp>
      <p:sp>
        <p:nvSpPr>
          <p:cNvPr id="4" name="Text Placeholder 3">
            <a:extLst>
              <a:ext uri="{FF2B5EF4-FFF2-40B4-BE49-F238E27FC236}">
                <a16:creationId xmlns:a16="http://schemas.microsoft.com/office/drawing/2014/main" id="{772055D2-C6C9-491F-97FF-B9A772BC8833}"/>
              </a:ext>
            </a:extLst>
          </p:cNvPr>
          <p:cNvSpPr>
            <a:spLocks noGrp="1"/>
          </p:cNvSpPr>
          <p:nvPr>
            <p:ph type="body" sz="quarter" idx="10" hasCustomPrompt="1"/>
          </p:nvPr>
        </p:nvSpPr>
        <p:spPr>
          <a:xfrm>
            <a:off x="269875" y="987468"/>
            <a:ext cx="11652250" cy="424732"/>
          </a:xfrm>
        </p:spPr>
        <p:txBody>
          <a:bodyPr/>
          <a:lstStyle>
            <a:lvl1pPr marL="0" indent="0">
              <a:buNone/>
              <a:defRPr sz="2400">
                <a:solidFill>
                  <a:schemeClr val="accent1"/>
                </a:solidFill>
              </a:defRPr>
            </a:lvl1pPr>
          </a:lstStyle>
          <a:p>
            <a:pPr lvl="0"/>
            <a:r>
              <a:rPr lang="en-US" dirty="0"/>
              <a:t>   Edit Master text styles</a:t>
            </a:r>
          </a:p>
        </p:txBody>
      </p:sp>
      <p:sp>
        <p:nvSpPr>
          <p:cNvPr id="9" name="TextBox 8">
            <a:extLst>
              <a:ext uri="{FF2B5EF4-FFF2-40B4-BE49-F238E27FC236}">
                <a16:creationId xmlns:a16="http://schemas.microsoft.com/office/drawing/2014/main" id="{4B72D103-F60B-BA4F-B273-5267FBD41466}"/>
              </a:ext>
            </a:extLst>
          </p:cNvPr>
          <p:cNvSpPr txBox="1">
            <a:spLocks noChangeArrowheads="1"/>
          </p:cNvSpPr>
          <p:nvPr userDrawn="1"/>
        </p:nvSpPr>
        <p:spPr bwMode="white">
          <a:xfrm>
            <a:off x="4445000" y="6330387"/>
            <a:ext cx="3302000" cy="115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algn="ctr" eaLnBrk="1" hangingPunct="1"/>
            <a:r>
              <a:rPr lang="en-US" altLang="x-none" sz="750" b="0" i="0" dirty="0">
                <a:solidFill>
                  <a:schemeClr val="tx2"/>
                </a:solidFill>
                <a:latin typeface="Amazon Ember" charset="0"/>
                <a:ea typeface="Amazon Ember" charset="0"/>
                <a:cs typeface="Amazon Ember" charset="0"/>
              </a:rPr>
              <a:t>© 2023, Amazon Web Services, Inc. or its affiliates. All rights reserved.</a:t>
            </a:r>
          </a:p>
        </p:txBody>
      </p:sp>
    </p:spTree>
    <p:extLst>
      <p:ext uri="{BB962C8B-B14F-4D97-AF65-F5344CB8AC3E}">
        <p14:creationId xmlns:p14="http://schemas.microsoft.com/office/powerpoint/2010/main" val="135583216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solidFill>
          <a:schemeClr val="bg1"/>
        </a:solidFill>
        <a:effectLst/>
      </p:bgPr>
    </p:bg>
    <p:spTree>
      <p:nvGrpSpPr>
        <p:cNvPr id="1" name=""/>
        <p:cNvGrpSpPr/>
        <p:nvPr/>
      </p:nvGrpSpPr>
      <p:grpSpPr>
        <a:xfrm>
          <a:off x="0" y="0"/>
          <a:ext cx="0" cy="0"/>
          <a:chOff x="0" y="0"/>
          <a:chExt cx="0" cy="0"/>
        </a:xfrm>
      </p:grpSpPr>
      <p:pic>
        <p:nvPicPr>
          <p:cNvPr id="99" name="Divider">
            <a:extLst>
              <a:ext uri="{FF2B5EF4-FFF2-40B4-BE49-F238E27FC236}">
                <a16:creationId xmlns:a16="http://schemas.microsoft.com/office/drawing/2014/main" id="{F3CAEA78-64D9-4CA8-84AB-317B5F555D3C}"/>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97" name="Slide Number">
            <a:extLst>
              <a:ext uri="{FF2B5EF4-FFF2-40B4-BE49-F238E27FC236}">
                <a16:creationId xmlns:a16="http://schemas.microsoft.com/office/drawing/2014/main" id="{02D04820-1551-4DB8-9246-39CB85899696}"/>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a:p>
        </p:txBody>
      </p:sp>
      <p:sp>
        <p:nvSpPr>
          <p:cNvPr id="3" name="Title">
            <a:extLst>
              <a:ext uri="{FF2B5EF4-FFF2-40B4-BE49-F238E27FC236}">
                <a16:creationId xmlns:a16="http://schemas.microsoft.com/office/drawing/2014/main" id="{5F8A0ED5-8D88-437F-965F-590C0BD195F1}"/>
              </a:ext>
            </a:extLst>
          </p:cNvPr>
          <p:cNvSpPr>
            <a:spLocks noGrp="1"/>
          </p:cNvSpPr>
          <p:nvPr>
            <p:ph type="title" idx="1" hasCustomPrompt="1"/>
          </p:nvPr>
        </p:nvSpPr>
        <p:spPr>
          <a:xfrm>
            <a:off x="365760" y="299526"/>
            <a:ext cx="11466576" cy="731318"/>
          </a:xfrm>
        </p:spPr>
        <p:txBody>
          <a:bodyPr/>
          <a:lstStyle>
            <a:lvl1pPr>
              <a:defRPr>
                <a:solidFill>
                  <a:srgbClr val="232F3E"/>
                </a:solidFill>
                <a:latin typeface="Amazon Ember Display Heavy"/>
              </a:defRPr>
            </a:lvl1pPr>
          </a:lstStyle>
          <a:p>
            <a:r>
              <a:rPr lang="en-US" dirty="0"/>
              <a:t>Title and text column</a:t>
            </a:r>
          </a:p>
        </p:txBody>
      </p:sp>
      <p:sp>
        <p:nvSpPr>
          <p:cNvPr id="2" name="Content">
            <a:extLst>
              <a:ext uri="{FF2B5EF4-FFF2-40B4-BE49-F238E27FC236}">
                <a16:creationId xmlns:a16="http://schemas.microsoft.com/office/drawing/2014/main" id="{C4E502B2-1435-4BCB-BD77-B9E6CB7B3BF5}"/>
              </a:ext>
            </a:extLst>
          </p:cNvPr>
          <p:cNvSpPr>
            <a:spLocks noGrp="1"/>
          </p:cNvSpPr>
          <p:nvPr>
            <p:ph idx="2" hasCustomPrompt="1"/>
          </p:nvPr>
        </p:nvSpPr>
        <p:spPr>
          <a:xfrm>
            <a:off x="365760" y="1097280"/>
            <a:ext cx="11466576" cy="5330952"/>
          </a:xfrm>
        </p:spPr>
        <p:txBody>
          <a:bodyPr>
            <a:noAutofit/>
          </a:bodyPr>
          <a:lstStyle>
            <a:lvl1pPr>
              <a:lnSpc>
                <a:spcPct val="100000"/>
              </a:lnSpc>
              <a:spcBef>
                <a:spcPts val="1000"/>
              </a:spcBef>
              <a:spcAft>
                <a:spcPts val="600"/>
              </a:spcAft>
              <a:defRPr>
                <a:solidFill>
                  <a:srgbClr val="232F3E"/>
                </a:solidFill>
              </a:defRPr>
            </a:lvl1pPr>
            <a:lvl2pPr marL="461963" indent="-228600">
              <a:lnSpc>
                <a:spcPct val="100000"/>
              </a:lnSpc>
              <a:spcBef>
                <a:spcPts val="500"/>
              </a:spcBef>
              <a:spcAft>
                <a:spcPts val="600"/>
              </a:spcAft>
              <a:defRPr>
                <a:solidFill>
                  <a:srgbClr val="232F3E"/>
                </a:solidFill>
              </a:defRPr>
            </a:lvl2pPr>
            <a:lvl3pPr marL="682625" indent="-228600">
              <a:lnSpc>
                <a:spcPct val="100000"/>
              </a:lnSpc>
              <a:spcBef>
                <a:spcPts val="500"/>
              </a:spcBef>
              <a:spcAft>
                <a:spcPts val="600"/>
              </a:spcAft>
              <a:defRPr>
                <a:solidFill>
                  <a:srgbClr val="232F3E"/>
                </a:solidFill>
              </a:defRPr>
            </a:lvl3pPr>
            <a:lvl4pPr marL="914400" indent="-228600">
              <a:lnSpc>
                <a:spcPct val="100000"/>
              </a:lnSpc>
              <a:spcBef>
                <a:spcPts val="500"/>
              </a:spcBef>
              <a:spcAft>
                <a:spcPts val="600"/>
              </a:spcAft>
              <a:defRPr>
                <a:solidFill>
                  <a:srgbClr val="232F3E"/>
                </a:solidFill>
              </a:defRPr>
            </a:lvl4pPr>
            <a:lvl5pPr marL="1146175" indent="-228600">
              <a:lnSpc>
                <a:spcPct val="100000"/>
              </a:lnSpc>
              <a:spcBef>
                <a:spcPts val="500"/>
              </a:spcBef>
              <a:spcAft>
                <a:spcPts val="600"/>
              </a:spcAft>
              <a:defRPr>
                <a:solidFill>
                  <a:srgbClr val="232F3E"/>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947861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6564E-12A4-425C-A283-B8B235FFF7C3}"/>
              </a:ext>
            </a:extLst>
          </p:cNvPr>
          <p:cNvSpPr>
            <a:spLocks noGrp="1"/>
          </p:cNvSpPr>
          <p:nvPr>
            <p:ph type="title" hasCustomPrompt="1"/>
          </p:nvPr>
        </p:nvSpPr>
        <p:spPr>
          <a:xfrm>
            <a:off x="365760" y="301751"/>
            <a:ext cx="6613109" cy="6235683"/>
          </a:xfrm>
        </p:spPr>
        <p:txBody>
          <a:bodyPr/>
          <a:lstStyle>
            <a:lvl1pPr algn="ctr">
              <a:defRPr>
                <a:solidFill>
                  <a:schemeClr val="bg1"/>
                </a:solidFill>
              </a:defRPr>
            </a:lvl1pPr>
          </a:lstStyle>
          <a:p>
            <a:r>
              <a:rPr lang="en-US" dirty="0"/>
              <a:t>Any slides that appear following this one are NOT approved for production use.</a:t>
            </a:r>
            <a:br>
              <a:rPr lang="en-US"/>
            </a:br>
            <a:br>
              <a:rPr lang="en-US"/>
            </a:br>
            <a:r>
              <a:rPr lang="en-US"/>
              <a:t>-----------</a:t>
            </a:r>
            <a:br>
              <a:rPr lang="en-US"/>
            </a:br>
            <a:br>
              <a:rPr lang="en-US"/>
            </a:br>
            <a:r>
              <a:rPr lang="en-US"/>
              <a:t>Please </a:t>
            </a:r>
            <a:r>
              <a:rPr lang="en-US" dirty="0"/>
              <a:t>be sure to remove them before you </a:t>
            </a:r>
            <a:r>
              <a:rPr lang="en-US"/>
              <a:t>publish this deck.</a:t>
            </a:r>
            <a:endParaRPr lang="en-US" dirty="0"/>
          </a:p>
        </p:txBody>
      </p:sp>
      <p:sp>
        <p:nvSpPr>
          <p:cNvPr id="3" name="Slide Number Placeholder 2">
            <a:extLst>
              <a:ext uri="{FF2B5EF4-FFF2-40B4-BE49-F238E27FC236}">
                <a16:creationId xmlns:a16="http://schemas.microsoft.com/office/drawing/2014/main" id="{664A4F83-86A8-4C1D-A1E6-8D3A1610F4E7}"/>
              </a:ext>
            </a:extLst>
          </p:cNvPr>
          <p:cNvSpPr>
            <a:spLocks noGrp="1"/>
          </p:cNvSpPr>
          <p:nvPr>
            <p:ph type="sldNum" idx="10"/>
          </p:nvPr>
        </p:nvSpPr>
        <p:spPr/>
        <p:txBody>
          <a:bodyPr/>
          <a:lstStyle/>
          <a:p>
            <a:fld id="{4037B1B0-0345-4E15-985A-6BECCDBE474F}" type="slidenum">
              <a:rPr lang="en-US" smtClean="0"/>
              <a:pPr/>
              <a:t>‹#›</a:t>
            </a:fld>
            <a:endParaRPr lang="en-US" dirty="0"/>
          </a:p>
        </p:txBody>
      </p:sp>
      <p:sp>
        <p:nvSpPr>
          <p:cNvPr id="4" name="Octagon 3">
            <a:extLst>
              <a:ext uri="{FF2B5EF4-FFF2-40B4-BE49-F238E27FC236}">
                <a16:creationId xmlns:a16="http://schemas.microsoft.com/office/drawing/2014/main" id="{A956A5A2-BB71-417D-9961-66F664368EAB}"/>
              </a:ext>
            </a:extLst>
          </p:cNvPr>
          <p:cNvSpPr/>
          <p:nvPr userDrawn="1"/>
        </p:nvSpPr>
        <p:spPr>
          <a:xfrm>
            <a:off x="7348648" y="978647"/>
            <a:ext cx="4360244" cy="4360244"/>
          </a:xfrm>
          <a:prstGeom prst="octag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800" dirty="0"/>
              <a:t>STOP</a:t>
            </a:r>
          </a:p>
        </p:txBody>
      </p:sp>
    </p:spTree>
    <p:custDataLst>
      <p:tags r:id="rId1"/>
    </p:custDataLst>
    <p:extLst>
      <p:ext uri="{BB962C8B-B14F-4D97-AF65-F5344CB8AC3E}">
        <p14:creationId xmlns:p14="http://schemas.microsoft.com/office/powerpoint/2010/main" val="268742607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D1B7856-86B6-C439-5A4E-2716AC2726C5}"/>
              </a:ext>
            </a:extLst>
          </p:cNvPr>
          <p:cNvSpPr>
            <a:spLocks noGrp="1"/>
          </p:cNvSpPr>
          <p:nvPr>
            <p:ph type="title"/>
          </p:nvPr>
        </p:nvSpPr>
        <p:spPr>
          <a:xfrm>
            <a:off x="304800" y="304800"/>
            <a:ext cx="11582400" cy="638175"/>
          </a:xfrm>
          <a:prstGeom prst="rect">
            <a:avLst/>
          </a:prstGeom>
        </p:spPr>
        <p:txBody>
          <a:bodyPr vert="horz" lIns="0" tIns="45720" rIns="0" bIns="45720" rtlCol="0" anchor="t">
            <a:noAutofit/>
          </a:bodyPr>
          <a:lstStyle/>
          <a:p>
            <a:r>
              <a:rPr lang="en-US" dirty="0"/>
              <a:t>Click to edit Master title style</a:t>
            </a:r>
          </a:p>
        </p:txBody>
      </p:sp>
      <p:sp>
        <p:nvSpPr>
          <p:cNvPr id="8" name="Text Placeholder 2">
            <a:extLst>
              <a:ext uri="{FF2B5EF4-FFF2-40B4-BE49-F238E27FC236}">
                <a16:creationId xmlns:a16="http://schemas.microsoft.com/office/drawing/2014/main" id="{293678F1-827C-37CE-9534-B824154D17A1}"/>
              </a:ext>
            </a:extLst>
          </p:cNvPr>
          <p:cNvSpPr>
            <a:spLocks noGrp="1"/>
          </p:cNvSpPr>
          <p:nvPr>
            <p:ph type="body" idx="1"/>
          </p:nvPr>
        </p:nvSpPr>
        <p:spPr>
          <a:xfrm>
            <a:off x="304801" y="1485900"/>
            <a:ext cx="11582400" cy="1844608"/>
          </a:xfrm>
          <a:prstGeom prst="rect">
            <a:avLst/>
          </a:prstGeom>
        </p:spPr>
        <p:txBody>
          <a:bodyPr vert="horz" lIns="0" tIns="45720" rIns="0" bIns="4572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3">
            <a:extLst>
              <a:ext uri="{FF2B5EF4-FFF2-40B4-BE49-F238E27FC236}">
                <a16:creationId xmlns:a16="http://schemas.microsoft.com/office/drawing/2014/main" id="{8F793518-C540-EA36-B2F1-1E52B9AE4377}"/>
              </a:ext>
            </a:extLst>
          </p:cNvPr>
          <p:cNvSpPr txBox="1">
            <a:spLocks noChangeArrowheads="1"/>
          </p:cNvSpPr>
          <p:nvPr userDrawn="1"/>
        </p:nvSpPr>
        <p:spPr bwMode="white">
          <a:xfrm>
            <a:off x="1101540" y="6476853"/>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l" defTabSz="1097212" eaLnBrk="1" fontAlgn="auto" hangingPunct="1">
              <a:spcBef>
                <a:spcPts val="0"/>
              </a:spcBef>
              <a:spcAft>
                <a:spcPts val="0"/>
              </a:spcAft>
              <a:defRPr/>
            </a:pPr>
            <a:r>
              <a:rPr lang="en-US" altLang="x-none" sz="700" b="0" i="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 2026, Amazon Web Services, Inc. or its affiliates. All rights reserved.</a:t>
            </a:r>
          </a:p>
        </p:txBody>
      </p:sp>
      <p:pic>
        <p:nvPicPr>
          <p:cNvPr id="10" name="Graphic 9">
            <a:extLst>
              <a:ext uri="{FF2B5EF4-FFF2-40B4-BE49-F238E27FC236}">
                <a16:creationId xmlns:a16="http://schemas.microsoft.com/office/drawing/2014/main" id="{A6824A1F-4127-5A43-EFDE-26C5ED2C8C4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4801" y="6428661"/>
            <a:ext cx="388818" cy="232516"/>
          </a:xfrm>
          <a:prstGeom prst="rect">
            <a:avLst/>
          </a:prstGeom>
        </p:spPr>
      </p:pic>
      <p:sp>
        <p:nvSpPr>
          <p:cNvPr id="11" name="Rectangle 10">
            <a:extLst>
              <a:ext uri="{FF2B5EF4-FFF2-40B4-BE49-F238E27FC236}">
                <a16:creationId xmlns:a16="http://schemas.microsoft.com/office/drawing/2014/main" id="{3FFEE849-2B68-A88E-BDBD-979547D331AC}"/>
              </a:ext>
            </a:extLst>
          </p:cNvPr>
          <p:cNvSpPr/>
          <p:nvPr userDrawn="1"/>
        </p:nvSpPr>
        <p:spPr>
          <a:xfrm>
            <a:off x="0" y="0"/>
            <a:ext cx="80304" cy="6858000"/>
          </a:xfrm>
          <a:prstGeom prst="rect">
            <a:avLst/>
          </a:prstGeom>
          <a:solidFill>
            <a:srgbClr val="232E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8777961"/>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2" r:id="rId7"/>
    <p:sldLayoutId id="2147483725" r:id="rId8"/>
    <p:sldLayoutId id="2147483726" r:id="rId9"/>
    <p:sldLayoutId id="2147483727" r:id="rId10"/>
    <p:sldLayoutId id="2147483730" r:id="rId11"/>
    <p:sldLayoutId id="2147483750" r:id="rId12"/>
    <p:sldLayoutId id="2147483751" r:id="rId13"/>
  </p:sldLayoutIdLst>
  <p:txStyles>
    <p:titleStyle>
      <a:lvl1pPr algn="l" defTabSz="914400" rtl="0" eaLnBrk="1" latinLnBrk="0" hangingPunct="1">
        <a:lnSpc>
          <a:spcPct val="90000"/>
        </a:lnSpc>
        <a:spcBef>
          <a:spcPct val="0"/>
        </a:spcBef>
        <a:buNone/>
        <a:defRPr sz="4400" b="1" i="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32E3D"/>
          </a:solidFill>
          <a:latin typeface="Amazon Ember Display" panose="020F0603020204020204" pitchFamily="34" charset="0"/>
          <a:ea typeface="Amazon Ember Display" panose="020F0603020204020204" pitchFamily="34" charset="0"/>
          <a:cs typeface="Amazon Ember Display" panose="020F06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skillbuilder.aws/learning-plan/Q9U98QN2C9/AWS-Partner-Certification-Readiness---Developer---Associate/QBX3UNMC92" TargetMode="External"/><Relationship Id="rId4" Type="http://schemas.openxmlformats.org/officeDocument/2006/relationships/hyperlink" Target="https://skillbuilder.aws/learning-plan/ZWHYYQBTUK/exam-prep-plan-aws-certified-developer--associate-dvac02--english/NG34SRVV2G" TargetMode="External"/><Relationship Id="rId5" Type="http://schemas.openxmlformats.org/officeDocument/2006/relationships/hyperlink" Target="https://aws.amazon.com/certification/certified-developer-associat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skillbuilder.aws/learn" TargetMode="External"/><Relationship Id="rId4" Type="http://schemas.openxmlformats.org/officeDocument/2006/relationships/hyperlink" Target="https://skillbuilder.aws/subscriptions" TargetMode="External"/><Relationship Id="rId5" Type="http://schemas.openxmlformats.org/officeDocument/2006/relationships/hyperlink" Target="https://skillbuilder.aws/learn/5EHN168DQA/aws-cloud-quest-serverless-developer/EHKXGX5TZQ"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docs.aws.amazon.com/whitepapers/latest/aws-overview/global-infrastructure.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docs.aws.amazon.com/AWSEC2/latest/UserGuide/using-regions-availability-zones.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hyperlink" Target="https://docs.aws.amazon.com/AmazonCloudFront/latest/DeveloperGuide/Introduction.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hyperlink" Target="https://docs.aws.amazon.com/AmazonCloudFront/latest/DeveloperGuide/HowCloudFrontWorks.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docs.aws.amazon.com/AmazonCloudFront/latest/DeveloperGuide/HowCloudFrontWorks.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docs.aws.amazon.com/AmazonCloudFront/latest/DeveloperGuide/HowCloudFrontWorks.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tps://docs.aws.amazon.com/AmazonS3/latest/userguide/using-presigned-url.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s://docs.aws.amazon.com/whitepapers/latest/aws-overview/compute-service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docs.aws.amazon.com/AWSEC2/latest/UserGuide/AMIs.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docs.aws.amazon.com/whitepapers/latest/aws-overview/storage-service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docs.aws.amazon.com/whitepapers/latest/aws-overview/storage-services.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hyperlink" Target="https://docs.aws.amazon.com/autoscaling/ec2/userguide/what-is-amazon-ec2-auto-scaling.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s://docs.aws.amazon.com/autoscaling/plans/userguide/what-is-a-scaling-plan.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hyperlink" Target="https://docs.aws.amazon.com/elasticloadbalancing/latest/userguide/what-is-load-balancing.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aws.amazon.com/solutions/case-studies/anzu-case-study/"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docs.aws.amazon.com/AmazonECS/latest/developerguide/Welcome.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docs.aws.amazon.com/eks/latest/userguide/what-is-eks.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docs.aws.amazon.com/AmazonECS/latest/developerguide/AWS_Fargate.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docs.aws.amazon.com/AmazonECR/latest/userguide/what-is-ecr.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hyperlink" Target="https://aws.amazon.com/solutions/case-studies/bill-ecs-case-study/"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hyperlink" Target="https://docs.aws.amazon.com/vpc/latest/userguide/what-is-amazon-vpc.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docs.aws.amazon.com/vpc/latest/userguide/what-is-amazon-vpc.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hyperlink" Target="https://docs.aws.amazon.com/vpc/latest/userguide/infrastructure-security.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docs.aws.amazon.com/vpc/latest/userguide/vpc-network-acls.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docs.aws.amazon.com/vpc/latest/userguide/vpc-security-groups.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0.png"/><Relationship Id="rId4" Type="http://schemas.openxmlformats.org/officeDocument/2006/relationships/image" Target="../media/image14.png"/><Relationship Id="rId5" Type="http://schemas.openxmlformats.org/officeDocument/2006/relationships/hyperlink" Target="https://docs.aws.amazon.com/vpc/latest/privatelink/what-is-privatelink.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hyperlink" Target="https://docs.aws.amazon.com/Route53/latest/DeveloperGuide/Welcome.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docs.aws.amazon.com/IAM/latest/UserGuide/introduction.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hyperlink" Target="https://docs.aws.amazon.com/IAM/latest/UserGuide/id_groups.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hyperlink" Target="https://docs.aws.amazon.com/IAM/latest/UserGuide/id_roles.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hyperlink" Target="https://docs.aws.amazon.com/IAM/latest/UserGuide/id_credentials_temp.html"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docs.aws.amazon.com/IAM/latest/UserGuide/access_policies.html"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docs.aws.amazon.com/IAM/latest/UserGuide/access_policies.htm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hyperlink" Target="https://docs.aws.amazon.com/IAM/latest/UserGuide/introduction_attribute-based-access-control.html"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hyperlink" Target="https://docs.aws.amazon.com/vpc/latest/userguide/flow-logs.html"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hyperlink" Target="https://docs.aws.amazon.com/AmazonElastiCache/latest/dg/elasticache-use-cases.htm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hyperlink" Target="https://docs.aws.amazon.com/elasticloadbalancing/latest/application/application-load-balancers.html"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hyperlink" Target="https://docs.aws.amazon.com/IAM/latest/UserGuide/id_roles_use_switch-role-ec2.html"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hyperlink" Target="https://docs.aws.amazon.com/autoscaling/ec2/userguide/health-checks-overview.html"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hyperlink" Target="https://docs.aws.amazon.com/Route53/latest/DeveloperGuide/dns-failover.html"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hyperlink" Target="https://aws.amazon.com/blogs/training-and-certification/september-2026-new-offerings/"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hyperlink" Target="https://aws.amazon.com/blogs/training-and-certification/september-2026-new-offerings/" TargetMode="Externa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E4E6C1-8483-4665-979C-A11FC16603DD}"/>
              </a:ext>
            </a:extLst>
          </p:cNvPr>
          <p:cNvSpPr txBox="1"/>
          <p:nvPr/>
        </p:nvSpPr>
        <p:spPr>
          <a:xfrm>
            <a:off x="371417" y="1118707"/>
            <a:ext cx="6649493" cy="5958939"/>
          </a:xfrm>
          <a:prstGeom prst="rect">
            <a:avLst/>
          </a:prstGeom>
          <a:noFill/>
        </p:spPr>
        <p:txBody>
          <a:bodyPr wrap="square" rtlCol="0">
            <a:spAutoFit/>
          </a:bodyPr>
          <a:lstStyle/>
          <a:p>
            <a:r>
              <a:rPr lang="en-US" b="1" dirty="0">
                <a:solidFill>
                  <a:schemeClr val="bg1"/>
                </a:solidFill>
              </a:rPr>
              <a:t>Reminders:</a:t>
            </a:r>
          </a:p>
          <a:p>
            <a:pPr marL="342900" indent="-342900">
              <a:buFont typeface="+mj-lt"/>
              <a:buAutoNum type="arabicPeriod"/>
            </a:pPr>
            <a:r>
              <a:rPr lang="en-US" dirty="0">
                <a:solidFill>
                  <a:schemeClr val="bg1"/>
                </a:solidFill>
              </a:rPr>
              <a:t>Content Developed and owned by the AWS Partner Certification Readiness (APCR) team – </a:t>
            </a:r>
            <a:r>
              <a:rPr lang="en-US" b="1" dirty="0">
                <a:solidFill>
                  <a:schemeClr val="bg1"/>
                </a:solidFill>
              </a:rPr>
              <a:t>may not</a:t>
            </a:r>
            <a:r>
              <a:rPr lang="en-US" dirty="0">
                <a:solidFill>
                  <a:schemeClr val="bg1"/>
                </a:solidFill>
              </a:rPr>
              <a:t> be used or delivered outside of an authorized APCR Event delivery. </a:t>
            </a:r>
          </a:p>
          <a:p>
            <a:pPr marL="342900" indent="-342900">
              <a:buFont typeface="+mj-lt"/>
              <a:buAutoNum type="arabicPeriod"/>
            </a:pPr>
            <a:r>
              <a:rPr lang="en-US" i="1" dirty="0">
                <a:solidFill>
                  <a:schemeClr val="bg1"/>
                </a:solidFill>
              </a:rPr>
              <a:t>Do not</a:t>
            </a:r>
            <a:r>
              <a:rPr lang="en-US" dirty="0">
                <a:solidFill>
                  <a:schemeClr val="bg1"/>
                </a:solidFill>
              </a:rPr>
              <a:t> suggest with guaranteed certification outcomes, or discuss pass rates with attendees.</a:t>
            </a:r>
          </a:p>
          <a:p>
            <a:pPr marL="342900" indent="-342900">
              <a:buFont typeface="+mj-lt"/>
              <a:buAutoNum type="arabicPeriod"/>
            </a:pPr>
            <a:r>
              <a:rPr lang="en-US" dirty="0">
                <a:solidFill>
                  <a:schemeClr val="bg1"/>
                </a:solidFill>
              </a:rPr>
              <a:t>Minimal content modifications are expected. Please highlight to the APCR team significant tailoring needs, OR any noted inaccuracies in the content. Improvement suggestions always welcome. </a:t>
            </a:r>
          </a:p>
          <a:p>
            <a:pPr marL="342900" indent="-342900">
              <a:buFont typeface="+mj-lt"/>
              <a:buAutoNum type="arabicPeriod"/>
            </a:pPr>
            <a:r>
              <a:rPr lang="en-US" dirty="0">
                <a:solidFill>
                  <a:schemeClr val="bg1"/>
                </a:solidFill>
              </a:rPr>
              <a:t>Have fun – You’re representing AWS. Our core goal is to get these individuals Certified, but your enthusiasm, engagement, and professional experiences are what keep them returning to the live sessions!</a:t>
            </a:r>
          </a:p>
          <a:p>
            <a:pPr marL="342900" indent="-342900">
              <a:buFont typeface="+mj-lt"/>
              <a:buAutoNum type="arabicPeriod"/>
            </a:pPr>
            <a:endParaRPr lang="en-US" dirty="0">
              <a:solidFill>
                <a:schemeClr val="bg1"/>
              </a:solidFill>
            </a:endParaRPr>
          </a:p>
          <a:p>
            <a:pPr marL="342900" indent="-342900">
              <a:buFont typeface="+mj-lt"/>
              <a:buAutoNum type="arabicPeriod"/>
            </a:pPr>
            <a:endParaRPr lang="en-US" i="1" dirty="0">
              <a:solidFill>
                <a:schemeClr val="bg1"/>
              </a:solidFill>
            </a:endParaRPr>
          </a:p>
          <a:p>
            <a:pPr marL="342900" indent="-342900">
              <a:buFont typeface="+mj-lt"/>
              <a:buAutoNum type="arabicPeriod"/>
            </a:pPr>
            <a:endParaRPr lang="en-US" i="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74904" y="1115568"/>
            <a:ext cx="6647688" cy="2699713"/>
          </a:xfrm>
          <a:prstGeom prst="rect">
            <a:avLst/>
          </a:prstGeom>
          <a:noFill/>
        </p:spPr>
        <p:txBody>
          <a:bodyPr wrap="square">
            <a:spAutoFit/>
          </a:bodyPr>
          <a:lstStyle/>
          <a:p>
            <a:pPr algn="l"/>
            <a:r>
              <a:rPr b="1" dirty="0">
                <a:solidFill>
                  <a:schemeClr val="bg1"/>
                </a:solidFill>
              </a:rPr>
              <a:t>STOP -- read before presenting the Customer Case slides:</a:t>
            </a:r>
          </a:p>
          <a:p>
            <a:pPr algn="l"/>
            <a:r>
              <a:rPr dirty="0">
                <a:solidFill>
                  <a:schemeClr val="bg1"/>
                </a:solidFill>
              </a:rPr>
              <a:t>These are published AWS customer stories, not promotional claims and not your own</a:t>
            </a:r>
          </a:p>
          <a:p>
            <a:pPr algn="l"/>
            <a:r>
              <a:rPr dirty="0">
                <a:solidFill>
                  <a:schemeClr val="bg1"/>
                </a:solidFill>
              </a:rPr>
              <a:t>engagements. Present each working backwards from the customer's problem.</a:t>
            </a:r>
          </a:p>
          <a:p>
            <a:pPr algn="l"/>
            <a:r>
              <a:rPr dirty="0">
                <a:solidFill>
                  <a:schemeClr val="bg1"/>
                </a:solidFill>
              </a:rPr>
              <a:t>Read the speaker notes on this slide before you show them. This slide is hidden</a:t>
            </a:r>
          </a:p>
          <a:p>
            <a:pPr algn="l"/>
            <a:r>
              <a:rPr dirty="0">
                <a:solidFill>
                  <a:schemeClr val="bg1"/>
                </a:solidFill>
              </a:rPr>
              <a:t>and must stay hidden -- remove it before exporting a PDF.</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Content Review — Session 1</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2648" y="1298448"/>
            <a:ext cx="10972800" cy="548640"/>
          </a:xfrm>
          <a:prstGeom prst="rect">
            <a:avLst/>
          </a:prstGeom>
          <a:noFill/>
        </p:spPr>
        <p:txBody>
          <a:bodyPr wrap="square" anchor="t">
            <a:noAutofit/>
          </a:bodyPr>
          <a:lstStyle/>
          <a:p>
            <a:pPr algn="l"/>
            <a:r>
              <a:rPr sz="2800" b="1" i="0">
                <a:solidFill>
                  <a:srgbClr val="8F0072"/>
                </a:solidFill>
                <a:latin typeface="Amazon Ember Display"/>
              </a:rPr>
              <a:t>AWS Certified Developer – Associate</a:t>
            </a:r>
          </a:p>
        </p:txBody>
      </p:sp>
      <p:sp>
        <p:nvSpPr>
          <p:cNvPr id="5" name="TextBox 4"/>
          <p:cNvSpPr txBox="1"/>
          <p:nvPr/>
        </p:nvSpPr>
        <p:spPr>
          <a:xfrm>
            <a:off x="612648" y="1993392"/>
            <a:ext cx="10972800" cy="457200"/>
          </a:xfrm>
          <a:prstGeom prst="rect">
            <a:avLst/>
          </a:prstGeom>
          <a:noFill/>
        </p:spPr>
        <p:txBody>
          <a:bodyPr wrap="square" anchor="t">
            <a:noAutofit/>
          </a:bodyPr>
          <a:lstStyle/>
          <a:p>
            <a:pPr algn="l"/>
            <a:r>
              <a:rPr sz="2200" b="0" i="0">
                <a:solidFill>
                  <a:srgbClr val="5A6B7B"/>
                </a:solidFill>
                <a:latin typeface="Amazon Ember Display"/>
              </a:rPr>
              <a:t>AWS Partner Certification Readiness</a:t>
            </a:r>
          </a:p>
        </p:txBody>
      </p:sp>
      <p:pic>
        <p:nvPicPr>
          <p:cNvPr id="6" name="Picture 5" descr="APCR-Octopus-crop.png"/>
          <p:cNvPicPr>
            <a:picLocks noChangeAspect="1"/>
          </p:cNvPicPr>
          <p:nvPr/>
        </p:nvPicPr>
        <p:blipFill>
          <a:blip r:embed="rId3"/>
          <a:stretch>
            <a:fillRect/>
          </a:stretch>
        </p:blipFill>
        <p:spPr>
          <a:xfrm>
            <a:off x="612648" y="2834640"/>
            <a:ext cx="4480560" cy="2520315"/>
          </a:xfrm>
          <a:prstGeom prst="rect">
            <a:avLst/>
          </a:prstGeom>
        </p:spPr>
      </p:pic>
      <p:sp>
        <p:nvSpPr>
          <p:cNvPr id="7" name="Isosceles Triangle 6"/>
          <p:cNvSpPr/>
          <p:nvPr/>
        </p:nvSpPr>
        <p:spPr>
          <a:xfrm rot="16200000">
            <a:off x="5202936" y="3893515"/>
            <a:ext cx="274320" cy="402336"/>
          </a:xfrm>
          <a:prstGeom prst="triangle">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04104" y="3555187"/>
            <a:ext cx="4663440" cy="1078992"/>
          </a:xfrm>
          <a:prstGeom prst="roundRect">
            <a:avLst>
              <a:gd name="adj" fmla="val 3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660136" y="3710635"/>
            <a:ext cx="4151375" cy="329184"/>
          </a:xfrm>
          <a:prstGeom prst="rect">
            <a:avLst/>
          </a:prstGeom>
          <a:noFill/>
        </p:spPr>
        <p:txBody>
          <a:bodyPr wrap="square" anchor="t">
            <a:noAutofit/>
          </a:bodyPr>
          <a:lstStyle/>
          <a:p>
            <a:pPr algn="ctr"/>
            <a:r>
              <a:rPr sz="1900" b="1" i="0">
                <a:solidFill>
                  <a:srgbClr val="232B37"/>
                </a:solidFill>
                <a:latin typeface="Amazon Ember Display"/>
              </a:rPr>
              <a:t>Welcome to Session 1.</a:t>
            </a:r>
          </a:p>
        </p:txBody>
      </p:sp>
      <p:sp>
        <p:nvSpPr>
          <p:cNvPr id="10" name="TextBox 9"/>
          <p:cNvSpPr txBox="1"/>
          <p:nvPr/>
        </p:nvSpPr>
        <p:spPr>
          <a:xfrm>
            <a:off x="5660136" y="4122115"/>
            <a:ext cx="4151375" cy="329184"/>
          </a:xfrm>
          <a:prstGeom prst="rect">
            <a:avLst/>
          </a:prstGeom>
          <a:noFill/>
        </p:spPr>
        <p:txBody>
          <a:bodyPr wrap="square" anchor="t">
            <a:noAutofit/>
          </a:bodyPr>
          <a:lstStyle/>
          <a:p>
            <a:pPr algn="ctr"/>
            <a:r>
              <a:rPr sz="1900" b="1" i="0">
                <a:solidFill>
                  <a:srgbClr val="232B37"/>
                </a:solidFill>
                <a:latin typeface="Amazon Ember Display"/>
              </a:rPr>
              <a:t>Ready to get started?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Event check-in</a:t>
            </a:r>
          </a:p>
        </p:txBody>
      </p:sp>
      <p:sp>
        <p:nvSpPr>
          <p:cNvPr id="3" name="Text Placeholder 2"/>
          <p:cNvSpPr>
            <a:spLocks noGrp="1"/>
          </p:cNvSpPr>
          <p:nvPr>
            <p:ph type="body" sz="quarter" idx="11"/>
          </p:nvPr>
        </p:nvSpPr>
        <p:spPr>
          <a:xfrm>
            <a:off x="322916" y="2434551"/>
            <a:ext cx="3847337" cy="313932"/>
          </a:xfrm>
        </p:spPr>
        <p:txBody>
          <a:bodyPr/>
          <a:lstStyle/>
          <a:p>
            <a:r>
              <a:rPr sz="1800" b="1">
                <a:solidFill>
                  <a:srgbClr val="FF57E9"/>
                </a:solidFill>
                <a:latin typeface="Amazon Ember Display"/>
              </a:rPr>
              <a:t>DEVELOPER – ASSOCIATE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Event Overview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21208" y="1426464"/>
            <a:ext cx="11155680" cy="658368"/>
          </a:xfrm>
          <a:prstGeom prst="rect">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67512" y="1481328"/>
            <a:ext cx="7589520" cy="658368"/>
          </a:xfrm>
          <a:prstGeom prst="rect">
            <a:avLst/>
          </a:prstGeom>
          <a:noFill/>
        </p:spPr>
        <p:txBody>
          <a:bodyPr wrap="square" anchor="ctr">
            <a:noAutofit/>
          </a:bodyPr>
          <a:lstStyle/>
          <a:p>
            <a:pPr algn="l"/>
            <a:r>
              <a:rPr sz="1800" b="1" i="0">
                <a:solidFill>
                  <a:srgbClr val="232B37"/>
                </a:solidFill>
                <a:latin typeface="Amazon Ember Display"/>
              </a:rPr>
              <a:t>Attend the kickoff session</a:t>
            </a:r>
          </a:p>
        </p:txBody>
      </p:sp>
      <p:sp>
        <p:nvSpPr>
          <p:cNvPr id="6" name="Rounded Rectangle 5"/>
          <p:cNvSpPr/>
          <p:nvPr/>
        </p:nvSpPr>
        <p:spPr>
          <a:xfrm>
            <a:off x="8567928" y="1554480"/>
            <a:ext cx="2926080" cy="512064"/>
          </a:xfrm>
          <a:prstGeom prst="roundRect">
            <a:avLst>
              <a:gd name="adj" fmla="val 3000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732519" y="1668272"/>
            <a:ext cx="2596896" cy="284479"/>
          </a:xfrm>
          <a:prstGeom prst="rect">
            <a:avLst/>
          </a:prstGeom>
          <a:noFill/>
        </p:spPr>
        <p:txBody>
          <a:bodyPr wrap="square" anchor="t">
            <a:noAutofit/>
          </a:bodyPr>
          <a:lstStyle/>
          <a:p>
            <a:pPr algn="ctr"/>
            <a:r>
              <a:rPr sz="1600" b="1" i="0">
                <a:solidFill>
                  <a:srgbClr val="8F0072"/>
                </a:solidFill>
                <a:latin typeface="Amazon Ember Display"/>
              </a:rPr>
              <a:t>Scheduled session</a:t>
            </a:r>
          </a:p>
        </p:txBody>
      </p:sp>
      <p:sp>
        <p:nvSpPr>
          <p:cNvPr id="8" name="TextBox 7">
            <a:hlinkClick r:id="rId3"/>
          </p:cNvPr>
          <p:cNvSpPr txBox="1"/>
          <p:nvPr/>
        </p:nvSpPr>
        <p:spPr>
          <a:xfrm>
            <a:off x="667512" y="2258568"/>
            <a:ext cx="7589520" cy="658368"/>
          </a:xfrm>
          <a:prstGeom prst="rect">
            <a:avLst/>
          </a:prstGeom>
          <a:noFill/>
        </p:spPr>
        <p:txBody>
          <a:bodyPr wrap="square" anchor="ctr">
            <a:noAutofit/>
          </a:bodyPr>
          <a:lstStyle/>
          <a:p>
            <a:pPr algn="l"/>
            <a:r>
              <a:rPr sz="1800" b="1" i="0" u="sng">
                <a:solidFill>
                  <a:srgbClr val="0563C1"/>
                </a:solidFill>
                <a:latin typeface="Amazon Ember Display"/>
                <a:hlinkClick r:id="rId3"/>
              </a:rPr>
              <a:t>Complete the weekly digital training</a:t>
            </a:r>
          </a:p>
        </p:txBody>
      </p:sp>
      <p:sp>
        <p:nvSpPr>
          <p:cNvPr id="9" name="Rounded Rectangle 8"/>
          <p:cNvSpPr/>
          <p:nvPr/>
        </p:nvSpPr>
        <p:spPr>
          <a:xfrm>
            <a:off x="8567928" y="2331720"/>
            <a:ext cx="2926080" cy="512064"/>
          </a:xfrm>
          <a:prstGeom prst="roundRect">
            <a:avLst>
              <a:gd name="adj" fmla="val 3000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732519" y="2445512"/>
            <a:ext cx="2596896" cy="284479"/>
          </a:xfrm>
          <a:prstGeom prst="rect">
            <a:avLst/>
          </a:prstGeom>
          <a:noFill/>
        </p:spPr>
        <p:txBody>
          <a:bodyPr wrap="square" anchor="t">
            <a:noAutofit/>
          </a:bodyPr>
          <a:lstStyle/>
          <a:p>
            <a:pPr algn="ctr"/>
            <a:r>
              <a:rPr sz="1600" b="1" i="0">
                <a:solidFill>
                  <a:srgbClr val="8F0072"/>
                </a:solidFill>
                <a:latin typeface="Amazon Ember Display"/>
              </a:rPr>
              <a:t>Self-paced digital</a:t>
            </a:r>
          </a:p>
        </p:txBody>
      </p:sp>
      <p:sp>
        <p:nvSpPr>
          <p:cNvPr id="11" name="Rectangle 10"/>
          <p:cNvSpPr/>
          <p:nvPr/>
        </p:nvSpPr>
        <p:spPr>
          <a:xfrm>
            <a:off x="521208" y="2980944"/>
            <a:ext cx="11155680" cy="658368"/>
          </a:xfrm>
          <a:prstGeom prst="rect">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hlinkClick r:id="rId4"/>
          </p:cNvPr>
          <p:cNvSpPr txBox="1"/>
          <p:nvPr/>
        </p:nvSpPr>
        <p:spPr>
          <a:xfrm>
            <a:off x="667512" y="3035808"/>
            <a:ext cx="7589520" cy="658368"/>
          </a:xfrm>
          <a:prstGeom prst="rect">
            <a:avLst/>
          </a:prstGeom>
          <a:noFill/>
        </p:spPr>
        <p:txBody>
          <a:bodyPr wrap="square" anchor="ctr">
            <a:noAutofit/>
          </a:bodyPr>
          <a:lstStyle/>
          <a:p>
            <a:pPr algn="l"/>
            <a:r>
              <a:rPr sz="1800" b="1" i="0" u="sng">
                <a:solidFill>
                  <a:srgbClr val="0563C1"/>
                </a:solidFill>
                <a:latin typeface="Amazon Ember Display"/>
                <a:hlinkClick r:id="rId4"/>
              </a:rPr>
              <a:t>Work the Exam Prep Plan (optional)</a:t>
            </a:r>
          </a:p>
        </p:txBody>
      </p:sp>
      <p:sp>
        <p:nvSpPr>
          <p:cNvPr id="13" name="Rounded Rectangle 12"/>
          <p:cNvSpPr/>
          <p:nvPr/>
        </p:nvSpPr>
        <p:spPr>
          <a:xfrm>
            <a:off x="8567928" y="3108960"/>
            <a:ext cx="2926080" cy="512064"/>
          </a:xfrm>
          <a:prstGeom prst="roundRect">
            <a:avLst>
              <a:gd name="adj" fmla="val 3000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732519" y="3222752"/>
            <a:ext cx="2596896" cy="284479"/>
          </a:xfrm>
          <a:prstGeom prst="rect">
            <a:avLst/>
          </a:prstGeom>
          <a:noFill/>
        </p:spPr>
        <p:txBody>
          <a:bodyPr wrap="square" anchor="t">
            <a:noAutofit/>
          </a:bodyPr>
          <a:lstStyle/>
          <a:p>
            <a:pPr algn="ctr"/>
            <a:r>
              <a:rPr sz="1600" b="1" i="0">
                <a:solidFill>
                  <a:srgbClr val="8F0072"/>
                </a:solidFill>
                <a:latin typeface="Amazon Ember Display"/>
              </a:rPr>
              <a:t>Self-paced digital</a:t>
            </a:r>
          </a:p>
        </p:txBody>
      </p:sp>
      <p:sp>
        <p:nvSpPr>
          <p:cNvPr id="15" name="TextBox 14"/>
          <p:cNvSpPr txBox="1"/>
          <p:nvPr/>
        </p:nvSpPr>
        <p:spPr>
          <a:xfrm>
            <a:off x="667512" y="3813048"/>
            <a:ext cx="7589520" cy="658368"/>
          </a:xfrm>
          <a:prstGeom prst="rect">
            <a:avLst/>
          </a:prstGeom>
          <a:noFill/>
        </p:spPr>
        <p:txBody>
          <a:bodyPr wrap="square" anchor="ctr">
            <a:noAutofit/>
          </a:bodyPr>
          <a:lstStyle/>
          <a:p>
            <a:pPr algn="l"/>
            <a:r>
              <a:rPr sz="1800" b="1" i="0">
                <a:solidFill>
                  <a:srgbClr val="232B37"/>
                </a:solidFill>
                <a:latin typeface="Amazon Ember Display"/>
              </a:rPr>
              <a:t>Attend content review and exam strategy</a:t>
            </a:r>
          </a:p>
        </p:txBody>
      </p:sp>
      <p:sp>
        <p:nvSpPr>
          <p:cNvPr id="16" name="Rounded Rectangle 15"/>
          <p:cNvSpPr/>
          <p:nvPr/>
        </p:nvSpPr>
        <p:spPr>
          <a:xfrm>
            <a:off x="8567928" y="3886200"/>
            <a:ext cx="2926080" cy="512064"/>
          </a:xfrm>
          <a:prstGeom prst="roundRect">
            <a:avLst>
              <a:gd name="adj" fmla="val 3000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732519" y="3999992"/>
            <a:ext cx="2596896" cy="284479"/>
          </a:xfrm>
          <a:prstGeom prst="rect">
            <a:avLst/>
          </a:prstGeom>
          <a:noFill/>
        </p:spPr>
        <p:txBody>
          <a:bodyPr wrap="square" anchor="t">
            <a:noAutofit/>
          </a:bodyPr>
          <a:lstStyle/>
          <a:p>
            <a:pPr algn="ctr"/>
            <a:r>
              <a:rPr sz="1600" b="1" i="0">
                <a:solidFill>
                  <a:srgbClr val="8F0072"/>
                </a:solidFill>
                <a:latin typeface="Amazon Ember Display"/>
              </a:rPr>
              <a:t>Scheduled session</a:t>
            </a:r>
          </a:p>
        </p:txBody>
      </p:sp>
      <p:sp>
        <p:nvSpPr>
          <p:cNvPr id="18" name="Rectangle 17"/>
          <p:cNvSpPr/>
          <p:nvPr/>
        </p:nvSpPr>
        <p:spPr>
          <a:xfrm>
            <a:off x="521208" y="4535424"/>
            <a:ext cx="11155680" cy="658368"/>
          </a:xfrm>
          <a:prstGeom prst="rect">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hlinkClick r:id="rId5"/>
          </p:cNvPr>
          <p:cNvSpPr txBox="1"/>
          <p:nvPr/>
        </p:nvSpPr>
        <p:spPr>
          <a:xfrm>
            <a:off x="667512" y="4590288"/>
            <a:ext cx="7589520" cy="658368"/>
          </a:xfrm>
          <a:prstGeom prst="rect">
            <a:avLst/>
          </a:prstGeom>
          <a:noFill/>
        </p:spPr>
        <p:txBody>
          <a:bodyPr wrap="square" anchor="ctr">
            <a:noAutofit/>
          </a:bodyPr>
          <a:lstStyle/>
          <a:p>
            <a:pPr algn="l"/>
            <a:r>
              <a:rPr sz="1800" b="1" i="0" u="sng">
                <a:solidFill>
                  <a:srgbClr val="0563C1"/>
                </a:solidFill>
                <a:latin typeface="Amazon Ember Display"/>
                <a:hlinkClick r:id="rId5"/>
              </a:rPr>
              <a:t>Schedule your exam</a:t>
            </a:r>
          </a:p>
        </p:txBody>
      </p:sp>
      <p:sp>
        <p:nvSpPr>
          <p:cNvPr id="20" name="Rounded Rectangle 19"/>
          <p:cNvSpPr/>
          <p:nvPr/>
        </p:nvSpPr>
        <p:spPr>
          <a:xfrm>
            <a:off x="8567928" y="4663440"/>
            <a:ext cx="2926080" cy="512064"/>
          </a:xfrm>
          <a:prstGeom prst="roundRect">
            <a:avLst>
              <a:gd name="adj" fmla="val 30000"/>
            </a:avLst>
          </a:prstGeom>
          <a:solidFill>
            <a:srgbClr val="FFF5FE"/>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8732519" y="4777232"/>
            <a:ext cx="2596896" cy="284479"/>
          </a:xfrm>
          <a:prstGeom prst="rect">
            <a:avLst/>
          </a:prstGeom>
          <a:noFill/>
        </p:spPr>
        <p:txBody>
          <a:bodyPr wrap="square" anchor="t">
            <a:noAutofit/>
          </a:bodyPr>
          <a:lstStyle/>
          <a:p>
            <a:pPr algn="ctr"/>
            <a:r>
              <a:rPr sz="1600" b="1" i="0">
                <a:solidFill>
                  <a:srgbClr val="8F0072"/>
                </a:solidFill>
                <a:latin typeface="Amazon Ember Display"/>
              </a:rPr>
              <a:t>Proctored exam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Week 1 digital training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417320"/>
            <a:ext cx="5303520" cy="3840480"/>
          </a:xfrm>
          <a:prstGeom prst="roundRect">
            <a:avLst>
              <a:gd name="adj" fmla="val 4761"/>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Learning Plan courses</a:t>
            </a:r>
          </a:p>
        </p:txBody>
      </p:sp>
      <p:sp>
        <p:nvSpPr>
          <p:cNvPr id="6" name="Rectangle 5"/>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AWS Technical Essentials</a:t>
            </a:r>
          </a:p>
        </p:txBody>
      </p:sp>
      <p:sp>
        <p:nvSpPr>
          <p:cNvPr id="9" name="Rounded Rectangle 8"/>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AWS Compute Services Overview</a:t>
            </a:r>
          </a:p>
        </p:txBody>
      </p:sp>
      <p:sp>
        <p:nvSpPr>
          <p:cNvPr id="11" name="Rounded Rectangle 10"/>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Build with Amazon EC2</a:t>
            </a:r>
          </a:p>
        </p:txBody>
      </p:sp>
      <p:sp>
        <p:nvSpPr>
          <p:cNvPr id="13" name="Rounded Rectangle 12"/>
          <p:cNvSpPr/>
          <p:nvPr/>
        </p:nvSpPr>
        <p:spPr>
          <a:xfrm>
            <a:off x="6281928" y="1417320"/>
            <a:ext cx="5303520" cy="3840480"/>
          </a:xfrm>
          <a:prstGeom prst="roundRect">
            <a:avLst>
              <a:gd name="adj" fmla="val 4761"/>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Optional Additional Training</a:t>
            </a:r>
          </a:p>
        </p:txBody>
      </p:sp>
      <p:sp>
        <p:nvSpPr>
          <p:cNvPr id="15" name="Rectangle 14"/>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Start: Cloud Quest: Serverless Dev*</a:t>
            </a:r>
          </a:p>
        </p:txBody>
      </p:sp>
      <p:sp>
        <p:nvSpPr>
          <p:cNvPr id="18" name="Rounded Rectangle 17"/>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Review: Exam Prep Plan overview</a:t>
            </a:r>
          </a:p>
        </p:txBody>
      </p:sp>
      <p:sp>
        <p:nvSpPr>
          <p:cNvPr id="20" name="Rounded Rectangle 19"/>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Complete: Domain 1 review</a:t>
            </a:r>
          </a:p>
        </p:txBody>
      </p:sp>
      <p:sp>
        <p:nvSpPr>
          <p:cNvPr id="22" name="Rounded Rectangle 21"/>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739128" y="4128008"/>
            <a:ext cx="4389119" cy="284479"/>
          </a:xfrm>
          <a:prstGeom prst="rect">
            <a:avLst/>
          </a:prstGeom>
          <a:noFill/>
        </p:spPr>
        <p:txBody>
          <a:bodyPr wrap="square" anchor="t">
            <a:noAutofit/>
          </a:bodyPr>
          <a:lstStyle/>
          <a:p>
            <a:pPr algn="l"/>
            <a:r>
              <a:rPr sz="1600" b="1" i="0">
                <a:solidFill>
                  <a:srgbClr val="232B37"/>
                </a:solidFill>
                <a:latin typeface="Amazon Ember Display"/>
              </a:rPr>
              <a:t>Complete: Domain 1 practice*</a:t>
            </a:r>
          </a:p>
        </p:txBody>
      </p:sp>
      <p:sp>
        <p:nvSpPr>
          <p:cNvPr id="24" name="Rounded Rectangle 23"/>
          <p:cNvSpPr/>
          <p:nvPr/>
        </p:nvSpPr>
        <p:spPr>
          <a:xfrm>
            <a:off x="6519672" y="4617720"/>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39128" y="4731512"/>
            <a:ext cx="4389119" cy="284479"/>
          </a:xfrm>
          <a:prstGeom prst="rect">
            <a:avLst/>
          </a:prstGeom>
          <a:noFill/>
        </p:spPr>
        <p:txBody>
          <a:bodyPr wrap="square" anchor="t">
            <a:noAutofit/>
          </a:bodyPr>
          <a:lstStyle/>
          <a:p>
            <a:pPr algn="l"/>
            <a:r>
              <a:rPr sz="1600" b="1" i="0">
                <a:solidFill>
                  <a:srgbClr val="232B37"/>
                </a:solidFill>
                <a:latin typeface="Amazon Ember Display"/>
              </a:rPr>
              <a:t>Complete: Domain 1 practice, SimuLearn*</a:t>
            </a:r>
          </a:p>
        </p:txBody>
      </p:sp>
      <p:sp>
        <p:nvSpPr>
          <p:cNvPr id="26" name="TextBox 25"/>
          <p:cNvSpPr txBox="1"/>
          <p:nvPr/>
        </p:nvSpPr>
        <p:spPr>
          <a:xfrm>
            <a:off x="612648" y="5349240"/>
            <a:ext cx="10972800" cy="274320"/>
          </a:xfrm>
          <a:prstGeom prst="rect">
            <a:avLst/>
          </a:prstGeom>
          <a:noFill/>
        </p:spPr>
        <p:txBody>
          <a:bodyPr wrap="square" anchor="ctr">
            <a:noAutofit/>
          </a:bodyPr>
          <a:lstStyle/>
          <a:p>
            <a:pPr algn="ctr"/>
            <a:r>
              <a:rPr sz="1600" b="0" i="0">
                <a:solidFill>
                  <a:srgbClr val="5A6B7B"/>
                </a:solidFill>
                <a:latin typeface="Amazon Ember Display"/>
              </a:rPr>
              <a:t>* Requires an AWS Skill Builder subscription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Optional: AWS Skill Builder subscription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a:hlinkClick r:id="rId3"/>
          </p:cNvPr>
          <p:cNvSpPr txBox="1"/>
          <p:nvPr/>
        </p:nvSpPr>
        <p:spPr>
          <a:xfrm>
            <a:off x="850392" y="1554480"/>
            <a:ext cx="4828031" cy="365760"/>
          </a:xfrm>
          <a:prstGeom prst="rect">
            <a:avLst/>
          </a:prstGeom>
          <a:noFill/>
        </p:spPr>
        <p:txBody>
          <a:bodyPr wrap="square" anchor="t">
            <a:noAutofit/>
          </a:bodyPr>
          <a:lstStyle/>
          <a:p>
            <a:pPr algn="ctr"/>
            <a:r>
              <a:rPr sz="2200" b="1" i="0" u="sng">
                <a:solidFill>
                  <a:srgbClr val="0563C1"/>
                </a:solidFill>
                <a:latin typeface="Amazon Ember Display"/>
                <a:hlinkClick r:id="rId3"/>
              </a:rPr>
              <a:t>Free digital training</a:t>
            </a:r>
          </a:p>
        </p:txBody>
      </p:sp>
      <p:sp>
        <p:nvSpPr>
          <p:cNvPr id="6" name="Rectangle 5"/>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600+ digital courses</a:t>
            </a:r>
          </a:p>
        </p:txBody>
      </p:sp>
      <p:sp>
        <p:nvSpPr>
          <p:cNvPr id="9" name="Rounded Rectangle 8"/>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Learning plans</a:t>
            </a:r>
          </a:p>
        </p:txBody>
      </p:sp>
      <p:sp>
        <p:nvSpPr>
          <p:cNvPr id="11" name="Rounded Rectangle 10"/>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10 practice question sets</a:t>
            </a:r>
          </a:p>
        </p:txBody>
      </p:sp>
      <p:sp>
        <p:nvSpPr>
          <p:cNvPr id="13" name="Rounded Rectangle 12"/>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9848" y="4128008"/>
            <a:ext cx="4389119" cy="284479"/>
          </a:xfrm>
          <a:prstGeom prst="rect">
            <a:avLst/>
          </a:prstGeom>
          <a:noFill/>
        </p:spPr>
        <p:txBody>
          <a:bodyPr wrap="square" anchor="t">
            <a:noAutofit/>
          </a:bodyPr>
          <a:lstStyle/>
          <a:p>
            <a:pPr algn="l"/>
            <a:r>
              <a:rPr sz="1600" b="1" i="0">
                <a:solidFill>
                  <a:srgbClr val="232B37"/>
                </a:solidFill>
                <a:latin typeface="Amazon Ember Display"/>
              </a:rPr>
              <a:t>Cloud Quest and SimuLearn (foundational)</a:t>
            </a:r>
          </a:p>
        </p:txBody>
      </p:sp>
      <p:sp>
        <p:nvSpPr>
          <p:cNvPr id="15" name="Rounded Rectangle 14"/>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a:hlinkClick r:id="rId4"/>
          </p:cNvPr>
          <p:cNvSpPr txBox="1"/>
          <p:nvPr/>
        </p:nvSpPr>
        <p:spPr>
          <a:xfrm>
            <a:off x="6519672" y="1554480"/>
            <a:ext cx="4828031" cy="365760"/>
          </a:xfrm>
          <a:prstGeom prst="rect">
            <a:avLst/>
          </a:prstGeom>
          <a:noFill/>
        </p:spPr>
        <p:txBody>
          <a:bodyPr wrap="square" anchor="t">
            <a:noAutofit/>
          </a:bodyPr>
          <a:lstStyle/>
          <a:p>
            <a:pPr algn="ctr"/>
            <a:r>
              <a:rPr sz="2200" b="1" i="0" u="sng">
                <a:solidFill>
                  <a:srgbClr val="0563C1"/>
                </a:solidFill>
                <a:latin typeface="Amazon Ember Display"/>
                <a:hlinkClick r:id="rId4"/>
              </a:rPr>
              <a:t>Individual subscription</a:t>
            </a:r>
          </a:p>
        </p:txBody>
      </p:sp>
      <p:sp>
        <p:nvSpPr>
          <p:cNvPr id="17" name="Rectangle 16"/>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200+ SimuLearn trainings</a:t>
            </a:r>
          </a:p>
        </p:txBody>
      </p:sp>
      <p:sp>
        <p:nvSpPr>
          <p:cNvPr id="20" name="Rounded Rectangle 19"/>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hlinkClick r:id="rId5"/>
          </p:cNvPr>
          <p:cNvSpPr txBox="1"/>
          <p:nvPr/>
        </p:nvSpPr>
        <p:spPr>
          <a:xfrm>
            <a:off x="6739128" y="2921000"/>
            <a:ext cx="4389119" cy="284479"/>
          </a:xfrm>
          <a:prstGeom prst="rect">
            <a:avLst/>
          </a:prstGeom>
          <a:noFill/>
        </p:spPr>
        <p:txBody>
          <a:bodyPr wrap="square" anchor="t">
            <a:noAutofit/>
          </a:bodyPr>
          <a:lstStyle/>
          <a:p>
            <a:pPr algn="l"/>
            <a:r>
              <a:rPr sz="1600" b="1" i="0" u="sng">
                <a:solidFill>
                  <a:srgbClr val="0563C1"/>
                </a:solidFill>
                <a:latin typeface="Amazon Ember Display"/>
                <a:hlinkClick r:id="rId5"/>
              </a:rPr>
              <a:t>Cloud Quest (intermediate to advanced)</a:t>
            </a:r>
          </a:p>
        </p:txBody>
      </p:sp>
      <p:sp>
        <p:nvSpPr>
          <p:cNvPr id="22" name="Rounded Rectangle 21"/>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Official practice exams</a:t>
            </a:r>
          </a:p>
        </p:txBody>
      </p:sp>
      <p:sp>
        <p:nvSpPr>
          <p:cNvPr id="24" name="Rounded Rectangle 23"/>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39128" y="4128008"/>
            <a:ext cx="4389119" cy="284479"/>
          </a:xfrm>
          <a:prstGeom prst="rect">
            <a:avLst/>
          </a:prstGeom>
          <a:noFill/>
        </p:spPr>
        <p:txBody>
          <a:bodyPr wrap="square" anchor="t">
            <a:noAutofit/>
          </a:bodyPr>
          <a:lstStyle/>
          <a:p>
            <a:pPr algn="l"/>
            <a:r>
              <a:rPr sz="1600" b="1" i="0">
                <a:solidFill>
                  <a:srgbClr val="232B37"/>
                </a:solidFill>
                <a:latin typeface="Amazon Ember Display"/>
              </a:rPr>
              <a:t>1000+ hands-on labs</a:t>
            </a:r>
          </a:p>
        </p:txBody>
      </p:sp>
      <p:sp>
        <p:nvSpPr>
          <p:cNvPr id="26" name="TextBox 25"/>
          <p:cNvSpPr txBox="1"/>
          <p:nvPr/>
        </p:nvSpPr>
        <p:spPr>
          <a:xfrm>
            <a:off x="612648" y="4754880"/>
            <a:ext cx="10972800" cy="384048"/>
          </a:xfrm>
          <a:prstGeom prst="rect">
            <a:avLst/>
          </a:prstGeom>
          <a:noFill/>
        </p:spPr>
        <p:txBody>
          <a:bodyPr wrap="square" anchor="ctr">
            <a:noAutofit/>
          </a:bodyPr>
          <a:lstStyle/>
          <a:p>
            <a:pPr algn="ctr"/>
            <a:r>
              <a:rPr sz="2200" b="1" i="0">
                <a:solidFill>
                  <a:srgbClr val="8F0072"/>
                </a:solidFill>
                <a:latin typeface="Amazon Ember Display"/>
              </a:rPr>
              <a:t>$29 USD per month or $449 USD per year — cancel anytime</a:t>
            </a:r>
          </a:p>
        </p:txBody>
      </p:sp>
      <p:sp>
        <p:nvSpPr>
          <p:cNvPr id="27" name="TextBox 26"/>
          <p:cNvSpPr txBox="1"/>
          <p:nvPr/>
        </p:nvSpPr>
        <p:spPr>
          <a:xfrm>
            <a:off x="612648" y="5212080"/>
            <a:ext cx="10972800" cy="274320"/>
          </a:xfrm>
          <a:prstGeom prst="rect">
            <a:avLst/>
          </a:prstGeom>
          <a:noFill/>
        </p:spPr>
        <p:txBody>
          <a:bodyPr wrap="square" anchor="ctr">
            <a:noAutofit/>
          </a:bodyPr>
          <a:lstStyle/>
          <a:p>
            <a:pPr algn="ctr"/>
            <a:r>
              <a:rPr sz="1600" b="0" i="0">
                <a:solidFill>
                  <a:srgbClr val="5A6B7B"/>
                </a:solidFill>
                <a:latin typeface="Amazon Ember Display"/>
              </a:rPr>
              <a:t>Not required for this event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Where does the workload run?</a:t>
            </a:r>
          </a:p>
        </p:txBody>
      </p:sp>
      <p:sp>
        <p:nvSpPr>
          <p:cNvPr id="3" name="Text Placeholder 2"/>
          <p:cNvSpPr>
            <a:spLocks noGrp="1"/>
          </p:cNvSpPr>
          <p:nvPr>
            <p:ph type="body" sz="quarter" idx="11"/>
          </p:nvPr>
        </p:nvSpPr>
        <p:spPr>
          <a:xfrm>
            <a:off x="322916" y="2434551"/>
            <a:ext cx="3985869" cy="313932"/>
          </a:xfrm>
        </p:spPr>
        <p:txBody>
          <a:bodyPr/>
          <a:lstStyle/>
          <a:p>
            <a:r>
              <a:rPr sz="1800" b="1">
                <a:solidFill>
                  <a:srgbClr val="FF57E9"/>
                </a:solidFill>
                <a:latin typeface="Amazon Ember Display"/>
              </a:rPr>
              <a:t>GLOBAL INFRASTRUCTURE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Region is an isolated geographic choice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Global infrastructure</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is a Region?</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 physical location worldwide</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 cluster of isolated data centers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Holds multiple Availability Zones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Regions are fully isolated</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Greatest fault tolerance and stability</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Chosen for latency, cost, residency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Availability Zones survive a data center loss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Regions and Zones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is an AZ?</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One or more discrete data centers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Redundant power and networking</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Physically separate within a Region</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More available than one center</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Fast private fiber between AZs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Automatic fail-over across AZs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Edge locations sit between users and Regions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783080"/>
            <a:ext cx="3172968" cy="2377440"/>
          </a:xfrm>
          <a:prstGeom prst="roundRect">
            <a:avLst>
              <a:gd name="adj" fmla="val 615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1901952"/>
            <a:ext cx="3172968" cy="292608"/>
          </a:xfrm>
          <a:prstGeom prst="rect">
            <a:avLst/>
          </a:prstGeom>
          <a:noFill/>
        </p:spPr>
        <p:txBody>
          <a:bodyPr wrap="square" anchor="ctr">
            <a:noAutofit/>
          </a:bodyPr>
          <a:lstStyle/>
          <a:p>
            <a:pPr algn="ctr"/>
            <a:r>
              <a:rPr sz="1600" b="1" i="0">
                <a:solidFill>
                  <a:srgbClr val="8F0072"/>
                </a:solidFill>
                <a:latin typeface="Amazon Ember Display"/>
              </a:rPr>
              <a:t>Your users</a:t>
            </a:r>
          </a:p>
        </p:txBody>
      </p:sp>
      <p:pic>
        <p:nvPicPr>
          <p:cNvPr id="6" name="Picture 5" descr="Res_Users_48_Light.png"/>
          <p:cNvPicPr>
            <a:picLocks noChangeAspect="1"/>
          </p:cNvPicPr>
          <p:nvPr/>
        </p:nvPicPr>
        <p:blipFill>
          <a:blip r:embed="rId3"/>
          <a:stretch>
            <a:fillRect/>
          </a:stretch>
        </p:blipFill>
        <p:spPr>
          <a:xfrm>
            <a:off x="1970532" y="2788920"/>
            <a:ext cx="457200" cy="457200"/>
          </a:xfrm>
          <a:prstGeom prst="rect">
            <a:avLst/>
          </a:prstGeom>
        </p:spPr>
      </p:pic>
      <p:sp>
        <p:nvSpPr>
          <p:cNvPr id="7" name="TextBox 6"/>
          <p:cNvSpPr txBox="1"/>
          <p:nvPr/>
        </p:nvSpPr>
        <p:spPr>
          <a:xfrm>
            <a:off x="704088" y="3410712"/>
            <a:ext cx="2990088" cy="292608"/>
          </a:xfrm>
          <a:prstGeom prst="rect">
            <a:avLst/>
          </a:prstGeom>
          <a:noFill/>
        </p:spPr>
        <p:txBody>
          <a:bodyPr wrap="square" anchor="ctr">
            <a:noAutofit/>
          </a:bodyPr>
          <a:lstStyle/>
          <a:p>
            <a:pPr algn="ctr"/>
            <a:r>
              <a:rPr sz="1600" b="0" i="0">
                <a:solidFill>
                  <a:srgbClr val="232B37"/>
                </a:solidFill>
                <a:latin typeface="Amazon Ember Display"/>
              </a:rPr>
              <a:t>wherever they are</a:t>
            </a:r>
          </a:p>
        </p:txBody>
      </p:sp>
      <p:sp>
        <p:nvSpPr>
          <p:cNvPr id="8" name="Rounded Rectangle 7"/>
          <p:cNvSpPr/>
          <p:nvPr/>
        </p:nvSpPr>
        <p:spPr>
          <a:xfrm>
            <a:off x="4517136" y="1783080"/>
            <a:ext cx="3172968" cy="2377440"/>
          </a:xfrm>
          <a:prstGeom prst="roundRect">
            <a:avLst>
              <a:gd name="adj" fmla="val 615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4517136" y="1901952"/>
            <a:ext cx="3172968" cy="292608"/>
          </a:xfrm>
          <a:prstGeom prst="rect">
            <a:avLst/>
          </a:prstGeom>
          <a:noFill/>
        </p:spPr>
        <p:txBody>
          <a:bodyPr wrap="square" anchor="ctr">
            <a:noAutofit/>
          </a:bodyPr>
          <a:lstStyle/>
          <a:p>
            <a:pPr algn="ctr"/>
            <a:r>
              <a:rPr sz="1600" b="1" i="0">
                <a:solidFill>
                  <a:srgbClr val="8F0072"/>
                </a:solidFill>
                <a:latin typeface="Amazon Ember Display"/>
              </a:rPr>
              <a:t>Edge location</a:t>
            </a:r>
          </a:p>
        </p:txBody>
      </p:sp>
      <p:pic>
        <p:nvPicPr>
          <p:cNvPr id="10" name="Picture 9" descr="Arch_Amazon-CloudFront_64.png"/>
          <p:cNvPicPr>
            <a:picLocks noChangeAspect="1"/>
          </p:cNvPicPr>
          <p:nvPr/>
        </p:nvPicPr>
        <p:blipFill>
          <a:blip r:embed="rId4"/>
          <a:stretch>
            <a:fillRect/>
          </a:stretch>
        </p:blipFill>
        <p:spPr>
          <a:xfrm>
            <a:off x="5875020" y="2788920"/>
            <a:ext cx="457200" cy="457200"/>
          </a:xfrm>
          <a:prstGeom prst="rect">
            <a:avLst/>
          </a:prstGeom>
        </p:spPr>
      </p:pic>
      <p:sp>
        <p:nvSpPr>
          <p:cNvPr id="11" name="TextBox 10"/>
          <p:cNvSpPr txBox="1"/>
          <p:nvPr/>
        </p:nvSpPr>
        <p:spPr>
          <a:xfrm>
            <a:off x="4608576" y="3410712"/>
            <a:ext cx="2990088" cy="292608"/>
          </a:xfrm>
          <a:prstGeom prst="rect">
            <a:avLst/>
          </a:prstGeom>
          <a:noFill/>
        </p:spPr>
        <p:txBody>
          <a:bodyPr wrap="square" anchor="ctr">
            <a:noAutofit/>
          </a:bodyPr>
          <a:lstStyle/>
          <a:p>
            <a:pPr algn="ctr"/>
            <a:r>
              <a:rPr sz="1600" b="0" i="0">
                <a:solidFill>
                  <a:srgbClr val="232B37"/>
                </a:solidFill>
                <a:latin typeface="Amazon Ember Display"/>
              </a:rPr>
              <a:t>a point of presence</a:t>
            </a:r>
          </a:p>
        </p:txBody>
      </p:sp>
      <p:sp>
        <p:nvSpPr>
          <p:cNvPr id="12" name="Rounded Rectangle 11"/>
          <p:cNvSpPr/>
          <p:nvPr/>
        </p:nvSpPr>
        <p:spPr>
          <a:xfrm>
            <a:off x="8412480" y="1783080"/>
            <a:ext cx="3172968" cy="2377440"/>
          </a:xfrm>
          <a:prstGeom prst="roundRect">
            <a:avLst>
              <a:gd name="adj" fmla="val 6153"/>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412480" y="1901952"/>
            <a:ext cx="3172968" cy="292608"/>
          </a:xfrm>
          <a:prstGeom prst="rect">
            <a:avLst/>
          </a:prstGeom>
          <a:noFill/>
        </p:spPr>
        <p:txBody>
          <a:bodyPr wrap="square" anchor="ctr">
            <a:noAutofit/>
          </a:bodyPr>
          <a:lstStyle/>
          <a:p>
            <a:pPr algn="ctr"/>
            <a:r>
              <a:rPr sz="1600" b="1" i="0">
                <a:solidFill>
                  <a:srgbClr val="8F0072"/>
                </a:solidFill>
                <a:latin typeface="Amazon Ember Display"/>
              </a:rPr>
              <a:t>AWS Region</a:t>
            </a:r>
          </a:p>
        </p:txBody>
      </p:sp>
      <p:pic>
        <p:nvPicPr>
          <p:cNvPr id="14" name="Picture 13" descr="Arch_Amazon-EC2_64.png"/>
          <p:cNvPicPr>
            <a:picLocks noChangeAspect="1"/>
          </p:cNvPicPr>
          <p:nvPr/>
        </p:nvPicPr>
        <p:blipFill>
          <a:blip r:embed="rId5"/>
          <a:stretch>
            <a:fillRect/>
          </a:stretch>
        </p:blipFill>
        <p:spPr>
          <a:xfrm>
            <a:off x="9770363" y="2788920"/>
            <a:ext cx="457200" cy="457200"/>
          </a:xfrm>
          <a:prstGeom prst="rect">
            <a:avLst/>
          </a:prstGeom>
        </p:spPr>
      </p:pic>
      <p:sp>
        <p:nvSpPr>
          <p:cNvPr id="15" name="TextBox 14"/>
          <p:cNvSpPr txBox="1"/>
          <p:nvPr/>
        </p:nvSpPr>
        <p:spPr>
          <a:xfrm>
            <a:off x="8503919" y="3410712"/>
            <a:ext cx="2990088" cy="292608"/>
          </a:xfrm>
          <a:prstGeom prst="rect">
            <a:avLst/>
          </a:prstGeom>
          <a:noFill/>
        </p:spPr>
        <p:txBody>
          <a:bodyPr wrap="square" anchor="ctr">
            <a:noAutofit/>
          </a:bodyPr>
          <a:lstStyle/>
          <a:p>
            <a:pPr algn="ctr"/>
            <a:r>
              <a:rPr sz="1600" b="0" i="0">
                <a:solidFill>
                  <a:srgbClr val="232B37"/>
                </a:solidFill>
                <a:latin typeface="Amazon Ember Display"/>
              </a:rPr>
              <a:t>where your workloads run</a:t>
            </a:r>
          </a:p>
        </p:txBody>
      </p:sp>
      <p:sp>
        <p:nvSpPr>
          <p:cNvPr id="16" name="Freeform 15"/>
          <p:cNvSpPr/>
          <p:nvPr/>
        </p:nvSpPr>
        <p:spPr>
          <a:xfrm>
            <a:off x="3895344" y="3017520"/>
            <a:ext cx="457200" cy="0"/>
          </a:xfrm>
          <a:custGeom>
            <a:avLst/>
            <a:gdLst/>
            <a:ahLst/>
            <a:cxnLst/>
            <a:rect l="l" t="t" r="r" b="b"/>
            <a:pathLst>
              <a:path w="457200">
                <a:moveTo>
                  <a:pt x="0" y="0"/>
                </a:moveTo>
                <a:lnTo>
                  <a:pt x="45720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4178808" y="28986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7799831" y="3017520"/>
            <a:ext cx="448057" cy="0"/>
          </a:xfrm>
          <a:custGeom>
            <a:avLst/>
            <a:gdLst/>
            <a:ahLst/>
            <a:cxnLst/>
            <a:rect l="l" t="t" r="r" b="b"/>
            <a:pathLst>
              <a:path w="448057">
                <a:moveTo>
                  <a:pt x="0" y="0"/>
                </a:moveTo>
                <a:lnTo>
                  <a:pt x="448057"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Freeform 18"/>
          <p:cNvSpPr/>
          <p:nvPr/>
        </p:nvSpPr>
        <p:spPr>
          <a:xfrm>
            <a:off x="8074151" y="28986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612648" y="4480560"/>
            <a:ext cx="10966399" cy="0"/>
          </a:xfrm>
          <a:custGeom>
            <a:avLst/>
            <a:gdLst/>
            <a:ahLst/>
            <a:cxnLst/>
            <a:rect l="l" t="t" r="r" b="b"/>
            <a:pathLst>
              <a:path w="10966399">
                <a:moveTo>
                  <a:pt x="0" y="0"/>
                </a:moveTo>
                <a:lnTo>
                  <a:pt x="10966399" y="0"/>
                </a:lnTo>
              </a:path>
            </a:pathLst>
          </a:custGeom>
          <a:noFill/>
          <a:ln w="1905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12648" y="4572000"/>
            <a:ext cx="3840480" cy="274320"/>
          </a:xfrm>
          <a:prstGeom prst="rect">
            <a:avLst/>
          </a:prstGeom>
          <a:noFill/>
        </p:spPr>
        <p:txBody>
          <a:bodyPr wrap="square" anchor="t">
            <a:noAutofit/>
          </a:bodyPr>
          <a:lstStyle/>
          <a:p>
            <a:pPr algn="l"/>
            <a:r>
              <a:rPr sz="1600" b="0" i="0">
                <a:solidFill>
                  <a:srgbClr val="5A6B7B"/>
                </a:solidFill>
                <a:latin typeface="Amazon Ember Display"/>
              </a:rPr>
              <a:t>closer to your users</a:t>
            </a:r>
          </a:p>
        </p:txBody>
      </p:sp>
      <p:sp>
        <p:nvSpPr>
          <p:cNvPr id="22" name="TextBox 21"/>
          <p:cNvSpPr txBox="1"/>
          <p:nvPr/>
        </p:nvSpPr>
        <p:spPr>
          <a:xfrm>
            <a:off x="7738567" y="4572000"/>
            <a:ext cx="3840480" cy="274320"/>
          </a:xfrm>
          <a:prstGeom prst="rect">
            <a:avLst/>
          </a:prstGeom>
          <a:noFill/>
        </p:spPr>
        <p:txBody>
          <a:bodyPr wrap="square" anchor="t">
            <a:noAutofit/>
          </a:bodyPr>
          <a:lstStyle/>
          <a:p>
            <a:pPr algn="r"/>
            <a:r>
              <a:rPr sz="1600" b="0" i="0">
                <a:solidFill>
                  <a:srgbClr val="5A6B7B"/>
                </a:solidFill>
                <a:latin typeface="Amazon Ember Display"/>
              </a:rPr>
              <a:t>farther away</a:t>
            </a:r>
          </a:p>
        </p:txBody>
      </p:sp>
      <p:sp>
        <p:nvSpPr>
          <p:cNvPr id="23" name="TextBox 22">
            <a:hlinkClick r:id="rId6"/>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What is Amazon CloudFront?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How do we serve content fast?</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CONTENT DELIVERY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CloudFront caches step outward from the viewer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783080"/>
            <a:ext cx="2194560" cy="2377440"/>
          </a:xfrm>
          <a:prstGeom prst="roundRect">
            <a:avLst>
              <a:gd name="adj" fmla="val 6666"/>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12648" y="1901952"/>
            <a:ext cx="2194560" cy="292608"/>
          </a:xfrm>
          <a:prstGeom prst="rect">
            <a:avLst/>
          </a:prstGeom>
          <a:noFill/>
        </p:spPr>
        <p:txBody>
          <a:bodyPr wrap="square" anchor="ctr">
            <a:noAutofit/>
          </a:bodyPr>
          <a:lstStyle/>
          <a:p>
            <a:pPr algn="ctr"/>
            <a:r>
              <a:rPr sz="1600" b="1" i="0">
                <a:solidFill>
                  <a:srgbClr val="8F0072"/>
                </a:solidFill>
                <a:latin typeface="Amazon Ember Display"/>
              </a:rPr>
              <a:t>Viewer</a:t>
            </a:r>
          </a:p>
        </p:txBody>
      </p:sp>
      <p:pic>
        <p:nvPicPr>
          <p:cNvPr id="6" name="Picture 5" descr="Res_Users_48_Light.png"/>
          <p:cNvPicPr>
            <a:picLocks noChangeAspect="1"/>
          </p:cNvPicPr>
          <p:nvPr/>
        </p:nvPicPr>
        <p:blipFill>
          <a:blip r:embed="rId3"/>
          <a:stretch>
            <a:fillRect/>
          </a:stretch>
        </p:blipFill>
        <p:spPr>
          <a:xfrm>
            <a:off x="1481328" y="2788920"/>
            <a:ext cx="457200" cy="457200"/>
          </a:xfrm>
          <a:prstGeom prst="rect">
            <a:avLst/>
          </a:prstGeom>
        </p:spPr>
      </p:pic>
      <p:sp>
        <p:nvSpPr>
          <p:cNvPr id="7" name="TextBox 6"/>
          <p:cNvSpPr txBox="1"/>
          <p:nvPr/>
        </p:nvSpPr>
        <p:spPr>
          <a:xfrm>
            <a:off x="704088" y="3410712"/>
            <a:ext cx="2011679" cy="292608"/>
          </a:xfrm>
          <a:prstGeom prst="rect">
            <a:avLst/>
          </a:prstGeom>
          <a:noFill/>
        </p:spPr>
        <p:txBody>
          <a:bodyPr wrap="square" anchor="ctr">
            <a:noAutofit/>
          </a:bodyPr>
          <a:lstStyle/>
          <a:p>
            <a:pPr algn="ctr"/>
            <a:r>
              <a:rPr sz="1600" b="0" i="0">
                <a:solidFill>
                  <a:srgbClr val="232B37"/>
                </a:solidFill>
                <a:latin typeface="Amazon Ember Display"/>
              </a:rPr>
              <a:t>makes the request</a:t>
            </a:r>
          </a:p>
        </p:txBody>
      </p:sp>
      <p:sp>
        <p:nvSpPr>
          <p:cNvPr id="8" name="Rounded Rectangle 7"/>
          <p:cNvSpPr/>
          <p:nvPr/>
        </p:nvSpPr>
        <p:spPr>
          <a:xfrm>
            <a:off x="3538728" y="1783080"/>
            <a:ext cx="2194560" cy="2377440"/>
          </a:xfrm>
          <a:prstGeom prst="roundRect">
            <a:avLst>
              <a:gd name="adj" fmla="val 6666"/>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538728" y="1901952"/>
            <a:ext cx="2194560" cy="292608"/>
          </a:xfrm>
          <a:prstGeom prst="rect">
            <a:avLst/>
          </a:prstGeom>
          <a:noFill/>
        </p:spPr>
        <p:txBody>
          <a:bodyPr wrap="square" anchor="ctr">
            <a:noAutofit/>
          </a:bodyPr>
          <a:lstStyle/>
          <a:p>
            <a:pPr algn="ctr"/>
            <a:r>
              <a:rPr sz="1600" b="1" i="0">
                <a:solidFill>
                  <a:srgbClr val="8F0072"/>
                </a:solidFill>
                <a:latin typeface="Amazon Ember Display"/>
              </a:rPr>
              <a:t>Edge cache</a:t>
            </a:r>
          </a:p>
        </p:txBody>
      </p:sp>
      <p:pic>
        <p:nvPicPr>
          <p:cNvPr id="10" name="Picture 9" descr="Arch_Amazon-CloudFront_64.png"/>
          <p:cNvPicPr>
            <a:picLocks noChangeAspect="1"/>
          </p:cNvPicPr>
          <p:nvPr/>
        </p:nvPicPr>
        <p:blipFill>
          <a:blip r:embed="rId4"/>
          <a:stretch>
            <a:fillRect/>
          </a:stretch>
        </p:blipFill>
        <p:spPr>
          <a:xfrm>
            <a:off x="4407408" y="2788920"/>
            <a:ext cx="457200" cy="457200"/>
          </a:xfrm>
          <a:prstGeom prst="rect">
            <a:avLst/>
          </a:prstGeom>
        </p:spPr>
      </p:pic>
      <p:sp>
        <p:nvSpPr>
          <p:cNvPr id="11" name="TextBox 10"/>
          <p:cNvSpPr txBox="1"/>
          <p:nvPr/>
        </p:nvSpPr>
        <p:spPr>
          <a:xfrm>
            <a:off x="3630168" y="3410712"/>
            <a:ext cx="2011679" cy="292608"/>
          </a:xfrm>
          <a:prstGeom prst="rect">
            <a:avLst/>
          </a:prstGeom>
          <a:noFill/>
        </p:spPr>
        <p:txBody>
          <a:bodyPr wrap="square" anchor="ctr">
            <a:noAutofit/>
          </a:bodyPr>
          <a:lstStyle/>
          <a:p>
            <a:pPr algn="ctr"/>
            <a:r>
              <a:rPr sz="1600" b="0" i="0">
                <a:solidFill>
                  <a:srgbClr val="232B37"/>
                </a:solidFill>
                <a:latin typeface="Amazon Ember Display"/>
              </a:rPr>
              <a:t>nearest location</a:t>
            </a:r>
          </a:p>
        </p:txBody>
      </p:sp>
      <p:sp>
        <p:nvSpPr>
          <p:cNvPr id="12" name="Rounded Rectangle 11"/>
          <p:cNvSpPr/>
          <p:nvPr/>
        </p:nvSpPr>
        <p:spPr>
          <a:xfrm>
            <a:off x="6464808" y="1783080"/>
            <a:ext cx="2194560" cy="2377440"/>
          </a:xfrm>
          <a:prstGeom prst="roundRect">
            <a:avLst>
              <a:gd name="adj" fmla="val 6666"/>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64808" y="1901952"/>
            <a:ext cx="2194560" cy="292608"/>
          </a:xfrm>
          <a:prstGeom prst="rect">
            <a:avLst/>
          </a:prstGeom>
          <a:noFill/>
        </p:spPr>
        <p:txBody>
          <a:bodyPr wrap="square" anchor="ctr">
            <a:noAutofit/>
          </a:bodyPr>
          <a:lstStyle/>
          <a:p>
            <a:pPr algn="ctr"/>
            <a:r>
              <a:rPr sz="1600" b="1" i="0">
                <a:solidFill>
                  <a:srgbClr val="8F0072"/>
                </a:solidFill>
                <a:latin typeface="Amazon Ember Display"/>
              </a:rPr>
              <a:t>Regional edge cache</a:t>
            </a:r>
          </a:p>
        </p:txBody>
      </p:sp>
      <p:pic>
        <p:nvPicPr>
          <p:cNvPr id="14" name="Picture 13" descr="Arch_Amazon-CloudFront_64.png"/>
          <p:cNvPicPr>
            <a:picLocks noChangeAspect="1"/>
          </p:cNvPicPr>
          <p:nvPr/>
        </p:nvPicPr>
        <p:blipFill>
          <a:blip r:embed="rId4"/>
          <a:stretch>
            <a:fillRect/>
          </a:stretch>
        </p:blipFill>
        <p:spPr>
          <a:xfrm>
            <a:off x="7333488" y="2788920"/>
            <a:ext cx="457200" cy="457200"/>
          </a:xfrm>
          <a:prstGeom prst="rect">
            <a:avLst/>
          </a:prstGeom>
        </p:spPr>
      </p:pic>
      <p:sp>
        <p:nvSpPr>
          <p:cNvPr id="15" name="TextBox 14"/>
          <p:cNvSpPr txBox="1"/>
          <p:nvPr/>
        </p:nvSpPr>
        <p:spPr>
          <a:xfrm>
            <a:off x="6556248" y="3410712"/>
            <a:ext cx="2011679" cy="292608"/>
          </a:xfrm>
          <a:prstGeom prst="rect">
            <a:avLst/>
          </a:prstGeom>
          <a:noFill/>
        </p:spPr>
        <p:txBody>
          <a:bodyPr wrap="square" anchor="ctr">
            <a:noAutofit/>
          </a:bodyPr>
          <a:lstStyle/>
          <a:p>
            <a:pPr algn="ctr"/>
            <a:r>
              <a:rPr sz="1600" b="0" i="0">
                <a:solidFill>
                  <a:srgbClr val="232B37"/>
                </a:solidFill>
                <a:latin typeface="Amazon Ember Display"/>
              </a:rPr>
              <a:t>larger, fewer</a:t>
            </a:r>
          </a:p>
        </p:txBody>
      </p:sp>
      <p:sp>
        <p:nvSpPr>
          <p:cNvPr id="16" name="Rounded Rectangle 15"/>
          <p:cNvSpPr/>
          <p:nvPr/>
        </p:nvSpPr>
        <p:spPr>
          <a:xfrm>
            <a:off x="9390888" y="1783080"/>
            <a:ext cx="2194560" cy="2377440"/>
          </a:xfrm>
          <a:prstGeom prst="roundRect">
            <a:avLst>
              <a:gd name="adj" fmla="val 6666"/>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390888" y="1901952"/>
            <a:ext cx="2194560" cy="292608"/>
          </a:xfrm>
          <a:prstGeom prst="rect">
            <a:avLst/>
          </a:prstGeom>
          <a:noFill/>
        </p:spPr>
        <p:txBody>
          <a:bodyPr wrap="square" anchor="ctr">
            <a:noAutofit/>
          </a:bodyPr>
          <a:lstStyle/>
          <a:p>
            <a:pPr algn="ctr"/>
            <a:r>
              <a:rPr sz="1600" b="1" i="0">
                <a:solidFill>
                  <a:srgbClr val="8F0072"/>
                </a:solidFill>
                <a:latin typeface="Amazon Ember Display"/>
              </a:rPr>
              <a:t>Origin</a:t>
            </a:r>
          </a:p>
        </p:txBody>
      </p:sp>
      <p:pic>
        <p:nvPicPr>
          <p:cNvPr id="18" name="Picture 17" descr="Res_Server_48_Light.png"/>
          <p:cNvPicPr>
            <a:picLocks noChangeAspect="1"/>
          </p:cNvPicPr>
          <p:nvPr/>
        </p:nvPicPr>
        <p:blipFill>
          <a:blip r:embed="rId5"/>
          <a:stretch>
            <a:fillRect/>
          </a:stretch>
        </p:blipFill>
        <p:spPr>
          <a:xfrm>
            <a:off x="10259567" y="2788920"/>
            <a:ext cx="457200" cy="457200"/>
          </a:xfrm>
          <a:prstGeom prst="rect">
            <a:avLst/>
          </a:prstGeom>
        </p:spPr>
      </p:pic>
      <p:sp>
        <p:nvSpPr>
          <p:cNvPr id="19" name="TextBox 18"/>
          <p:cNvSpPr txBox="1"/>
          <p:nvPr/>
        </p:nvSpPr>
        <p:spPr>
          <a:xfrm>
            <a:off x="9482328" y="3410712"/>
            <a:ext cx="2011679" cy="292608"/>
          </a:xfrm>
          <a:prstGeom prst="rect">
            <a:avLst/>
          </a:prstGeom>
          <a:noFill/>
        </p:spPr>
        <p:txBody>
          <a:bodyPr wrap="square" anchor="ctr">
            <a:noAutofit/>
          </a:bodyPr>
          <a:lstStyle/>
          <a:p>
            <a:pPr algn="ctr"/>
            <a:r>
              <a:rPr sz="1600" b="0" i="0">
                <a:solidFill>
                  <a:srgbClr val="232B37"/>
                </a:solidFill>
                <a:latin typeface="Amazon Ember Display"/>
              </a:rPr>
              <a:t>in your Region</a:t>
            </a:r>
          </a:p>
        </p:txBody>
      </p:sp>
      <p:sp>
        <p:nvSpPr>
          <p:cNvPr id="20" name="Freeform 19"/>
          <p:cNvSpPr/>
          <p:nvPr/>
        </p:nvSpPr>
        <p:spPr>
          <a:xfrm>
            <a:off x="2916936" y="3017520"/>
            <a:ext cx="457200" cy="0"/>
          </a:xfrm>
          <a:custGeom>
            <a:avLst/>
            <a:gdLst/>
            <a:ahLst/>
            <a:cxnLst/>
            <a:rect l="l" t="t" r="r" b="b"/>
            <a:pathLst>
              <a:path w="457200">
                <a:moveTo>
                  <a:pt x="0" y="0"/>
                </a:moveTo>
                <a:lnTo>
                  <a:pt x="45720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3200400" y="28986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5843016" y="3017520"/>
            <a:ext cx="457200" cy="0"/>
          </a:xfrm>
          <a:custGeom>
            <a:avLst/>
            <a:gdLst/>
            <a:ahLst/>
            <a:cxnLst/>
            <a:rect l="l" t="t" r="r" b="b"/>
            <a:pathLst>
              <a:path w="457200">
                <a:moveTo>
                  <a:pt x="0" y="0"/>
                </a:moveTo>
                <a:lnTo>
                  <a:pt x="45720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6126480" y="28986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8769096" y="3017520"/>
            <a:ext cx="457200" cy="0"/>
          </a:xfrm>
          <a:custGeom>
            <a:avLst/>
            <a:gdLst/>
            <a:ahLst/>
            <a:cxnLst/>
            <a:rect l="l" t="t" r="r" b="b"/>
            <a:pathLst>
              <a:path w="457200">
                <a:moveTo>
                  <a:pt x="0" y="0"/>
                </a:moveTo>
                <a:lnTo>
                  <a:pt x="45720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9052559" y="2898648"/>
            <a:ext cx="192025" cy="237743"/>
          </a:xfrm>
          <a:custGeom>
            <a:avLst/>
            <a:gdLst/>
            <a:ahLst/>
            <a:cxnLst/>
            <a:rect l="l" t="t" r="r" b="b"/>
            <a:pathLst>
              <a:path w="192025" h="237743">
                <a:moveTo>
                  <a:pt x="0" y="0"/>
                </a:moveTo>
                <a:lnTo>
                  <a:pt x="192025"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612648" y="4480560"/>
            <a:ext cx="10966399" cy="0"/>
          </a:xfrm>
          <a:custGeom>
            <a:avLst/>
            <a:gdLst/>
            <a:ahLst/>
            <a:cxnLst/>
            <a:rect l="l" t="t" r="r" b="b"/>
            <a:pathLst>
              <a:path w="10966399">
                <a:moveTo>
                  <a:pt x="0" y="0"/>
                </a:moveTo>
                <a:lnTo>
                  <a:pt x="10966399" y="0"/>
                </a:lnTo>
              </a:path>
            </a:pathLst>
          </a:custGeom>
          <a:noFill/>
          <a:ln w="1905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2648" y="4572000"/>
            <a:ext cx="3840480" cy="274320"/>
          </a:xfrm>
          <a:prstGeom prst="rect">
            <a:avLst/>
          </a:prstGeom>
          <a:noFill/>
        </p:spPr>
        <p:txBody>
          <a:bodyPr wrap="square" anchor="t">
            <a:noAutofit/>
          </a:bodyPr>
          <a:lstStyle/>
          <a:p>
            <a:pPr algn="l"/>
            <a:r>
              <a:rPr sz="1600" b="0" i="0">
                <a:solidFill>
                  <a:srgbClr val="5A6B7B"/>
                </a:solidFill>
                <a:latin typeface="Amazon Ember Display"/>
              </a:rPr>
              <a:t>closer to the viewer</a:t>
            </a:r>
          </a:p>
        </p:txBody>
      </p:sp>
      <p:sp>
        <p:nvSpPr>
          <p:cNvPr id="28" name="TextBox 27"/>
          <p:cNvSpPr txBox="1"/>
          <p:nvPr/>
        </p:nvSpPr>
        <p:spPr>
          <a:xfrm>
            <a:off x="7738567" y="4572000"/>
            <a:ext cx="3840480" cy="274320"/>
          </a:xfrm>
          <a:prstGeom prst="rect">
            <a:avLst/>
          </a:prstGeom>
          <a:noFill/>
        </p:spPr>
        <p:txBody>
          <a:bodyPr wrap="square" anchor="t">
            <a:noAutofit/>
          </a:bodyPr>
          <a:lstStyle/>
          <a:p>
            <a:pPr algn="r"/>
            <a:r>
              <a:rPr sz="1600" b="0" i="0">
                <a:solidFill>
                  <a:srgbClr val="5A6B7B"/>
                </a:solidFill>
                <a:latin typeface="Amazon Ember Display"/>
              </a:rPr>
              <a:t>farther away</a:t>
            </a:r>
          </a:p>
        </p:txBody>
      </p:sp>
      <p:sp>
        <p:nvSpPr>
          <p:cNvPr id="29" name="TextBox 28">
            <a:hlinkClick r:id="rId6"/>
          </p:cNvPr>
          <p:cNvSpPr txBox="1"/>
          <p:nvPr/>
        </p:nvSpPr>
        <p:spPr>
          <a:xfrm>
            <a:off x="612648" y="5943600"/>
            <a:ext cx="57435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How CloudFront delivers content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CloudFront speeds static and dynamic content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7435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How CloudFront delivers content</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Common use cases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Fast, secure websites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Dynamic content and APIs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Live and on-demand video</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How it works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Request routes to the nearest edge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The edge serves the cached object</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A cache miss fetches from the origin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Regional edge caches hold the long tail</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7435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How CloudFront delivers content</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are they?</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 larger cache between edge and origin</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Bigger than an individual edge cache</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An intermediate hop toward the origin</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Keeps less-popular content closer</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Helps content that decays over time</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Fewer trips back to the origin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Presigned URLs grant temporary private access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9264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Download and upload objects with…</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is a presigned URL?</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Time-limited access to one object</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Carries the creator's IAM permissions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No bucket policy change needed</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A bearer token -- protect it</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Expires: minutes up to 7 days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Also used for direct uploads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What do we build applications on?</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COMPUTE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Pick the compute model by how much you manage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Compute</a:t>
            </a:r>
          </a:p>
        </p:txBody>
      </p:sp>
      <p:sp>
        <p:nvSpPr>
          <p:cNvPr id="5" name="Rounded Rectangle 4"/>
          <p:cNvSpPr/>
          <p:nvPr/>
        </p:nvSpPr>
        <p:spPr>
          <a:xfrm>
            <a:off x="731520" y="197510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87552" y="1975104"/>
            <a:ext cx="5486400" cy="731520"/>
          </a:xfrm>
          <a:prstGeom prst="rect">
            <a:avLst/>
          </a:prstGeom>
          <a:noFill/>
        </p:spPr>
        <p:txBody>
          <a:bodyPr wrap="square" anchor="ctr">
            <a:noAutofit/>
          </a:bodyPr>
          <a:lstStyle/>
          <a:p>
            <a:pPr algn="l"/>
            <a:r>
              <a:rPr sz="1900" b="0" i="0">
                <a:solidFill>
                  <a:srgbClr val="232B37"/>
                </a:solidFill>
                <a:latin typeface="Amazon Ember Display"/>
              </a:rPr>
              <a:t>Control the server, OS, storage, network</a:t>
            </a:r>
          </a:p>
        </p:txBody>
      </p:sp>
      <p:sp>
        <p:nvSpPr>
          <p:cNvPr id="7" name="Freeform 6"/>
          <p:cNvSpPr/>
          <p:nvPr/>
        </p:nvSpPr>
        <p:spPr>
          <a:xfrm>
            <a:off x="6931151" y="234086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7168895" y="222199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62088" y="197510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81544" y="2048256"/>
            <a:ext cx="3584448" cy="310896"/>
          </a:xfrm>
          <a:prstGeom prst="rect">
            <a:avLst/>
          </a:prstGeom>
          <a:noFill/>
        </p:spPr>
        <p:txBody>
          <a:bodyPr wrap="square" anchor="t">
            <a:noAutofit/>
          </a:bodyPr>
          <a:lstStyle/>
          <a:p>
            <a:pPr algn="l"/>
            <a:r>
              <a:rPr sz="2000" b="1" i="0">
                <a:solidFill>
                  <a:srgbClr val="8F0072"/>
                </a:solidFill>
                <a:latin typeface="Amazon Ember Display"/>
              </a:rPr>
              <a:t>Amazon EC2</a:t>
            </a:r>
          </a:p>
        </p:txBody>
      </p:sp>
      <p:sp>
        <p:nvSpPr>
          <p:cNvPr id="11" name="TextBox 10"/>
          <p:cNvSpPr txBox="1"/>
          <p:nvPr/>
        </p:nvSpPr>
        <p:spPr>
          <a:xfrm>
            <a:off x="7781544" y="2377440"/>
            <a:ext cx="3584448" cy="292608"/>
          </a:xfrm>
          <a:prstGeom prst="rect">
            <a:avLst/>
          </a:prstGeom>
          <a:noFill/>
        </p:spPr>
        <p:txBody>
          <a:bodyPr wrap="square" anchor="t">
            <a:noAutofit/>
          </a:bodyPr>
          <a:lstStyle/>
          <a:p>
            <a:pPr algn="l"/>
            <a:r>
              <a:rPr sz="1800" b="0" i="0">
                <a:solidFill>
                  <a:srgbClr val="232B37"/>
                </a:solidFill>
                <a:latin typeface="Amazon Ember Display"/>
              </a:rPr>
              <a:t>You manage the virtual server</a:t>
            </a:r>
          </a:p>
        </p:txBody>
      </p:sp>
      <p:sp>
        <p:nvSpPr>
          <p:cNvPr id="12" name="Rounded Rectangle 11"/>
          <p:cNvSpPr/>
          <p:nvPr/>
        </p:nvSpPr>
        <p:spPr>
          <a:xfrm>
            <a:off x="731520" y="279806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2798064"/>
            <a:ext cx="5486400" cy="731520"/>
          </a:xfrm>
          <a:prstGeom prst="rect">
            <a:avLst/>
          </a:prstGeom>
          <a:noFill/>
        </p:spPr>
        <p:txBody>
          <a:bodyPr wrap="square" anchor="ctr">
            <a:noAutofit/>
          </a:bodyPr>
          <a:lstStyle/>
          <a:p>
            <a:pPr algn="l"/>
            <a:r>
              <a:rPr sz="1900" b="0" i="0">
                <a:solidFill>
                  <a:srgbClr val="232B37"/>
                </a:solidFill>
                <a:latin typeface="Amazon Ember Display"/>
              </a:rPr>
              <a:t>Run and scale containers you orchestrate</a:t>
            </a:r>
          </a:p>
        </p:txBody>
      </p:sp>
      <p:sp>
        <p:nvSpPr>
          <p:cNvPr id="14" name="Freeform 13"/>
          <p:cNvSpPr/>
          <p:nvPr/>
        </p:nvSpPr>
        <p:spPr>
          <a:xfrm>
            <a:off x="6931151" y="316382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7168895" y="304495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562088" y="279806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81544" y="2871216"/>
            <a:ext cx="3584448" cy="310896"/>
          </a:xfrm>
          <a:prstGeom prst="rect">
            <a:avLst/>
          </a:prstGeom>
          <a:noFill/>
        </p:spPr>
        <p:txBody>
          <a:bodyPr wrap="square" anchor="t">
            <a:noAutofit/>
          </a:bodyPr>
          <a:lstStyle/>
          <a:p>
            <a:pPr algn="l"/>
            <a:r>
              <a:rPr sz="2000" b="1" i="0">
                <a:solidFill>
                  <a:srgbClr val="8F0072"/>
                </a:solidFill>
                <a:latin typeface="Amazon Ember Display"/>
              </a:rPr>
              <a:t>Amazon ECS</a:t>
            </a:r>
          </a:p>
        </p:txBody>
      </p:sp>
      <p:sp>
        <p:nvSpPr>
          <p:cNvPr id="18" name="TextBox 17"/>
          <p:cNvSpPr txBox="1"/>
          <p:nvPr/>
        </p:nvSpPr>
        <p:spPr>
          <a:xfrm>
            <a:off x="7781544" y="3200400"/>
            <a:ext cx="3584448" cy="292608"/>
          </a:xfrm>
          <a:prstGeom prst="rect">
            <a:avLst/>
          </a:prstGeom>
          <a:noFill/>
        </p:spPr>
        <p:txBody>
          <a:bodyPr wrap="square" anchor="t">
            <a:noAutofit/>
          </a:bodyPr>
          <a:lstStyle/>
          <a:p>
            <a:pPr algn="l"/>
            <a:r>
              <a:rPr sz="1800" b="0" i="0">
                <a:solidFill>
                  <a:srgbClr val="232B37"/>
                </a:solidFill>
                <a:latin typeface="Amazon Ember Display"/>
              </a:rPr>
              <a:t>You run the orchestration</a:t>
            </a:r>
          </a:p>
        </p:txBody>
      </p:sp>
      <p:sp>
        <p:nvSpPr>
          <p:cNvPr id="19" name="Rounded Rectangle 18"/>
          <p:cNvSpPr/>
          <p:nvPr/>
        </p:nvSpPr>
        <p:spPr>
          <a:xfrm>
            <a:off x="731520" y="362102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87552" y="3621024"/>
            <a:ext cx="5486400" cy="731520"/>
          </a:xfrm>
          <a:prstGeom prst="rect">
            <a:avLst/>
          </a:prstGeom>
          <a:noFill/>
        </p:spPr>
        <p:txBody>
          <a:bodyPr wrap="square" anchor="ctr">
            <a:noAutofit/>
          </a:bodyPr>
          <a:lstStyle/>
          <a:p>
            <a:pPr algn="l"/>
            <a:r>
              <a:rPr sz="1900" b="0" i="0">
                <a:solidFill>
                  <a:srgbClr val="232B37"/>
                </a:solidFill>
                <a:latin typeface="Amazon Ember Display"/>
              </a:rPr>
              <a:t>Run those containers with no servers</a:t>
            </a:r>
          </a:p>
        </p:txBody>
      </p:sp>
      <p:sp>
        <p:nvSpPr>
          <p:cNvPr id="21" name="Freeform 20"/>
          <p:cNvSpPr/>
          <p:nvPr/>
        </p:nvSpPr>
        <p:spPr>
          <a:xfrm>
            <a:off x="6931151" y="398678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7168895" y="386791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562088" y="362102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81544" y="3694176"/>
            <a:ext cx="3584448" cy="310896"/>
          </a:xfrm>
          <a:prstGeom prst="rect">
            <a:avLst/>
          </a:prstGeom>
          <a:noFill/>
        </p:spPr>
        <p:txBody>
          <a:bodyPr wrap="square" anchor="t">
            <a:noAutofit/>
          </a:bodyPr>
          <a:lstStyle/>
          <a:p>
            <a:pPr algn="l"/>
            <a:r>
              <a:rPr sz="2000" b="1" i="0" dirty="0">
                <a:solidFill>
                  <a:srgbClr val="8F0072"/>
                </a:solidFill>
                <a:latin typeface="Amazon Ember Display"/>
              </a:rPr>
              <a:t>AWS Fargate</a:t>
            </a:r>
          </a:p>
        </p:txBody>
      </p:sp>
      <p:sp>
        <p:nvSpPr>
          <p:cNvPr id="25" name="TextBox 24"/>
          <p:cNvSpPr txBox="1"/>
          <p:nvPr/>
        </p:nvSpPr>
        <p:spPr>
          <a:xfrm>
            <a:off x="7781544" y="4023360"/>
            <a:ext cx="3584448" cy="292608"/>
          </a:xfrm>
          <a:prstGeom prst="rect">
            <a:avLst/>
          </a:prstGeom>
          <a:noFill/>
        </p:spPr>
        <p:txBody>
          <a:bodyPr wrap="square" anchor="t">
            <a:noAutofit/>
          </a:bodyPr>
          <a:lstStyle/>
          <a:p>
            <a:pPr algn="l"/>
            <a:r>
              <a:rPr sz="1800" b="0" i="0">
                <a:solidFill>
                  <a:srgbClr val="232B37"/>
                </a:solidFill>
                <a:latin typeface="Amazon Ember Display"/>
              </a:rPr>
              <a:t>Serverless containers</a:t>
            </a:r>
          </a:p>
        </p:txBody>
      </p:sp>
      <p:sp>
        <p:nvSpPr>
          <p:cNvPr id="26" name="Rounded Rectangle 25"/>
          <p:cNvSpPr/>
          <p:nvPr/>
        </p:nvSpPr>
        <p:spPr>
          <a:xfrm>
            <a:off x="731520" y="444398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87552" y="4443984"/>
            <a:ext cx="5486400" cy="731520"/>
          </a:xfrm>
          <a:prstGeom prst="rect">
            <a:avLst/>
          </a:prstGeom>
          <a:noFill/>
        </p:spPr>
        <p:txBody>
          <a:bodyPr wrap="square" anchor="ctr">
            <a:noAutofit/>
          </a:bodyPr>
          <a:lstStyle/>
          <a:p>
            <a:pPr algn="l"/>
            <a:r>
              <a:rPr sz="1900" b="0" i="0">
                <a:solidFill>
                  <a:srgbClr val="232B37"/>
                </a:solidFill>
                <a:latin typeface="Amazon Ember Display"/>
              </a:rPr>
              <a:t>Run code on demand, event-driven</a:t>
            </a:r>
          </a:p>
        </p:txBody>
      </p:sp>
      <p:sp>
        <p:nvSpPr>
          <p:cNvPr id="28" name="Freeform 27"/>
          <p:cNvSpPr/>
          <p:nvPr/>
        </p:nvSpPr>
        <p:spPr>
          <a:xfrm>
            <a:off x="6931151" y="480974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7168895" y="469087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562088" y="444398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781544" y="4517136"/>
            <a:ext cx="3584448" cy="310896"/>
          </a:xfrm>
          <a:prstGeom prst="rect">
            <a:avLst/>
          </a:prstGeom>
          <a:noFill/>
        </p:spPr>
        <p:txBody>
          <a:bodyPr wrap="square" anchor="t">
            <a:noAutofit/>
          </a:bodyPr>
          <a:lstStyle/>
          <a:p>
            <a:pPr algn="l"/>
            <a:r>
              <a:rPr sz="2000" b="1" i="0">
                <a:solidFill>
                  <a:srgbClr val="8F0072"/>
                </a:solidFill>
                <a:latin typeface="Amazon Ember Display"/>
              </a:rPr>
              <a:t>AWS Lambda</a:t>
            </a:r>
          </a:p>
        </p:txBody>
      </p:sp>
      <p:sp>
        <p:nvSpPr>
          <p:cNvPr id="32" name="TextBox 31"/>
          <p:cNvSpPr txBox="1"/>
          <p:nvPr/>
        </p:nvSpPr>
        <p:spPr>
          <a:xfrm>
            <a:off x="7781544" y="4846320"/>
            <a:ext cx="3584448" cy="292608"/>
          </a:xfrm>
          <a:prstGeom prst="rect">
            <a:avLst/>
          </a:prstGeom>
          <a:noFill/>
        </p:spPr>
        <p:txBody>
          <a:bodyPr wrap="square" anchor="t">
            <a:noAutofit/>
          </a:bodyPr>
          <a:lstStyle/>
          <a:p>
            <a:pPr algn="l"/>
            <a:r>
              <a:rPr sz="1800" b="0" i="0">
                <a:solidFill>
                  <a:srgbClr val="232B37"/>
                </a:solidFill>
                <a:latin typeface="Amazon Ember Display"/>
              </a:rPr>
              <a:t>Serverless functions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An AMI is the template an instance launches from</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1093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Amazon Machine Images in Amazon EC2</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is an AMI?</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 template for an EC2 instance</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Root volume: OS plus software</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Required to launch an instance</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it carries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EBS snapshots or a root template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Launch permissions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Block device mapping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EC2 works with four kinds of storage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Storage</a:t>
            </a:r>
          </a:p>
        </p:txBody>
      </p:sp>
      <p:sp>
        <p:nvSpPr>
          <p:cNvPr id="5" name="Rounded Rectangle 4"/>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The storage families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Block: Amazon EBS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Local instance store</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Object: Amazon S3</a:t>
            </a:r>
          </a:p>
        </p:txBody>
      </p:sp>
      <p:sp>
        <p:nvSpPr>
          <p:cNvPr id="14" name="Rounded Rectangle 13"/>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69848" y="4128008"/>
            <a:ext cx="4389119" cy="284479"/>
          </a:xfrm>
          <a:prstGeom prst="rect">
            <a:avLst/>
          </a:prstGeom>
          <a:noFill/>
        </p:spPr>
        <p:txBody>
          <a:bodyPr wrap="square" anchor="t">
            <a:noAutofit/>
          </a:bodyPr>
          <a:lstStyle/>
          <a:p>
            <a:pPr algn="l"/>
            <a:r>
              <a:rPr sz="1600" b="1" i="0">
                <a:solidFill>
                  <a:srgbClr val="232B37"/>
                </a:solidFill>
                <a:latin typeface="Amazon Ember Display"/>
              </a:rPr>
              <a:t>File: Amazon EFS</a:t>
            </a:r>
          </a:p>
        </p:txBody>
      </p:sp>
      <p:sp>
        <p:nvSpPr>
          <p:cNvPr id="16" name="Rounded Rectangle 15"/>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How to tell them apart</a:t>
            </a:r>
          </a:p>
        </p:txBody>
      </p:sp>
      <p:sp>
        <p:nvSpPr>
          <p:cNvPr id="18" name="Rectangle 17"/>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Persistent or temporary</a:t>
            </a:r>
          </a:p>
        </p:txBody>
      </p:sp>
      <p:sp>
        <p:nvSpPr>
          <p:cNvPr id="21" name="Rounded Rectangle 20"/>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Attached to one or shared</a:t>
            </a:r>
          </a:p>
        </p:txBody>
      </p:sp>
      <p:sp>
        <p:nvSpPr>
          <p:cNvPr id="23" name="Rounded Rectangle 22"/>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Block, object, or file access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Match the storage to how the data is used</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Storage</a:t>
            </a:r>
          </a:p>
        </p:txBody>
      </p:sp>
      <p:sp>
        <p:nvSpPr>
          <p:cNvPr id="5" name="Rounded Rectangle 4"/>
          <p:cNvSpPr/>
          <p:nvPr/>
        </p:nvSpPr>
        <p:spPr>
          <a:xfrm>
            <a:off x="731520" y="197510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87552" y="1975104"/>
            <a:ext cx="5486400" cy="731520"/>
          </a:xfrm>
          <a:prstGeom prst="rect">
            <a:avLst/>
          </a:prstGeom>
          <a:noFill/>
        </p:spPr>
        <p:txBody>
          <a:bodyPr wrap="square" anchor="ctr">
            <a:noAutofit/>
          </a:bodyPr>
          <a:lstStyle/>
          <a:p>
            <a:pPr algn="l"/>
            <a:r>
              <a:rPr sz="1900" b="0" i="0">
                <a:solidFill>
                  <a:srgbClr val="232B37"/>
                </a:solidFill>
                <a:latin typeface="Amazon Ember Display"/>
              </a:rPr>
              <a:t>Primary block storage for a DB or filesystem</a:t>
            </a:r>
          </a:p>
        </p:txBody>
      </p:sp>
      <p:sp>
        <p:nvSpPr>
          <p:cNvPr id="7" name="Freeform 6"/>
          <p:cNvSpPr/>
          <p:nvPr/>
        </p:nvSpPr>
        <p:spPr>
          <a:xfrm>
            <a:off x="6931151" y="234086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7168895" y="222199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62088" y="197510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81544" y="2048256"/>
            <a:ext cx="3584448" cy="310896"/>
          </a:xfrm>
          <a:prstGeom prst="rect">
            <a:avLst/>
          </a:prstGeom>
          <a:noFill/>
        </p:spPr>
        <p:txBody>
          <a:bodyPr wrap="square" anchor="t">
            <a:noAutofit/>
          </a:bodyPr>
          <a:lstStyle/>
          <a:p>
            <a:pPr algn="l"/>
            <a:r>
              <a:rPr sz="2000" b="1" i="0">
                <a:solidFill>
                  <a:srgbClr val="8F0072"/>
                </a:solidFill>
                <a:latin typeface="Amazon Ember Display"/>
              </a:rPr>
              <a:t>Amazon EBS</a:t>
            </a:r>
          </a:p>
        </p:txBody>
      </p:sp>
      <p:sp>
        <p:nvSpPr>
          <p:cNvPr id="11" name="TextBox 10"/>
          <p:cNvSpPr txBox="1"/>
          <p:nvPr/>
        </p:nvSpPr>
        <p:spPr>
          <a:xfrm>
            <a:off x="7781544" y="2377440"/>
            <a:ext cx="3584448" cy="292608"/>
          </a:xfrm>
          <a:prstGeom prst="rect">
            <a:avLst/>
          </a:prstGeom>
          <a:noFill/>
        </p:spPr>
        <p:txBody>
          <a:bodyPr wrap="square" anchor="t">
            <a:noAutofit/>
          </a:bodyPr>
          <a:lstStyle/>
          <a:p>
            <a:pPr algn="l"/>
            <a:r>
              <a:rPr sz="1800" b="0" i="0">
                <a:solidFill>
                  <a:srgbClr val="232B37"/>
                </a:solidFill>
                <a:latin typeface="Amazon Ember Display"/>
              </a:rPr>
              <a:t>Persistent block volume</a:t>
            </a:r>
          </a:p>
        </p:txBody>
      </p:sp>
      <p:sp>
        <p:nvSpPr>
          <p:cNvPr id="12" name="Rounded Rectangle 11"/>
          <p:cNvSpPr/>
          <p:nvPr/>
        </p:nvSpPr>
        <p:spPr>
          <a:xfrm>
            <a:off x="731520" y="279806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2798064"/>
            <a:ext cx="5486400" cy="731520"/>
          </a:xfrm>
          <a:prstGeom prst="rect">
            <a:avLst/>
          </a:prstGeom>
          <a:noFill/>
        </p:spPr>
        <p:txBody>
          <a:bodyPr wrap="square" anchor="ctr">
            <a:noAutofit/>
          </a:bodyPr>
          <a:lstStyle/>
          <a:p>
            <a:pPr algn="l"/>
            <a:r>
              <a:rPr sz="1900" b="0" i="0">
                <a:solidFill>
                  <a:srgbClr val="232B37"/>
                </a:solidFill>
                <a:latin typeface="Amazon Ember Display"/>
              </a:rPr>
              <a:t>Buffers, caches, scratch data</a:t>
            </a:r>
          </a:p>
        </p:txBody>
      </p:sp>
      <p:sp>
        <p:nvSpPr>
          <p:cNvPr id="14" name="Freeform 13"/>
          <p:cNvSpPr/>
          <p:nvPr/>
        </p:nvSpPr>
        <p:spPr>
          <a:xfrm>
            <a:off x="6931151" y="316382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7168895" y="304495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562088" y="279806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81544" y="2871216"/>
            <a:ext cx="3584448" cy="310896"/>
          </a:xfrm>
          <a:prstGeom prst="rect">
            <a:avLst/>
          </a:prstGeom>
          <a:noFill/>
        </p:spPr>
        <p:txBody>
          <a:bodyPr wrap="square" anchor="t">
            <a:noAutofit/>
          </a:bodyPr>
          <a:lstStyle/>
          <a:p>
            <a:pPr algn="l"/>
            <a:r>
              <a:rPr sz="2000" b="1" i="0">
                <a:solidFill>
                  <a:srgbClr val="8F0072"/>
                </a:solidFill>
                <a:latin typeface="Amazon Ember Display"/>
              </a:rPr>
              <a:t>EC2 instance store</a:t>
            </a:r>
          </a:p>
        </p:txBody>
      </p:sp>
      <p:sp>
        <p:nvSpPr>
          <p:cNvPr id="18" name="TextBox 17"/>
          <p:cNvSpPr txBox="1"/>
          <p:nvPr/>
        </p:nvSpPr>
        <p:spPr>
          <a:xfrm>
            <a:off x="7781544" y="3200400"/>
            <a:ext cx="3584448" cy="292608"/>
          </a:xfrm>
          <a:prstGeom prst="rect">
            <a:avLst/>
          </a:prstGeom>
          <a:noFill/>
        </p:spPr>
        <p:txBody>
          <a:bodyPr wrap="square" anchor="t">
            <a:noAutofit/>
          </a:bodyPr>
          <a:lstStyle/>
          <a:p>
            <a:pPr algn="l"/>
            <a:r>
              <a:rPr sz="1800" b="0" i="0">
                <a:solidFill>
                  <a:srgbClr val="232B37"/>
                </a:solidFill>
                <a:latin typeface="Amazon Ember Display"/>
              </a:rPr>
              <a:t>Temporary, host-local</a:t>
            </a:r>
          </a:p>
        </p:txBody>
      </p:sp>
      <p:sp>
        <p:nvSpPr>
          <p:cNvPr id="19" name="Rounded Rectangle 18"/>
          <p:cNvSpPr/>
          <p:nvPr/>
        </p:nvSpPr>
        <p:spPr>
          <a:xfrm>
            <a:off x="731520" y="362102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87552" y="3621024"/>
            <a:ext cx="5486400" cy="731520"/>
          </a:xfrm>
          <a:prstGeom prst="rect">
            <a:avLst/>
          </a:prstGeom>
          <a:noFill/>
        </p:spPr>
        <p:txBody>
          <a:bodyPr wrap="square" anchor="ctr">
            <a:noAutofit/>
          </a:bodyPr>
          <a:lstStyle/>
          <a:p>
            <a:pPr algn="l"/>
            <a:r>
              <a:rPr sz="1900" b="0" i="0">
                <a:solidFill>
                  <a:srgbClr val="232B37"/>
                </a:solidFill>
                <a:latin typeface="Amazon Ember Display"/>
              </a:rPr>
              <a:t>Files and datasets, durable and cheap</a:t>
            </a:r>
          </a:p>
        </p:txBody>
      </p:sp>
      <p:sp>
        <p:nvSpPr>
          <p:cNvPr id="21" name="Freeform 20"/>
          <p:cNvSpPr/>
          <p:nvPr/>
        </p:nvSpPr>
        <p:spPr>
          <a:xfrm>
            <a:off x="6931151" y="398678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7168895" y="386791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562088" y="362102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81544" y="3694176"/>
            <a:ext cx="3584448" cy="310896"/>
          </a:xfrm>
          <a:prstGeom prst="rect">
            <a:avLst/>
          </a:prstGeom>
          <a:noFill/>
        </p:spPr>
        <p:txBody>
          <a:bodyPr wrap="square" anchor="t">
            <a:noAutofit/>
          </a:bodyPr>
          <a:lstStyle/>
          <a:p>
            <a:pPr algn="l"/>
            <a:r>
              <a:rPr sz="2000" b="1" i="0">
                <a:solidFill>
                  <a:srgbClr val="8F0072"/>
                </a:solidFill>
                <a:latin typeface="Amazon Ember Display"/>
              </a:rPr>
              <a:t>Amazon S3</a:t>
            </a:r>
          </a:p>
        </p:txBody>
      </p:sp>
      <p:sp>
        <p:nvSpPr>
          <p:cNvPr id="25" name="TextBox 24"/>
          <p:cNvSpPr txBox="1"/>
          <p:nvPr/>
        </p:nvSpPr>
        <p:spPr>
          <a:xfrm>
            <a:off x="7781544" y="4023360"/>
            <a:ext cx="3584448" cy="292608"/>
          </a:xfrm>
          <a:prstGeom prst="rect">
            <a:avLst/>
          </a:prstGeom>
          <a:noFill/>
        </p:spPr>
        <p:txBody>
          <a:bodyPr wrap="square" anchor="t">
            <a:noAutofit/>
          </a:bodyPr>
          <a:lstStyle/>
          <a:p>
            <a:pPr algn="l"/>
            <a:r>
              <a:rPr sz="1800" b="0" i="0">
                <a:solidFill>
                  <a:srgbClr val="232B37"/>
                </a:solidFill>
                <a:latin typeface="Amazon Ember Display"/>
              </a:rPr>
              <a:t>Object storage over an API</a:t>
            </a:r>
          </a:p>
        </p:txBody>
      </p:sp>
      <p:sp>
        <p:nvSpPr>
          <p:cNvPr id="26" name="Rounded Rectangle 25"/>
          <p:cNvSpPr/>
          <p:nvPr/>
        </p:nvSpPr>
        <p:spPr>
          <a:xfrm>
            <a:off x="731520" y="444398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987552" y="4443984"/>
            <a:ext cx="5486400" cy="731520"/>
          </a:xfrm>
          <a:prstGeom prst="rect">
            <a:avLst/>
          </a:prstGeom>
          <a:noFill/>
        </p:spPr>
        <p:txBody>
          <a:bodyPr wrap="square" anchor="ctr">
            <a:noAutofit/>
          </a:bodyPr>
          <a:lstStyle/>
          <a:p>
            <a:pPr algn="l"/>
            <a:r>
              <a:rPr sz="1900" b="0" i="0">
                <a:solidFill>
                  <a:srgbClr val="232B37"/>
                </a:solidFill>
                <a:latin typeface="Amazon Ember Display"/>
              </a:rPr>
              <a:t>One data source shared by many instances</a:t>
            </a:r>
          </a:p>
        </p:txBody>
      </p:sp>
      <p:sp>
        <p:nvSpPr>
          <p:cNvPr id="28" name="Freeform 27"/>
          <p:cNvSpPr/>
          <p:nvPr/>
        </p:nvSpPr>
        <p:spPr>
          <a:xfrm>
            <a:off x="6931151" y="480974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Freeform 28"/>
          <p:cNvSpPr/>
          <p:nvPr/>
        </p:nvSpPr>
        <p:spPr>
          <a:xfrm>
            <a:off x="7168895" y="469087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562088" y="444398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7781544" y="4517136"/>
            <a:ext cx="3584448" cy="310896"/>
          </a:xfrm>
          <a:prstGeom prst="rect">
            <a:avLst/>
          </a:prstGeom>
          <a:noFill/>
        </p:spPr>
        <p:txBody>
          <a:bodyPr wrap="square" anchor="t">
            <a:noAutofit/>
          </a:bodyPr>
          <a:lstStyle/>
          <a:p>
            <a:pPr algn="l"/>
            <a:r>
              <a:rPr sz="2000" b="1" i="0">
                <a:solidFill>
                  <a:srgbClr val="8F0072"/>
                </a:solidFill>
                <a:latin typeface="Amazon Ember Display"/>
              </a:rPr>
              <a:t>Amazon EFS</a:t>
            </a:r>
          </a:p>
        </p:txBody>
      </p:sp>
      <p:sp>
        <p:nvSpPr>
          <p:cNvPr id="32" name="TextBox 31"/>
          <p:cNvSpPr txBox="1"/>
          <p:nvPr/>
        </p:nvSpPr>
        <p:spPr>
          <a:xfrm>
            <a:off x="7781544" y="4846320"/>
            <a:ext cx="3584448" cy="292608"/>
          </a:xfrm>
          <a:prstGeom prst="rect">
            <a:avLst/>
          </a:prstGeom>
          <a:noFill/>
        </p:spPr>
        <p:txBody>
          <a:bodyPr wrap="square" anchor="t">
            <a:noAutofit/>
          </a:bodyPr>
          <a:lstStyle/>
          <a:p>
            <a:pPr algn="l"/>
            <a:r>
              <a:rPr sz="1800" b="0" i="0">
                <a:solidFill>
                  <a:srgbClr val="232B37"/>
                </a:solidFill>
                <a:latin typeface="Amazon Ember Display"/>
              </a:rPr>
              <a:t>Shared file system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Auto Scaling adds instances, it does not enlarge one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920240"/>
            <a:ext cx="5349240" cy="3017520"/>
          </a:xfrm>
          <a:prstGeom prst="roundRect">
            <a:avLst>
              <a:gd name="adj" fmla="val 303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68680" y="2029968"/>
            <a:ext cx="4837175" cy="292608"/>
          </a:xfrm>
          <a:prstGeom prst="rect">
            <a:avLst/>
          </a:prstGeom>
          <a:noFill/>
        </p:spPr>
        <p:txBody>
          <a:bodyPr wrap="square" anchor="ctr">
            <a:noAutofit/>
          </a:bodyPr>
          <a:lstStyle/>
          <a:p>
            <a:pPr algn="l"/>
            <a:r>
              <a:rPr sz="1600" b="1" i="0">
                <a:solidFill>
                  <a:srgbClr val="8F0072"/>
                </a:solidFill>
                <a:latin typeface="Amazon Ember Display"/>
              </a:rPr>
              <a:t>SCALE OUT</a:t>
            </a:r>
          </a:p>
        </p:txBody>
      </p:sp>
      <p:sp>
        <p:nvSpPr>
          <p:cNvPr id="6" name="TextBox 5"/>
          <p:cNvSpPr txBox="1"/>
          <p:nvPr/>
        </p:nvSpPr>
        <p:spPr>
          <a:xfrm>
            <a:off x="868680" y="4498848"/>
            <a:ext cx="4837175" cy="292608"/>
          </a:xfrm>
          <a:prstGeom prst="rect">
            <a:avLst/>
          </a:prstGeom>
          <a:noFill/>
        </p:spPr>
        <p:txBody>
          <a:bodyPr wrap="square" anchor="t">
            <a:noAutofit/>
          </a:bodyPr>
          <a:lstStyle/>
          <a:p>
            <a:pPr algn="l"/>
            <a:r>
              <a:rPr sz="1600" b="0" i="0">
                <a:solidFill>
                  <a:srgbClr val="232B37"/>
                </a:solidFill>
                <a:latin typeface="Amazon Ember Display"/>
              </a:rPr>
              <a:t>more instances, each the same size</a:t>
            </a:r>
          </a:p>
        </p:txBody>
      </p:sp>
      <p:sp>
        <p:nvSpPr>
          <p:cNvPr id="7" name="Rounded Rectangle 6"/>
          <p:cNvSpPr/>
          <p:nvPr/>
        </p:nvSpPr>
        <p:spPr>
          <a:xfrm>
            <a:off x="6236208" y="1920240"/>
            <a:ext cx="5349240" cy="3017520"/>
          </a:xfrm>
          <a:prstGeom prst="roundRect">
            <a:avLst>
              <a:gd name="adj" fmla="val 3030"/>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92240" y="2029968"/>
            <a:ext cx="4837175" cy="292608"/>
          </a:xfrm>
          <a:prstGeom prst="rect">
            <a:avLst/>
          </a:prstGeom>
          <a:noFill/>
        </p:spPr>
        <p:txBody>
          <a:bodyPr wrap="square" anchor="ctr">
            <a:noAutofit/>
          </a:bodyPr>
          <a:lstStyle/>
          <a:p>
            <a:pPr algn="l"/>
            <a:r>
              <a:rPr sz="1600" b="1" i="0">
                <a:solidFill>
                  <a:srgbClr val="8F0072"/>
                </a:solidFill>
                <a:latin typeface="Amazon Ember Display"/>
              </a:rPr>
              <a:t>SCALE UP</a:t>
            </a:r>
          </a:p>
        </p:txBody>
      </p:sp>
      <p:sp>
        <p:nvSpPr>
          <p:cNvPr id="9" name="TextBox 8"/>
          <p:cNvSpPr txBox="1"/>
          <p:nvPr/>
        </p:nvSpPr>
        <p:spPr>
          <a:xfrm>
            <a:off x="6492240" y="4498848"/>
            <a:ext cx="4837175" cy="292608"/>
          </a:xfrm>
          <a:prstGeom prst="rect">
            <a:avLst/>
          </a:prstGeom>
          <a:noFill/>
        </p:spPr>
        <p:txBody>
          <a:bodyPr wrap="square" anchor="t">
            <a:noAutofit/>
          </a:bodyPr>
          <a:lstStyle/>
          <a:p>
            <a:pPr algn="l"/>
            <a:r>
              <a:rPr sz="1600" b="0" i="0">
                <a:solidFill>
                  <a:srgbClr val="232B37"/>
                </a:solidFill>
                <a:latin typeface="Amazon Ember Display"/>
              </a:rPr>
              <a:t>one instance, a larger size</a:t>
            </a:r>
          </a:p>
        </p:txBody>
      </p:sp>
      <p:sp>
        <p:nvSpPr>
          <p:cNvPr id="10" name="Rounded Rectangle 9"/>
          <p:cNvSpPr/>
          <p:nvPr/>
        </p:nvSpPr>
        <p:spPr>
          <a:xfrm>
            <a:off x="868680" y="2743200"/>
            <a:ext cx="1478279" cy="1188720"/>
          </a:xfrm>
          <a:prstGeom prst="roundRect">
            <a:avLst>
              <a:gd name="adj" fmla="val 1076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Arch_Amazon-EC2_64.png"/>
          <p:cNvPicPr>
            <a:picLocks noChangeAspect="1"/>
          </p:cNvPicPr>
          <p:nvPr/>
        </p:nvPicPr>
        <p:blipFill>
          <a:blip r:embed="rId3"/>
          <a:stretch>
            <a:fillRect/>
          </a:stretch>
        </p:blipFill>
        <p:spPr>
          <a:xfrm>
            <a:off x="1379220" y="2935224"/>
            <a:ext cx="457200" cy="457200"/>
          </a:xfrm>
          <a:prstGeom prst="rect">
            <a:avLst/>
          </a:prstGeom>
        </p:spPr>
      </p:pic>
      <p:sp>
        <p:nvSpPr>
          <p:cNvPr id="12" name="TextBox 11"/>
          <p:cNvSpPr txBox="1"/>
          <p:nvPr/>
        </p:nvSpPr>
        <p:spPr>
          <a:xfrm>
            <a:off x="868680" y="3474720"/>
            <a:ext cx="1478279" cy="274320"/>
          </a:xfrm>
          <a:prstGeom prst="rect">
            <a:avLst/>
          </a:prstGeom>
          <a:noFill/>
        </p:spPr>
        <p:txBody>
          <a:bodyPr wrap="square" anchor="ctr">
            <a:noAutofit/>
          </a:bodyPr>
          <a:lstStyle/>
          <a:p>
            <a:pPr algn="ctr"/>
            <a:r>
              <a:rPr sz="1600" b="0" i="0">
                <a:solidFill>
                  <a:srgbClr val="232B37"/>
                </a:solidFill>
                <a:latin typeface="Amazon Ember Display"/>
              </a:rPr>
              <a:t>t3.medium</a:t>
            </a:r>
          </a:p>
        </p:txBody>
      </p:sp>
      <p:sp>
        <p:nvSpPr>
          <p:cNvPr id="13" name="Rounded Rectangle 12"/>
          <p:cNvSpPr/>
          <p:nvPr/>
        </p:nvSpPr>
        <p:spPr>
          <a:xfrm>
            <a:off x="2548127" y="2743200"/>
            <a:ext cx="1478279" cy="1188720"/>
          </a:xfrm>
          <a:prstGeom prst="roundRect">
            <a:avLst>
              <a:gd name="adj" fmla="val 1076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Picture 13" descr="Arch_Amazon-EC2_64.png"/>
          <p:cNvPicPr>
            <a:picLocks noChangeAspect="1"/>
          </p:cNvPicPr>
          <p:nvPr/>
        </p:nvPicPr>
        <p:blipFill>
          <a:blip r:embed="rId3"/>
          <a:stretch>
            <a:fillRect/>
          </a:stretch>
        </p:blipFill>
        <p:spPr>
          <a:xfrm>
            <a:off x="3058667" y="2935224"/>
            <a:ext cx="457200" cy="457200"/>
          </a:xfrm>
          <a:prstGeom prst="rect">
            <a:avLst/>
          </a:prstGeom>
        </p:spPr>
      </p:pic>
      <p:sp>
        <p:nvSpPr>
          <p:cNvPr id="15" name="TextBox 14"/>
          <p:cNvSpPr txBox="1"/>
          <p:nvPr/>
        </p:nvSpPr>
        <p:spPr>
          <a:xfrm>
            <a:off x="2548127" y="3474720"/>
            <a:ext cx="1478279" cy="274320"/>
          </a:xfrm>
          <a:prstGeom prst="rect">
            <a:avLst/>
          </a:prstGeom>
          <a:noFill/>
        </p:spPr>
        <p:txBody>
          <a:bodyPr wrap="square" anchor="ctr">
            <a:noAutofit/>
          </a:bodyPr>
          <a:lstStyle/>
          <a:p>
            <a:pPr algn="ctr"/>
            <a:r>
              <a:rPr sz="1600" b="0" i="0">
                <a:solidFill>
                  <a:srgbClr val="232B37"/>
                </a:solidFill>
                <a:latin typeface="Amazon Ember Display"/>
              </a:rPr>
              <a:t>t3.medium</a:t>
            </a:r>
          </a:p>
        </p:txBody>
      </p:sp>
      <p:sp>
        <p:nvSpPr>
          <p:cNvPr id="16" name="Rounded Rectangle 15"/>
          <p:cNvSpPr/>
          <p:nvPr/>
        </p:nvSpPr>
        <p:spPr>
          <a:xfrm>
            <a:off x="4227575" y="2743200"/>
            <a:ext cx="1478279" cy="1188720"/>
          </a:xfrm>
          <a:prstGeom prst="roundRect">
            <a:avLst>
              <a:gd name="adj" fmla="val 1076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Arch_Amazon-EC2_64.png"/>
          <p:cNvPicPr>
            <a:picLocks noChangeAspect="1"/>
          </p:cNvPicPr>
          <p:nvPr/>
        </p:nvPicPr>
        <p:blipFill>
          <a:blip r:embed="rId3"/>
          <a:stretch>
            <a:fillRect/>
          </a:stretch>
        </p:blipFill>
        <p:spPr>
          <a:xfrm>
            <a:off x="4738115" y="2935224"/>
            <a:ext cx="457200" cy="457200"/>
          </a:xfrm>
          <a:prstGeom prst="rect">
            <a:avLst/>
          </a:prstGeom>
        </p:spPr>
      </p:pic>
      <p:sp>
        <p:nvSpPr>
          <p:cNvPr id="18" name="TextBox 17"/>
          <p:cNvSpPr txBox="1"/>
          <p:nvPr/>
        </p:nvSpPr>
        <p:spPr>
          <a:xfrm>
            <a:off x="4227575" y="3474720"/>
            <a:ext cx="1478279" cy="274320"/>
          </a:xfrm>
          <a:prstGeom prst="rect">
            <a:avLst/>
          </a:prstGeom>
          <a:noFill/>
        </p:spPr>
        <p:txBody>
          <a:bodyPr wrap="square" anchor="ctr">
            <a:noAutofit/>
          </a:bodyPr>
          <a:lstStyle/>
          <a:p>
            <a:pPr algn="ctr"/>
            <a:r>
              <a:rPr sz="1600" b="0" i="0">
                <a:solidFill>
                  <a:srgbClr val="232B37"/>
                </a:solidFill>
                <a:latin typeface="Amazon Ember Display"/>
              </a:rPr>
              <a:t>t3.medium</a:t>
            </a:r>
          </a:p>
        </p:txBody>
      </p:sp>
      <p:sp>
        <p:nvSpPr>
          <p:cNvPr id="19" name="Rounded Rectangle 18"/>
          <p:cNvSpPr/>
          <p:nvPr/>
        </p:nvSpPr>
        <p:spPr>
          <a:xfrm>
            <a:off x="7543419" y="2531160"/>
            <a:ext cx="2734817" cy="1842516"/>
          </a:xfrm>
          <a:prstGeom prst="roundRect">
            <a:avLst>
              <a:gd name="adj" fmla="val 7940"/>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Arch_Amazon-EC2_64.png"/>
          <p:cNvPicPr>
            <a:picLocks noChangeAspect="1"/>
          </p:cNvPicPr>
          <p:nvPr/>
        </p:nvPicPr>
        <p:blipFill>
          <a:blip r:embed="rId3"/>
          <a:stretch>
            <a:fillRect/>
          </a:stretch>
        </p:blipFill>
        <p:spPr>
          <a:xfrm>
            <a:off x="8682228" y="3081528"/>
            <a:ext cx="457200" cy="457200"/>
          </a:xfrm>
          <a:prstGeom prst="rect">
            <a:avLst/>
          </a:prstGeom>
        </p:spPr>
      </p:pic>
      <p:sp>
        <p:nvSpPr>
          <p:cNvPr id="21" name="TextBox 20"/>
          <p:cNvSpPr txBox="1"/>
          <p:nvPr/>
        </p:nvSpPr>
        <p:spPr>
          <a:xfrm>
            <a:off x="7543419" y="3657600"/>
            <a:ext cx="2734817" cy="274320"/>
          </a:xfrm>
          <a:prstGeom prst="rect">
            <a:avLst/>
          </a:prstGeom>
          <a:noFill/>
        </p:spPr>
        <p:txBody>
          <a:bodyPr wrap="square" anchor="ctr">
            <a:noAutofit/>
          </a:bodyPr>
          <a:lstStyle/>
          <a:p>
            <a:pPr algn="ctr"/>
            <a:r>
              <a:rPr sz="1600" b="0" i="0">
                <a:solidFill>
                  <a:srgbClr val="232B37"/>
                </a:solidFill>
                <a:latin typeface="Amazon Ember Display"/>
              </a:rPr>
              <a:t>t3.2xlarge</a:t>
            </a:r>
          </a:p>
        </p:txBody>
      </p:sp>
      <p:sp>
        <p:nvSpPr>
          <p:cNvPr id="22" name="TextBox 21">
            <a:hlinkClick r:id="rId4"/>
          </p:cNvPr>
          <p:cNvSpPr txBox="1"/>
          <p:nvPr/>
        </p:nvSpPr>
        <p:spPr>
          <a:xfrm>
            <a:off x="612648" y="5943600"/>
            <a:ext cx="58350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4"/>
              </a:rPr>
              <a:t>docs.aws.amazon.com · What is Amazon EC2 Auto Scaling?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AWS Auto Scaling scales the whole application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 scaling plan?</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it does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Scales many resources together</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One scaling plan, multiple services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Reaches beyond EC2 instances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EC2 vs AWS Auto Scaling</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EC2 AS: scale the instances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AWS AS: scale the whole app</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Use AWS AS across services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load balancer spreads traffic across targets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788920"/>
            <a:ext cx="2834640" cy="1371600"/>
          </a:xfrm>
          <a:prstGeom prst="roundRect">
            <a:avLst>
              <a:gd name="adj" fmla="val 933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Elastic-Load-Balancing_64.png"/>
          <p:cNvPicPr>
            <a:picLocks noChangeAspect="1"/>
          </p:cNvPicPr>
          <p:nvPr/>
        </p:nvPicPr>
        <p:blipFill>
          <a:blip r:embed="rId3"/>
          <a:stretch>
            <a:fillRect/>
          </a:stretch>
        </p:blipFill>
        <p:spPr>
          <a:xfrm>
            <a:off x="667512" y="3246120"/>
            <a:ext cx="457200" cy="457200"/>
          </a:xfrm>
          <a:prstGeom prst="rect">
            <a:avLst/>
          </a:prstGeom>
        </p:spPr>
      </p:pic>
      <p:sp>
        <p:nvSpPr>
          <p:cNvPr id="6" name="TextBox 5"/>
          <p:cNvSpPr txBox="1"/>
          <p:nvPr/>
        </p:nvSpPr>
        <p:spPr>
          <a:xfrm>
            <a:off x="1197864" y="3163824"/>
            <a:ext cx="2121408" cy="292608"/>
          </a:xfrm>
          <a:prstGeom prst="rect">
            <a:avLst/>
          </a:prstGeom>
          <a:noFill/>
        </p:spPr>
        <p:txBody>
          <a:bodyPr wrap="square" anchor="ctr">
            <a:noAutofit/>
          </a:bodyPr>
          <a:lstStyle/>
          <a:p>
            <a:pPr algn="l"/>
            <a:r>
              <a:rPr sz="1600" b="1" i="0">
                <a:solidFill>
                  <a:srgbClr val="8F0072"/>
                </a:solidFill>
                <a:latin typeface="Amazon Ember Display"/>
              </a:rPr>
              <a:t>Load balancer</a:t>
            </a:r>
          </a:p>
        </p:txBody>
      </p:sp>
      <p:sp>
        <p:nvSpPr>
          <p:cNvPr id="7" name="TextBox 6"/>
          <p:cNvSpPr txBox="1"/>
          <p:nvPr/>
        </p:nvSpPr>
        <p:spPr>
          <a:xfrm>
            <a:off x="1197864" y="3483863"/>
            <a:ext cx="2121408" cy="292608"/>
          </a:xfrm>
          <a:prstGeom prst="rect">
            <a:avLst/>
          </a:prstGeom>
          <a:noFill/>
        </p:spPr>
        <p:txBody>
          <a:bodyPr wrap="square" anchor="ctr">
            <a:noAutofit/>
          </a:bodyPr>
          <a:lstStyle/>
          <a:p>
            <a:pPr algn="l"/>
            <a:r>
              <a:rPr sz="1600" b="0" i="0">
                <a:solidFill>
                  <a:srgbClr val="232B37"/>
                </a:solidFill>
                <a:latin typeface="Amazon Ember Display"/>
              </a:rPr>
              <a:t>one entry point</a:t>
            </a:r>
          </a:p>
        </p:txBody>
      </p:sp>
      <p:sp>
        <p:nvSpPr>
          <p:cNvPr id="8" name="Rounded Rectangle 7"/>
          <p:cNvSpPr/>
          <p:nvPr/>
        </p:nvSpPr>
        <p:spPr>
          <a:xfrm>
            <a:off x="8412480" y="1783080"/>
            <a:ext cx="3145536"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Arch_Amazon-EC2_64.png"/>
          <p:cNvPicPr>
            <a:picLocks noChangeAspect="1"/>
          </p:cNvPicPr>
          <p:nvPr/>
        </p:nvPicPr>
        <p:blipFill>
          <a:blip r:embed="rId4"/>
          <a:stretch>
            <a:fillRect/>
          </a:stretch>
        </p:blipFill>
        <p:spPr>
          <a:xfrm>
            <a:off x="8467344" y="2057400"/>
            <a:ext cx="457200" cy="457200"/>
          </a:xfrm>
          <a:prstGeom prst="rect">
            <a:avLst/>
          </a:prstGeom>
        </p:spPr>
      </p:pic>
      <p:sp>
        <p:nvSpPr>
          <p:cNvPr id="10" name="TextBox 9"/>
          <p:cNvSpPr txBox="1"/>
          <p:nvPr/>
        </p:nvSpPr>
        <p:spPr>
          <a:xfrm>
            <a:off x="8997695" y="1975104"/>
            <a:ext cx="2432304" cy="292608"/>
          </a:xfrm>
          <a:prstGeom prst="rect">
            <a:avLst/>
          </a:prstGeom>
          <a:noFill/>
        </p:spPr>
        <p:txBody>
          <a:bodyPr wrap="square" anchor="ctr">
            <a:noAutofit/>
          </a:bodyPr>
          <a:lstStyle/>
          <a:p>
            <a:pPr algn="l"/>
            <a:r>
              <a:rPr sz="1600" b="1" i="0">
                <a:solidFill>
                  <a:srgbClr val="8F0072"/>
                </a:solidFill>
                <a:latin typeface="Amazon Ember Display"/>
              </a:rPr>
              <a:t>Target 1</a:t>
            </a:r>
          </a:p>
        </p:txBody>
      </p:sp>
      <p:sp>
        <p:nvSpPr>
          <p:cNvPr id="11" name="TextBox 10"/>
          <p:cNvSpPr txBox="1"/>
          <p:nvPr/>
        </p:nvSpPr>
        <p:spPr>
          <a:xfrm>
            <a:off x="8997695" y="2295144"/>
            <a:ext cx="2432304" cy="292608"/>
          </a:xfrm>
          <a:prstGeom prst="rect">
            <a:avLst/>
          </a:prstGeom>
          <a:noFill/>
        </p:spPr>
        <p:txBody>
          <a:bodyPr wrap="square" anchor="ctr">
            <a:noAutofit/>
          </a:bodyPr>
          <a:lstStyle/>
          <a:p>
            <a:pPr algn="l"/>
            <a:r>
              <a:rPr sz="1600" b="0" i="0">
                <a:solidFill>
                  <a:srgbClr val="232B37"/>
                </a:solidFill>
                <a:latin typeface="Amazon Ember Display"/>
              </a:rPr>
              <a:t>healthy instance</a:t>
            </a:r>
          </a:p>
        </p:txBody>
      </p:sp>
      <p:sp>
        <p:nvSpPr>
          <p:cNvPr id="12" name="Rounded Rectangle 11"/>
          <p:cNvSpPr/>
          <p:nvPr/>
        </p:nvSpPr>
        <p:spPr>
          <a:xfrm>
            <a:off x="8412480" y="2971800"/>
            <a:ext cx="3145536"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Arch_Amazon-EC2_64.png"/>
          <p:cNvPicPr>
            <a:picLocks noChangeAspect="1"/>
          </p:cNvPicPr>
          <p:nvPr/>
        </p:nvPicPr>
        <p:blipFill>
          <a:blip r:embed="rId4"/>
          <a:stretch>
            <a:fillRect/>
          </a:stretch>
        </p:blipFill>
        <p:spPr>
          <a:xfrm>
            <a:off x="8467344" y="3246120"/>
            <a:ext cx="457200" cy="457200"/>
          </a:xfrm>
          <a:prstGeom prst="rect">
            <a:avLst/>
          </a:prstGeom>
        </p:spPr>
      </p:pic>
      <p:sp>
        <p:nvSpPr>
          <p:cNvPr id="14" name="TextBox 13"/>
          <p:cNvSpPr txBox="1"/>
          <p:nvPr/>
        </p:nvSpPr>
        <p:spPr>
          <a:xfrm>
            <a:off x="8997695" y="3163824"/>
            <a:ext cx="2432304" cy="292608"/>
          </a:xfrm>
          <a:prstGeom prst="rect">
            <a:avLst/>
          </a:prstGeom>
          <a:noFill/>
        </p:spPr>
        <p:txBody>
          <a:bodyPr wrap="square" anchor="ctr">
            <a:noAutofit/>
          </a:bodyPr>
          <a:lstStyle/>
          <a:p>
            <a:pPr algn="l"/>
            <a:r>
              <a:rPr sz="1600" b="1" i="0">
                <a:solidFill>
                  <a:srgbClr val="8F0072"/>
                </a:solidFill>
                <a:latin typeface="Amazon Ember Display"/>
              </a:rPr>
              <a:t>Target 2</a:t>
            </a:r>
          </a:p>
        </p:txBody>
      </p:sp>
      <p:sp>
        <p:nvSpPr>
          <p:cNvPr id="15" name="TextBox 14"/>
          <p:cNvSpPr txBox="1"/>
          <p:nvPr/>
        </p:nvSpPr>
        <p:spPr>
          <a:xfrm>
            <a:off x="8997695" y="3483863"/>
            <a:ext cx="2432304" cy="292608"/>
          </a:xfrm>
          <a:prstGeom prst="rect">
            <a:avLst/>
          </a:prstGeom>
          <a:noFill/>
        </p:spPr>
        <p:txBody>
          <a:bodyPr wrap="square" anchor="ctr">
            <a:noAutofit/>
          </a:bodyPr>
          <a:lstStyle/>
          <a:p>
            <a:pPr algn="l"/>
            <a:r>
              <a:rPr sz="1600" b="0" i="0">
                <a:solidFill>
                  <a:srgbClr val="232B37"/>
                </a:solidFill>
                <a:latin typeface="Amazon Ember Display"/>
              </a:rPr>
              <a:t>healthy instance</a:t>
            </a:r>
          </a:p>
        </p:txBody>
      </p:sp>
      <p:sp>
        <p:nvSpPr>
          <p:cNvPr id="16" name="Rounded Rectangle 15"/>
          <p:cNvSpPr/>
          <p:nvPr/>
        </p:nvSpPr>
        <p:spPr>
          <a:xfrm>
            <a:off x="8412480" y="4160520"/>
            <a:ext cx="3145536"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Arch_Amazon-EC2_64.png"/>
          <p:cNvPicPr>
            <a:picLocks noChangeAspect="1"/>
          </p:cNvPicPr>
          <p:nvPr/>
        </p:nvPicPr>
        <p:blipFill>
          <a:blip r:embed="rId4"/>
          <a:stretch>
            <a:fillRect/>
          </a:stretch>
        </p:blipFill>
        <p:spPr>
          <a:xfrm>
            <a:off x="8467344" y="4434840"/>
            <a:ext cx="457200" cy="457200"/>
          </a:xfrm>
          <a:prstGeom prst="rect">
            <a:avLst/>
          </a:prstGeom>
        </p:spPr>
      </p:pic>
      <p:sp>
        <p:nvSpPr>
          <p:cNvPr id="18" name="TextBox 17"/>
          <p:cNvSpPr txBox="1"/>
          <p:nvPr/>
        </p:nvSpPr>
        <p:spPr>
          <a:xfrm>
            <a:off x="8997695" y="4352544"/>
            <a:ext cx="2432304" cy="292608"/>
          </a:xfrm>
          <a:prstGeom prst="rect">
            <a:avLst/>
          </a:prstGeom>
          <a:noFill/>
        </p:spPr>
        <p:txBody>
          <a:bodyPr wrap="square" anchor="ctr">
            <a:noAutofit/>
          </a:bodyPr>
          <a:lstStyle/>
          <a:p>
            <a:pPr algn="l"/>
            <a:r>
              <a:rPr sz="1600" b="1" i="0">
                <a:solidFill>
                  <a:srgbClr val="8F0072"/>
                </a:solidFill>
                <a:latin typeface="Amazon Ember Display"/>
              </a:rPr>
              <a:t>Target 3</a:t>
            </a:r>
          </a:p>
        </p:txBody>
      </p:sp>
      <p:sp>
        <p:nvSpPr>
          <p:cNvPr id="19" name="TextBox 18"/>
          <p:cNvSpPr txBox="1"/>
          <p:nvPr/>
        </p:nvSpPr>
        <p:spPr>
          <a:xfrm>
            <a:off x="8997695" y="4672583"/>
            <a:ext cx="2432304" cy="292608"/>
          </a:xfrm>
          <a:prstGeom prst="rect">
            <a:avLst/>
          </a:prstGeom>
          <a:noFill/>
        </p:spPr>
        <p:txBody>
          <a:bodyPr wrap="square" anchor="ctr">
            <a:noAutofit/>
          </a:bodyPr>
          <a:lstStyle/>
          <a:p>
            <a:pPr algn="l"/>
            <a:r>
              <a:rPr sz="1600" b="0" i="0">
                <a:solidFill>
                  <a:srgbClr val="232B37"/>
                </a:solidFill>
                <a:latin typeface="Amazon Ember Display"/>
              </a:rPr>
              <a:t>healthy instance</a:t>
            </a:r>
          </a:p>
        </p:txBody>
      </p:sp>
      <p:sp>
        <p:nvSpPr>
          <p:cNvPr id="20" name="Freeform 19"/>
          <p:cNvSpPr/>
          <p:nvPr/>
        </p:nvSpPr>
        <p:spPr>
          <a:xfrm>
            <a:off x="3447288" y="3474720"/>
            <a:ext cx="2404872" cy="0"/>
          </a:xfrm>
          <a:custGeom>
            <a:avLst/>
            <a:gdLst/>
            <a:ahLst/>
            <a:cxnLst/>
            <a:rect l="l" t="t" r="r" b="b"/>
            <a:pathLst>
              <a:path w="2404872">
                <a:moveTo>
                  <a:pt x="0" y="0"/>
                </a:moveTo>
                <a:lnTo>
                  <a:pt x="2404872" y="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5852160" y="2286000"/>
            <a:ext cx="0" cy="2377440"/>
          </a:xfrm>
          <a:custGeom>
            <a:avLst/>
            <a:gdLst/>
            <a:ahLst/>
            <a:cxnLst/>
            <a:rect l="l" t="t" r="r" b="b"/>
            <a:pathLst>
              <a:path h="2377440">
                <a:moveTo>
                  <a:pt x="0" y="0"/>
                </a:moveTo>
                <a:lnTo>
                  <a:pt x="0" y="237744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5852160" y="2286000"/>
            <a:ext cx="2395728" cy="0"/>
          </a:xfrm>
          <a:custGeom>
            <a:avLst/>
            <a:gdLst/>
            <a:ahLst/>
            <a:cxnLst/>
            <a:rect l="l" t="t" r="r" b="b"/>
            <a:pathLst>
              <a:path w="2395728">
                <a:moveTo>
                  <a:pt x="0" y="0"/>
                </a:moveTo>
                <a:lnTo>
                  <a:pt x="239572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8074151" y="216712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5852160" y="3474720"/>
            <a:ext cx="2395728" cy="0"/>
          </a:xfrm>
          <a:custGeom>
            <a:avLst/>
            <a:gdLst/>
            <a:ahLst/>
            <a:cxnLst/>
            <a:rect l="l" t="t" r="r" b="b"/>
            <a:pathLst>
              <a:path w="2395728">
                <a:moveTo>
                  <a:pt x="0" y="0"/>
                </a:moveTo>
                <a:lnTo>
                  <a:pt x="239572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8074151" y="3355848"/>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5852160" y="4663440"/>
            <a:ext cx="2395728" cy="0"/>
          </a:xfrm>
          <a:custGeom>
            <a:avLst/>
            <a:gdLst/>
            <a:ahLst/>
            <a:cxnLst/>
            <a:rect l="l" t="t" r="r" b="b"/>
            <a:pathLst>
              <a:path w="2395728">
                <a:moveTo>
                  <a:pt x="0" y="0"/>
                </a:moveTo>
                <a:lnTo>
                  <a:pt x="239572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8074151" y="4544568"/>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657600" y="3054096"/>
            <a:ext cx="2103120" cy="274320"/>
          </a:xfrm>
          <a:prstGeom prst="rect">
            <a:avLst/>
          </a:prstGeom>
          <a:noFill/>
        </p:spPr>
        <p:txBody>
          <a:bodyPr wrap="square" anchor="t">
            <a:noAutofit/>
          </a:bodyPr>
          <a:lstStyle/>
          <a:p>
            <a:pPr algn="ctr"/>
            <a:r>
              <a:rPr sz="1600" b="0" i="0">
                <a:solidFill>
                  <a:srgbClr val="5A6B7B"/>
                </a:solidFill>
                <a:latin typeface="Amazon Ember Display"/>
              </a:rPr>
              <a:t>one address</a:t>
            </a:r>
          </a:p>
        </p:txBody>
      </p:sp>
      <p:sp>
        <p:nvSpPr>
          <p:cNvPr id="29" name="TextBox 28">
            <a:hlinkClick r:id="rId5"/>
          </p:cNvPr>
          <p:cNvSpPr txBox="1"/>
          <p:nvPr/>
        </p:nvSpPr>
        <p:spPr>
          <a:xfrm>
            <a:off x="612648" y="5943600"/>
            <a:ext cx="57435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What is Elastic Load Balancing?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Working backwards: the network could not keep up</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47508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Reducing Anzu’s Cloud Costs by 50% on AWS |…</a:t>
            </a:r>
          </a:p>
        </p:txBody>
      </p:sp>
      <p:sp>
        <p:nvSpPr>
          <p:cNvPr id="5" name="Rounded Rectangle 4"/>
          <p:cNvSpPr/>
          <p:nvPr/>
        </p:nvSpPr>
        <p:spPr>
          <a:xfrm>
            <a:off x="731520" y="238658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87552" y="2386584"/>
            <a:ext cx="5486400" cy="731520"/>
          </a:xfrm>
          <a:prstGeom prst="rect">
            <a:avLst/>
          </a:prstGeom>
          <a:noFill/>
        </p:spPr>
        <p:txBody>
          <a:bodyPr wrap="square" anchor="ctr">
            <a:noAutofit/>
          </a:bodyPr>
          <a:lstStyle/>
          <a:p>
            <a:pPr algn="l"/>
            <a:r>
              <a:rPr sz="1900" b="0" i="0">
                <a:solidFill>
                  <a:srgbClr val="232B37"/>
                </a:solidFill>
                <a:latin typeface="Amazon Ember Display"/>
              </a:rPr>
              <a:t>Bid traffic outgrew the old network</a:t>
            </a:r>
          </a:p>
        </p:txBody>
      </p:sp>
      <p:sp>
        <p:nvSpPr>
          <p:cNvPr id="7" name="Freeform 6"/>
          <p:cNvSpPr/>
          <p:nvPr/>
        </p:nvSpPr>
        <p:spPr>
          <a:xfrm>
            <a:off x="6931151" y="275234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7168895" y="263347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62088" y="238658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81544" y="2459736"/>
            <a:ext cx="3584448" cy="310896"/>
          </a:xfrm>
          <a:prstGeom prst="rect">
            <a:avLst/>
          </a:prstGeom>
          <a:noFill/>
        </p:spPr>
        <p:txBody>
          <a:bodyPr wrap="square" anchor="t">
            <a:noAutofit/>
          </a:bodyPr>
          <a:lstStyle/>
          <a:p>
            <a:pPr algn="l"/>
            <a:r>
              <a:rPr sz="2000" b="1" i="0">
                <a:solidFill>
                  <a:srgbClr val="8F0072"/>
                </a:solidFill>
                <a:latin typeface="Amazon Ember Display"/>
              </a:rPr>
              <a:t>Networking was the limit</a:t>
            </a:r>
          </a:p>
        </p:txBody>
      </p:sp>
      <p:sp>
        <p:nvSpPr>
          <p:cNvPr id="11" name="TextBox 10"/>
          <p:cNvSpPr txBox="1"/>
          <p:nvPr/>
        </p:nvSpPr>
        <p:spPr>
          <a:xfrm>
            <a:off x="7781544" y="2788920"/>
            <a:ext cx="3584448" cy="292608"/>
          </a:xfrm>
          <a:prstGeom prst="rect">
            <a:avLst/>
          </a:prstGeom>
          <a:noFill/>
        </p:spPr>
        <p:txBody>
          <a:bodyPr wrap="square" anchor="t">
            <a:noAutofit/>
          </a:bodyPr>
          <a:lstStyle/>
          <a:p>
            <a:pPr algn="l"/>
            <a:r>
              <a:rPr sz="1800" b="0" i="0">
                <a:solidFill>
                  <a:srgbClr val="232B37"/>
                </a:solidFill>
                <a:latin typeface="Amazon Ember Display"/>
              </a:rPr>
              <a:t>uptime and balancing suffered</a:t>
            </a:r>
          </a:p>
        </p:txBody>
      </p:sp>
      <p:sp>
        <p:nvSpPr>
          <p:cNvPr id="12" name="Rounded Rectangle 11"/>
          <p:cNvSpPr/>
          <p:nvPr/>
        </p:nvSpPr>
        <p:spPr>
          <a:xfrm>
            <a:off x="731520" y="320954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3209544"/>
            <a:ext cx="5486400" cy="731520"/>
          </a:xfrm>
          <a:prstGeom prst="rect">
            <a:avLst/>
          </a:prstGeom>
          <a:noFill/>
        </p:spPr>
        <p:txBody>
          <a:bodyPr wrap="square" anchor="ctr">
            <a:noAutofit/>
          </a:bodyPr>
          <a:lstStyle/>
          <a:p>
            <a:pPr algn="l"/>
            <a:r>
              <a:rPr sz="1900" b="0" i="0">
                <a:solidFill>
                  <a:srgbClr val="232B37"/>
                </a:solidFill>
                <a:latin typeface="Amazon Ember Display"/>
              </a:rPr>
              <a:t>Delivery had to be fast and global</a:t>
            </a:r>
          </a:p>
        </p:txBody>
      </p:sp>
      <p:sp>
        <p:nvSpPr>
          <p:cNvPr id="14" name="Freeform 13"/>
          <p:cNvSpPr/>
          <p:nvPr/>
        </p:nvSpPr>
        <p:spPr>
          <a:xfrm>
            <a:off x="6931151" y="357530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7168895" y="345643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562088" y="320954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81544" y="3282696"/>
            <a:ext cx="3584448" cy="310896"/>
          </a:xfrm>
          <a:prstGeom prst="rect">
            <a:avLst/>
          </a:prstGeom>
          <a:noFill/>
        </p:spPr>
        <p:txBody>
          <a:bodyPr wrap="square" anchor="t">
            <a:noAutofit/>
          </a:bodyPr>
          <a:lstStyle/>
          <a:p>
            <a:pPr algn="l"/>
            <a:r>
              <a:rPr sz="2000" b="1" i="0">
                <a:solidFill>
                  <a:srgbClr val="8F0072"/>
                </a:solidFill>
                <a:latin typeface="Amazon Ember Display"/>
              </a:rPr>
              <a:t>Amazon CloudFront</a:t>
            </a:r>
          </a:p>
        </p:txBody>
      </p:sp>
      <p:sp>
        <p:nvSpPr>
          <p:cNvPr id="18" name="TextBox 17"/>
          <p:cNvSpPr txBox="1"/>
          <p:nvPr/>
        </p:nvSpPr>
        <p:spPr>
          <a:xfrm>
            <a:off x="7781544" y="3611880"/>
            <a:ext cx="3584448" cy="292608"/>
          </a:xfrm>
          <a:prstGeom prst="rect">
            <a:avLst/>
          </a:prstGeom>
          <a:noFill/>
        </p:spPr>
        <p:txBody>
          <a:bodyPr wrap="square" anchor="t">
            <a:noAutofit/>
          </a:bodyPr>
          <a:lstStyle/>
          <a:p>
            <a:pPr algn="l"/>
            <a:r>
              <a:rPr sz="1800" b="0" i="0">
                <a:solidFill>
                  <a:srgbClr val="232B37"/>
                </a:solidFill>
                <a:latin typeface="Amazon Ember Display"/>
              </a:rPr>
              <a:t>content served close to users</a:t>
            </a:r>
          </a:p>
        </p:txBody>
      </p:sp>
      <p:sp>
        <p:nvSpPr>
          <p:cNvPr id="19" name="Rounded Rectangle 18"/>
          <p:cNvSpPr/>
          <p:nvPr/>
        </p:nvSpPr>
        <p:spPr>
          <a:xfrm>
            <a:off x="731520" y="403250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87552" y="4032504"/>
            <a:ext cx="5486400" cy="731520"/>
          </a:xfrm>
          <a:prstGeom prst="rect">
            <a:avLst/>
          </a:prstGeom>
          <a:noFill/>
        </p:spPr>
        <p:txBody>
          <a:bodyPr wrap="square" anchor="ctr">
            <a:noAutofit/>
          </a:bodyPr>
          <a:lstStyle/>
          <a:p>
            <a:pPr algn="l"/>
            <a:r>
              <a:rPr sz="1900" b="0" i="0">
                <a:solidFill>
                  <a:srgbClr val="232B37"/>
                </a:solidFill>
                <a:latin typeface="Amazon Ember Display"/>
              </a:rPr>
              <a:t>Traffic had to spread evenly</a:t>
            </a:r>
          </a:p>
        </p:txBody>
      </p:sp>
      <p:sp>
        <p:nvSpPr>
          <p:cNvPr id="21" name="Freeform 20"/>
          <p:cNvSpPr/>
          <p:nvPr/>
        </p:nvSpPr>
        <p:spPr>
          <a:xfrm>
            <a:off x="6931151" y="439826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7168895" y="427939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562088" y="403250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81544" y="4105656"/>
            <a:ext cx="3584448" cy="310896"/>
          </a:xfrm>
          <a:prstGeom prst="rect">
            <a:avLst/>
          </a:prstGeom>
          <a:noFill/>
        </p:spPr>
        <p:txBody>
          <a:bodyPr wrap="square" anchor="t">
            <a:noAutofit/>
          </a:bodyPr>
          <a:lstStyle/>
          <a:p>
            <a:pPr algn="l"/>
            <a:r>
              <a:rPr sz="2000" b="1" i="0">
                <a:solidFill>
                  <a:srgbClr val="8F0072"/>
                </a:solidFill>
                <a:latin typeface="Amazon Ember Display"/>
              </a:rPr>
              <a:t>Elastic Load Balancing</a:t>
            </a:r>
          </a:p>
        </p:txBody>
      </p:sp>
      <p:sp>
        <p:nvSpPr>
          <p:cNvPr id="25" name="TextBox 24"/>
          <p:cNvSpPr txBox="1"/>
          <p:nvPr/>
        </p:nvSpPr>
        <p:spPr>
          <a:xfrm>
            <a:off x="7781544" y="4434840"/>
            <a:ext cx="3584448" cy="292608"/>
          </a:xfrm>
          <a:prstGeom prst="rect">
            <a:avLst/>
          </a:prstGeom>
          <a:noFill/>
        </p:spPr>
        <p:txBody>
          <a:bodyPr wrap="square" anchor="t">
            <a:noAutofit/>
          </a:bodyPr>
          <a:lstStyle/>
          <a:p>
            <a:pPr algn="l"/>
            <a:r>
              <a:rPr sz="1800" b="0" i="0">
                <a:solidFill>
                  <a:srgbClr val="232B37"/>
                </a:solidFill>
                <a:latin typeface="Amazon Ember Display"/>
              </a:rPr>
              <a:t>spread across healthy targets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How do we run it anywhere?</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CONTAINERS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Amazon ECS runs and scales your containers for you</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6579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Amazon Elastic Container Service?</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is ECS?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Fully managed container orchestration</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Deploy, manage, and scale containers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Controlled with simple API calls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No cluster software to operate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AWS-native, integrates broadly</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dirty="0">
                <a:solidFill>
                  <a:srgbClr val="232B37"/>
                </a:solidFill>
                <a:latin typeface="Amazon Ember Display"/>
              </a:rPr>
              <a:t>Runs on EC2 or on Fargate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Amazon EKS runs managed Kubernetes for you</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Amazon EKS?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is EKS?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Managed Kubernetes on AWS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Run Kubernetes apps in the cloud</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Also runs on-premises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Control plane across multiple AZs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Replaces unhealthy control nodes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Managed node groups scale for you</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dirty="0">
                <a:solidFill>
                  <a:srgbClr val="232B37"/>
                </a:solidFill>
                <a:latin typeface="Amazon Ember Display"/>
              </a:rPr>
              <a:t>AWS Fargate runs those containers with no servers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566522" cy="274320"/>
          </a:xfrm>
          <a:prstGeom prst="rect">
            <a:avLst/>
          </a:prstGeom>
          <a:noFill/>
        </p:spPr>
        <p:txBody>
          <a:bodyPr wrap="none">
            <a:noAutofit/>
          </a:bodyPr>
          <a:lstStyle/>
          <a:p>
            <a:r>
              <a:rPr sz="1100" b="1" dirty="0">
                <a:solidFill>
                  <a:srgbClr val="5A6B7B"/>
                </a:solidFill>
                <a:latin typeface="Amazon Ember"/>
              </a:rPr>
              <a:t>SOURCE  </a:t>
            </a:r>
            <a:r>
              <a:rPr sz="1200" u="sng" dirty="0">
                <a:solidFill>
                  <a:srgbClr val="0563C1"/>
                </a:solidFill>
                <a:latin typeface="Consolas"/>
                <a:hlinkClick r:id="rId3"/>
              </a:rPr>
              <a:t>docs.aws.amazon.com · Architect for AWS Fargate for Amazon ECS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dirty="0">
                <a:solidFill>
                  <a:srgbClr val="8F0072"/>
                </a:solidFill>
                <a:latin typeface="Amazon Ember Display"/>
              </a:rPr>
              <a:t>What is Fargate?</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Serverless compute for containers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Works with Amazon ECS and EKS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Pay for what the tasks use</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No servers to own, run, or patch</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Focus on the application, not hosts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Scales container workloads cleanly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Amazon ECR stores the container images you run</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Amazon ECR?</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is ECR?</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 managed private image registry</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Push and pull Docker and OCI images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IAM controls who can access images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Lifecycle policies clean up old images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Scan on push finds vulnerabilities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Tag immutability locks a version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Working backwards: server farms ran nonstop</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200762" cy="274320"/>
          </a:xfrm>
          <a:prstGeom prst="rect">
            <a:avLst/>
          </a:prstGeom>
          <a:noFill/>
        </p:spPr>
        <p:txBody>
          <a:bodyPr wrap="none">
            <a:noAutofit/>
          </a:bodyPr>
          <a:lstStyle/>
          <a:p>
            <a:r>
              <a:rPr sz="1100" b="1" dirty="0">
                <a:solidFill>
                  <a:srgbClr val="5A6B7B"/>
                </a:solidFill>
                <a:latin typeface="Amazon Ember"/>
              </a:rPr>
              <a:t>SOURCE  </a:t>
            </a:r>
            <a:r>
              <a:rPr sz="1200" u="sng" dirty="0">
                <a:solidFill>
                  <a:srgbClr val="0563C1"/>
                </a:solidFill>
                <a:latin typeface="Consolas"/>
                <a:hlinkClick r:id="rId3"/>
              </a:rPr>
              <a:t>aws.amazon.com · BILL Uses Amazon ECS with AWS Fargate to…</a:t>
            </a:r>
          </a:p>
        </p:txBody>
      </p:sp>
      <p:sp>
        <p:nvSpPr>
          <p:cNvPr id="5" name="Rounded Rectangle 4"/>
          <p:cNvSpPr/>
          <p:nvPr/>
        </p:nvSpPr>
        <p:spPr>
          <a:xfrm>
            <a:off x="731520" y="238658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987552" y="2386584"/>
            <a:ext cx="5486400" cy="731520"/>
          </a:xfrm>
          <a:prstGeom prst="rect">
            <a:avLst/>
          </a:prstGeom>
          <a:noFill/>
        </p:spPr>
        <p:txBody>
          <a:bodyPr wrap="square" anchor="ctr">
            <a:noAutofit/>
          </a:bodyPr>
          <a:lstStyle/>
          <a:p>
            <a:pPr algn="l"/>
            <a:r>
              <a:rPr sz="1900" b="0" i="0">
                <a:solidFill>
                  <a:srgbClr val="232B37"/>
                </a:solidFill>
                <a:latin typeface="Amazon Ember Display"/>
              </a:rPr>
              <a:t>Static web server farms ran continuously</a:t>
            </a:r>
          </a:p>
        </p:txBody>
      </p:sp>
      <p:sp>
        <p:nvSpPr>
          <p:cNvPr id="7" name="Freeform 6"/>
          <p:cNvSpPr/>
          <p:nvPr/>
        </p:nvSpPr>
        <p:spPr>
          <a:xfrm>
            <a:off x="6931151" y="275234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Freeform 7"/>
          <p:cNvSpPr/>
          <p:nvPr/>
        </p:nvSpPr>
        <p:spPr>
          <a:xfrm>
            <a:off x="7168895" y="263347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562088" y="238658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81544" y="2459736"/>
            <a:ext cx="3584448" cy="310896"/>
          </a:xfrm>
          <a:prstGeom prst="rect">
            <a:avLst/>
          </a:prstGeom>
          <a:noFill/>
        </p:spPr>
        <p:txBody>
          <a:bodyPr wrap="square" anchor="t">
            <a:noAutofit/>
          </a:bodyPr>
          <a:lstStyle/>
          <a:p>
            <a:pPr algn="l"/>
            <a:r>
              <a:rPr sz="2000" b="1" i="0">
                <a:solidFill>
                  <a:srgbClr val="8F0072"/>
                </a:solidFill>
                <a:latin typeface="Amazon Ember Display"/>
              </a:rPr>
              <a:t>Capacity led demand</a:t>
            </a:r>
          </a:p>
        </p:txBody>
      </p:sp>
      <p:sp>
        <p:nvSpPr>
          <p:cNvPr id="11" name="TextBox 10"/>
          <p:cNvSpPr txBox="1"/>
          <p:nvPr/>
        </p:nvSpPr>
        <p:spPr>
          <a:xfrm>
            <a:off x="7781544" y="2788920"/>
            <a:ext cx="3584448" cy="292608"/>
          </a:xfrm>
          <a:prstGeom prst="rect">
            <a:avLst/>
          </a:prstGeom>
          <a:noFill/>
        </p:spPr>
        <p:txBody>
          <a:bodyPr wrap="square" anchor="t">
            <a:noAutofit/>
          </a:bodyPr>
          <a:lstStyle/>
          <a:p>
            <a:pPr algn="l"/>
            <a:r>
              <a:rPr sz="1800" b="0" i="0">
                <a:solidFill>
                  <a:srgbClr val="232B37"/>
                </a:solidFill>
                <a:latin typeface="Amazon Ember Display"/>
              </a:rPr>
              <a:t>sized for peak, paid all day</a:t>
            </a:r>
          </a:p>
        </p:txBody>
      </p:sp>
      <p:sp>
        <p:nvSpPr>
          <p:cNvPr id="12" name="Rounded Rectangle 11"/>
          <p:cNvSpPr/>
          <p:nvPr/>
        </p:nvSpPr>
        <p:spPr>
          <a:xfrm>
            <a:off x="731520" y="320954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987552" y="3209544"/>
            <a:ext cx="5486400" cy="731520"/>
          </a:xfrm>
          <a:prstGeom prst="rect">
            <a:avLst/>
          </a:prstGeom>
          <a:noFill/>
        </p:spPr>
        <p:txBody>
          <a:bodyPr wrap="square" anchor="ctr">
            <a:noAutofit/>
          </a:bodyPr>
          <a:lstStyle/>
          <a:p>
            <a:pPr algn="l"/>
            <a:r>
              <a:rPr sz="1900" b="0" i="0">
                <a:solidFill>
                  <a:srgbClr val="232B37"/>
                </a:solidFill>
                <a:latin typeface="Amazon Ember Display"/>
              </a:rPr>
              <a:t>Growth had to be accommodated</a:t>
            </a:r>
          </a:p>
        </p:txBody>
      </p:sp>
      <p:sp>
        <p:nvSpPr>
          <p:cNvPr id="14" name="Freeform 13"/>
          <p:cNvSpPr/>
          <p:nvPr/>
        </p:nvSpPr>
        <p:spPr>
          <a:xfrm>
            <a:off x="6931151" y="357530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7168895" y="345643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562088" y="320954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7781544" y="3282696"/>
            <a:ext cx="3584448" cy="310896"/>
          </a:xfrm>
          <a:prstGeom prst="rect">
            <a:avLst/>
          </a:prstGeom>
          <a:noFill/>
        </p:spPr>
        <p:txBody>
          <a:bodyPr wrap="square" anchor="t">
            <a:noAutofit/>
          </a:bodyPr>
          <a:lstStyle/>
          <a:p>
            <a:pPr algn="l"/>
            <a:r>
              <a:rPr sz="2000" b="1" i="0">
                <a:solidFill>
                  <a:srgbClr val="8F0072"/>
                </a:solidFill>
                <a:latin typeface="Amazon Ember Display"/>
              </a:rPr>
              <a:t>Refactor onto containers</a:t>
            </a:r>
          </a:p>
        </p:txBody>
      </p:sp>
      <p:sp>
        <p:nvSpPr>
          <p:cNvPr id="18" name="TextBox 17"/>
          <p:cNvSpPr txBox="1"/>
          <p:nvPr/>
        </p:nvSpPr>
        <p:spPr>
          <a:xfrm>
            <a:off x="7781544" y="3611880"/>
            <a:ext cx="3584448" cy="292608"/>
          </a:xfrm>
          <a:prstGeom prst="rect">
            <a:avLst/>
          </a:prstGeom>
          <a:noFill/>
        </p:spPr>
        <p:txBody>
          <a:bodyPr wrap="square" anchor="t">
            <a:noAutofit/>
          </a:bodyPr>
          <a:lstStyle/>
          <a:p>
            <a:pPr algn="l"/>
            <a:r>
              <a:rPr sz="1800" b="0" i="0" dirty="0">
                <a:solidFill>
                  <a:srgbClr val="232B37"/>
                </a:solidFill>
                <a:latin typeface="Amazon Ember Display"/>
              </a:rPr>
              <a:t>Amazon ECS with AWS Fargate</a:t>
            </a:r>
          </a:p>
        </p:txBody>
      </p:sp>
      <p:sp>
        <p:nvSpPr>
          <p:cNvPr id="19" name="Rounded Rectangle 18"/>
          <p:cNvSpPr/>
          <p:nvPr/>
        </p:nvSpPr>
        <p:spPr>
          <a:xfrm>
            <a:off x="731520" y="4032504"/>
            <a:ext cx="5998464" cy="731520"/>
          </a:xfrm>
          <a:prstGeom prst="roundRect">
            <a:avLst>
              <a:gd name="adj" fmla="val 25000"/>
            </a:avLst>
          </a:prstGeom>
          <a:solidFill>
            <a:srgbClr val="FFFFFF"/>
          </a:solidFill>
          <a:ln w="1905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87552" y="4032504"/>
            <a:ext cx="5486400" cy="731520"/>
          </a:xfrm>
          <a:prstGeom prst="rect">
            <a:avLst/>
          </a:prstGeom>
          <a:noFill/>
        </p:spPr>
        <p:txBody>
          <a:bodyPr wrap="square" anchor="ctr">
            <a:noAutofit/>
          </a:bodyPr>
          <a:lstStyle/>
          <a:p>
            <a:pPr algn="l"/>
            <a:r>
              <a:rPr sz="1900" b="0" i="0">
                <a:solidFill>
                  <a:srgbClr val="232B37"/>
                </a:solidFill>
                <a:latin typeface="Amazon Ember Display"/>
              </a:rPr>
              <a:t>Servers no longer theirs to manage</a:t>
            </a:r>
          </a:p>
        </p:txBody>
      </p:sp>
      <p:sp>
        <p:nvSpPr>
          <p:cNvPr id="21" name="Freeform 20"/>
          <p:cNvSpPr/>
          <p:nvPr/>
        </p:nvSpPr>
        <p:spPr>
          <a:xfrm>
            <a:off x="6931151" y="4398264"/>
            <a:ext cx="411480" cy="0"/>
          </a:xfrm>
          <a:custGeom>
            <a:avLst/>
            <a:gdLst/>
            <a:ahLst/>
            <a:cxnLst/>
            <a:rect l="l" t="t" r="r" b="b"/>
            <a:pathLst>
              <a:path w="411480">
                <a:moveTo>
                  <a:pt x="0" y="0"/>
                </a:moveTo>
                <a:lnTo>
                  <a:pt x="41148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7168895" y="4279392"/>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562088" y="4032504"/>
            <a:ext cx="4023360" cy="731520"/>
          </a:xfrm>
          <a:prstGeom prst="roundRect">
            <a:avLst>
              <a:gd name="adj" fmla="val 25000"/>
            </a:avLst>
          </a:prstGeom>
          <a:solidFill>
            <a:srgbClr val="FFF5FE"/>
          </a:solidFill>
          <a:ln w="317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81544" y="4105656"/>
            <a:ext cx="3584448" cy="310896"/>
          </a:xfrm>
          <a:prstGeom prst="rect">
            <a:avLst/>
          </a:prstGeom>
          <a:noFill/>
        </p:spPr>
        <p:txBody>
          <a:bodyPr wrap="square" anchor="t">
            <a:noAutofit/>
          </a:bodyPr>
          <a:lstStyle/>
          <a:p>
            <a:pPr algn="l"/>
            <a:r>
              <a:rPr sz="2000" b="1" i="0">
                <a:solidFill>
                  <a:srgbClr val="8F0072"/>
                </a:solidFill>
                <a:latin typeface="Amazon Ember Display"/>
              </a:rPr>
              <a:t>Capacity follows demand</a:t>
            </a:r>
          </a:p>
        </p:txBody>
      </p:sp>
      <p:sp>
        <p:nvSpPr>
          <p:cNvPr id="25" name="TextBox 24"/>
          <p:cNvSpPr txBox="1"/>
          <p:nvPr/>
        </p:nvSpPr>
        <p:spPr>
          <a:xfrm>
            <a:off x="7781544" y="4434840"/>
            <a:ext cx="3584448" cy="292608"/>
          </a:xfrm>
          <a:prstGeom prst="rect">
            <a:avLst/>
          </a:prstGeom>
          <a:noFill/>
        </p:spPr>
        <p:txBody>
          <a:bodyPr wrap="square" anchor="t">
            <a:noAutofit/>
          </a:bodyPr>
          <a:lstStyle/>
          <a:p>
            <a:pPr algn="l"/>
            <a:r>
              <a:rPr sz="1800" b="0" i="0">
                <a:solidFill>
                  <a:srgbClr val="232B37"/>
                </a:solidFill>
                <a:latin typeface="Amazon Ember Display"/>
              </a:rPr>
              <a:t>scales with no manual steps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What network do we build inside?</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AMAZON VPC</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VPC contains your subnets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783080"/>
            <a:ext cx="10972800" cy="3154680"/>
          </a:xfrm>
          <a:prstGeom prst="roundRect">
            <a:avLst>
              <a:gd name="adj" fmla="val 5797"/>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mazon-Virtual-Private-Cloud_64.png"/>
          <p:cNvPicPr>
            <a:picLocks noChangeAspect="1"/>
          </p:cNvPicPr>
          <p:nvPr/>
        </p:nvPicPr>
        <p:blipFill>
          <a:blip r:embed="rId3"/>
          <a:stretch>
            <a:fillRect/>
          </a:stretch>
        </p:blipFill>
        <p:spPr>
          <a:xfrm>
            <a:off x="804672" y="1920240"/>
            <a:ext cx="457200" cy="457200"/>
          </a:xfrm>
          <a:prstGeom prst="rect">
            <a:avLst/>
          </a:prstGeom>
        </p:spPr>
      </p:pic>
      <p:sp>
        <p:nvSpPr>
          <p:cNvPr id="6" name="TextBox 5"/>
          <p:cNvSpPr txBox="1"/>
          <p:nvPr/>
        </p:nvSpPr>
        <p:spPr>
          <a:xfrm>
            <a:off x="1380744" y="1892807"/>
            <a:ext cx="3657600" cy="274320"/>
          </a:xfrm>
          <a:prstGeom prst="rect">
            <a:avLst/>
          </a:prstGeom>
          <a:noFill/>
        </p:spPr>
        <p:txBody>
          <a:bodyPr wrap="square" anchor="ctr">
            <a:noAutofit/>
          </a:bodyPr>
          <a:lstStyle/>
          <a:p>
            <a:pPr algn="l"/>
            <a:r>
              <a:rPr sz="1600" b="1" i="0">
                <a:solidFill>
                  <a:srgbClr val="8F0072"/>
                </a:solidFill>
                <a:latin typeface="Amazon Ember Display"/>
              </a:rPr>
              <a:t>YOUR VPC</a:t>
            </a:r>
          </a:p>
        </p:txBody>
      </p:sp>
      <p:sp>
        <p:nvSpPr>
          <p:cNvPr id="7" name="TextBox 6"/>
          <p:cNvSpPr txBox="1"/>
          <p:nvPr/>
        </p:nvSpPr>
        <p:spPr>
          <a:xfrm>
            <a:off x="1380744" y="2185416"/>
            <a:ext cx="6035040" cy="274320"/>
          </a:xfrm>
          <a:prstGeom prst="rect">
            <a:avLst/>
          </a:prstGeom>
          <a:noFill/>
        </p:spPr>
        <p:txBody>
          <a:bodyPr wrap="square" anchor="ctr">
            <a:noAutofit/>
          </a:bodyPr>
          <a:lstStyle/>
          <a:p>
            <a:pPr algn="l"/>
            <a:r>
              <a:rPr sz="1600" b="0" i="0">
                <a:solidFill>
                  <a:srgbClr val="232B37"/>
                </a:solidFill>
                <a:latin typeface="Amazon Ember Display"/>
              </a:rPr>
              <a:t>an isolated network inside one Region</a:t>
            </a:r>
          </a:p>
        </p:txBody>
      </p:sp>
      <p:sp>
        <p:nvSpPr>
          <p:cNvPr id="8" name="Rounded Rectangle 7"/>
          <p:cNvSpPr/>
          <p:nvPr/>
        </p:nvSpPr>
        <p:spPr>
          <a:xfrm>
            <a:off x="886968" y="2651760"/>
            <a:ext cx="5111496" cy="2103120"/>
          </a:xfrm>
          <a:prstGeom prst="roundRect">
            <a:avLst>
              <a:gd name="adj" fmla="val 6956"/>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51560" y="2743200"/>
            <a:ext cx="4782312" cy="274320"/>
          </a:xfrm>
          <a:prstGeom prst="rect">
            <a:avLst/>
          </a:prstGeom>
          <a:noFill/>
        </p:spPr>
        <p:txBody>
          <a:bodyPr wrap="square" anchor="ctr">
            <a:noAutofit/>
          </a:bodyPr>
          <a:lstStyle/>
          <a:p>
            <a:pPr algn="l"/>
            <a:r>
              <a:rPr sz="1600" b="1" i="0">
                <a:solidFill>
                  <a:srgbClr val="8F0072"/>
                </a:solidFill>
                <a:latin typeface="Amazon Ember Display"/>
              </a:rPr>
              <a:t>Public subnet</a:t>
            </a:r>
          </a:p>
        </p:txBody>
      </p:sp>
      <p:sp>
        <p:nvSpPr>
          <p:cNvPr id="10" name="Rounded Rectangle 9"/>
          <p:cNvSpPr/>
          <p:nvPr/>
        </p:nvSpPr>
        <p:spPr>
          <a:xfrm>
            <a:off x="1161288" y="3127248"/>
            <a:ext cx="2834640" cy="859536"/>
          </a:xfrm>
          <a:prstGeom prst="roundRect">
            <a:avLst>
              <a:gd name="adj" fmla="val 14893"/>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Picture 10" descr="Arch_Amazon-EC2_64.png"/>
          <p:cNvPicPr>
            <a:picLocks noChangeAspect="1"/>
          </p:cNvPicPr>
          <p:nvPr/>
        </p:nvPicPr>
        <p:blipFill>
          <a:blip r:embed="rId4"/>
          <a:stretch>
            <a:fillRect/>
          </a:stretch>
        </p:blipFill>
        <p:spPr>
          <a:xfrm>
            <a:off x="1216152" y="3328415"/>
            <a:ext cx="457200" cy="457200"/>
          </a:xfrm>
          <a:prstGeom prst="rect">
            <a:avLst/>
          </a:prstGeom>
        </p:spPr>
      </p:pic>
      <p:sp>
        <p:nvSpPr>
          <p:cNvPr id="12" name="TextBox 11"/>
          <p:cNvSpPr txBox="1"/>
          <p:nvPr/>
        </p:nvSpPr>
        <p:spPr>
          <a:xfrm>
            <a:off x="1746504" y="3410711"/>
            <a:ext cx="2121408" cy="292608"/>
          </a:xfrm>
          <a:prstGeom prst="rect">
            <a:avLst/>
          </a:prstGeom>
          <a:noFill/>
        </p:spPr>
        <p:txBody>
          <a:bodyPr wrap="square" anchor="ctr">
            <a:noAutofit/>
          </a:bodyPr>
          <a:lstStyle/>
          <a:p>
            <a:pPr algn="l"/>
            <a:r>
              <a:rPr sz="1600" b="1" i="0">
                <a:solidFill>
                  <a:srgbClr val="8F0072"/>
                </a:solidFill>
                <a:latin typeface="Amazon Ember Display"/>
              </a:rPr>
              <a:t>EC2 instance</a:t>
            </a:r>
          </a:p>
        </p:txBody>
      </p:sp>
      <p:sp>
        <p:nvSpPr>
          <p:cNvPr id="13" name="TextBox 12"/>
          <p:cNvSpPr txBox="1"/>
          <p:nvPr/>
        </p:nvSpPr>
        <p:spPr>
          <a:xfrm>
            <a:off x="1051560" y="4169663"/>
            <a:ext cx="4782312" cy="274320"/>
          </a:xfrm>
          <a:prstGeom prst="rect">
            <a:avLst/>
          </a:prstGeom>
          <a:noFill/>
        </p:spPr>
        <p:txBody>
          <a:bodyPr wrap="square" anchor="ctr">
            <a:noAutofit/>
          </a:bodyPr>
          <a:lstStyle/>
          <a:p>
            <a:pPr algn="l"/>
            <a:r>
              <a:rPr sz="1600" b="0" i="0">
                <a:solidFill>
                  <a:srgbClr val="232B37"/>
                </a:solidFill>
                <a:latin typeface="Amazon Ember Display"/>
              </a:rPr>
              <a:t>reachable from the internet</a:t>
            </a:r>
          </a:p>
        </p:txBody>
      </p:sp>
      <p:sp>
        <p:nvSpPr>
          <p:cNvPr id="14" name="Rounded Rectangle 13"/>
          <p:cNvSpPr/>
          <p:nvPr/>
        </p:nvSpPr>
        <p:spPr>
          <a:xfrm>
            <a:off x="6199632" y="2651760"/>
            <a:ext cx="5111496" cy="2103120"/>
          </a:xfrm>
          <a:prstGeom prst="roundRect">
            <a:avLst>
              <a:gd name="adj" fmla="val 6956"/>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64224" y="2743200"/>
            <a:ext cx="4782312" cy="274320"/>
          </a:xfrm>
          <a:prstGeom prst="rect">
            <a:avLst/>
          </a:prstGeom>
          <a:noFill/>
        </p:spPr>
        <p:txBody>
          <a:bodyPr wrap="square" anchor="ctr">
            <a:noAutofit/>
          </a:bodyPr>
          <a:lstStyle/>
          <a:p>
            <a:pPr algn="l"/>
            <a:r>
              <a:rPr sz="1600" b="1" i="0">
                <a:solidFill>
                  <a:srgbClr val="8F0072"/>
                </a:solidFill>
                <a:latin typeface="Amazon Ember Display"/>
              </a:rPr>
              <a:t>Private subnet</a:t>
            </a:r>
          </a:p>
        </p:txBody>
      </p:sp>
      <p:sp>
        <p:nvSpPr>
          <p:cNvPr id="16" name="Rounded Rectangle 15"/>
          <p:cNvSpPr/>
          <p:nvPr/>
        </p:nvSpPr>
        <p:spPr>
          <a:xfrm>
            <a:off x="6473952" y="3127248"/>
            <a:ext cx="2834640" cy="859536"/>
          </a:xfrm>
          <a:prstGeom prst="roundRect">
            <a:avLst>
              <a:gd name="adj" fmla="val 14893"/>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Arch_Amazon-EC2_64.png"/>
          <p:cNvPicPr>
            <a:picLocks noChangeAspect="1"/>
          </p:cNvPicPr>
          <p:nvPr/>
        </p:nvPicPr>
        <p:blipFill>
          <a:blip r:embed="rId4"/>
          <a:stretch>
            <a:fillRect/>
          </a:stretch>
        </p:blipFill>
        <p:spPr>
          <a:xfrm>
            <a:off x="6528816" y="3328415"/>
            <a:ext cx="457200" cy="457200"/>
          </a:xfrm>
          <a:prstGeom prst="rect">
            <a:avLst/>
          </a:prstGeom>
        </p:spPr>
      </p:pic>
      <p:sp>
        <p:nvSpPr>
          <p:cNvPr id="18" name="TextBox 17"/>
          <p:cNvSpPr txBox="1"/>
          <p:nvPr/>
        </p:nvSpPr>
        <p:spPr>
          <a:xfrm>
            <a:off x="7059168" y="3410711"/>
            <a:ext cx="2121407" cy="292608"/>
          </a:xfrm>
          <a:prstGeom prst="rect">
            <a:avLst/>
          </a:prstGeom>
          <a:noFill/>
        </p:spPr>
        <p:txBody>
          <a:bodyPr wrap="square" anchor="ctr">
            <a:noAutofit/>
          </a:bodyPr>
          <a:lstStyle/>
          <a:p>
            <a:pPr algn="l"/>
            <a:r>
              <a:rPr sz="1600" b="1" i="0">
                <a:solidFill>
                  <a:srgbClr val="8F0072"/>
                </a:solidFill>
                <a:latin typeface="Amazon Ember Display"/>
              </a:rPr>
              <a:t>EC2 instance</a:t>
            </a:r>
          </a:p>
        </p:txBody>
      </p:sp>
      <p:sp>
        <p:nvSpPr>
          <p:cNvPr id="19" name="TextBox 18"/>
          <p:cNvSpPr txBox="1"/>
          <p:nvPr/>
        </p:nvSpPr>
        <p:spPr>
          <a:xfrm>
            <a:off x="6364224" y="4169663"/>
            <a:ext cx="4782312" cy="274320"/>
          </a:xfrm>
          <a:prstGeom prst="rect">
            <a:avLst/>
          </a:prstGeom>
          <a:noFill/>
        </p:spPr>
        <p:txBody>
          <a:bodyPr wrap="square" anchor="ctr">
            <a:noAutofit/>
          </a:bodyPr>
          <a:lstStyle/>
          <a:p>
            <a:pPr algn="l"/>
            <a:r>
              <a:rPr sz="1600" b="0" i="0">
                <a:solidFill>
                  <a:srgbClr val="232B37"/>
                </a:solidFill>
                <a:latin typeface="Amazon Ember Display"/>
              </a:rPr>
              <a:t>internal only</a:t>
            </a:r>
          </a:p>
        </p:txBody>
      </p:sp>
      <p:sp>
        <p:nvSpPr>
          <p:cNvPr id="20" name="TextBox 19">
            <a:hlinkClick r:id="rId5"/>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What is Amazon VPC?</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Some AWS services sit outside your VPC</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Amazon VPC?</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Launched inside the VPC</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Amazon EC2 instances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Databases such as RDS and Redshift</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Placed into subnets across AZs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Reached from the VPC</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Regional services like S3 and DynamoDB</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Accessed over the network, via endpoints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One private network, many services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Two firewalls, at two different boundaries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2029968" y="1737360"/>
            <a:ext cx="9555480" cy="3017520"/>
          </a:xfrm>
          <a:prstGeom prst="roundRect">
            <a:avLst>
              <a:gd name="adj" fmla="val 6060"/>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286000" y="1828800"/>
            <a:ext cx="4754880" cy="274320"/>
          </a:xfrm>
          <a:prstGeom prst="rect">
            <a:avLst/>
          </a:prstGeom>
          <a:noFill/>
        </p:spPr>
        <p:txBody>
          <a:bodyPr wrap="square" anchor="ctr">
            <a:noAutofit/>
          </a:bodyPr>
          <a:lstStyle/>
          <a:p>
            <a:pPr algn="l"/>
            <a:r>
              <a:rPr sz="1600" b="1" i="0">
                <a:solidFill>
                  <a:srgbClr val="8F0072"/>
                </a:solidFill>
                <a:latin typeface="Amazon Ember Display"/>
              </a:rPr>
              <a:t>YOUR VPC</a:t>
            </a:r>
          </a:p>
        </p:txBody>
      </p:sp>
      <p:sp>
        <p:nvSpPr>
          <p:cNvPr id="6" name="Rounded Rectangle 5"/>
          <p:cNvSpPr/>
          <p:nvPr/>
        </p:nvSpPr>
        <p:spPr>
          <a:xfrm>
            <a:off x="3081528" y="2304288"/>
            <a:ext cx="8183879" cy="2194559"/>
          </a:xfrm>
          <a:prstGeom prst="roundRect">
            <a:avLst>
              <a:gd name="adj" fmla="val 6666"/>
            </a:avLst>
          </a:prstGeom>
          <a:solidFill>
            <a:srgbClr val="FFFFFF"/>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319272" y="2359152"/>
            <a:ext cx="1554480" cy="274320"/>
          </a:xfrm>
          <a:prstGeom prst="rect">
            <a:avLst/>
          </a:prstGeom>
          <a:noFill/>
        </p:spPr>
        <p:txBody>
          <a:bodyPr wrap="square" anchor="ctr">
            <a:noAutofit/>
          </a:bodyPr>
          <a:lstStyle/>
          <a:p>
            <a:pPr algn="l"/>
            <a:r>
              <a:rPr sz="1600" b="1" i="0">
                <a:solidFill>
                  <a:srgbClr val="8F0072"/>
                </a:solidFill>
                <a:latin typeface="Amazon Ember Display"/>
              </a:rPr>
              <a:t>SUBNET</a:t>
            </a:r>
          </a:p>
        </p:txBody>
      </p:sp>
      <p:sp>
        <p:nvSpPr>
          <p:cNvPr id="8" name="Rounded Rectangle 7"/>
          <p:cNvSpPr/>
          <p:nvPr/>
        </p:nvSpPr>
        <p:spPr>
          <a:xfrm>
            <a:off x="4544568" y="2871216"/>
            <a:ext cx="6400800" cy="1371599"/>
          </a:xfrm>
          <a:prstGeom prst="roundRect">
            <a:avLst>
              <a:gd name="adj" fmla="val 933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257800" y="2871216"/>
            <a:ext cx="2377440" cy="1371599"/>
          </a:xfrm>
          <a:prstGeom prst="rect">
            <a:avLst/>
          </a:prstGeom>
          <a:noFill/>
        </p:spPr>
        <p:txBody>
          <a:bodyPr wrap="square" anchor="ctr">
            <a:noAutofit/>
          </a:bodyPr>
          <a:lstStyle/>
          <a:p>
            <a:pPr algn="l"/>
            <a:r>
              <a:rPr sz="1600" b="1" i="0">
                <a:solidFill>
                  <a:srgbClr val="8F0072"/>
                </a:solidFill>
                <a:latin typeface="Amazon Ember Display"/>
              </a:rPr>
              <a:t>EC2 INSTANCE</a:t>
            </a:r>
          </a:p>
        </p:txBody>
      </p:sp>
      <p:sp>
        <p:nvSpPr>
          <p:cNvPr id="10" name="Rounded Rectangle 9"/>
          <p:cNvSpPr/>
          <p:nvPr/>
        </p:nvSpPr>
        <p:spPr>
          <a:xfrm>
            <a:off x="5184648" y="2148840"/>
            <a:ext cx="1743862" cy="310896"/>
          </a:xfrm>
          <a:prstGeom prst="roundRect">
            <a:avLst>
              <a:gd name="adj" fmla="val 30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mazon Ember"/>
              </a:rPr>
              <a:t>NETWORK ACL</a:t>
            </a:r>
          </a:p>
        </p:txBody>
      </p:sp>
      <p:sp>
        <p:nvSpPr>
          <p:cNvPr id="11" name="Rounded Rectangle 10"/>
          <p:cNvSpPr/>
          <p:nvPr/>
        </p:nvSpPr>
        <p:spPr>
          <a:xfrm>
            <a:off x="7927848" y="2715768"/>
            <a:ext cx="2023872" cy="310896"/>
          </a:xfrm>
          <a:prstGeom prst="roundRect">
            <a:avLst>
              <a:gd name="adj" fmla="val 30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mazon Ember"/>
              </a:rPr>
              <a:t>SECURITY GROUP</a:t>
            </a:r>
          </a:p>
        </p:txBody>
      </p:sp>
      <p:sp>
        <p:nvSpPr>
          <p:cNvPr id="12" name="TextBox 11"/>
          <p:cNvSpPr txBox="1"/>
          <p:nvPr/>
        </p:nvSpPr>
        <p:spPr>
          <a:xfrm>
            <a:off x="3081528" y="4956047"/>
            <a:ext cx="8503920" cy="274320"/>
          </a:xfrm>
          <a:prstGeom prst="rect">
            <a:avLst/>
          </a:prstGeom>
          <a:noFill/>
        </p:spPr>
        <p:txBody>
          <a:bodyPr wrap="square" anchor="t">
            <a:noAutofit/>
          </a:bodyPr>
          <a:lstStyle/>
          <a:p>
            <a:pPr algn="l"/>
            <a:r>
              <a:rPr sz="1600" b="0" i="0">
                <a:solidFill>
                  <a:srgbClr val="232B37"/>
                </a:solidFill>
                <a:latin typeface="Amazon Ember Display"/>
              </a:rPr>
              <a:t>stateless -- return traffic needs its own rule, and deny rules are allowed here</a:t>
            </a:r>
          </a:p>
        </p:txBody>
      </p:sp>
      <p:sp>
        <p:nvSpPr>
          <p:cNvPr id="13" name="TextBox 12"/>
          <p:cNvSpPr txBox="1"/>
          <p:nvPr/>
        </p:nvSpPr>
        <p:spPr>
          <a:xfrm>
            <a:off x="4544568" y="5248655"/>
            <a:ext cx="7040879" cy="274320"/>
          </a:xfrm>
          <a:prstGeom prst="rect">
            <a:avLst/>
          </a:prstGeom>
          <a:noFill/>
        </p:spPr>
        <p:txBody>
          <a:bodyPr wrap="square" anchor="t">
            <a:noAutofit/>
          </a:bodyPr>
          <a:lstStyle/>
          <a:p>
            <a:pPr algn="l"/>
            <a:r>
              <a:rPr sz="1600" b="0" i="0">
                <a:solidFill>
                  <a:srgbClr val="232B37"/>
                </a:solidFill>
                <a:latin typeface="Amazon Ember Display"/>
              </a:rPr>
              <a:t>stateful -- return traffic is automatic, and it takes allow rules only</a:t>
            </a:r>
          </a:p>
        </p:txBody>
      </p:sp>
      <p:sp>
        <p:nvSpPr>
          <p:cNvPr id="14" name="Freeform 13"/>
          <p:cNvSpPr/>
          <p:nvPr/>
        </p:nvSpPr>
        <p:spPr>
          <a:xfrm>
            <a:off x="658368" y="3557015"/>
            <a:ext cx="2276856" cy="0"/>
          </a:xfrm>
          <a:custGeom>
            <a:avLst/>
            <a:gdLst/>
            <a:ahLst/>
            <a:cxnLst/>
            <a:rect l="l" t="t" r="r" b="b"/>
            <a:pathLst>
              <a:path w="2276856">
                <a:moveTo>
                  <a:pt x="0" y="0"/>
                </a:moveTo>
                <a:lnTo>
                  <a:pt x="2276856" y="0"/>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2743200" y="3438144"/>
            <a:ext cx="192024" cy="237743"/>
          </a:xfrm>
          <a:custGeom>
            <a:avLst/>
            <a:gdLst/>
            <a:ahLst/>
            <a:cxnLst/>
            <a:rect l="l" t="t" r="r" b="b"/>
            <a:pathLst>
              <a:path w="192024" h="237743">
                <a:moveTo>
                  <a:pt x="0" y="0"/>
                </a:moveTo>
                <a:lnTo>
                  <a:pt x="192024" y="118871"/>
                </a:lnTo>
                <a:lnTo>
                  <a:pt x="0" y="237743"/>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 y="3154679"/>
            <a:ext cx="1325880" cy="274320"/>
          </a:xfrm>
          <a:prstGeom prst="rect">
            <a:avLst/>
          </a:prstGeom>
          <a:noFill/>
        </p:spPr>
        <p:txBody>
          <a:bodyPr wrap="square" anchor="ctr">
            <a:noAutofit/>
          </a:bodyPr>
          <a:lstStyle/>
          <a:p>
            <a:pPr algn="ctr"/>
            <a:r>
              <a:rPr sz="1600" b="0" i="0">
                <a:solidFill>
                  <a:srgbClr val="5A6B7B"/>
                </a:solidFill>
                <a:latin typeface="Amazon Ember Display"/>
              </a:rPr>
              <a:t>inbound</a:t>
            </a:r>
          </a:p>
        </p:txBody>
      </p:sp>
      <p:sp>
        <p:nvSpPr>
          <p:cNvPr id="17" name="Freeform 16"/>
          <p:cNvSpPr/>
          <p:nvPr/>
        </p:nvSpPr>
        <p:spPr>
          <a:xfrm>
            <a:off x="3227832" y="3557015"/>
            <a:ext cx="1170432" cy="0"/>
          </a:xfrm>
          <a:custGeom>
            <a:avLst/>
            <a:gdLst/>
            <a:ahLst/>
            <a:cxnLst/>
            <a:rect l="l" t="t" r="r" b="b"/>
            <a:pathLst>
              <a:path w="1170432">
                <a:moveTo>
                  <a:pt x="0" y="0"/>
                </a:moveTo>
                <a:lnTo>
                  <a:pt x="1170432" y="0"/>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p:cNvSpPr/>
          <p:nvPr/>
        </p:nvSpPr>
        <p:spPr>
          <a:xfrm>
            <a:off x="4206240" y="3438144"/>
            <a:ext cx="192024" cy="237743"/>
          </a:xfrm>
          <a:custGeom>
            <a:avLst/>
            <a:gdLst/>
            <a:ahLst/>
            <a:cxnLst/>
            <a:rect l="l" t="t" r="r" b="b"/>
            <a:pathLst>
              <a:path w="192024" h="237743">
                <a:moveTo>
                  <a:pt x="0" y="0"/>
                </a:moveTo>
                <a:lnTo>
                  <a:pt x="192024" y="118871"/>
                </a:lnTo>
                <a:lnTo>
                  <a:pt x="0" y="237743"/>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Arch_Amazon-Virtual-Private-Cloud_64.png"/>
          <p:cNvPicPr>
            <a:picLocks noChangeAspect="1"/>
          </p:cNvPicPr>
          <p:nvPr/>
        </p:nvPicPr>
        <p:blipFill>
          <a:blip r:embed="rId3"/>
          <a:stretch>
            <a:fillRect/>
          </a:stretch>
        </p:blipFill>
        <p:spPr>
          <a:xfrm>
            <a:off x="10945368" y="1801367"/>
            <a:ext cx="457200" cy="457200"/>
          </a:xfrm>
          <a:prstGeom prst="rect">
            <a:avLst/>
          </a:prstGeom>
        </p:spPr>
      </p:pic>
      <p:pic>
        <p:nvPicPr>
          <p:cNvPr id="20" name="Picture 19" descr="Arch_Amazon-EC2_64.png"/>
          <p:cNvPicPr>
            <a:picLocks noChangeAspect="1"/>
          </p:cNvPicPr>
          <p:nvPr/>
        </p:nvPicPr>
        <p:blipFill>
          <a:blip r:embed="rId4"/>
          <a:stretch>
            <a:fillRect/>
          </a:stretch>
        </p:blipFill>
        <p:spPr>
          <a:xfrm>
            <a:off x="4681728" y="3328415"/>
            <a:ext cx="457200" cy="457200"/>
          </a:xfrm>
          <a:prstGeom prst="rect">
            <a:avLst/>
          </a:prstGeom>
        </p:spPr>
      </p:pic>
      <p:sp>
        <p:nvSpPr>
          <p:cNvPr id="21" name="TextBox 20">
            <a:hlinkClick r:id="rId5"/>
          </p:cNvPr>
          <p:cNvSpPr txBox="1"/>
          <p:nvPr/>
        </p:nvSpPr>
        <p:spPr>
          <a:xfrm>
            <a:off x="612648" y="5943600"/>
            <a:ext cx="629220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Infrastructure security in Amazon VPC</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network ACL is a stateless firewall on the subnet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2007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Control subnet traffic with network…</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is it?</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An optional firewall on the subnet</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Inbound and outbound rules, numbered</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Stateless: return traffic needs a rule</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Supports both allow and deny rules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Guards every resource in the subnet</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A second layer beside security groups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Security groups can reference each other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38364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Control traffic to your AWS resources…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is it?</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App on EC2, database in the same VPC</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Give the database its own security group</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Allow the app's group as the source</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No IP ranges to track or update</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Access follows the group, not the host</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The standard same-VPC pattern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VPC endpoint keeps traffic on the AWS network</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697480"/>
            <a:ext cx="4846320" cy="2103120"/>
          </a:xfrm>
          <a:prstGeom prst="roundRect">
            <a:avLst>
              <a:gd name="adj" fmla="val 8695"/>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50392" y="2788920"/>
            <a:ext cx="2377440" cy="274320"/>
          </a:xfrm>
          <a:prstGeom prst="rect">
            <a:avLst/>
          </a:prstGeom>
          <a:noFill/>
        </p:spPr>
        <p:txBody>
          <a:bodyPr wrap="square" anchor="ctr">
            <a:noAutofit/>
          </a:bodyPr>
          <a:lstStyle/>
          <a:p>
            <a:pPr algn="l"/>
            <a:r>
              <a:rPr sz="1600" b="1" i="0">
                <a:solidFill>
                  <a:srgbClr val="8F0072"/>
                </a:solidFill>
                <a:latin typeface="Amazon Ember Display"/>
              </a:rPr>
              <a:t>YOUR VPC</a:t>
            </a:r>
          </a:p>
        </p:txBody>
      </p:sp>
      <p:sp>
        <p:nvSpPr>
          <p:cNvPr id="6" name="Rounded Rectangle 5"/>
          <p:cNvSpPr/>
          <p:nvPr/>
        </p:nvSpPr>
        <p:spPr>
          <a:xfrm>
            <a:off x="960120" y="3337560"/>
            <a:ext cx="2560320" cy="822960"/>
          </a:xfrm>
          <a:prstGeom prst="roundRect">
            <a:avLst>
              <a:gd name="adj" fmla="val 15555"/>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636776" y="3337560"/>
            <a:ext cx="1783080" cy="822960"/>
          </a:xfrm>
          <a:prstGeom prst="rect">
            <a:avLst/>
          </a:prstGeom>
          <a:noFill/>
        </p:spPr>
        <p:txBody>
          <a:bodyPr wrap="square" anchor="ctr">
            <a:noAutofit/>
          </a:bodyPr>
          <a:lstStyle/>
          <a:p>
            <a:pPr algn="l"/>
            <a:r>
              <a:rPr sz="1600" b="1" i="0">
                <a:solidFill>
                  <a:srgbClr val="8F0072"/>
                </a:solidFill>
                <a:latin typeface="Amazon Ember Display"/>
              </a:rPr>
              <a:t>EC2 INSTANCE</a:t>
            </a:r>
          </a:p>
        </p:txBody>
      </p:sp>
      <p:pic>
        <p:nvPicPr>
          <p:cNvPr id="8" name="Picture 7" descr="Arch_Amazon-EC2_64.png"/>
          <p:cNvPicPr>
            <a:picLocks noChangeAspect="1"/>
          </p:cNvPicPr>
          <p:nvPr/>
        </p:nvPicPr>
        <p:blipFill>
          <a:blip r:embed="rId3"/>
          <a:stretch>
            <a:fillRect/>
          </a:stretch>
        </p:blipFill>
        <p:spPr>
          <a:xfrm>
            <a:off x="1078992" y="3520439"/>
            <a:ext cx="457200" cy="457200"/>
          </a:xfrm>
          <a:prstGeom prst="rect">
            <a:avLst/>
          </a:prstGeom>
        </p:spPr>
      </p:pic>
      <p:sp>
        <p:nvSpPr>
          <p:cNvPr id="9" name="Rounded Rectangle 8"/>
          <p:cNvSpPr/>
          <p:nvPr/>
        </p:nvSpPr>
        <p:spPr>
          <a:xfrm>
            <a:off x="6492240" y="2468880"/>
            <a:ext cx="2194560" cy="914400"/>
          </a:xfrm>
          <a:prstGeom prst="roundRect">
            <a:avLst>
              <a:gd name="adj" fmla="val 16000"/>
            </a:avLst>
          </a:prstGeom>
          <a:solidFill>
            <a:srgbClr val="FFFFFF"/>
          </a:solidFill>
          <a:ln w="25400">
            <a:solidFill>
              <a:srgbClr val="5A6B7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92240" y="2468880"/>
            <a:ext cx="2194560" cy="914400"/>
          </a:xfrm>
          <a:prstGeom prst="rect">
            <a:avLst/>
          </a:prstGeom>
          <a:noFill/>
        </p:spPr>
        <p:txBody>
          <a:bodyPr wrap="square" anchor="ctr">
            <a:noAutofit/>
          </a:bodyPr>
          <a:lstStyle/>
          <a:p>
            <a:pPr algn="ctr"/>
            <a:r>
              <a:rPr sz="1600" b="1" i="0">
                <a:solidFill>
                  <a:srgbClr val="5A6B7B"/>
                </a:solidFill>
                <a:latin typeface="Amazon Ember Display"/>
              </a:rPr>
              <a:t>PUBLIC INTERNET</a:t>
            </a:r>
          </a:p>
        </p:txBody>
      </p:sp>
      <p:sp>
        <p:nvSpPr>
          <p:cNvPr id="11" name="Rounded Rectangle 10"/>
          <p:cNvSpPr/>
          <p:nvPr/>
        </p:nvSpPr>
        <p:spPr>
          <a:xfrm>
            <a:off x="9418320" y="2468880"/>
            <a:ext cx="2148840" cy="2011680"/>
          </a:xfrm>
          <a:prstGeom prst="roundRect">
            <a:avLst>
              <a:gd name="adj" fmla="val 6363"/>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418320" y="4005072"/>
            <a:ext cx="2148840" cy="274320"/>
          </a:xfrm>
          <a:prstGeom prst="rect">
            <a:avLst/>
          </a:prstGeom>
          <a:noFill/>
        </p:spPr>
        <p:txBody>
          <a:bodyPr wrap="square" anchor="ctr">
            <a:noAutofit/>
          </a:bodyPr>
          <a:lstStyle/>
          <a:p>
            <a:pPr algn="ctr"/>
            <a:r>
              <a:rPr sz="1600" b="1" i="0">
                <a:solidFill>
                  <a:srgbClr val="8F0072"/>
                </a:solidFill>
                <a:latin typeface="Amazon Ember Display"/>
              </a:rPr>
              <a:t>Amazon S3</a:t>
            </a:r>
          </a:p>
        </p:txBody>
      </p:sp>
      <p:pic>
        <p:nvPicPr>
          <p:cNvPr id="13" name="Picture 12" descr="Arch_Amazon-Simple-Storage-Service_64.png"/>
          <p:cNvPicPr>
            <a:picLocks noChangeAspect="1"/>
          </p:cNvPicPr>
          <p:nvPr/>
        </p:nvPicPr>
        <p:blipFill>
          <a:blip r:embed="rId4"/>
          <a:stretch>
            <a:fillRect/>
          </a:stretch>
        </p:blipFill>
        <p:spPr>
          <a:xfrm>
            <a:off x="10264140" y="2880360"/>
            <a:ext cx="457200" cy="457200"/>
          </a:xfrm>
          <a:prstGeom prst="rect">
            <a:avLst/>
          </a:prstGeom>
        </p:spPr>
      </p:pic>
      <p:sp>
        <p:nvSpPr>
          <p:cNvPr id="14" name="Freeform 13"/>
          <p:cNvSpPr/>
          <p:nvPr/>
        </p:nvSpPr>
        <p:spPr>
          <a:xfrm>
            <a:off x="3520439" y="2926080"/>
            <a:ext cx="2825497" cy="822959"/>
          </a:xfrm>
          <a:custGeom>
            <a:avLst/>
            <a:gdLst/>
            <a:ahLst/>
            <a:cxnLst/>
            <a:rect l="l" t="t" r="r" b="b"/>
            <a:pathLst>
              <a:path w="2825497" h="822959">
                <a:moveTo>
                  <a:pt x="0" y="822959"/>
                </a:moveTo>
                <a:lnTo>
                  <a:pt x="685801" y="822959"/>
                </a:lnTo>
                <a:lnTo>
                  <a:pt x="685801" y="0"/>
                </a:lnTo>
                <a:lnTo>
                  <a:pt x="2825497" y="0"/>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Freeform 14"/>
          <p:cNvSpPr/>
          <p:nvPr/>
        </p:nvSpPr>
        <p:spPr>
          <a:xfrm>
            <a:off x="6153912" y="2807208"/>
            <a:ext cx="192024" cy="237744"/>
          </a:xfrm>
          <a:custGeom>
            <a:avLst/>
            <a:gdLst/>
            <a:ahLst/>
            <a:cxnLst/>
            <a:rect l="l" t="t" r="r" b="b"/>
            <a:pathLst>
              <a:path w="192024" h="237744">
                <a:moveTo>
                  <a:pt x="0" y="0"/>
                </a:moveTo>
                <a:lnTo>
                  <a:pt x="192024" y="118872"/>
                </a:lnTo>
                <a:lnTo>
                  <a:pt x="0" y="237744"/>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Freeform 15"/>
          <p:cNvSpPr/>
          <p:nvPr/>
        </p:nvSpPr>
        <p:spPr>
          <a:xfrm>
            <a:off x="8686800" y="2926080"/>
            <a:ext cx="585216" cy="0"/>
          </a:xfrm>
          <a:custGeom>
            <a:avLst/>
            <a:gdLst/>
            <a:ahLst/>
            <a:cxnLst/>
            <a:rect l="l" t="t" r="r" b="b"/>
            <a:pathLst>
              <a:path w="585216">
                <a:moveTo>
                  <a:pt x="0" y="0"/>
                </a:moveTo>
                <a:lnTo>
                  <a:pt x="585216" y="0"/>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9079992" y="2807208"/>
            <a:ext cx="192024" cy="237744"/>
          </a:xfrm>
          <a:custGeom>
            <a:avLst/>
            <a:gdLst/>
            <a:ahLst/>
            <a:cxnLst/>
            <a:rect l="l" t="t" r="r" b="b"/>
            <a:pathLst>
              <a:path w="192024" h="237744">
                <a:moveTo>
                  <a:pt x="0" y="0"/>
                </a:moveTo>
                <a:lnTo>
                  <a:pt x="192024" y="118872"/>
                </a:lnTo>
                <a:lnTo>
                  <a:pt x="0" y="237744"/>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80759" y="2084832"/>
            <a:ext cx="3017520" cy="274320"/>
          </a:xfrm>
          <a:prstGeom prst="rect">
            <a:avLst/>
          </a:prstGeom>
          <a:noFill/>
        </p:spPr>
        <p:txBody>
          <a:bodyPr wrap="square" anchor="ctr">
            <a:noAutofit/>
          </a:bodyPr>
          <a:lstStyle/>
          <a:p>
            <a:pPr algn="ctr"/>
            <a:r>
              <a:rPr sz="1600" b="0" i="0">
                <a:solidFill>
                  <a:srgbClr val="5A6B7B"/>
                </a:solidFill>
                <a:latin typeface="Amazon Ember Display"/>
              </a:rPr>
              <a:t>leaves the AWS network</a:t>
            </a:r>
          </a:p>
        </p:txBody>
      </p:sp>
      <p:sp>
        <p:nvSpPr>
          <p:cNvPr id="19" name="Rounded Rectangle 18"/>
          <p:cNvSpPr/>
          <p:nvPr/>
        </p:nvSpPr>
        <p:spPr>
          <a:xfrm>
            <a:off x="4567427" y="3593591"/>
            <a:ext cx="1783080" cy="310896"/>
          </a:xfrm>
          <a:prstGeom prst="roundRect">
            <a:avLst>
              <a:gd name="adj" fmla="val 30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mazon Ember"/>
              </a:rPr>
              <a:t>VPC ENDPOINT</a:t>
            </a:r>
          </a:p>
        </p:txBody>
      </p:sp>
      <p:sp>
        <p:nvSpPr>
          <p:cNvPr id="20" name="Freeform 19"/>
          <p:cNvSpPr/>
          <p:nvPr/>
        </p:nvSpPr>
        <p:spPr>
          <a:xfrm>
            <a:off x="3520439" y="3749039"/>
            <a:ext cx="900684" cy="0"/>
          </a:xfrm>
          <a:custGeom>
            <a:avLst/>
            <a:gdLst/>
            <a:ahLst/>
            <a:cxnLst/>
            <a:rect l="l" t="t" r="r" b="b"/>
            <a:pathLst>
              <a:path w="900684">
                <a:moveTo>
                  <a:pt x="0" y="0"/>
                </a:moveTo>
                <a:lnTo>
                  <a:pt x="900684" y="0"/>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4229099" y="3630168"/>
            <a:ext cx="192024" cy="237743"/>
          </a:xfrm>
          <a:custGeom>
            <a:avLst/>
            <a:gdLst/>
            <a:ahLst/>
            <a:cxnLst/>
            <a:rect l="l" t="t" r="r" b="b"/>
            <a:pathLst>
              <a:path w="192024" h="237743">
                <a:moveTo>
                  <a:pt x="0" y="0"/>
                </a:moveTo>
                <a:lnTo>
                  <a:pt x="192024" y="118871"/>
                </a:lnTo>
                <a:lnTo>
                  <a:pt x="0" y="237743"/>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6350507" y="3749039"/>
            <a:ext cx="2921509" cy="0"/>
          </a:xfrm>
          <a:custGeom>
            <a:avLst/>
            <a:gdLst/>
            <a:ahLst/>
            <a:cxnLst/>
            <a:rect l="l" t="t" r="r" b="b"/>
            <a:pathLst>
              <a:path w="2921509">
                <a:moveTo>
                  <a:pt x="0" y="0"/>
                </a:moveTo>
                <a:lnTo>
                  <a:pt x="2921509" y="0"/>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9079992" y="3630168"/>
            <a:ext cx="192024" cy="237743"/>
          </a:xfrm>
          <a:custGeom>
            <a:avLst/>
            <a:gdLst/>
            <a:ahLst/>
            <a:cxnLst/>
            <a:rect l="l" t="t" r="r" b="b"/>
            <a:pathLst>
              <a:path w="192024" h="237743">
                <a:moveTo>
                  <a:pt x="0" y="0"/>
                </a:moveTo>
                <a:lnTo>
                  <a:pt x="192024" y="118871"/>
                </a:lnTo>
                <a:lnTo>
                  <a:pt x="0" y="237743"/>
                </a:lnTo>
              </a:path>
            </a:pathLst>
          </a:custGeom>
          <a:noFill/>
          <a:ln w="2540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33388" y="4059935"/>
            <a:ext cx="2834640" cy="274320"/>
          </a:xfrm>
          <a:prstGeom prst="rect">
            <a:avLst/>
          </a:prstGeom>
          <a:noFill/>
        </p:spPr>
        <p:txBody>
          <a:bodyPr wrap="square" anchor="ctr">
            <a:noAutofit/>
          </a:bodyPr>
          <a:lstStyle/>
          <a:p>
            <a:pPr algn="ctr"/>
            <a:r>
              <a:rPr sz="1600" b="0" i="0">
                <a:solidFill>
                  <a:srgbClr val="232B37"/>
                </a:solidFill>
                <a:latin typeface="Amazon Ember Display"/>
              </a:rPr>
              <a:t>stays on the AWS network</a:t>
            </a:r>
          </a:p>
        </p:txBody>
      </p:sp>
      <p:sp>
        <p:nvSpPr>
          <p:cNvPr id="25" name="TextBox 24">
            <a:hlinkClick r:id="rId5"/>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What is AWS PrivateLink?</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How do we route users to our app?</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AMAZON ROUTE 53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Route 53 directs users to the right endpoint</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2788920"/>
            <a:ext cx="3017520" cy="1371600"/>
          </a:xfrm>
          <a:prstGeom prst="roundRect">
            <a:avLst>
              <a:gd name="adj" fmla="val 9333"/>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mazon-Route-53_64.png"/>
          <p:cNvPicPr>
            <a:picLocks noChangeAspect="1"/>
          </p:cNvPicPr>
          <p:nvPr/>
        </p:nvPicPr>
        <p:blipFill>
          <a:blip r:embed="rId3"/>
          <a:stretch>
            <a:fillRect/>
          </a:stretch>
        </p:blipFill>
        <p:spPr>
          <a:xfrm>
            <a:off x="667512" y="3246120"/>
            <a:ext cx="457200" cy="457200"/>
          </a:xfrm>
          <a:prstGeom prst="rect">
            <a:avLst/>
          </a:prstGeom>
        </p:spPr>
      </p:pic>
      <p:sp>
        <p:nvSpPr>
          <p:cNvPr id="6" name="TextBox 5"/>
          <p:cNvSpPr txBox="1"/>
          <p:nvPr/>
        </p:nvSpPr>
        <p:spPr>
          <a:xfrm>
            <a:off x="1197864" y="3163824"/>
            <a:ext cx="2304287" cy="292608"/>
          </a:xfrm>
          <a:prstGeom prst="rect">
            <a:avLst/>
          </a:prstGeom>
          <a:noFill/>
        </p:spPr>
        <p:txBody>
          <a:bodyPr wrap="square" anchor="ctr">
            <a:noAutofit/>
          </a:bodyPr>
          <a:lstStyle/>
          <a:p>
            <a:pPr algn="l"/>
            <a:r>
              <a:rPr sz="1600" b="1" i="0">
                <a:solidFill>
                  <a:srgbClr val="8F0072"/>
                </a:solidFill>
                <a:latin typeface="Amazon Ember Display"/>
              </a:rPr>
              <a:t>Amazon Route 53</a:t>
            </a:r>
          </a:p>
        </p:txBody>
      </p:sp>
      <p:sp>
        <p:nvSpPr>
          <p:cNvPr id="7" name="TextBox 6"/>
          <p:cNvSpPr txBox="1"/>
          <p:nvPr/>
        </p:nvSpPr>
        <p:spPr>
          <a:xfrm>
            <a:off x="1197864" y="3483863"/>
            <a:ext cx="2304287" cy="292608"/>
          </a:xfrm>
          <a:prstGeom prst="rect">
            <a:avLst/>
          </a:prstGeom>
          <a:noFill/>
        </p:spPr>
        <p:txBody>
          <a:bodyPr wrap="square" anchor="ctr">
            <a:noAutofit/>
          </a:bodyPr>
          <a:lstStyle/>
          <a:p>
            <a:pPr algn="l"/>
            <a:r>
              <a:rPr sz="1600" b="0" i="0">
                <a:solidFill>
                  <a:srgbClr val="232B37"/>
                </a:solidFill>
                <a:latin typeface="Amazon Ember Display"/>
              </a:rPr>
              <a:t>DNS resolution</a:t>
            </a:r>
          </a:p>
        </p:txBody>
      </p:sp>
      <p:sp>
        <p:nvSpPr>
          <p:cNvPr id="8" name="Rounded Rectangle 7"/>
          <p:cNvSpPr/>
          <p:nvPr/>
        </p:nvSpPr>
        <p:spPr>
          <a:xfrm>
            <a:off x="8229600" y="1783080"/>
            <a:ext cx="3328416"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Arch_Elastic-Load-Balancing_64.png"/>
          <p:cNvPicPr>
            <a:picLocks noChangeAspect="1"/>
          </p:cNvPicPr>
          <p:nvPr/>
        </p:nvPicPr>
        <p:blipFill>
          <a:blip r:embed="rId4"/>
          <a:stretch>
            <a:fillRect/>
          </a:stretch>
        </p:blipFill>
        <p:spPr>
          <a:xfrm>
            <a:off x="8284464" y="2057400"/>
            <a:ext cx="457200" cy="457200"/>
          </a:xfrm>
          <a:prstGeom prst="rect">
            <a:avLst/>
          </a:prstGeom>
        </p:spPr>
      </p:pic>
      <p:sp>
        <p:nvSpPr>
          <p:cNvPr id="10" name="TextBox 9"/>
          <p:cNvSpPr txBox="1"/>
          <p:nvPr/>
        </p:nvSpPr>
        <p:spPr>
          <a:xfrm>
            <a:off x="8814815" y="1975104"/>
            <a:ext cx="2615184" cy="292608"/>
          </a:xfrm>
          <a:prstGeom prst="rect">
            <a:avLst/>
          </a:prstGeom>
          <a:noFill/>
        </p:spPr>
        <p:txBody>
          <a:bodyPr wrap="square" anchor="ctr">
            <a:noAutofit/>
          </a:bodyPr>
          <a:lstStyle/>
          <a:p>
            <a:pPr algn="l"/>
            <a:r>
              <a:rPr sz="1600" b="1" i="0">
                <a:solidFill>
                  <a:srgbClr val="8F0072"/>
                </a:solidFill>
                <a:latin typeface="Amazon Ember Display"/>
              </a:rPr>
              <a:t>Endpoint in Region A</a:t>
            </a:r>
          </a:p>
        </p:txBody>
      </p:sp>
      <p:sp>
        <p:nvSpPr>
          <p:cNvPr id="11" name="TextBox 10"/>
          <p:cNvSpPr txBox="1"/>
          <p:nvPr/>
        </p:nvSpPr>
        <p:spPr>
          <a:xfrm>
            <a:off x="8814815" y="2295144"/>
            <a:ext cx="2615184" cy="292608"/>
          </a:xfrm>
          <a:prstGeom prst="rect">
            <a:avLst/>
          </a:prstGeom>
          <a:noFill/>
        </p:spPr>
        <p:txBody>
          <a:bodyPr wrap="square" anchor="ctr">
            <a:noAutofit/>
          </a:bodyPr>
          <a:lstStyle/>
          <a:p>
            <a:pPr algn="l"/>
            <a:r>
              <a:rPr sz="1600" b="0" i="0">
                <a:solidFill>
                  <a:srgbClr val="232B37"/>
                </a:solidFill>
                <a:latin typeface="Amazon Ember Display"/>
              </a:rPr>
              <a:t>load balancer</a:t>
            </a:r>
          </a:p>
        </p:txBody>
      </p:sp>
      <p:sp>
        <p:nvSpPr>
          <p:cNvPr id="12" name="Rounded Rectangle 11"/>
          <p:cNvSpPr/>
          <p:nvPr/>
        </p:nvSpPr>
        <p:spPr>
          <a:xfrm>
            <a:off x="8229600" y="2971800"/>
            <a:ext cx="3328416"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Arch_Elastic-Load-Balancing_64.png"/>
          <p:cNvPicPr>
            <a:picLocks noChangeAspect="1"/>
          </p:cNvPicPr>
          <p:nvPr/>
        </p:nvPicPr>
        <p:blipFill>
          <a:blip r:embed="rId4"/>
          <a:stretch>
            <a:fillRect/>
          </a:stretch>
        </p:blipFill>
        <p:spPr>
          <a:xfrm>
            <a:off x="8284464" y="3246120"/>
            <a:ext cx="457200" cy="457200"/>
          </a:xfrm>
          <a:prstGeom prst="rect">
            <a:avLst/>
          </a:prstGeom>
        </p:spPr>
      </p:pic>
      <p:sp>
        <p:nvSpPr>
          <p:cNvPr id="14" name="TextBox 13"/>
          <p:cNvSpPr txBox="1"/>
          <p:nvPr/>
        </p:nvSpPr>
        <p:spPr>
          <a:xfrm>
            <a:off x="8814815" y="3163824"/>
            <a:ext cx="2615184" cy="292608"/>
          </a:xfrm>
          <a:prstGeom prst="rect">
            <a:avLst/>
          </a:prstGeom>
          <a:noFill/>
        </p:spPr>
        <p:txBody>
          <a:bodyPr wrap="square" anchor="ctr">
            <a:noAutofit/>
          </a:bodyPr>
          <a:lstStyle/>
          <a:p>
            <a:pPr algn="l"/>
            <a:r>
              <a:rPr sz="1600" b="1" i="0">
                <a:solidFill>
                  <a:srgbClr val="8F0072"/>
                </a:solidFill>
                <a:latin typeface="Amazon Ember Display"/>
              </a:rPr>
              <a:t>Endpoint in Region B</a:t>
            </a:r>
          </a:p>
        </p:txBody>
      </p:sp>
      <p:sp>
        <p:nvSpPr>
          <p:cNvPr id="15" name="TextBox 14"/>
          <p:cNvSpPr txBox="1"/>
          <p:nvPr/>
        </p:nvSpPr>
        <p:spPr>
          <a:xfrm>
            <a:off x="8814815" y="3483863"/>
            <a:ext cx="2615184" cy="292608"/>
          </a:xfrm>
          <a:prstGeom prst="rect">
            <a:avLst/>
          </a:prstGeom>
          <a:noFill/>
        </p:spPr>
        <p:txBody>
          <a:bodyPr wrap="square" anchor="ctr">
            <a:noAutofit/>
          </a:bodyPr>
          <a:lstStyle/>
          <a:p>
            <a:pPr algn="l"/>
            <a:r>
              <a:rPr sz="1600" b="0" i="0">
                <a:solidFill>
                  <a:srgbClr val="232B37"/>
                </a:solidFill>
                <a:latin typeface="Amazon Ember Display"/>
              </a:rPr>
              <a:t>load balancer</a:t>
            </a:r>
          </a:p>
        </p:txBody>
      </p:sp>
      <p:sp>
        <p:nvSpPr>
          <p:cNvPr id="16" name="Rounded Rectangle 15"/>
          <p:cNvSpPr/>
          <p:nvPr/>
        </p:nvSpPr>
        <p:spPr>
          <a:xfrm>
            <a:off x="8229600" y="4160520"/>
            <a:ext cx="3328416" cy="1005840"/>
          </a:xfrm>
          <a:prstGeom prst="roundRect">
            <a:avLst>
              <a:gd name="adj" fmla="val 12727"/>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Arch_Amazon-CloudFront_64.png"/>
          <p:cNvPicPr>
            <a:picLocks noChangeAspect="1"/>
          </p:cNvPicPr>
          <p:nvPr/>
        </p:nvPicPr>
        <p:blipFill>
          <a:blip r:embed="rId5"/>
          <a:stretch>
            <a:fillRect/>
          </a:stretch>
        </p:blipFill>
        <p:spPr>
          <a:xfrm>
            <a:off x="8284464" y="4434840"/>
            <a:ext cx="457200" cy="457200"/>
          </a:xfrm>
          <a:prstGeom prst="rect">
            <a:avLst/>
          </a:prstGeom>
        </p:spPr>
      </p:pic>
      <p:sp>
        <p:nvSpPr>
          <p:cNvPr id="18" name="TextBox 17"/>
          <p:cNvSpPr txBox="1"/>
          <p:nvPr/>
        </p:nvSpPr>
        <p:spPr>
          <a:xfrm>
            <a:off x="8814815" y="4352544"/>
            <a:ext cx="2615184" cy="292608"/>
          </a:xfrm>
          <a:prstGeom prst="rect">
            <a:avLst/>
          </a:prstGeom>
          <a:noFill/>
        </p:spPr>
        <p:txBody>
          <a:bodyPr wrap="square" anchor="ctr">
            <a:noAutofit/>
          </a:bodyPr>
          <a:lstStyle/>
          <a:p>
            <a:pPr algn="l"/>
            <a:r>
              <a:rPr sz="1600" b="1" i="0">
                <a:solidFill>
                  <a:srgbClr val="8F0072"/>
                </a:solidFill>
                <a:latin typeface="Amazon Ember Display"/>
              </a:rPr>
              <a:t>CloudFront</a:t>
            </a:r>
          </a:p>
        </p:txBody>
      </p:sp>
      <p:sp>
        <p:nvSpPr>
          <p:cNvPr id="19" name="TextBox 18"/>
          <p:cNvSpPr txBox="1"/>
          <p:nvPr/>
        </p:nvSpPr>
        <p:spPr>
          <a:xfrm>
            <a:off x="8814815" y="4672583"/>
            <a:ext cx="2615184" cy="292608"/>
          </a:xfrm>
          <a:prstGeom prst="rect">
            <a:avLst/>
          </a:prstGeom>
          <a:noFill/>
        </p:spPr>
        <p:txBody>
          <a:bodyPr wrap="square" anchor="ctr">
            <a:noAutofit/>
          </a:bodyPr>
          <a:lstStyle/>
          <a:p>
            <a:pPr algn="l"/>
            <a:r>
              <a:rPr sz="1600" b="0" i="0">
                <a:solidFill>
                  <a:srgbClr val="232B37"/>
                </a:solidFill>
                <a:latin typeface="Amazon Ember Display"/>
              </a:rPr>
              <a:t>edge delivery</a:t>
            </a:r>
          </a:p>
        </p:txBody>
      </p:sp>
      <p:sp>
        <p:nvSpPr>
          <p:cNvPr id="20" name="Freeform 19"/>
          <p:cNvSpPr/>
          <p:nvPr/>
        </p:nvSpPr>
        <p:spPr>
          <a:xfrm>
            <a:off x="3630168" y="3474720"/>
            <a:ext cx="2130552" cy="0"/>
          </a:xfrm>
          <a:custGeom>
            <a:avLst/>
            <a:gdLst/>
            <a:ahLst/>
            <a:cxnLst/>
            <a:rect l="l" t="t" r="r" b="b"/>
            <a:pathLst>
              <a:path w="2130552">
                <a:moveTo>
                  <a:pt x="0" y="0"/>
                </a:moveTo>
                <a:lnTo>
                  <a:pt x="2130552" y="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Freeform 20"/>
          <p:cNvSpPr/>
          <p:nvPr/>
        </p:nvSpPr>
        <p:spPr>
          <a:xfrm>
            <a:off x="5760720" y="2286000"/>
            <a:ext cx="0" cy="2377440"/>
          </a:xfrm>
          <a:custGeom>
            <a:avLst/>
            <a:gdLst/>
            <a:ahLst/>
            <a:cxnLst/>
            <a:rect l="l" t="t" r="r" b="b"/>
            <a:pathLst>
              <a:path h="2377440">
                <a:moveTo>
                  <a:pt x="0" y="0"/>
                </a:moveTo>
                <a:lnTo>
                  <a:pt x="0" y="2377440"/>
                </a:lnTo>
              </a:path>
            </a:pathLst>
          </a:custGeom>
          <a:noFill/>
          <a:ln w="2540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Freeform 21"/>
          <p:cNvSpPr/>
          <p:nvPr/>
        </p:nvSpPr>
        <p:spPr>
          <a:xfrm>
            <a:off x="5760720" y="2286000"/>
            <a:ext cx="2304288" cy="0"/>
          </a:xfrm>
          <a:custGeom>
            <a:avLst/>
            <a:gdLst/>
            <a:ahLst/>
            <a:cxnLst/>
            <a:rect l="l" t="t" r="r" b="b"/>
            <a:pathLst>
              <a:path w="2304288">
                <a:moveTo>
                  <a:pt x="0" y="0"/>
                </a:moveTo>
                <a:lnTo>
                  <a:pt x="230428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reeform 22"/>
          <p:cNvSpPr/>
          <p:nvPr/>
        </p:nvSpPr>
        <p:spPr>
          <a:xfrm>
            <a:off x="7891271" y="2167128"/>
            <a:ext cx="192025" cy="237744"/>
          </a:xfrm>
          <a:custGeom>
            <a:avLst/>
            <a:gdLst/>
            <a:ahLst/>
            <a:cxnLst/>
            <a:rect l="l" t="t" r="r" b="b"/>
            <a:pathLst>
              <a:path w="192025" h="237744">
                <a:moveTo>
                  <a:pt x="0" y="0"/>
                </a:moveTo>
                <a:lnTo>
                  <a:pt x="192025"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Freeform 23"/>
          <p:cNvSpPr/>
          <p:nvPr/>
        </p:nvSpPr>
        <p:spPr>
          <a:xfrm>
            <a:off x="5760720" y="3474720"/>
            <a:ext cx="2304288" cy="0"/>
          </a:xfrm>
          <a:custGeom>
            <a:avLst/>
            <a:gdLst/>
            <a:ahLst/>
            <a:cxnLst/>
            <a:rect l="l" t="t" r="r" b="b"/>
            <a:pathLst>
              <a:path w="2304288">
                <a:moveTo>
                  <a:pt x="0" y="0"/>
                </a:moveTo>
                <a:lnTo>
                  <a:pt x="230428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Freeform 24"/>
          <p:cNvSpPr/>
          <p:nvPr/>
        </p:nvSpPr>
        <p:spPr>
          <a:xfrm>
            <a:off x="7891271" y="3355848"/>
            <a:ext cx="192025" cy="237743"/>
          </a:xfrm>
          <a:custGeom>
            <a:avLst/>
            <a:gdLst/>
            <a:ahLst/>
            <a:cxnLst/>
            <a:rect l="l" t="t" r="r" b="b"/>
            <a:pathLst>
              <a:path w="192025" h="237743">
                <a:moveTo>
                  <a:pt x="0" y="0"/>
                </a:moveTo>
                <a:lnTo>
                  <a:pt x="192025"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Freeform 25"/>
          <p:cNvSpPr/>
          <p:nvPr/>
        </p:nvSpPr>
        <p:spPr>
          <a:xfrm>
            <a:off x="5760720" y="4663440"/>
            <a:ext cx="2304288" cy="0"/>
          </a:xfrm>
          <a:custGeom>
            <a:avLst/>
            <a:gdLst/>
            <a:ahLst/>
            <a:cxnLst/>
            <a:rect l="l" t="t" r="r" b="b"/>
            <a:pathLst>
              <a:path w="2304288">
                <a:moveTo>
                  <a:pt x="0" y="0"/>
                </a:moveTo>
                <a:lnTo>
                  <a:pt x="2304288"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Freeform 26"/>
          <p:cNvSpPr/>
          <p:nvPr/>
        </p:nvSpPr>
        <p:spPr>
          <a:xfrm>
            <a:off x="7891271" y="4544568"/>
            <a:ext cx="192025" cy="237744"/>
          </a:xfrm>
          <a:custGeom>
            <a:avLst/>
            <a:gdLst/>
            <a:ahLst/>
            <a:cxnLst/>
            <a:rect l="l" t="t" r="r" b="b"/>
            <a:pathLst>
              <a:path w="192025" h="237744">
                <a:moveTo>
                  <a:pt x="0" y="0"/>
                </a:moveTo>
                <a:lnTo>
                  <a:pt x="192025"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749039" y="3054096"/>
            <a:ext cx="2011680" cy="274320"/>
          </a:xfrm>
          <a:prstGeom prst="rect">
            <a:avLst/>
          </a:prstGeom>
          <a:noFill/>
        </p:spPr>
        <p:txBody>
          <a:bodyPr wrap="square" anchor="t">
            <a:noAutofit/>
          </a:bodyPr>
          <a:lstStyle/>
          <a:p>
            <a:pPr algn="ctr"/>
            <a:r>
              <a:rPr sz="1600" b="0" i="0">
                <a:solidFill>
                  <a:srgbClr val="5A6B7B"/>
                </a:solidFill>
                <a:latin typeface="Amazon Ember Display"/>
              </a:rPr>
              <a:t>one name</a:t>
            </a:r>
          </a:p>
        </p:txBody>
      </p:sp>
      <p:sp>
        <p:nvSpPr>
          <p:cNvPr id="29" name="TextBox 28">
            <a:hlinkClick r:id="rId6"/>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6"/>
              </a:rPr>
              <a:t>docs.aws.amazon.com · What is Amazon Route 53?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Who can do what in AWS?</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AWS IAM</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IAM decides who can access what, and how</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What is IAM?</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is it?</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Fine-grained access control for AWS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Who can access which services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Under which conditions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Manage access for people and apps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Policies grant least privilege</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Central to AWS security questions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group applies permissions to many users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965960"/>
            <a:ext cx="10972800" cy="2697480"/>
          </a:xfrm>
          <a:prstGeom prst="roundRect">
            <a:avLst>
              <a:gd name="adj" fmla="val 6779"/>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Arch_AWS-Identity-and-Access-Management_64.png"/>
          <p:cNvPicPr>
            <a:picLocks noChangeAspect="1"/>
          </p:cNvPicPr>
          <p:nvPr/>
        </p:nvPicPr>
        <p:blipFill>
          <a:blip r:embed="rId3"/>
          <a:stretch>
            <a:fillRect/>
          </a:stretch>
        </p:blipFill>
        <p:spPr>
          <a:xfrm>
            <a:off x="804672" y="2139696"/>
            <a:ext cx="457200" cy="457200"/>
          </a:xfrm>
          <a:prstGeom prst="rect">
            <a:avLst/>
          </a:prstGeom>
        </p:spPr>
      </p:pic>
      <p:sp>
        <p:nvSpPr>
          <p:cNvPr id="6" name="TextBox 5"/>
          <p:cNvSpPr txBox="1"/>
          <p:nvPr/>
        </p:nvSpPr>
        <p:spPr>
          <a:xfrm>
            <a:off x="1380744" y="2221991"/>
            <a:ext cx="4754880" cy="292608"/>
          </a:xfrm>
          <a:prstGeom prst="rect">
            <a:avLst/>
          </a:prstGeom>
          <a:noFill/>
        </p:spPr>
        <p:txBody>
          <a:bodyPr wrap="square" anchor="ctr">
            <a:noAutofit/>
          </a:bodyPr>
          <a:lstStyle/>
          <a:p>
            <a:pPr algn="l"/>
            <a:r>
              <a:rPr sz="1600" b="1" i="0">
                <a:solidFill>
                  <a:srgbClr val="8F0072"/>
                </a:solidFill>
                <a:latin typeface="Amazon Ember Display"/>
              </a:rPr>
              <a:t>IAM GROUP: Developers</a:t>
            </a:r>
          </a:p>
        </p:txBody>
      </p:sp>
      <p:sp>
        <p:nvSpPr>
          <p:cNvPr id="7" name="Rounded Rectangle 6"/>
          <p:cNvSpPr/>
          <p:nvPr/>
        </p:nvSpPr>
        <p:spPr>
          <a:xfrm>
            <a:off x="7133336" y="1810512"/>
            <a:ext cx="3234944" cy="310896"/>
          </a:xfrm>
          <a:prstGeom prst="roundRect">
            <a:avLst>
              <a:gd name="adj" fmla="val 30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Amazon Ember"/>
              </a:rPr>
              <a:t>ONE POLICY, ATTACHED HERE</a:t>
            </a:r>
          </a:p>
        </p:txBody>
      </p:sp>
      <p:sp>
        <p:nvSpPr>
          <p:cNvPr id="8" name="Rounded Rectangle 7"/>
          <p:cNvSpPr/>
          <p:nvPr/>
        </p:nvSpPr>
        <p:spPr>
          <a:xfrm>
            <a:off x="886968" y="3017520"/>
            <a:ext cx="3337560" cy="1188720"/>
          </a:xfrm>
          <a:prstGeom prst="roundRect">
            <a:avLst>
              <a:gd name="adj" fmla="val 1076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Res_User_48_Light.png"/>
          <p:cNvPicPr>
            <a:picLocks noChangeAspect="1"/>
          </p:cNvPicPr>
          <p:nvPr/>
        </p:nvPicPr>
        <p:blipFill>
          <a:blip r:embed="rId4"/>
          <a:stretch>
            <a:fillRect/>
          </a:stretch>
        </p:blipFill>
        <p:spPr>
          <a:xfrm>
            <a:off x="941831" y="3383279"/>
            <a:ext cx="457200" cy="457200"/>
          </a:xfrm>
          <a:prstGeom prst="rect">
            <a:avLst/>
          </a:prstGeom>
        </p:spPr>
      </p:pic>
      <p:sp>
        <p:nvSpPr>
          <p:cNvPr id="10" name="TextBox 9"/>
          <p:cNvSpPr txBox="1"/>
          <p:nvPr/>
        </p:nvSpPr>
        <p:spPr>
          <a:xfrm>
            <a:off x="1472184" y="3300984"/>
            <a:ext cx="2624327" cy="292608"/>
          </a:xfrm>
          <a:prstGeom prst="rect">
            <a:avLst/>
          </a:prstGeom>
          <a:noFill/>
        </p:spPr>
        <p:txBody>
          <a:bodyPr wrap="square" anchor="ctr">
            <a:noAutofit/>
          </a:bodyPr>
          <a:lstStyle/>
          <a:p>
            <a:pPr algn="l"/>
            <a:r>
              <a:rPr sz="1600" b="1" i="0">
                <a:solidFill>
                  <a:srgbClr val="8F0072"/>
                </a:solidFill>
                <a:latin typeface="Amazon Ember Display"/>
              </a:rPr>
              <a:t>User: Ana</a:t>
            </a:r>
          </a:p>
        </p:txBody>
      </p:sp>
      <p:sp>
        <p:nvSpPr>
          <p:cNvPr id="11" name="TextBox 10"/>
          <p:cNvSpPr txBox="1"/>
          <p:nvPr/>
        </p:nvSpPr>
        <p:spPr>
          <a:xfrm>
            <a:off x="1472184" y="3621023"/>
            <a:ext cx="2624327" cy="292608"/>
          </a:xfrm>
          <a:prstGeom prst="rect">
            <a:avLst/>
          </a:prstGeom>
          <a:noFill/>
        </p:spPr>
        <p:txBody>
          <a:bodyPr wrap="square" anchor="ctr">
            <a:noAutofit/>
          </a:bodyPr>
          <a:lstStyle/>
          <a:p>
            <a:pPr algn="l"/>
            <a:r>
              <a:rPr sz="1600" b="0" i="0">
                <a:solidFill>
                  <a:srgbClr val="232B37"/>
                </a:solidFill>
                <a:latin typeface="Amazon Ember Display"/>
              </a:rPr>
              <a:t>inherits the policy</a:t>
            </a:r>
          </a:p>
        </p:txBody>
      </p:sp>
      <p:sp>
        <p:nvSpPr>
          <p:cNvPr id="12" name="Rounded Rectangle 11"/>
          <p:cNvSpPr/>
          <p:nvPr/>
        </p:nvSpPr>
        <p:spPr>
          <a:xfrm>
            <a:off x="4425696" y="3017520"/>
            <a:ext cx="3337560" cy="1188720"/>
          </a:xfrm>
          <a:prstGeom prst="roundRect">
            <a:avLst>
              <a:gd name="adj" fmla="val 1076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Picture 12" descr="Res_User_48_Light.png"/>
          <p:cNvPicPr>
            <a:picLocks noChangeAspect="1"/>
          </p:cNvPicPr>
          <p:nvPr/>
        </p:nvPicPr>
        <p:blipFill>
          <a:blip r:embed="rId4"/>
          <a:stretch>
            <a:fillRect/>
          </a:stretch>
        </p:blipFill>
        <p:spPr>
          <a:xfrm>
            <a:off x="4480559" y="3383279"/>
            <a:ext cx="457200" cy="457200"/>
          </a:xfrm>
          <a:prstGeom prst="rect">
            <a:avLst/>
          </a:prstGeom>
        </p:spPr>
      </p:pic>
      <p:sp>
        <p:nvSpPr>
          <p:cNvPr id="14" name="TextBox 13"/>
          <p:cNvSpPr txBox="1"/>
          <p:nvPr/>
        </p:nvSpPr>
        <p:spPr>
          <a:xfrm>
            <a:off x="5010912" y="3300984"/>
            <a:ext cx="2624327" cy="292608"/>
          </a:xfrm>
          <a:prstGeom prst="rect">
            <a:avLst/>
          </a:prstGeom>
          <a:noFill/>
        </p:spPr>
        <p:txBody>
          <a:bodyPr wrap="square" anchor="ctr">
            <a:noAutofit/>
          </a:bodyPr>
          <a:lstStyle/>
          <a:p>
            <a:pPr algn="l"/>
            <a:r>
              <a:rPr sz="1600" b="1" i="0">
                <a:solidFill>
                  <a:srgbClr val="8F0072"/>
                </a:solidFill>
                <a:latin typeface="Amazon Ember Display"/>
              </a:rPr>
              <a:t>User: Ben</a:t>
            </a:r>
          </a:p>
        </p:txBody>
      </p:sp>
      <p:sp>
        <p:nvSpPr>
          <p:cNvPr id="15" name="TextBox 14"/>
          <p:cNvSpPr txBox="1"/>
          <p:nvPr/>
        </p:nvSpPr>
        <p:spPr>
          <a:xfrm>
            <a:off x="5010912" y="3621023"/>
            <a:ext cx="2624327" cy="292608"/>
          </a:xfrm>
          <a:prstGeom prst="rect">
            <a:avLst/>
          </a:prstGeom>
          <a:noFill/>
        </p:spPr>
        <p:txBody>
          <a:bodyPr wrap="square" anchor="ctr">
            <a:noAutofit/>
          </a:bodyPr>
          <a:lstStyle/>
          <a:p>
            <a:pPr algn="l"/>
            <a:r>
              <a:rPr sz="1600" b="0" i="0">
                <a:solidFill>
                  <a:srgbClr val="232B37"/>
                </a:solidFill>
                <a:latin typeface="Amazon Ember Display"/>
              </a:rPr>
              <a:t>inherits the policy</a:t>
            </a:r>
          </a:p>
        </p:txBody>
      </p:sp>
      <p:sp>
        <p:nvSpPr>
          <p:cNvPr id="16" name="Rounded Rectangle 15"/>
          <p:cNvSpPr/>
          <p:nvPr/>
        </p:nvSpPr>
        <p:spPr>
          <a:xfrm>
            <a:off x="7973568" y="3017520"/>
            <a:ext cx="3337560" cy="1188720"/>
          </a:xfrm>
          <a:prstGeom prst="roundRect">
            <a:avLst>
              <a:gd name="adj" fmla="val 10769"/>
            </a:avLst>
          </a:prstGeom>
          <a:solidFill>
            <a:srgbClr val="FFF5FE"/>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Res_User_48_Light.png"/>
          <p:cNvPicPr>
            <a:picLocks noChangeAspect="1"/>
          </p:cNvPicPr>
          <p:nvPr/>
        </p:nvPicPr>
        <p:blipFill>
          <a:blip r:embed="rId4"/>
          <a:stretch>
            <a:fillRect/>
          </a:stretch>
        </p:blipFill>
        <p:spPr>
          <a:xfrm>
            <a:off x="8028432" y="3383279"/>
            <a:ext cx="457200" cy="457200"/>
          </a:xfrm>
          <a:prstGeom prst="rect">
            <a:avLst/>
          </a:prstGeom>
        </p:spPr>
      </p:pic>
      <p:sp>
        <p:nvSpPr>
          <p:cNvPr id="18" name="TextBox 17"/>
          <p:cNvSpPr txBox="1"/>
          <p:nvPr/>
        </p:nvSpPr>
        <p:spPr>
          <a:xfrm>
            <a:off x="8558784" y="3300984"/>
            <a:ext cx="2624328" cy="292608"/>
          </a:xfrm>
          <a:prstGeom prst="rect">
            <a:avLst/>
          </a:prstGeom>
          <a:noFill/>
        </p:spPr>
        <p:txBody>
          <a:bodyPr wrap="square" anchor="ctr">
            <a:noAutofit/>
          </a:bodyPr>
          <a:lstStyle/>
          <a:p>
            <a:pPr algn="l"/>
            <a:r>
              <a:rPr sz="1600" b="1" i="0">
                <a:solidFill>
                  <a:srgbClr val="8F0072"/>
                </a:solidFill>
                <a:latin typeface="Amazon Ember Display"/>
              </a:rPr>
              <a:t>User: Chandra</a:t>
            </a:r>
          </a:p>
        </p:txBody>
      </p:sp>
      <p:sp>
        <p:nvSpPr>
          <p:cNvPr id="19" name="TextBox 18"/>
          <p:cNvSpPr txBox="1"/>
          <p:nvPr/>
        </p:nvSpPr>
        <p:spPr>
          <a:xfrm>
            <a:off x="8558784" y="3621023"/>
            <a:ext cx="2624328" cy="292608"/>
          </a:xfrm>
          <a:prstGeom prst="rect">
            <a:avLst/>
          </a:prstGeom>
          <a:noFill/>
        </p:spPr>
        <p:txBody>
          <a:bodyPr wrap="square" anchor="ctr">
            <a:noAutofit/>
          </a:bodyPr>
          <a:lstStyle/>
          <a:p>
            <a:pPr algn="l"/>
            <a:r>
              <a:rPr sz="1600" b="0" i="0">
                <a:solidFill>
                  <a:srgbClr val="232B37"/>
                </a:solidFill>
                <a:latin typeface="Amazon Ember Display"/>
              </a:rPr>
              <a:t>inherits the policy</a:t>
            </a:r>
          </a:p>
        </p:txBody>
      </p:sp>
      <p:sp>
        <p:nvSpPr>
          <p:cNvPr id="20" name="TextBox 19">
            <a:hlinkClick r:id="rId5"/>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IAM user groups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A role grants temporary permissions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IAM roles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What are they?</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Like a user, but no long-term keys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 principal assumes the role</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Grants temporary permissions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When to use them</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One service accesses another</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Cross-account access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Federated or web identity sign-in</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STS hands out temporary credentials in order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645920"/>
            <a:ext cx="3291840" cy="914400"/>
          </a:xfrm>
          <a:prstGeom prst="roundRect">
            <a:avLst>
              <a:gd name="adj" fmla="val 14000"/>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Picture 4" descr="Res_Generic-Application_48_Light.png"/>
          <p:cNvPicPr>
            <a:picLocks noChangeAspect="1"/>
          </p:cNvPicPr>
          <p:nvPr/>
        </p:nvPicPr>
        <p:blipFill>
          <a:blip r:embed="rId3"/>
          <a:stretch>
            <a:fillRect/>
          </a:stretch>
        </p:blipFill>
        <p:spPr>
          <a:xfrm>
            <a:off x="667512" y="1874519"/>
            <a:ext cx="457200" cy="457200"/>
          </a:xfrm>
          <a:prstGeom prst="rect">
            <a:avLst/>
          </a:prstGeom>
        </p:spPr>
      </p:pic>
      <p:sp>
        <p:nvSpPr>
          <p:cNvPr id="6" name="TextBox 5"/>
          <p:cNvSpPr txBox="1"/>
          <p:nvPr/>
        </p:nvSpPr>
        <p:spPr>
          <a:xfrm>
            <a:off x="1197864" y="1956815"/>
            <a:ext cx="2578608" cy="292608"/>
          </a:xfrm>
          <a:prstGeom prst="rect">
            <a:avLst/>
          </a:prstGeom>
          <a:noFill/>
        </p:spPr>
        <p:txBody>
          <a:bodyPr wrap="square" anchor="ctr">
            <a:noAutofit/>
          </a:bodyPr>
          <a:lstStyle/>
          <a:p>
            <a:pPr algn="l"/>
            <a:r>
              <a:rPr sz="1600" b="1" i="0">
                <a:solidFill>
                  <a:srgbClr val="8F0072"/>
                </a:solidFill>
                <a:latin typeface="Amazon Ember Display"/>
              </a:rPr>
              <a:t>Your application</a:t>
            </a:r>
          </a:p>
        </p:txBody>
      </p:sp>
      <p:sp>
        <p:nvSpPr>
          <p:cNvPr id="7" name="Rounded Rectangle 6"/>
          <p:cNvSpPr/>
          <p:nvPr/>
        </p:nvSpPr>
        <p:spPr>
          <a:xfrm>
            <a:off x="8287207" y="1645920"/>
            <a:ext cx="3291840" cy="914400"/>
          </a:xfrm>
          <a:prstGeom prst="roundRect">
            <a:avLst>
              <a:gd name="adj" fmla="val 14000"/>
            </a:avLst>
          </a:prstGeom>
          <a:solidFill>
            <a:srgbClr val="FFF5FE"/>
          </a:solidFill>
          <a:ln w="444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Picture 7" descr="Res_AWS-Identity-Access-Management_AWS-STS_48.png"/>
          <p:cNvPicPr>
            <a:picLocks noChangeAspect="1"/>
          </p:cNvPicPr>
          <p:nvPr/>
        </p:nvPicPr>
        <p:blipFill>
          <a:blip r:embed="rId4"/>
          <a:stretch>
            <a:fillRect/>
          </a:stretch>
        </p:blipFill>
        <p:spPr>
          <a:xfrm>
            <a:off x="8342071" y="1874519"/>
            <a:ext cx="457200" cy="457200"/>
          </a:xfrm>
          <a:prstGeom prst="rect">
            <a:avLst/>
          </a:prstGeom>
        </p:spPr>
      </p:pic>
      <p:sp>
        <p:nvSpPr>
          <p:cNvPr id="9" name="TextBox 8"/>
          <p:cNvSpPr txBox="1"/>
          <p:nvPr/>
        </p:nvSpPr>
        <p:spPr>
          <a:xfrm>
            <a:off x="8872423" y="1956815"/>
            <a:ext cx="2578608" cy="292608"/>
          </a:xfrm>
          <a:prstGeom prst="rect">
            <a:avLst/>
          </a:prstGeom>
          <a:noFill/>
        </p:spPr>
        <p:txBody>
          <a:bodyPr wrap="square" anchor="ctr">
            <a:noAutofit/>
          </a:bodyPr>
          <a:lstStyle/>
          <a:p>
            <a:pPr algn="l"/>
            <a:r>
              <a:rPr sz="1600" b="1" i="0">
                <a:solidFill>
                  <a:srgbClr val="8F0072"/>
                </a:solidFill>
                <a:latin typeface="Amazon Ember Display"/>
              </a:rPr>
              <a:t>AWS STS</a:t>
            </a:r>
          </a:p>
        </p:txBody>
      </p:sp>
      <p:sp>
        <p:nvSpPr>
          <p:cNvPr id="10" name="Freeform 9"/>
          <p:cNvSpPr/>
          <p:nvPr/>
        </p:nvSpPr>
        <p:spPr>
          <a:xfrm>
            <a:off x="2258568" y="2743200"/>
            <a:ext cx="0" cy="2788920"/>
          </a:xfrm>
          <a:custGeom>
            <a:avLst/>
            <a:gdLst/>
            <a:ahLst/>
            <a:cxnLst/>
            <a:rect l="l" t="t" r="r" b="b"/>
            <a:pathLst>
              <a:path h="2788920">
                <a:moveTo>
                  <a:pt x="0" y="0"/>
                </a:moveTo>
                <a:lnTo>
                  <a:pt x="0" y="2788920"/>
                </a:lnTo>
              </a:path>
            </a:pathLst>
          </a:custGeom>
          <a:noFill/>
          <a:ln w="1905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Freeform 10"/>
          <p:cNvSpPr/>
          <p:nvPr/>
        </p:nvSpPr>
        <p:spPr>
          <a:xfrm>
            <a:off x="9933127" y="2743200"/>
            <a:ext cx="0" cy="2788920"/>
          </a:xfrm>
          <a:custGeom>
            <a:avLst/>
            <a:gdLst/>
            <a:ahLst/>
            <a:cxnLst/>
            <a:rect l="l" t="t" r="r" b="b"/>
            <a:pathLst>
              <a:path h="2788920">
                <a:moveTo>
                  <a:pt x="0" y="0"/>
                </a:moveTo>
                <a:lnTo>
                  <a:pt x="0" y="2788920"/>
                </a:lnTo>
              </a:path>
            </a:pathLst>
          </a:custGeom>
          <a:noFill/>
          <a:ln w="19050" cap="rnd">
            <a:solidFill>
              <a:srgbClr val="5A6B7B"/>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386584" y="3054096"/>
            <a:ext cx="7418527" cy="292608"/>
          </a:xfrm>
          <a:prstGeom prst="rect">
            <a:avLst/>
          </a:prstGeom>
          <a:noFill/>
        </p:spPr>
        <p:txBody>
          <a:bodyPr wrap="square" anchor="ctr">
            <a:noAutofit/>
          </a:bodyPr>
          <a:lstStyle/>
          <a:p>
            <a:pPr algn="l"/>
            <a:r>
              <a:rPr sz="1600" b="0" i="0">
                <a:solidFill>
                  <a:srgbClr val="232B37"/>
                </a:solidFill>
                <a:latin typeface="Amazon Ember Display"/>
              </a:rPr>
              <a:t>1.  ask to assume a role</a:t>
            </a:r>
          </a:p>
        </p:txBody>
      </p:sp>
      <p:sp>
        <p:nvSpPr>
          <p:cNvPr id="13" name="Freeform 12"/>
          <p:cNvSpPr/>
          <p:nvPr/>
        </p:nvSpPr>
        <p:spPr>
          <a:xfrm>
            <a:off x="2295144" y="3456432"/>
            <a:ext cx="7583119" cy="0"/>
          </a:xfrm>
          <a:custGeom>
            <a:avLst/>
            <a:gdLst/>
            <a:ahLst/>
            <a:cxnLst/>
            <a:rect l="l" t="t" r="r" b="b"/>
            <a:pathLst>
              <a:path w="7583119">
                <a:moveTo>
                  <a:pt x="0" y="0"/>
                </a:moveTo>
                <a:lnTo>
                  <a:pt x="7583119"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Freeform 13"/>
          <p:cNvSpPr/>
          <p:nvPr/>
        </p:nvSpPr>
        <p:spPr>
          <a:xfrm>
            <a:off x="9704527" y="3337560"/>
            <a:ext cx="192024" cy="237743"/>
          </a:xfrm>
          <a:custGeom>
            <a:avLst/>
            <a:gdLst/>
            <a:ahLst/>
            <a:cxnLst/>
            <a:rect l="l" t="t" r="r" b="b"/>
            <a:pathLst>
              <a:path w="192024" h="237743">
                <a:moveTo>
                  <a:pt x="0" y="0"/>
                </a:moveTo>
                <a:lnTo>
                  <a:pt x="192024" y="118872"/>
                </a:lnTo>
                <a:lnTo>
                  <a:pt x="0" y="237743"/>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86584" y="3877056"/>
            <a:ext cx="7418527" cy="292608"/>
          </a:xfrm>
          <a:prstGeom prst="rect">
            <a:avLst/>
          </a:prstGeom>
          <a:noFill/>
        </p:spPr>
        <p:txBody>
          <a:bodyPr wrap="square" anchor="ctr">
            <a:noAutofit/>
          </a:bodyPr>
          <a:lstStyle/>
          <a:p>
            <a:pPr algn="l"/>
            <a:r>
              <a:rPr sz="1600" b="0" i="0">
                <a:solidFill>
                  <a:srgbClr val="232B37"/>
                </a:solidFill>
                <a:latin typeface="Amazon Ember Display"/>
              </a:rPr>
              <a:t>2.  return short-lived credentials</a:t>
            </a:r>
          </a:p>
        </p:txBody>
      </p:sp>
      <p:sp>
        <p:nvSpPr>
          <p:cNvPr id="16" name="Freeform 15"/>
          <p:cNvSpPr/>
          <p:nvPr/>
        </p:nvSpPr>
        <p:spPr>
          <a:xfrm>
            <a:off x="2313432" y="4279392"/>
            <a:ext cx="7583119" cy="0"/>
          </a:xfrm>
          <a:custGeom>
            <a:avLst/>
            <a:gdLst/>
            <a:ahLst/>
            <a:cxnLst/>
            <a:rect l="l" t="t" r="r" b="b"/>
            <a:pathLst>
              <a:path w="7583119">
                <a:moveTo>
                  <a:pt x="7583119" y="0"/>
                </a:moveTo>
                <a:lnTo>
                  <a:pt x="0"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p:cNvSpPr/>
          <p:nvPr/>
        </p:nvSpPr>
        <p:spPr>
          <a:xfrm>
            <a:off x="2295144" y="4160520"/>
            <a:ext cx="192024" cy="237744"/>
          </a:xfrm>
          <a:custGeom>
            <a:avLst/>
            <a:gdLst/>
            <a:ahLst/>
            <a:cxnLst/>
            <a:rect l="l" t="t" r="r" b="b"/>
            <a:pathLst>
              <a:path w="192024" h="237744">
                <a:moveTo>
                  <a:pt x="192024" y="0"/>
                </a:moveTo>
                <a:lnTo>
                  <a:pt x="0" y="118872"/>
                </a:lnTo>
                <a:lnTo>
                  <a:pt x="192024"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86584" y="4700016"/>
            <a:ext cx="7418527" cy="292608"/>
          </a:xfrm>
          <a:prstGeom prst="rect">
            <a:avLst/>
          </a:prstGeom>
          <a:noFill/>
        </p:spPr>
        <p:txBody>
          <a:bodyPr wrap="square" anchor="ctr">
            <a:noAutofit/>
          </a:bodyPr>
          <a:lstStyle/>
          <a:p>
            <a:pPr algn="l"/>
            <a:r>
              <a:rPr sz="1600" b="0" i="0">
                <a:solidFill>
                  <a:srgbClr val="232B37"/>
                </a:solidFill>
                <a:latin typeface="Amazon Ember Display"/>
              </a:rPr>
              <a:t>3.  call the service with those credentials</a:t>
            </a:r>
          </a:p>
        </p:txBody>
      </p:sp>
      <p:sp>
        <p:nvSpPr>
          <p:cNvPr id="19" name="Freeform 18"/>
          <p:cNvSpPr/>
          <p:nvPr/>
        </p:nvSpPr>
        <p:spPr>
          <a:xfrm>
            <a:off x="2295144" y="5102352"/>
            <a:ext cx="7583119" cy="0"/>
          </a:xfrm>
          <a:custGeom>
            <a:avLst/>
            <a:gdLst/>
            <a:ahLst/>
            <a:cxnLst/>
            <a:rect l="l" t="t" r="r" b="b"/>
            <a:pathLst>
              <a:path w="7583119">
                <a:moveTo>
                  <a:pt x="0" y="0"/>
                </a:moveTo>
                <a:lnTo>
                  <a:pt x="7583119" y="0"/>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reeform 19"/>
          <p:cNvSpPr/>
          <p:nvPr/>
        </p:nvSpPr>
        <p:spPr>
          <a:xfrm>
            <a:off x="9704527" y="4983480"/>
            <a:ext cx="192024" cy="237744"/>
          </a:xfrm>
          <a:custGeom>
            <a:avLst/>
            <a:gdLst/>
            <a:ahLst/>
            <a:cxnLst/>
            <a:rect l="l" t="t" r="r" b="b"/>
            <a:pathLst>
              <a:path w="192024" h="237744">
                <a:moveTo>
                  <a:pt x="0" y="0"/>
                </a:moveTo>
                <a:lnTo>
                  <a:pt x="192024" y="118872"/>
                </a:lnTo>
                <a:lnTo>
                  <a:pt x="0" y="237744"/>
                </a:lnTo>
              </a:path>
            </a:pathLst>
          </a:custGeom>
          <a:noFill/>
          <a:ln w="31750" cap="rnd">
            <a:solidFill>
              <a:srgbClr val="D600BA"/>
            </a:solidFill>
            <a:roun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386584" y="5541264"/>
            <a:ext cx="7418527" cy="274320"/>
          </a:xfrm>
          <a:prstGeom prst="rect">
            <a:avLst/>
          </a:prstGeom>
          <a:noFill/>
        </p:spPr>
        <p:txBody>
          <a:bodyPr wrap="square" anchor="t">
            <a:noAutofit/>
          </a:bodyPr>
          <a:lstStyle/>
          <a:p>
            <a:pPr algn="l"/>
            <a:r>
              <a:rPr sz="1600" b="0" i="0">
                <a:solidFill>
                  <a:srgbClr val="5A6B7B"/>
                </a:solidFill>
                <a:latin typeface="Amazon Ember Display"/>
              </a:rPr>
              <a:t>the credentials expire on their own</a:t>
            </a:r>
          </a:p>
        </p:txBody>
      </p:sp>
      <p:sp>
        <p:nvSpPr>
          <p:cNvPr id="22" name="TextBox 21">
            <a:hlinkClick r:id="rId5"/>
          </p:cNvPr>
          <p:cNvSpPr txBox="1"/>
          <p:nvPr/>
        </p:nvSpPr>
        <p:spPr>
          <a:xfrm>
            <a:off x="612648" y="5943600"/>
            <a:ext cx="565212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5"/>
              </a:rPr>
              <a:t>docs.aws.amazon.com · Temporary security credentials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Identity policies and resource policies differ</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6579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Policies and permissions in AWS Identity…</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Identity-based policy</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Attached to a user, group, or role</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Says what that identity may do</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The most common policy type</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Resource-based policy</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Attached to the resource itself</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Says which principal may access</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e.g. an S3 bucket policy</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Read a policy statement one element at a time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6657962"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Policies and permissions in AWS Identity…</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The parts of a statement</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Effect - Allow or Deny</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Action - which API calls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Resource - which ARNs</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Reading it in practice</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Condition - when it applies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Match the request to the rule</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Interpret policies, don't memorize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Conditions can grant access when tags match</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ABAC authorization</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Conditions on tags</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Rules can test resource tags</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and the principal's own tags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Access when the tags match</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Why it matters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One policy scales to many resources</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Grant by attribute, not by name</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e.g. Department must equal Data</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When flow logs stop, suspect the role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VPC Flow Logs</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Situation</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Flow log records incomplete</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Not delivered to CloudWatch Logs</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Something is blocking publication</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Likely causes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Flow log IAM role lacks permission</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Throttled if record rate is high</a:t>
            </a:r>
          </a:p>
        </p:txBody>
      </p:sp>
      <p:sp>
        <p:nvSpPr>
          <p:cNvPr id="21" name="Rounded Rectangle 20"/>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Fix the role's publish permission</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Let's break down what you learned</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EXAM STRATEGY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Session state across instances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runs a web application on Amazon EC2 instances behind an Application Load Balancer (ALB). The application stores session data in memory on each instance. Users report that they lose their session state when the ALB routes them to a different instance during peak traffic.</a:t>
            </a:r>
          </a:p>
          <a:p>
            <a:r>
              <a:rPr sz="1600" b="1">
                <a:solidFill>
                  <a:srgbClr val="232B37"/>
                </a:solidFill>
                <a:latin typeface="Amazon Ember Display"/>
              </a:rPr>
              <a:t>The developer needs to implement a solution that maintains session state across all instances with the LEAST latency.</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Store session data in an Amazon DynamoDB table. Configure the application to read and write session data to DynamoDB.</a:t>
            </a:r>
          </a:p>
          <a:p>
            <a:pPr marL="342900" indent="-342900">
              <a:spcBef>
                <a:spcPts val="600"/>
              </a:spcBef>
            </a:pPr>
            <a:r>
              <a:rPr sz="1600" b="0">
                <a:solidFill>
                  <a:srgbClr val="232B37"/>
                </a:solidFill>
                <a:latin typeface="Amazon Ember Display"/>
              </a:rPr>
              <a:t>B.  Store session data in Amazon ElastiCache. Configure the application to read and write session data to the ElastiCache cluster.</a:t>
            </a:r>
          </a:p>
          <a:p>
            <a:pPr marL="342900" indent="-342900">
              <a:spcBef>
                <a:spcPts val="600"/>
              </a:spcBef>
            </a:pPr>
            <a:r>
              <a:rPr sz="1600" b="0">
                <a:solidFill>
                  <a:srgbClr val="232B37"/>
                </a:solidFill>
                <a:latin typeface="Amazon Ember Display"/>
              </a:rPr>
              <a:t>C.  Enable sticky sessions on the ALB target group. Configure the session cookie duration to match the application timeout.</a:t>
            </a:r>
          </a:p>
          <a:p>
            <a:pPr marL="342900" indent="-342900">
              <a:spcBef>
                <a:spcPts val="600"/>
              </a:spcBef>
            </a:pPr>
            <a:r>
              <a:rPr sz="1600" b="0">
                <a:solidFill>
                  <a:srgbClr val="232B37"/>
                </a:solidFill>
                <a:latin typeface="Amazon Ember Display"/>
              </a:rPr>
              <a:t>D.  Store session data in an Amazon S3 bucket. Configure the application to read and write session data to S3 on each request.</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Session state across instances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runs a web application on Amazon EC2 instances behind an Application Load Balancer (ALB). The application stores session data in memory on each instance. Users report that they lose their session state when the ALB routes them to a different instance during peak traffic.</a:t>
            </a:r>
          </a:p>
          <a:p>
            <a:r>
              <a:rPr sz="1600" b="1">
                <a:solidFill>
                  <a:srgbClr val="232B37"/>
                </a:solidFill>
                <a:latin typeface="Amazon Ember Display"/>
              </a:rPr>
              <a:t>The developer needs to implement a solution that maintains session state across all instances with the LEAST latency.</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Store session data in an Amazon DynamoDB table. Configure the application to read and write session data to DynamoDB.</a:t>
            </a:r>
          </a:p>
          <a:p>
            <a:pPr marL="342900" indent="-342900">
              <a:spcBef>
                <a:spcPts val="600"/>
              </a:spcBef>
            </a:pPr>
            <a:r>
              <a:rPr sz="1600" b="0">
                <a:solidFill>
                  <a:srgbClr val="232B37"/>
                </a:solidFill>
                <a:latin typeface="Amazon Ember Display"/>
              </a:rPr>
              <a:t>B.  Store session data in Amazon ElastiCache. Configure the application to read and write session data to the ElastiCache cluster.</a:t>
            </a:r>
          </a:p>
          <a:p>
            <a:pPr marL="342900" indent="-342900">
              <a:spcBef>
                <a:spcPts val="600"/>
              </a:spcBef>
            </a:pPr>
            <a:r>
              <a:rPr sz="1600" b="0">
                <a:solidFill>
                  <a:srgbClr val="232B37"/>
                </a:solidFill>
                <a:latin typeface="Amazon Ember Display"/>
              </a:rPr>
              <a:t>C.  Enable sticky sessions on the ALB target group. Configure the session cookie duration to match the application timeout.</a:t>
            </a:r>
          </a:p>
          <a:p>
            <a:pPr marL="342900" indent="-342900">
              <a:spcBef>
                <a:spcPts val="600"/>
              </a:spcBef>
            </a:pPr>
            <a:r>
              <a:rPr sz="1600" b="0">
                <a:solidFill>
                  <a:srgbClr val="232B37"/>
                </a:solidFill>
                <a:latin typeface="Amazon Ember Display"/>
              </a:rPr>
              <a:t>D.  Store session data in an Amazon S3 bucket. Configure the application to read and write session data to S3 on each request.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Session state across instances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33425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4059936"/>
          </a:xfrm>
          <a:prstGeom prst="rect">
            <a:avLst/>
          </a:prstGeom>
          <a:noFill/>
        </p:spPr>
        <p:txBody>
          <a:bodyPr wrap="square" anchor="t">
            <a:noAutofit/>
          </a:bodyPr>
          <a:lstStyle/>
          <a:p>
            <a:r>
              <a:rPr sz="1600" b="1">
                <a:solidFill>
                  <a:srgbClr val="232B37"/>
                </a:solidFill>
                <a:latin typeface="Amazon Ember Display"/>
              </a:rPr>
              <a:t>A company runs a web application on Amazon EC2 instances behind an Application Load Balancer (ALB). The application stores session data in memory on each instance. Users report that they lose their session state when the ALB routes them to a different instance during peak traffic.</a:t>
            </a:r>
          </a:p>
          <a:p>
            <a:r>
              <a:rPr sz="1600" b="1">
                <a:solidFill>
                  <a:srgbClr val="232B37"/>
                </a:solidFill>
                <a:latin typeface="Amazon Ember Display"/>
              </a:rPr>
              <a:t>The developer needs to implement a solution that maintains session state across all instances with the LEAST latency.</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Store session data in an Amazon DynamoDB table. Configure the application to read and write session data to DynamoDB.</a:t>
            </a:r>
          </a:p>
          <a:p>
            <a:pPr marL="342900" indent="-342900">
              <a:spcBef>
                <a:spcPts val="600"/>
              </a:spcBef>
            </a:pPr>
            <a:r>
              <a:rPr sz="1600" b="1">
                <a:solidFill>
                  <a:srgbClr val="2E7D32"/>
                </a:solidFill>
                <a:latin typeface="Amazon Ember Display"/>
              </a:rPr>
              <a:t>B.  Store session data in Amazon ElastiCache. Configure the application to read and write session data to the ElastiCache cluster.  [CORRECT]</a:t>
            </a:r>
          </a:p>
          <a:p>
            <a:pPr marL="342900" indent="-342900">
              <a:spcBef>
                <a:spcPts val="600"/>
              </a:spcBef>
            </a:pPr>
            <a:r>
              <a:rPr sz="1600" b="0">
                <a:solidFill>
                  <a:srgbClr val="232B37"/>
                </a:solidFill>
                <a:latin typeface="Amazon Ember Display"/>
              </a:rPr>
              <a:t>C.  Enable sticky sessions on the ALB target group. Configure the session cookie duration to match the application timeout.</a:t>
            </a:r>
          </a:p>
          <a:p>
            <a:pPr marL="342900" indent="-342900">
              <a:spcBef>
                <a:spcPts val="600"/>
              </a:spcBef>
            </a:pPr>
            <a:r>
              <a:rPr sz="1600" b="0">
                <a:solidFill>
                  <a:srgbClr val="232B37"/>
                </a:solidFill>
                <a:latin typeface="Amazon Ember Display"/>
              </a:rPr>
              <a:t>D.  Store session data in an Amazon S3 bucket. Configure the application to read and write session data to S3 on each request.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1: Session state across instances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Common ElastiCache Use Cases</a:t>
            </a:r>
          </a:p>
        </p:txBody>
      </p:sp>
      <p:sp>
        <p:nvSpPr>
          <p:cNvPr id="5" name="TextBox 4"/>
          <p:cNvSpPr txBox="1"/>
          <p:nvPr/>
        </p:nvSpPr>
        <p:spPr>
          <a:xfrm>
            <a:off x="612648" y="1152144"/>
            <a:ext cx="6400800" cy="274320"/>
          </a:xfrm>
          <a:prstGeom prst="rect">
            <a:avLst/>
          </a:prstGeom>
          <a:noFill/>
        </p:spPr>
        <p:txBody>
          <a:bodyPr wrap="square" anchor="t">
            <a:noAutofit/>
          </a:bodyPr>
          <a:lstStyle/>
          <a:p>
            <a:pPr algn="l"/>
            <a:r>
              <a:rPr sz="1800" b="1" i="0">
                <a:solidFill>
                  <a:srgbClr val="8F0072"/>
                </a:solidFill>
                <a:latin typeface="Amazon Ember Display"/>
              </a:rPr>
              <a:t>WHY THE ANSWER IS B</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20624"/>
          </a:xfrm>
          <a:prstGeom prst="rect">
            <a:avLst/>
          </a:prstGeom>
          <a:noFill/>
        </p:spPr>
        <p:txBody>
          <a:bodyPr wrap="square" anchor="t">
            <a:noAutofit/>
          </a:bodyPr>
          <a:lstStyle/>
          <a:p>
            <a:pPr algn="ctr"/>
            <a:r>
              <a:rPr sz="2200" b="1" i="0">
                <a:solidFill>
                  <a:srgbClr val="FFFFFF"/>
                </a:solidFill>
                <a:latin typeface="Amazon Ember Display"/>
              </a:rPr>
              <a:t>B</a:t>
            </a:r>
          </a:p>
        </p:txBody>
      </p:sp>
      <p:sp>
        <p:nvSpPr>
          <p:cNvPr id="9" name="TextBox 8"/>
          <p:cNvSpPr txBox="1"/>
          <p:nvPr/>
        </p:nvSpPr>
        <p:spPr>
          <a:xfrm>
            <a:off x="1545336" y="1572768"/>
            <a:ext cx="9784080" cy="585216"/>
          </a:xfrm>
          <a:prstGeom prst="rect">
            <a:avLst/>
          </a:prstGeom>
          <a:noFill/>
        </p:spPr>
        <p:txBody>
          <a:bodyPr wrap="square" anchor="t">
            <a:noAutofit/>
          </a:bodyPr>
          <a:lstStyle/>
          <a:p>
            <a:pPr algn="l"/>
            <a:r>
              <a:rPr sz="1700" b="1" i="0">
                <a:solidFill>
                  <a:srgbClr val="232B37"/>
                </a:solidFill>
                <a:latin typeface="Amazon Ember Display"/>
              </a:rPr>
              <a:t>Store session data in Amazon ElastiCache. Configure the application to read and write session data to the ElastiCache cluster.</a:t>
            </a:r>
          </a:p>
        </p:txBody>
      </p:sp>
      <p:sp>
        <p:nvSpPr>
          <p:cNvPr id="10" name="TextBox 9"/>
          <p:cNvSpPr txBox="1"/>
          <p:nvPr/>
        </p:nvSpPr>
        <p:spPr>
          <a:xfrm>
            <a:off x="1545336" y="2176272"/>
            <a:ext cx="9784080" cy="292608"/>
          </a:xfrm>
          <a:prstGeom prst="rect">
            <a:avLst/>
          </a:prstGeom>
          <a:noFill/>
        </p:spPr>
        <p:txBody>
          <a:bodyPr wrap="square" anchor="t">
            <a:noAutofit/>
          </a:bodyPr>
          <a:lstStyle/>
          <a:p>
            <a:pPr algn="l"/>
            <a:r>
              <a:rPr sz="1600" b="0" i="0">
                <a:solidFill>
                  <a:srgbClr val="8F0072"/>
                </a:solidFill>
                <a:latin typeface="Amazon Ember Display"/>
              </a:rPr>
              <a:t>An in-memory store all instances share, at submillisecond latency</a:t>
            </a:r>
          </a:p>
        </p:txBody>
      </p:sp>
      <p:sp>
        <p:nvSpPr>
          <p:cNvPr id="11" name="TextBox 10"/>
          <p:cNvSpPr txBox="1"/>
          <p:nvPr/>
        </p:nvSpPr>
        <p:spPr>
          <a:xfrm>
            <a:off x="612648" y="2615184"/>
            <a:ext cx="5486400" cy="256032"/>
          </a:xfrm>
          <a:prstGeom prst="rect">
            <a:avLst/>
          </a:prstGeom>
          <a:noFill/>
        </p:spPr>
        <p:txBody>
          <a:bodyPr wrap="square" anchor="t">
            <a:noAutofit/>
          </a:bodyPr>
          <a:lstStyle/>
          <a:p>
            <a:pPr algn="l"/>
            <a:r>
              <a:rPr sz="1600" b="1" i="0">
                <a:solidFill>
                  <a:srgbClr val="5A6B7B"/>
                </a:solidFill>
                <a:latin typeface="Amazon Ember Display"/>
              </a:rPr>
              <a:t>RULED OUT</a:t>
            </a:r>
          </a:p>
        </p:txBody>
      </p:sp>
      <p:sp>
        <p:nvSpPr>
          <p:cNvPr id="12" name="Rounded Rectangle 11"/>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58952" y="299008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58952" y="3008376"/>
            <a:ext cx="310896" cy="274320"/>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5" name="TextBox 14"/>
          <p:cNvSpPr txBox="1"/>
          <p:nvPr/>
        </p:nvSpPr>
        <p:spPr>
          <a:xfrm>
            <a:off x="1216152" y="3017520"/>
            <a:ext cx="10186416" cy="274320"/>
          </a:xfrm>
          <a:prstGeom prst="rect">
            <a:avLst/>
          </a:prstGeom>
          <a:noFill/>
        </p:spPr>
        <p:txBody>
          <a:bodyPr wrap="square" anchor="t">
            <a:noAutofit/>
          </a:bodyPr>
          <a:lstStyle/>
          <a:p>
            <a:pPr algn="l"/>
            <a:r>
              <a:rPr sz="1700" b="0" i="0">
                <a:solidFill>
                  <a:srgbClr val="232B37"/>
                </a:solidFill>
                <a:latin typeface="Amazon Ember Display"/>
              </a:rPr>
              <a:t>DynamoDB is shared and durable, but slower than memory</a:t>
            </a:r>
          </a:p>
        </p:txBody>
      </p:sp>
      <p:sp>
        <p:nvSpPr>
          <p:cNvPr id="16" name="Rounded Rectangle 15"/>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58952" y="358444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8952" y="3602736"/>
            <a:ext cx="310896" cy="274320"/>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9" name="TextBox 18"/>
          <p:cNvSpPr txBox="1"/>
          <p:nvPr/>
        </p:nvSpPr>
        <p:spPr>
          <a:xfrm>
            <a:off x="1216152" y="3611880"/>
            <a:ext cx="10186416" cy="274320"/>
          </a:xfrm>
          <a:prstGeom prst="rect">
            <a:avLst/>
          </a:prstGeom>
          <a:noFill/>
        </p:spPr>
        <p:txBody>
          <a:bodyPr wrap="square" anchor="t">
            <a:noAutofit/>
          </a:bodyPr>
          <a:lstStyle/>
          <a:p>
            <a:pPr algn="l"/>
            <a:r>
              <a:rPr sz="1700" b="0" i="0">
                <a:solidFill>
                  <a:srgbClr val="232B37"/>
                </a:solidFill>
                <a:latin typeface="Amazon Ember Display"/>
              </a:rPr>
              <a:t>Sticky sessions still lose state when an instance fails</a:t>
            </a:r>
          </a:p>
        </p:txBody>
      </p:sp>
      <p:sp>
        <p:nvSpPr>
          <p:cNvPr id="20" name="Rounded Rectangle 19"/>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58952" y="4178807"/>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 y="4197096"/>
            <a:ext cx="310896" cy="274320"/>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3" name="TextBox 22"/>
          <p:cNvSpPr txBox="1"/>
          <p:nvPr/>
        </p:nvSpPr>
        <p:spPr>
          <a:xfrm>
            <a:off x="1216152" y="4206240"/>
            <a:ext cx="10186416" cy="274320"/>
          </a:xfrm>
          <a:prstGeom prst="rect">
            <a:avLst/>
          </a:prstGeom>
          <a:noFill/>
        </p:spPr>
        <p:txBody>
          <a:bodyPr wrap="square" anchor="t">
            <a:noAutofit/>
          </a:bodyPr>
          <a:lstStyle/>
          <a:p>
            <a:pPr algn="l"/>
            <a:r>
              <a:rPr sz="1700" b="0" i="0">
                <a:solidFill>
                  <a:srgbClr val="232B37"/>
                </a:solidFill>
                <a:latin typeface="Amazon Ember Display"/>
              </a:rPr>
              <a:t>S3 per request adds the most latency of any option</a:t>
            </a:r>
          </a:p>
        </p:txBody>
      </p:sp>
      <p:sp>
        <p:nvSpPr>
          <p:cNvPr id="24" name="Rounded Rectangle 23"/>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0392" y="4992624"/>
            <a:ext cx="1600200" cy="274320"/>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7" name="TextBox 26"/>
          <p:cNvSpPr txBox="1"/>
          <p:nvPr/>
        </p:nvSpPr>
        <p:spPr>
          <a:xfrm>
            <a:off x="2487168" y="4828032"/>
            <a:ext cx="8823960" cy="292608"/>
          </a:xfrm>
          <a:prstGeom prst="rect">
            <a:avLst/>
          </a:prstGeom>
          <a:noFill/>
        </p:spPr>
        <p:txBody>
          <a:bodyPr wrap="square" anchor="t">
            <a:noAutofit/>
          </a:bodyPr>
          <a:lstStyle/>
          <a:p>
            <a:pPr algn="l"/>
            <a:r>
              <a:rPr sz="1700" b="1" i="0">
                <a:solidFill>
                  <a:srgbClr val="8F0072"/>
                </a:solidFill>
                <a:latin typeface="Amazon Ember Display"/>
              </a:rPr>
              <a:t>“maintains session state across all instances with the LEAST latency”</a:t>
            </a:r>
          </a:p>
        </p:txBody>
      </p:sp>
      <p:sp>
        <p:nvSpPr>
          <p:cNvPr id="28" name="TextBox 27"/>
          <p:cNvSpPr txBox="1"/>
          <p:nvPr/>
        </p:nvSpPr>
        <p:spPr>
          <a:xfrm>
            <a:off x="2487168" y="5175504"/>
            <a:ext cx="8823960" cy="292608"/>
          </a:xfrm>
          <a:prstGeom prst="rect">
            <a:avLst/>
          </a:prstGeom>
          <a:noFill/>
        </p:spPr>
        <p:txBody>
          <a:bodyPr wrap="square" anchor="t">
            <a:noAutofit/>
          </a:bodyPr>
          <a:lstStyle/>
          <a:p>
            <a:pPr algn="l"/>
            <a:r>
              <a:rPr sz="1700" b="0" i="0">
                <a:solidFill>
                  <a:srgbClr val="232B37"/>
                </a:solidFill>
                <a:latin typeface="Amazon Ember Display"/>
              </a:rPr>
              <a:t>→  A shared external store optimized for speed points to an in-memory cache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Private service-to-service on ECS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086453"/>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812133"/>
          </a:xfrm>
          <a:prstGeom prst="rect">
            <a:avLst/>
          </a:prstGeom>
          <a:noFill/>
        </p:spPr>
        <p:txBody>
          <a:bodyPr wrap="square" anchor="t">
            <a:noAutofit/>
          </a:bodyPr>
          <a:lstStyle/>
          <a:p>
            <a:r>
              <a:rPr sz="1600" b="1" dirty="0">
                <a:solidFill>
                  <a:srgbClr val="232B37"/>
                </a:solidFill>
                <a:latin typeface="Amazon Ember Display"/>
              </a:rPr>
              <a:t>A company deploys containerized microservices on Amazon ECS with the AWS Fargate launch type. The services call one another through internal APIs. A security review requires that all traffic between the services stay inside the VPC and never traverse the public internet.</a:t>
            </a:r>
          </a:p>
          <a:p>
            <a:r>
              <a:rPr sz="1600" b="1" dirty="0">
                <a:solidFill>
                  <a:srgbClr val="232B37"/>
                </a:solidFill>
                <a:latin typeface="Amazon Ember Display"/>
              </a:rPr>
              <a:t>The developer must configure the services so that they can reach each other privately.</a:t>
            </a:r>
          </a:p>
          <a:p>
            <a:r>
              <a:rPr sz="1600" b="1" dirty="0">
                <a:solidFill>
                  <a:srgbClr val="232B37"/>
                </a:solidFill>
                <a:latin typeface="Amazon Ember Display"/>
              </a:rPr>
              <a:t>Which solution will meet these requirements?</a:t>
            </a:r>
          </a:p>
          <a:p>
            <a:endParaRPr sz="1600" b="1" dirty="0">
              <a:solidFill>
                <a:srgbClr val="232B37"/>
              </a:solidFill>
              <a:latin typeface="Amazon Ember Display"/>
            </a:endParaRPr>
          </a:p>
          <a:p>
            <a:pPr marL="342900" indent="-342900">
              <a:spcBef>
                <a:spcPts val="600"/>
              </a:spcBef>
            </a:pPr>
            <a:r>
              <a:rPr sz="1600" b="0" dirty="0">
                <a:solidFill>
                  <a:srgbClr val="232B37"/>
                </a:solidFill>
                <a:latin typeface="Amazon Ember Display"/>
              </a:rPr>
              <a:t>A.  Deploy the tasks in public subnets with public IP addresses, and restrict the security groups to the service ports.</a:t>
            </a:r>
          </a:p>
          <a:p>
            <a:pPr marL="342900" indent="-342900">
              <a:spcBef>
                <a:spcPts val="600"/>
              </a:spcBef>
            </a:pPr>
            <a:r>
              <a:rPr sz="1600" b="0" dirty="0">
                <a:solidFill>
                  <a:srgbClr val="232B37"/>
                </a:solidFill>
                <a:latin typeface="Amazon Ember Display"/>
              </a:rPr>
              <a:t>B.  Deploy the tasks in private subnets, and place an internet-facing Application Load Balancer in the public subnets.</a:t>
            </a:r>
          </a:p>
          <a:p>
            <a:pPr marL="342900" indent="-342900">
              <a:spcBef>
                <a:spcPts val="600"/>
              </a:spcBef>
            </a:pPr>
            <a:r>
              <a:rPr sz="1600" b="0" dirty="0">
                <a:solidFill>
                  <a:srgbClr val="232B37"/>
                </a:solidFill>
                <a:latin typeface="Amazon Ember Display"/>
              </a:rPr>
              <a:t>C.  Deploy the tasks in private subnets, and place an internal Application Load Balancer in the same private subnets.</a:t>
            </a:r>
          </a:p>
          <a:p>
            <a:pPr marL="342900" indent="-342900">
              <a:spcBef>
                <a:spcPts val="600"/>
              </a:spcBef>
            </a:pPr>
            <a:r>
              <a:rPr sz="1600" b="0" dirty="0">
                <a:solidFill>
                  <a:srgbClr val="232B37"/>
                </a:solidFill>
                <a:latin typeface="Amazon Ember Display"/>
              </a:rPr>
              <a:t>D.  Deploy the tasks in public subnets, and route the traffic between the services through a NAT gateway.</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Private service-to-service on ECS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086453"/>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812133"/>
          </a:xfrm>
          <a:prstGeom prst="rect">
            <a:avLst/>
          </a:prstGeom>
          <a:noFill/>
        </p:spPr>
        <p:txBody>
          <a:bodyPr wrap="square" anchor="t">
            <a:noAutofit/>
          </a:bodyPr>
          <a:lstStyle/>
          <a:p>
            <a:r>
              <a:rPr sz="1600" b="1">
                <a:solidFill>
                  <a:srgbClr val="232B37"/>
                </a:solidFill>
                <a:latin typeface="Amazon Ember Display"/>
              </a:rPr>
              <a:t>A company deploys containerized microservices on Amazon ECS with the AWS Fargate launch type. The services call one another through internal APIs. A security review requires that all traffic between the services stay inside the VPC and never traverse the public internet.</a:t>
            </a:r>
          </a:p>
          <a:p>
            <a:r>
              <a:rPr sz="1600" b="1">
                <a:solidFill>
                  <a:srgbClr val="232B37"/>
                </a:solidFill>
                <a:latin typeface="Amazon Ember Display"/>
              </a:rPr>
              <a:t>The developer must configure the services so that they can reach each other privately.</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Deploy the tasks in public subnets with public IP addresses, and restrict the security groups to the service ports.</a:t>
            </a:r>
          </a:p>
          <a:p>
            <a:pPr marL="342900" indent="-342900">
              <a:spcBef>
                <a:spcPts val="600"/>
              </a:spcBef>
            </a:pPr>
            <a:r>
              <a:rPr sz="1600" b="0">
                <a:solidFill>
                  <a:srgbClr val="232B37"/>
                </a:solidFill>
                <a:latin typeface="Amazon Ember Display"/>
              </a:rPr>
              <a:t>B.  Deploy the tasks in private subnets, and place an internet-facing Application Load Balancer in the public subnets.</a:t>
            </a:r>
          </a:p>
          <a:p>
            <a:pPr marL="342900" indent="-342900">
              <a:spcBef>
                <a:spcPts val="600"/>
              </a:spcBef>
            </a:pPr>
            <a:r>
              <a:rPr sz="1600" b="0">
                <a:solidFill>
                  <a:srgbClr val="232B37"/>
                </a:solidFill>
                <a:latin typeface="Amazon Ember Display"/>
              </a:rPr>
              <a:t>C.  Deploy the tasks in private subnets, and place an internal Application Load Balancer in the same private subnets.</a:t>
            </a:r>
          </a:p>
          <a:p>
            <a:pPr marL="342900" indent="-342900">
              <a:spcBef>
                <a:spcPts val="600"/>
              </a:spcBef>
            </a:pPr>
            <a:r>
              <a:rPr sz="1600" b="0">
                <a:solidFill>
                  <a:srgbClr val="232B37"/>
                </a:solidFill>
                <a:latin typeface="Amazon Ember Display"/>
              </a:rPr>
              <a:t>D.  Deploy the tasks in public subnets, and route the traffic between the services through a NAT gateway.</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Private service-to-service on ECS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086453"/>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812133"/>
          </a:xfrm>
          <a:prstGeom prst="rect">
            <a:avLst/>
          </a:prstGeom>
          <a:noFill/>
        </p:spPr>
        <p:txBody>
          <a:bodyPr wrap="square" anchor="t">
            <a:noAutofit/>
          </a:bodyPr>
          <a:lstStyle/>
          <a:p>
            <a:r>
              <a:rPr sz="1600" b="1">
                <a:solidFill>
                  <a:srgbClr val="232B37"/>
                </a:solidFill>
                <a:latin typeface="Amazon Ember Display"/>
              </a:rPr>
              <a:t>A company deploys containerized microservices on Amazon ECS with the AWS Fargate launch type. The services call one another through internal APIs. A security review requires that all traffic between the services stay inside the VPC and never traverse the public internet.</a:t>
            </a:r>
          </a:p>
          <a:p>
            <a:r>
              <a:rPr sz="1600" b="1">
                <a:solidFill>
                  <a:srgbClr val="232B37"/>
                </a:solidFill>
                <a:latin typeface="Amazon Ember Display"/>
              </a:rPr>
              <a:t>The developer must configure the services so that they can reach each other privately.</a:t>
            </a:r>
          </a:p>
          <a:p>
            <a:r>
              <a:rPr sz="1600" b="1">
                <a:solidFill>
                  <a:srgbClr val="232B37"/>
                </a:solidFill>
                <a:latin typeface="Amazon Ember Display"/>
              </a:rPr>
              <a:t>Which solution will meet these requirements?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Deploy the tasks in public subnets with public IP addresses, and restrict the security groups to the service ports.</a:t>
            </a:r>
          </a:p>
          <a:p>
            <a:pPr marL="342900" indent="-342900">
              <a:spcBef>
                <a:spcPts val="600"/>
              </a:spcBef>
            </a:pPr>
            <a:r>
              <a:rPr sz="1600" b="0">
                <a:solidFill>
                  <a:srgbClr val="232B37"/>
                </a:solidFill>
                <a:latin typeface="Amazon Ember Display"/>
              </a:rPr>
              <a:t>B.  Deploy the tasks in private subnets, and place an internet-facing Application Load Balancer in the public subnets.</a:t>
            </a:r>
          </a:p>
          <a:p>
            <a:pPr marL="342900" indent="-342900">
              <a:spcBef>
                <a:spcPts val="600"/>
              </a:spcBef>
            </a:pPr>
            <a:r>
              <a:rPr sz="1600" b="1">
                <a:solidFill>
                  <a:srgbClr val="2E7D32"/>
                </a:solidFill>
                <a:latin typeface="Amazon Ember Display"/>
              </a:rPr>
              <a:t>C.  Deploy the tasks in private subnets, and place an internal Application Load Balancer in the same private subnets.  [CORRECT]</a:t>
            </a:r>
          </a:p>
          <a:p>
            <a:pPr marL="342900" indent="-342900">
              <a:spcBef>
                <a:spcPts val="600"/>
              </a:spcBef>
            </a:pPr>
            <a:r>
              <a:rPr sz="1600" b="0">
                <a:solidFill>
                  <a:srgbClr val="232B37"/>
                </a:solidFill>
                <a:latin typeface="Amazon Ember Display"/>
              </a:rPr>
              <a:t>D.  Deploy the tasks in public subnets, and route the traffic between the services through a NAT gateway.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2: Private service-to-service on ECS</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Application Load Balancers</a:t>
            </a:r>
          </a:p>
        </p:txBody>
      </p:sp>
      <p:sp>
        <p:nvSpPr>
          <p:cNvPr id="5" name="TextBox 4"/>
          <p:cNvSpPr txBox="1"/>
          <p:nvPr/>
        </p:nvSpPr>
        <p:spPr>
          <a:xfrm>
            <a:off x="612648" y="1152144"/>
            <a:ext cx="6400800" cy="274320"/>
          </a:xfrm>
          <a:prstGeom prst="rect">
            <a:avLst/>
          </a:prstGeom>
          <a:noFill/>
        </p:spPr>
        <p:txBody>
          <a:bodyPr wrap="square" anchor="t">
            <a:noAutofit/>
          </a:bodyPr>
          <a:lstStyle/>
          <a:p>
            <a:pPr algn="l"/>
            <a:r>
              <a:rPr sz="1800" b="1" i="0">
                <a:solidFill>
                  <a:srgbClr val="8F0072"/>
                </a:solidFill>
                <a:latin typeface="Amazon Ember Display"/>
              </a:rPr>
              <a:t>WHY THE ANSWER IS C</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20624"/>
          </a:xfrm>
          <a:prstGeom prst="rect">
            <a:avLst/>
          </a:prstGeom>
          <a:noFill/>
        </p:spPr>
        <p:txBody>
          <a:bodyPr wrap="square" anchor="t">
            <a:noAutofit/>
          </a:bodyPr>
          <a:lstStyle/>
          <a:p>
            <a:pPr algn="ctr"/>
            <a:r>
              <a:rPr sz="2200" b="1" i="0">
                <a:solidFill>
                  <a:srgbClr val="FFFFFF"/>
                </a:solidFill>
                <a:latin typeface="Amazon Ember Display"/>
              </a:rPr>
              <a:t>C</a:t>
            </a:r>
          </a:p>
        </p:txBody>
      </p:sp>
      <p:sp>
        <p:nvSpPr>
          <p:cNvPr id="9" name="TextBox 8"/>
          <p:cNvSpPr txBox="1"/>
          <p:nvPr/>
        </p:nvSpPr>
        <p:spPr>
          <a:xfrm>
            <a:off x="1545336" y="1572768"/>
            <a:ext cx="9784080" cy="585216"/>
          </a:xfrm>
          <a:prstGeom prst="rect">
            <a:avLst/>
          </a:prstGeom>
          <a:noFill/>
        </p:spPr>
        <p:txBody>
          <a:bodyPr wrap="square" anchor="t">
            <a:noAutofit/>
          </a:bodyPr>
          <a:lstStyle/>
          <a:p>
            <a:pPr algn="l"/>
            <a:r>
              <a:rPr sz="1700" b="1" i="0">
                <a:solidFill>
                  <a:srgbClr val="232B37"/>
                </a:solidFill>
                <a:latin typeface="Amazon Ember Display"/>
              </a:rPr>
              <a:t>Deploy the tasks in private subnets, and place an internal Application Load Balancer in the same private subnets.</a:t>
            </a:r>
          </a:p>
        </p:txBody>
      </p:sp>
      <p:sp>
        <p:nvSpPr>
          <p:cNvPr id="10" name="TextBox 9"/>
          <p:cNvSpPr txBox="1"/>
          <p:nvPr/>
        </p:nvSpPr>
        <p:spPr>
          <a:xfrm>
            <a:off x="1545336" y="2176272"/>
            <a:ext cx="9784080" cy="292608"/>
          </a:xfrm>
          <a:prstGeom prst="rect">
            <a:avLst/>
          </a:prstGeom>
          <a:noFill/>
        </p:spPr>
        <p:txBody>
          <a:bodyPr wrap="square" anchor="t">
            <a:noAutofit/>
          </a:bodyPr>
          <a:lstStyle/>
          <a:p>
            <a:pPr algn="l"/>
            <a:r>
              <a:rPr sz="1600" b="0" i="0">
                <a:solidFill>
                  <a:srgbClr val="8F0072"/>
                </a:solidFill>
                <a:latin typeface="Amazon Ember Display"/>
              </a:rPr>
              <a:t>An internal load balancer resolves only to private IPs inside the VPC</a:t>
            </a:r>
          </a:p>
        </p:txBody>
      </p:sp>
      <p:sp>
        <p:nvSpPr>
          <p:cNvPr id="11" name="TextBox 10"/>
          <p:cNvSpPr txBox="1"/>
          <p:nvPr/>
        </p:nvSpPr>
        <p:spPr>
          <a:xfrm>
            <a:off x="612648" y="2615184"/>
            <a:ext cx="5486400" cy="256032"/>
          </a:xfrm>
          <a:prstGeom prst="rect">
            <a:avLst/>
          </a:prstGeom>
          <a:noFill/>
        </p:spPr>
        <p:txBody>
          <a:bodyPr wrap="square" anchor="t">
            <a:noAutofit/>
          </a:bodyPr>
          <a:lstStyle/>
          <a:p>
            <a:pPr algn="l"/>
            <a:r>
              <a:rPr sz="1600" b="1" i="0">
                <a:solidFill>
                  <a:srgbClr val="5A6B7B"/>
                </a:solidFill>
                <a:latin typeface="Amazon Ember Display"/>
              </a:rPr>
              <a:t>RULED OUT</a:t>
            </a:r>
          </a:p>
        </p:txBody>
      </p:sp>
      <p:sp>
        <p:nvSpPr>
          <p:cNvPr id="12" name="Rounded Rectangle 11"/>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58952" y="299008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58952" y="3008376"/>
            <a:ext cx="310896" cy="274320"/>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5" name="TextBox 14"/>
          <p:cNvSpPr txBox="1"/>
          <p:nvPr/>
        </p:nvSpPr>
        <p:spPr>
          <a:xfrm>
            <a:off x="1216152" y="3017520"/>
            <a:ext cx="10186416" cy="274320"/>
          </a:xfrm>
          <a:prstGeom prst="rect">
            <a:avLst/>
          </a:prstGeom>
          <a:noFill/>
        </p:spPr>
        <p:txBody>
          <a:bodyPr wrap="square" anchor="t">
            <a:noAutofit/>
          </a:bodyPr>
          <a:lstStyle/>
          <a:p>
            <a:pPr algn="l"/>
            <a:r>
              <a:rPr sz="1700" b="0" i="0">
                <a:solidFill>
                  <a:srgbClr val="232B37"/>
                </a:solidFill>
                <a:latin typeface="Amazon Ember Display"/>
              </a:rPr>
              <a:t>Public IPs put the task traffic on the public internet</a:t>
            </a:r>
          </a:p>
        </p:txBody>
      </p:sp>
      <p:sp>
        <p:nvSpPr>
          <p:cNvPr id="16" name="Rounded Rectangle 15"/>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58952" y="358444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8952" y="3602736"/>
            <a:ext cx="310896" cy="274320"/>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9" name="TextBox 18"/>
          <p:cNvSpPr txBox="1"/>
          <p:nvPr/>
        </p:nvSpPr>
        <p:spPr>
          <a:xfrm>
            <a:off x="1216152" y="3611880"/>
            <a:ext cx="10186416" cy="274320"/>
          </a:xfrm>
          <a:prstGeom prst="rect">
            <a:avLst/>
          </a:prstGeom>
          <a:noFill/>
        </p:spPr>
        <p:txBody>
          <a:bodyPr wrap="square" anchor="t">
            <a:noAutofit/>
          </a:bodyPr>
          <a:lstStyle/>
          <a:p>
            <a:pPr algn="l"/>
            <a:r>
              <a:rPr sz="1700" b="0" i="0">
                <a:solidFill>
                  <a:srgbClr val="232B37"/>
                </a:solidFill>
                <a:latin typeface="Amazon Ember Display"/>
              </a:rPr>
              <a:t>An internet-facing load balancer resolves to public IPs</a:t>
            </a:r>
          </a:p>
        </p:txBody>
      </p:sp>
      <p:sp>
        <p:nvSpPr>
          <p:cNvPr id="20" name="Rounded Rectangle 19"/>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58952" y="4178807"/>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 y="4197096"/>
            <a:ext cx="310896" cy="274320"/>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3" name="TextBox 22"/>
          <p:cNvSpPr txBox="1"/>
          <p:nvPr/>
        </p:nvSpPr>
        <p:spPr>
          <a:xfrm>
            <a:off x="1216152" y="4206240"/>
            <a:ext cx="10186416" cy="274320"/>
          </a:xfrm>
          <a:prstGeom prst="rect">
            <a:avLst/>
          </a:prstGeom>
          <a:noFill/>
        </p:spPr>
        <p:txBody>
          <a:bodyPr wrap="square" anchor="t">
            <a:noAutofit/>
          </a:bodyPr>
          <a:lstStyle/>
          <a:p>
            <a:pPr algn="l"/>
            <a:r>
              <a:rPr sz="1700" b="0" i="0">
                <a:solidFill>
                  <a:srgbClr val="232B37"/>
                </a:solidFill>
                <a:latin typeface="Amazon Ember Display"/>
              </a:rPr>
              <a:t>A NAT gateway is outbound only, not service to service</a:t>
            </a:r>
          </a:p>
        </p:txBody>
      </p:sp>
      <p:sp>
        <p:nvSpPr>
          <p:cNvPr id="24" name="Rounded Rectangle 23"/>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0392" y="4992624"/>
            <a:ext cx="1600200" cy="274320"/>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7" name="TextBox 26"/>
          <p:cNvSpPr txBox="1"/>
          <p:nvPr/>
        </p:nvSpPr>
        <p:spPr>
          <a:xfrm>
            <a:off x="2487168" y="4828032"/>
            <a:ext cx="8823960" cy="292608"/>
          </a:xfrm>
          <a:prstGeom prst="rect">
            <a:avLst/>
          </a:prstGeom>
          <a:noFill/>
        </p:spPr>
        <p:txBody>
          <a:bodyPr wrap="square" anchor="t">
            <a:noAutofit/>
          </a:bodyPr>
          <a:lstStyle/>
          <a:p>
            <a:pPr algn="l"/>
            <a:r>
              <a:rPr sz="1700" b="1" i="0">
                <a:solidFill>
                  <a:srgbClr val="8F0072"/>
                </a:solidFill>
                <a:latin typeface="Amazon Ember Display"/>
              </a:rPr>
              <a:t>“stay inside the VPC and never traverse the public internet”</a:t>
            </a:r>
          </a:p>
        </p:txBody>
      </p:sp>
      <p:sp>
        <p:nvSpPr>
          <p:cNvPr id="28" name="TextBox 27"/>
          <p:cNvSpPr txBox="1"/>
          <p:nvPr/>
        </p:nvSpPr>
        <p:spPr>
          <a:xfrm>
            <a:off x="2487168" y="5175504"/>
            <a:ext cx="8823960" cy="292608"/>
          </a:xfrm>
          <a:prstGeom prst="rect">
            <a:avLst/>
          </a:prstGeom>
          <a:noFill/>
        </p:spPr>
        <p:txBody>
          <a:bodyPr wrap="square" anchor="t">
            <a:noAutofit/>
          </a:bodyPr>
          <a:lstStyle/>
          <a:p>
            <a:pPr algn="l"/>
            <a:r>
              <a:rPr sz="1700" b="0" i="0">
                <a:solidFill>
                  <a:srgbClr val="232B37"/>
                </a:solidFill>
                <a:latin typeface="Amazon Ember Display"/>
              </a:rPr>
              <a:t>→  “inside the VPC” rules out anything internet-facing</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Least privilege for EC2</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086453"/>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812133"/>
          </a:xfrm>
          <a:prstGeom prst="rect">
            <a:avLst/>
          </a:prstGeom>
          <a:noFill/>
        </p:spPr>
        <p:txBody>
          <a:bodyPr wrap="square" anchor="t">
            <a:noAutofit/>
          </a:bodyPr>
          <a:lstStyle/>
          <a:p>
            <a:r>
              <a:rPr sz="1600" b="1">
                <a:solidFill>
                  <a:srgbClr val="232B37"/>
                </a:solidFill>
                <a:latin typeface="Amazon Ember Display"/>
              </a:rPr>
              <a:t>A company manages access to its AWS resources by using IAM roles. A developer is building a new microservice that runs on Amazon EC2 instances. The microservice must read objects from an Amazon S3 bucket and write messages to an Amazon SQS queue. The developer must follow the principle of least privilege.</a:t>
            </a:r>
          </a:p>
          <a:p>
            <a:r>
              <a:rPr sz="1600" b="1">
                <a:solidFill>
                  <a:srgbClr val="232B37"/>
                </a:solidFill>
                <a:latin typeface="Amazon Ember Display"/>
              </a:rPr>
              <a:t>Which approach should the developer use to grant the microservice the required permissions?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an IAM user with an access key and secret key. Attach policies that allow s3:GetObject and sqs:SendMessage. Store the credentials in the application configuration file.</a:t>
            </a:r>
          </a:p>
          <a:p>
            <a:pPr marL="342900" indent="-342900">
              <a:spcBef>
                <a:spcPts val="600"/>
              </a:spcBef>
            </a:pPr>
            <a:r>
              <a:rPr sz="1600" b="0">
                <a:solidFill>
                  <a:srgbClr val="232B37"/>
                </a:solidFill>
                <a:latin typeface="Amazon Ember Display"/>
              </a:rPr>
              <a:t>B.  Create an IAM role with a policy that allows s3:GetObject on the specific bucket ARN and sqs:SendMessage on the specific queue ARN. Attach the role to the EC2 instance profile.</a:t>
            </a:r>
          </a:p>
          <a:p>
            <a:pPr marL="342900" indent="-342900">
              <a:spcBef>
                <a:spcPts val="600"/>
              </a:spcBef>
            </a:pPr>
            <a:r>
              <a:rPr sz="1600" b="0">
                <a:solidFill>
                  <a:srgbClr val="232B37"/>
                </a:solidFill>
                <a:latin typeface="Amazon Ember Display"/>
              </a:rPr>
              <a:t>C.  Create an IAM role with the AmazonS3FullAccess and AmazonSQSFullAccess managed policies. Attach the role to the EC2 instance profile.</a:t>
            </a:r>
          </a:p>
          <a:p>
            <a:pPr marL="342900" indent="-342900">
              <a:spcBef>
                <a:spcPts val="600"/>
              </a:spcBef>
            </a:pPr>
            <a:r>
              <a:rPr sz="1600" b="0">
                <a:solidFill>
                  <a:srgbClr val="232B37"/>
                </a:solidFill>
                <a:latin typeface="Amazon Ember Display"/>
              </a:rPr>
              <a:t>D.  Create an IAM role with a policy that allows s3:* and sqs:* actions. Add a condition key to restrict access to the current AWS Region only.</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Least privilege for EC2</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086453"/>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812133"/>
          </a:xfrm>
          <a:prstGeom prst="rect">
            <a:avLst/>
          </a:prstGeom>
          <a:noFill/>
        </p:spPr>
        <p:txBody>
          <a:bodyPr wrap="square" anchor="t">
            <a:noAutofit/>
          </a:bodyPr>
          <a:lstStyle/>
          <a:p>
            <a:r>
              <a:rPr sz="1600" b="1">
                <a:solidFill>
                  <a:srgbClr val="232B37"/>
                </a:solidFill>
                <a:latin typeface="Amazon Ember Display"/>
              </a:rPr>
              <a:t>A company manages access to its AWS resources by using IAM roles. A developer is building a new microservice that runs on Amazon EC2 instances. The microservice must read objects from an Amazon S3 bucket and write messages to an Amazon SQS queue. The developer must follow the principle of least privilege.</a:t>
            </a:r>
          </a:p>
          <a:p>
            <a:r>
              <a:rPr sz="1600" b="1">
                <a:solidFill>
                  <a:srgbClr val="232B37"/>
                </a:solidFill>
                <a:latin typeface="Amazon Ember Display"/>
              </a:rPr>
              <a:t>Which approach should the developer use to grant the microservice the required permissions?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an IAM user with an access key and secret key. Attach policies that allow s3:GetObject and sqs:SendMessage. Store the credentials in the application configuration file.</a:t>
            </a:r>
          </a:p>
          <a:p>
            <a:pPr marL="342900" indent="-342900">
              <a:spcBef>
                <a:spcPts val="600"/>
              </a:spcBef>
            </a:pPr>
            <a:r>
              <a:rPr sz="1600" b="0">
                <a:solidFill>
                  <a:srgbClr val="232B37"/>
                </a:solidFill>
                <a:latin typeface="Amazon Ember Display"/>
              </a:rPr>
              <a:t>B.  Create an IAM role with a policy that allows s3:GetObject on the specific bucket ARN and sqs:SendMessage on the specific queue ARN. Attach the role to the EC2 instance profile.</a:t>
            </a:r>
          </a:p>
          <a:p>
            <a:pPr marL="342900" indent="-342900">
              <a:spcBef>
                <a:spcPts val="600"/>
              </a:spcBef>
            </a:pPr>
            <a:r>
              <a:rPr sz="1600" b="0">
                <a:solidFill>
                  <a:srgbClr val="232B37"/>
                </a:solidFill>
                <a:latin typeface="Amazon Ember Display"/>
              </a:rPr>
              <a:t>C.  Create an IAM role with the AmazonS3FullAccess and AmazonSQSFullAccess managed policies. Attach the role to the EC2 instance profile.</a:t>
            </a:r>
          </a:p>
          <a:p>
            <a:pPr marL="342900" indent="-342900">
              <a:spcBef>
                <a:spcPts val="600"/>
              </a:spcBef>
            </a:pPr>
            <a:r>
              <a:rPr sz="1600" b="0">
                <a:solidFill>
                  <a:srgbClr val="232B37"/>
                </a:solidFill>
                <a:latin typeface="Amazon Ember Display"/>
              </a:rPr>
              <a:t>D.  Create an IAM role with a policy that allows s3:* and sqs:* actions. Add a condition key to restrict access to the current AWS Region only.</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Least privilege for EC2</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4086453"/>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812133"/>
          </a:xfrm>
          <a:prstGeom prst="rect">
            <a:avLst/>
          </a:prstGeom>
          <a:noFill/>
        </p:spPr>
        <p:txBody>
          <a:bodyPr wrap="square" anchor="t">
            <a:noAutofit/>
          </a:bodyPr>
          <a:lstStyle/>
          <a:p>
            <a:r>
              <a:rPr sz="1600" b="1">
                <a:solidFill>
                  <a:srgbClr val="232B37"/>
                </a:solidFill>
                <a:latin typeface="Amazon Ember Display"/>
              </a:rPr>
              <a:t>A company manages access to its AWS resources by using IAM roles. A developer is building a new microservice that runs on Amazon EC2 instances. The microservice must read objects from an Amazon S3 bucket and write messages to an Amazon SQS queue. The developer must follow the principle of least privilege.</a:t>
            </a:r>
          </a:p>
          <a:p>
            <a:r>
              <a:rPr sz="1600" b="1">
                <a:solidFill>
                  <a:srgbClr val="232B37"/>
                </a:solidFill>
                <a:latin typeface="Amazon Ember Display"/>
              </a:rPr>
              <a:t>Which approach should the developer use to grant the microservice the required permissions?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Create an IAM user with an access key and secret key. Attach policies that allow s3:GetObject and sqs:SendMessage. Store the credentials in the application configuration file.</a:t>
            </a:r>
          </a:p>
          <a:p>
            <a:pPr marL="342900" indent="-342900">
              <a:spcBef>
                <a:spcPts val="600"/>
              </a:spcBef>
            </a:pPr>
            <a:r>
              <a:rPr sz="1600" b="1">
                <a:solidFill>
                  <a:srgbClr val="2E7D32"/>
                </a:solidFill>
                <a:latin typeface="Amazon Ember Display"/>
              </a:rPr>
              <a:t>B.  Create an IAM role with a policy that allows s3:GetObject on the specific bucket ARN and sqs:SendMessage on the specific queue ARN. Attach the role to the EC2 instance profile.  [CORRECT]</a:t>
            </a:r>
          </a:p>
          <a:p>
            <a:pPr marL="342900" indent="-342900">
              <a:spcBef>
                <a:spcPts val="600"/>
              </a:spcBef>
            </a:pPr>
            <a:r>
              <a:rPr sz="1600" b="0">
                <a:solidFill>
                  <a:srgbClr val="232B37"/>
                </a:solidFill>
                <a:latin typeface="Amazon Ember Display"/>
              </a:rPr>
              <a:t>C.  Create an IAM role with the AmazonS3FullAccess and AmazonSQSFullAccess managed policies. Attach the role to the EC2 instance profile.</a:t>
            </a:r>
          </a:p>
          <a:p>
            <a:pPr marL="342900" indent="-342900">
              <a:spcBef>
                <a:spcPts val="600"/>
              </a:spcBef>
            </a:pPr>
            <a:r>
              <a:rPr sz="1600" b="0">
                <a:solidFill>
                  <a:srgbClr val="232B37"/>
                </a:solidFill>
                <a:latin typeface="Amazon Ember Display"/>
              </a:rPr>
              <a:t>D.  Create an IAM role with a policy that allows s3:* and sqs:* actions. Add a condition key to restrict access to the current AWS Region only.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3: Least privilege for EC2</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IAM roles for EC2</a:t>
            </a:r>
          </a:p>
        </p:txBody>
      </p:sp>
      <p:sp>
        <p:nvSpPr>
          <p:cNvPr id="5" name="TextBox 4"/>
          <p:cNvSpPr txBox="1"/>
          <p:nvPr/>
        </p:nvSpPr>
        <p:spPr>
          <a:xfrm>
            <a:off x="612648" y="1152144"/>
            <a:ext cx="6400800" cy="274320"/>
          </a:xfrm>
          <a:prstGeom prst="rect">
            <a:avLst/>
          </a:prstGeom>
          <a:noFill/>
        </p:spPr>
        <p:txBody>
          <a:bodyPr wrap="square" anchor="t">
            <a:noAutofit/>
          </a:bodyPr>
          <a:lstStyle/>
          <a:p>
            <a:pPr algn="l"/>
            <a:r>
              <a:rPr sz="1800" b="1" i="0">
                <a:solidFill>
                  <a:srgbClr val="8F0072"/>
                </a:solidFill>
                <a:latin typeface="Amazon Ember Display"/>
              </a:rPr>
              <a:t>WHY THE ANSWER IS B</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20624"/>
          </a:xfrm>
          <a:prstGeom prst="rect">
            <a:avLst/>
          </a:prstGeom>
          <a:noFill/>
        </p:spPr>
        <p:txBody>
          <a:bodyPr wrap="square" anchor="t">
            <a:noAutofit/>
          </a:bodyPr>
          <a:lstStyle/>
          <a:p>
            <a:pPr algn="ctr"/>
            <a:r>
              <a:rPr sz="2200" b="1" i="0">
                <a:solidFill>
                  <a:srgbClr val="FFFFFF"/>
                </a:solidFill>
                <a:latin typeface="Amazon Ember Display"/>
              </a:rPr>
              <a:t>B</a:t>
            </a:r>
          </a:p>
        </p:txBody>
      </p:sp>
      <p:sp>
        <p:nvSpPr>
          <p:cNvPr id="9" name="TextBox 8"/>
          <p:cNvSpPr txBox="1"/>
          <p:nvPr/>
        </p:nvSpPr>
        <p:spPr>
          <a:xfrm>
            <a:off x="1545336" y="1572768"/>
            <a:ext cx="9784080" cy="585216"/>
          </a:xfrm>
          <a:prstGeom prst="rect">
            <a:avLst/>
          </a:prstGeom>
          <a:noFill/>
        </p:spPr>
        <p:txBody>
          <a:bodyPr wrap="square" anchor="t">
            <a:noAutofit/>
          </a:bodyPr>
          <a:lstStyle/>
          <a:p>
            <a:pPr algn="l"/>
            <a:r>
              <a:rPr sz="1700" b="1" i="0">
                <a:solidFill>
                  <a:srgbClr val="232B37"/>
                </a:solidFill>
                <a:latin typeface="Amazon Ember Display"/>
              </a:rPr>
              <a:t>Create an IAM role with a policy that allows s3:GetObject on the specific bucket ARN and sqs:SendMessage on the specific queue ARN. Attach the role to the EC2 instance profile.</a:t>
            </a:r>
          </a:p>
        </p:txBody>
      </p:sp>
      <p:sp>
        <p:nvSpPr>
          <p:cNvPr id="10" name="TextBox 9"/>
          <p:cNvSpPr txBox="1"/>
          <p:nvPr/>
        </p:nvSpPr>
        <p:spPr>
          <a:xfrm>
            <a:off x="1545336" y="2176272"/>
            <a:ext cx="9784080" cy="292608"/>
          </a:xfrm>
          <a:prstGeom prst="rect">
            <a:avLst/>
          </a:prstGeom>
          <a:noFill/>
        </p:spPr>
        <p:txBody>
          <a:bodyPr wrap="square" anchor="t">
            <a:noAutofit/>
          </a:bodyPr>
          <a:lstStyle/>
          <a:p>
            <a:pPr algn="l"/>
            <a:r>
              <a:rPr sz="1600" b="0" i="0">
                <a:solidFill>
                  <a:srgbClr val="8F0072"/>
                </a:solidFill>
                <a:latin typeface="Amazon Ember Display"/>
              </a:rPr>
              <a:t>A role scoped to the exact bucket and queue ARNs, via an instance profile</a:t>
            </a:r>
          </a:p>
        </p:txBody>
      </p:sp>
      <p:sp>
        <p:nvSpPr>
          <p:cNvPr id="11" name="TextBox 10"/>
          <p:cNvSpPr txBox="1"/>
          <p:nvPr/>
        </p:nvSpPr>
        <p:spPr>
          <a:xfrm>
            <a:off x="612648" y="2615184"/>
            <a:ext cx="5486400" cy="256032"/>
          </a:xfrm>
          <a:prstGeom prst="rect">
            <a:avLst/>
          </a:prstGeom>
          <a:noFill/>
        </p:spPr>
        <p:txBody>
          <a:bodyPr wrap="square" anchor="t">
            <a:noAutofit/>
          </a:bodyPr>
          <a:lstStyle/>
          <a:p>
            <a:pPr algn="l"/>
            <a:r>
              <a:rPr sz="1600" b="1" i="0">
                <a:solidFill>
                  <a:srgbClr val="5A6B7B"/>
                </a:solidFill>
                <a:latin typeface="Amazon Ember Display"/>
              </a:rPr>
              <a:t>RULED OUT</a:t>
            </a:r>
          </a:p>
        </p:txBody>
      </p:sp>
      <p:sp>
        <p:nvSpPr>
          <p:cNvPr id="12" name="Rounded Rectangle 11"/>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58952" y="299008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58952" y="3008376"/>
            <a:ext cx="310896" cy="274320"/>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5" name="TextBox 14"/>
          <p:cNvSpPr txBox="1"/>
          <p:nvPr/>
        </p:nvSpPr>
        <p:spPr>
          <a:xfrm>
            <a:off x="1216152" y="3017520"/>
            <a:ext cx="10186416" cy="274320"/>
          </a:xfrm>
          <a:prstGeom prst="rect">
            <a:avLst/>
          </a:prstGeom>
          <a:noFill/>
        </p:spPr>
        <p:txBody>
          <a:bodyPr wrap="square" anchor="t">
            <a:noAutofit/>
          </a:bodyPr>
          <a:lstStyle/>
          <a:p>
            <a:pPr algn="l"/>
            <a:r>
              <a:rPr sz="1700" b="0" i="0">
                <a:solidFill>
                  <a:srgbClr val="232B37"/>
                </a:solidFill>
                <a:latin typeface="Amazon Ember Display"/>
              </a:rPr>
              <a:t>Long-lived access keys in a file are not least privilege</a:t>
            </a:r>
          </a:p>
        </p:txBody>
      </p:sp>
      <p:sp>
        <p:nvSpPr>
          <p:cNvPr id="16" name="Rounded Rectangle 15"/>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58952" y="358444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8952" y="3602736"/>
            <a:ext cx="310896" cy="274320"/>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9" name="TextBox 18"/>
          <p:cNvSpPr txBox="1"/>
          <p:nvPr/>
        </p:nvSpPr>
        <p:spPr>
          <a:xfrm>
            <a:off x="1216152" y="3611880"/>
            <a:ext cx="10186416" cy="274320"/>
          </a:xfrm>
          <a:prstGeom prst="rect">
            <a:avLst/>
          </a:prstGeom>
          <a:noFill/>
        </p:spPr>
        <p:txBody>
          <a:bodyPr wrap="square" anchor="t">
            <a:noAutofit/>
          </a:bodyPr>
          <a:lstStyle/>
          <a:p>
            <a:pPr algn="l"/>
            <a:r>
              <a:rPr sz="1700" b="0" i="0">
                <a:solidFill>
                  <a:srgbClr val="232B37"/>
                </a:solidFill>
                <a:latin typeface="Amazon Ember Display"/>
              </a:rPr>
              <a:t>Full-access managed policies grant far more than needed</a:t>
            </a:r>
          </a:p>
        </p:txBody>
      </p:sp>
      <p:sp>
        <p:nvSpPr>
          <p:cNvPr id="20" name="Rounded Rectangle 19"/>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58952" y="4178807"/>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 y="4197096"/>
            <a:ext cx="310896" cy="274320"/>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3" name="TextBox 22"/>
          <p:cNvSpPr txBox="1"/>
          <p:nvPr/>
        </p:nvSpPr>
        <p:spPr>
          <a:xfrm>
            <a:off x="1216152" y="4206240"/>
            <a:ext cx="10186416" cy="274320"/>
          </a:xfrm>
          <a:prstGeom prst="rect">
            <a:avLst/>
          </a:prstGeom>
          <a:noFill/>
        </p:spPr>
        <p:txBody>
          <a:bodyPr wrap="square" anchor="t">
            <a:noAutofit/>
          </a:bodyPr>
          <a:lstStyle/>
          <a:p>
            <a:pPr algn="l"/>
            <a:r>
              <a:rPr sz="1700" b="0" i="0">
                <a:solidFill>
                  <a:srgbClr val="232B37"/>
                </a:solidFill>
                <a:latin typeface="Amazon Ember Display"/>
              </a:rPr>
              <a:t>Wildcards on every action stay over-broad despite the Region</a:t>
            </a:r>
          </a:p>
        </p:txBody>
      </p:sp>
      <p:sp>
        <p:nvSpPr>
          <p:cNvPr id="24" name="Rounded Rectangle 23"/>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0392" y="4992624"/>
            <a:ext cx="1600200" cy="274320"/>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7" name="TextBox 26"/>
          <p:cNvSpPr txBox="1"/>
          <p:nvPr/>
        </p:nvSpPr>
        <p:spPr>
          <a:xfrm>
            <a:off x="2487168" y="4828032"/>
            <a:ext cx="8823960" cy="292608"/>
          </a:xfrm>
          <a:prstGeom prst="rect">
            <a:avLst/>
          </a:prstGeom>
          <a:noFill/>
        </p:spPr>
        <p:txBody>
          <a:bodyPr wrap="square" anchor="t">
            <a:noAutofit/>
          </a:bodyPr>
          <a:lstStyle/>
          <a:p>
            <a:pPr algn="l"/>
            <a:r>
              <a:rPr sz="1700" b="1" i="0">
                <a:solidFill>
                  <a:srgbClr val="8F0072"/>
                </a:solidFill>
                <a:latin typeface="Amazon Ember Display"/>
              </a:rPr>
              <a:t>“must follow the principle of least privilege”</a:t>
            </a:r>
          </a:p>
        </p:txBody>
      </p:sp>
      <p:sp>
        <p:nvSpPr>
          <p:cNvPr id="28" name="TextBox 27"/>
          <p:cNvSpPr txBox="1"/>
          <p:nvPr/>
        </p:nvSpPr>
        <p:spPr>
          <a:xfrm>
            <a:off x="2487168" y="5175504"/>
            <a:ext cx="8823960" cy="292608"/>
          </a:xfrm>
          <a:prstGeom prst="rect">
            <a:avLst/>
          </a:prstGeom>
          <a:noFill/>
        </p:spPr>
        <p:txBody>
          <a:bodyPr wrap="square" anchor="t">
            <a:noAutofit/>
          </a:bodyPr>
          <a:lstStyle/>
          <a:p>
            <a:pPr algn="l"/>
            <a:r>
              <a:rPr sz="1700" b="0" i="0">
                <a:solidFill>
                  <a:srgbClr val="232B37"/>
                </a:solidFill>
                <a:latin typeface="Amazon Ember Display"/>
              </a:rPr>
              <a:t>→  Least privilege means only these actions on these exact resources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Instances replaced too early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838651"/>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564331"/>
          </a:xfrm>
          <a:prstGeom prst="rect">
            <a:avLst/>
          </a:prstGeom>
          <a:noFill/>
        </p:spPr>
        <p:txBody>
          <a:bodyPr wrap="square" anchor="t">
            <a:noAutofit/>
          </a:bodyPr>
          <a:lstStyle/>
          <a:p>
            <a:r>
              <a:rPr sz="1600" b="1">
                <a:solidFill>
                  <a:srgbClr val="232B37"/>
                </a:solidFill>
                <a:latin typeface="Amazon Ember Display"/>
              </a:rPr>
              <a:t>A company uses Amazon EC2 Auto Scaling to manage its fleet of web servers. The developer notices that newly launched instances take 3 minutes to complete application initialization before they can serve traffic. During scale-out events, the ALB health checks mark the new instances as unhealthy and terminate them before initialization completes.</a:t>
            </a:r>
          </a:p>
          <a:p>
            <a:r>
              <a:rPr sz="1600" b="1">
                <a:solidFill>
                  <a:srgbClr val="232B37"/>
                </a:solidFill>
                <a:latin typeface="Amazon Ember Display"/>
              </a:rPr>
              <a:t>The developer needs to prevent premature termination of instances during initialization.</a:t>
            </a:r>
          </a:p>
          <a:p>
            <a:r>
              <a:rPr sz="1600" b="1">
                <a:solidFill>
                  <a:srgbClr val="232B37"/>
                </a:solidFill>
                <a:latin typeface="Amazon Ember Display"/>
              </a:rPr>
              <a:t>Which solution will meet this requirement?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Increase the ALB health check interval to 5 minutes.</a:t>
            </a:r>
          </a:p>
          <a:p>
            <a:pPr marL="342900" indent="-342900">
              <a:spcBef>
                <a:spcPts val="600"/>
              </a:spcBef>
            </a:pPr>
            <a:r>
              <a:rPr sz="1600" b="0">
                <a:solidFill>
                  <a:srgbClr val="232B37"/>
                </a:solidFill>
                <a:latin typeface="Amazon Ember Display"/>
              </a:rPr>
              <a:t>B.  Configure a health check grace period on the Auto Scaling group that exceeds the application initialization time.</a:t>
            </a:r>
          </a:p>
          <a:p>
            <a:pPr marL="342900" indent="-342900">
              <a:spcBef>
                <a:spcPts val="600"/>
              </a:spcBef>
            </a:pPr>
            <a:r>
              <a:rPr sz="1600" b="0">
                <a:solidFill>
                  <a:srgbClr val="232B37"/>
                </a:solidFill>
                <a:latin typeface="Amazon Ember Display"/>
              </a:rPr>
              <a:t>C.  Set the deregistration delay on the target group to 5 minutes.</a:t>
            </a:r>
          </a:p>
          <a:p>
            <a:pPr marL="342900" indent="-342900">
              <a:spcBef>
                <a:spcPts val="600"/>
              </a:spcBef>
            </a:pPr>
            <a:r>
              <a:rPr sz="1600" b="0">
                <a:solidFill>
                  <a:srgbClr val="232B37"/>
                </a:solidFill>
                <a:latin typeface="Amazon Ember Display"/>
              </a:rPr>
              <a:t>D.  Add a lifecycle hook to the Auto Scaling group that pauses the instance in a Pending:Wait state indefinitely.</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Instances replaced too early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838651"/>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564331"/>
          </a:xfrm>
          <a:prstGeom prst="rect">
            <a:avLst/>
          </a:prstGeom>
          <a:noFill/>
        </p:spPr>
        <p:txBody>
          <a:bodyPr wrap="square" anchor="t">
            <a:noAutofit/>
          </a:bodyPr>
          <a:lstStyle/>
          <a:p>
            <a:r>
              <a:rPr sz="1600" b="1">
                <a:solidFill>
                  <a:srgbClr val="232B37"/>
                </a:solidFill>
                <a:latin typeface="Amazon Ember Display"/>
              </a:rPr>
              <a:t>A company uses Amazon EC2 Auto Scaling to manage its fleet of web servers. The developer notices that newly launched instances take 3 minutes to complete application initialization before they can serve traffic. During scale-out events, the ALB health checks mark the new instances as unhealthy and terminate them before initialization completes.</a:t>
            </a:r>
          </a:p>
          <a:p>
            <a:r>
              <a:rPr sz="1600" b="1">
                <a:solidFill>
                  <a:srgbClr val="232B37"/>
                </a:solidFill>
                <a:latin typeface="Amazon Ember Display"/>
              </a:rPr>
              <a:t>The developer needs to prevent premature termination of instances during initialization.</a:t>
            </a:r>
          </a:p>
          <a:p>
            <a:r>
              <a:rPr sz="1600" b="1">
                <a:solidFill>
                  <a:srgbClr val="232B37"/>
                </a:solidFill>
                <a:latin typeface="Amazon Ember Display"/>
              </a:rPr>
              <a:t>Which solution will meet this requirement?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Increase the ALB health check interval to 5 minutes.</a:t>
            </a:r>
          </a:p>
          <a:p>
            <a:pPr marL="342900" indent="-342900">
              <a:spcBef>
                <a:spcPts val="600"/>
              </a:spcBef>
            </a:pPr>
            <a:r>
              <a:rPr sz="1600" b="0">
                <a:solidFill>
                  <a:srgbClr val="232B37"/>
                </a:solidFill>
                <a:latin typeface="Amazon Ember Display"/>
              </a:rPr>
              <a:t>B.  Configure a health check grace period on the Auto Scaling group that exceeds the application initialization time.</a:t>
            </a:r>
          </a:p>
          <a:p>
            <a:pPr marL="342900" indent="-342900">
              <a:spcBef>
                <a:spcPts val="600"/>
              </a:spcBef>
            </a:pPr>
            <a:r>
              <a:rPr sz="1600" b="0">
                <a:solidFill>
                  <a:srgbClr val="232B37"/>
                </a:solidFill>
                <a:latin typeface="Amazon Ember Display"/>
              </a:rPr>
              <a:t>C.  Set the deregistration delay on the target group to 5 minutes.</a:t>
            </a:r>
          </a:p>
          <a:p>
            <a:pPr marL="342900" indent="-342900">
              <a:spcBef>
                <a:spcPts val="600"/>
              </a:spcBef>
            </a:pPr>
            <a:r>
              <a:rPr sz="1600" b="0">
                <a:solidFill>
                  <a:srgbClr val="232B37"/>
                </a:solidFill>
                <a:latin typeface="Amazon Ember Display"/>
              </a:rPr>
              <a:t>D.  Add a lifecycle hook to the Auto Scaling group that pauses the instance in a Pending:Wait state indefinitely.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Instances replaced too early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838651"/>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564331"/>
          </a:xfrm>
          <a:prstGeom prst="rect">
            <a:avLst/>
          </a:prstGeom>
          <a:noFill/>
        </p:spPr>
        <p:txBody>
          <a:bodyPr wrap="square" anchor="t">
            <a:noAutofit/>
          </a:bodyPr>
          <a:lstStyle/>
          <a:p>
            <a:r>
              <a:rPr sz="1600" b="1">
                <a:solidFill>
                  <a:srgbClr val="232B37"/>
                </a:solidFill>
                <a:latin typeface="Amazon Ember Display"/>
              </a:rPr>
              <a:t>A company uses Amazon EC2 Auto Scaling to manage its fleet of web servers. The developer notices that newly launched instances take 3 minutes to complete application initialization before they can serve traffic. During scale-out events, the ALB health checks mark the new instances as unhealthy and terminate them before initialization completes.</a:t>
            </a:r>
          </a:p>
          <a:p>
            <a:r>
              <a:rPr sz="1600" b="1">
                <a:solidFill>
                  <a:srgbClr val="232B37"/>
                </a:solidFill>
                <a:latin typeface="Amazon Ember Display"/>
              </a:rPr>
              <a:t>The developer needs to prevent premature termination of instances during initialization.</a:t>
            </a:r>
          </a:p>
          <a:p>
            <a:r>
              <a:rPr sz="1600" b="1">
                <a:solidFill>
                  <a:srgbClr val="232B37"/>
                </a:solidFill>
                <a:latin typeface="Amazon Ember Display"/>
              </a:rPr>
              <a:t>Which solution will meet this requirement?</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Increase the ALB health check interval to 5 minutes.</a:t>
            </a:r>
          </a:p>
          <a:p>
            <a:pPr marL="342900" indent="-342900">
              <a:spcBef>
                <a:spcPts val="600"/>
              </a:spcBef>
            </a:pPr>
            <a:r>
              <a:rPr sz="1600" b="1">
                <a:solidFill>
                  <a:srgbClr val="2E7D32"/>
                </a:solidFill>
                <a:latin typeface="Amazon Ember Display"/>
              </a:rPr>
              <a:t>B.  Configure a health check grace period on the Auto Scaling group that exceeds the application initialization time.  [CORRECT]</a:t>
            </a:r>
          </a:p>
          <a:p>
            <a:pPr marL="342900" indent="-342900">
              <a:spcBef>
                <a:spcPts val="600"/>
              </a:spcBef>
            </a:pPr>
            <a:r>
              <a:rPr sz="1600" b="0">
                <a:solidFill>
                  <a:srgbClr val="232B37"/>
                </a:solidFill>
                <a:latin typeface="Amazon Ember Display"/>
              </a:rPr>
              <a:t>C.  Set the deregistration delay on the target group to 5 minutes.</a:t>
            </a:r>
          </a:p>
          <a:p>
            <a:pPr marL="342900" indent="-342900">
              <a:spcBef>
                <a:spcPts val="600"/>
              </a:spcBef>
            </a:pPr>
            <a:r>
              <a:rPr sz="1600" b="0">
                <a:solidFill>
                  <a:srgbClr val="232B37"/>
                </a:solidFill>
                <a:latin typeface="Amazon Ember Display"/>
              </a:rPr>
              <a:t>D.  Add a lifecycle hook to the Auto Scaling group that pauses the instance in a Pending:Wait state indefinitely.</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4: Instances replaced too early</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Auto Scaling health checks</a:t>
            </a:r>
          </a:p>
        </p:txBody>
      </p:sp>
      <p:sp>
        <p:nvSpPr>
          <p:cNvPr id="5" name="TextBox 4"/>
          <p:cNvSpPr txBox="1"/>
          <p:nvPr/>
        </p:nvSpPr>
        <p:spPr>
          <a:xfrm>
            <a:off x="612648" y="1152144"/>
            <a:ext cx="6400800" cy="274320"/>
          </a:xfrm>
          <a:prstGeom prst="rect">
            <a:avLst/>
          </a:prstGeom>
          <a:noFill/>
        </p:spPr>
        <p:txBody>
          <a:bodyPr wrap="square" anchor="t">
            <a:noAutofit/>
          </a:bodyPr>
          <a:lstStyle/>
          <a:p>
            <a:pPr algn="l"/>
            <a:r>
              <a:rPr sz="1800" b="1" i="0">
                <a:solidFill>
                  <a:srgbClr val="8F0072"/>
                </a:solidFill>
                <a:latin typeface="Amazon Ember Display"/>
              </a:rPr>
              <a:t>WHY THE ANSWER IS B</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20624"/>
          </a:xfrm>
          <a:prstGeom prst="rect">
            <a:avLst/>
          </a:prstGeom>
          <a:noFill/>
        </p:spPr>
        <p:txBody>
          <a:bodyPr wrap="square" anchor="t">
            <a:noAutofit/>
          </a:bodyPr>
          <a:lstStyle/>
          <a:p>
            <a:pPr algn="ctr"/>
            <a:r>
              <a:rPr sz="2200" b="1" i="0">
                <a:solidFill>
                  <a:srgbClr val="FFFFFF"/>
                </a:solidFill>
                <a:latin typeface="Amazon Ember Display"/>
              </a:rPr>
              <a:t>B</a:t>
            </a:r>
          </a:p>
        </p:txBody>
      </p:sp>
      <p:sp>
        <p:nvSpPr>
          <p:cNvPr id="9" name="TextBox 8"/>
          <p:cNvSpPr txBox="1"/>
          <p:nvPr/>
        </p:nvSpPr>
        <p:spPr>
          <a:xfrm>
            <a:off x="1545336" y="1572768"/>
            <a:ext cx="9784080" cy="585216"/>
          </a:xfrm>
          <a:prstGeom prst="rect">
            <a:avLst/>
          </a:prstGeom>
          <a:noFill/>
        </p:spPr>
        <p:txBody>
          <a:bodyPr wrap="square" anchor="t">
            <a:noAutofit/>
          </a:bodyPr>
          <a:lstStyle/>
          <a:p>
            <a:pPr algn="l"/>
            <a:r>
              <a:rPr sz="1700" b="1" i="0">
                <a:solidFill>
                  <a:srgbClr val="232B37"/>
                </a:solidFill>
                <a:latin typeface="Amazon Ember Display"/>
              </a:rPr>
              <a:t>Configure a health check grace period on the Auto Scaling group that exceeds the application initialization time.</a:t>
            </a:r>
          </a:p>
        </p:txBody>
      </p:sp>
      <p:sp>
        <p:nvSpPr>
          <p:cNvPr id="10" name="TextBox 9"/>
          <p:cNvSpPr txBox="1"/>
          <p:nvPr/>
        </p:nvSpPr>
        <p:spPr>
          <a:xfrm>
            <a:off x="1545336" y="2176272"/>
            <a:ext cx="9784080" cy="292608"/>
          </a:xfrm>
          <a:prstGeom prst="rect">
            <a:avLst/>
          </a:prstGeom>
          <a:noFill/>
        </p:spPr>
        <p:txBody>
          <a:bodyPr wrap="square" anchor="t">
            <a:noAutofit/>
          </a:bodyPr>
          <a:lstStyle/>
          <a:p>
            <a:pPr algn="l"/>
            <a:r>
              <a:rPr sz="1600" b="0" i="0">
                <a:solidFill>
                  <a:srgbClr val="8F0072"/>
                </a:solidFill>
                <a:latin typeface="Amazon Ember Display"/>
              </a:rPr>
              <a:t>A grace period longer than start-up lets checks wait before counting</a:t>
            </a:r>
          </a:p>
        </p:txBody>
      </p:sp>
      <p:sp>
        <p:nvSpPr>
          <p:cNvPr id="11" name="TextBox 10"/>
          <p:cNvSpPr txBox="1"/>
          <p:nvPr/>
        </p:nvSpPr>
        <p:spPr>
          <a:xfrm>
            <a:off x="612648" y="2615184"/>
            <a:ext cx="5486400" cy="256032"/>
          </a:xfrm>
          <a:prstGeom prst="rect">
            <a:avLst/>
          </a:prstGeom>
          <a:noFill/>
        </p:spPr>
        <p:txBody>
          <a:bodyPr wrap="square" anchor="t">
            <a:noAutofit/>
          </a:bodyPr>
          <a:lstStyle/>
          <a:p>
            <a:pPr algn="l"/>
            <a:r>
              <a:rPr sz="1600" b="1" i="0">
                <a:solidFill>
                  <a:srgbClr val="5A6B7B"/>
                </a:solidFill>
                <a:latin typeface="Amazon Ember Display"/>
              </a:rPr>
              <a:t>RULED OUT</a:t>
            </a:r>
          </a:p>
        </p:txBody>
      </p:sp>
      <p:sp>
        <p:nvSpPr>
          <p:cNvPr id="12" name="Rounded Rectangle 11"/>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58952" y="299008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58952" y="3008376"/>
            <a:ext cx="310896" cy="274320"/>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5" name="TextBox 14"/>
          <p:cNvSpPr txBox="1"/>
          <p:nvPr/>
        </p:nvSpPr>
        <p:spPr>
          <a:xfrm>
            <a:off x="1216152" y="3017520"/>
            <a:ext cx="10186416" cy="274320"/>
          </a:xfrm>
          <a:prstGeom prst="rect">
            <a:avLst/>
          </a:prstGeom>
          <a:noFill/>
        </p:spPr>
        <p:txBody>
          <a:bodyPr wrap="square" anchor="t">
            <a:noAutofit/>
          </a:bodyPr>
          <a:lstStyle/>
          <a:p>
            <a:pPr algn="l"/>
            <a:r>
              <a:rPr sz="1700" b="0" i="0">
                <a:solidFill>
                  <a:srgbClr val="232B37"/>
                </a:solidFill>
                <a:latin typeface="Amazon Ember Display"/>
              </a:rPr>
              <a:t>A longer check interval slows detection; checks still start too early</a:t>
            </a:r>
          </a:p>
        </p:txBody>
      </p:sp>
      <p:sp>
        <p:nvSpPr>
          <p:cNvPr id="16" name="Rounded Rectangle 15"/>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58952" y="358444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8952" y="3602736"/>
            <a:ext cx="310896" cy="274320"/>
          </a:xfrm>
          <a:prstGeom prst="rect">
            <a:avLst/>
          </a:prstGeom>
          <a:noFill/>
        </p:spPr>
        <p:txBody>
          <a:bodyPr wrap="square" anchor="t">
            <a:noAutofit/>
          </a:bodyPr>
          <a:lstStyle/>
          <a:p>
            <a:pPr algn="ctr"/>
            <a:r>
              <a:rPr sz="1600" b="1" i="0">
                <a:solidFill>
                  <a:srgbClr val="5A6B7B"/>
                </a:solidFill>
                <a:latin typeface="Amazon Ember Display"/>
              </a:rPr>
              <a:t>C</a:t>
            </a:r>
          </a:p>
        </p:txBody>
      </p:sp>
      <p:sp>
        <p:nvSpPr>
          <p:cNvPr id="19" name="TextBox 18"/>
          <p:cNvSpPr txBox="1"/>
          <p:nvPr/>
        </p:nvSpPr>
        <p:spPr>
          <a:xfrm>
            <a:off x="1216152" y="3611880"/>
            <a:ext cx="10186416" cy="274320"/>
          </a:xfrm>
          <a:prstGeom prst="rect">
            <a:avLst/>
          </a:prstGeom>
          <a:noFill/>
        </p:spPr>
        <p:txBody>
          <a:bodyPr wrap="square" anchor="t">
            <a:noAutofit/>
          </a:bodyPr>
          <a:lstStyle/>
          <a:p>
            <a:pPr algn="l"/>
            <a:r>
              <a:rPr sz="1700" b="0" i="0">
                <a:solidFill>
                  <a:srgbClr val="232B37"/>
                </a:solidFill>
                <a:latin typeface="Amazon Ember Display"/>
              </a:rPr>
              <a:t>Deregistration delay drains connections, it does not delay checks</a:t>
            </a:r>
          </a:p>
        </p:txBody>
      </p:sp>
      <p:sp>
        <p:nvSpPr>
          <p:cNvPr id="20" name="Rounded Rectangle 19"/>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58952" y="4178807"/>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 y="4197096"/>
            <a:ext cx="310896" cy="274320"/>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3" name="TextBox 22"/>
          <p:cNvSpPr txBox="1"/>
          <p:nvPr/>
        </p:nvSpPr>
        <p:spPr>
          <a:xfrm>
            <a:off x="1216152" y="4206240"/>
            <a:ext cx="10186416" cy="274320"/>
          </a:xfrm>
          <a:prstGeom prst="rect">
            <a:avLst/>
          </a:prstGeom>
          <a:noFill/>
        </p:spPr>
        <p:txBody>
          <a:bodyPr wrap="square" anchor="t">
            <a:noAutofit/>
          </a:bodyPr>
          <a:lstStyle/>
          <a:p>
            <a:pPr algn="l"/>
            <a:r>
              <a:rPr sz="1700" b="0" i="0">
                <a:solidFill>
                  <a:srgbClr val="232B37"/>
                </a:solidFill>
                <a:latin typeface="Amazon Ember Display"/>
              </a:rPr>
              <a:t>An indefinite Pending:Wait pause stops instances ever serving</a:t>
            </a:r>
          </a:p>
        </p:txBody>
      </p:sp>
      <p:sp>
        <p:nvSpPr>
          <p:cNvPr id="24" name="Rounded Rectangle 23"/>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0392" y="4992624"/>
            <a:ext cx="1600200" cy="274320"/>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7" name="TextBox 26"/>
          <p:cNvSpPr txBox="1"/>
          <p:nvPr/>
        </p:nvSpPr>
        <p:spPr>
          <a:xfrm>
            <a:off x="2487168" y="4828032"/>
            <a:ext cx="8823960" cy="292608"/>
          </a:xfrm>
          <a:prstGeom prst="rect">
            <a:avLst/>
          </a:prstGeom>
          <a:noFill/>
        </p:spPr>
        <p:txBody>
          <a:bodyPr wrap="square" anchor="t">
            <a:noAutofit/>
          </a:bodyPr>
          <a:lstStyle/>
          <a:p>
            <a:pPr algn="l"/>
            <a:r>
              <a:rPr sz="1700" b="1" i="0">
                <a:solidFill>
                  <a:srgbClr val="8F0072"/>
                </a:solidFill>
                <a:latin typeface="Amazon Ember Display"/>
              </a:rPr>
              <a:t>“terminate them before initialization completes”</a:t>
            </a:r>
          </a:p>
        </p:txBody>
      </p:sp>
      <p:sp>
        <p:nvSpPr>
          <p:cNvPr id="28" name="TextBox 27"/>
          <p:cNvSpPr txBox="1"/>
          <p:nvPr/>
        </p:nvSpPr>
        <p:spPr>
          <a:xfrm>
            <a:off x="2487168" y="5175504"/>
            <a:ext cx="8823960" cy="292608"/>
          </a:xfrm>
          <a:prstGeom prst="rect">
            <a:avLst/>
          </a:prstGeom>
          <a:noFill/>
        </p:spPr>
        <p:txBody>
          <a:bodyPr wrap="square" anchor="t">
            <a:noAutofit/>
          </a:bodyPr>
          <a:lstStyle/>
          <a:p>
            <a:pPr algn="l"/>
            <a:r>
              <a:rPr sz="1700" b="0" i="0">
                <a:solidFill>
                  <a:srgbClr val="232B37"/>
                </a:solidFill>
                <a:latin typeface="Amazon Ember Display"/>
              </a:rPr>
              <a:t>→  Give an instance time to warm up before health checks count → grace period</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Is it DNS, the network, or the backend?</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34304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068726"/>
          </a:xfrm>
          <a:prstGeom prst="rect">
            <a:avLst/>
          </a:prstGeom>
          <a:noFill/>
        </p:spPr>
        <p:txBody>
          <a:bodyPr wrap="square" anchor="t">
            <a:noAutofit/>
          </a:bodyPr>
          <a:lstStyle/>
          <a:p>
            <a:r>
              <a:rPr sz="1600" b="1">
                <a:solidFill>
                  <a:srgbClr val="232B37"/>
                </a:solidFill>
                <a:latin typeface="Amazon Ember Display"/>
              </a:rPr>
              <a:t>A company runs a multi-tier application with a frontend hosted on Amazon CloudFront and a backend API on Amazon API Gateway. The application uses Amazon Route 53 for DNS resolution. Users in a specific geographic region report intermittent connectivity issues.</a:t>
            </a:r>
          </a:p>
          <a:p>
            <a:r>
              <a:rPr sz="1600" b="1">
                <a:solidFill>
                  <a:srgbClr val="232B37"/>
                </a:solidFill>
                <a:latin typeface="Amazon Ember Display"/>
              </a:rPr>
              <a:t>The developer needs to determine whether the connectivity issues are related to DNS resolution, network connectivity, or the application backend.</a:t>
            </a:r>
          </a:p>
          <a:p>
            <a:r>
              <a:rPr sz="1600" b="1">
                <a:solidFill>
                  <a:srgbClr val="232B37"/>
                </a:solidFill>
                <a:latin typeface="Amazon Ember Display"/>
              </a:rPr>
              <a:t>Which AWS service should the developer use to identify the source of the connectivity issues?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Use Amazon CloudWatch Logs Insights to query API Gateway access logs for the affected Region.</a:t>
            </a:r>
          </a:p>
          <a:p>
            <a:pPr marL="342900" indent="-342900">
              <a:spcBef>
                <a:spcPts val="600"/>
              </a:spcBef>
            </a:pPr>
            <a:r>
              <a:rPr sz="1600" b="0">
                <a:solidFill>
                  <a:srgbClr val="232B37"/>
                </a:solidFill>
                <a:latin typeface="Amazon Ember Display"/>
              </a:rPr>
              <a:t>B.  Use AWS X-Ray to trace requests from CloudFront through API Gateway.</a:t>
            </a:r>
          </a:p>
          <a:p>
            <a:pPr marL="342900" indent="-342900">
              <a:spcBef>
                <a:spcPts val="600"/>
              </a:spcBef>
            </a:pPr>
            <a:r>
              <a:rPr sz="1600" b="0">
                <a:solidFill>
                  <a:srgbClr val="232B37"/>
                </a:solidFill>
                <a:latin typeface="Amazon Ember Display"/>
              </a:rPr>
              <a:t>C.  Use Route 53 health checks to monitor the endpoint and analyze the health check results by Region.</a:t>
            </a:r>
          </a:p>
          <a:p>
            <a:pPr marL="342900" indent="-342900">
              <a:spcBef>
                <a:spcPts val="600"/>
              </a:spcBef>
            </a:pPr>
            <a:r>
              <a:rPr sz="1600" b="0">
                <a:solidFill>
                  <a:srgbClr val="232B37"/>
                </a:solidFill>
                <a:latin typeface="Amazon Ember Display"/>
              </a:rPr>
              <a:t>D.  Use AWS CloudTrail to review API calls made to Route 53 and CloudFront.</a:t>
            </a:r>
          </a:p>
        </p:txBody>
      </p:sp>
      <p:sp>
        <p:nvSpPr>
          <p:cNvPr id="6" name="Rounded Rectangle 5"/>
          <p:cNvSpPr/>
          <p:nvPr/>
        </p:nvSpPr>
        <p:spPr>
          <a:xfrm>
            <a:off x="10168128" y="457200"/>
            <a:ext cx="1417320" cy="384048"/>
          </a:xfrm>
          <a:prstGeom prst="roundRect">
            <a:avLst>
              <a:gd name="adj" fmla="val 50000"/>
            </a:avLst>
          </a:prstGeom>
          <a:solidFill>
            <a:srgbClr val="FF57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168128" y="475488"/>
            <a:ext cx="1417320" cy="347472"/>
          </a:xfrm>
          <a:prstGeom prst="rect">
            <a:avLst/>
          </a:prstGeom>
          <a:noFill/>
        </p:spPr>
        <p:txBody>
          <a:bodyPr wrap="square" anchor="ctr">
            <a:noAutofit/>
          </a:bodyPr>
          <a:lstStyle/>
          <a:p>
            <a:pPr algn="ctr"/>
            <a:r>
              <a:rPr sz="1600" b="1" i="0">
                <a:solidFill>
                  <a:srgbClr val="FFFFFF"/>
                </a:solidFill>
                <a:latin typeface="Amazon Ember Display"/>
              </a:rPr>
              <a:t>1 MINUTE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Is it DNS, the network, or the backend?</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343046"/>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068726"/>
          </a:xfrm>
          <a:prstGeom prst="rect">
            <a:avLst/>
          </a:prstGeom>
          <a:noFill/>
        </p:spPr>
        <p:txBody>
          <a:bodyPr wrap="square" anchor="t">
            <a:noAutofit/>
          </a:bodyPr>
          <a:lstStyle/>
          <a:p>
            <a:r>
              <a:rPr sz="1600" b="1">
                <a:solidFill>
                  <a:srgbClr val="232B37"/>
                </a:solidFill>
                <a:latin typeface="Amazon Ember Display"/>
              </a:rPr>
              <a:t>A company runs a multi-tier application with a frontend hosted on Amazon CloudFront and a backend API on Amazon API Gateway. The application uses Amazon Route 53 for DNS resolution. Users in a specific geographic region report intermittent connectivity issues.</a:t>
            </a:r>
          </a:p>
          <a:p>
            <a:r>
              <a:rPr sz="1600" b="1">
                <a:solidFill>
                  <a:srgbClr val="232B37"/>
                </a:solidFill>
                <a:latin typeface="Amazon Ember Display"/>
              </a:rPr>
              <a:t>The developer needs to determine whether the connectivity issues are related to DNS resolution, network connectivity, or the application backend.</a:t>
            </a:r>
          </a:p>
          <a:p>
            <a:r>
              <a:rPr sz="1600" b="1">
                <a:solidFill>
                  <a:srgbClr val="232B37"/>
                </a:solidFill>
                <a:latin typeface="Amazon Ember Display"/>
              </a:rPr>
              <a:t>Which AWS service should the developer use to identify the source of the connectivity issues?</a:t>
            </a:r>
          </a:p>
          <a:p>
            <a:endParaRPr sz="1600" b="1">
              <a:solidFill>
                <a:srgbClr val="232B37"/>
              </a:solidFill>
              <a:latin typeface="Amazon Ember Display"/>
            </a:endParaRPr>
          </a:p>
          <a:p>
            <a:pPr marL="342900" indent="-342900">
              <a:spcBef>
                <a:spcPts val="600"/>
              </a:spcBef>
            </a:pPr>
            <a:r>
              <a:rPr sz="1600" b="0">
                <a:solidFill>
                  <a:srgbClr val="232B37"/>
                </a:solidFill>
                <a:latin typeface="Amazon Ember Display"/>
              </a:rPr>
              <a:t>A.  Use Amazon CloudWatch Logs Insights to query API Gateway access logs for the affected Region.</a:t>
            </a:r>
          </a:p>
          <a:p>
            <a:pPr marL="342900" indent="-342900">
              <a:spcBef>
                <a:spcPts val="600"/>
              </a:spcBef>
            </a:pPr>
            <a:r>
              <a:rPr sz="1600" b="0">
                <a:solidFill>
                  <a:srgbClr val="232B37"/>
                </a:solidFill>
                <a:latin typeface="Amazon Ember Display"/>
              </a:rPr>
              <a:t>B.  Use AWS X-Ray to trace requests from CloudFront through API Gateway.</a:t>
            </a:r>
          </a:p>
          <a:p>
            <a:pPr marL="342900" indent="-342900">
              <a:spcBef>
                <a:spcPts val="600"/>
              </a:spcBef>
            </a:pPr>
            <a:r>
              <a:rPr sz="1600" b="0">
                <a:solidFill>
                  <a:srgbClr val="232B37"/>
                </a:solidFill>
                <a:latin typeface="Amazon Ember Display"/>
              </a:rPr>
              <a:t>C.  Use Route 53 health checks to monitor the endpoint and analyze the health check results by Region.</a:t>
            </a:r>
          </a:p>
          <a:p>
            <a:pPr marL="342900" indent="-342900">
              <a:spcBef>
                <a:spcPts val="600"/>
              </a:spcBef>
            </a:pPr>
            <a:r>
              <a:rPr sz="1600" b="0">
                <a:solidFill>
                  <a:srgbClr val="232B37"/>
                </a:solidFill>
                <a:latin typeface="Amazon Ember Display"/>
              </a:rPr>
              <a:t>D.  Use AWS CloudTrail to review API calls made to Route 53 and CloudFront.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Is it DNS, the network, or the backend?</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02920" y="1225296"/>
            <a:ext cx="11082528" cy="3658938"/>
          </a:xfrm>
          <a:prstGeom prst="roundRect">
            <a:avLst>
              <a:gd name="adj" fmla="val 6000"/>
            </a:avLst>
          </a:prstGeom>
          <a:solidFill>
            <a:srgbClr val="FFFFFF"/>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362456"/>
            <a:ext cx="10533888" cy="3068726"/>
          </a:xfrm>
          <a:prstGeom prst="rect">
            <a:avLst/>
          </a:prstGeom>
          <a:noFill/>
        </p:spPr>
        <p:txBody>
          <a:bodyPr wrap="square" anchor="t">
            <a:noAutofit/>
          </a:bodyPr>
          <a:lstStyle/>
          <a:p>
            <a:r>
              <a:rPr sz="1600" b="1" dirty="0">
                <a:solidFill>
                  <a:srgbClr val="232B37"/>
                </a:solidFill>
                <a:latin typeface="Amazon Ember Display"/>
              </a:rPr>
              <a:t>A company runs a multi-tier application with a frontend hosted on Amazon CloudFront and a backend API on Amazon API Gateway. The application uses Amazon Route 53 for DNS resolution. Users in a specific geographic region report intermittent connectivity issues.</a:t>
            </a:r>
          </a:p>
          <a:p>
            <a:r>
              <a:rPr sz="1600" b="1" dirty="0">
                <a:solidFill>
                  <a:srgbClr val="232B37"/>
                </a:solidFill>
                <a:latin typeface="Amazon Ember Display"/>
              </a:rPr>
              <a:t>The developer needs to determine whether the connectivity issues are related to DNS resolution, network connectivity, or the application backend.</a:t>
            </a:r>
          </a:p>
          <a:p>
            <a:r>
              <a:rPr sz="1600" b="1" dirty="0">
                <a:solidFill>
                  <a:srgbClr val="232B37"/>
                </a:solidFill>
                <a:latin typeface="Amazon Ember Display"/>
              </a:rPr>
              <a:t>Which AWS service should the developer use to identify the source of the connectivity issues?</a:t>
            </a:r>
          </a:p>
          <a:p>
            <a:endParaRPr sz="1600" b="1" dirty="0">
              <a:solidFill>
                <a:srgbClr val="232B37"/>
              </a:solidFill>
              <a:latin typeface="Amazon Ember Display"/>
            </a:endParaRPr>
          </a:p>
          <a:p>
            <a:pPr marL="342900" indent="-342900">
              <a:spcBef>
                <a:spcPts val="600"/>
              </a:spcBef>
            </a:pPr>
            <a:r>
              <a:rPr sz="1600" b="0" dirty="0">
                <a:solidFill>
                  <a:srgbClr val="232B37"/>
                </a:solidFill>
                <a:latin typeface="Amazon Ember Display"/>
              </a:rPr>
              <a:t>A.  Use Amazon CloudWatch Logs Insights to query API Gateway access logs for the affected Region.</a:t>
            </a:r>
          </a:p>
          <a:p>
            <a:pPr marL="342900" indent="-342900">
              <a:spcBef>
                <a:spcPts val="600"/>
              </a:spcBef>
            </a:pPr>
            <a:r>
              <a:rPr sz="1600" b="0" dirty="0">
                <a:solidFill>
                  <a:srgbClr val="232B37"/>
                </a:solidFill>
                <a:latin typeface="Amazon Ember Display"/>
              </a:rPr>
              <a:t>B.  Use AWS X-Ray to trace requests from CloudFront through API Gateway.</a:t>
            </a:r>
          </a:p>
          <a:p>
            <a:pPr marL="342900" indent="-342900">
              <a:spcBef>
                <a:spcPts val="600"/>
              </a:spcBef>
            </a:pPr>
            <a:r>
              <a:rPr sz="1600" b="1" dirty="0">
                <a:solidFill>
                  <a:srgbClr val="2E7D32"/>
                </a:solidFill>
                <a:latin typeface="Amazon Ember Display"/>
              </a:rPr>
              <a:t>C.  Use Route 53 health checks to monitor the endpoint and analyze the health check results by Region.  [CORRECT]</a:t>
            </a:r>
          </a:p>
          <a:p>
            <a:pPr marL="342900" indent="-342900">
              <a:spcBef>
                <a:spcPts val="600"/>
              </a:spcBef>
            </a:pPr>
            <a:r>
              <a:rPr sz="1600" b="0" dirty="0">
                <a:solidFill>
                  <a:srgbClr val="232B37"/>
                </a:solidFill>
                <a:latin typeface="Amazon Ember Display"/>
              </a:rPr>
              <a:t>D.  Use AWS CloudTrail to review API calls made to Route 53 and CloudFront.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232B37"/>
                </a:solidFill>
                <a:latin typeface="Amazon Ember Display"/>
              </a:rPr>
              <a:t>Question 5: Is it DNS, the network, or the backend?</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docs.aws.amazon.com · Route 53 health checks</a:t>
            </a:r>
          </a:p>
        </p:txBody>
      </p:sp>
      <p:sp>
        <p:nvSpPr>
          <p:cNvPr id="5" name="TextBox 4"/>
          <p:cNvSpPr txBox="1"/>
          <p:nvPr/>
        </p:nvSpPr>
        <p:spPr>
          <a:xfrm>
            <a:off x="612648" y="1152144"/>
            <a:ext cx="6400800" cy="274320"/>
          </a:xfrm>
          <a:prstGeom prst="rect">
            <a:avLst/>
          </a:prstGeom>
          <a:noFill/>
        </p:spPr>
        <p:txBody>
          <a:bodyPr wrap="square" anchor="t">
            <a:noAutofit/>
          </a:bodyPr>
          <a:lstStyle/>
          <a:p>
            <a:pPr algn="l"/>
            <a:r>
              <a:rPr sz="1800" b="1" i="0">
                <a:solidFill>
                  <a:srgbClr val="8F0072"/>
                </a:solidFill>
                <a:latin typeface="Amazon Ember Display"/>
              </a:rPr>
              <a:t>WHY THE ANSWER IS C</a:t>
            </a:r>
          </a:p>
        </p:txBody>
      </p:sp>
      <p:sp>
        <p:nvSpPr>
          <p:cNvPr id="6" name="Rounded Rectangle 5"/>
          <p:cNvSpPr/>
          <p:nvPr/>
        </p:nvSpPr>
        <p:spPr>
          <a:xfrm>
            <a:off x="612648" y="1463040"/>
            <a:ext cx="10972800" cy="1024128"/>
          </a:xfrm>
          <a:prstGeom prst="roundRect">
            <a:avLst>
              <a:gd name="adj" fmla="val 14000"/>
            </a:avLst>
          </a:prstGeom>
          <a:solidFill>
            <a:srgbClr val="FFF5FE"/>
          </a:solidFill>
          <a:ln w="1905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ounded Rectangle 6"/>
          <p:cNvSpPr/>
          <p:nvPr/>
        </p:nvSpPr>
        <p:spPr>
          <a:xfrm>
            <a:off x="795528" y="1700784"/>
            <a:ext cx="566928" cy="566928"/>
          </a:xfrm>
          <a:prstGeom prst="roundRect">
            <a:avLst>
              <a:gd name="adj" fmla="val 31000"/>
            </a:avLst>
          </a:prstGeom>
          <a:solidFill>
            <a:srgbClr val="FF57E9"/>
          </a:solidFill>
          <a:ln w="15875">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95528" y="1764792"/>
            <a:ext cx="566928" cy="420624"/>
          </a:xfrm>
          <a:prstGeom prst="rect">
            <a:avLst/>
          </a:prstGeom>
          <a:noFill/>
        </p:spPr>
        <p:txBody>
          <a:bodyPr wrap="square" anchor="t">
            <a:noAutofit/>
          </a:bodyPr>
          <a:lstStyle/>
          <a:p>
            <a:pPr algn="ctr"/>
            <a:r>
              <a:rPr sz="2200" b="1" i="0">
                <a:solidFill>
                  <a:srgbClr val="FFFFFF"/>
                </a:solidFill>
                <a:latin typeface="Amazon Ember Display"/>
              </a:rPr>
              <a:t>C</a:t>
            </a:r>
          </a:p>
        </p:txBody>
      </p:sp>
      <p:sp>
        <p:nvSpPr>
          <p:cNvPr id="9" name="TextBox 8"/>
          <p:cNvSpPr txBox="1"/>
          <p:nvPr/>
        </p:nvSpPr>
        <p:spPr>
          <a:xfrm>
            <a:off x="1545336" y="1572768"/>
            <a:ext cx="9784080" cy="585216"/>
          </a:xfrm>
          <a:prstGeom prst="rect">
            <a:avLst/>
          </a:prstGeom>
          <a:noFill/>
        </p:spPr>
        <p:txBody>
          <a:bodyPr wrap="square" anchor="t">
            <a:noAutofit/>
          </a:bodyPr>
          <a:lstStyle/>
          <a:p>
            <a:pPr algn="l"/>
            <a:r>
              <a:rPr sz="1700" b="1" i="0">
                <a:solidFill>
                  <a:srgbClr val="232B37"/>
                </a:solidFill>
                <a:latin typeface="Amazon Ember Display"/>
              </a:rPr>
              <a:t>Use Route 53 health checks to monitor the endpoint and analyze the health check results by Region.</a:t>
            </a:r>
          </a:p>
        </p:txBody>
      </p:sp>
      <p:sp>
        <p:nvSpPr>
          <p:cNvPr id="10" name="TextBox 9"/>
          <p:cNvSpPr txBox="1"/>
          <p:nvPr/>
        </p:nvSpPr>
        <p:spPr>
          <a:xfrm>
            <a:off x="1545336" y="2176272"/>
            <a:ext cx="9784080" cy="292608"/>
          </a:xfrm>
          <a:prstGeom prst="rect">
            <a:avLst/>
          </a:prstGeom>
          <a:noFill/>
        </p:spPr>
        <p:txBody>
          <a:bodyPr wrap="square" anchor="t">
            <a:noAutofit/>
          </a:bodyPr>
          <a:lstStyle/>
          <a:p>
            <a:pPr algn="l"/>
            <a:r>
              <a:rPr sz="1600" b="0" i="0">
                <a:solidFill>
                  <a:srgbClr val="8F0072"/>
                </a:solidFill>
                <a:latin typeface="Amazon Ember Display"/>
              </a:rPr>
              <a:t>Route 53 health checks isolate endpoint reachability by Region</a:t>
            </a:r>
          </a:p>
        </p:txBody>
      </p:sp>
      <p:sp>
        <p:nvSpPr>
          <p:cNvPr id="11" name="TextBox 10"/>
          <p:cNvSpPr txBox="1"/>
          <p:nvPr/>
        </p:nvSpPr>
        <p:spPr>
          <a:xfrm>
            <a:off x="612648" y="2615184"/>
            <a:ext cx="5486400" cy="256032"/>
          </a:xfrm>
          <a:prstGeom prst="rect">
            <a:avLst/>
          </a:prstGeom>
          <a:noFill/>
        </p:spPr>
        <p:txBody>
          <a:bodyPr wrap="square" anchor="t">
            <a:noAutofit/>
          </a:bodyPr>
          <a:lstStyle/>
          <a:p>
            <a:pPr algn="l"/>
            <a:r>
              <a:rPr sz="1600" b="1" i="0">
                <a:solidFill>
                  <a:srgbClr val="5A6B7B"/>
                </a:solidFill>
                <a:latin typeface="Amazon Ember Display"/>
              </a:rPr>
              <a:t>RULED OUT</a:t>
            </a:r>
          </a:p>
        </p:txBody>
      </p:sp>
      <p:sp>
        <p:nvSpPr>
          <p:cNvPr id="12" name="Rounded Rectangle 11"/>
          <p:cNvSpPr/>
          <p:nvPr/>
        </p:nvSpPr>
        <p:spPr>
          <a:xfrm>
            <a:off x="612648" y="287121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758952" y="299008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58952" y="3008376"/>
            <a:ext cx="310896" cy="274320"/>
          </a:xfrm>
          <a:prstGeom prst="rect">
            <a:avLst/>
          </a:prstGeom>
          <a:noFill/>
        </p:spPr>
        <p:txBody>
          <a:bodyPr wrap="square" anchor="t">
            <a:noAutofit/>
          </a:bodyPr>
          <a:lstStyle/>
          <a:p>
            <a:pPr algn="ctr"/>
            <a:r>
              <a:rPr sz="1600" b="1" i="0">
                <a:solidFill>
                  <a:srgbClr val="5A6B7B"/>
                </a:solidFill>
                <a:latin typeface="Amazon Ember Display"/>
              </a:rPr>
              <a:t>A</a:t>
            </a:r>
          </a:p>
        </p:txBody>
      </p:sp>
      <p:sp>
        <p:nvSpPr>
          <p:cNvPr id="15" name="TextBox 14"/>
          <p:cNvSpPr txBox="1"/>
          <p:nvPr/>
        </p:nvSpPr>
        <p:spPr>
          <a:xfrm>
            <a:off x="1216152" y="3017520"/>
            <a:ext cx="10186416" cy="274320"/>
          </a:xfrm>
          <a:prstGeom prst="rect">
            <a:avLst/>
          </a:prstGeom>
          <a:noFill/>
        </p:spPr>
        <p:txBody>
          <a:bodyPr wrap="square" anchor="t">
            <a:noAutofit/>
          </a:bodyPr>
          <a:lstStyle/>
          <a:p>
            <a:pPr algn="l"/>
            <a:r>
              <a:rPr sz="1700" b="0" i="0">
                <a:solidFill>
                  <a:srgbClr val="232B37"/>
                </a:solidFill>
                <a:latin typeface="Amazon Ember Display"/>
              </a:rPr>
              <a:t>Logs Insights shows backend logs only, not DNS or the network</a:t>
            </a:r>
          </a:p>
        </p:txBody>
      </p:sp>
      <p:sp>
        <p:nvSpPr>
          <p:cNvPr id="16" name="Rounded Rectangle 15"/>
          <p:cNvSpPr/>
          <p:nvPr/>
        </p:nvSpPr>
        <p:spPr>
          <a:xfrm>
            <a:off x="612648" y="3465576"/>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758952" y="3584448"/>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58952" y="3602736"/>
            <a:ext cx="310896" cy="274320"/>
          </a:xfrm>
          <a:prstGeom prst="rect">
            <a:avLst/>
          </a:prstGeom>
          <a:noFill/>
        </p:spPr>
        <p:txBody>
          <a:bodyPr wrap="square" anchor="t">
            <a:noAutofit/>
          </a:bodyPr>
          <a:lstStyle/>
          <a:p>
            <a:pPr algn="ctr"/>
            <a:r>
              <a:rPr sz="1600" b="1" i="0">
                <a:solidFill>
                  <a:srgbClr val="5A6B7B"/>
                </a:solidFill>
                <a:latin typeface="Amazon Ember Display"/>
              </a:rPr>
              <a:t>B</a:t>
            </a:r>
          </a:p>
        </p:txBody>
      </p:sp>
      <p:sp>
        <p:nvSpPr>
          <p:cNvPr id="19" name="TextBox 18"/>
          <p:cNvSpPr txBox="1"/>
          <p:nvPr/>
        </p:nvSpPr>
        <p:spPr>
          <a:xfrm>
            <a:off x="1216152" y="3611880"/>
            <a:ext cx="10186416" cy="274320"/>
          </a:xfrm>
          <a:prstGeom prst="rect">
            <a:avLst/>
          </a:prstGeom>
          <a:noFill/>
        </p:spPr>
        <p:txBody>
          <a:bodyPr wrap="square" anchor="t">
            <a:noAutofit/>
          </a:bodyPr>
          <a:lstStyle/>
          <a:p>
            <a:pPr algn="l"/>
            <a:r>
              <a:rPr sz="1700" b="0" i="0">
                <a:solidFill>
                  <a:srgbClr val="232B37"/>
                </a:solidFill>
                <a:latin typeface="Amazon Ember Display"/>
              </a:rPr>
              <a:t>X-Ray traces the backend path, not regional reachability</a:t>
            </a:r>
          </a:p>
        </p:txBody>
      </p:sp>
      <p:sp>
        <p:nvSpPr>
          <p:cNvPr id="20" name="Rounded Rectangle 19"/>
          <p:cNvSpPr/>
          <p:nvPr/>
        </p:nvSpPr>
        <p:spPr>
          <a:xfrm>
            <a:off x="612648" y="4059935"/>
            <a:ext cx="10972800" cy="530352"/>
          </a:xfrm>
          <a:prstGeom prst="roundRect">
            <a:avLst>
              <a:gd name="adj" fmla="val 8000"/>
            </a:avLst>
          </a:prstGeom>
          <a:solidFill>
            <a:srgbClr val="FFFFFF"/>
          </a:solidFill>
          <a:ln w="15875">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ounded Rectangle 20"/>
          <p:cNvSpPr/>
          <p:nvPr/>
        </p:nvSpPr>
        <p:spPr>
          <a:xfrm>
            <a:off x="758952" y="4178807"/>
            <a:ext cx="310896" cy="310896"/>
          </a:xfrm>
          <a:prstGeom prst="roundRect">
            <a:avLst>
              <a:gd name="adj" fmla="val 19000"/>
            </a:avLst>
          </a:prstGeom>
          <a:solidFill>
            <a:srgbClr val="DEDEE3"/>
          </a:solidFill>
          <a:ln w="12700">
            <a:solidFill>
              <a:srgbClr val="DEDE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 y="4197096"/>
            <a:ext cx="310896" cy="274320"/>
          </a:xfrm>
          <a:prstGeom prst="rect">
            <a:avLst/>
          </a:prstGeom>
          <a:noFill/>
        </p:spPr>
        <p:txBody>
          <a:bodyPr wrap="square" anchor="t">
            <a:noAutofit/>
          </a:bodyPr>
          <a:lstStyle/>
          <a:p>
            <a:pPr algn="ctr"/>
            <a:r>
              <a:rPr sz="1600" b="1" i="0">
                <a:solidFill>
                  <a:srgbClr val="5A6B7B"/>
                </a:solidFill>
                <a:latin typeface="Amazon Ember Display"/>
              </a:rPr>
              <a:t>D</a:t>
            </a:r>
          </a:p>
        </p:txBody>
      </p:sp>
      <p:sp>
        <p:nvSpPr>
          <p:cNvPr id="23" name="TextBox 22"/>
          <p:cNvSpPr txBox="1"/>
          <p:nvPr/>
        </p:nvSpPr>
        <p:spPr>
          <a:xfrm>
            <a:off x="1216152" y="4206240"/>
            <a:ext cx="10186416" cy="274320"/>
          </a:xfrm>
          <a:prstGeom prst="rect">
            <a:avLst/>
          </a:prstGeom>
          <a:noFill/>
        </p:spPr>
        <p:txBody>
          <a:bodyPr wrap="square" anchor="t">
            <a:noAutofit/>
          </a:bodyPr>
          <a:lstStyle/>
          <a:p>
            <a:pPr algn="l"/>
            <a:r>
              <a:rPr sz="1700" b="0" i="0">
                <a:solidFill>
                  <a:srgbClr val="232B37"/>
                </a:solidFill>
                <a:latin typeface="Amazon Ember Display"/>
              </a:rPr>
              <a:t>CloudTrail records API calls, not live connectivity</a:t>
            </a:r>
          </a:p>
        </p:txBody>
      </p:sp>
      <p:sp>
        <p:nvSpPr>
          <p:cNvPr id="24" name="Rounded Rectangle 23"/>
          <p:cNvSpPr/>
          <p:nvPr/>
        </p:nvSpPr>
        <p:spPr>
          <a:xfrm>
            <a:off x="612648" y="4718304"/>
            <a:ext cx="10972800" cy="804672"/>
          </a:xfrm>
          <a:prstGeom prst="roundRect">
            <a:avLst>
              <a:gd name="adj" fmla="val 10000"/>
            </a:avLst>
          </a:prstGeom>
          <a:solidFill>
            <a:srgbClr val="FFF5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Rounded Rectangle 24"/>
          <p:cNvSpPr/>
          <p:nvPr/>
        </p:nvSpPr>
        <p:spPr>
          <a:xfrm>
            <a:off x="612648" y="4718304"/>
            <a:ext cx="68580" cy="804672"/>
          </a:xfrm>
          <a:prstGeom prst="roundRect">
            <a:avLst>
              <a:gd name="adj" fmla="val 2000"/>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850392" y="4992624"/>
            <a:ext cx="1600200" cy="274320"/>
          </a:xfrm>
          <a:prstGeom prst="rect">
            <a:avLst/>
          </a:prstGeom>
          <a:noFill/>
        </p:spPr>
        <p:txBody>
          <a:bodyPr wrap="square" anchor="t">
            <a:noAutofit/>
          </a:bodyPr>
          <a:lstStyle/>
          <a:p>
            <a:pPr algn="l"/>
            <a:r>
              <a:rPr sz="1600" b="1" i="0">
                <a:solidFill>
                  <a:srgbClr val="5A6B7B"/>
                </a:solidFill>
                <a:latin typeface="Amazon Ember Display"/>
              </a:rPr>
              <a:t>THE TELL</a:t>
            </a:r>
          </a:p>
        </p:txBody>
      </p:sp>
      <p:sp>
        <p:nvSpPr>
          <p:cNvPr id="27" name="TextBox 26"/>
          <p:cNvSpPr txBox="1"/>
          <p:nvPr/>
        </p:nvSpPr>
        <p:spPr>
          <a:xfrm>
            <a:off x="2487168" y="4828032"/>
            <a:ext cx="8823960" cy="292608"/>
          </a:xfrm>
          <a:prstGeom prst="rect">
            <a:avLst/>
          </a:prstGeom>
          <a:noFill/>
        </p:spPr>
        <p:txBody>
          <a:bodyPr wrap="square" anchor="t">
            <a:noAutofit/>
          </a:bodyPr>
          <a:lstStyle/>
          <a:p>
            <a:pPr algn="l"/>
            <a:r>
              <a:rPr sz="1700" b="1" i="0">
                <a:solidFill>
                  <a:srgbClr val="8F0072"/>
                </a:solidFill>
                <a:latin typeface="Amazon Ember Display"/>
              </a:rPr>
              <a:t>“determine whether ... DNS resolution, network connectivity, or the application”</a:t>
            </a:r>
          </a:p>
        </p:txBody>
      </p:sp>
      <p:sp>
        <p:nvSpPr>
          <p:cNvPr id="28" name="TextBox 27"/>
          <p:cNvSpPr txBox="1"/>
          <p:nvPr/>
        </p:nvSpPr>
        <p:spPr>
          <a:xfrm>
            <a:off x="2487168" y="5175504"/>
            <a:ext cx="8823960" cy="292608"/>
          </a:xfrm>
          <a:prstGeom prst="rect">
            <a:avLst/>
          </a:prstGeom>
          <a:noFill/>
        </p:spPr>
        <p:txBody>
          <a:bodyPr wrap="square" anchor="t">
            <a:noAutofit/>
          </a:bodyPr>
          <a:lstStyle/>
          <a:p>
            <a:pPr algn="l"/>
            <a:r>
              <a:rPr sz="1700" b="0" i="0">
                <a:solidFill>
                  <a:srgbClr val="232B37"/>
                </a:solidFill>
                <a:latin typeface="Amazon Ember Display"/>
              </a:rPr>
              <a:t>→  Testing reachability from many Regions points to Route 53 health checks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Coming up: Week 2 digital training</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Learning Plan courses</a:t>
            </a:r>
          </a:p>
        </p:txBody>
      </p:sp>
      <p:sp>
        <p:nvSpPr>
          <p:cNvPr id="6" name="Rectangle 5"/>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AWS Database Offerings</a:t>
            </a:r>
          </a:p>
        </p:txBody>
      </p:sp>
      <p:sp>
        <p:nvSpPr>
          <p:cNvPr id="9" name="Rounded Rectangle 8"/>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Amazon ElastiCache Getting Started</a:t>
            </a:r>
          </a:p>
        </p:txBody>
      </p:sp>
      <p:sp>
        <p:nvSpPr>
          <p:cNvPr id="11" name="Rounded Rectangle 10"/>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Getting into the Serverless Mindset</a:t>
            </a:r>
          </a:p>
        </p:txBody>
      </p:sp>
      <p:sp>
        <p:nvSpPr>
          <p:cNvPr id="13" name="Rounded Rectangle 12"/>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069848" y="4128008"/>
            <a:ext cx="4389119" cy="284479"/>
          </a:xfrm>
          <a:prstGeom prst="rect">
            <a:avLst/>
          </a:prstGeom>
          <a:noFill/>
        </p:spPr>
        <p:txBody>
          <a:bodyPr wrap="square" anchor="t">
            <a:noAutofit/>
          </a:bodyPr>
          <a:lstStyle/>
          <a:p>
            <a:pPr algn="l"/>
            <a:r>
              <a:rPr sz="1600" b="1" i="0">
                <a:solidFill>
                  <a:srgbClr val="232B37"/>
                </a:solidFill>
                <a:latin typeface="Amazon Ember Display"/>
              </a:rPr>
              <a:t>Amazon DynamoDB for Serverless</a:t>
            </a:r>
          </a:p>
        </p:txBody>
      </p:sp>
      <p:sp>
        <p:nvSpPr>
          <p:cNvPr id="15" name="Rounded Rectangle 14"/>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Optional Additional Training</a:t>
            </a:r>
          </a:p>
        </p:txBody>
      </p:sp>
      <p:sp>
        <p:nvSpPr>
          <p:cNvPr id="17" name="Rectangle 16"/>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Continue: Cloud Quest: Serverless Dev*</a:t>
            </a:r>
          </a:p>
        </p:txBody>
      </p:sp>
      <p:sp>
        <p:nvSpPr>
          <p:cNvPr id="20" name="Rounded Rectangle 19"/>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Complete: Domain 2 review</a:t>
            </a:r>
          </a:p>
        </p:txBody>
      </p:sp>
      <p:sp>
        <p:nvSpPr>
          <p:cNvPr id="22" name="Rounded Rectangle 21"/>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Complete: Domain 2 practice*</a:t>
            </a:r>
          </a:p>
        </p:txBody>
      </p:sp>
      <p:sp>
        <p:nvSpPr>
          <p:cNvPr id="24" name="Rounded Rectangle 23"/>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739128" y="4128008"/>
            <a:ext cx="4389119" cy="284479"/>
          </a:xfrm>
          <a:prstGeom prst="rect">
            <a:avLst/>
          </a:prstGeom>
          <a:noFill/>
        </p:spPr>
        <p:txBody>
          <a:bodyPr wrap="square" anchor="t">
            <a:noAutofit/>
          </a:bodyPr>
          <a:lstStyle/>
          <a:p>
            <a:pPr algn="l"/>
            <a:r>
              <a:rPr sz="1600" b="1" i="0">
                <a:solidFill>
                  <a:srgbClr val="232B37"/>
                </a:solidFill>
                <a:latin typeface="Amazon Ember Display"/>
              </a:rPr>
              <a:t>Complete: Domain 2 practice, SimuLearn*</a:t>
            </a:r>
          </a:p>
        </p:txBody>
      </p:sp>
      <p:sp>
        <p:nvSpPr>
          <p:cNvPr id="26" name="TextBox 25"/>
          <p:cNvSpPr txBox="1"/>
          <p:nvPr/>
        </p:nvSpPr>
        <p:spPr>
          <a:xfrm>
            <a:off x="612648" y="5212080"/>
            <a:ext cx="10972800" cy="274320"/>
          </a:xfrm>
          <a:prstGeom prst="rect">
            <a:avLst/>
          </a:prstGeom>
          <a:noFill/>
        </p:spPr>
        <p:txBody>
          <a:bodyPr wrap="square" anchor="ctr">
            <a:noAutofit/>
          </a:bodyPr>
          <a:lstStyle/>
          <a:p>
            <a:pPr algn="ctr"/>
            <a:r>
              <a:rPr sz="1600" b="0" i="0">
                <a:solidFill>
                  <a:srgbClr val="5A6B7B"/>
                </a:solidFill>
                <a:latin typeface="Amazon Ember Display"/>
              </a:rPr>
              <a:t>* Requires an AWS Skill Builder subscription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Q&amp;A time</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QUESTIONS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Thank you for joining!</a:t>
            </a:r>
          </a:p>
        </p:txBody>
      </p:sp>
      <p:sp>
        <p:nvSpPr>
          <p:cNvPr id="3" name="Text Placeholder 2"/>
          <p:cNvSpPr>
            <a:spLocks noGrp="1"/>
          </p:cNvSpPr>
          <p:nvPr>
            <p:ph type="body" sz="quarter" idx="11"/>
          </p:nvPr>
        </p:nvSpPr>
        <p:spPr>
          <a:xfrm>
            <a:off x="322916" y="2434551"/>
            <a:ext cx="3492500" cy="313932"/>
          </a:xfrm>
        </p:spPr>
        <p:txBody>
          <a:bodyPr/>
          <a:lstStyle/>
          <a:p>
            <a:r>
              <a:rPr sz="1800" b="1">
                <a:solidFill>
                  <a:srgbClr val="FF57E9"/>
                </a:solidFill>
                <a:latin typeface="Amazon Ember Display"/>
              </a:rPr>
              <a:t>SEE YOU NEXT WEEK</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PCR-Octopus-ghost.png"/>
          <p:cNvPicPr>
            <a:picLocks noChangeAspect="1"/>
          </p:cNvPicPr>
          <p:nvPr/>
        </p:nvPicPr>
        <p:blipFill>
          <a:blip r:embed="rId3">
            <a:alphaModFix amt="40000"/>
          </a:blip>
          <a:stretch>
            <a:fillRect/>
          </a:stretch>
        </p:blipFill>
        <p:spPr>
          <a:xfrm>
            <a:off x="8227263" y="228600"/>
            <a:ext cx="3690112" cy="2075688"/>
          </a:xfrm>
          <a:prstGeom prst="rect">
            <a:avLst/>
          </a:prstGeom>
        </p:spPr>
      </p:pic>
      <p:sp>
        <p:nvSpPr>
          <p:cNvPr id="2" name="Title 1"/>
          <p:cNvSpPr>
            <a:spLocks noGrp="1"/>
          </p:cNvSpPr>
          <p:nvPr>
            <p:ph type="title"/>
          </p:nvPr>
        </p:nvSpPr>
        <p:spPr/>
        <p:txBody>
          <a:bodyPr/>
          <a:lstStyle/>
          <a:p>
            <a:r>
              <a:rPr sz="3600" b="1">
                <a:solidFill>
                  <a:srgbClr val="FFFFFF"/>
                </a:solidFill>
                <a:latin typeface="Amazon Ember Display"/>
              </a:rPr>
              <a:t>Appendix -- DVA-C02 reference</a:t>
            </a:r>
          </a:p>
        </p:txBody>
      </p:sp>
      <p:sp>
        <p:nvSpPr>
          <p:cNvPr id="3" name="Text Placeholder 2"/>
          <p:cNvSpPr>
            <a:spLocks noGrp="1"/>
          </p:cNvSpPr>
          <p:nvPr>
            <p:ph type="body" sz="quarter" idx="11"/>
          </p:nvPr>
        </p:nvSpPr>
        <p:spPr>
          <a:xfrm>
            <a:off x="322916" y="2434551"/>
            <a:ext cx="3695166" cy="313932"/>
          </a:xfrm>
        </p:spPr>
        <p:txBody>
          <a:bodyPr/>
          <a:lstStyle/>
          <a:p>
            <a:r>
              <a:rPr sz="1800" b="1">
                <a:solidFill>
                  <a:srgbClr val="FF57E9"/>
                </a:solidFill>
                <a:latin typeface="Amazon Ember Display"/>
              </a:rPr>
              <a:t>SELF-STUDY REFERENCE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How C02 and C03 differ for this week</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a:solidFill>
                  <a:srgbClr val="5A6B7B"/>
                </a:solidFill>
                <a:latin typeface="Amazon Ember"/>
              </a:rPr>
              <a:t>SOURCE  </a:t>
            </a:r>
            <a:r>
              <a:rPr sz="1200" u="sng">
                <a:solidFill>
                  <a:srgbClr val="0563C1"/>
                </a:solidFill>
                <a:latin typeface="Consolas"/>
                <a:hlinkClick r:id="rId3"/>
              </a:rPr>
              <a:t>aws.amazon.com · Certification updates, September 2026</a:t>
            </a:r>
          </a:p>
        </p:txBody>
      </p:sp>
      <p:sp>
        <p:nvSpPr>
          <p:cNvPr id="5" name="Rounded Rectangle 4"/>
          <p:cNvSpPr/>
          <p:nvPr/>
        </p:nvSpPr>
        <p:spPr>
          <a:xfrm>
            <a:off x="61264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Domain weightings: C02 to C03</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a:solidFill>
                  <a:srgbClr val="232B37"/>
                </a:solidFill>
                <a:latin typeface="Amazon Ember Display"/>
              </a:rPr>
              <a:t>Development 32% to 30%</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Security 26%, unchanged</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Testing and Deployment 24% to 22%</a:t>
            </a:r>
          </a:p>
        </p:txBody>
      </p:sp>
      <p:sp>
        <p:nvSpPr>
          <p:cNvPr id="14" name="Rounded Rectangle 13"/>
          <p:cNvSpPr/>
          <p:nvPr/>
        </p:nvSpPr>
        <p:spPr>
          <a:xfrm>
            <a:off x="85039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069848" y="4128008"/>
            <a:ext cx="4389119" cy="284479"/>
          </a:xfrm>
          <a:prstGeom prst="rect">
            <a:avLst/>
          </a:prstGeom>
          <a:noFill/>
        </p:spPr>
        <p:txBody>
          <a:bodyPr wrap="square" anchor="t">
            <a:noAutofit/>
          </a:bodyPr>
          <a:lstStyle/>
          <a:p>
            <a:pPr algn="l"/>
            <a:r>
              <a:rPr sz="1600" b="1" i="0">
                <a:solidFill>
                  <a:srgbClr val="232B37"/>
                </a:solidFill>
                <a:latin typeface="Amazon Ember Display"/>
              </a:rPr>
              <a:t>Troubleshooting 18% to 22%</a:t>
            </a:r>
          </a:p>
        </p:txBody>
      </p:sp>
      <p:sp>
        <p:nvSpPr>
          <p:cNvPr id="16" name="Rounded Rectangle 15"/>
          <p:cNvSpPr/>
          <p:nvPr/>
        </p:nvSpPr>
        <p:spPr>
          <a:xfrm>
            <a:off x="6281928" y="1417320"/>
            <a:ext cx="5303520" cy="3236976"/>
          </a:xfrm>
          <a:prstGeom prst="roundRect">
            <a:avLst>
              <a:gd name="adj" fmla="val 5649"/>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New in C03 for week 1</a:t>
            </a:r>
          </a:p>
        </p:txBody>
      </p:sp>
      <p:sp>
        <p:nvSpPr>
          <p:cNvPr id="18" name="Rectangle 17"/>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AWS Fargate is newly in scope</a:t>
            </a:r>
          </a:p>
        </p:txBody>
      </p:sp>
      <p:sp>
        <p:nvSpPr>
          <p:cNvPr id="21" name="Rounded Rectangle 20"/>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Amazon ECR, ECS and EKS are on both</a:t>
            </a:r>
          </a:p>
        </p:txBody>
      </p:sp>
      <p:sp>
        <p:nvSpPr>
          <p:cNvPr id="23" name="Rounded Rectangle 22"/>
          <p:cNvSpPr/>
          <p:nvPr/>
        </p:nvSpPr>
        <p:spPr>
          <a:xfrm>
            <a:off x="651967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739128" y="3524504"/>
            <a:ext cx="4389119" cy="284479"/>
          </a:xfrm>
          <a:prstGeom prst="rect">
            <a:avLst/>
          </a:prstGeom>
          <a:noFill/>
        </p:spPr>
        <p:txBody>
          <a:bodyPr wrap="square" anchor="t">
            <a:noAutofit/>
          </a:bodyPr>
          <a:lstStyle/>
          <a:p>
            <a:pPr algn="l"/>
            <a:r>
              <a:rPr sz="1600" b="1" i="0">
                <a:solidFill>
                  <a:srgbClr val="232B37"/>
                </a:solidFill>
                <a:latin typeface="Amazon Ember Display"/>
              </a:rPr>
              <a:t>The only delta touching week 1 topics</a:t>
            </a:r>
          </a:p>
        </p:txBody>
      </p:sp>
      <p:sp>
        <p:nvSpPr>
          <p:cNvPr id="25" name="Rounded Rectangle 24"/>
          <p:cNvSpPr/>
          <p:nvPr/>
        </p:nvSpPr>
        <p:spPr>
          <a:xfrm>
            <a:off x="6519672" y="4014216"/>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739128" y="4128008"/>
            <a:ext cx="4389119" cy="284479"/>
          </a:xfrm>
          <a:prstGeom prst="rect">
            <a:avLst/>
          </a:prstGeom>
          <a:noFill/>
        </p:spPr>
        <p:txBody>
          <a:bodyPr wrap="square" anchor="t">
            <a:noAutofit/>
          </a:bodyPr>
          <a:lstStyle/>
          <a:p>
            <a:pPr algn="l"/>
            <a:r>
              <a:rPr sz="1600" b="1" i="0">
                <a:solidFill>
                  <a:srgbClr val="232B37"/>
                </a:solidFill>
                <a:latin typeface="Amazon Ember Display"/>
              </a:rPr>
              <a:t>Nothing moved or consolidated this week</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232B37"/>
                </a:solidFill>
                <a:latin typeface="Amazon Ember Display"/>
              </a:rPr>
              <a:t>What a DVA-C02 candidate needs here</a:t>
            </a:r>
          </a:p>
        </p:txBody>
      </p:sp>
      <p:sp>
        <p:nvSpPr>
          <p:cNvPr id="3" name="Rectangle 2"/>
          <p:cNvSpPr/>
          <p:nvPr/>
        </p:nvSpPr>
        <p:spPr>
          <a:xfrm>
            <a:off x="365760" y="1051560"/>
            <a:ext cx="11466576"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hlinkClick r:id="rId3"/>
          </p:cNvPr>
          <p:cNvSpPr txBox="1"/>
          <p:nvPr/>
        </p:nvSpPr>
        <p:spPr>
          <a:xfrm>
            <a:off x="612648" y="5943600"/>
            <a:ext cx="5486400" cy="274320"/>
          </a:xfrm>
          <a:prstGeom prst="rect">
            <a:avLst/>
          </a:prstGeom>
          <a:noFill/>
        </p:spPr>
        <p:txBody>
          <a:bodyPr wrap="none">
            <a:noAutofit/>
          </a:bodyPr>
          <a:lstStyle/>
          <a:p>
            <a:r>
              <a:rPr sz="1100" b="1" dirty="0">
                <a:solidFill>
                  <a:srgbClr val="5A6B7B"/>
                </a:solidFill>
                <a:latin typeface="Amazon Ember"/>
              </a:rPr>
              <a:t>SOURCE  </a:t>
            </a:r>
            <a:r>
              <a:rPr sz="1200" u="sng" dirty="0">
                <a:solidFill>
                  <a:srgbClr val="0563C1"/>
                </a:solidFill>
                <a:latin typeface="Consolas"/>
                <a:hlinkClick r:id="rId3"/>
              </a:rPr>
              <a:t>aws.amazon.com · Certification updates, September 2026</a:t>
            </a:r>
          </a:p>
        </p:txBody>
      </p:sp>
      <p:sp>
        <p:nvSpPr>
          <p:cNvPr id="5" name="Rounded Rectangle 4"/>
          <p:cNvSpPr/>
          <p:nvPr/>
        </p:nvSpPr>
        <p:spPr>
          <a:xfrm>
            <a:off x="61264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50392" y="1554480"/>
            <a:ext cx="4828031" cy="365760"/>
          </a:xfrm>
          <a:prstGeom prst="rect">
            <a:avLst/>
          </a:prstGeom>
          <a:noFill/>
        </p:spPr>
        <p:txBody>
          <a:bodyPr wrap="square" anchor="t">
            <a:noAutofit/>
          </a:bodyPr>
          <a:lstStyle/>
          <a:p>
            <a:pPr algn="ctr"/>
            <a:r>
              <a:rPr sz="2200" b="1" i="0">
                <a:solidFill>
                  <a:srgbClr val="8F0072"/>
                </a:solidFill>
                <a:latin typeface="Amazon Ember Display"/>
              </a:rPr>
              <a:t>C03-only here -- skip for C02</a:t>
            </a:r>
          </a:p>
        </p:txBody>
      </p:sp>
      <p:sp>
        <p:nvSpPr>
          <p:cNvPr id="7" name="Rectangle 6"/>
          <p:cNvSpPr/>
          <p:nvPr/>
        </p:nvSpPr>
        <p:spPr>
          <a:xfrm>
            <a:off x="85039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5039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069848" y="2317496"/>
            <a:ext cx="4389119" cy="284479"/>
          </a:xfrm>
          <a:prstGeom prst="rect">
            <a:avLst/>
          </a:prstGeom>
          <a:noFill/>
        </p:spPr>
        <p:txBody>
          <a:bodyPr wrap="square" anchor="t">
            <a:noAutofit/>
          </a:bodyPr>
          <a:lstStyle/>
          <a:p>
            <a:pPr algn="l"/>
            <a:r>
              <a:rPr sz="1600" b="1" i="0" dirty="0">
                <a:solidFill>
                  <a:srgbClr val="232B37"/>
                </a:solidFill>
                <a:latin typeface="Amazon Ember Display"/>
              </a:rPr>
              <a:t>The AWS Fargate slide is new</a:t>
            </a:r>
          </a:p>
        </p:txBody>
      </p:sp>
      <p:sp>
        <p:nvSpPr>
          <p:cNvPr id="10" name="Rounded Rectangle 9"/>
          <p:cNvSpPr/>
          <p:nvPr/>
        </p:nvSpPr>
        <p:spPr>
          <a:xfrm>
            <a:off x="85039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69848" y="2921000"/>
            <a:ext cx="4389119" cy="284479"/>
          </a:xfrm>
          <a:prstGeom prst="rect">
            <a:avLst/>
          </a:prstGeom>
          <a:noFill/>
        </p:spPr>
        <p:txBody>
          <a:bodyPr wrap="square" anchor="t">
            <a:noAutofit/>
          </a:bodyPr>
          <a:lstStyle/>
          <a:p>
            <a:pPr algn="l"/>
            <a:r>
              <a:rPr sz="1600" b="1" i="0">
                <a:solidFill>
                  <a:srgbClr val="232B37"/>
                </a:solidFill>
                <a:latin typeface="Amazon Ember Display"/>
              </a:rPr>
              <a:t>Not on the C02 exam</a:t>
            </a:r>
          </a:p>
        </p:txBody>
      </p:sp>
      <p:sp>
        <p:nvSpPr>
          <p:cNvPr id="12" name="Rounded Rectangle 11"/>
          <p:cNvSpPr/>
          <p:nvPr/>
        </p:nvSpPr>
        <p:spPr>
          <a:xfrm>
            <a:off x="850392" y="3410712"/>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69848" y="3524504"/>
            <a:ext cx="4389119" cy="284479"/>
          </a:xfrm>
          <a:prstGeom prst="rect">
            <a:avLst/>
          </a:prstGeom>
          <a:noFill/>
        </p:spPr>
        <p:txBody>
          <a:bodyPr wrap="square" anchor="t">
            <a:noAutofit/>
          </a:bodyPr>
          <a:lstStyle/>
          <a:p>
            <a:pPr algn="l"/>
            <a:r>
              <a:rPr sz="1600" b="1" i="0">
                <a:solidFill>
                  <a:srgbClr val="232B37"/>
                </a:solidFill>
                <a:latin typeface="Amazon Ember Display"/>
              </a:rPr>
              <a:t>A C02 candidate can skip it</a:t>
            </a:r>
          </a:p>
        </p:txBody>
      </p:sp>
      <p:sp>
        <p:nvSpPr>
          <p:cNvPr id="14" name="Rounded Rectangle 13"/>
          <p:cNvSpPr/>
          <p:nvPr/>
        </p:nvSpPr>
        <p:spPr>
          <a:xfrm>
            <a:off x="6281928" y="1417320"/>
            <a:ext cx="5303520" cy="3054096"/>
          </a:xfrm>
          <a:prstGeom prst="roundRect">
            <a:avLst>
              <a:gd name="adj" fmla="val 5988"/>
            </a:avLst>
          </a:prstGeom>
          <a:solidFill>
            <a:srgbClr val="FFFFFF"/>
          </a:solidFill>
          <a:ln w="25400">
            <a:solidFill>
              <a:srgbClr val="D600B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519672" y="1554480"/>
            <a:ext cx="4828031" cy="365760"/>
          </a:xfrm>
          <a:prstGeom prst="rect">
            <a:avLst/>
          </a:prstGeom>
          <a:noFill/>
        </p:spPr>
        <p:txBody>
          <a:bodyPr wrap="square" anchor="t">
            <a:noAutofit/>
          </a:bodyPr>
          <a:lstStyle/>
          <a:p>
            <a:pPr algn="ctr"/>
            <a:r>
              <a:rPr sz="2200" b="1" i="0">
                <a:solidFill>
                  <a:srgbClr val="8F0072"/>
                </a:solidFill>
                <a:latin typeface="Amazon Ember Display"/>
              </a:rPr>
              <a:t>Serves both exams</a:t>
            </a:r>
          </a:p>
        </p:txBody>
      </p:sp>
      <p:sp>
        <p:nvSpPr>
          <p:cNvPr id="16" name="Rectangle 15"/>
          <p:cNvSpPr/>
          <p:nvPr/>
        </p:nvSpPr>
        <p:spPr>
          <a:xfrm>
            <a:off x="6519672" y="1984248"/>
            <a:ext cx="4828031" cy="41148"/>
          </a:xfrm>
          <a:prstGeom prst="rect">
            <a:avLst/>
          </a:prstGeom>
          <a:solidFill>
            <a:srgbClr val="D600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519672" y="2203704"/>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6739128" y="2317496"/>
            <a:ext cx="4389119" cy="284479"/>
          </a:xfrm>
          <a:prstGeom prst="rect">
            <a:avLst/>
          </a:prstGeom>
          <a:noFill/>
        </p:spPr>
        <p:txBody>
          <a:bodyPr wrap="square" anchor="t">
            <a:noAutofit/>
          </a:bodyPr>
          <a:lstStyle/>
          <a:p>
            <a:pPr algn="l"/>
            <a:r>
              <a:rPr sz="1600" b="1" i="0">
                <a:solidFill>
                  <a:srgbClr val="232B37"/>
                </a:solidFill>
                <a:latin typeface="Amazon Ember Display"/>
              </a:rPr>
              <a:t>No C02-only topic this week</a:t>
            </a:r>
          </a:p>
        </p:txBody>
      </p:sp>
      <p:sp>
        <p:nvSpPr>
          <p:cNvPr id="19" name="Rounded Rectangle 18"/>
          <p:cNvSpPr/>
          <p:nvPr/>
        </p:nvSpPr>
        <p:spPr>
          <a:xfrm>
            <a:off x="6519672" y="2807208"/>
            <a:ext cx="4828031" cy="512064"/>
          </a:xfrm>
          <a:prstGeom prst="roundRect">
            <a:avLst>
              <a:gd name="adj" fmla="val 30000"/>
            </a:avLst>
          </a:prstGeom>
          <a:solidFill>
            <a:srgbClr val="F3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739128" y="2921000"/>
            <a:ext cx="4389119" cy="284479"/>
          </a:xfrm>
          <a:prstGeom prst="rect">
            <a:avLst/>
          </a:prstGeom>
          <a:noFill/>
        </p:spPr>
        <p:txBody>
          <a:bodyPr wrap="square" anchor="t">
            <a:noAutofit/>
          </a:bodyPr>
          <a:lstStyle/>
          <a:p>
            <a:pPr algn="l"/>
            <a:r>
              <a:rPr sz="1600" b="1" i="0">
                <a:solidFill>
                  <a:srgbClr val="232B37"/>
                </a:solidFill>
                <a:latin typeface="Amazon Ember Display"/>
              </a:rPr>
              <a:t>Everything else serves both exams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TrainingLive">
      <a:dk1>
        <a:srgbClr val="232F3D"/>
      </a:dk1>
      <a:lt1>
        <a:srgbClr val="FFFFFF"/>
      </a:lt1>
      <a:dk2>
        <a:srgbClr val="232F3D"/>
      </a:dk2>
      <a:lt2>
        <a:srgbClr val="FFFFFF"/>
      </a:lt2>
      <a:accent1>
        <a:srgbClr val="FF9400"/>
      </a:accent1>
      <a:accent2>
        <a:srgbClr val="7F52F0"/>
      </a:accent2>
      <a:accent3>
        <a:srgbClr val="216FD8"/>
      </a:accent3>
      <a:accent4>
        <a:srgbClr val="FFCBBE"/>
      </a:accent4>
      <a:accent5>
        <a:srgbClr val="FBD9BD"/>
      </a:accent5>
      <a:accent6>
        <a:srgbClr val="D5FCE4"/>
      </a:accent6>
      <a:hlink>
        <a:srgbClr val="0563C1"/>
      </a:hlink>
      <a:folHlink>
        <a:srgbClr val="FE99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T&amp;C Default 2020 Template_Light</Template>
  <TotalTime>23378</TotalTime>
  <Words>24187</Words>
  <Application>Microsoft Office PowerPoint</Application>
  <PresentationFormat>Widescreen</PresentationFormat>
  <Paragraphs>1418</Paragraphs>
  <Slides>76</Slides>
  <Notes>76</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76</vt:i4>
      </vt:variant>
    </vt:vector>
  </HeadingPairs>
  <TitlesOfParts>
    <vt:vector size="84" baseType="lpstr">
      <vt:lpstr>Amazon Ember</vt:lpstr>
      <vt:lpstr>Amazon Ember Display</vt:lpstr>
      <vt:lpstr>Amazon Ember Display Heavy</vt:lpstr>
      <vt:lpstr>Amazon Ember Mono</vt:lpstr>
      <vt:lpstr>Arial</vt:lpstr>
      <vt:lpstr>Calibri</vt:lpstr>
      <vt:lpstr>Consolas</vt:lpstr>
      <vt:lpstr>Office Theme</vt:lpstr>
      <vt:lpstr>PowerPoint Presentation</vt:lpstr>
      <vt:lpstr>PowerPoint Presentation</vt:lpstr>
      <vt:lpstr>Content Review — Session 1</vt:lpstr>
      <vt:lpstr>Event check-in</vt:lpstr>
      <vt:lpstr>Event Overview</vt:lpstr>
      <vt:lpstr>Week 1 digital training</vt:lpstr>
      <vt:lpstr>Optional: AWS Skill Builder subscription</vt:lpstr>
      <vt:lpstr>Where does the workload run?</vt:lpstr>
      <vt:lpstr>A Region is an isolated geographic choice</vt:lpstr>
      <vt:lpstr>Availability Zones survive a data center loss</vt:lpstr>
      <vt:lpstr>Edge locations sit between users and Regions</vt:lpstr>
      <vt:lpstr>How do we serve content fast?</vt:lpstr>
      <vt:lpstr>CloudFront caches step outward from the viewer</vt:lpstr>
      <vt:lpstr>CloudFront speeds static and dynamic content</vt:lpstr>
      <vt:lpstr>Regional edge caches hold the long tail</vt:lpstr>
      <vt:lpstr>Presigned URLs grant temporary private access</vt:lpstr>
      <vt:lpstr>What do we build applications on?</vt:lpstr>
      <vt:lpstr>Pick the compute model by how much you manage</vt:lpstr>
      <vt:lpstr>An AMI is the template an instance launches from</vt:lpstr>
      <vt:lpstr>EC2 works with four kinds of storage</vt:lpstr>
      <vt:lpstr>Match the storage to how the data is used</vt:lpstr>
      <vt:lpstr>Auto Scaling adds instances, it does not enlarge one</vt:lpstr>
      <vt:lpstr>AWS Auto Scaling scales the whole application</vt:lpstr>
      <vt:lpstr>A load balancer spreads traffic across targets</vt:lpstr>
      <vt:lpstr>Working backwards: the network could not keep up</vt:lpstr>
      <vt:lpstr>How do we run it anywhere?</vt:lpstr>
      <vt:lpstr>Amazon ECS runs and scales your containers for you</vt:lpstr>
      <vt:lpstr>Amazon EKS runs managed Kubernetes for you</vt:lpstr>
      <vt:lpstr>AWS Fargate runs those containers with no servers</vt:lpstr>
      <vt:lpstr>Amazon ECR stores the container images you run</vt:lpstr>
      <vt:lpstr>Working backwards: server farms ran nonstop</vt:lpstr>
      <vt:lpstr>What network do we build inside?</vt:lpstr>
      <vt:lpstr>A VPC contains your subnets</vt:lpstr>
      <vt:lpstr>Some AWS services sit outside your VPC</vt:lpstr>
      <vt:lpstr>Two firewalls, at two different boundaries</vt:lpstr>
      <vt:lpstr>A network ACL is a stateless firewall on the subnet</vt:lpstr>
      <vt:lpstr>Security groups can reference each other</vt:lpstr>
      <vt:lpstr>A VPC endpoint keeps traffic on the AWS network</vt:lpstr>
      <vt:lpstr>How do we route users to our app?</vt:lpstr>
      <vt:lpstr>Route 53 directs users to the right endpoint</vt:lpstr>
      <vt:lpstr>Who can do what in AWS?</vt:lpstr>
      <vt:lpstr>IAM decides who can access what, and how</vt:lpstr>
      <vt:lpstr>A group applies permissions to many users</vt:lpstr>
      <vt:lpstr>A role grants temporary permissions</vt:lpstr>
      <vt:lpstr>STS hands out temporary credentials in order</vt:lpstr>
      <vt:lpstr>Identity policies and resource policies differ</vt:lpstr>
      <vt:lpstr>Read a policy statement one element at a time</vt:lpstr>
      <vt:lpstr>Conditions can grant access when tags match</vt:lpstr>
      <vt:lpstr>When flow logs stop, suspect the role</vt:lpstr>
      <vt:lpstr>Let's break down what you learned</vt:lpstr>
      <vt:lpstr>Question 1: Session state across instances</vt:lpstr>
      <vt:lpstr>Question 1: Session state across instances</vt:lpstr>
      <vt:lpstr>Question 1: Session state across instances</vt:lpstr>
      <vt:lpstr>Question 1: Session state across instances</vt:lpstr>
      <vt:lpstr>Question 2: Private service-to-service on ECS</vt:lpstr>
      <vt:lpstr>Question 2: Private service-to-service on ECS</vt:lpstr>
      <vt:lpstr>Question 2: Private service-to-service on ECS</vt:lpstr>
      <vt:lpstr>Question 2: Private service-to-service on ECS</vt:lpstr>
      <vt:lpstr>Question 3: Least privilege for EC2</vt:lpstr>
      <vt:lpstr>Question 3: Least privilege for EC2</vt:lpstr>
      <vt:lpstr>Question 3: Least privilege for EC2</vt:lpstr>
      <vt:lpstr>Question 3: Least privilege for EC2</vt:lpstr>
      <vt:lpstr>Question 4: Instances replaced too early</vt:lpstr>
      <vt:lpstr>Question 4: Instances replaced too early</vt:lpstr>
      <vt:lpstr>Question 4: Instances replaced too early</vt:lpstr>
      <vt:lpstr>Question 4: Instances replaced too early</vt:lpstr>
      <vt:lpstr>Question 5: Is it DNS, the network, or the backend?</vt:lpstr>
      <vt:lpstr>Question 5: Is it DNS, the network, or the backend?</vt:lpstr>
      <vt:lpstr>Question 5: Is it DNS, the network, or the backend?</vt:lpstr>
      <vt:lpstr>Question 5: Is it DNS, the network, or the backend?</vt:lpstr>
      <vt:lpstr>Coming up: Week 2 digital training</vt:lpstr>
      <vt:lpstr>Q&amp;A time</vt:lpstr>
      <vt:lpstr>Thank you for joining!</vt:lpstr>
      <vt:lpstr>Appendix -- DVA-C02 reference</vt:lpstr>
      <vt:lpstr>How C02 and C03 differ for this week</vt:lpstr>
      <vt:lpstr>What a DVA-C02 candidate needs 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helcreig@amazon.com</dc:creator>
  <cp:lastModifiedBy>Smith, Brady</cp:lastModifiedBy>
  <cp:revision>351</cp:revision>
  <dcterms:created xsi:type="dcterms:W3CDTF">2021-08-17T14:22:37Z</dcterms:created>
  <dcterms:modified xsi:type="dcterms:W3CDTF">2026-09-09T04:17:50Z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2025-06-19T22:46:06Z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f4bcc3a0-ccb7-4153-9346-0ae3e9903273</vt:lpwstr>
  </property>
  <property fmtid="{D5CDD505-2E9C-101B-9397-08002B2CF9AE}" pid="8" name="MSIP_Label_929eed6f-34eb-4453-9f97-09510b9b219f_ContentBits">
    <vt:lpwstr>0</vt:lpwstr>
  </property>
  <property fmtid="{D5CDD505-2E9C-101B-9397-08002B2CF9AE}" pid="9" name="MSIP_Label_929eed6f-34eb-4453-9f97-09510b9b219f_Tag">
    <vt:lpwstr>10, 3, 0, 1</vt:lpwstr>
  </property>
</Properties>
</file>