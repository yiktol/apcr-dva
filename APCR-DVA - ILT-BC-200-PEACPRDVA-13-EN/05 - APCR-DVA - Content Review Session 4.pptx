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1.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4"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320" r:id="rId31"/>
    <p:sldId id="321" r:id="rId32"/>
    <p:sldId id="322" r:id="rId33"/>
    <p:sldId id="323" r:id="rId34"/>
    <p:sldId id="324" r:id="rId35"/>
    <p:sldId id="325" r:id="rId36"/>
    <p:sldId id="326" r:id="rId37"/>
    <p:sldId id="327"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Lst>
  <p:sldSz cx="12192000" cy="6858000"/>
  <p:notesSz cx="6858000" cy="9144000"/>
  <p:defaultTextStyle>
    <a:defPPr>
      <a:defRPr lang="en-US"/>
    </a:defPPr>
    <a:lvl1pPr marL="0" algn="l" defTabSz="1097212" rtl="0" eaLnBrk="1" latinLnBrk="0" hangingPunct="1">
      <a:defRPr sz="2118" kern="1200">
        <a:solidFill>
          <a:schemeClr val="tx1"/>
        </a:solidFill>
        <a:latin typeface="+mn-lt"/>
        <a:ea typeface="+mn-ea"/>
        <a:cs typeface="+mn-cs"/>
      </a:defRPr>
    </a:lvl1pPr>
    <a:lvl2pPr marL="548606" algn="l" defTabSz="1097212" rtl="0" eaLnBrk="1" latinLnBrk="0" hangingPunct="1">
      <a:defRPr sz="2118" kern="1200">
        <a:solidFill>
          <a:schemeClr val="tx1"/>
        </a:solidFill>
        <a:latin typeface="+mn-lt"/>
        <a:ea typeface="+mn-ea"/>
        <a:cs typeface="+mn-cs"/>
      </a:defRPr>
    </a:lvl2pPr>
    <a:lvl3pPr marL="1097212" algn="l" defTabSz="1097212" rtl="0" eaLnBrk="1" latinLnBrk="0" hangingPunct="1">
      <a:defRPr sz="2118" kern="1200">
        <a:solidFill>
          <a:schemeClr val="tx1"/>
        </a:solidFill>
        <a:latin typeface="+mn-lt"/>
        <a:ea typeface="+mn-ea"/>
        <a:cs typeface="+mn-cs"/>
      </a:defRPr>
    </a:lvl3pPr>
    <a:lvl4pPr marL="1645818" algn="l" defTabSz="1097212" rtl="0" eaLnBrk="1" latinLnBrk="0" hangingPunct="1">
      <a:defRPr sz="2118" kern="1200">
        <a:solidFill>
          <a:schemeClr val="tx1"/>
        </a:solidFill>
        <a:latin typeface="+mn-lt"/>
        <a:ea typeface="+mn-ea"/>
        <a:cs typeface="+mn-cs"/>
      </a:defRPr>
    </a:lvl4pPr>
    <a:lvl5pPr marL="2194424" algn="l" defTabSz="1097212" rtl="0" eaLnBrk="1" latinLnBrk="0" hangingPunct="1">
      <a:defRPr sz="2118" kern="1200">
        <a:solidFill>
          <a:schemeClr val="tx1"/>
        </a:solidFill>
        <a:latin typeface="+mn-lt"/>
        <a:ea typeface="+mn-ea"/>
        <a:cs typeface="+mn-cs"/>
      </a:defRPr>
    </a:lvl5pPr>
    <a:lvl6pPr marL="2743031" algn="l" defTabSz="1097212" rtl="0" eaLnBrk="1" latinLnBrk="0" hangingPunct="1">
      <a:defRPr sz="2118" kern="1200">
        <a:solidFill>
          <a:schemeClr val="tx1"/>
        </a:solidFill>
        <a:latin typeface="+mn-lt"/>
        <a:ea typeface="+mn-ea"/>
        <a:cs typeface="+mn-cs"/>
      </a:defRPr>
    </a:lvl6pPr>
    <a:lvl7pPr marL="3291635" algn="l" defTabSz="1097212" rtl="0" eaLnBrk="1" latinLnBrk="0" hangingPunct="1">
      <a:defRPr sz="2118" kern="1200">
        <a:solidFill>
          <a:schemeClr val="tx1"/>
        </a:solidFill>
        <a:latin typeface="+mn-lt"/>
        <a:ea typeface="+mn-ea"/>
        <a:cs typeface="+mn-cs"/>
      </a:defRPr>
    </a:lvl7pPr>
    <a:lvl8pPr marL="3840241" algn="l" defTabSz="1097212" rtl="0" eaLnBrk="1" latinLnBrk="0" hangingPunct="1">
      <a:defRPr sz="2118" kern="1200">
        <a:solidFill>
          <a:schemeClr val="tx1"/>
        </a:solidFill>
        <a:latin typeface="+mn-lt"/>
        <a:ea typeface="+mn-ea"/>
        <a:cs typeface="+mn-cs"/>
      </a:defRPr>
    </a:lvl8pPr>
    <a:lvl9pPr marL="4388848" algn="l" defTabSz="1097212" rtl="0" eaLnBrk="1" latinLnBrk="0" hangingPunct="1">
      <a:defRPr sz="211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24" autoAdjust="0"/>
    <p:restoredTop sz="62044" autoAdjust="0"/>
  </p:normalViewPr>
  <p:slideViewPr>
    <p:cSldViewPr snapToGrid="0" snapToObjects="1">
      <p:cViewPr varScale="1">
        <p:scale>
          <a:sx n="46" d="100"/>
          <a:sy n="46" d="100"/>
        </p:scale>
        <p:origin x="1456" y="32"/>
      </p:cViewPr>
      <p:guideLst/>
    </p:cSldViewPr>
  </p:slideViewPr>
  <p:notesTextViewPr>
    <p:cViewPr>
      <p:scale>
        <a:sx n="1" d="1"/>
        <a:sy n="1" d="1"/>
      </p:scale>
      <p:origin x="0" y="0"/>
    </p:cViewPr>
  </p:notesTextViewPr>
  <p:notesViewPr>
    <p:cSldViewPr snapToGrid="0" snapToObjects="1">
      <p:cViewPr varScale="1">
        <p:scale>
          <a:sx n="132" d="100"/>
          <a:sy n="132" d="100"/>
        </p:scale>
        <p:origin x="2844" y="10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 Id="rId7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 Brady" userId="e76634a4-7138-4bc5-b76d-07c789b36324" providerId="ADAL" clId="{9E9136EE-B768-4B6D-95DA-B300D70FE1B5}"/>
    <pc:docChg chg="modSld">
      <pc:chgData name="Smith, Brady" userId="e76634a4-7138-4bc5-b76d-07c789b36324" providerId="ADAL" clId="{9E9136EE-B768-4B6D-95DA-B300D70FE1B5}" dt="2026-09-09T04:27:30.626" v="8" actId="14100"/>
      <pc:docMkLst>
        <pc:docMk/>
      </pc:docMkLst>
      <pc:sldChg chg="modSp mod">
        <pc:chgData name="Smith, Brady" userId="e76634a4-7138-4bc5-b76d-07c789b36324" providerId="ADAL" clId="{9E9136EE-B768-4B6D-95DA-B300D70FE1B5}" dt="2026-09-09T04:25:30.236" v="0" actId="207"/>
        <pc:sldMkLst>
          <pc:docMk/>
          <pc:sldMk cId="0" sldId="257"/>
        </pc:sldMkLst>
        <pc:spChg chg="mod">
          <ac:chgData name="Smith, Brady" userId="e76634a4-7138-4bc5-b76d-07c789b36324" providerId="ADAL" clId="{9E9136EE-B768-4B6D-95DA-B300D70FE1B5}" dt="2026-09-09T04:25:30.236" v="0" actId="207"/>
          <ac:spMkLst>
            <pc:docMk/>
            <pc:sldMk cId="0" sldId="257"/>
            <ac:spMk id="2" creationId="{00000000-0000-0000-0000-000000000000}"/>
          </ac:spMkLst>
        </pc:spChg>
      </pc:sldChg>
      <pc:sldChg chg="modSp mod">
        <pc:chgData name="Smith, Brady" userId="e76634a4-7138-4bc5-b76d-07c789b36324" providerId="ADAL" clId="{9E9136EE-B768-4B6D-95DA-B300D70FE1B5}" dt="2026-09-09T04:26:21.985" v="1" actId="14100"/>
        <pc:sldMkLst>
          <pc:docMk/>
          <pc:sldMk cId="0" sldId="292"/>
        </pc:sldMkLst>
        <pc:spChg chg="mod">
          <ac:chgData name="Smith, Brady" userId="e76634a4-7138-4bc5-b76d-07c789b36324" providerId="ADAL" clId="{9E9136EE-B768-4B6D-95DA-B300D70FE1B5}" dt="2026-09-09T04:26:21.985" v="1" actId="14100"/>
          <ac:spMkLst>
            <pc:docMk/>
            <pc:sldMk cId="0" sldId="292"/>
            <ac:spMk id="4" creationId="{00000000-0000-0000-0000-000000000000}"/>
          </ac:spMkLst>
        </pc:spChg>
      </pc:sldChg>
      <pc:sldChg chg="modSp mod">
        <pc:chgData name="Smith, Brady" userId="e76634a4-7138-4bc5-b76d-07c789b36324" providerId="ADAL" clId="{9E9136EE-B768-4B6D-95DA-B300D70FE1B5}" dt="2026-09-09T04:26:36.041" v="3" actId="1038"/>
        <pc:sldMkLst>
          <pc:docMk/>
          <pc:sldMk cId="0" sldId="298"/>
        </pc:sldMkLst>
        <pc:spChg chg="mod">
          <ac:chgData name="Smith, Brady" userId="e76634a4-7138-4bc5-b76d-07c789b36324" providerId="ADAL" clId="{9E9136EE-B768-4B6D-95DA-B300D70FE1B5}" dt="2026-09-09T04:26:36.041" v="3" actId="1038"/>
          <ac:spMkLst>
            <pc:docMk/>
            <pc:sldMk cId="0" sldId="298"/>
            <ac:spMk id="4" creationId="{00000000-0000-0000-0000-000000000000}"/>
          </ac:spMkLst>
        </pc:spChg>
      </pc:sldChg>
      <pc:sldChg chg="modSp mod">
        <pc:chgData name="Smith, Brady" userId="e76634a4-7138-4bc5-b76d-07c789b36324" providerId="ADAL" clId="{9E9136EE-B768-4B6D-95DA-B300D70FE1B5}" dt="2026-09-09T04:26:44.841" v="4" actId="14100"/>
        <pc:sldMkLst>
          <pc:docMk/>
          <pc:sldMk cId="0" sldId="299"/>
        </pc:sldMkLst>
        <pc:spChg chg="mod">
          <ac:chgData name="Smith, Brady" userId="e76634a4-7138-4bc5-b76d-07c789b36324" providerId="ADAL" clId="{9E9136EE-B768-4B6D-95DA-B300D70FE1B5}" dt="2026-09-09T04:26:44.841" v="4" actId="14100"/>
          <ac:spMkLst>
            <pc:docMk/>
            <pc:sldMk cId="0" sldId="299"/>
            <ac:spMk id="4" creationId="{00000000-0000-0000-0000-000000000000}"/>
          </ac:spMkLst>
        </pc:spChg>
      </pc:sldChg>
      <pc:sldChg chg="modSp mod">
        <pc:chgData name="Smith, Brady" userId="e76634a4-7138-4bc5-b76d-07c789b36324" providerId="ADAL" clId="{9E9136EE-B768-4B6D-95DA-B300D70FE1B5}" dt="2026-09-09T04:26:50.637" v="5" actId="14100"/>
        <pc:sldMkLst>
          <pc:docMk/>
          <pc:sldMk cId="0" sldId="300"/>
        </pc:sldMkLst>
        <pc:spChg chg="mod">
          <ac:chgData name="Smith, Brady" userId="e76634a4-7138-4bc5-b76d-07c789b36324" providerId="ADAL" clId="{9E9136EE-B768-4B6D-95DA-B300D70FE1B5}" dt="2026-09-09T04:26:50.637" v="5" actId="14100"/>
          <ac:spMkLst>
            <pc:docMk/>
            <pc:sldMk cId="0" sldId="300"/>
            <ac:spMk id="4" creationId="{00000000-0000-0000-0000-000000000000}"/>
          </ac:spMkLst>
        </pc:spChg>
      </pc:sldChg>
      <pc:sldChg chg="modSp mod">
        <pc:chgData name="Smith, Brady" userId="e76634a4-7138-4bc5-b76d-07c789b36324" providerId="ADAL" clId="{9E9136EE-B768-4B6D-95DA-B300D70FE1B5}" dt="2026-09-09T04:27:13.742" v="7" actId="1076"/>
        <pc:sldMkLst>
          <pc:docMk/>
          <pc:sldMk cId="0" sldId="301"/>
        </pc:sldMkLst>
        <pc:spChg chg="mod">
          <ac:chgData name="Smith, Brady" userId="e76634a4-7138-4bc5-b76d-07c789b36324" providerId="ADAL" clId="{9E9136EE-B768-4B6D-95DA-B300D70FE1B5}" dt="2026-09-09T04:27:13.742" v="7" actId="1076"/>
          <ac:spMkLst>
            <pc:docMk/>
            <pc:sldMk cId="0" sldId="301"/>
            <ac:spMk id="5" creationId="{00000000-0000-0000-0000-000000000000}"/>
          </ac:spMkLst>
        </pc:spChg>
        <pc:spChg chg="mod">
          <ac:chgData name="Smith, Brady" userId="e76634a4-7138-4bc5-b76d-07c789b36324" providerId="ADAL" clId="{9E9136EE-B768-4B6D-95DA-B300D70FE1B5}" dt="2026-09-09T04:27:08.776" v="6" actId="1076"/>
          <ac:spMkLst>
            <pc:docMk/>
            <pc:sldMk cId="0" sldId="301"/>
            <ac:spMk id="7" creationId="{00000000-0000-0000-0000-000000000000}"/>
          </ac:spMkLst>
        </pc:spChg>
        <pc:spChg chg="mod">
          <ac:chgData name="Smith, Brady" userId="e76634a4-7138-4bc5-b76d-07c789b36324" providerId="ADAL" clId="{9E9136EE-B768-4B6D-95DA-B300D70FE1B5}" dt="2026-09-09T04:27:08.776" v="6" actId="1076"/>
          <ac:spMkLst>
            <pc:docMk/>
            <pc:sldMk cId="0" sldId="301"/>
            <ac:spMk id="9" creationId="{00000000-0000-0000-0000-000000000000}"/>
          </ac:spMkLst>
        </pc:spChg>
        <pc:spChg chg="mod">
          <ac:chgData name="Smith, Brady" userId="e76634a4-7138-4bc5-b76d-07c789b36324" providerId="ADAL" clId="{9E9136EE-B768-4B6D-95DA-B300D70FE1B5}" dt="2026-09-09T04:27:08.776" v="6" actId="1076"/>
          <ac:spMkLst>
            <pc:docMk/>
            <pc:sldMk cId="0" sldId="301"/>
            <ac:spMk id="11" creationId="{00000000-0000-0000-0000-000000000000}"/>
          </ac:spMkLst>
        </pc:spChg>
        <pc:spChg chg="mod">
          <ac:chgData name="Smith, Brady" userId="e76634a4-7138-4bc5-b76d-07c789b36324" providerId="ADAL" clId="{9E9136EE-B768-4B6D-95DA-B300D70FE1B5}" dt="2026-09-09T04:27:08.776" v="6" actId="1076"/>
          <ac:spMkLst>
            <pc:docMk/>
            <pc:sldMk cId="0" sldId="301"/>
            <ac:spMk id="13" creationId="{00000000-0000-0000-0000-000000000000}"/>
          </ac:spMkLst>
        </pc:spChg>
        <pc:spChg chg="mod">
          <ac:chgData name="Smith, Brady" userId="e76634a4-7138-4bc5-b76d-07c789b36324" providerId="ADAL" clId="{9E9136EE-B768-4B6D-95DA-B300D70FE1B5}" dt="2026-09-09T04:27:08.776" v="6" actId="1076"/>
          <ac:spMkLst>
            <pc:docMk/>
            <pc:sldMk cId="0" sldId="301"/>
            <ac:spMk id="15" creationId="{00000000-0000-0000-0000-000000000000}"/>
          </ac:spMkLst>
        </pc:spChg>
        <pc:spChg chg="mod">
          <ac:chgData name="Smith, Brady" userId="e76634a4-7138-4bc5-b76d-07c789b36324" providerId="ADAL" clId="{9E9136EE-B768-4B6D-95DA-B300D70FE1B5}" dt="2026-09-09T04:27:08.776" v="6" actId="1076"/>
          <ac:spMkLst>
            <pc:docMk/>
            <pc:sldMk cId="0" sldId="301"/>
            <ac:spMk id="17" creationId="{00000000-0000-0000-0000-000000000000}"/>
          </ac:spMkLst>
        </pc:spChg>
        <pc:spChg chg="mod">
          <ac:chgData name="Smith, Brady" userId="e76634a4-7138-4bc5-b76d-07c789b36324" providerId="ADAL" clId="{9E9136EE-B768-4B6D-95DA-B300D70FE1B5}" dt="2026-09-09T04:27:08.776" v="6" actId="1076"/>
          <ac:spMkLst>
            <pc:docMk/>
            <pc:sldMk cId="0" sldId="301"/>
            <ac:spMk id="19" creationId="{00000000-0000-0000-0000-000000000000}"/>
          </ac:spMkLst>
        </pc:spChg>
        <pc:spChg chg="mod">
          <ac:chgData name="Smith, Brady" userId="e76634a4-7138-4bc5-b76d-07c789b36324" providerId="ADAL" clId="{9E9136EE-B768-4B6D-95DA-B300D70FE1B5}" dt="2026-09-09T04:27:08.776" v="6" actId="1076"/>
          <ac:spMkLst>
            <pc:docMk/>
            <pc:sldMk cId="0" sldId="301"/>
            <ac:spMk id="21" creationId="{00000000-0000-0000-0000-000000000000}"/>
          </ac:spMkLst>
        </pc:spChg>
        <pc:spChg chg="mod">
          <ac:chgData name="Smith, Brady" userId="e76634a4-7138-4bc5-b76d-07c789b36324" providerId="ADAL" clId="{9E9136EE-B768-4B6D-95DA-B300D70FE1B5}" dt="2026-09-09T04:27:08.776" v="6" actId="1076"/>
          <ac:spMkLst>
            <pc:docMk/>
            <pc:sldMk cId="0" sldId="301"/>
            <ac:spMk id="22" creationId="{00000000-0000-0000-0000-000000000000}"/>
          </ac:spMkLst>
        </pc:spChg>
        <pc:spChg chg="mod">
          <ac:chgData name="Smith, Brady" userId="e76634a4-7138-4bc5-b76d-07c789b36324" providerId="ADAL" clId="{9E9136EE-B768-4B6D-95DA-B300D70FE1B5}" dt="2026-09-09T04:27:08.776" v="6" actId="1076"/>
          <ac:spMkLst>
            <pc:docMk/>
            <pc:sldMk cId="0" sldId="301"/>
            <ac:spMk id="25" creationId="{00000000-0000-0000-0000-000000000000}"/>
          </ac:spMkLst>
        </pc:spChg>
      </pc:sldChg>
      <pc:sldChg chg="modSp mod">
        <pc:chgData name="Smith, Brady" userId="e76634a4-7138-4bc5-b76d-07c789b36324" providerId="ADAL" clId="{9E9136EE-B768-4B6D-95DA-B300D70FE1B5}" dt="2026-09-09T04:27:30.626" v="8" actId="14100"/>
        <pc:sldMkLst>
          <pc:docMk/>
          <pc:sldMk cId="0" sldId="312"/>
        </pc:sldMkLst>
        <pc:spChg chg="mod">
          <ac:chgData name="Smith, Brady" userId="e76634a4-7138-4bc5-b76d-07c789b36324" providerId="ADAL" clId="{9E9136EE-B768-4B6D-95DA-B300D70FE1B5}" dt="2026-09-09T04:27:30.626" v="8" actId="14100"/>
          <ac:spMkLst>
            <pc:docMk/>
            <pc:sldMk cId="0" sldId="312"/>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C9830B-90A4-EA47-B8ED-2BCF3026A734}"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DA6E1F-B7C3-CB4A-8789-7F0039C49383}" type="slidenum">
              <a:rPr lang="en-US" smtClean="0"/>
              <a:t>‹#›</a:t>
            </a:fld>
            <a:endParaRPr lang="en-US"/>
          </a:p>
        </p:txBody>
      </p:sp>
    </p:spTree>
    <p:extLst>
      <p:ext uri="{BB962C8B-B14F-4D97-AF65-F5344CB8AC3E}">
        <p14:creationId xmlns:p14="http://schemas.microsoft.com/office/powerpoint/2010/main" val="350957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This slide is hidden on purpose. Confirm it stays hidden, or delete it, before you export a PDF or share the deck with a partner.</a:t>
            </a:r>
          </a:p>
          <a:p>
            <a:endParaRPr/>
          </a:p>
          <a:p>
            <a:pPr>
              <a:spcAft>
                <a:spcPts val="600"/>
              </a:spcAft>
            </a:pPr>
            <a:r>
              <a:t>The content is APCR-team owned and is licensed only for delivery inside an authorized event. If a partner asks for the deck, point them to the official event materials rather than forwarding this file.</a:t>
            </a:r>
          </a:p>
          <a:p>
            <a:endParaRPr/>
          </a:p>
          <a:p>
            <a:pPr>
              <a:spcAft>
                <a:spcPts val="600"/>
              </a:spcAft>
            </a:pPr>
            <a:r>
              <a:t>Nothing here is presented to the room. Advance straight past it into the title slide.</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WHY THIS SLIDE EXISTS: this session teaches toward the DVA-C03 version of the Developer Associate exam. The three appendix slides cover DVA-C02, the version live today, so anyone choosing to sit the current exam still has a reference. They are not this week's teaching content.</a:t>
            </a:r>
          </a:p>
          <a:p>
            <a:endParaRPr/>
          </a:p>
          <a:p>
            <a:pPr>
              <a:spcAft>
                <a:spcPts val="600"/>
              </a:spcAft>
            </a:pPr>
            <a:r>
              <a:t>THE APPENDIX PRINTS DOMAIN AND TASK NUMBERS, AND THAT IS DELIBERATE. Nowhere else in the program do those numbers appear on screen. The appendix compares one exam version against another, so the identifiers are its subject -- a candidate needs them to find the matching rows in their own exam guide.</a:t>
            </a:r>
          </a:p>
          <a:p>
            <a:endParaRPr/>
          </a:p>
          <a:p>
            <a:pPr>
              <a:spcAft>
                <a:spcPts val="600"/>
              </a:spcAft>
            </a:pPr>
            <a:r>
              <a:t>THE COURSE NAMES ON THE WEEK-FIVE SLIDE ARE VERBATIM FROM SKILL BUILDER. Two are missing a space before a dash, and one names DVA-C02 because that is the actual course title. Do not tidy them up out loud -- an attendee types these to search the catalog.</a:t>
            </a:r>
          </a:p>
          <a:p>
            <a:endParaRPr/>
          </a:p>
          <a:p>
            <a:pPr>
              <a:spcAft>
                <a:spcPts val="600"/>
              </a:spcAft>
            </a:pPr>
            <a:r>
              <a:t>IF SOMEONE ASKS WHICH EXAM TO SIT: show them the appendix and let them decide. Say what each version covers and leave the choice with them rather than recommending one.</a:t>
            </a:r>
          </a:p>
          <a:p>
            <a:endParaRPr/>
          </a:p>
          <a:p>
            <a:pPr>
              <a:spcAft>
                <a:spcPts val="600"/>
              </a:spcAft>
            </a:pPr>
            <a:r>
              <a:t>This slide is hidden on purpose and must stay hidden. Confirm it is still hidden, or delete it, before you export a PDF or share this file with a partner.</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The opening slide for the fourth content-review session. Welcome the room back and set the frame: the last three weeks built an application, and this week is about getting it out the door and knowing it still works -- testing it, describing it as code, and deploying it safely.</a:t>
            </a:r>
          </a:p>
          <a:p>
            <a:endParaRPr/>
          </a:p>
          <a:p>
            <a:pPr>
              <a:spcAft>
                <a:spcPts val="600"/>
              </a:spcAft>
            </a:pPr>
            <a:r>
              <a:t>Say what the next two hours look like -- roughly half is a fast re-grounding in the week-four services, and half is exam-strategy practice on live questions.</a:t>
            </a:r>
          </a:p>
          <a:p>
            <a:endParaRPr/>
          </a:p>
          <a:p>
            <a:pPr>
              <a:spcAft>
                <a:spcPts val="600"/>
              </a:spcAft>
            </a:pPr>
            <a:r>
              <a:t>One framing worth saying out loud: this domain is broader than it used to be. It now covers testing as well as deployment, so expect questions that ask how you would verify a release, not only how you would ship it.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A quick pulse check before the content starts. Ask how week three landed -- who finished the digital training, who feels behind, and what got in the way.</a:t>
            </a:r>
          </a:p>
          <a:p>
            <a:endParaRPr/>
          </a:p>
          <a:p>
            <a:pPr>
              <a:spcAft>
                <a:spcPts val="600"/>
              </a:spcAft>
            </a:pPr>
            <a:r>
              <a:t>Some people will have fallen behind, and that is normal. Be encouraging and share a little of your own study experience so the room relaxes and talks.</a:t>
            </a:r>
          </a:p>
          <a:p>
            <a:endParaRPr/>
          </a:p>
          <a:p>
            <a:pPr>
              <a:spcAft>
                <a:spcPts val="600"/>
              </a:spcAft>
            </a:pPr>
            <a:r>
              <a:t>Keep it to two or three minutes, then move into the week-four curriculum.</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This week's training checklist. The left card is the free Learning Plan; the right card is the optional Exam Prep Plan a subscriber can add.</a:t>
            </a:r>
          </a:p>
          <a:p>
            <a:endParaRPr/>
          </a:p>
          <a:p>
            <a:pPr>
              <a:spcAft>
                <a:spcPts val="600"/>
              </a:spcAft>
            </a:pPr>
            <a:r>
              <a:t>FACILITATOR: Use this as a check-in. Ask how people are doing and relate it to your own experience studying for the exam -- which modules stood out, what your key takeaways were. The CloudFormation and serverless-deployment courses map directly onto today's infrastructure-as-code and deployment blocks, so anyone who has done them will recognize the material.</a:t>
            </a:r>
          </a:p>
          <a:p>
            <a:endParaRPr/>
          </a:p>
          <a:p>
            <a:pPr>
              <a:spcAft>
                <a:spcPts val="600"/>
              </a:spcAft>
            </a:pPr>
            <a:r>
              <a:t>Remind the room of the value of Cloud Quest -- the lab practice in particular -- and check whether anyone has tried the labs yet.</a:t>
            </a:r>
          </a:p>
          <a:p>
            <a:endParaRPr/>
          </a:p>
          <a:p>
            <a:pPr>
              <a:spcAft>
                <a:spcPts val="600"/>
              </a:spcAft>
            </a:pPr>
            <a:r>
              <a:t>Note: the item names beginning "Domain 4" are the actual Exam Prep Plan module names in Skill Builder, so learners can find them; they are navigation, not exam-coverage claims. Keep any talk of exam weighting off this slide.</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The services this session works through, grouped by the job they do. The developer tools are the pipeline itself; infrastructure as code is how the environment is described and versioned; the container services are where a packaged image actually runs; and Elastic Beanstalk and </a:t>
            </a:r>
            <a:r>
              <a:rPr dirty="0" err="1"/>
              <a:t>AppConfig</a:t>
            </a:r>
            <a:r>
              <a:rPr dirty="0"/>
              <a:t> cover the managed-platform and runtime-configuration cases.</a:t>
            </a:r>
          </a:p>
          <a:p>
            <a:endParaRPr dirty="0"/>
          </a:p>
          <a:p>
            <a:pPr>
              <a:spcAft>
                <a:spcPts val="600"/>
              </a:spcAft>
            </a:pPr>
            <a:r>
              <a:rPr dirty="0"/>
              <a:t>FACILITATOR: Use this as a one-slide map of the session. Point out that the container services will look familiar -- the room met them in session one.</a:t>
            </a:r>
          </a:p>
          <a:p>
            <a:endParaRPr dirty="0"/>
          </a:p>
          <a:p>
            <a:pPr>
              <a:spcAft>
                <a:spcPts val="600"/>
              </a:spcAft>
            </a:pPr>
            <a:r>
              <a:rPr dirty="0"/>
              <a:t>But today the question is different. Session one asked what they are; today asks how you get a build onto them, and how you change it safely while it is serving traffic.</a:t>
            </a:r>
          </a:p>
          <a:p>
            <a:endParaRPr dirty="0"/>
          </a:p>
          <a:p>
            <a:pPr>
              <a:spcAft>
                <a:spcPts val="600"/>
              </a:spcAft>
            </a:pPr>
            <a:r>
              <a:rPr dirty="0"/>
              <a:t>AWS </a:t>
            </a:r>
            <a:r>
              <a:rPr dirty="0" err="1"/>
              <a:t>CodeArtifact</a:t>
            </a:r>
            <a:r>
              <a:rPr dirty="0"/>
              <a:t> is the other developer tool in this family, and it is worth naming out loud even though it is not on the slide: it stores and shares the packages a build depends on. Amazon EKS is not repeated here either, since it was covered in session one.</a:t>
            </a:r>
          </a:p>
          <a:p>
            <a:endParaRPr dirty="0"/>
          </a:p>
          <a:p>
            <a:pPr>
              <a:spcAft>
                <a:spcPts val="600"/>
              </a:spcAft>
            </a:pPr>
            <a:r>
              <a:rPr dirty="0"/>
              <a:t>Two things are new this week and worth naming: the domain now covers testing as well as deployment, and AWS has tooling that will generate tests and help with pipeline work. Both show up later in the session.</a:t>
            </a:r>
          </a:p>
          <a:p>
            <a:endParaRPr dirty="0"/>
          </a:p>
          <a:p>
            <a:pPr>
              <a:spcAft>
                <a:spcPts val="600"/>
              </a:spcAft>
            </a:pPr>
            <a:r>
              <a:rPr dirty="0"/>
              <a:t>Then move into the first section, the release pipeline.</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A map of the whole five-week event, one row per week, with this week highlighted. Use it near the top of the session so the room can see where week 4 sits in the arc and what is still to come.</a:t>
            </a:r>
          </a:p>
          <a:p>
            <a:endParaRPr/>
          </a:p>
          <a:p>
            <a:pPr>
              <a:spcAft>
                <a:spcPts val="600"/>
              </a:spcAft>
            </a:pPr>
            <a:r>
              <a:t>FACILITATOR: Point at the highlighted row. Week 4 is the testing and deployment week -- pipelines, the deployment services, and infrastructure as code. It builds on week 1's container services and week 2's applications, and sets up next week's security work.</a:t>
            </a:r>
          </a:p>
          <a:p>
            <a:endParaRPr/>
          </a:p>
          <a:p>
            <a:pPr>
              <a:spcAft>
                <a:spcPts val="600"/>
              </a:spcAft>
            </a:pPr>
            <a:r>
              <a:t>Keep it brief -- this is orientation, not content. The same map appears in every session with the current week moving, so returning attendees will recognize it at a glance. Then move into today's focus.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Point at the container first. Everything inside this box is one pipeline, and</a:t>
            </a:r>
            <a:br/>
            <a:r>
              <a:t>the four cards are its stages, running in the order they are drawn.</a:t>
            </a:r>
          </a:p>
          <a:p>
            <a:endParaRPr/>
          </a:p>
          <a:p>
            <a:pPr>
              <a:spcAft>
                <a:spcPts val="600"/>
              </a:spcAft>
            </a:pPr>
            <a:r>
              <a:t>The distinction the exam tests is stage versus action versus environment. A stage is a phase of</a:t>
            </a:r>
            <a:br/>
            <a:r>
              <a:t>the pipeline; an action is the work inside it; the environment is where that work lands. Two</a:t>
            </a:r>
            <a:br/>
            <a:r>
              <a:t>deploy stages here target different environments from one build artifact.</a:t>
            </a:r>
          </a:p>
          <a:p>
            <a:endParaRPr/>
          </a:p>
          <a:p>
            <a:pPr>
              <a:spcAft>
                <a:spcPts val="600"/>
              </a:spcAft>
            </a:pPr>
            <a:r>
              <a:t>Say the promotion out loud: the same artifact that passed test is what reaches production. It is</a:t>
            </a:r>
            <a:br/>
            <a:r>
              <a:t>not rebuilt. A manual approval action can sit before the production stage when a human has to</a:t>
            </a:r>
            <a:br/>
            <a:r>
              <a:t>sign off.</a:t>
            </a:r>
          </a:p>
          <a:p>
            <a:endParaRPr/>
          </a:p>
          <a:p>
            <a:pPr>
              <a:spcAft>
                <a:spcPts val="600"/>
              </a:spcAft>
            </a:pPr>
            <a:r>
              <a:t>Note the source is S3 or a Git provider. If a partner asks about CodeCommit, it is closed to new</a:t>
            </a:r>
            <a:br/>
            <a:r>
              <a:t>customers, so point them at a Git provider or S3 instead.</a:t>
            </a:r>
          </a:p>
          <a:p>
            <a:endParaRPr/>
          </a:p>
          <a:p>
            <a:pPr>
              <a:spcAft>
                <a:spcPts val="600"/>
              </a:spcAft>
            </a:pPr>
            <a:r>
              <a:t>Before you walk it, ask the room which stage they would put a manual approval in front of. Most say production, which is right, and it gets them thinking about the pipeline as a sequence of gates rather than one deploy button.</a:t>
            </a:r>
          </a:p>
          <a:p>
            <a:endParaRPr/>
          </a:p>
          <a:p>
            <a:pPr>
              <a:spcAft>
                <a:spcPts val="600"/>
              </a:spcAft>
            </a:pPr>
            <a:r>
              <a:t>Verified against docs.aws.amazon.com CodePipeline concepts.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The boundary is the whole slide. Everything inside the environment is created</a:t>
            </a:r>
            <a:br/>
            <a:r>
              <a:t>and destroyed with it; the database is deliberately drawn outside.</a:t>
            </a:r>
          </a:p>
          <a:p>
            <a:endParaRPr/>
          </a:p>
          <a:p>
            <a:pPr>
              <a:spcAft>
                <a:spcPts val="600"/>
              </a:spcAft>
            </a:pPr>
            <a:r>
              <a:t>This is the most commonly confused item in the topic. A database created as part of an Elastic</a:t>
            </a:r>
            <a:br/>
            <a:r>
              <a:t>Beanstalk environment shares that environment's lifecycle, so terminating the environment takes</a:t>
            </a:r>
            <a:br/>
            <a:r>
              <a:t>the data with it. A database created separately and referenced by configuration survives.</a:t>
            </a:r>
          </a:p>
          <a:p>
            <a:endParaRPr/>
          </a:p>
          <a:p>
            <a:pPr>
              <a:spcAft>
                <a:spcPts val="600"/>
              </a:spcAft>
            </a:pPr>
            <a:r>
              <a:t>Ask the room which one they would want in production. The answer is obvious once the picture</a:t>
            </a:r>
            <a:br/>
            <a:r>
              <a:t>separates them, and that is the whole reason to draw it rather than say it.</a:t>
            </a:r>
          </a:p>
          <a:p>
            <a:endParaRPr/>
          </a:p>
          <a:p>
            <a:pPr>
              <a:spcAft>
                <a:spcPts val="600"/>
              </a:spcAft>
            </a:pPr>
            <a:r>
              <a:t>For a partner running blue-green, the same rule decides whether a swap is safe: state that lives</a:t>
            </a:r>
            <a:br/>
            <a:r>
              <a:t>inside the environment cannot survive a swap that replaces the environment.</a:t>
            </a:r>
          </a:p>
          <a:p>
            <a:endParaRPr/>
          </a:p>
          <a:p>
            <a:pPr>
              <a:spcAft>
                <a:spcPts val="600"/>
              </a:spcAft>
            </a:pPr>
            <a:r>
              <a:t>Verified against docs.aws.amazon.com Elastic Beanstalk managing databases.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Point at the group, not the arrows. </a:t>
            </a:r>
            <a:r>
              <a:rPr dirty="0" err="1"/>
              <a:t>CodeDeploy</a:t>
            </a:r>
            <a:r>
              <a:rPr dirty="0"/>
              <a:t> does not deploy to instances one</a:t>
            </a:r>
            <a:br>
              <a:rPr dirty="0"/>
            </a:br>
            <a:r>
              <a:rPr dirty="0"/>
              <a:t>by one; it deploys to a deployment group, and the group defines the target set.</a:t>
            </a:r>
          </a:p>
          <a:p>
            <a:endParaRPr dirty="0"/>
          </a:p>
          <a:p>
            <a:pPr>
              <a:spcAft>
                <a:spcPts val="600"/>
              </a:spcAft>
            </a:pPr>
            <a:r>
              <a:rPr dirty="0"/>
              <a:t>Three nouns get confused and the exam uses that. The application is the name you deploy under,</a:t>
            </a:r>
            <a:br>
              <a:rPr dirty="0"/>
            </a:br>
            <a:r>
              <a:rPr dirty="0"/>
              <a:t>the deployment group is what you deploy to, and the deployment configuration is how fast the</a:t>
            </a:r>
            <a:br>
              <a:rPr dirty="0"/>
            </a:br>
            <a:r>
              <a:rPr dirty="0"/>
              <a:t>rollout proceeds. A question naming a rollout percentage is asking about the configuration.</a:t>
            </a:r>
          </a:p>
          <a:p>
            <a:endParaRPr dirty="0"/>
          </a:p>
          <a:p>
            <a:pPr>
              <a:spcAft>
                <a:spcPts val="600"/>
              </a:spcAft>
            </a:pPr>
            <a:r>
              <a:rPr dirty="0"/>
              <a:t>The grouping is what makes a rollback meaningful. Because the group is the unit, a failed</a:t>
            </a:r>
            <a:br>
              <a:rPr dirty="0"/>
            </a:br>
            <a:r>
              <a:rPr dirty="0"/>
              <a:t>deployment can be reverted for the whole target set rather than per host.</a:t>
            </a:r>
          </a:p>
          <a:p>
            <a:endParaRPr dirty="0"/>
          </a:p>
          <a:p>
            <a:pPr>
              <a:spcAft>
                <a:spcPts val="600"/>
              </a:spcAft>
            </a:pPr>
            <a:r>
              <a:rPr dirty="0"/>
              <a:t>A partner with separate test and production fleets uses one application and two deployment</a:t>
            </a:r>
            <a:br>
              <a:rPr dirty="0"/>
            </a:br>
            <a:r>
              <a:rPr dirty="0"/>
              <a:t>groups, which is exactly the shape drawn here.</a:t>
            </a:r>
          </a:p>
          <a:p>
            <a:endParaRPr dirty="0"/>
          </a:p>
          <a:p>
            <a:pPr>
              <a:spcAft>
                <a:spcPts val="600"/>
              </a:spcAft>
            </a:pPr>
            <a:r>
              <a:rPr dirty="0"/>
              <a:t>Ask the room to predict: if a new instance joins this group next week, what has to change in </a:t>
            </a:r>
            <a:r>
              <a:rPr dirty="0" err="1"/>
              <a:t>CodeDeploy</a:t>
            </a:r>
            <a:r>
              <a:rPr dirty="0"/>
              <a:t>? Nothing is the answer worth landing, and it is the reason the group exists -- the deployment targets the group, so membership can change underneath it.</a:t>
            </a:r>
          </a:p>
          <a:p>
            <a:endParaRPr dirty="0"/>
          </a:p>
          <a:p>
            <a:pPr>
              <a:spcAft>
                <a:spcPts val="600"/>
              </a:spcAft>
            </a:pPr>
            <a:r>
              <a:rPr dirty="0"/>
              <a:t>Verified against docs.aws.amazon.com </a:t>
            </a:r>
            <a:r>
              <a:rPr dirty="0" err="1"/>
              <a:t>CodeDeploy</a:t>
            </a:r>
            <a:r>
              <a:rPr dirty="0"/>
              <a:t> deployment groups.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Read the row left to right and name the trade being made. Every one of these ships the same code; they differ only in how many users meet it at once.</a:t>
            </a:r>
          </a:p>
          <a:p>
            <a:endParaRPr/>
          </a:p>
          <a:p>
            <a:pPr>
              <a:spcAft>
                <a:spcPts val="600"/>
              </a:spcAft>
            </a:pPr>
            <a:r>
              <a:t>All at once is the only one with a gap in service, and it is the reason the others exist. Rolling keeps the service up but runs two versions side by side for a while, which matters if a schema changed.</a:t>
            </a:r>
          </a:p>
          <a:p>
            <a:endParaRPr/>
          </a:p>
          <a:p>
            <a:pPr>
              <a:spcAft>
                <a:spcPts val="600"/>
              </a:spcAft>
            </a:pPr>
            <a:r>
              <a:t>Blue/green keeps a whole second environment, so going back is a switch rather than another deployment. Canary is the same idea applied to a slice of traffic instead of the whole fleet.</a:t>
            </a:r>
          </a:p>
          <a:p>
            <a:endParaRPr/>
          </a:p>
          <a:p>
            <a:pPr>
              <a:spcAft>
                <a:spcPts val="600"/>
              </a:spcAft>
            </a:pPr>
            <a:r>
              <a:t>Ask the room which of the four they would pick for a payment service, before you say anything. The answer people reach for is blue/green, and the useful follow-up is what it costs -- you are paying for two environments.</a:t>
            </a:r>
          </a:p>
          <a:p>
            <a:endParaRPr/>
          </a:p>
          <a:p>
            <a:pPr>
              <a:spcAft>
                <a:spcPts val="600"/>
              </a:spcAft>
            </a:pPr>
            <a:r>
              <a:t>A partner running a booking platform can afford rolling for the web tier and wants blue/green for checkout, and that split is a normal, defensible answer rather than an inconsistency.</a:t>
            </a:r>
          </a:p>
          <a:p>
            <a:endParaRPr/>
          </a:p>
          <a:p>
            <a:pPr>
              <a:spcAft>
                <a:spcPts val="600"/>
              </a:spcAft>
            </a:pPr>
            <a:r>
              <a:t>Verified against docs.aws.amazon.com Elastic Beanstalk deployment policies. CodeDeploy provides the canary and linear shapes for Lambda, and ECS provides blue/green -- both cited on the next two slides.</a:t>
            </a:r>
          </a:p>
          <a:p>
            <a:endParaRPr/>
          </a:p>
          <a:p>
            <a:pPr>
              <a:spcAft>
                <a:spcPts val="600"/>
              </a:spcAft>
            </a:pPr>
            <a:r>
              <a:t>EXAM MAPPING: Domain 3.</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These two get answered interchangeably and they are not the same shape. Point at the top row first.</a:t>
            </a:r>
          </a:p>
          <a:p>
            <a:endParaRPr dirty="0"/>
          </a:p>
          <a:p>
            <a:pPr>
              <a:spcAft>
                <a:spcPts val="600"/>
              </a:spcAft>
            </a:pPr>
            <a:r>
              <a:rPr dirty="0"/>
              <a:t>Blue/green duplicates the environment. Both versions are fully deployed, and the change is which one the listener points at, so a rollback is the same switch in reverse.</a:t>
            </a:r>
          </a:p>
          <a:p>
            <a:endParaRPr dirty="0"/>
          </a:p>
          <a:p>
            <a:pPr>
              <a:spcAft>
                <a:spcPts val="600"/>
              </a:spcAft>
            </a:pPr>
            <a:r>
              <a:rPr dirty="0"/>
              <a:t>Canary never duplicates anything. One environment serves both versions at once and the dial is the percentage, so going back means moving the dial rather than swapping a target.</a:t>
            </a:r>
          </a:p>
          <a:p>
            <a:endParaRPr dirty="0"/>
          </a:p>
          <a:p>
            <a:pPr>
              <a:spcAft>
                <a:spcPts val="600"/>
              </a:spcAft>
            </a:pPr>
            <a:r>
              <a:rPr dirty="0"/>
              <a:t>The cost is the tell. Blue/green needs capacity for two environments; canary needs only the extra tasks in the slice.</a:t>
            </a:r>
          </a:p>
          <a:p>
            <a:endParaRPr dirty="0"/>
          </a:p>
          <a:p>
            <a:pPr>
              <a:spcAft>
                <a:spcPts val="600"/>
              </a:spcAft>
            </a:pPr>
            <a:r>
              <a:rPr dirty="0"/>
              <a:t>Ask the room which one can roll back without launching anything, and let them reason about it before you confirm blue/green -- the second environment is already running, which is exactly what you paid for.</a:t>
            </a:r>
          </a:p>
          <a:p>
            <a:endParaRPr dirty="0"/>
          </a:p>
          <a:p>
            <a:pPr>
              <a:spcAft>
                <a:spcPts val="600"/>
              </a:spcAft>
            </a:pPr>
            <a:r>
              <a:rPr dirty="0"/>
              <a:t>A partner with a fixed compute budget usually ends up on canary for that reason, and it is worth naming that the decision was financial rather than technical.</a:t>
            </a:r>
          </a:p>
          <a:p>
            <a:endParaRPr dirty="0"/>
          </a:p>
          <a:p>
            <a:pPr>
              <a:spcAft>
                <a:spcPts val="600"/>
              </a:spcAft>
            </a:pPr>
            <a:r>
              <a:rPr dirty="0"/>
              <a:t>Verified against docs.aws.amazon.com Amazon ECS blue/green deployments.</a:t>
            </a:r>
          </a:p>
          <a:p>
            <a:endParaRPr dirty="0"/>
          </a:p>
          <a:p>
            <a:pPr>
              <a:spcAft>
                <a:spcPts val="600"/>
              </a:spcAft>
            </a:pPr>
            <a:r>
              <a:rPr dirty="0"/>
              <a:t>EXAM MAPPING: Domain 3.</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Both of these move ten percent at a time, and that is exactly why they are confused. The difference is whether the traffic ever stops moving.</a:t>
            </a:r>
          </a:p>
          <a:p>
            <a:endParaRPr dirty="0"/>
          </a:p>
          <a:p>
            <a:pPr>
              <a:spcAft>
                <a:spcPts val="600"/>
              </a:spcAft>
            </a:pPr>
            <a:r>
              <a:rPr dirty="0"/>
              <a:t>A canary shifts once, then waits. The wait is the point -- it is a bake window, and an alarm during that window is what triggers the rollback.</a:t>
            </a:r>
          </a:p>
          <a:p>
            <a:endParaRPr dirty="0"/>
          </a:p>
          <a:p>
            <a:pPr>
              <a:spcAft>
                <a:spcPts val="600"/>
              </a:spcAft>
            </a:pPr>
            <a:r>
              <a:rPr dirty="0"/>
              <a:t>A linear configuration never holds. It moves the same increment on a fixed interval until it reaches a hundred percent, so no single split lasts long enough to observe.</a:t>
            </a:r>
          </a:p>
          <a:p>
            <a:endParaRPr dirty="0"/>
          </a:p>
          <a:p>
            <a:pPr>
              <a:spcAft>
                <a:spcPts val="600"/>
              </a:spcAft>
            </a:pPr>
            <a:r>
              <a:rPr dirty="0"/>
              <a:t>The names carry the numbers, and reading one aloud is worth more than </a:t>
            </a:r>
            <a:r>
              <a:rPr dirty="0" err="1"/>
              <a:t>memorising</a:t>
            </a:r>
            <a:r>
              <a:rPr dirty="0"/>
              <a:t> a list. Canary ten percent five minutes means one shift of ten, a five minute hold, then the remainder.</a:t>
            </a:r>
          </a:p>
          <a:p>
            <a:endParaRPr dirty="0"/>
          </a:p>
          <a:p>
            <a:pPr>
              <a:spcAft>
                <a:spcPts val="600"/>
              </a:spcAft>
            </a:pPr>
            <a:r>
              <a:rPr dirty="0"/>
              <a:t>Ask the room what a linear ten percent every one minute finishes in, before you answer. Ten minutes is the arithmetic, and it makes the difference in exposure obvious.</a:t>
            </a:r>
          </a:p>
          <a:p>
            <a:endParaRPr dirty="0"/>
          </a:p>
          <a:p>
            <a:pPr>
              <a:spcAft>
                <a:spcPts val="600"/>
              </a:spcAft>
            </a:pPr>
            <a:r>
              <a:rPr dirty="0"/>
              <a:t>A partner who wants a human to look at a dashboard before the rest of the traffic moves needs a canary, because a linear rollout will have finished before anyone opens the dashboard.</a:t>
            </a:r>
          </a:p>
          <a:p>
            <a:endParaRPr dirty="0"/>
          </a:p>
          <a:p>
            <a:pPr>
              <a:spcAft>
                <a:spcPts val="600"/>
              </a:spcAft>
            </a:pPr>
            <a:r>
              <a:rPr dirty="0"/>
              <a:t>Verified against docs.aws.amazon.com </a:t>
            </a:r>
            <a:r>
              <a:rPr dirty="0" err="1"/>
              <a:t>CodeDeploy</a:t>
            </a:r>
            <a:r>
              <a:rPr dirty="0"/>
              <a:t> deployment configurations.</a:t>
            </a:r>
          </a:p>
          <a:p>
            <a:endParaRPr dirty="0"/>
          </a:p>
          <a:p>
            <a:pPr>
              <a:spcAft>
                <a:spcPts val="600"/>
              </a:spcAft>
            </a:pPr>
            <a:r>
              <a:rPr dirty="0"/>
              <a:t>EXAM MAPPING: Domain 3.</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This is the slide that answers "least manual intervention". Walk the row left to right and stop on the third box.</a:t>
            </a:r>
          </a:p>
          <a:p>
            <a:endParaRPr/>
          </a:p>
          <a:p>
            <a:pPr>
              <a:spcAft>
                <a:spcPts val="600"/>
              </a:spcAft>
            </a:pPr>
            <a:r>
              <a:t>The service launches the new tasks and watches them. If they cannot reach a healthy state, the circuit breaker marks the deployment failed on its own, with nobody watching a console.</a:t>
            </a:r>
          </a:p>
          <a:p>
            <a:endParaRPr/>
          </a:p>
          <a:p>
            <a:pPr>
              <a:spcAft>
                <a:spcPts val="600"/>
              </a:spcAft>
            </a:pPr>
            <a:r>
              <a:t>With rollback enabled it does the second half too -- it puts the previous task definition back. That is what turns a failed deployment into a non-event.</a:t>
            </a:r>
          </a:p>
          <a:p>
            <a:endParaRPr/>
          </a:p>
          <a:p>
            <a:pPr>
              <a:spcAft>
                <a:spcPts val="600"/>
              </a:spcAft>
            </a:pPr>
            <a:r>
              <a:t>The distinction worth landing is between failing and reverting. The circuit breaker always fails the deployment; it only restores the previous version when rollback is switched on.</a:t>
            </a:r>
          </a:p>
          <a:p>
            <a:endParaRPr/>
          </a:p>
          <a:p>
            <a:pPr>
              <a:spcAft>
                <a:spcPts val="600"/>
              </a:spcAft>
            </a:pPr>
            <a:r>
              <a:t>Ask the room what happens with the circuit breaker on and rollback off. The deployment stops and the service sits on a broken revision, which is why the pair is usually configured together.</a:t>
            </a:r>
          </a:p>
          <a:p>
            <a:endParaRPr/>
          </a:p>
          <a:p>
            <a:pPr>
              <a:spcAft>
                <a:spcPts val="600"/>
              </a:spcAft>
            </a:pPr>
            <a:r>
              <a:t>A partner running payments cannot take a maintenance window and cannot staff a release watch, so this is the configuration they want by default.</a:t>
            </a:r>
          </a:p>
          <a:p>
            <a:endParaRPr/>
          </a:p>
          <a:p>
            <a:pPr>
              <a:spcAft>
                <a:spcPts val="600"/>
              </a:spcAft>
            </a:pPr>
            <a:r>
              <a:t>Verified against docs.aws.amazon.com how the Amazon ECS deployment circuit breaker detects failures.</a:t>
            </a:r>
          </a:p>
          <a:p>
            <a:endParaRPr/>
          </a:p>
          <a:p>
            <a:pPr>
              <a:spcAft>
                <a:spcPts val="600"/>
              </a:spcAft>
            </a:pPr>
            <a:r>
              <a:t>EXAM MAPPING: Domain 3.</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This is a lifecycle, so read it left to right. Build produces an image, push</a:t>
            </a:r>
            <a:br>
              <a:rPr dirty="0"/>
            </a:br>
            <a:r>
              <a:rPr dirty="0"/>
              <a:t>sends it to the registry, the tag names it, pull retrieves it, run starts it.</a:t>
            </a:r>
          </a:p>
          <a:p>
            <a:endParaRPr dirty="0"/>
          </a:p>
          <a:p>
            <a:pPr>
              <a:spcAft>
                <a:spcPts val="600"/>
              </a:spcAft>
            </a:pPr>
            <a:r>
              <a:rPr dirty="0"/>
              <a:t>Session one already covered what a container is, so the subject here is the registry workflow</a:t>
            </a:r>
            <a:br>
              <a:rPr dirty="0"/>
            </a:br>
            <a:r>
              <a:rPr dirty="0"/>
              <a:t>rather than containers. Two things carry exam weight: a push needs an authentication step</a:t>
            </a:r>
            <a:br>
              <a:rPr dirty="0"/>
            </a:br>
            <a:r>
              <a:rPr dirty="0"/>
              <a:t>first, and tags are how a deployment names the exact image it wants.</a:t>
            </a:r>
          </a:p>
          <a:p>
            <a:endParaRPr dirty="0"/>
          </a:p>
          <a:p>
            <a:pPr>
              <a:spcAft>
                <a:spcPts val="600"/>
              </a:spcAft>
            </a:pPr>
            <a:r>
              <a:rPr dirty="0"/>
              <a:t>Lifecycle policies are the part people forget. Untagged and superseded images accumulate and</a:t>
            </a:r>
            <a:br>
              <a:rPr dirty="0"/>
            </a:br>
            <a:r>
              <a:rPr dirty="0"/>
              <a:t>cost money, so a policy expires them on a rule you define rather than by hand.</a:t>
            </a:r>
          </a:p>
          <a:p>
            <a:endParaRPr dirty="0"/>
          </a:p>
          <a:p>
            <a:pPr>
              <a:spcAft>
                <a:spcPts val="600"/>
              </a:spcAft>
            </a:pPr>
            <a:r>
              <a:rPr dirty="0"/>
              <a:t>For a partner, the useful question is whether their deployment references a moving tag or an</a:t>
            </a:r>
            <a:br>
              <a:rPr dirty="0"/>
            </a:br>
            <a:r>
              <a:rPr dirty="0"/>
              <a:t>immutable one, because a moving tag makes two deployments of the same name different.</a:t>
            </a:r>
          </a:p>
          <a:p>
            <a:endParaRPr dirty="0"/>
          </a:p>
          <a:p>
            <a:pPr>
              <a:spcAft>
                <a:spcPts val="600"/>
              </a:spcAft>
            </a:pPr>
            <a:r>
              <a:rPr dirty="0"/>
              <a:t>Ask the room what happens on the second push of the same tag before you answer it. That is the question a lifecycle policy and tag immutability both exist to settle, and it lands better as a prediction than as a statement.</a:t>
            </a:r>
          </a:p>
          <a:p>
            <a:endParaRPr dirty="0"/>
          </a:p>
          <a:p>
            <a:pPr>
              <a:spcAft>
                <a:spcPts val="600"/>
              </a:spcAft>
            </a:pPr>
            <a:r>
              <a:rPr dirty="0"/>
              <a:t>Verified against docs.aws.amazon.com pushing an image to Amazon ECR.</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One template produces one stack. The containment is the lesson, and the split</a:t>
            </a:r>
            <a:br/>
            <a:r>
              <a:t>across layers is the recommendation.</a:t>
            </a:r>
          </a:p>
          <a:p>
            <a:endParaRPr/>
          </a:p>
          <a:p>
            <a:pPr>
              <a:spcAft>
                <a:spcPts val="600"/>
              </a:spcAft>
            </a:pPr>
            <a:r>
              <a:t>The exam angle is blast radius. A single stack holding network, data and application means every</a:t>
            </a:r>
            <a:br/>
            <a:r>
              <a:t>change risks all three, and one failed update rolls back everything. Splitting by layer lets the</a:t>
            </a:r>
            <a:br/>
            <a:r>
              <a:t>application deploy without touching the network.</a:t>
            </a:r>
          </a:p>
          <a:p>
            <a:endParaRPr/>
          </a:p>
          <a:p>
            <a:pPr>
              <a:spcAft>
                <a:spcPts val="600"/>
              </a:spcAft>
            </a:pPr>
            <a:r>
              <a:t>The seam between stacks is the part to name. One stack publishes a value and another consumes</a:t>
            </a:r>
            <a:br/>
            <a:r>
              <a:t>it, which creates a dependency that has to be deleted in order.</a:t>
            </a:r>
          </a:p>
          <a:p>
            <a:endParaRPr/>
          </a:p>
          <a:p>
            <a:pPr>
              <a:spcAft>
                <a:spcPts val="600"/>
              </a:spcAft>
            </a:pPr>
            <a:r>
              <a:t>A partner asking why they cannot delete a stack usually has exactly that dependency: something</a:t>
            </a:r>
            <a:br/>
            <a:r>
              <a:t>else is still importing a value it exports.</a:t>
            </a:r>
          </a:p>
          <a:p>
            <a:endParaRPr/>
          </a:p>
          <a:p>
            <a:pPr>
              <a:spcAft>
                <a:spcPts val="600"/>
              </a:spcAft>
            </a:pPr>
            <a:r>
              <a:t>Ask which of the three stacks they expect to change most often before you move on. Application is the answer, and it is the whole argument for the split: a weekly application release should not require touching the network stack at all.</a:t>
            </a:r>
          </a:p>
          <a:p>
            <a:endParaRPr/>
          </a:p>
          <a:p>
            <a:pPr>
              <a:spcAft>
                <a:spcPts val="600"/>
              </a:spcAft>
            </a:pPr>
            <a:r>
              <a:t>Verified against docs.aws.amazon.com CloudFormation working with stacks.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The point of this picture is that preview and execute are two separate</a:t>
            </a:r>
            <a:br/>
            <a:r>
              <a:t>steps, and the loop back means you can preview as many times as you like.</a:t>
            </a:r>
          </a:p>
          <a:p>
            <a:endParaRPr/>
          </a:p>
          <a:p>
            <a:pPr>
              <a:spcAft>
                <a:spcPts val="600"/>
              </a:spcAft>
            </a:pPr>
            <a:r>
              <a:t>A change set answers what would happen without doing it, and specifically whether a resource</a:t>
            </a:r>
            <a:br/>
            <a:r>
              <a:t>would be replaced rather than updated. Replacement is the answer the exam is usually after,</a:t>
            </a:r>
            <a:br/>
            <a:r>
              <a:t>because a replaced resource gets a new identifier and loses its state.</a:t>
            </a:r>
          </a:p>
          <a:p>
            <a:endParaRPr/>
          </a:p>
          <a:p>
            <a:pPr>
              <a:spcAft>
                <a:spcPts val="600"/>
              </a:spcAft>
            </a:pPr>
            <a:r>
              <a:t>Nothing changes until the change set is executed. That is the sentence to say out loud, because</a:t>
            </a:r>
            <a:br/>
            <a:r>
              <a:t>creating one is safe and reviewing one costs nothing.</a:t>
            </a:r>
          </a:p>
          <a:p>
            <a:endParaRPr/>
          </a:p>
          <a:p>
            <a:pPr>
              <a:spcAft>
                <a:spcPts val="600"/>
              </a:spcAft>
            </a:pPr>
            <a:r>
              <a:t>For a partner with a change-controlled environment, the change set is the artifact a reviewer</a:t>
            </a:r>
            <a:br/>
            <a:r>
              <a:t>approves before anyone touches production.</a:t>
            </a:r>
          </a:p>
          <a:p>
            <a:endParaRPr/>
          </a:p>
          <a:p>
            <a:pPr>
              <a:spcAft>
                <a:spcPts val="600"/>
              </a:spcAft>
            </a:pPr>
            <a:r>
              <a:t>Ask the room what single word they are scanning this preview for, before you tell them. Replace is the one that matters, and letting them arrive at it is what makes the preview feel useful rather than procedural.</a:t>
            </a:r>
          </a:p>
          <a:p>
            <a:endParaRPr/>
          </a:p>
          <a:p>
            <a:pPr>
              <a:spcAft>
                <a:spcPts val="600"/>
              </a:spcAft>
            </a:pPr>
            <a:r>
              <a:t>Verified against docs.aws.amazon.com updating stacks using change sets.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Read the task definition as a template and the tasks as its instances. One</a:t>
            </a:r>
            <a:br>
              <a:rPr dirty="0"/>
            </a:br>
            <a:r>
              <a:rPr dirty="0"/>
              <a:t>definition, several identical tasks, all behind one load balancer.</a:t>
            </a:r>
          </a:p>
          <a:p>
            <a:endParaRPr dirty="0"/>
          </a:p>
          <a:p>
            <a:pPr>
              <a:spcAft>
                <a:spcPts val="600"/>
              </a:spcAft>
            </a:pPr>
            <a:r>
              <a:rPr dirty="0"/>
              <a:t>The relationship is what gets tested. A task definition is versioned, so updating it creates a</a:t>
            </a:r>
            <a:br>
              <a:rPr dirty="0"/>
            </a:br>
            <a:r>
              <a:rPr dirty="0"/>
              <a:t>new revision and the service is told to use that revision. The rolling update replaces tasks</a:t>
            </a:r>
            <a:br>
              <a:rPr dirty="0"/>
            </a:br>
            <a:r>
              <a:rPr dirty="0"/>
              <a:t>gradually, which is why the drawing shows more than one.</a:t>
            </a:r>
          </a:p>
          <a:p>
            <a:endParaRPr dirty="0"/>
          </a:p>
          <a:p>
            <a:pPr>
              <a:spcAft>
                <a:spcPts val="600"/>
              </a:spcAft>
            </a:pPr>
            <a:r>
              <a:rPr dirty="0"/>
              <a:t>Session one already covered what Fargate is, so the subject here is deploying to it. The point</a:t>
            </a:r>
            <a:br>
              <a:rPr dirty="0"/>
            </a:br>
            <a:r>
              <a:rPr dirty="0"/>
              <a:t>worth making is that you describe the task and the platform places it, with no instance to</a:t>
            </a:r>
            <a:br>
              <a:rPr dirty="0"/>
            </a:br>
            <a:r>
              <a:rPr dirty="0"/>
              <a:t>manage.</a:t>
            </a:r>
          </a:p>
          <a:p>
            <a:endParaRPr dirty="0"/>
          </a:p>
          <a:p>
            <a:pPr>
              <a:spcAft>
                <a:spcPts val="600"/>
              </a:spcAft>
            </a:pPr>
            <a:r>
              <a:rPr dirty="0"/>
              <a:t>A partner asking how to deploy without downtime is asking about this: a new revision plus a</a:t>
            </a:r>
            <a:br>
              <a:rPr dirty="0"/>
            </a:br>
            <a:r>
              <a:rPr dirty="0"/>
              <a:t>rolling update, with the load balancer draining connections from the tasks being replaced.</a:t>
            </a:r>
          </a:p>
          <a:p>
            <a:endParaRPr dirty="0"/>
          </a:p>
          <a:p>
            <a:pPr>
              <a:spcAft>
                <a:spcPts val="600"/>
              </a:spcAft>
            </a:pPr>
            <a:r>
              <a:rPr dirty="0"/>
              <a:t>Ask which of the three tasks the load balancer stops sending traffic to first. The answer is whichever the rolling update is replacing, and reasoning it out is what makes the draining step stick rather than being a word on a slide.</a:t>
            </a:r>
          </a:p>
          <a:p>
            <a:endParaRPr dirty="0"/>
          </a:p>
          <a:p>
            <a:pPr>
              <a:spcAft>
                <a:spcPts val="600"/>
              </a:spcAft>
            </a:pPr>
            <a:r>
              <a:rPr dirty="0"/>
              <a:t>Verified against docs.aws.amazon.com Amazon ECS task definitions.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Point at Resources first. It is the only required section of a template, and</a:t>
            </a:r>
            <a:br>
              <a:rPr dirty="0"/>
            </a:br>
            <a:r>
              <a:rPr dirty="0"/>
              <a:t>everything else on this slide sits inside it.</a:t>
            </a:r>
          </a:p>
          <a:p>
            <a:endParaRPr dirty="0"/>
          </a:p>
          <a:p>
            <a:pPr>
              <a:spcAft>
                <a:spcPts val="600"/>
              </a:spcAft>
            </a:pPr>
            <a:r>
              <a:rPr dirty="0"/>
              <a:t>Read the shape out loud: this declares WHAT should exist, not the steps to create it. The</a:t>
            </a:r>
            <a:br>
              <a:rPr dirty="0"/>
            </a:br>
            <a:r>
              <a:rPr dirty="0"/>
              <a:t>logical name Orders is yours; the Type is what fixes which properties are legal.</a:t>
            </a:r>
          </a:p>
          <a:p>
            <a:endParaRPr dirty="0"/>
          </a:p>
          <a:p>
            <a:pPr>
              <a:spcAft>
                <a:spcPts val="600"/>
              </a:spcAft>
            </a:pPr>
            <a:r>
              <a:rPr dirty="0"/>
              <a:t>The exam angle is that a template is desired state. Submitting it twice does not create two</a:t>
            </a:r>
            <a:br>
              <a:rPr dirty="0"/>
            </a:br>
            <a:r>
              <a:rPr dirty="0"/>
              <a:t>queues -- CloudFormation compares the template with the stack and changes only the difference.</a:t>
            </a:r>
          </a:p>
          <a:p>
            <a:endParaRPr dirty="0"/>
          </a:p>
          <a:p>
            <a:pPr>
              <a:spcAft>
                <a:spcPts val="600"/>
              </a:spcAft>
            </a:pPr>
            <a:r>
              <a:rPr dirty="0"/>
              <a:t>For a partner moving from scripts, that is the whole shift: a script says how, a template says</a:t>
            </a:r>
            <a:br>
              <a:rPr dirty="0"/>
            </a:br>
            <a:r>
              <a:rPr dirty="0"/>
              <a:t>what, and the service works out the how.</a:t>
            </a:r>
          </a:p>
          <a:p>
            <a:endParaRPr dirty="0"/>
          </a:p>
          <a:p>
            <a:pPr>
              <a:spcAft>
                <a:spcPts val="600"/>
              </a:spcAft>
            </a:pPr>
            <a:r>
              <a:rPr dirty="0"/>
              <a:t>Ask the room which line here decides what is allowed to appear beneath it. The Type does, and it is worth letting them hunt for it, because that is the line turning a logical name you invented into a real AWS resource.</a:t>
            </a:r>
          </a:p>
          <a:p>
            <a:endParaRPr dirty="0"/>
          </a:p>
          <a:p>
            <a:pPr>
              <a:spcAft>
                <a:spcPts val="600"/>
              </a:spcAft>
            </a:pPr>
            <a:r>
              <a:rPr dirty="0"/>
              <a:t>Verified against docs.aws.amazon.com CloudFormation template sections.</a:t>
            </a:r>
          </a:p>
          <a:p>
            <a:endParaRPr dirty="0"/>
          </a:p>
          <a:p>
            <a:pPr>
              <a:spcAft>
                <a:spcPts val="600"/>
              </a:spcAft>
            </a:pPr>
            <a:r>
              <a:rPr dirty="0"/>
              <a:t>Verified against: https://docs.aws.amazon.com/AWSCloudFormation/latest/UserGuide/template-anatomy.html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This is the previous slide's queue, written as code. Same resource, same</a:t>
            </a:r>
            <a:br/>
            <a:r>
              <a:t>property name, a different authoring surface.</a:t>
            </a:r>
          </a:p>
          <a:p>
            <a:endParaRPr/>
          </a:p>
          <a:p>
            <a:pPr>
              <a:spcAft>
                <a:spcPts val="600"/>
              </a:spcAft>
            </a:pPr>
            <a:r>
              <a:t>A CDK stack is a class you subclass, and the constructs you create inside it become the</a:t>
            </a:r>
            <a:br/>
            <a:r>
              <a:t>resources. Say out loud that the imports are omitted here for room -- Stack comes from the</a:t>
            </a:r>
            <a:br/>
            <a:r>
              <a:t>aws-cdk-lib package, Construct from constructs, and the queue from the aws-sqs module.</a:t>
            </a:r>
          </a:p>
          <a:p>
            <a:endParaRPr/>
          </a:p>
          <a:p>
            <a:pPr>
              <a:spcAft>
                <a:spcPts val="600"/>
              </a:spcAft>
            </a:pPr>
            <a:r>
              <a:t>The exam-relevant idea is that this SYNTHESIZES to a CloudFormation template. CDK is not a</a:t>
            </a:r>
            <a:br/>
            <a:r>
              <a:t>different deployment engine; it generates the declarative document and CloudFormation still</a:t>
            </a:r>
            <a:br/>
            <a:r>
              <a:t>does the work.</a:t>
            </a:r>
          </a:p>
          <a:p>
            <a:endParaRPr/>
          </a:p>
          <a:p>
            <a:pPr>
              <a:spcAft>
                <a:spcPts val="600"/>
              </a:spcAft>
            </a:pPr>
            <a:r>
              <a:t>So ask a partner which surface their team maintains better. A team that already writes</a:t>
            </a:r>
            <a:br/>
            <a:r>
              <a:t>TypeScript gains type checking and loops; a team that does not gains a compiler to learn.</a:t>
            </a:r>
          </a:p>
          <a:p>
            <a:endParaRPr/>
          </a:p>
          <a:p>
            <a:pPr>
              <a:spcAft>
                <a:spcPts val="600"/>
              </a:spcAft>
            </a:pPr>
            <a:r>
              <a:t>Worth asking out loud: if this synthesizes to the previous slide's template, what does the team gain? The useful answers are type checking, loops over a list of queues, and reusing a construct rather than copying a block of JSON.</a:t>
            </a:r>
          </a:p>
          <a:p>
            <a:endParaRPr/>
          </a:p>
          <a:p>
            <a:pPr>
              <a:spcAft>
                <a:spcPts val="600"/>
              </a:spcAft>
            </a:pPr>
            <a:r>
              <a:t>Verified against docs.aws.amazon.com Introduction to AWS CDK stacks.</a:t>
            </a:r>
          </a:p>
          <a:p>
            <a:endParaRPr/>
          </a:p>
          <a:p>
            <a:pPr>
              <a:spcAft>
                <a:spcPts val="600"/>
              </a:spcAft>
            </a:pPr>
            <a:r>
              <a:t>Verified against: https://docs.aws.amazon.com/cdk/v2/guide/stacks.html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Start with the Transform line. That single line is what makes this a SAM</a:t>
            </a:r>
            <a:br/>
            <a:r>
              <a:t>template rather than an ordinary CloudFormation one, and without it none of the serverless</a:t>
            </a:r>
            <a:br/>
            <a:r>
              <a:t>types below are recognized.</a:t>
            </a:r>
          </a:p>
          <a:p>
            <a:endParaRPr/>
          </a:p>
          <a:p>
            <a:pPr>
              <a:spcAft>
                <a:spcPts val="600"/>
              </a:spcAft>
            </a:pPr>
            <a:r>
              <a:t>The payoff is the expansion. One Serverless Function resource becomes a function, an execution</a:t>
            </a:r>
            <a:br/>
            <a:r>
              <a:t>role, and the event source mapping -- so a SAM template is shorter than the CloudFormation it</a:t>
            </a:r>
            <a:br/>
            <a:r>
              <a:t>turns into.</a:t>
            </a:r>
          </a:p>
          <a:p>
            <a:endParaRPr/>
          </a:p>
          <a:p>
            <a:pPr>
              <a:spcAft>
                <a:spcPts val="600"/>
              </a:spcAft>
            </a:pPr>
            <a:r>
              <a:t>The exam angle is that SAM IS CloudFormation. The transform runs server side and the result is</a:t>
            </a:r>
            <a:br/>
            <a:r>
              <a:t>a normal stack, which is why you can mix plain CloudFormation resources into the same file.</a:t>
            </a:r>
          </a:p>
          <a:p>
            <a:endParaRPr/>
          </a:p>
          <a:p>
            <a:pPr>
              <a:spcAft>
                <a:spcPts val="600"/>
              </a:spcAft>
            </a:pPr>
            <a:r>
              <a:t>Note the Events block: the trigger is declared alongside the function rather than wired up</a:t>
            </a:r>
            <a:br/>
            <a:r>
              <a:t>afterwards, which is the difference a partner feels first.</a:t>
            </a:r>
          </a:p>
          <a:p>
            <a:endParaRPr/>
          </a:p>
          <a:p>
            <a:pPr>
              <a:spcAft>
                <a:spcPts val="600"/>
              </a:spcAft>
            </a:pPr>
            <a:r>
              <a:t>Ask what they think happens if the Transform line is deleted. Everything below it stops being valid, which is the fastest way to show that Transform is not a style choice -- it is what makes the file a SAM template at all.</a:t>
            </a:r>
          </a:p>
          <a:p>
            <a:endParaRPr/>
          </a:p>
          <a:p>
            <a:pPr>
              <a:spcAft>
                <a:spcPts val="600"/>
              </a:spcAft>
            </a:pPr>
            <a:r>
              <a:t>Verified against docs.aws.amazon.com AWS SAM template anatomy.</a:t>
            </a:r>
          </a:p>
          <a:p>
            <a:endParaRPr/>
          </a:p>
          <a:p>
            <a:pPr>
              <a:spcAft>
                <a:spcPts val="600"/>
              </a:spcAft>
            </a:pPr>
            <a:r>
              <a:t>Verified against: https://docs.aws.amazon.com/serverless-application-model/latest/developerguide/sam-specification-template-anatomy.html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Start with the failure this prevents. If a value lives in the package, then changing it means building and deploying again, and the same artifact can no longer be promoted unchanged from test to production.</a:t>
            </a:r>
          </a:p>
          <a:p>
            <a:endParaRPr/>
          </a:p>
          <a:p>
            <a:pPr>
              <a:spcAft>
                <a:spcPts val="600"/>
              </a:spcAft>
            </a:pPr>
            <a:r>
              <a:t>Read the rows as a lookup. What differs is not the value, it is what the value needs from the platform -- somewhere to live, encryption and rotation, or a controlled change at runtime.</a:t>
            </a:r>
          </a:p>
          <a:p>
            <a:endParaRPr/>
          </a:p>
          <a:p>
            <a:pPr>
              <a:spcAft>
                <a:spcPts val="600"/>
              </a:spcAft>
            </a:pPr>
            <a:r>
              <a:t>An environment variable is the cheapest option and the right one for something that is fixed for the life of the version. It is read at initialisation, so changing it is a new version.</a:t>
            </a:r>
          </a:p>
          <a:p>
            <a:endParaRPr/>
          </a:p>
          <a:p>
            <a:pPr>
              <a:spcAft>
                <a:spcPts val="600"/>
              </a:spcAft>
            </a:pPr>
            <a:r>
              <a:t>Parameter Store and Secrets Manager both hold values outside the artifact. The next slide separates them, because that separation is a common question.</a:t>
            </a:r>
          </a:p>
          <a:p>
            <a:endParaRPr/>
          </a:p>
          <a:p>
            <a:pPr>
              <a:spcAft>
                <a:spcPts val="600"/>
              </a:spcAft>
            </a:pPr>
            <a:r>
              <a:t>AppConfig is the one people miss. It exists so a value can change while the function is running, with a validator and a staged rollout, which is a different job from simply storing the value.</a:t>
            </a:r>
          </a:p>
          <a:p>
            <a:endParaRPr/>
          </a:p>
          <a:p>
            <a:pPr>
              <a:spcAft>
                <a:spcPts val="600"/>
              </a:spcAft>
            </a:pPr>
            <a:r>
              <a:t>A partner promoting one build through three environments should be able to ship the identical artifact to all three, and every row here is a way of making that true.</a:t>
            </a:r>
          </a:p>
          <a:p>
            <a:endParaRPr/>
          </a:p>
          <a:p>
            <a:pPr>
              <a:spcAft>
                <a:spcPts val="600"/>
              </a:spcAft>
            </a:pPr>
            <a:r>
              <a:t>Verified against docs.aws.amazon.com What is AWS AppConfig. Parameter Store and Secrets Manager are cited on the next slide; the environment-variable row is the Lambda configuration model taught in session two.</a:t>
            </a:r>
          </a:p>
          <a:p>
            <a:endParaRPr/>
          </a:p>
          <a:p>
            <a:pPr>
              <a:spcAft>
                <a:spcPts val="600"/>
              </a:spcAft>
            </a:pPr>
            <a:r>
              <a:t>EXAM MAPPING: Domain 3.</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Both of these store a value outside your package, both encrypt it, and both are read with an API call. Say that first, because the overlap is real and pretending otherwise makes the distinction harder to remember.</a:t>
            </a:r>
          </a:p>
          <a:p>
            <a:endParaRPr/>
          </a:p>
          <a:p>
            <a:pPr>
              <a:spcAft>
                <a:spcPts val="600"/>
              </a:spcAft>
            </a:pPr>
            <a:r>
              <a:t>The difference that decides a question is rotation. Secrets Manager rotates a credential on a schedule and coordinates the change with the service that owns it. Parameter Store does not rotate anything.</a:t>
            </a:r>
          </a:p>
          <a:p>
            <a:endParaRPr/>
          </a:p>
          <a:p>
            <a:pPr>
              <a:spcAft>
                <a:spcPts val="600"/>
              </a:spcAft>
            </a:pPr>
            <a:r>
              <a:t>So the test is not how secret the value is. A database password in Parameter Store as a secure string is encrypted perfectly well; what it does not get is rotation.</a:t>
            </a:r>
          </a:p>
          <a:p>
            <a:endParaRPr/>
          </a:p>
          <a:p>
            <a:pPr>
              <a:spcAft>
                <a:spcPts val="600"/>
              </a:spcAft>
            </a:pPr>
            <a:r>
              <a:t>The second difference is cost, and it points the same way. Parameter Store standard parameters carry no per-parameter charge, which is why bulk configuration lands there.</a:t>
            </a:r>
          </a:p>
          <a:p>
            <a:endParaRPr/>
          </a:p>
          <a:p>
            <a:pPr>
              <a:spcAft>
                <a:spcPts val="600"/>
              </a:spcAft>
            </a:pPr>
            <a:r>
              <a:t>Ask the room where an API key for a third party belongs, and make them justify it. Either answer can be defended, and the justification is the learning -- if nobody will rotate it, you are paying for a feature you are not using.</a:t>
            </a:r>
          </a:p>
          <a:p>
            <a:endParaRPr/>
          </a:p>
          <a:p>
            <a:pPr>
              <a:spcAft>
                <a:spcPts val="600"/>
              </a:spcAft>
            </a:pPr>
            <a:r>
              <a:t>A partner with hundreds of configuration values and a handful of credentials normally ends up using both, which is the answer worth normalising.</a:t>
            </a:r>
          </a:p>
          <a:p>
            <a:endParaRPr/>
          </a:p>
          <a:p>
            <a:pPr>
              <a:spcAft>
                <a:spcPts val="600"/>
              </a:spcAft>
            </a:pPr>
            <a:r>
              <a:t>Verified against docs.aws.amazon.com Rotate AWS Secrets Manager secrets and AWS Systems Manager Parameter Store.</a:t>
            </a:r>
          </a:p>
          <a:p>
            <a:endParaRPr/>
          </a:p>
          <a:p>
            <a:pPr>
              <a:spcAft>
                <a:spcPts val="600"/>
              </a:spcAft>
            </a:pPr>
            <a:r>
              <a:t>EXAM MAPPING: Domain 3.</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 test event is not a testing framework. It is a saved JSON document that stands in for whatever would normally have invoked the function.</a:t>
            </a:r>
          </a:p>
          <a:p>
            <a:endParaRPr/>
          </a:p>
          <a:p>
            <a:pPr>
              <a:spcAft>
                <a:spcPts val="600"/>
              </a:spcAft>
            </a:pPr>
            <a:r>
              <a:t>Point at the shape rather than the values. This one is the event an API Gateway proxy integration delivers, so the function under test cannot tell the difference between this and a real request.</a:t>
            </a:r>
          </a:p>
          <a:p>
            <a:endParaRPr/>
          </a:p>
          <a:p>
            <a:pPr>
              <a:spcAft>
                <a:spcPts val="600"/>
              </a:spcAft>
            </a:pPr>
            <a:r>
              <a:t>The body is a string, not an object, and that trips people. A proxy event carries the request body as text, so the function has to parse it -- and a test event that nests an object here passes while production fails.</a:t>
            </a:r>
          </a:p>
          <a:p>
            <a:endParaRPr/>
          </a:p>
          <a:p>
            <a:pPr>
              <a:spcAft>
                <a:spcPts val="600"/>
              </a:spcAft>
            </a:pPr>
            <a:r>
              <a:t>Because the event is just a document, it can be saved beside the code and replayed. That is what makes it a regression test rather than a one-off console click.</a:t>
            </a:r>
          </a:p>
          <a:p>
            <a:endParaRPr/>
          </a:p>
          <a:p>
            <a:pPr>
              <a:spcAft>
                <a:spcPts val="600"/>
              </a:spcAft>
            </a:pPr>
            <a:r>
              <a:t>Ask the room what they would change to test the failure path, before moving on. Sending a body that will not parse is the answer, and it is the case most teams never write.</a:t>
            </a:r>
          </a:p>
          <a:p>
            <a:endParaRPr/>
          </a:p>
          <a:p>
            <a:pPr>
              <a:spcAft>
                <a:spcPts val="600"/>
              </a:spcAft>
            </a:pPr>
            <a:r>
              <a:t>A partner whose function only breaks on malformed input can keep one saved event per failure they have seen, which turns an incident into a permanent test.</a:t>
            </a:r>
          </a:p>
          <a:p>
            <a:endParaRPr/>
          </a:p>
          <a:p>
            <a:pPr>
              <a:spcAft>
                <a:spcPts val="600"/>
              </a:spcAft>
            </a:pPr>
            <a:r>
              <a:t>Verified against docs.aws.amazon.com Testing Lambda functions in the console.</a:t>
            </a:r>
          </a:p>
          <a:p>
            <a:endParaRPr/>
          </a:p>
          <a:p>
            <a:pPr>
              <a:spcAft>
                <a:spcPts val="600"/>
              </a:spcAft>
            </a:pPr>
            <a:r>
              <a:t>EXAM MAPPING: Domain 3.</a:t>
            </a:r>
          </a:p>
          <a:p>
            <a:endParaRPr/>
          </a:p>
          <a:p>
            <a:pPr>
              <a:spcAft>
                <a:spcPts val="600"/>
              </a:spcAft>
            </a:pPr>
            <a:r>
              <a:t>Verified against: https://docs.aws.amazon.com/lambda/latest/dg/testing-functions.html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This is the indirection that makes every traffic-shifting deployment possible, and it is worth drawing before the strategies get used in anger.</a:t>
            </a:r>
          </a:p>
          <a:p>
            <a:endParaRPr/>
          </a:p>
          <a:p>
            <a:pPr>
              <a:spcAft>
                <a:spcPts val="600"/>
              </a:spcAft>
            </a:pPr>
            <a:r>
              <a:t>A published version is immutable. Its code and configuration are fixed, and it has its own number, so nothing about it can drift after the fact.</a:t>
            </a:r>
          </a:p>
          <a:p>
            <a:endParaRPr/>
          </a:p>
          <a:p>
            <a:pPr>
              <a:spcAft>
                <a:spcPts val="600"/>
              </a:spcAft>
            </a:pPr>
            <a:r>
              <a:t>An alias is a named pointer. Callers invoke the alias, so moving the pointer changes what runs without touching a caller and without deploying anything.</a:t>
            </a:r>
          </a:p>
          <a:p>
            <a:endParaRPr/>
          </a:p>
          <a:p>
            <a:pPr>
              <a:spcAft>
                <a:spcPts val="600"/>
              </a:spcAft>
            </a:pPr>
            <a:r>
              <a:t>The lighter second line is the part to emphasise. An alias can point at two versions at once with a weight, and that weighted pointer is precisely what CodeDeploy moves during a canary.</a:t>
            </a:r>
          </a:p>
          <a:p>
            <a:endParaRPr/>
          </a:p>
          <a:p>
            <a:pPr>
              <a:spcAft>
                <a:spcPts val="600"/>
              </a:spcAft>
            </a:pPr>
            <a:r>
              <a:t>Ask the room what a rollback costs here. Repointing the alias is the whole operation, which is why a Lambda rollback can be effectively instant.</a:t>
            </a:r>
          </a:p>
          <a:p>
            <a:endParaRPr/>
          </a:p>
          <a:p>
            <a:pPr>
              <a:spcAft>
                <a:spcPts val="600"/>
              </a:spcAft>
            </a:pPr>
            <a:r>
              <a:t>A partner integrating with a client system that hard-codes a function name gets stability from the alias and freedom to release behind it, which is usually the argument that sells the practice.</a:t>
            </a:r>
          </a:p>
          <a:p>
            <a:endParaRPr/>
          </a:p>
          <a:p>
            <a:pPr>
              <a:spcAft>
                <a:spcPts val="600"/>
              </a:spcAft>
            </a:pPr>
            <a:r>
              <a:t>Verified against docs.aws.amazon.com Create an alias for a Lambda function.</a:t>
            </a:r>
          </a:p>
          <a:p>
            <a:endParaRPr/>
          </a:p>
          <a:p>
            <a:pPr>
              <a:spcAft>
                <a:spcPts val="600"/>
              </a:spcAft>
            </a:pPr>
            <a:r>
              <a:t>EXAM MAPPING: Domain 3.</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Three packaging choices, and the honest summary is that the first one is right until something forces your hand.</a:t>
            </a:r>
          </a:p>
          <a:p>
            <a:endParaRPr/>
          </a:p>
          <a:p>
            <a:pPr>
              <a:spcAft>
                <a:spcPts val="600"/>
              </a:spcAft>
            </a:pPr>
            <a:r>
              <a:t>A zip archive is the default. You upload the code and its dependencies, and there is a size ceiling on what you can send directly.</a:t>
            </a:r>
          </a:p>
          <a:p>
            <a:endParaRPr/>
          </a:p>
          <a:p>
            <a:pPr>
              <a:spcAft>
                <a:spcPts val="600"/>
              </a:spcAft>
            </a:pPr>
            <a:r>
              <a:t>A container image is the answer when the package gets large or when the team already builds images for everything else. It goes to a registry first and the function pulls it, which is the same lifecycle the registry slide covered.</a:t>
            </a:r>
          </a:p>
          <a:p>
            <a:endParaRPr/>
          </a:p>
          <a:p>
            <a:pPr>
              <a:spcAft>
                <a:spcPts val="600"/>
              </a:spcAft>
            </a:pPr>
            <a:r>
              <a:t>A layer is not a third way to ship a function. It is a way to stop shipping the same dependency in every function, and it is the option most often misread.</a:t>
            </a:r>
          </a:p>
          <a:p>
            <a:endParaRPr/>
          </a:p>
          <a:p>
            <a:pPr>
              <a:spcAft>
                <a:spcPts val="600"/>
              </a:spcAft>
            </a:pPr>
            <a:r>
              <a:t>Ask the room when a layer stops paying off, before you answer. One function is the honest answer -- a layer is shared plumbing, and with a single consumer it is only indirection.</a:t>
            </a:r>
          </a:p>
          <a:p>
            <a:endParaRPr/>
          </a:p>
          <a:p>
            <a:pPr>
              <a:spcAft>
                <a:spcPts val="600"/>
              </a:spcAft>
            </a:pPr>
            <a:r>
              <a:t>A partner with a dozen functions that all use the same client library gets a smaller artifact and one place to update, which is the case layers were built for.</a:t>
            </a:r>
          </a:p>
          <a:p>
            <a:endParaRPr/>
          </a:p>
          <a:p>
            <a:pPr>
              <a:spcAft>
                <a:spcPts val="600"/>
              </a:spcAft>
            </a:pPr>
            <a:r>
              <a:t>Verified against docs.aws.amazon.com Deploying Lambda functions as zip file archives and Managing Lambda dependencies with layers.</a:t>
            </a:r>
          </a:p>
          <a:p>
            <a:endParaRPr/>
          </a:p>
          <a:p>
            <a:pPr>
              <a:spcAft>
                <a:spcPts val="600"/>
              </a:spcAft>
            </a:pPr>
            <a:r>
              <a:t>EXAM MAPPING: Domain 3.</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This is the distinction the practice questions lean on, and it is a distinction about triggers rather than about capability.</a:t>
            </a:r>
          </a:p>
          <a:p>
            <a:endParaRPr/>
          </a:p>
          <a:p>
            <a:pPr>
              <a:spcAft>
                <a:spcPts val="600"/>
              </a:spcAft>
            </a:pPr>
            <a:r>
              <a:t>A prompt is something a person starts. It can do exactly the same work, and it does it when somebody remembers to ask, which means the work that gets skipped is the work nobody remembered.</a:t>
            </a:r>
          </a:p>
          <a:p>
            <a:endParaRPr/>
          </a:p>
          <a:p>
            <a:pPr>
              <a:spcAft>
                <a:spcPts val="600"/>
              </a:spcAft>
            </a:pPr>
            <a:r>
              <a:t>A hook is registered against an event. Nothing has to be remembered, because the event is what starts it, and that is why a hook can keep unit tests generated for every changed file rather than for the ones somebody thought of.</a:t>
            </a:r>
          </a:p>
          <a:p>
            <a:endParaRPr/>
          </a:p>
          <a:p>
            <a:pPr>
              <a:spcAft>
                <a:spcPts val="600"/>
              </a:spcAft>
            </a:pPr>
            <a:r>
              <a:t>The steering file belongs in the left column and is worth naming explicitly. It shapes what gets generated, but it is not a trigger, so on its own it never causes anything to run.</a:t>
            </a:r>
          </a:p>
          <a:p>
            <a:endParaRPr/>
          </a:p>
          <a:p>
            <a:pPr>
              <a:spcAft>
                <a:spcPts val="600"/>
              </a:spcAft>
            </a:pPr>
            <a:r>
              <a:t>Ask the room which of these would still work at two in the morning with nobody at a keyboard. Only the hook, and that framing tends to stick better than the definitions.</a:t>
            </a:r>
          </a:p>
          <a:p>
            <a:endParaRPr/>
          </a:p>
          <a:p>
            <a:pPr>
              <a:spcAft>
                <a:spcPts val="600"/>
              </a:spcAft>
            </a:pPr>
            <a:r>
              <a:t>A partner whose test coverage falls behind on every release is describing a trigger problem, not a tooling problem, and this is the slide that names it.</a:t>
            </a:r>
          </a:p>
          <a:p>
            <a:endParaRPr/>
          </a:p>
          <a:p>
            <a:pPr>
              <a:spcAft>
                <a:spcPts val="600"/>
              </a:spcAft>
            </a:pPr>
            <a:r>
              <a:t>Verified against kiro.dev Hooks.</a:t>
            </a:r>
          </a:p>
          <a:p>
            <a:endParaRPr/>
          </a:p>
          <a:p>
            <a:pPr>
              <a:spcAft>
                <a:spcPts val="600"/>
              </a:spcAft>
            </a:pPr>
            <a:r>
              <a:t>EXAM MAPPING: Domain 3.</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This is the slide that turns the previous one into something a pipeline can use. Point at the exit code, not the command.</a:t>
            </a:r>
          </a:p>
          <a:p>
            <a:endParaRPr dirty="0"/>
          </a:p>
          <a:p>
            <a:pPr>
              <a:spcAft>
                <a:spcPts val="600"/>
              </a:spcAft>
            </a:pPr>
            <a:r>
              <a:rPr dirty="0"/>
              <a:t>Headless mode runs the agent without an interface. It takes a prompt, writes to standard output, and finishes with an exit code, which is exactly the contract a build step already has.</a:t>
            </a:r>
          </a:p>
          <a:p>
            <a:endParaRPr dirty="0"/>
          </a:p>
          <a:p>
            <a:pPr>
              <a:spcAft>
                <a:spcPts val="600"/>
              </a:spcAft>
            </a:pPr>
            <a:r>
              <a:rPr dirty="0"/>
              <a:t>That contract is the whole point. A pipeline stage does not need to understand what the agent did; it only needs to know whether to continue, and a non-zero exit is how any build tool says no.</a:t>
            </a:r>
          </a:p>
          <a:p>
            <a:endParaRPr dirty="0"/>
          </a:p>
          <a:p>
            <a:pPr>
              <a:spcAft>
                <a:spcPts val="600"/>
              </a:spcAft>
            </a:pPr>
            <a:r>
              <a:rPr dirty="0"/>
              <a:t>Contrast it with a manual approval, because the questions do. An approval waits for a person and cannot fail on the content of a check. This stops the promotion on the check itself.</a:t>
            </a:r>
          </a:p>
          <a:p>
            <a:endParaRPr dirty="0"/>
          </a:p>
          <a:p>
            <a:pPr>
              <a:spcAft>
                <a:spcPts val="600"/>
              </a:spcAft>
            </a:pPr>
            <a:r>
              <a:rPr dirty="0"/>
              <a:t>Ask the room what happens to the promotion if this command exits non-zero, before you say it. The stage fails and the build never reaches production, with nobody reading a log.</a:t>
            </a:r>
          </a:p>
          <a:p>
            <a:endParaRPr dirty="0"/>
          </a:p>
          <a:p>
            <a:pPr>
              <a:spcAft>
                <a:spcPts val="600"/>
              </a:spcAft>
            </a:pPr>
            <a:r>
              <a:rPr dirty="0"/>
              <a:t>A partner who currently has an engineer skim logs before every release can move that judgement into the pipeline and keep the audit trail, which is usually the outcome they actually wanted.</a:t>
            </a:r>
          </a:p>
          <a:p>
            <a:endParaRPr dirty="0"/>
          </a:p>
          <a:p>
            <a:pPr>
              <a:spcAft>
                <a:spcPts val="600"/>
              </a:spcAft>
            </a:pPr>
            <a:r>
              <a:rPr dirty="0"/>
              <a:t>Verified against </a:t>
            </a:r>
            <a:r>
              <a:rPr dirty="0" err="1"/>
              <a:t>kiro.dev</a:t>
            </a:r>
            <a:r>
              <a:rPr dirty="0"/>
              <a:t> Headless mode.</a:t>
            </a:r>
          </a:p>
          <a:p>
            <a:endParaRPr dirty="0"/>
          </a:p>
          <a:p>
            <a:pPr>
              <a:spcAft>
                <a:spcPts val="600"/>
              </a:spcAft>
            </a:pPr>
            <a:r>
              <a:rPr dirty="0"/>
              <a:t>EXAM MAPPING: Domain 3.</a:t>
            </a:r>
          </a:p>
          <a:p>
            <a:endParaRPr dirty="0"/>
          </a:p>
          <a:p>
            <a:pPr>
              <a:spcAft>
                <a:spcPts val="600"/>
              </a:spcAft>
            </a:pPr>
            <a:r>
              <a:rPr dirty="0"/>
              <a:t>Verified against: https://kiro.dev/docs/cli/headless/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This is the closer for the whole session, so do not read it out. Ask the room to</a:t>
            </a:r>
            <a:br>
              <a:rPr dirty="0"/>
            </a:br>
            <a:r>
              <a:rPr dirty="0"/>
              <a:t>answer each row before you reveal the right-hand column.</a:t>
            </a:r>
          </a:p>
          <a:p>
            <a:endParaRPr dirty="0"/>
          </a:p>
          <a:p>
            <a:pPr>
              <a:spcAft>
                <a:spcPts val="600"/>
              </a:spcAft>
            </a:pPr>
            <a:r>
              <a:rPr dirty="0"/>
              <a:t>The rows are ordered by what the question gives you. The top three are authoring surfaces --</a:t>
            </a:r>
            <a:br>
              <a:rPr dirty="0"/>
            </a:br>
            <a:r>
              <a:rPr dirty="0"/>
              <a:t>one template, the same template as code, or a function declared with its trigger. The next two</a:t>
            </a:r>
            <a:br>
              <a:rPr dirty="0"/>
            </a:br>
            <a:r>
              <a:rPr dirty="0"/>
              <a:t>are release mechanics, and the last two are where the code actually runs.</a:t>
            </a:r>
          </a:p>
          <a:p>
            <a:endParaRPr dirty="0"/>
          </a:p>
          <a:p>
            <a:pPr>
              <a:spcAft>
                <a:spcPts val="600"/>
              </a:spcAft>
            </a:pPr>
            <a:r>
              <a:rPr dirty="0"/>
              <a:t>The exam angle is that these are trigger phrases rather than definitions. Wording like</a:t>
            </a:r>
            <a:br>
              <a:rPr dirty="0"/>
            </a:br>
            <a:r>
              <a:rPr dirty="0"/>
              <a:t>describes the whole stack points at CloudFormation however the scenario is dressed up, and</a:t>
            </a:r>
            <a:br>
              <a:rPr dirty="0"/>
            </a:br>
            <a:r>
              <a:rPr dirty="0"/>
              <a:t>without managing servers is the Fargate tell.</a:t>
            </a:r>
          </a:p>
          <a:p>
            <a:endParaRPr dirty="0"/>
          </a:p>
          <a:p>
            <a:pPr>
              <a:spcAft>
                <a:spcPts val="600"/>
              </a:spcAft>
            </a:pPr>
            <a:r>
              <a:rPr dirty="0"/>
              <a:t>The distinction people lose is </a:t>
            </a:r>
            <a:r>
              <a:rPr dirty="0" err="1"/>
              <a:t>CodePipeline</a:t>
            </a:r>
            <a:r>
              <a:rPr dirty="0"/>
              <a:t> against </a:t>
            </a:r>
            <a:r>
              <a:rPr dirty="0" err="1"/>
              <a:t>CodeDeploy</a:t>
            </a:r>
            <a:r>
              <a:rPr dirty="0"/>
              <a:t>. The pipeline ORCHESTRATES the</a:t>
            </a:r>
            <a:br>
              <a:rPr dirty="0"/>
            </a:br>
            <a:r>
              <a:rPr dirty="0"/>
              <a:t>stages; </a:t>
            </a:r>
            <a:r>
              <a:rPr dirty="0" err="1"/>
              <a:t>CodeDeploy</a:t>
            </a:r>
            <a:r>
              <a:rPr dirty="0"/>
              <a:t> is one action inside it that puts a version onto instances. A question about</a:t>
            </a:r>
            <a:br>
              <a:rPr dirty="0"/>
            </a:br>
            <a:r>
              <a:rPr dirty="0"/>
              <a:t>stage order is the pipeline, a question about rollout is </a:t>
            </a:r>
            <a:r>
              <a:rPr dirty="0" err="1"/>
              <a:t>CodeDeploy</a:t>
            </a:r>
            <a:r>
              <a:rPr dirty="0"/>
              <a:t>.</a:t>
            </a:r>
          </a:p>
          <a:p>
            <a:endParaRPr dirty="0"/>
          </a:p>
          <a:p>
            <a:pPr>
              <a:spcAft>
                <a:spcPts val="600"/>
              </a:spcAft>
            </a:pPr>
            <a:r>
              <a:rPr dirty="0"/>
              <a:t>PROVENANCE: the grid is ours -- no AWS page publishes this selection table. Each row's claim,</a:t>
            </a:r>
            <a:br>
              <a:rPr dirty="0"/>
            </a:br>
            <a:r>
              <a:rPr dirty="0"/>
              <a:t>though, comes from a page already title-validated for this deck.</a:t>
            </a:r>
          </a:p>
          <a:p>
            <a:endParaRPr dirty="0"/>
          </a:p>
          <a:p>
            <a:pPr>
              <a:spcAft>
                <a:spcPts val="600"/>
              </a:spcAft>
            </a:pPr>
            <a:r>
              <a:rPr dirty="0"/>
              <a:t>Those pages are CloudFormation template sections, Introduction to AWS CDK stacks,</a:t>
            </a:r>
            <a:br>
              <a:rPr dirty="0"/>
            </a:br>
            <a:r>
              <a:rPr dirty="0"/>
              <a:t>AWS SAM template anatomy, </a:t>
            </a:r>
            <a:r>
              <a:rPr dirty="0" err="1"/>
              <a:t>CodePipeline</a:t>
            </a:r>
            <a:r>
              <a:rPr dirty="0"/>
              <a:t> concepts, </a:t>
            </a:r>
            <a:r>
              <a:rPr dirty="0" err="1"/>
              <a:t>CodeDeploy</a:t>
            </a:r>
            <a:r>
              <a:rPr dirty="0"/>
              <a:t> deployment groups,</a:t>
            </a:r>
            <a:br>
              <a:rPr dirty="0"/>
            </a:br>
            <a:r>
              <a:rPr dirty="0"/>
              <a:t>Elastic Beanstalk managing databases, and Amazon ECS task definitions for containers.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This is the closer for the whole session, so do not read it out. Ask the room to</a:t>
            </a:r>
            <a:br>
              <a:rPr lang="en-US" dirty="0"/>
            </a:br>
            <a:r>
              <a:rPr lang="en-US" dirty="0"/>
              <a:t>answer each row before you reveal the right-hand column.</a:t>
            </a:r>
          </a:p>
          <a:p>
            <a:endParaRPr lang="en-US" dirty="0"/>
          </a:p>
          <a:p>
            <a:r>
              <a:rPr lang="en-US" dirty="0"/>
              <a:t>The rows are ordered by what the question gives you. The top three are authoring surfaces --</a:t>
            </a:r>
            <a:br>
              <a:rPr lang="en-US" dirty="0"/>
            </a:br>
            <a:r>
              <a:rPr lang="en-US" dirty="0"/>
              <a:t>one template, the same template as code, or a function declared with its trigger. The next two</a:t>
            </a:r>
            <a:br>
              <a:rPr lang="en-US" dirty="0"/>
            </a:br>
            <a:r>
              <a:rPr lang="en-US" dirty="0"/>
              <a:t>are release mechanics, and the last two are where the code actually runs.</a:t>
            </a:r>
          </a:p>
          <a:p>
            <a:endParaRPr lang="en-US" dirty="0"/>
          </a:p>
          <a:p>
            <a:r>
              <a:rPr lang="en-US" dirty="0"/>
              <a:t>The exam angle is that these are trigger phrases rather than definitions. Wording like</a:t>
            </a:r>
            <a:br>
              <a:rPr lang="en-US" dirty="0"/>
            </a:br>
            <a:r>
              <a:rPr lang="en-US" dirty="0"/>
              <a:t>describes the whole stack points at CloudFormation however the scenario is dressed up, and</a:t>
            </a:r>
            <a:br>
              <a:rPr lang="en-US" dirty="0"/>
            </a:br>
            <a:r>
              <a:rPr lang="en-US" dirty="0"/>
              <a:t>without managing servers is the Fargate tell.</a:t>
            </a:r>
          </a:p>
          <a:p>
            <a:endParaRPr lang="en-US" dirty="0"/>
          </a:p>
          <a:p>
            <a:r>
              <a:rPr lang="en-US" dirty="0"/>
              <a:t>The distinction people lose is </a:t>
            </a:r>
            <a:r>
              <a:rPr lang="en-US" dirty="0" err="1"/>
              <a:t>CodePipeline</a:t>
            </a:r>
            <a:r>
              <a:rPr lang="en-US" dirty="0"/>
              <a:t> against </a:t>
            </a:r>
            <a:r>
              <a:rPr lang="en-US" dirty="0" err="1"/>
              <a:t>CodeDeploy</a:t>
            </a:r>
            <a:r>
              <a:rPr lang="en-US" dirty="0"/>
              <a:t>. The pipeline ORCHESTRATES the</a:t>
            </a:r>
            <a:br>
              <a:rPr lang="en-US" dirty="0"/>
            </a:br>
            <a:r>
              <a:rPr lang="en-US" dirty="0"/>
              <a:t>stages; </a:t>
            </a:r>
            <a:r>
              <a:rPr lang="en-US" dirty="0" err="1"/>
              <a:t>CodeDeploy</a:t>
            </a:r>
            <a:r>
              <a:rPr lang="en-US" dirty="0"/>
              <a:t> is one action inside it that puts a version onto instances. A question about</a:t>
            </a:r>
            <a:br>
              <a:rPr lang="en-US" dirty="0"/>
            </a:br>
            <a:r>
              <a:rPr lang="en-US" dirty="0"/>
              <a:t>stage order is the pipeline, a question about rollout is </a:t>
            </a:r>
            <a:r>
              <a:rPr lang="en-US" dirty="0" err="1"/>
              <a:t>CodeDeploy</a:t>
            </a:r>
            <a:r>
              <a:rPr lang="en-US" dirty="0"/>
              <a:t>.</a:t>
            </a:r>
          </a:p>
          <a:p>
            <a:endParaRPr lang="en-US" dirty="0"/>
          </a:p>
          <a:p>
            <a:r>
              <a:rPr lang="en-US" dirty="0"/>
              <a:t>PROVENANCE: the grid is ours -- no AWS page publishes this selection table. Each row's claim,</a:t>
            </a:r>
            <a:br>
              <a:rPr lang="en-US" dirty="0"/>
            </a:br>
            <a:r>
              <a:rPr lang="en-US" dirty="0"/>
              <a:t>though, comes from a page already title-validated for this deck.</a:t>
            </a:r>
          </a:p>
          <a:p>
            <a:endParaRPr lang="en-US" dirty="0"/>
          </a:p>
          <a:p>
            <a:r>
              <a:rPr lang="en-US" dirty="0"/>
              <a:t>Those pages are CloudFormation template sections, Introduction to AWS CDK stacks,</a:t>
            </a:r>
            <a:br>
              <a:rPr lang="en-US" dirty="0"/>
            </a:br>
            <a:r>
              <a:rPr lang="en-US" dirty="0"/>
              <a:t>AWS SAM template anatomy, </a:t>
            </a:r>
            <a:r>
              <a:rPr lang="en-US" dirty="0" err="1"/>
              <a:t>CodePipeline</a:t>
            </a:r>
            <a:r>
              <a:rPr lang="en-US" dirty="0"/>
              <a:t> concepts, </a:t>
            </a:r>
            <a:r>
              <a:rPr lang="en-US" dirty="0" err="1"/>
              <a:t>CodeDeploy</a:t>
            </a:r>
            <a:r>
              <a:rPr lang="en-US" dirty="0"/>
              <a:t> deployment groups,</a:t>
            </a:r>
            <a:br>
              <a:rPr lang="en-US" dirty="0"/>
            </a:br>
            <a:r>
              <a:rPr lang="en-US" dirty="0"/>
              <a:t>Elastic Beanstalk managing databases, and Amazon ECS task definitions for containers.</a:t>
            </a:r>
          </a:p>
          <a:p>
            <a:endParaRPr lang="en-US" dirty="0"/>
          </a:p>
        </p:txBody>
      </p:sp>
      <p:sp>
        <p:nvSpPr>
          <p:cNvPr id="4" name="Slide Number Placeholder 3"/>
          <p:cNvSpPr>
            <a:spLocks noGrp="1"/>
          </p:cNvSpPr>
          <p:nvPr>
            <p:ph type="sldNum" sz="quarter" idx="5"/>
          </p:nvPr>
        </p:nvSpPr>
        <p:spPr/>
        <p:txBody>
          <a:bodyPr/>
          <a:lstStyle/>
          <a:p>
            <a:fld id="{1ADA6E1F-B7C3-CB4A-8789-7F0039C49383}" type="slidenum">
              <a:rPr lang="en-US" smtClean="0"/>
              <a:t>30</a:t>
            </a:fld>
            <a:endParaRPr lang="en-US"/>
          </a:p>
        </p:txBody>
      </p:sp>
    </p:spTree>
    <p:extLst>
      <p:ext uri="{BB962C8B-B14F-4D97-AF65-F5344CB8AC3E}">
        <p14:creationId xmlns:p14="http://schemas.microsoft.com/office/powerpoint/2010/main" val="1844986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This is the closer for the whole session, so do not read it out. Ask the room to</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answer each row before you reveal the right-hand column.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The rows are ordered by what the question gives you. The top three are authoring surfaces --</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one template, the same template as code, or a function declared with its trigger. The next two</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are release mechanics, and the last two are where the code actually runs.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The exam angle is that these are trigger phrases rather than definitions. Wording like</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describes the whole stack points at CloudFormation however the scenario is dressed up, and</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without managing servers is the Fargate tell.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The distinction people lose is </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CodePipeline</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against </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CodeDeploy</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The pipeline ORCHESTRATES the</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stages; </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CodeDeploy</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is one action inside it that puts a version onto instances. A question about</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stage order is the pipeline, a question about rollout is </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CodeDeploy</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PROVENANCE: the grid is ours -- no AWS page publishes this selection table. Each row's claim,</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though, comes from a page already title-validated for this deck.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Those pages are CloudFormation template sections, Introduction to AWS CDK stacks,</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AWS SAM template anatomy, </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CodePipeline</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concepts, </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CodeDeploy</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deployment groups,</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Elastic Beanstalk managing databases, and Amazon ECS task definitions for containers.</a:t>
            </a:r>
          </a:p>
          <a:p>
            <a:endParaRPr lang="en-US" dirty="0"/>
          </a:p>
        </p:txBody>
      </p:sp>
      <p:sp>
        <p:nvSpPr>
          <p:cNvPr id="4" name="Slide Number Placeholder 3"/>
          <p:cNvSpPr>
            <a:spLocks noGrp="1"/>
          </p:cNvSpPr>
          <p:nvPr>
            <p:ph type="sldNum" sz="quarter" idx="5"/>
          </p:nvPr>
        </p:nvSpPr>
        <p:spPr/>
        <p:txBody>
          <a:bodyPr/>
          <a:lstStyle/>
          <a:p>
            <a:fld id="{1ADA6E1F-B7C3-CB4A-8789-7F0039C49383}" type="slidenum">
              <a:rPr lang="en-US" smtClean="0"/>
              <a:t>31</a:t>
            </a:fld>
            <a:endParaRPr lang="en-US"/>
          </a:p>
        </p:txBody>
      </p:sp>
    </p:spTree>
    <p:extLst>
      <p:ext uri="{BB962C8B-B14F-4D97-AF65-F5344CB8AC3E}">
        <p14:creationId xmlns:p14="http://schemas.microsoft.com/office/powerpoint/2010/main" val="25545130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pPr>
              <a:spcAft>
                <a:spcPts val="600"/>
              </a:spcAft>
            </a:pPr>
            <a:r>
              <a:rPr lang="en-US" dirty="0"/>
              <a:t>This is the closer for the whole session, so do not read it out. Ask the room to</a:t>
            </a:r>
            <a:br>
              <a:rPr lang="en-US" dirty="0"/>
            </a:br>
            <a:r>
              <a:rPr lang="en-US" dirty="0"/>
              <a:t>answer each row before you reveal the right-hand column.</a:t>
            </a:r>
          </a:p>
          <a:p>
            <a:endParaRPr lang="en-US" dirty="0"/>
          </a:p>
          <a:p>
            <a:pPr>
              <a:spcAft>
                <a:spcPts val="600"/>
              </a:spcAft>
            </a:pPr>
            <a:r>
              <a:rPr lang="en-US" dirty="0"/>
              <a:t>The rows are ordered by what the question gives you. The top three are authoring surfaces --</a:t>
            </a:r>
            <a:br>
              <a:rPr lang="en-US" dirty="0"/>
            </a:br>
            <a:r>
              <a:rPr lang="en-US" dirty="0"/>
              <a:t>one template, the same template as code, or a function declared with its trigger. The next two</a:t>
            </a:r>
            <a:br>
              <a:rPr lang="en-US" dirty="0"/>
            </a:br>
            <a:r>
              <a:rPr lang="en-US" dirty="0"/>
              <a:t>are release mechanics, and the last two are where the code actually runs.</a:t>
            </a:r>
          </a:p>
          <a:p>
            <a:endParaRPr lang="en-US" dirty="0"/>
          </a:p>
          <a:p>
            <a:pPr>
              <a:spcAft>
                <a:spcPts val="600"/>
              </a:spcAft>
            </a:pPr>
            <a:r>
              <a:rPr lang="en-US" dirty="0"/>
              <a:t>The exam angle is that these are trigger phrases rather than definitions. Wording like</a:t>
            </a:r>
            <a:br>
              <a:rPr lang="en-US" dirty="0"/>
            </a:br>
            <a:r>
              <a:rPr lang="en-US" dirty="0"/>
              <a:t>describes the whole stack points at CloudFormation however the scenario is dressed up, and</a:t>
            </a:r>
            <a:br>
              <a:rPr lang="en-US" dirty="0"/>
            </a:br>
            <a:r>
              <a:rPr lang="en-US" dirty="0"/>
              <a:t>without managing servers is the Fargate tell.</a:t>
            </a:r>
          </a:p>
          <a:p>
            <a:endParaRPr lang="en-US" dirty="0"/>
          </a:p>
          <a:p>
            <a:pPr>
              <a:spcAft>
                <a:spcPts val="600"/>
              </a:spcAft>
            </a:pPr>
            <a:r>
              <a:rPr lang="en-US" dirty="0"/>
              <a:t>The distinction people lose is </a:t>
            </a:r>
            <a:r>
              <a:rPr lang="en-US" dirty="0" err="1"/>
              <a:t>CodePipeline</a:t>
            </a:r>
            <a:r>
              <a:rPr lang="en-US" dirty="0"/>
              <a:t> against </a:t>
            </a:r>
            <a:r>
              <a:rPr lang="en-US" dirty="0" err="1"/>
              <a:t>CodeDeploy</a:t>
            </a:r>
            <a:r>
              <a:rPr lang="en-US" dirty="0"/>
              <a:t>. The pipeline ORCHESTRATES the</a:t>
            </a:r>
            <a:br>
              <a:rPr lang="en-US" dirty="0"/>
            </a:br>
            <a:r>
              <a:rPr lang="en-US" dirty="0"/>
              <a:t>stages; </a:t>
            </a:r>
            <a:r>
              <a:rPr lang="en-US" dirty="0" err="1"/>
              <a:t>CodeDeploy</a:t>
            </a:r>
            <a:r>
              <a:rPr lang="en-US" dirty="0"/>
              <a:t> is one action inside it that puts a version onto instances. A question about</a:t>
            </a:r>
            <a:br>
              <a:rPr lang="en-US" dirty="0"/>
            </a:br>
            <a:r>
              <a:rPr lang="en-US" dirty="0"/>
              <a:t>stage order is the pipeline, a question about rollout is </a:t>
            </a:r>
            <a:r>
              <a:rPr lang="en-US" dirty="0" err="1"/>
              <a:t>CodeDeploy</a:t>
            </a:r>
            <a:r>
              <a:rPr lang="en-US" dirty="0"/>
              <a:t>.</a:t>
            </a:r>
          </a:p>
          <a:p>
            <a:endParaRPr lang="en-US" dirty="0"/>
          </a:p>
          <a:p>
            <a:pPr>
              <a:spcAft>
                <a:spcPts val="600"/>
              </a:spcAft>
            </a:pPr>
            <a:r>
              <a:rPr lang="en-US" dirty="0"/>
              <a:t>PROVENANCE: the grid is ours -- no AWS page publishes this selection table. Each row's claim,</a:t>
            </a:r>
            <a:br>
              <a:rPr lang="en-US" dirty="0"/>
            </a:br>
            <a:r>
              <a:rPr lang="en-US" dirty="0"/>
              <a:t>though, comes from a page already title-validated for this deck.</a:t>
            </a:r>
          </a:p>
          <a:p>
            <a:endParaRPr lang="en-US" dirty="0"/>
          </a:p>
          <a:p>
            <a:pPr>
              <a:spcAft>
                <a:spcPts val="600"/>
              </a:spcAft>
            </a:pPr>
            <a:r>
              <a:rPr lang="en-US" dirty="0"/>
              <a:t>Those pages are CloudFormation template sections, Introduction to AWS CDK stacks,</a:t>
            </a:r>
            <a:br>
              <a:rPr lang="en-US" dirty="0"/>
            </a:br>
            <a:r>
              <a:rPr lang="en-US" dirty="0"/>
              <a:t>AWS SAM template anatomy, </a:t>
            </a:r>
            <a:r>
              <a:rPr lang="en-US" dirty="0" err="1"/>
              <a:t>CodePipeline</a:t>
            </a:r>
            <a:r>
              <a:rPr lang="en-US" dirty="0"/>
              <a:t> concepts, </a:t>
            </a:r>
            <a:r>
              <a:rPr lang="en-US" dirty="0" err="1"/>
              <a:t>CodeDeploy</a:t>
            </a:r>
            <a:r>
              <a:rPr lang="en-US" dirty="0"/>
              <a:t> deployment groups,</a:t>
            </a:r>
            <a:br>
              <a:rPr lang="en-US" dirty="0"/>
            </a:br>
            <a:r>
              <a:rPr lang="en-US" dirty="0"/>
              <a:t>Elastic Beanstalk managing databases, and Amazon ECS task definitions for containers.</a:t>
            </a:r>
          </a:p>
          <a:p>
            <a:endParaRPr lang="en-US" dirty="0"/>
          </a:p>
        </p:txBody>
      </p:sp>
      <p:sp>
        <p:nvSpPr>
          <p:cNvPr id="4" name="Slide Number Placeholder 3"/>
          <p:cNvSpPr>
            <a:spLocks noGrp="1"/>
          </p:cNvSpPr>
          <p:nvPr>
            <p:ph type="sldNum" sz="quarter" idx="5"/>
          </p:nvPr>
        </p:nvSpPr>
        <p:spPr/>
        <p:txBody>
          <a:bodyPr/>
          <a:lstStyle/>
          <a:p>
            <a:fld id="{1ADA6E1F-B7C3-CB4A-8789-7F0039C49383}" type="slidenum">
              <a:rPr lang="en-US" smtClean="0"/>
              <a:t>32</a:t>
            </a:fld>
            <a:endParaRPr lang="en-US"/>
          </a:p>
        </p:txBody>
      </p:sp>
    </p:spTree>
    <p:extLst>
      <p:ext uri="{BB962C8B-B14F-4D97-AF65-F5344CB8AC3E}">
        <p14:creationId xmlns:p14="http://schemas.microsoft.com/office/powerpoint/2010/main" val="24792961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pPr>
              <a:spcAft>
                <a:spcPts val="600"/>
              </a:spcAft>
            </a:pPr>
            <a:r>
              <a:rPr lang="en-US" dirty="0"/>
              <a:t>This is the closer for the whole session, so do not read it out. Ask the room to</a:t>
            </a:r>
            <a:br>
              <a:rPr lang="en-US" dirty="0"/>
            </a:br>
            <a:r>
              <a:rPr lang="en-US" dirty="0"/>
              <a:t>answer each row before you reveal the right-hand column.</a:t>
            </a:r>
          </a:p>
          <a:p>
            <a:endParaRPr lang="en-US" dirty="0"/>
          </a:p>
          <a:p>
            <a:pPr>
              <a:spcAft>
                <a:spcPts val="600"/>
              </a:spcAft>
            </a:pPr>
            <a:r>
              <a:rPr lang="en-US" dirty="0"/>
              <a:t>The rows are ordered by what the question gives you. The top three are authoring surfaces --</a:t>
            </a:r>
            <a:br>
              <a:rPr lang="en-US" dirty="0"/>
            </a:br>
            <a:r>
              <a:rPr lang="en-US" dirty="0"/>
              <a:t>one template, the same template as code, or a function declared with its trigger. The next two</a:t>
            </a:r>
            <a:br>
              <a:rPr lang="en-US" dirty="0"/>
            </a:br>
            <a:r>
              <a:rPr lang="en-US" dirty="0"/>
              <a:t>are release mechanics, and the last two are where the code actually runs.</a:t>
            </a:r>
          </a:p>
          <a:p>
            <a:endParaRPr lang="en-US" dirty="0"/>
          </a:p>
          <a:p>
            <a:pPr>
              <a:spcAft>
                <a:spcPts val="600"/>
              </a:spcAft>
            </a:pPr>
            <a:r>
              <a:rPr lang="en-US" dirty="0"/>
              <a:t>The exam angle is that these are trigger phrases rather than definitions. Wording like</a:t>
            </a:r>
            <a:br>
              <a:rPr lang="en-US" dirty="0"/>
            </a:br>
            <a:r>
              <a:rPr lang="en-US" dirty="0"/>
              <a:t>describes the whole stack points at CloudFormation however the scenario is dressed up, and</a:t>
            </a:r>
            <a:br>
              <a:rPr lang="en-US" dirty="0"/>
            </a:br>
            <a:r>
              <a:rPr lang="en-US" dirty="0"/>
              <a:t>without managing servers is the Fargate tell.</a:t>
            </a:r>
          </a:p>
          <a:p>
            <a:endParaRPr lang="en-US" dirty="0"/>
          </a:p>
          <a:p>
            <a:pPr>
              <a:spcAft>
                <a:spcPts val="600"/>
              </a:spcAft>
            </a:pPr>
            <a:r>
              <a:rPr lang="en-US" dirty="0"/>
              <a:t>The distinction people lose is </a:t>
            </a:r>
            <a:r>
              <a:rPr lang="en-US" dirty="0" err="1"/>
              <a:t>CodePipeline</a:t>
            </a:r>
            <a:r>
              <a:rPr lang="en-US" dirty="0"/>
              <a:t> against </a:t>
            </a:r>
            <a:r>
              <a:rPr lang="en-US" dirty="0" err="1"/>
              <a:t>CodeDeploy</a:t>
            </a:r>
            <a:r>
              <a:rPr lang="en-US" dirty="0"/>
              <a:t>. The pipeline ORCHESTRATES the</a:t>
            </a:r>
            <a:br>
              <a:rPr lang="en-US" dirty="0"/>
            </a:br>
            <a:r>
              <a:rPr lang="en-US" dirty="0"/>
              <a:t>stages; </a:t>
            </a:r>
            <a:r>
              <a:rPr lang="en-US" dirty="0" err="1"/>
              <a:t>CodeDeploy</a:t>
            </a:r>
            <a:r>
              <a:rPr lang="en-US" dirty="0"/>
              <a:t> is one action inside it that puts a version onto instances. A question about</a:t>
            </a:r>
            <a:br>
              <a:rPr lang="en-US" dirty="0"/>
            </a:br>
            <a:r>
              <a:rPr lang="en-US" dirty="0"/>
              <a:t>stage order is the pipeline, a question about rollout is </a:t>
            </a:r>
            <a:r>
              <a:rPr lang="en-US" dirty="0" err="1"/>
              <a:t>CodeDeploy</a:t>
            </a:r>
            <a:r>
              <a:rPr lang="en-US" dirty="0"/>
              <a:t>.</a:t>
            </a:r>
          </a:p>
          <a:p>
            <a:endParaRPr lang="en-US" dirty="0"/>
          </a:p>
          <a:p>
            <a:pPr>
              <a:spcAft>
                <a:spcPts val="600"/>
              </a:spcAft>
            </a:pPr>
            <a:r>
              <a:rPr lang="en-US" dirty="0"/>
              <a:t>PROVENANCE: the grid is ours -- no AWS page publishes this selection table. Each row's claim,</a:t>
            </a:r>
            <a:br>
              <a:rPr lang="en-US" dirty="0"/>
            </a:br>
            <a:r>
              <a:rPr lang="en-US" dirty="0"/>
              <a:t>though, comes from a page already title-validated for this deck.</a:t>
            </a:r>
          </a:p>
          <a:p>
            <a:endParaRPr lang="en-US" dirty="0"/>
          </a:p>
          <a:p>
            <a:pPr>
              <a:spcAft>
                <a:spcPts val="600"/>
              </a:spcAft>
            </a:pPr>
            <a:r>
              <a:rPr lang="en-US" dirty="0"/>
              <a:t>Those pages are CloudFormation template sections, Introduction to AWS CDK stacks,</a:t>
            </a:r>
            <a:br>
              <a:rPr lang="en-US" dirty="0"/>
            </a:br>
            <a:r>
              <a:rPr lang="en-US" dirty="0"/>
              <a:t>AWS SAM template anatomy, </a:t>
            </a:r>
            <a:r>
              <a:rPr lang="en-US" dirty="0" err="1"/>
              <a:t>CodePipeline</a:t>
            </a:r>
            <a:r>
              <a:rPr lang="en-US" dirty="0"/>
              <a:t> concepts, </a:t>
            </a:r>
            <a:r>
              <a:rPr lang="en-US" dirty="0" err="1"/>
              <a:t>CodeDeploy</a:t>
            </a:r>
            <a:r>
              <a:rPr lang="en-US" dirty="0"/>
              <a:t> deployment groups,</a:t>
            </a:r>
            <a:br>
              <a:rPr lang="en-US" dirty="0"/>
            </a:br>
            <a:r>
              <a:rPr lang="en-US" dirty="0"/>
              <a:t>Elastic Beanstalk managing databases, and Amazon ECS task definitions for containers.</a:t>
            </a:r>
          </a:p>
          <a:p>
            <a:endParaRPr lang="en-US" dirty="0"/>
          </a:p>
        </p:txBody>
      </p:sp>
      <p:sp>
        <p:nvSpPr>
          <p:cNvPr id="4" name="Slide Number Placeholder 3"/>
          <p:cNvSpPr>
            <a:spLocks noGrp="1"/>
          </p:cNvSpPr>
          <p:nvPr>
            <p:ph type="sldNum" sz="quarter" idx="5"/>
          </p:nvPr>
        </p:nvSpPr>
        <p:spPr/>
        <p:txBody>
          <a:bodyPr/>
          <a:lstStyle/>
          <a:p>
            <a:fld id="{1ADA6E1F-B7C3-CB4A-8789-7F0039C49383}" type="slidenum">
              <a:rPr lang="en-US" smtClean="0"/>
              <a:t>33</a:t>
            </a:fld>
            <a:endParaRPr lang="en-US"/>
          </a:p>
        </p:txBody>
      </p:sp>
    </p:spTree>
    <p:extLst>
      <p:ext uri="{BB962C8B-B14F-4D97-AF65-F5344CB8AC3E}">
        <p14:creationId xmlns:p14="http://schemas.microsoft.com/office/powerpoint/2010/main" val="35302585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pPr>
              <a:spcAft>
                <a:spcPts val="600"/>
              </a:spcAft>
            </a:pPr>
            <a:r>
              <a:rPr lang="en-US" dirty="0"/>
              <a:t>This is the closer for the whole session, so do not read it out. Ask the room to</a:t>
            </a:r>
            <a:br>
              <a:rPr lang="en-US" dirty="0"/>
            </a:br>
            <a:r>
              <a:rPr lang="en-US" dirty="0"/>
              <a:t>answer each row before you reveal the right-hand column.</a:t>
            </a:r>
          </a:p>
          <a:p>
            <a:endParaRPr lang="en-US" dirty="0"/>
          </a:p>
          <a:p>
            <a:pPr>
              <a:spcAft>
                <a:spcPts val="600"/>
              </a:spcAft>
            </a:pPr>
            <a:r>
              <a:rPr lang="en-US" dirty="0"/>
              <a:t>The rows are ordered by what the question gives you. The top three are authoring surfaces --</a:t>
            </a:r>
            <a:br>
              <a:rPr lang="en-US" dirty="0"/>
            </a:br>
            <a:r>
              <a:rPr lang="en-US" dirty="0"/>
              <a:t>one template, the same template as code, or a function declared with its trigger. The next two</a:t>
            </a:r>
            <a:br>
              <a:rPr lang="en-US" dirty="0"/>
            </a:br>
            <a:r>
              <a:rPr lang="en-US" dirty="0"/>
              <a:t>are release mechanics, and the last two are where the code actually runs.</a:t>
            </a:r>
          </a:p>
          <a:p>
            <a:endParaRPr lang="en-US" dirty="0"/>
          </a:p>
          <a:p>
            <a:pPr>
              <a:spcAft>
                <a:spcPts val="600"/>
              </a:spcAft>
            </a:pPr>
            <a:r>
              <a:rPr lang="en-US" dirty="0"/>
              <a:t>The exam angle is that these are trigger phrases rather than definitions. Wording like</a:t>
            </a:r>
            <a:br>
              <a:rPr lang="en-US" dirty="0"/>
            </a:br>
            <a:r>
              <a:rPr lang="en-US" dirty="0"/>
              <a:t>describes the whole stack points at CloudFormation however the scenario is dressed up, and</a:t>
            </a:r>
            <a:br>
              <a:rPr lang="en-US" dirty="0"/>
            </a:br>
            <a:r>
              <a:rPr lang="en-US" dirty="0"/>
              <a:t>without managing servers is the Fargate tell.</a:t>
            </a:r>
          </a:p>
          <a:p>
            <a:endParaRPr lang="en-US" dirty="0"/>
          </a:p>
          <a:p>
            <a:pPr>
              <a:spcAft>
                <a:spcPts val="600"/>
              </a:spcAft>
            </a:pPr>
            <a:r>
              <a:rPr lang="en-US" dirty="0"/>
              <a:t>The distinction people lose is </a:t>
            </a:r>
            <a:r>
              <a:rPr lang="en-US" dirty="0" err="1"/>
              <a:t>CodePipeline</a:t>
            </a:r>
            <a:r>
              <a:rPr lang="en-US" dirty="0"/>
              <a:t> against </a:t>
            </a:r>
            <a:r>
              <a:rPr lang="en-US" dirty="0" err="1"/>
              <a:t>CodeDeploy</a:t>
            </a:r>
            <a:r>
              <a:rPr lang="en-US" dirty="0"/>
              <a:t>. The pipeline ORCHESTRATES the</a:t>
            </a:r>
            <a:br>
              <a:rPr lang="en-US" dirty="0"/>
            </a:br>
            <a:r>
              <a:rPr lang="en-US" dirty="0"/>
              <a:t>stages; </a:t>
            </a:r>
            <a:r>
              <a:rPr lang="en-US" dirty="0" err="1"/>
              <a:t>CodeDeploy</a:t>
            </a:r>
            <a:r>
              <a:rPr lang="en-US" dirty="0"/>
              <a:t> is one action inside it that puts a version onto instances. A question about</a:t>
            </a:r>
            <a:br>
              <a:rPr lang="en-US" dirty="0"/>
            </a:br>
            <a:r>
              <a:rPr lang="en-US" dirty="0"/>
              <a:t>stage order is the pipeline, a question about rollout is </a:t>
            </a:r>
            <a:r>
              <a:rPr lang="en-US" dirty="0" err="1"/>
              <a:t>CodeDeploy</a:t>
            </a:r>
            <a:r>
              <a:rPr lang="en-US" dirty="0"/>
              <a:t>.</a:t>
            </a:r>
          </a:p>
          <a:p>
            <a:endParaRPr lang="en-US" dirty="0"/>
          </a:p>
          <a:p>
            <a:pPr>
              <a:spcAft>
                <a:spcPts val="600"/>
              </a:spcAft>
            </a:pPr>
            <a:r>
              <a:rPr lang="en-US" dirty="0"/>
              <a:t>PROVENANCE: the grid is ours -- no AWS page publishes this selection table. Each row's claim,</a:t>
            </a:r>
            <a:br>
              <a:rPr lang="en-US" dirty="0"/>
            </a:br>
            <a:r>
              <a:rPr lang="en-US" dirty="0"/>
              <a:t>though, comes from a page already title-validated for this deck.</a:t>
            </a:r>
          </a:p>
          <a:p>
            <a:endParaRPr lang="en-US" dirty="0"/>
          </a:p>
          <a:p>
            <a:pPr>
              <a:spcAft>
                <a:spcPts val="600"/>
              </a:spcAft>
            </a:pPr>
            <a:r>
              <a:rPr lang="en-US" dirty="0"/>
              <a:t>Those pages are CloudFormation template sections, Introduction to AWS CDK stacks,</a:t>
            </a:r>
            <a:br>
              <a:rPr lang="en-US" dirty="0"/>
            </a:br>
            <a:r>
              <a:rPr lang="en-US" dirty="0"/>
              <a:t>AWS SAM template anatomy, </a:t>
            </a:r>
            <a:r>
              <a:rPr lang="en-US" dirty="0" err="1"/>
              <a:t>CodePipeline</a:t>
            </a:r>
            <a:r>
              <a:rPr lang="en-US" dirty="0"/>
              <a:t> concepts, </a:t>
            </a:r>
            <a:r>
              <a:rPr lang="en-US" dirty="0" err="1"/>
              <a:t>CodeDeploy</a:t>
            </a:r>
            <a:r>
              <a:rPr lang="en-US" dirty="0"/>
              <a:t> deployment groups,</a:t>
            </a:r>
            <a:br>
              <a:rPr lang="en-US" dirty="0"/>
            </a:br>
            <a:r>
              <a:rPr lang="en-US" dirty="0"/>
              <a:t>Elastic Beanstalk managing databases, and Amazon ECS task definitions for containers.</a:t>
            </a:r>
          </a:p>
          <a:p>
            <a:endParaRPr lang="en-US" dirty="0"/>
          </a:p>
        </p:txBody>
      </p:sp>
      <p:sp>
        <p:nvSpPr>
          <p:cNvPr id="4" name="Slide Number Placeholder 3"/>
          <p:cNvSpPr>
            <a:spLocks noGrp="1"/>
          </p:cNvSpPr>
          <p:nvPr>
            <p:ph type="sldNum" sz="quarter" idx="5"/>
          </p:nvPr>
        </p:nvSpPr>
        <p:spPr/>
        <p:txBody>
          <a:bodyPr/>
          <a:lstStyle/>
          <a:p>
            <a:fld id="{1ADA6E1F-B7C3-CB4A-8789-7F0039C49383}" type="slidenum">
              <a:rPr lang="en-US" smtClean="0"/>
              <a:t>34</a:t>
            </a:fld>
            <a:endParaRPr lang="en-US"/>
          </a:p>
        </p:txBody>
      </p:sp>
    </p:spTree>
    <p:extLst>
      <p:ext uri="{BB962C8B-B14F-4D97-AF65-F5344CB8AC3E}">
        <p14:creationId xmlns:p14="http://schemas.microsoft.com/office/powerpoint/2010/main" val="35494907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pPr>
              <a:spcAft>
                <a:spcPts val="600"/>
              </a:spcAft>
            </a:pPr>
            <a:r>
              <a:rPr lang="en-US" dirty="0"/>
              <a:t>This is the closer for the whole session, so do not read it out. Ask the room to</a:t>
            </a:r>
            <a:br>
              <a:rPr lang="en-US" dirty="0"/>
            </a:br>
            <a:r>
              <a:rPr lang="en-US" dirty="0"/>
              <a:t>answer each row before you reveal the right-hand column.</a:t>
            </a:r>
          </a:p>
          <a:p>
            <a:endParaRPr lang="en-US" dirty="0"/>
          </a:p>
          <a:p>
            <a:pPr>
              <a:spcAft>
                <a:spcPts val="600"/>
              </a:spcAft>
            </a:pPr>
            <a:r>
              <a:rPr lang="en-US" dirty="0"/>
              <a:t>The rows are ordered by what the question gives you. The top three are authoring surfaces --</a:t>
            </a:r>
            <a:br>
              <a:rPr lang="en-US" dirty="0"/>
            </a:br>
            <a:r>
              <a:rPr lang="en-US" dirty="0"/>
              <a:t>one template, the same template as code, or a function declared with its trigger. The next two</a:t>
            </a:r>
            <a:br>
              <a:rPr lang="en-US" dirty="0"/>
            </a:br>
            <a:r>
              <a:rPr lang="en-US" dirty="0"/>
              <a:t>are release mechanics, and the last two are where the code actually runs.</a:t>
            </a:r>
          </a:p>
          <a:p>
            <a:endParaRPr lang="en-US" dirty="0"/>
          </a:p>
          <a:p>
            <a:pPr>
              <a:spcAft>
                <a:spcPts val="600"/>
              </a:spcAft>
            </a:pPr>
            <a:r>
              <a:rPr lang="en-US" dirty="0"/>
              <a:t>The exam angle is that these are trigger phrases rather than definitions. Wording like</a:t>
            </a:r>
            <a:br>
              <a:rPr lang="en-US" dirty="0"/>
            </a:br>
            <a:r>
              <a:rPr lang="en-US" dirty="0"/>
              <a:t>describes the whole stack points at CloudFormation however the scenario is dressed up, and</a:t>
            </a:r>
            <a:br>
              <a:rPr lang="en-US" dirty="0"/>
            </a:br>
            <a:r>
              <a:rPr lang="en-US" dirty="0"/>
              <a:t>without managing servers is the Fargate tell.</a:t>
            </a:r>
          </a:p>
          <a:p>
            <a:endParaRPr lang="en-US" dirty="0"/>
          </a:p>
          <a:p>
            <a:pPr>
              <a:spcAft>
                <a:spcPts val="600"/>
              </a:spcAft>
            </a:pPr>
            <a:r>
              <a:rPr lang="en-US" dirty="0"/>
              <a:t>The distinction people lose is </a:t>
            </a:r>
            <a:r>
              <a:rPr lang="en-US" dirty="0" err="1"/>
              <a:t>CodePipeline</a:t>
            </a:r>
            <a:r>
              <a:rPr lang="en-US" dirty="0"/>
              <a:t> against </a:t>
            </a:r>
            <a:r>
              <a:rPr lang="en-US" dirty="0" err="1"/>
              <a:t>CodeDeploy</a:t>
            </a:r>
            <a:r>
              <a:rPr lang="en-US" dirty="0"/>
              <a:t>. The pipeline ORCHESTRATES the</a:t>
            </a:r>
            <a:br>
              <a:rPr lang="en-US" dirty="0"/>
            </a:br>
            <a:r>
              <a:rPr lang="en-US" dirty="0"/>
              <a:t>stages; </a:t>
            </a:r>
            <a:r>
              <a:rPr lang="en-US" dirty="0" err="1"/>
              <a:t>CodeDeploy</a:t>
            </a:r>
            <a:r>
              <a:rPr lang="en-US" dirty="0"/>
              <a:t> is one action inside it that puts a version onto instances. A question about</a:t>
            </a:r>
            <a:br>
              <a:rPr lang="en-US" dirty="0"/>
            </a:br>
            <a:r>
              <a:rPr lang="en-US" dirty="0"/>
              <a:t>stage order is the pipeline, a question about rollout is </a:t>
            </a:r>
            <a:r>
              <a:rPr lang="en-US" dirty="0" err="1"/>
              <a:t>CodeDeploy</a:t>
            </a:r>
            <a:r>
              <a:rPr lang="en-US" dirty="0"/>
              <a:t>.</a:t>
            </a:r>
          </a:p>
          <a:p>
            <a:endParaRPr lang="en-US" dirty="0"/>
          </a:p>
          <a:p>
            <a:pPr>
              <a:spcAft>
                <a:spcPts val="600"/>
              </a:spcAft>
            </a:pPr>
            <a:r>
              <a:rPr lang="en-US" dirty="0"/>
              <a:t>PROVENANCE: the grid is ours -- no AWS page publishes this selection table. Each row's claim,</a:t>
            </a:r>
            <a:br>
              <a:rPr lang="en-US" dirty="0"/>
            </a:br>
            <a:r>
              <a:rPr lang="en-US" dirty="0"/>
              <a:t>though, comes from a page already title-validated for this deck.</a:t>
            </a:r>
          </a:p>
          <a:p>
            <a:endParaRPr lang="en-US" dirty="0"/>
          </a:p>
          <a:p>
            <a:pPr>
              <a:spcAft>
                <a:spcPts val="600"/>
              </a:spcAft>
            </a:pPr>
            <a:r>
              <a:rPr lang="en-US" dirty="0"/>
              <a:t>Those pages are CloudFormation template sections, Introduction to AWS CDK stacks,</a:t>
            </a:r>
            <a:br>
              <a:rPr lang="en-US" dirty="0"/>
            </a:br>
            <a:r>
              <a:rPr lang="en-US" dirty="0"/>
              <a:t>AWS SAM template anatomy, </a:t>
            </a:r>
            <a:r>
              <a:rPr lang="en-US" dirty="0" err="1"/>
              <a:t>CodePipeline</a:t>
            </a:r>
            <a:r>
              <a:rPr lang="en-US" dirty="0"/>
              <a:t> concepts, </a:t>
            </a:r>
            <a:r>
              <a:rPr lang="en-US" dirty="0" err="1"/>
              <a:t>CodeDeploy</a:t>
            </a:r>
            <a:r>
              <a:rPr lang="en-US" dirty="0"/>
              <a:t> deployment groups,</a:t>
            </a:r>
            <a:br>
              <a:rPr lang="en-US" dirty="0"/>
            </a:br>
            <a:r>
              <a:rPr lang="en-US" dirty="0"/>
              <a:t>Elastic Beanstalk managing databases, and Amazon ECS task definitions for containers.</a:t>
            </a:r>
          </a:p>
          <a:p>
            <a:endParaRPr lang="en-US" dirty="0"/>
          </a:p>
        </p:txBody>
      </p:sp>
      <p:sp>
        <p:nvSpPr>
          <p:cNvPr id="4" name="Slide Number Placeholder 3"/>
          <p:cNvSpPr>
            <a:spLocks noGrp="1"/>
          </p:cNvSpPr>
          <p:nvPr>
            <p:ph type="sldNum" sz="quarter" idx="5"/>
          </p:nvPr>
        </p:nvSpPr>
        <p:spPr/>
        <p:txBody>
          <a:bodyPr/>
          <a:lstStyle/>
          <a:p>
            <a:fld id="{1ADA6E1F-B7C3-CB4A-8789-7F0039C49383}" type="slidenum">
              <a:rPr lang="en-US" smtClean="0"/>
              <a:t>35</a:t>
            </a:fld>
            <a:endParaRPr lang="en-US"/>
          </a:p>
        </p:txBody>
      </p:sp>
    </p:spTree>
    <p:extLst>
      <p:ext uri="{BB962C8B-B14F-4D97-AF65-F5344CB8AC3E}">
        <p14:creationId xmlns:p14="http://schemas.microsoft.com/office/powerpoint/2010/main" val="20678239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pPr>
              <a:spcAft>
                <a:spcPts val="600"/>
              </a:spcAft>
            </a:pPr>
            <a:r>
              <a:rPr lang="en-US" dirty="0"/>
              <a:t>This is the closer for the whole session, so do not read it out. Ask the room to</a:t>
            </a:r>
            <a:br>
              <a:rPr lang="en-US" dirty="0"/>
            </a:br>
            <a:r>
              <a:rPr lang="en-US" dirty="0"/>
              <a:t>answer each row before you reveal the right-hand column.</a:t>
            </a:r>
          </a:p>
          <a:p>
            <a:endParaRPr lang="en-US" dirty="0"/>
          </a:p>
          <a:p>
            <a:pPr>
              <a:spcAft>
                <a:spcPts val="600"/>
              </a:spcAft>
            </a:pPr>
            <a:r>
              <a:rPr lang="en-US" dirty="0"/>
              <a:t>The rows are ordered by what the question gives you. The top three are authoring surfaces --</a:t>
            </a:r>
            <a:br>
              <a:rPr lang="en-US" dirty="0"/>
            </a:br>
            <a:r>
              <a:rPr lang="en-US" dirty="0"/>
              <a:t>one template, the same template as code, or a function declared with its trigger. The next two</a:t>
            </a:r>
            <a:br>
              <a:rPr lang="en-US" dirty="0"/>
            </a:br>
            <a:r>
              <a:rPr lang="en-US" dirty="0"/>
              <a:t>are release mechanics, and the last two are where the code actually runs.</a:t>
            </a:r>
          </a:p>
          <a:p>
            <a:endParaRPr lang="en-US" dirty="0"/>
          </a:p>
          <a:p>
            <a:pPr>
              <a:spcAft>
                <a:spcPts val="600"/>
              </a:spcAft>
            </a:pPr>
            <a:r>
              <a:rPr lang="en-US" dirty="0"/>
              <a:t>The exam angle is that these are trigger phrases rather than definitions. Wording like</a:t>
            </a:r>
            <a:br>
              <a:rPr lang="en-US" dirty="0"/>
            </a:br>
            <a:r>
              <a:rPr lang="en-US" dirty="0"/>
              <a:t>describes the whole stack points at CloudFormation however the scenario is dressed up, and</a:t>
            </a:r>
            <a:br>
              <a:rPr lang="en-US" dirty="0"/>
            </a:br>
            <a:r>
              <a:rPr lang="en-US" dirty="0"/>
              <a:t>without managing servers is the Fargate tell.</a:t>
            </a:r>
          </a:p>
          <a:p>
            <a:endParaRPr lang="en-US" dirty="0"/>
          </a:p>
          <a:p>
            <a:pPr>
              <a:spcAft>
                <a:spcPts val="600"/>
              </a:spcAft>
            </a:pPr>
            <a:r>
              <a:rPr lang="en-US" dirty="0"/>
              <a:t>The distinction people lose is </a:t>
            </a:r>
            <a:r>
              <a:rPr lang="en-US" dirty="0" err="1"/>
              <a:t>CodePipeline</a:t>
            </a:r>
            <a:r>
              <a:rPr lang="en-US" dirty="0"/>
              <a:t> against </a:t>
            </a:r>
            <a:r>
              <a:rPr lang="en-US" dirty="0" err="1"/>
              <a:t>CodeDeploy</a:t>
            </a:r>
            <a:r>
              <a:rPr lang="en-US" dirty="0"/>
              <a:t>. The pipeline ORCHESTRATES the</a:t>
            </a:r>
            <a:br>
              <a:rPr lang="en-US" dirty="0"/>
            </a:br>
            <a:r>
              <a:rPr lang="en-US" dirty="0"/>
              <a:t>stages; </a:t>
            </a:r>
            <a:r>
              <a:rPr lang="en-US" dirty="0" err="1"/>
              <a:t>CodeDeploy</a:t>
            </a:r>
            <a:r>
              <a:rPr lang="en-US" dirty="0"/>
              <a:t> is one action inside it that puts a version onto instances. A question about</a:t>
            </a:r>
            <a:br>
              <a:rPr lang="en-US" dirty="0"/>
            </a:br>
            <a:r>
              <a:rPr lang="en-US" dirty="0"/>
              <a:t>stage order is the pipeline, a question about rollout is </a:t>
            </a:r>
            <a:r>
              <a:rPr lang="en-US" dirty="0" err="1"/>
              <a:t>CodeDeploy</a:t>
            </a:r>
            <a:r>
              <a:rPr lang="en-US" dirty="0"/>
              <a:t>.</a:t>
            </a:r>
          </a:p>
          <a:p>
            <a:endParaRPr lang="en-US" dirty="0"/>
          </a:p>
          <a:p>
            <a:pPr>
              <a:spcAft>
                <a:spcPts val="600"/>
              </a:spcAft>
            </a:pPr>
            <a:r>
              <a:rPr lang="en-US" dirty="0"/>
              <a:t>PROVENANCE: the grid is ours -- no AWS page publishes this selection table. Each row's claim,</a:t>
            </a:r>
            <a:br>
              <a:rPr lang="en-US" dirty="0"/>
            </a:br>
            <a:r>
              <a:rPr lang="en-US" dirty="0"/>
              <a:t>though, comes from a page already title-validated for this deck.</a:t>
            </a:r>
          </a:p>
          <a:p>
            <a:endParaRPr lang="en-US" dirty="0"/>
          </a:p>
          <a:p>
            <a:pPr>
              <a:spcAft>
                <a:spcPts val="600"/>
              </a:spcAft>
            </a:pPr>
            <a:r>
              <a:rPr lang="en-US" dirty="0"/>
              <a:t>Those pages are CloudFormation template sections, Introduction to AWS CDK stacks,</a:t>
            </a:r>
            <a:br>
              <a:rPr lang="en-US" dirty="0"/>
            </a:br>
            <a:r>
              <a:rPr lang="en-US" dirty="0"/>
              <a:t>AWS SAM template anatomy, </a:t>
            </a:r>
            <a:r>
              <a:rPr lang="en-US" dirty="0" err="1"/>
              <a:t>CodePipeline</a:t>
            </a:r>
            <a:r>
              <a:rPr lang="en-US" dirty="0"/>
              <a:t> concepts, </a:t>
            </a:r>
            <a:r>
              <a:rPr lang="en-US" dirty="0" err="1"/>
              <a:t>CodeDeploy</a:t>
            </a:r>
            <a:r>
              <a:rPr lang="en-US" dirty="0"/>
              <a:t> deployment groups,</a:t>
            </a:r>
            <a:br>
              <a:rPr lang="en-US" dirty="0"/>
            </a:br>
            <a:r>
              <a:rPr lang="en-US" dirty="0"/>
              <a:t>Elastic Beanstalk managing databases, and Amazon ECS task definitions for containers.</a:t>
            </a:r>
          </a:p>
          <a:p>
            <a:endParaRPr lang="en-US" dirty="0"/>
          </a:p>
        </p:txBody>
      </p:sp>
      <p:sp>
        <p:nvSpPr>
          <p:cNvPr id="4" name="Slide Number Placeholder 3"/>
          <p:cNvSpPr>
            <a:spLocks noGrp="1"/>
          </p:cNvSpPr>
          <p:nvPr>
            <p:ph type="sldNum" sz="quarter" idx="5"/>
          </p:nvPr>
        </p:nvSpPr>
        <p:spPr/>
        <p:txBody>
          <a:bodyPr/>
          <a:lstStyle/>
          <a:p>
            <a:fld id="{1ADA6E1F-B7C3-CB4A-8789-7F0039C49383}" type="slidenum">
              <a:rPr lang="en-US" smtClean="0"/>
              <a:t>36</a:t>
            </a:fld>
            <a:endParaRPr lang="en-US"/>
          </a:p>
        </p:txBody>
      </p:sp>
    </p:spTree>
    <p:extLst>
      <p:ext uri="{BB962C8B-B14F-4D97-AF65-F5344CB8AC3E}">
        <p14:creationId xmlns:p14="http://schemas.microsoft.com/office/powerpoint/2010/main" val="2291604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pPr>
              <a:spcAft>
                <a:spcPts val="600"/>
              </a:spcAft>
            </a:pPr>
            <a:r>
              <a:rPr lang="en-US" dirty="0"/>
              <a:t>This is the closer for the whole session, so do not read it out. Ask the room to</a:t>
            </a:r>
            <a:br>
              <a:rPr lang="en-US" dirty="0"/>
            </a:br>
            <a:r>
              <a:rPr lang="en-US" dirty="0"/>
              <a:t>answer each row before you reveal the right-hand column.</a:t>
            </a:r>
          </a:p>
          <a:p>
            <a:endParaRPr lang="en-US" dirty="0"/>
          </a:p>
          <a:p>
            <a:pPr>
              <a:spcAft>
                <a:spcPts val="600"/>
              </a:spcAft>
            </a:pPr>
            <a:r>
              <a:rPr lang="en-US" dirty="0"/>
              <a:t>The rows are ordered by what the question gives you. The top three are authoring surfaces --</a:t>
            </a:r>
            <a:br>
              <a:rPr lang="en-US" dirty="0"/>
            </a:br>
            <a:r>
              <a:rPr lang="en-US" dirty="0"/>
              <a:t>one template, the same template as code, or a function declared with its trigger. The next two</a:t>
            </a:r>
            <a:br>
              <a:rPr lang="en-US" dirty="0"/>
            </a:br>
            <a:r>
              <a:rPr lang="en-US" dirty="0"/>
              <a:t>are release mechanics, and the last two are where the code actually runs.</a:t>
            </a:r>
          </a:p>
          <a:p>
            <a:endParaRPr lang="en-US" dirty="0"/>
          </a:p>
          <a:p>
            <a:pPr>
              <a:spcAft>
                <a:spcPts val="600"/>
              </a:spcAft>
            </a:pPr>
            <a:r>
              <a:rPr lang="en-US" dirty="0"/>
              <a:t>The exam angle is that these are trigger phrases rather than definitions. Wording like</a:t>
            </a:r>
            <a:br>
              <a:rPr lang="en-US" dirty="0"/>
            </a:br>
            <a:r>
              <a:rPr lang="en-US" dirty="0"/>
              <a:t>describes the whole stack points at CloudFormation however the scenario is dressed up, and</a:t>
            </a:r>
            <a:br>
              <a:rPr lang="en-US" dirty="0"/>
            </a:br>
            <a:r>
              <a:rPr lang="en-US" dirty="0"/>
              <a:t>without managing servers is the Fargate tell.</a:t>
            </a:r>
          </a:p>
          <a:p>
            <a:endParaRPr lang="en-US" dirty="0"/>
          </a:p>
          <a:p>
            <a:pPr>
              <a:spcAft>
                <a:spcPts val="600"/>
              </a:spcAft>
            </a:pPr>
            <a:r>
              <a:rPr lang="en-US" dirty="0"/>
              <a:t>The distinction people lose is </a:t>
            </a:r>
            <a:r>
              <a:rPr lang="en-US" dirty="0" err="1"/>
              <a:t>CodePipeline</a:t>
            </a:r>
            <a:r>
              <a:rPr lang="en-US" dirty="0"/>
              <a:t> against </a:t>
            </a:r>
            <a:r>
              <a:rPr lang="en-US" dirty="0" err="1"/>
              <a:t>CodeDeploy</a:t>
            </a:r>
            <a:r>
              <a:rPr lang="en-US" dirty="0"/>
              <a:t>. The pipeline ORCHESTRATES the</a:t>
            </a:r>
            <a:br>
              <a:rPr lang="en-US" dirty="0"/>
            </a:br>
            <a:r>
              <a:rPr lang="en-US" dirty="0"/>
              <a:t>stages; </a:t>
            </a:r>
            <a:r>
              <a:rPr lang="en-US" dirty="0" err="1"/>
              <a:t>CodeDeploy</a:t>
            </a:r>
            <a:r>
              <a:rPr lang="en-US" dirty="0"/>
              <a:t> is one action inside it that puts a version onto instances. A question about</a:t>
            </a:r>
            <a:br>
              <a:rPr lang="en-US" dirty="0"/>
            </a:br>
            <a:r>
              <a:rPr lang="en-US" dirty="0"/>
              <a:t>stage order is the pipeline, a question about rollout is </a:t>
            </a:r>
            <a:r>
              <a:rPr lang="en-US" dirty="0" err="1"/>
              <a:t>CodeDeploy</a:t>
            </a:r>
            <a:r>
              <a:rPr lang="en-US" dirty="0"/>
              <a:t>.</a:t>
            </a:r>
          </a:p>
          <a:p>
            <a:endParaRPr lang="en-US" dirty="0"/>
          </a:p>
          <a:p>
            <a:pPr>
              <a:spcAft>
                <a:spcPts val="600"/>
              </a:spcAft>
            </a:pPr>
            <a:r>
              <a:rPr lang="en-US" dirty="0"/>
              <a:t>PROVENANCE: the grid is ours -- no AWS page publishes this selection table. Each row's claim,</a:t>
            </a:r>
            <a:br>
              <a:rPr lang="en-US" dirty="0"/>
            </a:br>
            <a:r>
              <a:rPr lang="en-US" dirty="0"/>
              <a:t>though, comes from a page already title-validated for this deck.</a:t>
            </a:r>
          </a:p>
          <a:p>
            <a:endParaRPr lang="en-US" dirty="0"/>
          </a:p>
          <a:p>
            <a:pPr>
              <a:spcAft>
                <a:spcPts val="600"/>
              </a:spcAft>
            </a:pPr>
            <a:r>
              <a:rPr lang="en-US" dirty="0"/>
              <a:t>Those pages are CloudFormation template sections, Introduction to AWS CDK stacks,</a:t>
            </a:r>
            <a:br>
              <a:rPr lang="en-US" dirty="0"/>
            </a:br>
            <a:r>
              <a:rPr lang="en-US" dirty="0"/>
              <a:t>AWS SAM template anatomy, </a:t>
            </a:r>
            <a:r>
              <a:rPr lang="en-US" dirty="0" err="1"/>
              <a:t>CodePipeline</a:t>
            </a:r>
            <a:r>
              <a:rPr lang="en-US" dirty="0"/>
              <a:t> concepts, </a:t>
            </a:r>
            <a:r>
              <a:rPr lang="en-US" dirty="0" err="1"/>
              <a:t>CodeDeploy</a:t>
            </a:r>
            <a:r>
              <a:rPr lang="en-US" dirty="0"/>
              <a:t> deployment groups,</a:t>
            </a:r>
            <a:br>
              <a:rPr lang="en-US" dirty="0"/>
            </a:br>
            <a:r>
              <a:rPr lang="en-US" dirty="0"/>
              <a:t>Elastic Beanstalk managing databases, and Amazon ECS task definitions for containers.</a:t>
            </a:r>
          </a:p>
          <a:p>
            <a:endParaRPr lang="en-US" dirty="0"/>
          </a:p>
        </p:txBody>
      </p:sp>
      <p:sp>
        <p:nvSpPr>
          <p:cNvPr id="4" name="Slide Number Placeholder 3"/>
          <p:cNvSpPr>
            <a:spLocks noGrp="1"/>
          </p:cNvSpPr>
          <p:nvPr>
            <p:ph type="sldNum" sz="quarter" idx="5"/>
          </p:nvPr>
        </p:nvSpPr>
        <p:spPr/>
        <p:txBody>
          <a:bodyPr/>
          <a:lstStyle/>
          <a:p>
            <a:fld id="{1ADA6E1F-B7C3-CB4A-8789-7F0039C49383}" type="slidenum">
              <a:rPr lang="en-US" smtClean="0"/>
              <a:t>37</a:t>
            </a:fld>
            <a:endParaRPr lang="en-US"/>
          </a:p>
        </p:txBody>
      </p:sp>
    </p:spTree>
    <p:extLst>
      <p:ext uri="{BB962C8B-B14F-4D97-AF65-F5344CB8AC3E}">
        <p14:creationId xmlns:p14="http://schemas.microsoft.com/office/powerpoint/2010/main" val="351225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This marks the shift from teaching to practice. The next questions apply this week's testing and deployment material -- pipelines, deployment strategies, infrastructure as code, and the AI-assisted development tooling -- to scenario-style problems.</a:t>
            </a:r>
          </a:p>
          <a:p>
            <a:endParaRPr/>
          </a:p>
          <a:p>
            <a:pPr>
              <a:spcAft>
                <a:spcPts val="600"/>
              </a:spcAft>
            </a:pPr>
            <a:r>
              <a:t>Frame it as a low-stakes checkpoint. The aim is to surface which services still feel unclear, not to score anyone. Ask the room to read each stem carefully and note the key phrases before looking at the choices.</a:t>
            </a:r>
          </a:p>
          <a:p>
            <a:endParaRPr/>
          </a:p>
          <a:p>
            <a:pPr>
              <a:spcAft>
                <a:spcPts val="600"/>
              </a:spcAft>
            </a:pPr>
            <a:r>
              <a:t>Remind everyone that the four-beat rhythm -- read the scenario, find the key phrases, reveal the answer, then walk through why each wrong choice loses -- is a study technique they can reuse on their own practice sets. The fourth beat is where the learning is: being able to rule out a wrong choice for a named reason is the skill the room needs under time pressure.</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put question 1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3: Testing and Deployment. Difficulty: Medium. Watch the room: if most people have answered by 90 seconds, move on; if they are still reading, give another 20 seconds rather than rushing the discussion that follows.</a:t>
            </a:r>
          </a:p>
          <a:p>
            <a:endParaRPr/>
          </a:p>
          <a:p>
            <a:pPr>
              <a:spcAft>
                <a:spcPts val="600"/>
              </a:spcAft>
            </a:pPr>
            <a:r>
              <a:t>PARTNER CONTEXT: A partner's registry grows by several pushes a day and nobody notices until the storage line on the bill does. A lifecycle policy set to expire tagged images beyond a count keeps the newest builds and removes the rest on its own schedule. The point worth making is that the alternatives all work -- a scheduled function can delete images too -- but they add code the customer then has to own, and the requirement asked for the least operational overhead.</a:t>
            </a:r>
          </a:p>
          <a:p>
            <a:endParaRPr/>
          </a:p>
          <a:p>
            <a:pPr>
              <a:spcAft>
                <a:spcPts val="600"/>
              </a:spcAft>
            </a:pPr>
            <a:r>
              <a:t>EXAM MAPPING: Domain 3: Testing and Deployment.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“the team only needs to retain the 10 most recent images for each service”, and it tells you: A retention count with no operational work points to an ECR lifecycle policy.</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3: Testing and Deployment. Difficulty: Medium. Ask the room which words they underlined before you show them the tell, so they practise finding it rather than being handed it.</a:t>
            </a:r>
          </a:p>
          <a:p>
            <a:endParaRPr/>
          </a:p>
          <a:p>
            <a:pPr>
              <a:spcAft>
                <a:spcPts val="600"/>
              </a:spcAft>
            </a:pPr>
            <a:r>
              <a:t>PARTNER CONTEXT: A partner's registry grows by several pushes a day and nobody notices until the storage line on the bill does. A lifecycle policy set to expire tagged images beyond a count keeps the newest builds and removes the rest on its own schedule. The point worth making is that the alternatives all work -- a scheduled function can delete images too -- but they add code the customer then has to own, and the requirement asked for the least operational overhead.</a:t>
            </a:r>
          </a:p>
          <a:p>
            <a:endParaRPr/>
          </a:p>
          <a:p>
            <a:pPr>
              <a:spcAft>
                <a:spcPts val="600"/>
              </a:spcAft>
            </a:pPr>
            <a:r>
              <a:t>EXAM MAPPING: Domain 3: Testing and Deployment.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ANSWER OVERVIEW: the answer is A. A lifecycle rule expires by image count, with no code to run.</a:t>
            </a:r>
          </a:p>
          <a:p>
            <a:endParaRPr/>
          </a:p>
          <a:p>
            <a:pPr>
              <a:spcAft>
                <a:spcPts val="600"/>
              </a:spcAft>
            </a:pPr>
            <a:r>
              <a:t>A. Create an ECR lifecycle policy rule that expires images when the image count exceeds 10. Set the tag status to tagged and define a tag prefix list that matches the versioning pattern. — Correct — ECR lifecycle policies automatically expire images based on defined rules. A rule with countType set to imageCountMoreThan and countNumber set to 10 retains only the 10 most recent images matching the tag pattern. The policy runs automatically and requires no manual intervention or external scheduling.</a:t>
            </a:r>
          </a:p>
          <a:p>
            <a:endParaRPr/>
          </a:p>
          <a:p>
            <a:pPr>
              <a:spcAft>
                <a:spcPts val="600"/>
              </a:spcAft>
            </a:pPr>
            <a:r>
              <a:t>B. Create an AWS Lambda function that runs on a daily schedule. The function lists all images in the repository, sorts by push date, and deletes images beyond the 10 most recent. — Incorrect — A Lambda function with a schedule can achieve the same result. However, this requires writing and maintaining custom code, configuring a schedule, and managing IAM permissions for the function. ECR lifecycle policies provide this functionality natively with no custom code or scheduling required.</a:t>
            </a:r>
          </a:p>
          <a:p>
            <a:endParaRPr/>
          </a:p>
          <a:p>
            <a:pPr>
              <a:spcAft>
                <a:spcPts val="600"/>
              </a:spcAft>
            </a:pPr>
            <a:r>
              <a:t>C. Configure an S3 lifecycle rule on the ECR registry's underlying storage bucket to transition objects older than 30 days to S3 Glacier. — Incorrect — ECR manages its own storage infrastructure. Customers do not have direct access to the underlying S3 buckets where ECR stores image layers. S3 lifecycle rules cannot be applied to ECR's internal storage. ECR provides its own lifecycle policy mechanism for image management.</a:t>
            </a:r>
          </a:p>
          <a:p>
            <a:endParaRPr/>
          </a:p>
          <a:p>
            <a:pPr>
              <a:spcAft>
                <a:spcPts val="600"/>
              </a:spcAft>
            </a:pPr>
            <a:r>
              <a:t>D. Enable image tag immutability on the repository. Manually delete old images using the AWS CLI each month. — Incorrect — Image tag immutability prevents existing tags from being overwritten. It does not manage image retention or automatically delete old images. Manual CLI deletion each month adds operational overhead and risks human error. This does not meet the requirement for automatic removal.</a:t>
            </a:r>
          </a:p>
          <a:p>
            <a:endParaRPr/>
          </a:p>
          <a:p>
            <a:pPr>
              <a:spcAft>
                <a:spcPts val="600"/>
              </a:spcAft>
            </a:pPr>
            <a:r>
              <a:t>EXAM RELEVANCE: Domain 3: Testing and Deployment. Difficulty: Medium.</a:t>
            </a:r>
          </a:p>
          <a:p>
            <a:endParaRPr/>
          </a:p>
          <a:p>
            <a:pPr>
              <a:spcAft>
                <a:spcPts val="600"/>
              </a:spcAft>
            </a:pPr>
            <a:r>
              <a:t>SOURCE: https://docs.aws.amazon.com/AmazonECR/latest/userguide/LifecyclePolicies.html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elimination, made visible. A win because a lifecycle rule expires by image count, with no code to run. The others are ruled out for one reason each: B — A scheduled Lambda re-implements what a lifecycle policy already does; C — ECR owns its storage; those buckets are not yours to configure; D — Tag immutability prevents overwrites, it never deletes anything. Read the tell strip aloud -- pairing a phrase with what it signals is the transferable skill, not memorizing the service name.</a:t>
            </a:r>
          </a:p>
          <a:p>
            <a:endParaRPr/>
          </a:p>
          <a:p>
            <a:pPr>
              <a:spcAft>
                <a:spcPts val="600"/>
              </a:spcAft>
            </a:pPr>
            <a:r>
              <a:t>EXAM RELEVANCE: Domain 3: Testing and Deployment. Difficulty: Medium. The pattern to teach: a scenario question rarely offers three absurd options. It offers ones that match a nearby requirement and one (or two) that match the requirement exactly. Here the discriminator is “the team only needs to retain the 10 most recent images for each service”, which points at A retention count with no operational work points to an ECR lifecycle policy. Encourage the room to name the phrase before naming the service.</a:t>
            </a:r>
          </a:p>
          <a:p>
            <a:endParaRPr/>
          </a:p>
          <a:p>
            <a:pPr>
              <a:spcAft>
                <a:spcPts val="600"/>
              </a:spcAft>
            </a:pPr>
            <a:r>
              <a:t>PARTNER CONTEXT: A partner's registry grows by several pushes a day and nobody notices until the storage line on the bill does. A lifecycle policy set to expire tagged images beyond a count keeps the newest builds and removes the rest on its own schedule. The point worth making is that the alternatives all work -- a scheduled function can delete images too -- but they add code the customer then has to own, and the requirement asked for the least operational overhead.</a:t>
            </a:r>
          </a:p>
          <a:p>
            <a:endParaRPr/>
          </a:p>
          <a:p>
            <a:pPr>
              <a:spcAft>
                <a:spcPts val="600"/>
              </a:spcAft>
            </a:pPr>
            <a:r>
              <a:t>SOURCE: https://docs.aws.amazon.com/AmazonECR/latest/userguide/LifecyclePolicies.html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put question 2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3: Testing and Deployment. Difficulty: Hard. Watch the room: if most people have answered by 90 seconds, move on; if they are still reading, give another 20 seconds rather than rushing the discussion that follows.</a:t>
            </a:r>
          </a:p>
          <a:p>
            <a:endParaRPr/>
          </a:p>
          <a:p>
            <a:pPr>
              <a:spcAft>
                <a:spcPts val="600"/>
              </a:spcAft>
            </a:pPr>
            <a:r>
              <a:t>PARTNER CONTEXT: A partner running payments on Fargate cannot take a maintenance window, and a bad task definition must undo itself rather than wait for someone to notice. Holding minimum healthy capacity at 100 percent while allowing 200 percent lets ECS start the new tasks before draining the old, and the circuit breaker watches task health and rolls back without a person in the loop.</a:t>
            </a:r>
          </a:p>
          <a:p>
            <a:endParaRPr/>
          </a:p>
          <a:p>
            <a:pPr>
              <a:spcAft>
                <a:spcPts val="600"/>
              </a:spcAft>
            </a:pPr>
            <a:r>
              <a:t>EXAM MAPPING: Domain 3: Testing and Deployment.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“zero downtime”, and it tells you: Holding capacity and reverting on failure is the ECS circuit breaker.</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3: Testing and Deployment. Difficulty: Hard. Ask the room which words they underlined before you show them the tell, so they practise finding it rather than being handed it.</a:t>
            </a:r>
          </a:p>
          <a:p>
            <a:endParaRPr/>
          </a:p>
          <a:p>
            <a:pPr>
              <a:spcAft>
                <a:spcPts val="600"/>
              </a:spcAft>
            </a:pPr>
            <a:r>
              <a:t>PARTNER CONTEXT: A partner running payments on Fargate cannot take a maintenance window, and a bad task definition must undo itself rather than wait for someone to notice. Holding minimum healthy capacity at 100 percent while allowing 200 percent lets ECS start the new tasks before draining the old, and the circuit breaker watches task health and rolls back without a person in the loop.</a:t>
            </a:r>
          </a:p>
          <a:p>
            <a:endParaRPr/>
          </a:p>
          <a:p>
            <a:pPr>
              <a:spcAft>
                <a:spcPts val="600"/>
              </a:spcAft>
            </a:pPr>
            <a:r>
              <a:t>EXAM MAPPING: Domain 3: Testing and Deployment.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ANSWER OVERVIEW: the answer is A. Keep every healthy task, add new ones, let the circuit breaker revert.</a:t>
            </a:r>
          </a:p>
          <a:p>
            <a:endParaRPr/>
          </a:p>
          <a:p>
            <a:pPr>
              <a:spcAft>
                <a:spcPts val="600"/>
              </a:spcAft>
            </a:pPr>
            <a:r>
              <a:t>A. Configure the ECS service deployment configuration with minimumHealthyPercent set to 100 and maximumPercent set to 200. Enable the ECS deployment circuit breaker with automatic rollback. — Correct — Setting minimumHealthyPercent to 100 ensures the current number of healthy tasks is maintained during deployment. Setting maximumPercent to 200 allows ECS to launch new tasks before draining old ones. The deployment circuit breaker monitors task health and automatically rolls back if the new tasks fail to stabilize, requiring no manual intervention.</a:t>
            </a:r>
          </a:p>
          <a:p>
            <a:endParaRPr/>
          </a:p>
          <a:p>
            <a:pPr>
              <a:spcAft>
                <a:spcPts val="600"/>
              </a:spcAft>
            </a:pPr>
            <a:r>
              <a:t>B. Configure the ECS service deployment configuration with minimumHealthyPercent set to 50 and maximumPercent set to 100. Monitor the deployment manually and update the service to the previous task definition if errors occur. — Incorrect — Setting minimumHealthyPercent to 50 allows ECS to terminate half of the running tasks before launching new ones. This reduces capacity during deployment and may cause downtime for a payment processing service. Manual monitoring and rollback does not meet the requirement for least manual intervention.</a:t>
            </a:r>
          </a:p>
          <a:p>
            <a:endParaRPr/>
          </a:p>
          <a:p>
            <a:pPr>
              <a:spcAft>
                <a:spcPts val="600"/>
              </a:spcAft>
            </a:pPr>
            <a:r>
              <a:t>C. Stop the existing ECS service. Create a new service with the updated task definition. Redirect the ALB target group to the new service. Delete the old service. — Incorrect — Stopping the existing service causes downtime while the new service launches and registers with the load balancer. This does not meet the zero-downtime requirement. Additionally, this approach requires manual steps to redirect traffic and delete the old service.</a:t>
            </a:r>
          </a:p>
          <a:p>
            <a:endParaRPr/>
          </a:p>
          <a:p>
            <a:pPr>
              <a:spcAft>
                <a:spcPts val="600"/>
              </a:spcAft>
            </a:pPr>
            <a:r>
              <a:t>D. Configure the ECS service to use CodeDeploy blue/green deployment. Set the deployment configuration to route all traffic immediately to the new target group. Disable automatic rollback. — Incorrect — Routing all traffic immediately to the new target group without canary or linear shifting risks exposing all users to a faulty deployment simultaneously. Disabling automatic rollback contradicts the requirement for automatic rollback on errors. This configuration requires manual intervention to roll back.</a:t>
            </a:r>
          </a:p>
          <a:p>
            <a:endParaRPr/>
          </a:p>
          <a:p>
            <a:pPr>
              <a:spcAft>
                <a:spcPts val="600"/>
              </a:spcAft>
            </a:pPr>
            <a:r>
              <a:t>EXAM RELEVANCE: Domain 3: Testing and Deployment. Difficulty: Hard.</a:t>
            </a:r>
          </a:p>
          <a:p>
            <a:endParaRPr/>
          </a:p>
          <a:p>
            <a:pPr>
              <a:spcAft>
                <a:spcPts val="600"/>
              </a:spcAft>
            </a:pPr>
            <a:r>
              <a:t>SOURCE: https://docs.aws.amazon.com/AmazonECS/latest/developerguide/deployment-circuit-breaker.html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elimination, made visible. A win because keep every healthy task, add new ones, let the circuit breaker revert. The others are ruled out for one reason each: B — minimumHealthyPercent 50 gives up half the capacity mid-deploy; C — Stopping the service is downtime, which the requirement forbids; D — All-at-once shifting exposes every user, and rollback was disabled. Read the tell strip aloud -- pairing a phrase with what it signals is the transferable skill, not memorizing the service name.</a:t>
            </a:r>
          </a:p>
          <a:p>
            <a:endParaRPr/>
          </a:p>
          <a:p>
            <a:pPr>
              <a:spcAft>
                <a:spcPts val="600"/>
              </a:spcAft>
            </a:pPr>
            <a:r>
              <a:t>EXAM RELEVANCE: Domain 3: Testing and Deployment. Difficulty: Hard. The pattern to teach: a scenario question rarely offers three absurd options. It offers ones that match a nearby requirement and one (or two) that match the requirement exactly. Here the discriminator is “zero downtime”, which points at Holding capacity and reverting on failure is the ECS circuit breaker. Encourage the room to name the phrase before naming the service.</a:t>
            </a:r>
          </a:p>
          <a:p>
            <a:endParaRPr/>
          </a:p>
          <a:p>
            <a:pPr>
              <a:spcAft>
                <a:spcPts val="600"/>
              </a:spcAft>
            </a:pPr>
            <a:r>
              <a:t>PARTNER CONTEXT: A partner running payments on Fargate cannot take a maintenance window, and a bad task definition must undo itself rather than wait for someone to notice. Holding minimum healthy capacity at 100 percent while allowing 200 percent lets ECS start the new tasks before draining the old, and the circuit breaker watches task health and rolls back without a person in the loop.</a:t>
            </a:r>
          </a:p>
          <a:p>
            <a:endParaRPr/>
          </a:p>
          <a:p>
            <a:pPr>
              <a:spcAft>
                <a:spcPts val="600"/>
              </a:spcAft>
            </a:pPr>
            <a:r>
              <a:t>SOURCE: https://docs.aws.amazon.com/AmazonECS/latest/developerguide/deployment-circuit-breaker.html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put question 3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3: Testing and Deployment. Difficulty: Medium. Watch the room: if most people have answered by 90 seconds, move on; if they are still reading, give another 20 seconds rather than rushing the discussion that follows.</a:t>
            </a:r>
          </a:p>
          <a:p>
            <a:endParaRPr/>
          </a:p>
          <a:p>
            <a:pPr>
              <a:spcAft>
                <a:spcPts val="600"/>
              </a:spcAft>
            </a:pPr>
            <a:r>
              <a:t>PARTNER CONTEXT: A partner with a change-control process needs a named person to sign off before production, and wants that sign-off recorded where the release is. A manual approval action with a notification topic pauses the pipeline and tells the team it is waiting, so the gate lives in the pipeline rather than in a separate ticketing step nobody links back to the build.</a:t>
            </a:r>
          </a:p>
          <a:p>
            <a:endParaRPr/>
          </a:p>
          <a:p>
            <a:pPr>
              <a:spcAft>
                <a:spcPts val="600"/>
              </a:spcAft>
            </a:pPr>
            <a:r>
              <a:t>EXAM MAPPING: Domain 3: Testing and Deployment.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“require a manual approval after the Staging deployment succeeds”, and it tells you: A human gate between two stages is a CodePipeline manual approval action.</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3: Testing and Deployment. Difficulty: Medium. Ask the room which words they underlined before you show them the tell, so they practise finding it rather than being handed it.</a:t>
            </a:r>
          </a:p>
          <a:p>
            <a:endParaRPr/>
          </a:p>
          <a:p>
            <a:pPr>
              <a:spcAft>
                <a:spcPts val="600"/>
              </a:spcAft>
            </a:pPr>
            <a:r>
              <a:t>PARTNER CONTEXT: A partner with a change-control process needs a named person to sign off before production, and wants that sign-off recorded where the release is. A manual approval action with a notification topic pauses the pipeline and tells the team it is waiting, so the gate lives in the pipeline rather than in a separate ticketing step nobody links back to the build.</a:t>
            </a:r>
          </a:p>
          <a:p>
            <a:endParaRPr/>
          </a:p>
          <a:p>
            <a:pPr>
              <a:spcAft>
                <a:spcPts val="600"/>
              </a:spcAft>
            </a:pPr>
            <a:r>
              <a:t>EXAM MAPPING: Domain 3: Testing and Deployment.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ANSWER OVERVIEW: the answer is A. A manual approval action pauses the pipeline until someone approves.</a:t>
            </a:r>
          </a:p>
          <a:p>
            <a:endParaRPr/>
          </a:p>
          <a:p>
            <a:pPr>
              <a:spcAft>
                <a:spcPts val="600"/>
              </a:spcAft>
            </a:pPr>
            <a:r>
              <a:t>A. Add a manual approval action between the Staging and Production stages in CodePipeline. Configure the approval action with an SNS topic to notify the team. — Correct — CodePipeline supports manual approval actions as a stage transition gate. The approval action pauses the pipeline until an authorized user approves or rejects the action. Configuring an SNS topic sends a notification to the team when approval is pending. The pipeline proceeds to Production only after approval.</a:t>
            </a:r>
          </a:p>
          <a:p>
            <a:endParaRPr/>
          </a:p>
          <a:p>
            <a:pPr>
              <a:spcAft>
                <a:spcPts val="600"/>
              </a:spcAft>
            </a:pPr>
            <a:r>
              <a:t>B. Create a CloudWatch Events rule that triggers when the Staging stage succeeds. Configure the rule to disable the Production stage until a team member re-enables it. — Incorrect — CloudWatch Events (EventBridge) can detect pipeline stage changes. However, CodePipeline stages cannot be independently enabled or disabled. Pipeline execution flows through stages based on the pipeline definition and transition states. The native manual approval action is the intended mechanism for this use case.</a:t>
            </a:r>
          </a:p>
          <a:p>
            <a:endParaRPr/>
          </a:p>
          <a:p>
            <a:pPr>
              <a:spcAft>
                <a:spcPts val="600"/>
              </a:spcAft>
            </a:pPr>
            <a:r>
              <a:t>C. Add a Lambda function action between the Staging and Production stages. Configure the function to poll a DynamoDB table for an approval flag before allowing the pipeline to continue. — Incorrect — A Lambda action can implement custom logic in a pipeline. However, CodePipeline has a built-in manual approval action that provides this capability natively. Using a Lambda function with DynamoDB polling adds complexity, requires custom code maintenance, and introduces potential reliability issues.</a:t>
            </a:r>
          </a:p>
          <a:p>
            <a:endParaRPr/>
          </a:p>
          <a:p>
            <a:pPr>
              <a:spcAft>
                <a:spcPts val="600"/>
              </a:spcAft>
            </a:pPr>
            <a:r>
              <a:t>D. Create two separate pipelines. Configure the first pipeline for Source through Staging. Configure the second pipeline for Production only. Manually trigger the second pipeline after verifying the staging deployment. — Incorrect — Splitting into two pipelines breaks the end-to-end traceability of a single deployment. Manual triggering does not integrate with CodePipeline's native approval workflow and loses the connection between source revision and production deployment. A single pipeline with an approval action maintains the full deployment chain.</a:t>
            </a:r>
          </a:p>
          <a:p>
            <a:endParaRPr/>
          </a:p>
          <a:p>
            <a:pPr>
              <a:spcAft>
                <a:spcPts val="600"/>
              </a:spcAft>
            </a:pPr>
            <a:r>
              <a:t>EXAM RELEVANCE: Domain 3: Testing and Deployment. Difficulty: Medium.</a:t>
            </a:r>
          </a:p>
          <a:p>
            <a:endParaRPr/>
          </a:p>
          <a:p>
            <a:pPr>
              <a:spcAft>
                <a:spcPts val="600"/>
              </a:spcAft>
            </a:pPr>
            <a:r>
              <a:t>SOURCE: https://docs.aws.amazon.com/codepipeline/latest/userguide/approvals.html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elimination, made visible. A win because a manual approval action pauses the pipeline until someone approves. The others are ruled out for one reason each: B — CodePipeline stages cannot be enabled or disabled independently; C — A Lambda gate re-implements the built-in approval action; D — Two pipelines break one deployment's end-to-end traceability. Read the tell strip aloud -- pairing a phrase with what it signals is the transferable skill, not memorizing the service name.</a:t>
            </a:r>
          </a:p>
          <a:p>
            <a:endParaRPr/>
          </a:p>
          <a:p>
            <a:pPr>
              <a:spcAft>
                <a:spcPts val="600"/>
              </a:spcAft>
            </a:pPr>
            <a:r>
              <a:t>EXAM RELEVANCE: Domain 3: Testing and Deployment. Difficulty: Medium. The pattern to teach: a scenario question rarely offers three absurd options. It offers ones that match a nearby requirement and one (or two) that match the requirement exactly. Here the discriminator is “require a manual approval after the Staging deployment succeeds”, which points at A human gate between two stages is a CodePipeline manual approval action. Encourage the room to name the phrase before naming the service.</a:t>
            </a:r>
          </a:p>
          <a:p>
            <a:endParaRPr/>
          </a:p>
          <a:p>
            <a:pPr>
              <a:spcAft>
                <a:spcPts val="600"/>
              </a:spcAft>
            </a:pPr>
            <a:r>
              <a:t>PARTNER CONTEXT: A partner with a change-control process needs a named person to sign off before production, and wants that sign-off recorded where the release is. A manual approval action with a notification topic pauses the pipeline and tells the team it is waiting, so the gate lives in the pipeline rather than in a separate ticketing step nobody links back to the build.</a:t>
            </a:r>
          </a:p>
          <a:p>
            <a:endParaRPr/>
          </a:p>
          <a:p>
            <a:pPr>
              <a:spcAft>
                <a:spcPts val="600"/>
              </a:spcAft>
            </a:pPr>
            <a:r>
              <a:t>SOURCE: https://docs.aws.amazon.com/codepipeline/latest/userguide/approvals.html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put question 4 on screen and give the room about 90 seconds to read it in silence and commit to an answer before anyone speaks aloud. Note this is a select-two question, so tell the room to expect more than one answer.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3: Testing and Deployment. Difficulty: Medium. Watch the room: if most people have answered by 90 seconds, move on; if they are still reading, give another 20 seconds rather than rushing the discussion that follows.</a:t>
            </a:r>
          </a:p>
          <a:p>
            <a:endParaRPr/>
          </a:p>
          <a:p>
            <a:pPr>
              <a:spcAft>
                <a:spcPts val="600"/>
              </a:spcAft>
            </a:pPr>
            <a:r>
              <a:t>PARTNER CONTEXT: A partner iterating on a serverless API wants the feedback loop off the cloud. Validating the template catches a malformed resource before any deploy, and a local API server lets them exercise the function over HTTP on their own machine. Worth saying out loud that this is a select-two question because the two needs in the stem -- validate, and test locally -- are answered by different commands.</a:t>
            </a:r>
          </a:p>
          <a:p>
            <a:endParaRPr/>
          </a:p>
          <a:p>
            <a:pPr>
              <a:spcAft>
                <a:spcPts val="600"/>
              </a:spcAft>
            </a:pPr>
            <a:r>
              <a:t>EXAM MAPPING: Domain 3: Testing and Deployment.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“test the API locally before deploying”, and it tells you: Local testing plus template checking is two separate SAM CLI commands, not one.</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3: Testing and Deployment. Difficulty: Medium. Ask the room which words they underlined before you show them the tell, so they practise finding it rather than being handed it.</a:t>
            </a:r>
          </a:p>
          <a:p>
            <a:endParaRPr/>
          </a:p>
          <a:p>
            <a:pPr>
              <a:spcAft>
                <a:spcPts val="600"/>
              </a:spcAft>
            </a:pPr>
            <a:r>
              <a:t>PARTNER CONTEXT: A partner iterating on a serverless API wants the feedback loop off the cloud. Validating the template catches a malformed resource before any deploy, and a local API server lets them exercise the function over HTTP on their own machine. Worth saying out loud that this is a select-two question because the two needs in the stem -- validate, and test locally -- are answered by different commands.</a:t>
            </a:r>
          </a:p>
          <a:p>
            <a:endParaRPr/>
          </a:p>
          <a:p>
            <a:pPr>
              <a:spcAft>
                <a:spcPts val="600"/>
              </a:spcAft>
            </a:pPr>
            <a:r>
              <a:t>EXAM MAPPING: Domain 3: Testing and Deployment.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ANSWER OVERVIEW: the answer is A and B. One command validates the template, another serves the API locally.</a:t>
            </a:r>
          </a:p>
          <a:p>
            <a:endParaRPr/>
          </a:p>
          <a:p>
            <a:pPr>
              <a:spcAft>
                <a:spcPts val="600"/>
              </a:spcAft>
            </a:pPr>
            <a:r>
              <a:t>A. Run sam validate to check the SAM template for syntax and semantic errors. — Correct — The sam validate command checks the SAM template for correctness. It validates the template against the SAM specification and reports syntax errors, missing required properties, and invalid resource configurations before deployment.</a:t>
            </a:r>
          </a:p>
          <a:p>
            <a:endParaRPr/>
          </a:p>
          <a:p>
            <a:pPr>
              <a:spcAft>
                <a:spcPts val="600"/>
              </a:spcAft>
            </a:pPr>
            <a:r>
              <a:t>B. Run sam local start-api to start a local HTTP server that emulates the API Gateway endpoint. — Correct — The sam local start-api command starts a local HTTP server that hosts all API Gateway endpoints defined in the SAM template. The developer can send HTTP requests to localhost to test the Lambda function integration locally without deploying to AWS.</a:t>
            </a:r>
          </a:p>
          <a:p>
            <a:endParaRPr/>
          </a:p>
          <a:p>
            <a:pPr>
              <a:spcAft>
                <a:spcPts val="600"/>
              </a:spcAft>
            </a:pPr>
            <a:r>
              <a:t>C. Run sam deploy --guided to deploy the application and test it in the cloud. — Incorrect — The sam deploy command deploys the application to AWS. The requirement is to test locally before deploying. Deploying to test contradicts the requirement for local testing and incurs AWS resource costs.</a:t>
            </a:r>
          </a:p>
          <a:p>
            <a:endParaRPr/>
          </a:p>
          <a:p>
            <a:pPr>
              <a:spcAft>
                <a:spcPts val="600"/>
              </a:spcAft>
            </a:pPr>
            <a:r>
              <a:t>D. Run sam init to generate a new SAM project template. — Incorrect — The sam init command creates a new SAM project from a template. The developer already has an existing application. Running sam init would create a new project rather than testing the existing one.</a:t>
            </a:r>
          </a:p>
          <a:p>
            <a:endParaRPr/>
          </a:p>
          <a:p>
            <a:pPr>
              <a:spcAft>
                <a:spcPts val="600"/>
              </a:spcAft>
            </a:pPr>
            <a:r>
              <a:t>E. Run sam build to compile the Lambda function code and prepare deployment artifacts. — Incorrect — The sam build command processes your Lambda source code and builds deployment artifacts. While building is a prerequisite for local testing and deployment, it does not validate the template syntax or start a local API server. It does not address either of the two stated requirements directly.</a:t>
            </a:r>
          </a:p>
          <a:p>
            <a:endParaRPr/>
          </a:p>
          <a:p>
            <a:pPr>
              <a:spcAft>
                <a:spcPts val="600"/>
              </a:spcAft>
            </a:pPr>
            <a:r>
              <a:t>EXAM RELEVANCE: Domain 3: Testing and Deployment. Difficulty: Medium.</a:t>
            </a:r>
          </a:p>
          <a:p>
            <a:endParaRPr/>
          </a:p>
          <a:p>
            <a:pPr>
              <a:spcAft>
                <a:spcPts val="600"/>
              </a:spcAft>
            </a:pPr>
            <a:r>
              <a:t>SOURCE: https://docs.aws.amazon.com/serverless-application-model/latest/developerguide/sam-cli-command-reference-sam-local-start-api.html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elimination, made visible. A and B are both required: one command validates the template, another serves the API locally. The others are ruled out for one reason each: C — Deploying in order to test contradicts testing locally first; D — sam init starts a new project; this application already exists; E — sam build prepares artifacts but validates nothing. Read the tell strip aloud -- pairing a phrase with what it signals is the transferable skill, not memorizing the service name.</a:t>
            </a:r>
          </a:p>
          <a:p>
            <a:endParaRPr/>
          </a:p>
          <a:p>
            <a:pPr>
              <a:spcAft>
                <a:spcPts val="600"/>
              </a:spcAft>
            </a:pPr>
            <a:r>
              <a:t>EXAM RELEVANCE: Domain 3: Testing and Deployment. Difficulty: Medium. The pattern to teach: a scenario question rarely offers three absurd options. It offers ones that match a nearby requirement and one (or two) that match the requirement exactly. Here the discriminator is “test the API locally before deploying”, which points at Local testing plus template checking is two separate SAM CLI commands, not one. Encourage the room to name the phrase before naming the service.</a:t>
            </a:r>
          </a:p>
          <a:p>
            <a:endParaRPr/>
          </a:p>
          <a:p>
            <a:pPr>
              <a:spcAft>
                <a:spcPts val="600"/>
              </a:spcAft>
            </a:pPr>
            <a:r>
              <a:t>PARTNER CONTEXT: A partner iterating on a serverless API wants the feedback loop off the cloud. Validating the template catches a malformed resource before any deploy, and a local API server lets them exercise the function over HTTP on their own machine. Worth saying out loud that this is a select-two question because the two needs in the stem -- validate, and test locally -- are answered by different commands.</a:t>
            </a:r>
          </a:p>
          <a:p>
            <a:endParaRPr/>
          </a:p>
          <a:p>
            <a:pPr>
              <a:spcAft>
                <a:spcPts val="600"/>
              </a:spcAft>
            </a:pPr>
            <a:r>
              <a:t>SOURCE: https://docs.aws.amazon.com/serverless-application-model/latest/developerguide/sam-cli-command-reference-sam-local-start-api.html</a:t>
            </a:r>
          </a:p>
          <a:p>
            <a:endParaRPr/>
          </a:p>
          <a:p>
            <a:pPr>
              <a:spcAft>
                <a:spcPts val="600"/>
              </a:spcAft>
            </a:pPr>
            <a:r>
              <a:t>Also verified against: https://docs.aws.amazon.com/serverless-application-model/latest/developerguide/sam-cli-command-reference-sam-validate.html  -- this question needs TWO commands, so it has two carrying pages; the slide cites the one holding the tell.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put question 5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3: Testing and Deployment. Difficulty: Medium. Watch the room: if most people have answered by 90 seconds, move on; if they are still reading, give another 20 seconds rather than rushing the discussion that follows.</a:t>
            </a:r>
          </a:p>
          <a:p>
            <a:endParaRPr/>
          </a:p>
          <a:p>
            <a:pPr>
              <a:spcAft>
                <a:spcPts val="600"/>
              </a:spcAft>
            </a:pPr>
            <a:r>
              <a:t>PARTNER CONTEXT: A partner releasing an order function wants a small slice of real traffic on the new version before committing, and an automatic reversal if an alarm fires during the shift. The configuration name itself carries the two numbers, which is the fastest way to read these options: a canary holds one step, a linear shift moves in equal increments, and all-at-once does neither.</a:t>
            </a:r>
          </a:p>
          <a:p>
            <a:endParaRPr/>
          </a:p>
          <a:p>
            <a:pPr>
              <a:spcAft>
                <a:spcPts val="600"/>
              </a:spcAft>
            </a:pPr>
            <a:r>
              <a:t>EXAM MAPPING: Domain 3: Testing and Deployment.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“hold that split for 5 minutes”, and it tells you: A fixed percentage held for a fixed interval is a canary, not a linear shift.</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3: Testing and Deployment. Difficulty: Medium. Ask the room which words they underlined before you show them the tell, so they practise finding it rather than being handed it.</a:t>
            </a:r>
          </a:p>
          <a:p>
            <a:endParaRPr/>
          </a:p>
          <a:p>
            <a:pPr>
              <a:spcAft>
                <a:spcPts val="600"/>
              </a:spcAft>
            </a:pPr>
            <a:r>
              <a:t>PARTNER CONTEXT: A partner releasing an order function wants a small slice of real traffic on the new version before committing, and an automatic reversal if an alarm fires during the shift. The configuration name itself carries the two numbers, which is the fastest way to read these options: a canary holds one step, a linear shift moves in equal increments, and all-at-once does neither.</a:t>
            </a:r>
          </a:p>
          <a:p>
            <a:endParaRPr/>
          </a:p>
          <a:p>
            <a:pPr>
              <a:spcAft>
                <a:spcPts val="600"/>
              </a:spcAft>
            </a:pPr>
            <a:r>
              <a:t>EXAM MAPPING: Domain 3: Testing and Deployment.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ANSWER OVERVIEW: the answer is B. The canary configuration names both the percentage and the interval.</a:t>
            </a:r>
          </a:p>
          <a:p>
            <a:endParaRPr/>
          </a:p>
          <a:p>
            <a:pPr>
              <a:spcAft>
                <a:spcPts val="600"/>
              </a:spcAft>
            </a:pPr>
            <a:r>
              <a:t>A. CodeDeployDefault.LambdaCanary10Percent15Minutes — Incorrect — This configuration shifts 10 percent of traffic and then waits 15 minutes before shifting the remainder. The traffic split matches the requirement but the interval does not, so each release would hold the canary 10 minutes longer than specified.</a:t>
            </a:r>
          </a:p>
          <a:p>
            <a:endParaRPr/>
          </a:p>
          <a:p>
            <a:pPr>
              <a:spcAft>
                <a:spcPts val="600"/>
              </a:spcAft>
            </a:pPr>
            <a:r>
              <a:t>B. CodeDeployDefault.LambdaCanary10Percent5Minutes — Correct — A canary configuration shifts a fixed percentage of traffic, holds it for a set interval, and then shifts everything that remains. This configuration sends 10 percent of traffic to the new version for 5 minutes and then completes the shift, which matches the requirement. CodeDeploy rolls the deployment back automatically when a configured CloudWatch alarm enters the ALARM state. Percentage-based traffic shifting is available on the Lambda and Amazon ECS compute platforms.</a:t>
            </a:r>
          </a:p>
          <a:p>
            <a:endParaRPr/>
          </a:p>
          <a:p>
            <a:pPr>
              <a:spcAft>
                <a:spcPts val="600"/>
              </a:spcAft>
            </a:pPr>
            <a:r>
              <a:t>C. CodeDeployDefault.LambdaLinear10PercentEvery1Minute — Incorrect — A linear configuration moves traffic in equal increments instead of holding a single canary split. This shifts 10 percent every minute across ten steps, so traffic never rests at 10 percent for 5 minutes before the full shift.</a:t>
            </a:r>
          </a:p>
          <a:p>
            <a:endParaRPr/>
          </a:p>
          <a:p>
            <a:pPr>
              <a:spcAft>
                <a:spcPts val="600"/>
              </a:spcAft>
            </a:pPr>
            <a:r>
              <a:t>D. CodeDeployDefault.LambdaLinear10PercentEvery3Minutes — Incorrect — This configuration also moves traffic in equal 10 percent increments, three minutes apart. It produces a gradual rollout across thirty minutes rather than the 10 percent canary followed by a single full shift that the requirement describes.</a:t>
            </a:r>
          </a:p>
          <a:p>
            <a:endParaRPr/>
          </a:p>
          <a:p>
            <a:pPr>
              <a:spcAft>
                <a:spcPts val="600"/>
              </a:spcAft>
            </a:pPr>
            <a:r>
              <a:t>EXAM RELEVANCE: Domain 3: Testing and Deployment. Difficulty: Medium.</a:t>
            </a:r>
          </a:p>
          <a:p>
            <a:endParaRPr/>
          </a:p>
          <a:p>
            <a:pPr>
              <a:spcAft>
                <a:spcPts val="600"/>
              </a:spcAft>
            </a:pPr>
            <a:r>
              <a:t>SOURCE: https://docs.aws.amazon.com/codedeploy/latest/userguide/deployment-configurations.html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elimination, made visible. B win because the canary configuration names both the percentage and the interval. The others are ruled out for one reason each: A — The right canary split, but it waits fifteen minutes not five; C — Linear shifts in steps, so traffic never holds at 10 percent; D — Also linear -- a gradual ramp rather than a canary that holds. Read the tell strip aloud -- pairing a phrase with what it signals is the transferable skill, not memorizing the service name.</a:t>
            </a:r>
          </a:p>
          <a:p>
            <a:endParaRPr/>
          </a:p>
          <a:p>
            <a:pPr>
              <a:spcAft>
                <a:spcPts val="600"/>
              </a:spcAft>
            </a:pPr>
            <a:r>
              <a:t>EXAM RELEVANCE: Domain 3: Testing and Deployment. Difficulty: Medium. The pattern to teach: a scenario question rarely offers three absurd options. It offers ones that match a nearby requirement and one (or two) that match the requirement exactly. Here the discriminator is “hold that split for 5 minutes”, which points at A fixed percentage held for a fixed interval is a canary, not a linear shift. Encourage the room to name the phrase before naming the service.</a:t>
            </a:r>
          </a:p>
          <a:p>
            <a:endParaRPr/>
          </a:p>
          <a:p>
            <a:pPr>
              <a:spcAft>
                <a:spcPts val="600"/>
              </a:spcAft>
            </a:pPr>
            <a:r>
              <a:t>PARTNER CONTEXT: A partner releasing an order function wants a small slice of real traffic on the new version before committing, and an automatic reversal if an alarm fires during the shift. The configuration name itself carries the two numbers, which is the fastest way to read these options: a canary holds one step, a linear shift moves in equal increments, and all-at-once does neither.</a:t>
            </a:r>
          </a:p>
          <a:p>
            <a:endParaRPr/>
          </a:p>
          <a:p>
            <a:pPr>
              <a:spcAft>
                <a:spcPts val="600"/>
              </a:spcAft>
            </a:pPr>
            <a:r>
              <a:t>SOURCE: https://docs.aws.amazon.com/codedeploy/latest/userguide/deployment-configurations.html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put question 6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3: Testing and Deployment. Difficulty: Medium. Watch the room: if most people have answered by 90 seconds, move on; if they are still reading, give another 20 seconds rather than rushing the discussion that follows.</a:t>
            </a:r>
          </a:p>
          <a:p>
            <a:endParaRPr/>
          </a:p>
          <a:p>
            <a:pPr>
              <a:spcAft>
                <a:spcPts val="600"/>
              </a:spcAft>
            </a:pPr>
            <a:r>
              <a:t>PARTNER CONTEXT: A partner's team adds functions faster than it adds tests, and asking people to remember a step has already failed. A hook attaches the work to the event, so the tests follow the change rather than depending on anyone starting a task. That is the distinction to draw against a spec or a steering file, which describe how work should be done but do not fire on their own.</a:t>
            </a:r>
          </a:p>
          <a:p>
            <a:endParaRPr/>
          </a:p>
          <a:p>
            <a:pPr>
              <a:spcAft>
                <a:spcPts val="600"/>
              </a:spcAft>
            </a:pPr>
            <a:r>
              <a:t>EXAM MAPPING: Domain 3: Testing and Deployment.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“without requiring the developer to start the task”, and it tells you: Work that must start on an event rather than a prompt points at a hook.</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3: Testing and Deployment. Difficulty: Medium. Ask the room which words they underlined before you show them the tell, so they practise finding it rather than being handed it.</a:t>
            </a:r>
          </a:p>
          <a:p>
            <a:endParaRPr/>
          </a:p>
          <a:p>
            <a:pPr>
              <a:spcAft>
                <a:spcPts val="600"/>
              </a:spcAft>
            </a:pPr>
            <a:r>
              <a:t>PARTNER CONTEXT: A partner's team adds functions faster than it adds tests, and asking people to remember a step has already failed. A hook attaches the work to the event, so the tests follow the change rather than depending on anyone starting a task. That is the distinction to draw against a spec or a steering file, which describe how work should be done but do not fire on their own.</a:t>
            </a:r>
          </a:p>
          <a:p>
            <a:endParaRPr/>
          </a:p>
          <a:p>
            <a:pPr>
              <a:spcAft>
                <a:spcPts val="600"/>
              </a:spcAft>
            </a:pPr>
            <a:r>
              <a:t>EXAM MAPPING: Domain 3: Testing and Deployment.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ANSWER OVERVIEW: the answer is D. A hook runs an agent task automatically on a file-save event.</a:t>
            </a:r>
          </a:p>
          <a:p>
            <a:endParaRPr/>
          </a:p>
          <a:p>
            <a:pPr>
              <a:spcAft>
                <a:spcPts val="600"/>
              </a:spcAft>
            </a:pPr>
            <a:r>
              <a:t>A. Configure a steering file that directs the agent to generate unit tests for every function. — Incorrect — A steering file records conventions that shape generated output, but it does not run on an event. Nothing would generate the tests when a developer saves a file, so coverage would still depend on someone asking for the tests.</a:t>
            </a:r>
          </a:p>
          <a:p>
            <a:endParaRPr/>
          </a:p>
          <a:p>
            <a:pPr>
              <a:spcAft>
                <a:spcPts val="600"/>
              </a:spcAft>
            </a:pPr>
            <a:r>
              <a:t>B. Ask the agent in a chat session to generate unit tests for the changed files each day. — Incorrect — A chat request is started by a developer, so it is the manual step the company wants to remove. Work that is saved between requests stays untested until someone remembers to ask.</a:t>
            </a:r>
          </a:p>
          <a:p>
            <a:endParaRPr/>
          </a:p>
          <a:p>
            <a:pPr>
              <a:spcAft>
                <a:spcPts val="600"/>
              </a:spcAft>
            </a:pPr>
            <a:r>
              <a:t>C. Create a spec with a task for unit test generation and run the spec before each code review. — Incorrect — A spec organizes planned work into requirements, design, and tasks, and a developer runs it. It is not triggered by a file save, so tests would be generated only at review time rather than on every change.</a:t>
            </a:r>
          </a:p>
          <a:p>
            <a:endParaRPr/>
          </a:p>
          <a:p>
            <a:pPr>
              <a:spcAft>
                <a:spcPts val="600"/>
              </a:spcAft>
            </a:pPr>
            <a:r>
              <a:t>D. Configure a hook that triggers on file save and runs an agent task to generate the unit tests. — Correct — Hooks run an agent task automatically when a chosen event occurs, and a file save is one of the supported triggers. Generating the unit tests from the save event meets both requirements, because the tests follow every change and the developer does not start the task.</a:t>
            </a:r>
          </a:p>
          <a:p>
            <a:endParaRPr/>
          </a:p>
          <a:p>
            <a:pPr>
              <a:spcAft>
                <a:spcPts val="600"/>
              </a:spcAft>
            </a:pPr>
            <a:r>
              <a:t>EXAM RELEVANCE: Domain 3: Testing and Deployment. Difficulty: Medium.</a:t>
            </a:r>
          </a:p>
          <a:p>
            <a:endParaRPr/>
          </a:p>
          <a:p>
            <a:pPr>
              <a:spcAft>
                <a:spcPts val="600"/>
              </a:spcAft>
            </a:pPr>
            <a:r>
              <a:t>SOURCE: https://kiro.dev/docs/hooks/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elimination, made visible. D win because a hook runs an agent task automatically on a file-save event. The others are ruled out for one reason each: A — A steering file shapes generated output but runs on no event; B — A chat request is the manual step being removed; C — A developer runs a spec; a file save does not. Read the tell strip aloud -- pairing a phrase with what it signals is the transferable skill, not memorizing the service name.</a:t>
            </a:r>
          </a:p>
          <a:p>
            <a:endParaRPr/>
          </a:p>
          <a:p>
            <a:pPr>
              <a:spcAft>
                <a:spcPts val="600"/>
              </a:spcAft>
            </a:pPr>
            <a:r>
              <a:t>EXAM RELEVANCE: Domain 3: Testing and Deployment. Difficulty: Medium. The pattern to teach: a scenario question rarely offers three absurd options. It offers ones that match a nearby requirement and one (or two) that match the requirement exactly. Here the discriminator is “without requiring the developer to start the task”, which points at Work that must start on an event rather than a prompt points at a hook. Encourage the room to name the phrase before naming the service.</a:t>
            </a:r>
          </a:p>
          <a:p>
            <a:endParaRPr/>
          </a:p>
          <a:p>
            <a:pPr>
              <a:spcAft>
                <a:spcPts val="600"/>
              </a:spcAft>
            </a:pPr>
            <a:r>
              <a:t>PARTNER CONTEXT: A partner's team adds functions faster than it adds tests, and asking people to remember a step has already failed. A hook attaches the work to the event, so the tests follow the change rather than depending on anyone starting a task. That is the distinction to draw against a spec or a steering file, which describe how work should be done but do not fire on their own.</a:t>
            </a:r>
          </a:p>
          <a:p>
            <a:endParaRPr/>
          </a:p>
          <a:p>
            <a:pPr>
              <a:spcAft>
                <a:spcPts val="600"/>
              </a:spcAft>
            </a:pPr>
            <a:r>
              <a:t>SOURCE: https://kiro.dev/docs/hooks/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put question 7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3: Testing and Deployment. Difficulty: Medium. Watch the room: if most people have answered by 90 seconds, move on; if they are still reading, give another 20 seconds rather than rushing the discussion that follows.</a:t>
            </a:r>
          </a:p>
          <a:p>
            <a:endParaRPr/>
          </a:p>
          <a:p>
            <a:pPr>
              <a:spcAft>
                <a:spcPts val="600"/>
              </a:spcAft>
            </a:pPr>
            <a:r>
              <a:t>PARTNER CONTEXT: A partner promotes to production after someone reads the logs by hand, which makes the release wait on a person and go unrecorded. Running the agent non-interactively inside a pipeline stage performs the same checks and returns an exit code, so a failure stops the promotion by itself. The pipeline, not a reviewer, becomes the thing that holds the release.</a:t>
            </a:r>
          </a:p>
          <a:p>
            <a:endParaRPr/>
          </a:p>
          <a:p>
            <a:pPr>
              <a:spcAft>
                <a:spcPts val="600"/>
              </a:spcAft>
            </a:pPr>
            <a:r>
              <a:t>EXAM MAPPING: Domain 3: Testing and Deployment.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“stop the promotion automatically when a check does not pass”, and it tells you: Automated validation inside a pipeline needs a non-interactive run and an exit code.</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3: Testing and Deployment. Difficulty: Medium. Ask the room which words they underlined before you show them the tell, so they practise finding it rather than being handed it.</a:t>
            </a:r>
          </a:p>
          <a:p>
            <a:endParaRPr/>
          </a:p>
          <a:p>
            <a:pPr>
              <a:spcAft>
                <a:spcPts val="600"/>
              </a:spcAft>
            </a:pPr>
            <a:r>
              <a:t>PARTNER CONTEXT: A partner promotes to production after someone reads the logs by hand, which makes the release wait on a person and go unrecorded. Running the agent non-interactively inside a pipeline stage performs the same checks and returns an exit code, so a failure stops the promotion by itself. The pipeline, not a reviewer, becomes the thing that holds the release.</a:t>
            </a:r>
          </a:p>
          <a:p>
            <a:endParaRPr/>
          </a:p>
          <a:p>
            <a:pPr>
              <a:spcAft>
                <a:spcPts val="600"/>
              </a:spcAft>
            </a:pPr>
            <a:r>
              <a:t>EXAM MAPPING: Domain 3: Testing and Deployment.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ANSWER OVERVIEW: the answer is B. Headless mode runs with no session and fails the stage on a non-zero exit.</a:t>
            </a:r>
          </a:p>
          <a:p>
            <a:endParaRPr/>
          </a:p>
          <a:p>
            <a:pPr>
              <a:spcAft>
                <a:spcPts val="600"/>
              </a:spcAft>
            </a:pPr>
            <a:r>
              <a:t>A. Add a manual approval action to the pipeline so that a developer confirms the checks first. — Incorrect — A manual approval action still depends on a person reviewing the logs and deciding, which is the work the company is automating. It also cannot fail the pipeline based on the outcome of a check.</a:t>
            </a:r>
          </a:p>
          <a:p>
            <a:endParaRPr/>
          </a:p>
          <a:p>
            <a:pPr>
              <a:spcAft>
                <a:spcPts val="600"/>
              </a:spcAft>
            </a:pPr>
            <a:r>
              <a:t>B. Add a pipeline stage that runs the agent in headless mode and returns a non-zero exit code on failure. — Correct — Headless mode runs the agent from the command line with no interactive session, which is the supported way to use it inside a pipeline. The stage performs the validation checks and returns an exit code, and a non-zero code fails the stage so the promotion stops without a person reviewing the logs.</a:t>
            </a:r>
          </a:p>
          <a:p>
            <a:endParaRPr/>
          </a:p>
          <a:p>
            <a:pPr>
              <a:spcAft>
                <a:spcPts val="600"/>
              </a:spcAft>
            </a:pPr>
            <a:r>
              <a:t>C. Install the agent's integrated development environment on the build host and script its interface. — Incorrect — The integrated development environment is built for interactive use and is not intended to be driven by a script on a build host. Headless mode exists for automated environments, so this adds fragility without meeting the requirement.</a:t>
            </a:r>
          </a:p>
          <a:p>
            <a:endParaRPr/>
          </a:p>
          <a:p>
            <a:pPr>
              <a:spcAft>
                <a:spcPts val="600"/>
              </a:spcAft>
            </a:pPr>
            <a:r>
              <a:t>D. Add a pipeline stage that publishes the application logs to a notification topic for review. — Incorrect — Publishing the logs to a notification topic delivers them to subscribers but performs no validation. A person still evaluates the checks, and the pipeline cannot stop the promotion on a failed check.</a:t>
            </a:r>
          </a:p>
          <a:p>
            <a:endParaRPr/>
          </a:p>
          <a:p>
            <a:pPr>
              <a:spcAft>
                <a:spcPts val="600"/>
              </a:spcAft>
            </a:pPr>
            <a:r>
              <a:t>EXAM RELEVANCE: Domain 3: Testing and Deployment. Difficulty: Medium.</a:t>
            </a:r>
          </a:p>
          <a:p>
            <a:endParaRPr/>
          </a:p>
          <a:p>
            <a:pPr>
              <a:spcAft>
                <a:spcPts val="600"/>
              </a:spcAft>
            </a:pPr>
            <a:r>
              <a:t>SOURCE: https://kiro.dev/docs/cli/headless/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elimination, made visible. B win because headless mode runs with no session and fails the stage on a non-zero exit. The others are ruled out for one reason each: A — Manual approval keeps the person the company is automating away; C — The IDE is interactive; headless mode exists for build hosts; D — Publishing logs notifies people but validates nothing. Read the tell strip aloud -- pairing a phrase with what it signals is the transferable skill, not memorizing the service name.</a:t>
            </a:r>
          </a:p>
          <a:p>
            <a:endParaRPr/>
          </a:p>
          <a:p>
            <a:pPr>
              <a:spcAft>
                <a:spcPts val="600"/>
              </a:spcAft>
            </a:pPr>
            <a:r>
              <a:t>EXAM RELEVANCE: Domain 3: Testing and Deployment. Difficulty: Medium. The pattern to teach: a scenario question rarely offers three absurd options. It offers ones that match a nearby requirement and one (or two) that match the requirement exactly. Here the discriminator is “stop the promotion automatically when a check does not pass”, which points at Automated validation inside a pipeline needs a non-interactive run and an exit code. Encourage the room to name the phrase before naming the service.</a:t>
            </a:r>
          </a:p>
          <a:p>
            <a:endParaRPr/>
          </a:p>
          <a:p>
            <a:pPr>
              <a:spcAft>
                <a:spcPts val="600"/>
              </a:spcAft>
            </a:pPr>
            <a:r>
              <a:t>PARTNER CONTEXT: A partner promotes to production after someone reads the logs by hand, which makes the release wait on a person and go unrecorded. Running the agent non-interactively inside a pipeline stage performs the same checks and returns an exit code, so a failure stops the promotion by itself. The pipeline, not a reviewer, becomes the thing that holds the release.</a:t>
            </a:r>
          </a:p>
          <a:p>
            <a:endParaRPr/>
          </a:p>
          <a:p>
            <a:pPr>
              <a:spcAft>
                <a:spcPts val="600"/>
              </a:spcAft>
            </a:pPr>
            <a:r>
              <a:t>SOURCE: https://kiro.dev/docs/cli/headless/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A preview of next week's training so people can get a head start whenever they are ready. The left card is the free Learning Plan; the right card is the optional Exam Prep Plan a subscriber can add.</a:t>
            </a:r>
          </a:p>
          <a:p>
            <a:endParaRPr/>
          </a:p>
          <a:p>
            <a:pPr>
              <a:spcAft>
                <a:spcPts val="600"/>
              </a:spcAft>
            </a:pPr>
            <a:r>
              <a:t>FACILITATOR: Keep this light -- it is a look ahead, not an assignment for today. Week 5 is the final week of digital training, and its shape is different from this one: four of the seven courses are troubleshooting titles, which is where the C03 weighting rose the most.</a:t>
            </a:r>
          </a:p>
          <a:p>
            <a:endParaRPr/>
          </a:p>
          <a:p>
            <a:pPr>
              <a:spcAft>
                <a:spcPts val="600"/>
              </a:spcAft>
            </a:pPr>
            <a:r>
              <a:t>Point out that the practice question set and the practice exam both sit in week 5, so anyone pacing themselves should leave room for them rather than saving them for the last evening.</a:t>
            </a:r>
          </a:p>
          <a:p>
            <a:endParaRPr/>
          </a:p>
          <a:p>
            <a:pPr>
              <a:spcAft>
                <a:spcPts val="600"/>
              </a:spcAft>
            </a:pPr>
            <a:r>
              <a:t>Note: these are the course titles as they appear in Skill Builder, including the one that still says DVA-C02, because that is the live exam. The appendix at the end of this deck explains the C02 to C03 difference for anyone who needs it.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Open the floor. This is the natural place for the deployment questions people have been holding, and the ones worth drawing out are about choosing between the services rather than about any one of them.</a:t>
            </a:r>
          </a:p>
          <a:p>
            <a:endParaRPr/>
          </a:p>
          <a:p>
            <a:pPr>
              <a:spcAft>
                <a:spcPts val="600"/>
              </a:spcAft>
            </a:pPr>
            <a:r>
              <a:t>If the room is quiet, the how-to-choose slide is the best prompt -- ask which row they would have got wrong before today.</a:t>
            </a:r>
          </a:p>
          <a:p>
            <a:endParaRPr/>
          </a:p>
          <a:p>
            <a:pPr>
              <a:spcAft>
                <a:spcPts val="600"/>
              </a:spcAft>
            </a:pPr>
            <a:r>
              <a:t>Two questions come up most often in this session. The first is whether CDK replaces CloudFormation, and the answer is that it synthesizes to it. The second is whether a database belongs inside an Elastic Beanstalk environment, and the answer is no, because it shares the environment's lifecycle.</a:t>
            </a:r>
          </a:p>
          <a:p>
            <a:endParaRPr/>
          </a:p>
          <a:p>
            <a:pPr>
              <a:spcAft>
                <a:spcPts val="600"/>
              </a:spcAft>
            </a:pPr>
            <a:r>
              <a:t>If a question needs a source rather than an answer, the appendix and the citation rows on each slide are where to send them.</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Close by naming what the session covered and what comes next, so the arc is explicit rather than implied.</a:t>
            </a:r>
          </a:p>
          <a:p>
            <a:endParaRPr/>
          </a:p>
          <a:p>
            <a:pPr>
              <a:spcAft>
                <a:spcPts val="600"/>
              </a:spcAft>
            </a:pPr>
            <a:r>
              <a:t>This week was testing and deployment: the pipeline services, the infrastructure as code surfaces, and deploying to containers. Week 5 is the final week, and it turns to troubleshooting and optimization.</a:t>
            </a:r>
          </a:p>
          <a:p>
            <a:endParaRPr/>
          </a:p>
          <a:p>
            <a:pPr>
              <a:spcAft>
                <a:spcPts val="600"/>
              </a:spcAft>
            </a:pPr>
            <a:r>
              <a:t>Remind the room that the week-5 digital training is previewed two slides back, and that the practice exam sits in it.</a:t>
            </a:r>
          </a:p>
          <a:p>
            <a:endParaRPr/>
          </a:p>
          <a:p>
            <a:pPr>
              <a:spcAft>
                <a:spcPts val="600"/>
              </a:spcAft>
            </a:pPr>
            <a:r>
              <a:t>Thank them for the questions specifically, not just for attending -- the discussion is what makes the live session worth more than the recording.</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APPENDIX: divider. This block is self-study reference for anyone who plans to sit DVA-C02 rather than C03. It is not taught in the session -- point the room at it and move on. The three appendix slides sit together at the end of the deck by design.</a:t>
            </a:r>
          </a:p>
          <a:p>
            <a:endParaRPr/>
          </a:p>
          <a:p>
            <a:pPr>
              <a:spcAft>
                <a:spcPts val="600"/>
              </a:spcAft>
            </a:pPr>
            <a:r>
              <a:t>WHAT'S HERE: The session decks are built for DVA-C03. This appendix collects what a C02 candidate needs that the C03 body does not spell out: how the exam guide's weightings shifted, and what changed for this week's topics.</a:t>
            </a:r>
          </a:p>
          <a:p>
            <a:endParaRPr/>
          </a:p>
          <a:p>
            <a:pPr>
              <a:spcAft>
                <a:spcPts val="600"/>
              </a:spcAft>
            </a:pPr>
            <a:r>
              <a:t>EXAM RELEVANCE: Week 4 is the week where the domain itself is renamed. C02 calls this domain Deployment; C03 calls it Testing and Deployment, and the testing skills consolidate. So a C02 candidate reading a C03 deck needs to know the domain boundary moved, not just the percentages.</a:t>
            </a:r>
          </a:p>
          <a:p>
            <a:endParaRPr/>
          </a:p>
          <a:p>
            <a:pPr>
              <a:spcAft>
                <a:spcPts val="600"/>
              </a:spcAft>
            </a:pPr>
            <a:r>
              <a:t>REFERENCE: The C02 figures come from the DVA-C02 exam guide; the C03 figures come from the September 2026 certification updates blog. Both are linked from the delta slides that follow. EXAM MAPPING: DVA-C02 to DVA-C03 comparison.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APPENDIX: week-4 delta table. Walk the left column first: the four domain weightings barely move. Development eases from 32% to 30%, Security holds at 26%, Testing and Deployment eases from 24% to 22%, and Troubleshooting and Optimization rises from 18% to 22% -- the largest single shift.</a:t>
            </a:r>
          </a:p>
          <a:p>
            <a:endParaRPr/>
          </a:p>
          <a:p>
            <a:pPr>
              <a:spcAft>
                <a:spcPts val="600"/>
              </a:spcAft>
            </a:pPr>
            <a:r>
              <a:t>WHAT'S HERE: The right column is week 4's story, and the rename is the headline. C02 called this domain Deployment; C03 calls it Testing and Deployment. The testing skills consolidate hard: C02 spread eleven skills across two tasks -- test applications and automate testing -- and C03 folds both into a single task of five.</a:t>
            </a:r>
          </a:p>
          <a:p>
            <a:endParaRPr/>
          </a:p>
          <a:p>
            <a:pPr>
              <a:spcAft>
                <a:spcPts val="600"/>
              </a:spcAft>
            </a:pPr>
            <a:r>
              <a:t>Nothing else about week 4 is documented publicly.</a:t>
            </a:r>
          </a:p>
          <a:p>
            <a:endParaRPr/>
          </a:p>
          <a:p>
            <a:pPr>
              <a:spcAft>
                <a:spcPts val="600"/>
              </a:spcAft>
            </a:pPr>
            <a:r>
              <a:t>EXAM RELEVANCE: The services taught this week are on both exams. What changes is the domain's name, the testing granularity, and the arrival of container orchestration deployment as an explicit skill. A C02 candidate should read the domain as Deployment and expect testing to be examined across two tasks rather than one.</a:t>
            </a:r>
          </a:p>
          <a:p>
            <a:endParaRPr/>
          </a:p>
          <a:p>
            <a:pPr>
              <a:spcAft>
                <a:spcPts val="600"/>
              </a:spcAft>
            </a:pPr>
            <a:r>
              <a:t>REFERENCE: C02 weightings and domains are from the DVA-C02 exam guide at docs.aws.amazon.com/aws-certification/latest/developer-associate-02/; the C03 rename and consolidation are quoted from the September 2026 certification updates blog, linked on this slide. EXAM MAPPING: Domain 3 rename and testing consolidation.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APPENDIX: C02 reference. For a candidate sitting C02 rather than C03, the left column is what this session covers that their exam does not. Unlike week 3, that column is not empty -- week 4 is where C03 adds real skills.</a:t>
            </a:r>
          </a:p>
          <a:p>
            <a:endParaRPr dirty="0"/>
          </a:p>
          <a:p>
            <a:pPr>
              <a:spcAft>
                <a:spcPts val="600"/>
              </a:spcAft>
            </a:pPr>
            <a:r>
              <a:rPr dirty="0"/>
              <a:t>WHAT'S HERE: Three skills are C03-only. Two of them are the AI additions: using AWS AI tools to generate tests, and using them to support CI/CD workflows. The third is deploying containerized applications through the container orchestration services, which C02 did not examine as a deployment skill.</a:t>
            </a:r>
          </a:p>
          <a:p>
            <a:endParaRPr dirty="0"/>
          </a:p>
          <a:p>
            <a:pPr>
              <a:spcAft>
                <a:spcPts val="600"/>
              </a:spcAft>
            </a:pPr>
            <a:r>
              <a:rPr dirty="0"/>
              <a:t>The right column is the larger part, and it is the reassuring one. Everything a C02 candidate needs from this week's body is on both exams -- the pipeline services, the infrastructure as code templates, the deployment strategies, and the container image tags used for integration testing.</a:t>
            </a:r>
          </a:p>
          <a:p>
            <a:endParaRPr dirty="0"/>
          </a:p>
          <a:p>
            <a:pPr>
              <a:spcAft>
                <a:spcPts val="600"/>
              </a:spcAft>
            </a:pPr>
            <a:r>
              <a:rPr dirty="0"/>
              <a:t>FACILITATOR: If someone asks whether to sit C02 or C03, this is the slide to point at rather than answering from memory. The domains are named here on purpose, because AWS has published the C03 additions by domain and not yet by task.</a:t>
            </a:r>
          </a:p>
          <a:p>
            <a:endParaRPr dirty="0"/>
          </a:p>
          <a:p>
            <a:pPr>
              <a:spcAft>
                <a:spcPts val="600"/>
              </a:spcAft>
            </a:pPr>
            <a:r>
              <a:rPr dirty="0"/>
              <a:t>REFERENCE: The C02 task list is from the DVA-C02 exam guide linked on this slide; the three C03-only additions are from the September 2026 certification updates blog, which states them by domain rather than by task. EXAM MAPPING: Domain 3 additions.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DECE4897-D006-04E8-2681-7867EB4BFAE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1" name="Subtitle 2">
            <a:extLst>
              <a:ext uri="{FF2B5EF4-FFF2-40B4-BE49-F238E27FC236}">
                <a16:creationId xmlns:a16="http://schemas.microsoft.com/office/drawing/2014/main" id="{017B680B-B713-4DE0-ECDB-C55919E29177}"/>
              </a:ext>
            </a:extLst>
          </p:cNvPr>
          <p:cNvSpPr>
            <a:spLocks noGrp="1"/>
          </p:cNvSpPr>
          <p:nvPr>
            <p:ph type="subTitle" idx="1" hasCustomPrompt="1"/>
          </p:nvPr>
        </p:nvSpPr>
        <p:spPr>
          <a:xfrm>
            <a:off x="444858" y="2580462"/>
            <a:ext cx="8274329" cy="258532"/>
          </a:xfrm>
        </p:spPr>
        <p:txBody>
          <a:bodyPr/>
          <a:lstStyle>
            <a:lvl1pPr marL="0" indent="0" algn="l">
              <a:buNone/>
              <a:defRPr sz="1200" b="1" cap="all" spc="300" baseline="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Episode Number</a:t>
            </a:r>
          </a:p>
        </p:txBody>
      </p:sp>
      <p:sp>
        <p:nvSpPr>
          <p:cNvPr id="32" name="Title 7">
            <a:extLst>
              <a:ext uri="{FF2B5EF4-FFF2-40B4-BE49-F238E27FC236}">
                <a16:creationId xmlns:a16="http://schemas.microsoft.com/office/drawing/2014/main" id="{726B64B0-D96B-3DF8-6454-63BF2A121926}"/>
              </a:ext>
            </a:extLst>
          </p:cNvPr>
          <p:cNvSpPr>
            <a:spLocks noGrp="1"/>
          </p:cNvSpPr>
          <p:nvPr>
            <p:ph type="title" hasCustomPrompt="1"/>
          </p:nvPr>
        </p:nvSpPr>
        <p:spPr>
          <a:xfrm>
            <a:off x="444858" y="2838994"/>
            <a:ext cx="8274329" cy="1018123"/>
          </a:xfrm>
        </p:spPr>
        <p:txBody>
          <a:bodyPr tIns="146304" bIns="146304"/>
          <a:lstStyle>
            <a:lvl1pPr>
              <a:defRPr sz="4400">
                <a:solidFill>
                  <a:schemeClr val="bg1"/>
                </a:solidFill>
              </a:defRPr>
            </a:lvl1pPr>
          </a:lstStyle>
          <a:p>
            <a:r>
              <a:rPr lang="en-US" dirty="0"/>
              <a:t>Episode Title</a:t>
            </a:r>
          </a:p>
        </p:txBody>
      </p:sp>
      <p:sp>
        <p:nvSpPr>
          <p:cNvPr id="33" name="Text Placeholder 11">
            <a:extLst>
              <a:ext uri="{FF2B5EF4-FFF2-40B4-BE49-F238E27FC236}">
                <a16:creationId xmlns:a16="http://schemas.microsoft.com/office/drawing/2014/main" id="{07A5623B-633C-9CC5-4899-4613B3CBE79D}"/>
              </a:ext>
            </a:extLst>
          </p:cNvPr>
          <p:cNvSpPr>
            <a:spLocks noGrp="1"/>
          </p:cNvSpPr>
          <p:nvPr>
            <p:ph type="body" sz="quarter" idx="10" hasCustomPrompt="1"/>
          </p:nvPr>
        </p:nvSpPr>
        <p:spPr>
          <a:xfrm>
            <a:off x="1836487" y="4414358"/>
            <a:ext cx="2100871"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4" name="Text Placeholder 13">
            <a:extLst>
              <a:ext uri="{FF2B5EF4-FFF2-40B4-BE49-F238E27FC236}">
                <a16:creationId xmlns:a16="http://schemas.microsoft.com/office/drawing/2014/main" id="{1DC750B3-F3E1-D955-C00F-73CB87616E13}"/>
              </a:ext>
            </a:extLst>
          </p:cNvPr>
          <p:cNvSpPr>
            <a:spLocks noGrp="1"/>
          </p:cNvSpPr>
          <p:nvPr>
            <p:ph type="body" sz="quarter" idx="11" hasCustomPrompt="1"/>
          </p:nvPr>
        </p:nvSpPr>
        <p:spPr>
          <a:xfrm>
            <a:off x="444858" y="1873037"/>
            <a:ext cx="3492500" cy="23586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35" name="Text Placeholder 15">
            <a:extLst>
              <a:ext uri="{FF2B5EF4-FFF2-40B4-BE49-F238E27FC236}">
                <a16:creationId xmlns:a16="http://schemas.microsoft.com/office/drawing/2014/main" id="{DBDA1516-F788-DC01-7A21-C9D9451A0D77}"/>
              </a:ext>
            </a:extLst>
          </p:cNvPr>
          <p:cNvSpPr>
            <a:spLocks noGrp="1"/>
          </p:cNvSpPr>
          <p:nvPr>
            <p:ph type="body" sz="quarter" idx="12" hasCustomPrompt="1"/>
          </p:nvPr>
        </p:nvSpPr>
        <p:spPr>
          <a:xfrm>
            <a:off x="1836487" y="4788420"/>
            <a:ext cx="2100871"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6" name="Text Placeholder 11">
            <a:extLst>
              <a:ext uri="{FF2B5EF4-FFF2-40B4-BE49-F238E27FC236}">
                <a16:creationId xmlns:a16="http://schemas.microsoft.com/office/drawing/2014/main" id="{32F75F50-675B-63CD-A721-0046941BC384}"/>
              </a:ext>
            </a:extLst>
          </p:cNvPr>
          <p:cNvSpPr>
            <a:spLocks noGrp="1"/>
          </p:cNvSpPr>
          <p:nvPr>
            <p:ph type="body" sz="quarter" idx="13" hasCustomPrompt="1"/>
          </p:nvPr>
        </p:nvSpPr>
        <p:spPr>
          <a:xfrm>
            <a:off x="5437961" y="4416281"/>
            <a:ext cx="1888206"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7" name="Text Placeholder 15">
            <a:extLst>
              <a:ext uri="{FF2B5EF4-FFF2-40B4-BE49-F238E27FC236}">
                <a16:creationId xmlns:a16="http://schemas.microsoft.com/office/drawing/2014/main" id="{E627A98F-EE39-F4E2-6584-2735E36FB110}"/>
              </a:ext>
            </a:extLst>
          </p:cNvPr>
          <p:cNvSpPr>
            <a:spLocks noGrp="1"/>
          </p:cNvSpPr>
          <p:nvPr>
            <p:ph type="body" sz="quarter" idx="14" hasCustomPrompt="1"/>
          </p:nvPr>
        </p:nvSpPr>
        <p:spPr>
          <a:xfrm>
            <a:off x="5437961" y="4790343"/>
            <a:ext cx="1888206"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8" name="Text Placeholder 11">
            <a:extLst>
              <a:ext uri="{FF2B5EF4-FFF2-40B4-BE49-F238E27FC236}">
                <a16:creationId xmlns:a16="http://schemas.microsoft.com/office/drawing/2014/main" id="{7045F368-B0CB-CED2-AE2D-42268048BBE2}"/>
              </a:ext>
            </a:extLst>
          </p:cNvPr>
          <p:cNvSpPr>
            <a:spLocks noGrp="1"/>
          </p:cNvSpPr>
          <p:nvPr>
            <p:ph type="body" sz="quarter" idx="15" hasCustomPrompt="1"/>
          </p:nvPr>
        </p:nvSpPr>
        <p:spPr>
          <a:xfrm>
            <a:off x="8827920" y="4414358"/>
            <a:ext cx="2028829"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9" name="Text Placeholder 15">
            <a:extLst>
              <a:ext uri="{FF2B5EF4-FFF2-40B4-BE49-F238E27FC236}">
                <a16:creationId xmlns:a16="http://schemas.microsoft.com/office/drawing/2014/main" id="{19D42F3F-E95D-05DF-6564-67D9CFA0A192}"/>
              </a:ext>
            </a:extLst>
          </p:cNvPr>
          <p:cNvSpPr>
            <a:spLocks noGrp="1"/>
          </p:cNvSpPr>
          <p:nvPr>
            <p:ph type="body" sz="quarter" idx="16" hasCustomPrompt="1"/>
          </p:nvPr>
        </p:nvSpPr>
        <p:spPr>
          <a:xfrm>
            <a:off x="8827920" y="4788420"/>
            <a:ext cx="2028829"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40" name="Picture Placeholder 15">
            <a:extLst>
              <a:ext uri="{FF2B5EF4-FFF2-40B4-BE49-F238E27FC236}">
                <a16:creationId xmlns:a16="http://schemas.microsoft.com/office/drawing/2014/main" id="{F9CFA88C-3221-7272-FD28-9139A4266985}"/>
              </a:ext>
            </a:extLst>
          </p:cNvPr>
          <p:cNvSpPr>
            <a:spLocks noGrp="1"/>
          </p:cNvSpPr>
          <p:nvPr>
            <p:ph type="pic" sz="quarter" idx="17"/>
          </p:nvPr>
        </p:nvSpPr>
        <p:spPr>
          <a:xfrm>
            <a:off x="45651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41" name="Picture Placeholder 15">
            <a:extLst>
              <a:ext uri="{FF2B5EF4-FFF2-40B4-BE49-F238E27FC236}">
                <a16:creationId xmlns:a16="http://schemas.microsoft.com/office/drawing/2014/main" id="{080562CF-55EC-4675-D354-7620EDCBF08E}"/>
              </a:ext>
            </a:extLst>
          </p:cNvPr>
          <p:cNvSpPr>
            <a:spLocks noGrp="1"/>
          </p:cNvSpPr>
          <p:nvPr>
            <p:ph type="pic" sz="quarter" idx="18"/>
          </p:nvPr>
        </p:nvSpPr>
        <p:spPr>
          <a:xfrm>
            <a:off x="4044941"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42" name="Picture Placeholder 15">
            <a:extLst>
              <a:ext uri="{FF2B5EF4-FFF2-40B4-BE49-F238E27FC236}">
                <a16:creationId xmlns:a16="http://schemas.microsoft.com/office/drawing/2014/main" id="{9AB33088-FC29-9ECC-93A2-DE04E7DF5FB3}"/>
              </a:ext>
            </a:extLst>
          </p:cNvPr>
          <p:cNvSpPr>
            <a:spLocks noGrp="1"/>
          </p:cNvSpPr>
          <p:nvPr>
            <p:ph type="pic" sz="quarter" idx="19"/>
          </p:nvPr>
        </p:nvSpPr>
        <p:spPr>
          <a:xfrm>
            <a:off x="743490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Tree>
    <p:extLst>
      <p:ext uri="{BB962C8B-B14F-4D97-AF65-F5344CB8AC3E}">
        <p14:creationId xmlns:p14="http://schemas.microsoft.com/office/powerpoint/2010/main" val="157210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289AB8-60F4-E8B7-2CB5-44FCA28311C4}"/>
              </a:ext>
            </a:extLst>
          </p:cNvPr>
          <p:cNvSpPr>
            <a:spLocks noGrp="1"/>
          </p:cNvSpPr>
          <p:nvPr>
            <p:ph type="title" hasCustomPrompt="1"/>
          </p:nvPr>
        </p:nvSpPr>
        <p:spPr>
          <a:xfrm>
            <a:off x="304800" y="304800"/>
            <a:ext cx="11582400" cy="638175"/>
          </a:xfrm>
        </p:spPr>
        <p:txBody>
          <a:bodyPr/>
          <a:lstStyle>
            <a:lvl1pPr>
              <a:defRPr/>
            </a:lvl1pPr>
          </a:lstStyle>
          <a:p>
            <a:r>
              <a:rPr lang="en-US"/>
              <a:t>Title only layout</a:t>
            </a:r>
          </a:p>
        </p:txBody>
      </p:sp>
    </p:spTree>
    <p:extLst>
      <p:ext uri="{BB962C8B-B14F-4D97-AF65-F5344CB8AC3E}">
        <p14:creationId xmlns:p14="http://schemas.microsoft.com/office/powerpoint/2010/main" val="2807318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EC289-2488-596E-9697-016C13565121}"/>
              </a:ext>
            </a:extLst>
          </p:cNvPr>
          <p:cNvSpPr>
            <a:spLocks noGrp="1"/>
          </p:cNvSpPr>
          <p:nvPr>
            <p:ph type="title" hasCustomPrompt="1"/>
          </p:nvPr>
        </p:nvSpPr>
        <p:spPr>
          <a:xfrm>
            <a:off x="304800" y="304800"/>
            <a:ext cx="11582400" cy="638175"/>
          </a:xfrm>
        </p:spPr>
        <p:txBody>
          <a:bodyPr/>
          <a:lstStyle>
            <a:lvl1pPr>
              <a:defRPr/>
            </a:lvl1pPr>
          </a:lstStyle>
          <a:p>
            <a:r>
              <a:rPr lang="en-US"/>
              <a:t>Title and subtitle layout</a:t>
            </a:r>
          </a:p>
        </p:txBody>
      </p:sp>
      <p:sp>
        <p:nvSpPr>
          <p:cNvPr id="3" name="Text Placeholder 3">
            <a:extLst>
              <a:ext uri="{FF2B5EF4-FFF2-40B4-BE49-F238E27FC236}">
                <a16:creationId xmlns:a16="http://schemas.microsoft.com/office/drawing/2014/main" id="{F4181E47-DCB2-5ADB-B154-CE0C46918C9F}"/>
              </a:ext>
            </a:extLst>
          </p:cNvPr>
          <p:cNvSpPr>
            <a:spLocks noGrp="1"/>
          </p:cNvSpPr>
          <p:nvPr>
            <p:ph type="body" sz="quarter" idx="10" hasCustomPrompt="1"/>
          </p:nvPr>
        </p:nvSpPr>
        <p:spPr>
          <a:xfrm>
            <a:off x="304800" y="1000125"/>
            <a:ext cx="11582400" cy="276999"/>
          </a:xfrm>
        </p:spPr>
        <p:txBody>
          <a:bodyPr/>
          <a:lstStyle>
            <a:lvl1pPr marL="0" indent="0">
              <a:lnSpc>
                <a:spcPct val="100000"/>
              </a:lnSpc>
              <a:spcAft>
                <a:spcPts val="1200"/>
              </a:spcAft>
              <a:buNone/>
              <a:defRPr sz="1200" b="1" cap="all" spc="300" baseline="0">
                <a:solidFill>
                  <a:srgbClr val="232E3D"/>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Tree>
    <p:extLst>
      <p:ext uri="{BB962C8B-B14F-4D97-AF65-F5344CB8AC3E}">
        <p14:creationId xmlns:p14="http://schemas.microsoft.com/office/powerpoint/2010/main" val="890238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lvl1pPr>
          </a:lstStyle>
          <a:p>
            <a:r>
              <a:rPr lang="en-US"/>
              <a:t>Title and content layout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12053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lvl1pPr>
          </a:lstStyle>
          <a:p>
            <a:r>
              <a:rPr lang="en-US"/>
              <a:t>Title and content layout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20866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ark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1562C6-CADD-976D-3F2B-6564E0678DFC}"/>
              </a:ext>
            </a:extLst>
          </p:cNvPr>
          <p:cNvSpPr/>
          <p:nvPr userDrawn="1"/>
        </p:nvSpPr>
        <p:spPr>
          <a:xfrm>
            <a:off x="0" y="0"/>
            <a:ext cx="12192000" cy="6858000"/>
          </a:xfrm>
          <a:prstGeom prst="rect">
            <a:avLst/>
          </a:prstGeom>
          <a:solidFill>
            <a:srgbClr val="232E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solidFill>
                  <a:schemeClr val="bg1"/>
                </a:solidFill>
              </a:defRPr>
            </a:lvl1pPr>
          </a:lstStyle>
          <a:p>
            <a:r>
              <a:rPr lang="en-US" dirty="0"/>
              <a:t>Dark Slide Content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1844608"/>
          </a:xfrm>
        </p:spPr>
        <p:txBody>
          <a:bodyPr/>
          <a:lstStyle>
            <a:lvl1pPr marL="0" indent="0">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685800" indent="0">
              <a:buNone/>
              <a:defRPr>
                <a:solidFill>
                  <a:schemeClr val="bg1"/>
                </a:solidFill>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3">
            <a:extLst>
              <a:ext uri="{FF2B5EF4-FFF2-40B4-BE49-F238E27FC236}">
                <a16:creationId xmlns:a16="http://schemas.microsoft.com/office/drawing/2014/main" id="{CC7AB398-3A72-5A7E-F727-619703EE3678}"/>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6" name="Graphic 5">
            <a:extLst>
              <a:ext uri="{FF2B5EF4-FFF2-40B4-BE49-F238E27FC236}">
                <a16:creationId xmlns:a16="http://schemas.microsoft.com/office/drawing/2014/main" id="{814F634E-2E85-A427-EA08-4854ACA5CCB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4801" y="6428661"/>
            <a:ext cx="388818" cy="232516"/>
          </a:xfrm>
          <a:prstGeom prst="rect">
            <a:avLst/>
          </a:prstGeom>
        </p:spPr>
      </p:pic>
    </p:spTree>
    <p:extLst>
      <p:ext uri="{BB962C8B-B14F-4D97-AF65-F5344CB8AC3E}">
        <p14:creationId xmlns:p14="http://schemas.microsoft.com/office/powerpoint/2010/main" val="1506178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reaker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pic>
        <p:nvPicPr>
          <p:cNvPr id="3" name="Picture 2">
            <a:extLst>
              <a:ext uri="{FF2B5EF4-FFF2-40B4-BE49-F238E27FC236}">
                <a16:creationId xmlns:a16="http://schemas.microsoft.com/office/drawing/2014/main" id="{7531FA05-2F99-9ACC-9868-10215B36A29D}"/>
              </a:ext>
            </a:extLst>
          </p:cNvPr>
          <p:cNvPicPr>
            <a:picLocks noChangeAspect="1"/>
          </p:cNvPicPr>
          <p:nvPr userDrawn="1"/>
        </p:nvPicPr>
        <p:blipFill>
          <a:blip r:embed="rId4"/>
          <a:stretch>
            <a:fillRect/>
          </a:stretch>
        </p:blipFill>
        <p:spPr>
          <a:xfrm>
            <a:off x="0" y="2748483"/>
            <a:ext cx="12192001" cy="3352800"/>
          </a:xfrm>
          <a:prstGeom prst="rect">
            <a:avLst/>
          </a:prstGeom>
        </p:spPr>
      </p:pic>
      <p:sp>
        <p:nvSpPr>
          <p:cNvPr id="4" name="Title 7">
            <a:extLst>
              <a:ext uri="{FF2B5EF4-FFF2-40B4-BE49-F238E27FC236}">
                <a16:creationId xmlns:a16="http://schemas.microsoft.com/office/drawing/2014/main" id="{CECD060C-64DD-AFED-2399-FCF725A6184C}"/>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
        <p:nvSpPr>
          <p:cNvPr id="5" name="Text Placeholder 13">
            <a:extLst>
              <a:ext uri="{FF2B5EF4-FFF2-40B4-BE49-F238E27FC236}">
                <a16:creationId xmlns:a16="http://schemas.microsoft.com/office/drawing/2014/main" id="{56278F1B-135C-F62D-FAF9-513D324ABC45}"/>
              </a:ext>
            </a:extLst>
          </p:cNvPr>
          <p:cNvSpPr>
            <a:spLocks noGrp="1"/>
          </p:cNvSpPr>
          <p:nvPr>
            <p:ph type="body" sz="quarter" idx="11" hasCustomPrompt="1"/>
          </p:nvPr>
        </p:nvSpPr>
        <p:spPr>
          <a:xfrm>
            <a:off x="322916" y="2434551"/>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Tree>
    <p:extLst>
      <p:ext uri="{BB962C8B-B14F-4D97-AF65-F5344CB8AC3E}">
        <p14:creationId xmlns:p14="http://schemas.microsoft.com/office/powerpoint/2010/main" val="393478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ank You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 name="Text Placeholder 13">
            <a:extLst>
              <a:ext uri="{FF2B5EF4-FFF2-40B4-BE49-F238E27FC236}">
                <a16:creationId xmlns:a16="http://schemas.microsoft.com/office/drawing/2014/main" id="{AC7FD113-3CFD-4B62-B18A-92F60583D795}"/>
              </a:ext>
            </a:extLst>
          </p:cNvPr>
          <p:cNvSpPr>
            <a:spLocks noGrp="1"/>
          </p:cNvSpPr>
          <p:nvPr>
            <p:ph type="body" sz="quarter" idx="11" hasCustomPrompt="1"/>
          </p:nvPr>
        </p:nvSpPr>
        <p:spPr>
          <a:xfrm>
            <a:off x="456510" y="1655302"/>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4" name="Text Placeholder 4">
            <a:extLst>
              <a:ext uri="{FF2B5EF4-FFF2-40B4-BE49-F238E27FC236}">
                <a16:creationId xmlns:a16="http://schemas.microsoft.com/office/drawing/2014/main" id="{EE3B1C24-0FBE-4EF4-E1A2-72AA0D9B65FB}"/>
              </a:ext>
            </a:extLst>
          </p:cNvPr>
          <p:cNvSpPr>
            <a:spLocks noGrp="1"/>
          </p:cNvSpPr>
          <p:nvPr>
            <p:ph type="body" sz="quarter" idx="12" hasCustomPrompt="1"/>
          </p:nvPr>
        </p:nvSpPr>
        <p:spPr>
          <a:xfrm>
            <a:off x="456510" y="4668254"/>
            <a:ext cx="6816725" cy="480131"/>
          </a:xfrm>
        </p:spPr>
        <p:txBody>
          <a:bodyPr/>
          <a:lstStyle>
            <a:lvl1pPr marL="0" indent="0">
              <a:buNone/>
              <a:defRPr>
                <a:solidFill>
                  <a:schemeClr val="bg1"/>
                </a:solidFill>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Episode #: Episode Title</a:t>
            </a:r>
          </a:p>
        </p:txBody>
      </p:sp>
      <p:sp>
        <p:nvSpPr>
          <p:cNvPr id="5" name="Text Placeholder 4">
            <a:extLst>
              <a:ext uri="{FF2B5EF4-FFF2-40B4-BE49-F238E27FC236}">
                <a16:creationId xmlns:a16="http://schemas.microsoft.com/office/drawing/2014/main" id="{A85E35AF-BFB0-CF57-A2E9-72A6471E9558}"/>
              </a:ext>
            </a:extLst>
          </p:cNvPr>
          <p:cNvSpPr>
            <a:spLocks noGrp="1"/>
          </p:cNvSpPr>
          <p:nvPr>
            <p:ph type="body" sz="quarter" idx="13" hasCustomPrompt="1"/>
          </p:nvPr>
        </p:nvSpPr>
        <p:spPr>
          <a:xfrm>
            <a:off x="456510" y="5460260"/>
            <a:ext cx="6816725" cy="480131"/>
          </a:xfrm>
        </p:spPr>
        <p:txBody>
          <a:bodyPr/>
          <a:lstStyle>
            <a:lvl1pPr marL="0" indent="0">
              <a:buNone/>
              <a:defRPr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Day Month Date | 00:00am – 00:00pm TZ</a:t>
            </a:r>
          </a:p>
        </p:txBody>
      </p:sp>
      <p:sp>
        <p:nvSpPr>
          <p:cNvPr id="6" name="TextBox 5">
            <a:extLst>
              <a:ext uri="{FF2B5EF4-FFF2-40B4-BE49-F238E27FC236}">
                <a16:creationId xmlns:a16="http://schemas.microsoft.com/office/drawing/2014/main" id="{B507C1CA-987D-33F9-519F-917868267F71}"/>
              </a:ext>
            </a:extLst>
          </p:cNvPr>
          <p:cNvSpPr txBox="1"/>
          <p:nvPr userDrawn="1"/>
        </p:nvSpPr>
        <p:spPr>
          <a:xfrm>
            <a:off x="371042" y="2533310"/>
            <a:ext cx="10296959" cy="1015663"/>
          </a:xfrm>
          <a:prstGeom prst="rect">
            <a:avLst/>
          </a:prstGeom>
          <a:noFill/>
        </p:spPr>
        <p:txBody>
          <a:bodyPr wrap="square" rtlCol="0">
            <a:spAutoFit/>
          </a:bodyPr>
          <a:lstStyle/>
          <a:p>
            <a:r>
              <a:rPr lang="en-US" sz="60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 for joining us!</a:t>
            </a:r>
          </a:p>
        </p:txBody>
      </p:sp>
    </p:spTree>
    <p:extLst>
      <p:ext uri="{BB962C8B-B14F-4D97-AF65-F5344CB8AC3E}">
        <p14:creationId xmlns:p14="http://schemas.microsoft.com/office/powerpoint/2010/main" val="317732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Quote_1">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40F0A962-F39A-4F7C-AFB8-1D55B110FA1F}"/>
              </a:ext>
            </a:extLst>
          </p:cNvPr>
          <p:cNvSpPr>
            <a:spLocks noGrp="1"/>
          </p:cNvSpPr>
          <p:nvPr>
            <p:ph type="title" hasCustomPrompt="1"/>
          </p:nvPr>
        </p:nvSpPr>
        <p:spPr bwMode="white">
          <a:xfrm>
            <a:off x="269875" y="1854993"/>
            <a:ext cx="8334375" cy="2669382"/>
          </a:xfrm>
        </p:spPr>
        <p:txBody>
          <a:bodyPr lIns="182880" tIns="146304" rIns="182880" bIns="146304"/>
          <a:lstStyle>
            <a:lvl1pPr marL="142869" indent="-142869" algn="l">
              <a:defRPr sz="4500">
                <a:solidFill>
                  <a:schemeClr val="bg1"/>
                </a:solidFill>
              </a:defRPr>
            </a:lvl1pPr>
          </a:lstStyle>
          <a:p>
            <a:r>
              <a:rPr lang="en-US" dirty="0"/>
              <a:t>“Lorem ipsum dolor sit </a:t>
            </a:r>
            <a:r>
              <a:rPr lang="en-US" dirty="0" err="1"/>
              <a:t>amet</a:t>
            </a:r>
            <a:r>
              <a:rPr lang="en-US" dirty="0"/>
              <a:t>, </a:t>
            </a:r>
            <a:r>
              <a:rPr lang="en-US" dirty="0" err="1"/>
              <a:t>consectetuer</a:t>
            </a:r>
            <a:r>
              <a:rPr lang="en-US" dirty="0"/>
              <a:t> adipiscing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p:txBody>
      </p:sp>
      <p:sp>
        <p:nvSpPr>
          <p:cNvPr id="11" name="Text Placeholder 6">
            <a:extLst>
              <a:ext uri="{FF2B5EF4-FFF2-40B4-BE49-F238E27FC236}">
                <a16:creationId xmlns:a16="http://schemas.microsoft.com/office/drawing/2014/main" id="{26FA47B6-AF7F-4583-B619-AA67D7C65CDC}"/>
              </a:ext>
            </a:extLst>
          </p:cNvPr>
          <p:cNvSpPr>
            <a:spLocks noGrp="1"/>
          </p:cNvSpPr>
          <p:nvPr>
            <p:ph type="body" sz="quarter" idx="10" hasCustomPrompt="1"/>
          </p:nvPr>
        </p:nvSpPr>
        <p:spPr bwMode="white">
          <a:xfrm>
            <a:off x="3436143" y="4700537"/>
            <a:ext cx="5168107" cy="618567"/>
          </a:xfrm>
        </p:spPr>
        <p:txBody>
          <a:bodyPr lIns="182880" tIns="146304" rIns="182880" bIns="146304"/>
          <a:lstStyle>
            <a:lvl1pPr marL="190492" indent="0" algn="r">
              <a:buNone/>
              <a:defRPr sz="2333" b="1">
                <a:solidFill>
                  <a:schemeClr val="bg1"/>
                </a:solidFill>
                <a:latin typeface="+mn-lt"/>
                <a:ea typeface="Amazon Ember Heavy" panose="020B0803020204020204" pitchFamily="34" charset="0"/>
                <a:cs typeface="Amazon Ember Heavy" panose="020B0803020204020204" pitchFamily="34" charset="0"/>
              </a:defRPr>
            </a:lvl1pPr>
            <a:lvl2pPr marL="336143" indent="0">
              <a:buNone/>
              <a:defRPr>
                <a:gradFill>
                  <a:gsLst>
                    <a:gs pos="1250">
                      <a:schemeClr val="bg1"/>
                    </a:gs>
                    <a:gs pos="100000">
                      <a:schemeClr val="bg1"/>
                    </a:gs>
                  </a:gsLst>
                  <a:lin ang="5400000" scaled="0"/>
                </a:gradFill>
              </a:defRPr>
            </a:lvl2pPr>
            <a:lvl3pPr marL="560238" indent="0">
              <a:buNone/>
              <a:defRPr>
                <a:gradFill>
                  <a:gsLst>
                    <a:gs pos="1250">
                      <a:schemeClr val="bg1"/>
                    </a:gs>
                    <a:gs pos="100000">
                      <a:schemeClr val="bg1"/>
                    </a:gs>
                  </a:gsLst>
                  <a:lin ang="5400000" scaled="0"/>
                </a:gradFill>
              </a:defRPr>
            </a:lvl3pPr>
            <a:lvl4pPr marL="784334" indent="0">
              <a:buNone/>
              <a:defRPr>
                <a:gradFill>
                  <a:gsLst>
                    <a:gs pos="1250">
                      <a:schemeClr val="bg1"/>
                    </a:gs>
                    <a:gs pos="100000">
                      <a:schemeClr val="bg1"/>
                    </a:gs>
                  </a:gsLst>
                  <a:lin ang="5400000" scaled="0"/>
                </a:gradFill>
              </a:defRPr>
            </a:lvl4pPr>
            <a:lvl5pPr marL="1008429" indent="0">
              <a:buNone/>
              <a:defRPr>
                <a:gradFill>
                  <a:gsLst>
                    <a:gs pos="1250">
                      <a:schemeClr val="bg1"/>
                    </a:gs>
                    <a:gs pos="100000">
                      <a:schemeClr val="bg1"/>
                    </a:gs>
                  </a:gsLst>
                  <a:lin ang="5400000" scaled="0"/>
                </a:gradFill>
              </a:defRPr>
            </a:lvl5pPr>
          </a:lstStyle>
          <a:p>
            <a:pPr lvl="0"/>
            <a:r>
              <a:rPr lang="en-US" dirty="0"/>
              <a:t>Quotation Author</a:t>
            </a:r>
          </a:p>
        </p:txBody>
      </p:sp>
      <p:sp>
        <p:nvSpPr>
          <p:cNvPr id="15" name="Text Placeholder 6">
            <a:extLst>
              <a:ext uri="{FF2B5EF4-FFF2-40B4-BE49-F238E27FC236}">
                <a16:creationId xmlns:a16="http://schemas.microsoft.com/office/drawing/2014/main" id="{F78CCF1D-C382-4338-9CBC-EE540D3CAB4F}"/>
              </a:ext>
            </a:extLst>
          </p:cNvPr>
          <p:cNvSpPr>
            <a:spLocks noGrp="1"/>
          </p:cNvSpPr>
          <p:nvPr>
            <p:ph type="body" sz="quarter" idx="11" hasCustomPrompt="1"/>
          </p:nvPr>
        </p:nvSpPr>
        <p:spPr bwMode="white">
          <a:xfrm>
            <a:off x="3436143" y="5168900"/>
            <a:ext cx="5168107" cy="618567"/>
          </a:xfrm>
        </p:spPr>
        <p:txBody>
          <a:bodyPr lIns="182880" tIns="146304" rIns="182880" bIns="146304"/>
          <a:lstStyle>
            <a:lvl1pPr marL="190492" indent="0" algn="r">
              <a:buNone/>
              <a:defRPr sz="2333" b="0">
                <a:solidFill>
                  <a:schemeClr val="bg1"/>
                </a:solidFill>
                <a:latin typeface="+mn-lt"/>
                <a:ea typeface="Amazon Ember Heavy" panose="020B0803020204020204" pitchFamily="34" charset="0"/>
                <a:cs typeface="Amazon Ember Heavy" panose="020B0803020204020204" pitchFamily="34" charset="0"/>
              </a:defRPr>
            </a:lvl1pPr>
            <a:lvl2pPr marL="336143" indent="0">
              <a:buNone/>
              <a:defRPr>
                <a:gradFill>
                  <a:gsLst>
                    <a:gs pos="1250">
                      <a:schemeClr val="bg1"/>
                    </a:gs>
                    <a:gs pos="100000">
                      <a:schemeClr val="bg1"/>
                    </a:gs>
                  </a:gsLst>
                  <a:lin ang="5400000" scaled="0"/>
                </a:gradFill>
              </a:defRPr>
            </a:lvl2pPr>
            <a:lvl3pPr marL="560238" indent="0">
              <a:buNone/>
              <a:defRPr>
                <a:gradFill>
                  <a:gsLst>
                    <a:gs pos="1250">
                      <a:schemeClr val="bg1"/>
                    </a:gs>
                    <a:gs pos="100000">
                      <a:schemeClr val="bg1"/>
                    </a:gs>
                  </a:gsLst>
                  <a:lin ang="5400000" scaled="0"/>
                </a:gradFill>
              </a:defRPr>
            </a:lvl3pPr>
            <a:lvl4pPr marL="784334" indent="0">
              <a:buNone/>
              <a:defRPr>
                <a:gradFill>
                  <a:gsLst>
                    <a:gs pos="1250">
                      <a:schemeClr val="bg1"/>
                    </a:gs>
                    <a:gs pos="100000">
                      <a:schemeClr val="bg1"/>
                    </a:gs>
                  </a:gsLst>
                  <a:lin ang="5400000" scaled="0"/>
                </a:gradFill>
              </a:defRPr>
            </a:lvl4pPr>
            <a:lvl5pPr marL="1008429" indent="0">
              <a:buNone/>
              <a:defRPr>
                <a:gradFill>
                  <a:gsLst>
                    <a:gs pos="1250">
                      <a:schemeClr val="bg1"/>
                    </a:gs>
                    <a:gs pos="100000">
                      <a:schemeClr val="bg1"/>
                    </a:gs>
                  </a:gsLst>
                  <a:lin ang="5400000" scaled="0"/>
                </a:gradFill>
              </a:defRPr>
            </a:lvl5pPr>
          </a:lstStyle>
          <a:p>
            <a:pPr lvl="0"/>
            <a:r>
              <a:rPr lang="en-US" dirty="0"/>
              <a:t>Title</a:t>
            </a:r>
          </a:p>
        </p:txBody>
      </p:sp>
    </p:spTree>
    <p:extLst>
      <p:ext uri="{BB962C8B-B14F-4D97-AF65-F5344CB8AC3E}">
        <p14:creationId xmlns:p14="http://schemas.microsoft.com/office/powerpoint/2010/main" val="150565404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_Subtitle_and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CC7F-A1B5-49B5-821A-D9FB8D49F7B5}"/>
              </a:ext>
            </a:extLst>
          </p:cNvPr>
          <p:cNvSpPr>
            <a:spLocks noGrp="1"/>
          </p:cNvSpPr>
          <p:nvPr>
            <p:ph type="title" hasCustomPrompt="1"/>
          </p:nvPr>
        </p:nvSpPr>
        <p:spPr>
          <a:xfrm>
            <a:off x="269875" y="289511"/>
            <a:ext cx="11652356" cy="670560"/>
          </a:xfrm>
        </p:spPr>
        <p:txBody>
          <a:bodyPr vert="horz" wrap="square" lIns="182880" tIns="146304" rIns="182880" bIns="146304" rtlCol="0" anchor="t">
            <a:noAutofit/>
          </a:bodyPr>
          <a:lstStyle>
            <a:lvl1pPr>
              <a:defRPr lang="en-US" sz="4000" baseline="0"/>
            </a:lvl1pPr>
          </a:lstStyle>
          <a:p>
            <a:pPr lvl="0"/>
            <a:r>
              <a:rPr lang="en-US" dirty="0"/>
              <a:t>Click to edit master title style</a:t>
            </a:r>
          </a:p>
        </p:txBody>
      </p:sp>
      <p:sp>
        <p:nvSpPr>
          <p:cNvPr id="5" name="Text Placeholder 4">
            <a:extLst>
              <a:ext uri="{FF2B5EF4-FFF2-40B4-BE49-F238E27FC236}">
                <a16:creationId xmlns:a16="http://schemas.microsoft.com/office/drawing/2014/main" id="{D7598F06-5E9F-4A11-8610-CF80CCE5BE9F}"/>
              </a:ext>
            </a:extLst>
          </p:cNvPr>
          <p:cNvSpPr>
            <a:spLocks noGrp="1"/>
          </p:cNvSpPr>
          <p:nvPr>
            <p:ph type="body" sz="quarter" idx="10" hasCustomPrompt="1"/>
          </p:nvPr>
        </p:nvSpPr>
        <p:spPr>
          <a:xfrm>
            <a:off x="478221" y="986966"/>
            <a:ext cx="11652250" cy="424732"/>
          </a:xfrm>
        </p:spPr>
        <p:txBody>
          <a:bodyPr/>
          <a:lstStyle>
            <a:lvl1pPr marL="0" indent="0">
              <a:buNone/>
              <a:defRPr sz="2400">
                <a:solidFill>
                  <a:schemeClr val="accent1"/>
                </a:solidFill>
              </a:defRPr>
            </a:lvl1pPr>
          </a:lstStyle>
          <a:p>
            <a:pPr lvl="0"/>
            <a:r>
              <a:rPr lang="en-US" dirty="0"/>
              <a:t>Edit Master text styles</a:t>
            </a:r>
          </a:p>
        </p:txBody>
      </p:sp>
      <p:sp>
        <p:nvSpPr>
          <p:cNvPr id="7" name="Text Placeholder 3">
            <a:extLst>
              <a:ext uri="{FF2B5EF4-FFF2-40B4-BE49-F238E27FC236}">
                <a16:creationId xmlns:a16="http://schemas.microsoft.com/office/drawing/2014/main" id="{4D7A8912-5838-1B46-B696-DA489AB593FE}"/>
              </a:ext>
            </a:extLst>
          </p:cNvPr>
          <p:cNvSpPr>
            <a:spLocks noGrp="1"/>
          </p:cNvSpPr>
          <p:nvPr>
            <p:ph idx="11" hasCustomPrompt="1"/>
          </p:nvPr>
        </p:nvSpPr>
        <p:spPr>
          <a:xfrm>
            <a:off x="269769" y="1586325"/>
            <a:ext cx="11652356" cy="2031325"/>
          </a:xfrm>
          <a:prstGeom prst="rect">
            <a:avLst/>
          </a:prstGeom>
        </p:spPr>
        <p:txBody>
          <a:bodyPr vert="horz" wrap="square" lIns="182880" tIns="146304" rIns="182880" bIns="146304" rtlCol="0">
            <a:spAutoFit/>
          </a:bodyPr>
          <a:lstStyle>
            <a:lvl1pPr>
              <a:spcAft>
                <a:spcPts val="667"/>
              </a:spcAft>
              <a:defRPr b="0" i="0">
                <a:latin typeface="+mn-lt"/>
                <a:ea typeface="Amazon Ember Thin" panose="020B0303020204020204" pitchFamily="34" charset="0"/>
                <a:cs typeface="Amazon Ember Thin" panose="020B0303020204020204" pitchFamily="34" charset="0"/>
              </a:defRPr>
            </a:lvl1pPr>
            <a:lvl2pPr marL="336143" indent="0">
              <a:spcAft>
                <a:spcPts val="667"/>
              </a:spcAft>
              <a:buFont typeface="Arial" panose="020B0604020202020204" pitchFamily="34" charset="0"/>
              <a:buNone/>
              <a:defRPr b="0" i="0">
                <a:latin typeface="+mn-lt"/>
                <a:ea typeface="Amazon Ember" panose="020B0603020204020204" pitchFamily="34" charset="0"/>
                <a:cs typeface="Amazon Ember" panose="020B0603020204020204" pitchFamily="34" charset="0"/>
              </a:defRPr>
            </a:lvl2pPr>
            <a:lvl3pPr marL="560238" indent="0">
              <a:spcAft>
                <a:spcPts val="667"/>
              </a:spcAft>
              <a:buFont typeface="Arial" panose="020B0604020202020204" pitchFamily="34" charset="0"/>
              <a:buNone/>
              <a:defRPr sz="2000" b="0" i="0">
                <a:latin typeface="+mn-lt"/>
                <a:ea typeface="Amazon Ember Light" panose="020B0403020204020204" pitchFamily="34" charset="0"/>
                <a:cs typeface="Amazon Ember Light" panose="020B0403020204020204" pitchFamily="34" charset="0"/>
              </a:defRPr>
            </a:lvl3pPr>
            <a:lvl4pPr marL="784333" indent="0">
              <a:spcAft>
                <a:spcPts val="667"/>
              </a:spcAft>
              <a:buFont typeface="Arial" panose="020B0604020202020204" pitchFamily="34" charset="0"/>
              <a:buNone/>
              <a:defRPr b="0" i="0">
                <a:latin typeface="+mn-lt"/>
                <a:ea typeface="Amazon Ember" panose="020B0603020204020204" pitchFamily="34" charset="0"/>
                <a:cs typeface="Amazon Ember" panose="020B0603020204020204" pitchFamily="34" charset="0"/>
              </a:defRPr>
            </a:lvl4pPr>
            <a:lvl5pPr marL="1008428" marR="0" indent="0" algn="l" defTabSz="914362" rtl="0" eaLnBrk="1" fontAlgn="auto" latinLnBrk="0" hangingPunct="1">
              <a:lnSpc>
                <a:spcPct val="90000"/>
              </a:lnSpc>
              <a:spcBef>
                <a:spcPts val="500"/>
              </a:spcBef>
              <a:spcAft>
                <a:spcPts val="667"/>
              </a:spcAft>
              <a:buClrTx/>
              <a:buSzPct val="90000"/>
              <a:buFont typeface="Arial" panose="020B0604020202020204" pitchFamily="34" charset="0"/>
              <a:buNone/>
              <a:tabLst/>
              <a:defRPr b="0" i="0">
                <a:latin typeface="Amazon Ember" panose="020B0603020204020204" pitchFamily="34" charset="0"/>
                <a:ea typeface="Amazon Ember" panose="020B0603020204020204" pitchFamily="34" charset="0"/>
                <a:cs typeface="Amazon Ember" panose="020B0603020204020204" pitchFamily="34" charset="0"/>
              </a:defRPr>
            </a:lvl5pPr>
            <a:lvl6pPr marL="2228755" indent="0">
              <a:buNone/>
              <a:defRPr/>
            </a:lvl6pPr>
          </a:lstStyle>
          <a:p>
            <a:pPr lvl="0"/>
            <a:r>
              <a:rPr lang="en-US" dirty="0"/>
              <a:t>Click to edit master text styles</a:t>
            </a:r>
          </a:p>
          <a:p>
            <a:pPr lvl="1"/>
            <a:r>
              <a:rPr lang="en-US" dirty="0"/>
              <a:t>Second level</a:t>
            </a:r>
          </a:p>
          <a:p>
            <a:pPr lvl="1"/>
            <a:r>
              <a:rPr lang="en-US" dirty="0"/>
              <a:t>Third  level</a:t>
            </a:r>
          </a:p>
          <a:p>
            <a:pPr lvl="1"/>
            <a:r>
              <a:rPr lang="en-US" dirty="0"/>
              <a:t>Fourth level</a:t>
            </a:r>
          </a:p>
        </p:txBody>
      </p:sp>
    </p:spTree>
    <p:extLst>
      <p:ext uri="{BB962C8B-B14F-4D97-AF65-F5344CB8AC3E}">
        <p14:creationId xmlns:p14="http://schemas.microsoft.com/office/powerpoint/2010/main" val="87650951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_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875" y="289511"/>
            <a:ext cx="11652356" cy="899665"/>
          </a:xfrm>
        </p:spPr>
        <p:txBody>
          <a:bodyPr lIns="182880" tIns="146304" rIns="182880" bIns="146304"/>
          <a:lstStyle>
            <a:lvl1pPr>
              <a:defRPr/>
            </a:lvl1pPr>
          </a:lstStyle>
          <a:p>
            <a:r>
              <a:rPr lang="en-US" dirty="0"/>
              <a:t>Click to edit master title style</a:t>
            </a:r>
          </a:p>
        </p:txBody>
      </p:sp>
    </p:spTree>
    <p:extLst>
      <p:ext uri="{BB962C8B-B14F-4D97-AF65-F5344CB8AC3E}">
        <p14:creationId xmlns:p14="http://schemas.microsoft.com/office/powerpoint/2010/main" val="1441210368"/>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_2">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7800F99-0876-EC45-94EE-04178712AA3A}"/>
              </a:ext>
            </a:extLst>
          </p:cNvPr>
          <p:cNvSpPr>
            <a:spLocks noGrp="1"/>
          </p:cNvSpPr>
          <p:nvPr>
            <p:ph type="title" hasCustomPrompt="1"/>
          </p:nvPr>
        </p:nvSpPr>
        <p:spPr bwMode="white">
          <a:xfrm>
            <a:off x="269875" y="2870811"/>
            <a:ext cx="10757271" cy="987963"/>
          </a:xfrm>
          <a:noFill/>
        </p:spPr>
        <p:txBody>
          <a:bodyPr wrap="square" lIns="182880" tIns="146304" rIns="182880" bIns="146304" anchor="t" anchorCtr="0">
            <a:spAutoFit/>
          </a:bodyPr>
          <a:lstStyle>
            <a:lvl1pPr>
              <a:defRPr sz="5000" spc="-98" baseline="0">
                <a:solidFill>
                  <a:schemeClr val="bg1"/>
                </a:solidFill>
                <a:latin typeface="+mj-lt"/>
                <a:ea typeface="Amazon Ember Heavy" panose="020B0803020204020204" pitchFamily="34" charset="0"/>
                <a:cs typeface="Amazon Ember Heavy" panose="020B0803020204020204" pitchFamily="34" charset="0"/>
              </a:defRPr>
            </a:lvl1pPr>
          </a:lstStyle>
          <a:p>
            <a:r>
              <a:rPr lang="en-US" dirty="0"/>
              <a:t>Section</a:t>
            </a:r>
          </a:p>
        </p:txBody>
      </p:sp>
      <p:sp>
        <p:nvSpPr>
          <p:cNvPr id="5" name="TextBox 4">
            <a:extLst>
              <a:ext uri="{FF2B5EF4-FFF2-40B4-BE49-F238E27FC236}">
                <a16:creationId xmlns:a16="http://schemas.microsoft.com/office/drawing/2014/main" id="{C291DB98-1487-46F6-8DBF-A9A23B1488D5}"/>
              </a:ext>
            </a:extLst>
          </p:cNvPr>
          <p:cNvSpPr txBox="1">
            <a:spLocks noChangeArrowheads="1"/>
          </p:cNvSpPr>
          <p:nvPr userDrawn="1"/>
        </p:nvSpPr>
        <p:spPr bwMode="white">
          <a:xfrm>
            <a:off x="4445000" y="6330387"/>
            <a:ext cx="3302000" cy="11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algn="ctr" eaLnBrk="1" hangingPunct="1"/>
            <a:r>
              <a:rPr lang="en-US" altLang="x-none" sz="750" b="0" i="0" dirty="0">
                <a:solidFill>
                  <a:schemeClr val="bg1"/>
                </a:solidFill>
                <a:latin typeface="Amazon Ember" charset="0"/>
                <a:ea typeface="Amazon Ember" charset="0"/>
                <a:cs typeface="Amazon Ember" charset="0"/>
              </a:rPr>
              <a:t>© 2023, Amazon Web Services, Inc. or its affiliates. All rights reserved.</a:t>
            </a:r>
          </a:p>
        </p:txBody>
      </p:sp>
    </p:spTree>
    <p:extLst>
      <p:ext uri="{BB962C8B-B14F-4D97-AF65-F5344CB8AC3E}">
        <p14:creationId xmlns:p14="http://schemas.microsoft.com/office/powerpoint/2010/main" val="318314864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_and_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875" y="289511"/>
            <a:ext cx="11652356" cy="671065"/>
          </a:xfrm>
        </p:spPr>
        <p:txBody>
          <a:bodyPr lIns="182880" tIns="146304" rIns="182880" bIns="146304"/>
          <a:lstStyle>
            <a:lvl1pPr>
              <a:defRPr/>
            </a:lvl1pPr>
          </a:lstStyle>
          <a:p>
            <a:r>
              <a:rPr lang="en-US" dirty="0"/>
              <a:t>Click to edit master title style</a:t>
            </a:r>
          </a:p>
        </p:txBody>
      </p:sp>
      <p:sp>
        <p:nvSpPr>
          <p:cNvPr id="4" name="Text Placeholder 3">
            <a:extLst>
              <a:ext uri="{FF2B5EF4-FFF2-40B4-BE49-F238E27FC236}">
                <a16:creationId xmlns:a16="http://schemas.microsoft.com/office/drawing/2014/main" id="{772055D2-C6C9-491F-97FF-B9A772BC8833}"/>
              </a:ext>
            </a:extLst>
          </p:cNvPr>
          <p:cNvSpPr>
            <a:spLocks noGrp="1"/>
          </p:cNvSpPr>
          <p:nvPr>
            <p:ph type="body" sz="quarter" idx="10" hasCustomPrompt="1"/>
          </p:nvPr>
        </p:nvSpPr>
        <p:spPr>
          <a:xfrm>
            <a:off x="269875" y="987468"/>
            <a:ext cx="11652250" cy="424732"/>
          </a:xfrm>
        </p:spPr>
        <p:txBody>
          <a:bodyPr/>
          <a:lstStyle>
            <a:lvl1pPr marL="0" indent="0">
              <a:buNone/>
              <a:defRPr sz="2400">
                <a:solidFill>
                  <a:schemeClr val="accent1"/>
                </a:solidFill>
              </a:defRPr>
            </a:lvl1pPr>
          </a:lstStyle>
          <a:p>
            <a:pPr lvl="0"/>
            <a:r>
              <a:rPr lang="en-US" dirty="0"/>
              <a:t>   Edit Master text styles</a:t>
            </a:r>
          </a:p>
        </p:txBody>
      </p:sp>
      <p:sp>
        <p:nvSpPr>
          <p:cNvPr id="9" name="TextBox 8">
            <a:extLst>
              <a:ext uri="{FF2B5EF4-FFF2-40B4-BE49-F238E27FC236}">
                <a16:creationId xmlns:a16="http://schemas.microsoft.com/office/drawing/2014/main" id="{4B72D103-F60B-BA4F-B273-5267FBD41466}"/>
              </a:ext>
            </a:extLst>
          </p:cNvPr>
          <p:cNvSpPr txBox="1">
            <a:spLocks noChangeArrowheads="1"/>
          </p:cNvSpPr>
          <p:nvPr userDrawn="1"/>
        </p:nvSpPr>
        <p:spPr bwMode="white">
          <a:xfrm>
            <a:off x="4445000" y="6330387"/>
            <a:ext cx="3302000" cy="11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algn="ctr" eaLnBrk="1" hangingPunct="1"/>
            <a:r>
              <a:rPr lang="en-US" altLang="x-none" sz="750" b="0" i="0" dirty="0">
                <a:solidFill>
                  <a:schemeClr val="tx2"/>
                </a:solidFill>
                <a:latin typeface="Amazon Ember" charset="0"/>
                <a:ea typeface="Amazon Ember" charset="0"/>
                <a:cs typeface="Amazon Ember" charset="0"/>
              </a:rPr>
              <a:t>© 2023, Amazon Web Services, Inc. or its affiliates. All rights reserved.</a:t>
            </a:r>
          </a:p>
        </p:txBody>
      </p:sp>
    </p:spTree>
    <p:extLst>
      <p:ext uri="{BB962C8B-B14F-4D97-AF65-F5344CB8AC3E}">
        <p14:creationId xmlns:p14="http://schemas.microsoft.com/office/powerpoint/2010/main" val="2891745866"/>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_You">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B748DC2-DA40-0C41-98A8-4752FCAE6928}"/>
              </a:ext>
            </a:extLst>
          </p:cNvPr>
          <p:cNvPicPr>
            <a:picLocks noChangeAspect="1"/>
          </p:cNvPicPr>
          <p:nvPr userDrawn="1"/>
        </p:nvPicPr>
        <p:blipFill rotWithShape="1">
          <a:blip r:embed="rId2"/>
          <a:srcRect l="5846"/>
          <a:stretch/>
        </p:blipFill>
        <p:spPr>
          <a:xfrm>
            <a:off x="0" y="0"/>
            <a:ext cx="12192000" cy="6855353"/>
          </a:xfrm>
          <a:prstGeom prst="rect">
            <a:avLst/>
          </a:prstGeom>
        </p:spPr>
      </p:pic>
      <p:sp>
        <p:nvSpPr>
          <p:cNvPr id="11" name="Text Placeholder 2">
            <a:extLst>
              <a:ext uri="{FF2B5EF4-FFF2-40B4-BE49-F238E27FC236}">
                <a16:creationId xmlns:a16="http://schemas.microsoft.com/office/drawing/2014/main" id="{FAAD6B90-3239-487B-90E2-DA3FBBFC9D3B}"/>
              </a:ext>
            </a:extLst>
          </p:cNvPr>
          <p:cNvSpPr>
            <a:spLocks noGrp="1"/>
          </p:cNvSpPr>
          <p:nvPr>
            <p:ph type="body" sz="quarter" idx="14" hasCustomPrompt="1"/>
          </p:nvPr>
        </p:nvSpPr>
        <p:spPr bwMode="white">
          <a:xfrm>
            <a:off x="269875" y="3529327"/>
            <a:ext cx="3652631" cy="445773"/>
          </a:xfrm>
        </p:spPr>
        <p:txBody>
          <a:bodyPr lIns="182880" tIns="146304" rIns="182880" bIns="146304">
            <a:noAutofit/>
          </a:bodyPr>
          <a:lstStyle>
            <a:lvl1pPr marL="0" indent="0">
              <a:spcBef>
                <a:spcPts val="0"/>
              </a:spcBef>
              <a:buNone/>
              <a:defRPr lang="en-US" sz="2333" b="0" kern="1200" spc="0" baseline="0" dirty="0">
                <a:solidFill>
                  <a:schemeClr val="bg1"/>
                </a:solidFill>
                <a:latin typeface="+mn-lt"/>
                <a:ea typeface="Amazon Ember Heavy" panose="020B0803020204020204" pitchFamily="34" charset="0"/>
                <a:cs typeface="Amazon Ember Heavy" panose="020B0803020204020204" pitchFamily="34" charset="0"/>
              </a:defRPr>
            </a:lvl1pPr>
          </a:lstStyle>
          <a:p>
            <a:pPr marL="0" marR="0" lvl="0" indent="0" algn="l" defTabSz="914362" rtl="0" eaLnBrk="1" fontAlgn="auto" latinLnBrk="0" hangingPunct="1">
              <a:lnSpc>
                <a:spcPct val="90000"/>
              </a:lnSpc>
              <a:spcBef>
                <a:spcPct val="20000"/>
              </a:spcBef>
              <a:spcAft>
                <a:spcPts val="0"/>
              </a:spcAft>
              <a:buClrTx/>
              <a:buSzPct val="90000"/>
              <a:buFont typeface="Arial" pitchFamily="34" charset="0"/>
              <a:buNone/>
              <a:tabLst/>
            </a:pPr>
            <a:r>
              <a:rPr lang="en-US" dirty="0"/>
              <a:t>Speaker Name</a:t>
            </a:r>
          </a:p>
        </p:txBody>
      </p:sp>
      <p:sp>
        <p:nvSpPr>
          <p:cNvPr id="16" name="TextBox 15">
            <a:extLst>
              <a:ext uri="{FF2B5EF4-FFF2-40B4-BE49-F238E27FC236}">
                <a16:creationId xmlns:a16="http://schemas.microsoft.com/office/drawing/2014/main" id="{038B4B94-EB11-421A-9F05-9547D4AD928A}"/>
              </a:ext>
            </a:extLst>
          </p:cNvPr>
          <p:cNvSpPr txBox="1"/>
          <p:nvPr userDrawn="1"/>
        </p:nvSpPr>
        <p:spPr bwMode="white">
          <a:xfrm>
            <a:off x="269239" y="1841350"/>
            <a:ext cx="9979661" cy="1587651"/>
          </a:xfrm>
          <a:prstGeom prst="rect">
            <a:avLst/>
          </a:prstGeom>
          <a:noFill/>
        </p:spPr>
        <p:txBody>
          <a:bodyPr vert="horz" wrap="square" lIns="152400" tIns="76200" rIns="121920" bIns="76200" rtlCol="0" anchor="t" anchorCtr="0">
            <a:noAutofit/>
          </a:bodyPr>
          <a:lstStyle>
            <a:lvl1pPr defTabSz="1097278">
              <a:lnSpc>
                <a:spcPct val="90000"/>
              </a:lnSpc>
              <a:spcBef>
                <a:spcPct val="0"/>
              </a:spcBef>
              <a:buNone/>
              <a:defRPr lang="en-US" sz="6600" b="0" cap="none" spc="-118" baseline="0" dirty="0" smtClean="0">
                <a:ln w="3175">
                  <a:noFill/>
                </a:ln>
                <a:solidFill>
                  <a:schemeClr val="bg1"/>
                </a:solidFill>
                <a:effectLst/>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lvl="0"/>
            <a:r>
              <a:rPr lang="en-US" sz="9583" dirty="0">
                <a:solidFill>
                  <a:schemeClr val="bg1"/>
                </a:solidFill>
              </a:rPr>
              <a:t>Thank you!</a:t>
            </a:r>
          </a:p>
        </p:txBody>
      </p:sp>
      <p:sp>
        <p:nvSpPr>
          <p:cNvPr id="13" name="Text Placeholder 2">
            <a:extLst>
              <a:ext uri="{FF2B5EF4-FFF2-40B4-BE49-F238E27FC236}">
                <a16:creationId xmlns:a16="http://schemas.microsoft.com/office/drawing/2014/main" id="{FAF418EF-2579-444C-81E0-00BA1D3B84F9}"/>
              </a:ext>
            </a:extLst>
          </p:cNvPr>
          <p:cNvSpPr>
            <a:spLocks noGrp="1"/>
          </p:cNvSpPr>
          <p:nvPr>
            <p:ph type="body" sz="quarter" idx="15" hasCustomPrompt="1"/>
          </p:nvPr>
        </p:nvSpPr>
        <p:spPr bwMode="white">
          <a:xfrm>
            <a:off x="269875" y="3986534"/>
            <a:ext cx="3652631" cy="445773"/>
          </a:xfrm>
        </p:spPr>
        <p:txBody>
          <a:bodyPr lIns="182880" tIns="146304" rIns="182880" bIns="146304">
            <a:noAutofit/>
          </a:bodyPr>
          <a:lstStyle>
            <a:lvl1pPr marL="0" indent="0">
              <a:spcBef>
                <a:spcPts val="0"/>
              </a:spcBef>
              <a:buNone/>
              <a:defRPr lang="en-US" sz="2333" b="0" i="0" kern="1200" spc="0" baseline="0" dirty="0">
                <a:solidFill>
                  <a:schemeClr val="bg1"/>
                </a:solidFill>
                <a:latin typeface="Amazon Ember Thin" panose="020B0303020204020204" pitchFamily="34" charset="0"/>
                <a:ea typeface="Amazon Ember Thin" panose="020B0303020204020204" pitchFamily="34" charset="0"/>
                <a:cs typeface="Amazon Ember Thin" panose="020B0303020204020204" pitchFamily="34" charset="0"/>
              </a:defRPr>
            </a:lvl1pPr>
          </a:lstStyle>
          <a:p>
            <a:pPr marL="0" marR="0" lvl="0" indent="0" algn="l" defTabSz="914362" rtl="0" eaLnBrk="1" fontAlgn="auto" latinLnBrk="0" hangingPunct="1">
              <a:lnSpc>
                <a:spcPct val="90000"/>
              </a:lnSpc>
              <a:spcBef>
                <a:spcPct val="20000"/>
              </a:spcBef>
              <a:spcAft>
                <a:spcPts val="0"/>
              </a:spcAft>
              <a:buClrTx/>
              <a:buSzPct val="90000"/>
              <a:buFont typeface="Arial" pitchFamily="34" charset="0"/>
              <a:buNone/>
              <a:tabLst/>
            </a:pPr>
            <a:r>
              <a:rPr lang="en-US" dirty="0"/>
              <a:t>Contact information</a:t>
            </a:r>
          </a:p>
        </p:txBody>
      </p:sp>
      <p:sp>
        <p:nvSpPr>
          <p:cNvPr id="10" name="Text Placeholder 2">
            <a:extLst>
              <a:ext uri="{FF2B5EF4-FFF2-40B4-BE49-F238E27FC236}">
                <a16:creationId xmlns:a16="http://schemas.microsoft.com/office/drawing/2014/main" id="{5B48B752-DFCD-44B7-B0E7-3F77FF308FDD}"/>
              </a:ext>
            </a:extLst>
          </p:cNvPr>
          <p:cNvSpPr>
            <a:spLocks noGrp="1"/>
          </p:cNvSpPr>
          <p:nvPr>
            <p:ph type="body" sz="quarter" idx="16" hasCustomPrompt="1"/>
          </p:nvPr>
        </p:nvSpPr>
        <p:spPr bwMode="white">
          <a:xfrm>
            <a:off x="3922506" y="3529327"/>
            <a:ext cx="3649980" cy="445773"/>
          </a:xfrm>
        </p:spPr>
        <p:txBody>
          <a:bodyPr lIns="182880" tIns="146304" rIns="182880" bIns="146304">
            <a:noAutofit/>
          </a:bodyPr>
          <a:lstStyle>
            <a:lvl1pPr marL="0" indent="0">
              <a:spcBef>
                <a:spcPts val="0"/>
              </a:spcBef>
              <a:buNone/>
              <a:defRPr lang="en-US" sz="2333" b="0" kern="1200" spc="0" baseline="0" dirty="0">
                <a:solidFill>
                  <a:schemeClr val="bg1"/>
                </a:solidFill>
                <a:latin typeface="+mn-lt"/>
                <a:ea typeface="Amazon Ember Heavy" panose="020B0803020204020204" pitchFamily="34" charset="0"/>
                <a:cs typeface="Amazon Ember Heavy" panose="020B0803020204020204" pitchFamily="34" charset="0"/>
              </a:defRPr>
            </a:lvl1pPr>
          </a:lstStyle>
          <a:p>
            <a:pPr marL="0" marR="0" lvl="0" indent="0" algn="l" defTabSz="914362" rtl="0" eaLnBrk="1" fontAlgn="auto" latinLnBrk="0" hangingPunct="1">
              <a:lnSpc>
                <a:spcPct val="90000"/>
              </a:lnSpc>
              <a:spcBef>
                <a:spcPct val="20000"/>
              </a:spcBef>
              <a:spcAft>
                <a:spcPts val="0"/>
              </a:spcAft>
              <a:buClrTx/>
              <a:buSzPct val="90000"/>
              <a:buFont typeface="Arial" pitchFamily="34" charset="0"/>
              <a:buNone/>
              <a:tabLst/>
            </a:pPr>
            <a:r>
              <a:rPr lang="en-US" dirty="0"/>
              <a:t>Speaker Name</a:t>
            </a:r>
          </a:p>
        </p:txBody>
      </p:sp>
      <p:sp>
        <p:nvSpPr>
          <p:cNvPr id="14" name="Text Placeholder 2">
            <a:extLst>
              <a:ext uri="{FF2B5EF4-FFF2-40B4-BE49-F238E27FC236}">
                <a16:creationId xmlns:a16="http://schemas.microsoft.com/office/drawing/2014/main" id="{2A5E8B54-D9CE-4024-A153-5A4625CD3EA2}"/>
              </a:ext>
            </a:extLst>
          </p:cNvPr>
          <p:cNvSpPr>
            <a:spLocks noGrp="1"/>
          </p:cNvSpPr>
          <p:nvPr>
            <p:ph type="body" sz="quarter" idx="17" hasCustomPrompt="1"/>
          </p:nvPr>
        </p:nvSpPr>
        <p:spPr bwMode="white">
          <a:xfrm>
            <a:off x="3922506" y="3986534"/>
            <a:ext cx="3649980" cy="445773"/>
          </a:xfrm>
        </p:spPr>
        <p:txBody>
          <a:bodyPr lIns="182880" tIns="146304" rIns="182880" bIns="146304">
            <a:noAutofit/>
          </a:bodyPr>
          <a:lstStyle>
            <a:lvl1pPr marL="0" indent="0">
              <a:spcBef>
                <a:spcPts val="0"/>
              </a:spcBef>
              <a:buNone/>
              <a:defRPr lang="en-US" sz="2333" b="0" i="0" kern="1200" spc="0" baseline="0" dirty="0">
                <a:solidFill>
                  <a:schemeClr val="bg1"/>
                </a:solidFill>
                <a:latin typeface="Amazon Ember Thin" panose="020B0303020204020204" pitchFamily="34" charset="0"/>
                <a:ea typeface="Amazon Ember Thin" panose="020B0303020204020204" pitchFamily="34" charset="0"/>
                <a:cs typeface="Amazon Ember Thin" panose="020B0303020204020204" pitchFamily="34" charset="0"/>
              </a:defRPr>
            </a:lvl1pPr>
          </a:lstStyle>
          <a:p>
            <a:pPr marL="0" marR="0" lvl="0" indent="0" algn="l" defTabSz="914362" rtl="0" eaLnBrk="1" fontAlgn="auto" latinLnBrk="0" hangingPunct="1">
              <a:lnSpc>
                <a:spcPct val="90000"/>
              </a:lnSpc>
              <a:spcBef>
                <a:spcPct val="20000"/>
              </a:spcBef>
              <a:spcAft>
                <a:spcPts val="0"/>
              </a:spcAft>
              <a:buClrTx/>
              <a:buSzPct val="90000"/>
              <a:buFont typeface="Arial" pitchFamily="34" charset="0"/>
              <a:buNone/>
              <a:tabLst/>
            </a:pPr>
            <a:r>
              <a:rPr lang="en-US" dirty="0"/>
              <a:t>Contact information</a:t>
            </a:r>
          </a:p>
        </p:txBody>
      </p:sp>
      <p:pic>
        <p:nvPicPr>
          <p:cNvPr id="17" name="Picture 16">
            <a:extLst>
              <a:ext uri="{FF2B5EF4-FFF2-40B4-BE49-F238E27FC236}">
                <a16:creationId xmlns:a16="http://schemas.microsoft.com/office/drawing/2014/main" id="{59C949F3-F9B9-AF4D-9AC1-37D52A65A59B}"/>
              </a:ext>
            </a:extLst>
          </p:cNvPr>
          <p:cNvPicPr>
            <a:picLocks noChangeAspect="1"/>
          </p:cNvPicPr>
          <p:nvPr userDrawn="1"/>
        </p:nvPicPr>
        <p:blipFill>
          <a:blip r:embed="rId3"/>
          <a:stretch>
            <a:fillRect/>
          </a:stretch>
        </p:blipFill>
        <p:spPr>
          <a:xfrm>
            <a:off x="448471" y="6241274"/>
            <a:ext cx="1223500" cy="293640"/>
          </a:xfrm>
          <a:prstGeom prst="rect">
            <a:avLst/>
          </a:prstGeom>
        </p:spPr>
      </p:pic>
      <p:sp>
        <p:nvSpPr>
          <p:cNvPr id="15" name="TextBox 14">
            <a:extLst>
              <a:ext uri="{FF2B5EF4-FFF2-40B4-BE49-F238E27FC236}">
                <a16:creationId xmlns:a16="http://schemas.microsoft.com/office/drawing/2014/main" id="{1716EBC1-AE15-4F0E-B1D5-306DD1C05157}"/>
              </a:ext>
            </a:extLst>
          </p:cNvPr>
          <p:cNvSpPr txBox="1">
            <a:spLocks noChangeArrowheads="1"/>
          </p:cNvSpPr>
          <p:nvPr userDrawn="1"/>
        </p:nvSpPr>
        <p:spPr bwMode="white">
          <a:xfrm>
            <a:off x="4445000" y="6330387"/>
            <a:ext cx="3302000" cy="11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algn="ctr" eaLnBrk="1" hangingPunct="1"/>
            <a:r>
              <a:rPr lang="en-US" altLang="x-none" sz="750" b="0" i="0" dirty="0">
                <a:solidFill>
                  <a:schemeClr val="bg1"/>
                </a:solidFill>
                <a:latin typeface="Amazon Ember" charset="0"/>
                <a:ea typeface="Amazon Ember" charset="0"/>
                <a:cs typeface="Amazon Ember" charset="0"/>
              </a:rPr>
              <a:t>© 2023, Amazon Web Services, Inc. or its affiliates. All rights reserved.</a:t>
            </a:r>
          </a:p>
        </p:txBody>
      </p:sp>
    </p:spTree>
    <p:extLst>
      <p:ext uri="{BB962C8B-B14F-4D97-AF65-F5344CB8AC3E}">
        <p14:creationId xmlns:p14="http://schemas.microsoft.com/office/powerpoint/2010/main" val="88346449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CONFIDENTIAL_Title_and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CC7F-A1B5-49B5-821A-D9FB8D49F7B5}"/>
              </a:ext>
            </a:extLst>
          </p:cNvPr>
          <p:cNvSpPr>
            <a:spLocks noGrp="1"/>
          </p:cNvSpPr>
          <p:nvPr>
            <p:ph type="title" hasCustomPrompt="1"/>
          </p:nvPr>
        </p:nvSpPr>
        <p:spPr>
          <a:xfrm>
            <a:off x="269875" y="289511"/>
            <a:ext cx="11652356" cy="899665"/>
          </a:xfrm>
        </p:spPr>
        <p:txBody>
          <a:bodyPr vert="horz" wrap="square" lIns="182880" tIns="146304" rIns="182880" bIns="146304" rtlCol="0" anchor="t">
            <a:noAutofit/>
          </a:bodyPr>
          <a:lstStyle>
            <a:lvl1pPr>
              <a:defRPr lang="en-US"/>
            </a:lvl1pPr>
          </a:lstStyle>
          <a:p>
            <a:pPr lvl="0"/>
            <a:r>
              <a:rPr lang="en-US" dirty="0"/>
              <a:t>Click to edit master title style</a:t>
            </a:r>
          </a:p>
        </p:txBody>
      </p:sp>
      <p:sp>
        <p:nvSpPr>
          <p:cNvPr id="3" name="Text Placeholder 3">
            <a:extLst>
              <a:ext uri="{FF2B5EF4-FFF2-40B4-BE49-F238E27FC236}">
                <a16:creationId xmlns:a16="http://schemas.microsoft.com/office/drawing/2014/main" id="{236A5EB2-5876-4EAF-8AE0-2E40E818628D}"/>
              </a:ext>
            </a:extLst>
          </p:cNvPr>
          <p:cNvSpPr>
            <a:spLocks noGrp="1"/>
          </p:cNvSpPr>
          <p:nvPr>
            <p:ph idx="1" hasCustomPrompt="1"/>
          </p:nvPr>
        </p:nvSpPr>
        <p:spPr>
          <a:xfrm>
            <a:off x="269875" y="1189179"/>
            <a:ext cx="11652356" cy="1600438"/>
          </a:xfrm>
          <a:prstGeom prst="rect">
            <a:avLst/>
          </a:prstGeom>
        </p:spPr>
        <p:txBody>
          <a:bodyPr vert="horz" wrap="square" lIns="182880" tIns="146304" rIns="182880" bIns="146304" rtlCol="0">
            <a:spAutoFit/>
          </a:bodyPr>
          <a:lstStyle>
            <a:lvl1pPr>
              <a:spcAft>
                <a:spcPts val="667"/>
              </a:spcAft>
              <a:defRPr b="0" i="0">
                <a:latin typeface="Amazon Ember" panose="020B0603020204020204" pitchFamily="34" charset="0"/>
                <a:ea typeface="Amazon Ember" panose="020B0603020204020204" pitchFamily="34" charset="0"/>
                <a:cs typeface="Amazon Ember" panose="020B0603020204020204" pitchFamily="34" charset="0"/>
              </a:defRPr>
            </a:lvl1pPr>
            <a:lvl2pPr marL="336143" indent="0">
              <a:spcAft>
                <a:spcPts val="667"/>
              </a:spcAft>
              <a:buFont typeface="Arial" panose="020B0604020202020204" pitchFamily="34" charset="0"/>
              <a:buNone/>
              <a:defRPr b="0" i="0">
                <a:latin typeface="Amazon Ember" panose="020B0603020204020204" pitchFamily="34" charset="0"/>
                <a:ea typeface="Amazon Ember" panose="020B0603020204020204" pitchFamily="34" charset="0"/>
                <a:cs typeface="Amazon Ember" panose="020B0603020204020204" pitchFamily="34" charset="0"/>
              </a:defRPr>
            </a:lvl2pPr>
            <a:lvl3pPr marL="845977" indent="-285739">
              <a:spcAft>
                <a:spcPts val="667"/>
              </a:spcAft>
              <a:buFont typeface="Arial" panose="020B0604020202020204" pitchFamily="34" charset="0"/>
              <a:buChar char="•"/>
              <a:defRPr b="0" i="0">
                <a:latin typeface="Amazon Ember Thin" panose="020B0303020204020204" pitchFamily="34" charset="0"/>
                <a:ea typeface="Amazon Ember Thin" panose="020B0303020204020204" pitchFamily="34" charset="0"/>
                <a:cs typeface="Amazon Ember Thin" panose="020B0303020204020204" pitchFamily="34" charset="0"/>
              </a:defRPr>
            </a:lvl3pPr>
            <a:lvl4pPr marL="1070072" indent="-285739">
              <a:spcAft>
                <a:spcPts val="667"/>
              </a:spcAft>
              <a:buFont typeface="Arial" panose="020B0604020202020204" pitchFamily="34" charset="0"/>
              <a:buChar char="•"/>
              <a:defRPr b="0" i="0">
                <a:latin typeface="Amazon Ember" panose="020B0603020204020204" pitchFamily="34" charset="0"/>
                <a:ea typeface="Amazon Ember" panose="020B0603020204020204" pitchFamily="34" charset="0"/>
                <a:cs typeface="Amazon Ember" panose="020B0603020204020204" pitchFamily="34" charset="0"/>
              </a:defRPr>
            </a:lvl4pPr>
            <a:lvl5pPr marL="1008428" indent="0">
              <a:spcAft>
                <a:spcPts val="667"/>
              </a:spcAft>
              <a:buFont typeface="Arial" panose="020B0604020202020204" pitchFamily="34" charset="0"/>
              <a:buNone/>
              <a:defRPr b="0" i="0">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dirty="0"/>
              <a:t>Click to edit master text styles</a:t>
            </a:r>
          </a:p>
          <a:p>
            <a:pPr lvl="1"/>
            <a:r>
              <a:rPr lang="en-US" dirty="0"/>
              <a:t>Second level</a:t>
            </a:r>
          </a:p>
          <a:p>
            <a:pPr lvl="1"/>
            <a:r>
              <a:rPr lang="en-US" dirty="0"/>
              <a:t>Third  level</a:t>
            </a:r>
          </a:p>
        </p:txBody>
      </p:sp>
      <p:sp>
        <p:nvSpPr>
          <p:cNvPr id="5" name="TextBox 4">
            <a:extLst>
              <a:ext uri="{FF2B5EF4-FFF2-40B4-BE49-F238E27FC236}">
                <a16:creationId xmlns:a16="http://schemas.microsoft.com/office/drawing/2014/main" id="{10A17714-160B-4DD5-AD17-87D1FAA64762}"/>
              </a:ext>
            </a:extLst>
          </p:cNvPr>
          <p:cNvSpPr txBox="1">
            <a:spLocks noChangeArrowheads="1"/>
          </p:cNvSpPr>
          <p:nvPr userDrawn="1"/>
        </p:nvSpPr>
        <p:spPr bwMode="white">
          <a:xfrm>
            <a:off x="4445000" y="6330387"/>
            <a:ext cx="3302000" cy="11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algn="ctr" eaLnBrk="1" hangingPunct="1"/>
            <a:r>
              <a:rPr lang="en-US" altLang="x-none" sz="750" b="0" i="0" dirty="0">
                <a:solidFill>
                  <a:schemeClr val="tx2"/>
                </a:solidFill>
                <a:latin typeface="Amazon Ember" charset="0"/>
                <a:ea typeface="Amazon Ember" charset="0"/>
                <a:cs typeface="Amazon Ember" charset="0"/>
              </a:rPr>
              <a:t>© 2023, Amazon Web Services, Inc. or its affiliates. All rights reserved.</a:t>
            </a:r>
          </a:p>
        </p:txBody>
      </p:sp>
    </p:spTree>
    <p:extLst>
      <p:ext uri="{BB962C8B-B14F-4D97-AF65-F5344CB8AC3E}">
        <p14:creationId xmlns:p14="http://schemas.microsoft.com/office/powerpoint/2010/main" val="109936736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Autofit/>
          </a:bodyPr>
          <a:lstStyle>
            <a:lvl1pPr>
              <a:lnSpc>
                <a:spcPct val="100000"/>
              </a:lnSpc>
              <a:spcBef>
                <a:spcPts val="1000"/>
              </a:spcBef>
              <a:spcAft>
                <a:spcPts val="600"/>
              </a:spcAft>
              <a:defRPr>
                <a:solidFill>
                  <a:srgbClr val="232F3E"/>
                </a:solidFill>
              </a:defRPr>
            </a:lvl1pPr>
            <a:lvl2pPr marL="461963" indent="-228600">
              <a:lnSpc>
                <a:spcPct val="100000"/>
              </a:lnSpc>
              <a:spcBef>
                <a:spcPts val="500"/>
              </a:spcBef>
              <a:spcAft>
                <a:spcPts val="600"/>
              </a:spcAft>
              <a:defRPr>
                <a:solidFill>
                  <a:srgbClr val="232F3E"/>
                </a:solidFill>
              </a:defRPr>
            </a:lvl2pPr>
            <a:lvl3pPr marL="682625" indent="-228600">
              <a:lnSpc>
                <a:spcPct val="100000"/>
              </a:lnSpc>
              <a:spcBef>
                <a:spcPts val="500"/>
              </a:spcBef>
              <a:spcAft>
                <a:spcPts val="600"/>
              </a:spcAft>
              <a:defRPr>
                <a:solidFill>
                  <a:srgbClr val="232F3E"/>
                </a:solidFill>
              </a:defRPr>
            </a:lvl3pPr>
            <a:lvl4pPr marL="914400" indent="-228600">
              <a:lnSpc>
                <a:spcPct val="100000"/>
              </a:lnSpc>
              <a:spcBef>
                <a:spcPts val="500"/>
              </a:spcBef>
              <a:spcAft>
                <a:spcPts val="600"/>
              </a:spcAft>
              <a:defRPr>
                <a:solidFill>
                  <a:srgbClr val="232F3E"/>
                </a:solidFill>
              </a:defRPr>
            </a:lvl4pPr>
            <a:lvl5pPr marL="1146175" indent="-228600">
              <a:lnSpc>
                <a:spcPct val="100000"/>
              </a:lnSpc>
              <a:spcBef>
                <a:spcPts val="500"/>
              </a:spcBef>
              <a:spcAft>
                <a:spcPts val="6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7942023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ustom Layou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564E-12A4-425C-A283-B8B235FFF7C3}"/>
              </a:ext>
            </a:extLst>
          </p:cNvPr>
          <p:cNvSpPr>
            <a:spLocks noGrp="1"/>
          </p:cNvSpPr>
          <p:nvPr>
            <p:ph type="title" hasCustomPrompt="1"/>
          </p:nvPr>
        </p:nvSpPr>
        <p:spPr>
          <a:xfrm>
            <a:off x="365760" y="301751"/>
            <a:ext cx="6613109" cy="6235683"/>
          </a:xfrm>
        </p:spPr>
        <p:txBody>
          <a:bodyPr/>
          <a:lstStyle>
            <a:lvl1pPr algn="ctr">
              <a:defRPr>
                <a:solidFill>
                  <a:schemeClr val="bg1"/>
                </a:solidFill>
              </a:defRPr>
            </a:lvl1pPr>
          </a:lstStyle>
          <a:p>
            <a:r>
              <a:rPr lang="en-US" dirty="0"/>
              <a:t>Any slides that appear following this one are NOT approved for production use.</a:t>
            </a:r>
            <a:br>
              <a:rPr lang="en-US"/>
            </a:br>
            <a:br>
              <a:rPr lang="en-US"/>
            </a:br>
            <a:r>
              <a:rPr lang="en-US"/>
              <a:t>-----------</a:t>
            </a:r>
            <a:br>
              <a:rPr lang="en-US"/>
            </a:br>
            <a:br>
              <a:rPr lang="en-US"/>
            </a:br>
            <a:r>
              <a:rPr lang="en-US"/>
              <a:t>Please </a:t>
            </a:r>
            <a:r>
              <a:rPr lang="en-US" dirty="0"/>
              <a:t>be sure to remove them before you </a:t>
            </a:r>
            <a:r>
              <a:rPr lang="en-US"/>
              <a:t>publish this deck.</a:t>
            </a:r>
            <a:endParaRPr lang="en-US" dirty="0"/>
          </a:p>
        </p:txBody>
      </p:sp>
      <p:sp>
        <p:nvSpPr>
          <p:cNvPr id="3" name="Slide Number Placeholder 2">
            <a:extLst>
              <a:ext uri="{FF2B5EF4-FFF2-40B4-BE49-F238E27FC236}">
                <a16:creationId xmlns:a16="http://schemas.microsoft.com/office/drawing/2014/main" id="{664A4F83-86A8-4C1D-A1E6-8D3A1610F4E7}"/>
              </a:ext>
            </a:extLst>
          </p:cNvPr>
          <p:cNvSpPr>
            <a:spLocks noGrp="1"/>
          </p:cNvSpPr>
          <p:nvPr>
            <p:ph type="sldNum" idx="10"/>
          </p:nvPr>
        </p:nvSpPr>
        <p:spPr/>
        <p:txBody>
          <a:bodyPr/>
          <a:lstStyle/>
          <a:p>
            <a:fld id="{4037B1B0-0345-4E15-985A-6BECCDBE474F}" type="slidenum">
              <a:rPr lang="en-US" smtClean="0"/>
              <a:pPr/>
              <a:t>‹#›</a:t>
            </a:fld>
            <a:endParaRPr lang="en-US" dirty="0"/>
          </a:p>
        </p:txBody>
      </p:sp>
      <p:sp>
        <p:nvSpPr>
          <p:cNvPr id="4" name="Octagon 3">
            <a:extLst>
              <a:ext uri="{FF2B5EF4-FFF2-40B4-BE49-F238E27FC236}">
                <a16:creationId xmlns:a16="http://schemas.microsoft.com/office/drawing/2014/main" id="{A956A5A2-BB71-417D-9961-66F664368EAB}"/>
              </a:ext>
            </a:extLst>
          </p:cNvPr>
          <p:cNvSpPr/>
          <p:nvPr userDrawn="1"/>
        </p:nvSpPr>
        <p:spPr>
          <a:xfrm>
            <a:off x="7348648" y="978647"/>
            <a:ext cx="4360244" cy="4360244"/>
          </a:xfrm>
          <a:prstGeom prst="octag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dirty="0"/>
              <a:t>STOP</a:t>
            </a:r>
          </a:p>
        </p:txBody>
      </p:sp>
    </p:spTree>
    <p:custDataLst>
      <p:tags r:id="rId1"/>
    </p:custDataLst>
    <p:extLst>
      <p:ext uri="{BB962C8B-B14F-4D97-AF65-F5344CB8AC3E}">
        <p14:creationId xmlns:p14="http://schemas.microsoft.com/office/powerpoint/2010/main" val="4150818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331184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D1B7856-86B6-C439-5A4E-2716AC2726C5}"/>
              </a:ext>
            </a:extLst>
          </p:cNvPr>
          <p:cNvSpPr>
            <a:spLocks noGrp="1"/>
          </p:cNvSpPr>
          <p:nvPr>
            <p:ph type="title"/>
          </p:nvPr>
        </p:nvSpPr>
        <p:spPr>
          <a:xfrm>
            <a:off x="304800" y="304800"/>
            <a:ext cx="11582400" cy="638175"/>
          </a:xfrm>
          <a:prstGeom prst="rect">
            <a:avLst/>
          </a:prstGeom>
        </p:spPr>
        <p:txBody>
          <a:bodyPr vert="horz" lIns="0" tIns="45720" rIns="0" bIns="45720" rtlCol="0" anchor="t">
            <a:noAutofit/>
          </a:bodyPr>
          <a:lstStyle/>
          <a:p>
            <a:r>
              <a:rPr lang="en-US" dirty="0"/>
              <a:t>Click to edit Master title style</a:t>
            </a:r>
          </a:p>
        </p:txBody>
      </p:sp>
      <p:sp>
        <p:nvSpPr>
          <p:cNvPr id="8" name="Text Placeholder 2">
            <a:extLst>
              <a:ext uri="{FF2B5EF4-FFF2-40B4-BE49-F238E27FC236}">
                <a16:creationId xmlns:a16="http://schemas.microsoft.com/office/drawing/2014/main" id="{293678F1-827C-37CE-9534-B824154D17A1}"/>
              </a:ext>
            </a:extLst>
          </p:cNvPr>
          <p:cNvSpPr>
            <a:spLocks noGrp="1"/>
          </p:cNvSpPr>
          <p:nvPr>
            <p:ph type="body" idx="1"/>
          </p:nvPr>
        </p:nvSpPr>
        <p:spPr>
          <a:xfrm>
            <a:off x="304801" y="1485900"/>
            <a:ext cx="11582400" cy="1844608"/>
          </a:xfrm>
          <a:prstGeom prst="rect">
            <a:avLst/>
          </a:prstGeom>
        </p:spPr>
        <p:txBody>
          <a:bodyPr vert="horz"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3">
            <a:extLst>
              <a:ext uri="{FF2B5EF4-FFF2-40B4-BE49-F238E27FC236}">
                <a16:creationId xmlns:a16="http://schemas.microsoft.com/office/drawing/2014/main" id="{8F793518-C540-EA36-B2F1-1E52B9AE4377}"/>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A6824A1F-4127-5A43-EFDE-26C5ED2C8C4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04801" y="6428661"/>
            <a:ext cx="388818" cy="232516"/>
          </a:xfrm>
          <a:prstGeom prst="rect">
            <a:avLst/>
          </a:prstGeom>
        </p:spPr>
      </p:pic>
      <p:sp>
        <p:nvSpPr>
          <p:cNvPr id="11" name="Rectangle 10">
            <a:extLst>
              <a:ext uri="{FF2B5EF4-FFF2-40B4-BE49-F238E27FC236}">
                <a16:creationId xmlns:a16="http://schemas.microsoft.com/office/drawing/2014/main" id="{3FFEE849-2B68-A88E-BDBD-979547D331AC}"/>
              </a:ext>
            </a:extLst>
          </p:cNvPr>
          <p:cNvSpPr/>
          <p:nvPr userDrawn="1"/>
        </p:nvSpPr>
        <p:spPr>
          <a:xfrm>
            <a:off x="0" y="0"/>
            <a:ext cx="80304" cy="6858000"/>
          </a:xfrm>
          <a:prstGeom prst="rect">
            <a:avLst/>
          </a:prstGeom>
          <a:solidFill>
            <a:srgbClr val="23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8732435"/>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 id="2147483742" r:id="rId18"/>
  </p:sldLayoutIdLst>
  <p:txStyles>
    <p:titleStyle>
      <a:lvl1pPr algn="l" defTabSz="914400" rtl="0" eaLnBrk="1" latinLnBrk="0" hangingPunct="1">
        <a:lnSpc>
          <a:spcPct val="90000"/>
        </a:lnSpc>
        <a:spcBef>
          <a:spcPct val="0"/>
        </a:spcBef>
        <a:buNone/>
        <a:defRPr sz="4400" b="1" i="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hyperlink" Target="https://docs.aws.amazon.com/codepipeline/latest/userguide/concepts.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hyperlink" Target="https://docs.aws.amazon.com/elasticbeanstalk/latest/dg/using-features.managing.db.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hyperlink" Target="https://docs.aws.amazon.com/codedeploy/latest/userguide/deployment-groups.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docs.aws.amazon.com/elasticbeanstalk/latest/dg/using-features.deploy-existing-version.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ocs.aws.amazon.com/AmazonECS/latest/developerguide/deployment-type-blue-green.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docs.aws.amazon.com/codedeploy/latest/userguide/deployment-configurations.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docs.aws.amazon.com/AmazonECS/latest/developerguide/deployment-circuit-breaker.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hyperlink" Target="https://docs.aws.amazon.com/AmazonECR/latest/userguide/docker-push-ecr-image.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hyperlink" Target="https://docs.aws.amazon.com/AWSCloudFormation/latest/UserGuide/stacks.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hyperlink" Target="https://docs.aws.amazon.com/AWSCloudFormation/latest/UserGuide/using-cfn-updating-stacks-changesets.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hyperlink" Target="https://docs.aws.amazon.com/AmazonECS/latest/developerguide/task_definition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docs.aws.amazon.com/AWSCloudFormation/latest/UserGuide/template-anatomy.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docs.aws.amazon.com/cdk/v2/guide/stacks.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docs.aws.amazon.com/serverless-application-model/latest/developerguide/sam-specification-template-anatomy.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docs.aws.amazon.com/appconfig/latest/userguide/what-is-appconfig.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docs.aws.amazon.com/secretsmanager/latest/userguide/rotating-secrets.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docs.aws.amazon.com/lambda/latest/dg/testing-functions.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docs.aws.amazon.com/lambda/latest/dg/configuration-aliases.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19.png"/><Relationship Id="rId5" Type="http://schemas.openxmlformats.org/officeDocument/2006/relationships/hyperlink" Target="https://docs.aws.amazon.com/lambda/latest/dg/gettingstarted-package.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kiro.dev/docs/hook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kiro.dev/docs/cli/headles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s://docs.aws.amazon.com/AmazonECR/latest/userguide/LifecyclePolicies.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https://docs.aws.amazon.com/AmazonECS/latest/developerguide/deployment-circuit-breaker.html"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hyperlink" Target="https://docs.aws.amazon.com/codepipeline/latest/userguide/approvals.htm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hyperlink" Target="https://docs.aws.amazon.com/serverless-application-model/latest/developerguide/sam-cli-command-reference-sam-local-start-api.htm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hyperlink" Target="https://docs.aws.amazon.com/codedeploy/latest/userguide/deployment-configurations.html"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hyperlink" Target="https://kiro.dev/docs/hooks/"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hyperlink" Target="https://kiro.dev/docs/cli/headless/"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1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1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1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hyperlink" Target="https://aws.amazon.com/blogs/training-and-certification/september-2026-new-offerings/"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hyperlink" Target="https://docs.aws.amazon.com/aws-certification/latest/developer-associate-02/developer-associate-02.html" TargetMode="Externa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E4E6C1-8483-4665-979C-A11FC16603DD}"/>
              </a:ext>
            </a:extLst>
          </p:cNvPr>
          <p:cNvSpPr txBox="1"/>
          <p:nvPr/>
        </p:nvSpPr>
        <p:spPr>
          <a:xfrm>
            <a:off x="371417" y="1118707"/>
            <a:ext cx="6649493" cy="4801314"/>
          </a:xfrm>
          <a:prstGeom prst="rect">
            <a:avLst/>
          </a:prstGeom>
          <a:noFill/>
        </p:spPr>
        <p:txBody>
          <a:bodyPr wrap="square" rtlCol="0">
            <a:spAutoFit/>
          </a:bodyPr>
          <a:lstStyle/>
          <a:p>
            <a:r>
              <a:rPr lang="en-US" b="1" dirty="0">
                <a:solidFill>
                  <a:schemeClr val="bg1"/>
                </a:solidFill>
              </a:rPr>
              <a:t>Reminders:</a:t>
            </a:r>
          </a:p>
          <a:p>
            <a:pPr marL="342900" indent="-342900">
              <a:buFont typeface="+mj-lt"/>
              <a:buAutoNum type="arabicPeriod"/>
            </a:pPr>
            <a:r>
              <a:rPr lang="en-US" dirty="0">
                <a:solidFill>
                  <a:schemeClr val="bg1"/>
                </a:solidFill>
              </a:rPr>
              <a:t>Content Developed and owned by the AWS Partner Certification Readiness (APCR) team – </a:t>
            </a:r>
            <a:r>
              <a:rPr lang="en-US" b="1" dirty="0">
                <a:solidFill>
                  <a:schemeClr val="bg1"/>
                </a:solidFill>
              </a:rPr>
              <a:t>may not</a:t>
            </a:r>
            <a:r>
              <a:rPr lang="en-US" dirty="0">
                <a:solidFill>
                  <a:schemeClr val="bg1"/>
                </a:solidFill>
              </a:rPr>
              <a:t> be used or delivered outside of an authorized APCR program delivery. </a:t>
            </a:r>
          </a:p>
          <a:p>
            <a:pPr marL="342900" indent="-342900">
              <a:buFont typeface="+mj-lt"/>
              <a:buAutoNum type="arabicPeriod"/>
            </a:pPr>
            <a:r>
              <a:rPr lang="en-US" i="1" dirty="0">
                <a:solidFill>
                  <a:schemeClr val="bg1"/>
                </a:solidFill>
              </a:rPr>
              <a:t>Do not</a:t>
            </a:r>
            <a:r>
              <a:rPr lang="en-US" dirty="0">
                <a:solidFill>
                  <a:schemeClr val="bg1"/>
                </a:solidFill>
              </a:rPr>
              <a:t> suggest with guaranteed certification outcomes, or discuss pass rates with attendees.</a:t>
            </a:r>
          </a:p>
          <a:p>
            <a:pPr marL="342900" indent="-342900">
              <a:buFont typeface="+mj-lt"/>
              <a:buAutoNum type="arabicPeriod"/>
            </a:pPr>
            <a:r>
              <a:rPr lang="en-US" dirty="0">
                <a:solidFill>
                  <a:schemeClr val="bg1"/>
                </a:solidFill>
              </a:rPr>
              <a:t>Minimal content modifications are expected. Please highlight to the APCR team significant tailoring needs, OR any noted inaccuracies in the content. Improvement suggestions always welcome. </a:t>
            </a:r>
          </a:p>
          <a:p>
            <a:pPr marL="342900" indent="-342900">
              <a:buFont typeface="+mj-lt"/>
              <a:buAutoNum type="arabicPeriod"/>
            </a:pPr>
            <a:r>
              <a:rPr lang="en-US" dirty="0">
                <a:solidFill>
                  <a:schemeClr val="bg1"/>
                </a:solidFill>
              </a:rPr>
              <a:t>Have fun – You’re representing AWS. Our core goal is to get these individuals Certified, but your enthusiasm, engagement, and professional experiences are what keep them returning to the live sessions!</a:t>
            </a:r>
          </a:p>
          <a:p>
            <a:pPr marL="342900" indent="-342900">
              <a:buFont typeface="+mj-lt"/>
              <a:buAutoNum type="arabicPeriod"/>
            </a:pPr>
            <a:endParaRPr lang="en-US" dirty="0">
              <a:solidFill>
                <a:schemeClr val="bg1"/>
              </a:solidFill>
            </a:endParaRPr>
          </a:p>
          <a:p>
            <a:pPr marL="342900" indent="-342900">
              <a:buFont typeface="+mj-lt"/>
              <a:buAutoNum type="arabicPeriod"/>
            </a:pPr>
            <a:endParaRPr lang="en-US" i="1" dirty="0">
              <a:solidFill>
                <a:schemeClr val="bg1"/>
              </a:solidFill>
            </a:endParaRPr>
          </a:p>
          <a:p>
            <a:pPr marL="342900" indent="-342900">
              <a:buFont typeface="+mj-lt"/>
              <a:buAutoNum type="arabicPeriod"/>
            </a:pPr>
            <a:endParaRPr lang="en-US" i="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74904" y="1115568"/>
            <a:ext cx="6647688" cy="3677482"/>
          </a:xfrm>
          <a:prstGeom prst="rect">
            <a:avLst/>
          </a:prstGeom>
          <a:noFill/>
        </p:spPr>
        <p:txBody>
          <a:bodyPr wrap="square">
            <a:spAutoFit/>
          </a:bodyPr>
          <a:lstStyle/>
          <a:p>
            <a:pPr algn="l"/>
            <a:r>
              <a:rPr b="1" dirty="0">
                <a:solidFill>
                  <a:schemeClr val="bg1"/>
                </a:solidFill>
              </a:rPr>
              <a:t>INSTRUCTOR GUIDANCE</a:t>
            </a:r>
          </a:p>
          <a:p>
            <a:pPr algn="l"/>
            <a:r>
              <a:rPr b="1" dirty="0">
                <a:solidFill>
                  <a:schemeClr val="bg1"/>
                </a:solidFill>
              </a:rPr>
              <a:t>STOP -- read before presenting this deck:</a:t>
            </a:r>
          </a:p>
          <a:p>
            <a:pPr algn="l"/>
            <a:r>
              <a:rPr dirty="0">
                <a:solidFill>
                  <a:schemeClr val="bg1"/>
                </a:solidFill>
              </a:rPr>
              <a:t>This session teaches the DVA-C03 exam. The appendix at the end is DVA-C02</a:t>
            </a:r>
          </a:p>
          <a:p>
            <a:pPr algn="l"/>
            <a:r>
              <a:rPr dirty="0">
                <a:solidFill>
                  <a:schemeClr val="bg1"/>
                </a:solidFill>
              </a:rPr>
              <a:t>reference for anyone who chooses to sit the exam that is live today.</a:t>
            </a:r>
          </a:p>
          <a:p>
            <a:pPr algn="l"/>
            <a:r>
              <a:rPr dirty="0">
                <a:solidFill>
                  <a:schemeClr val="bg1"/>
                </a:solidFill>
              </a:rPr>
              <a:t>The appendix is the one place domain and task numbers appear on screen.</a:t>
            </a:r>
          </a:p>
          <a:p>
            <a:pPr algn="l"/>
            <a:r>
              <a:rPr dirty="0">
                <a:solidFill>
                  <a:schemeClr val="bg1"/>
                </a:solidFill>
              </a:rPr>
              <a:t>Read the speaker notes on this slide before you present. This slide is hidden</a:t>
            </a:r>
          </a:p>
          <a:p>
            <a:pPr algn="l"/>
            <a:r>
              <a:rPr dirty="0">
                <a:solidFill>
                  <a:schemeClr val="bg1"/>
                </a:solidFill>
              </a:rPr>
              <a:t>and must stay hidden -- remove it before exporting a PDF.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Content Review — Session 4</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298448"/>
            <a:ext cx="10972800" cy="548640"/>
          </a:xfrm>
          <a:prstGeom prst="rect">
            <a:avLst/>
          </a:prstGeom>
          <a:noFill/>
        </p:spPr>
        <p:txBody>
          <a:bodyPr wrap="square" anchor="t">
            <a:noAutofit/>
          </a:bodyPr>
          <a:lstStyle/>
          <a:p>
            <a:pPr algn="l"/>
            <a:r>
              <a:rPr sz="2800" b="1" i="0">
                <a:solidFill>
                  <a:srgbClr val="8F0072"/>
                </a:solidFill>
                <a:latin typeface="Amazon Ember Display"/>
              </a:rPr>
              <a:t>AWS Certified Developer – Associate</a:t>
            </a:r>
          </a:p>
        </p:txBody>
      </p:sp>
      <p:sp>
        <p:nvSpPr>
          <p:cNvPr id="5" name="TextBox 4"/>
          <p:cNvSpPr txBox="1"/>
          <p:nvPr/>
        </p:nvSpPr>
        <p:spPr>
          <a:xfrm>
            <a:off x="612648" y="1993392"/>
            <a:ext cx="10972800" cy="457200"/>
          </a:xfrm>
          <a:prstGeom prst="rect">
            <a:avLst/>
          </a:prstGeom>
          <a:noFill/>
        </p:spPr>
        <p:txBody>
          <a:bodyPr wrap="square" anchor="t">
            <a:noAutofit/>
          </a:bodyPr>
          <a:lstStyle/>
          <a:p>
            <a:pPr algn="l"/>
            <a:r>
              <a:rPr sz="2200" b="0" i="0">
                <a:solidFill>
                  <a:srgbClr val="5A6B7B"/>
                </a:solidFill>
                <a:latin typeface="Amazon Ember Display"/>
              </a:rPr>
              <a:t>AWS Partner Certification Readiness</a:t>
            </a:r>
          </a:p>
        </p:txBody>
      </p:sp>
      <p:pic>
        <p:nvPicPr>
          <p:cNvPr id="6" name="Picture 5" descr="APCR-Octopus-crop.png"/>
          <p:cNvPicPr>
            <a:picLocks noChangeAspect="1"/>
          </p:cNvPicPr>
          <p:nvPr/>
        </p:nvPicPr>
        <p:blipFill>
          <a:blip r:embed="rId3"/>
          <a:stretch>
            <a:fillRect/>
          </a:stretch>
        </p:blipFill>
        <p:spPr>
          <a:xfrm>
            <a:off x="612648" y="2834640"/>
            <a:ext cx="4480560" cy="2520315"/>
          </a:xfrm>
          <a:prstGeom prst="rect">
            <a:avLst/>
          </a:prstGeom>
        </p:spPr>
      </p:pic>
      <p:sp>
        <p:nvSpPr>
          <p:cNvPr id="7" name="Isosceles Triangle 6"/>
          <p:cNvSpPr/>
          <p:nvPr/>
        </p:nvSpPr>
        <p:spPr>
          <a:xfrm rot="16200000">
            <a:off x="5202936" y="3893515"/>
            <a:ext cx="274320" cy="402336"/>
          </a:xfrm>
          <a:prstGeom prst="triangl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04104" y="3555187"/>
            <a:ext cx="4663440" cy="1078992"/>
          </a:xfrm>
          <a:prstGeom prst="roundRect">
            <a:avLst>
              <a:gd name="adj" fmla="val 3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660136" y="3710635"/>
            <a:ext cx="4151375" cy="393788"/>
          </a:xfrm>
          <a:prstGeom prst="rect">
            <a:avLst/>
          </a:prstGeom>
          <a:noFill/>
        </p:spPr>
        <p:txBody>
          <a:bodyPr wrap="square" anchor="t">
            <a:noAutofit/>
          </a:bodyPr>
          <a:lstStyle/>
          <a:p>
            <a:pPr algn="ctr"/>
            <a:r>
              <a:rPr sz="1900" b="1" i="0">
                <a:solidFill>
                  <a:srgbClr val="232B37"/>
                </a:solidFill>
                <a:latin typeface="Amazon Ember Display"/>
              </a:rPr>
              <a:t>Welcome back for Session 4.</a:t>
            </a:r>
          </a:p>
        </p:txBody>
      </p:sp>
      <p:sp>
        <p:nvSpPr>
          <p:cNvPr id="10" name="TextBox 9"/>
          <p:cNvSpPr txBox="1"/>
          <p:nvPr/>
        </p:nvSpPr>
        <p:spPr>
          <a:xfrm>
            <a:off x="5660136" y="4122115"/>
            <a:ext cx="4151375" cy="393788"/>
          </a:xfrm>
          <a:prstGeom prst="rect">
            <a:avLst/>
          </a:prstGeom>
          <a:noFill/>
        </p:spPr>
        <p:txBody>
          <a:bodyPr wrap="square" anchor="t">
            <a:noAutofit/>
          </a:bodyPr>
          <a:lstStyle/>
          <a:p>
            <a:pPr algn="ctr"/>
            <a:r>
              <a:rPr sz="1900" b="1" i="0">
                <a:solidFill>
                  <a:srgbClr val="232B37"/>
                </a:solidFill>
                <a:latin typeface="Amazon Ember Display"/>
              </a:rPr>
              <a:t>This week we ship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Event check-in</a:t>
            </a:r>
          </a:p>
        </p:txBody>
      </p:sp>
      <p:sp>
        <p:nvSpPr>
          <p:cNvPr id="3" name="Text Placeholder 2"/>
          <p:cNvSpPr>
            <a:spLocks noGrp="1"/>
          </p:cNvSpPr>
          <p:nvPr>
            <p:ph type="body" sz="quarter" idx="11"/>
          </p:nvPr>
        </p:nvSpPr>
        <p:spPr>
          <a:xfrm>
            <a:off x="322916" y="2434551"/>
            <a:ext cx="3847337" cy="377875"/>
          </a:xfrm>
        </p:spPr>
        <p:txBody>
          <a:bodyPr/>
          <a:lstStyle/>
          <a:p>
            <a:r>
              <a:rPr sz="1800" b="1">
                <a:solidFill>
                  <a:srgbClr val="FF57E9"/>
                </a:solidFill>
                <a:latin typeface="Amazon Ember Display"/>
              </a:rPr>
              <a:t>DEVELOPER – ASSOCIATE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Week 4 digital training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371600"/>
            <a:ext cx="6317763" cy="2263571"/>
          </a:xfrm>
          <a:prstGeom prst="roundRect">
            <a:avLst>
              <a:gd name="adj" fmla="val 807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5528" y="1517904"/>
            <a:ext cx="5952003" cy="377875"/>
          </a:xfrm>
          <a:prstGeom prst="rect">
            <a:avLst/>
          </a:prstGeom>
          <a:noFill/>
        </p:spPr>
        <p:txBody>
          <a:bodyPr wrap="square" anchor="t">
            <a:noAutofit/>
          </a:bodyPr>
          <a:lstStyle/>
          <a:p>
            <a:pPr algn="l"/>
            <a:r>
              <a:rPr sz="1800" b="1" i="0">
                <a:solidFill>
                  <a:srgbClr val="8F0072"/>
                </a:solidFill>
                <a:latin typeface="Amazon Ember Display"/>
              </a:rPr>
              <a:t>Learning Plan courses</a:t>
            </a:r>
          </a:p>
        </p:txBody>
      </p:sp>
      <p:sp>
        <p:nvSpPr>
          <p:cNvPr id="6" name="Rectangle 5"/>
          <p:cNvSpPr/>
          <p:nvPr/>
        </p:nvSpPr>
        <p:spPr>
          <a:xfrm>
            <a:off x="795528" y="1859203"/>
            <a:ext cx="5952003" cy="32004"/>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95528" y="1950643"/>
            <a:ext cx="5952003"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41832" y="2000427"/>
            <a:ext cx="5659395" cy="346049"/>
          </a:xfrm>
          <a:prstGeom prst="rect">
            <a:avLst/>
          </a:prstGeom>
          <a:noFill/>
        </p:spPr>
        <p:txBody>
          <a:bodyPr wrap="square" anchor="t">
            <a:noAutofit/>
          </a:bodyPr>
          <a:lstStyle/>
          <a:p>
            <a:pPr algn="l"/>
            <a:r>
              <a:rPr sz="1600" b="0" i="0">
                <a:solidFill>
                  <a:srgbClr val="232B37"/>
                </a:solidFill>
                <a:latin typeface="Amazon Ember Display"/>
              </a:rPr>
              <a:t>Getting Started with AWS CloudFormation</a:t>
            </a:r>
          </a:p>
        </p:txBody>
      </p:sp>
      <p:sp>
        <p:nvSpPr>
          <p:cNvPr id="9" name="Rounded Rectangle 8"/>
          <p:cNvSpPr/>
          <p:nvPr/>
        </p:nvSpPr>
        <p:spPr>
          <a:xfrm>
            <a:off x="795528" y="2389555"/>
            <a:ext cx="5952003"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832" y="2439339"/>
            <a:ext cx="5659395" cy="346049"/>
          </a:xfrm>
          <a:prstGeom prst="rect">
            <a:avLst/>
          </a:prstGeom>
          <a:noFill/>
        </p:spPr>
        <p:txBody>
          <a:bodyPr wrap="square" anchor="t">
            <a:noAutofit/>
          </a:bodyPr>
          <a:lstStyle/>
          <a:p>
            <a:pPr algn="l"/>
            <a:r>
              <a:rPr sz="1600" b="0" i="0">
                <a:solidFill>
                  <a:srgbClr val="232B37"/>
                </a:solidFill>
                <a:latin typeface="Amazon Ember Display"/>
              </a:rPr>
              <a:t>Deploying Serverless Applications</a:t>
            </a:r>
          </a:p>
        </p:txBody>
      </p:sp>
      <p:sp>
        <p:nvSpPr>
          <p:cNvPr id="11" name="Rounded Rectangle 10"/>
          <p:cNvSpPr/>
          <p:nvPr/>
        </p:nvSpPr>
        <p:spPr>
          <a:xfrm>
            <a:off x="795528" y="2828467"/>
            <a:ext cx="5952003" cy="66040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41832" y="2892475"/>
            <a:ext cx="5659395" cy="600659"/>
          </a:xfrm>
          <a:prstGeom prst="rect">
            <a:avLst/>
          </a:prstGeom>
          <a:noFill/>
        </p:spPr>
        <p:txBody>
          <a:bodyPr wrap="square" anchor="t">
            <a:noAutofit/>
          </a:bodyPr>
          <a:lstStyle/>
          <a:p>
            <a:pPr algn="l"/>
            <a:r>
              <a:rPr sz="1600" b="0" i="0">
                <a:solidFill>
                  <a:srgbClr val="232B37"/>
                </a:solidFill>
                <a:latin typeface="Amazon Ember Display"/>
              </a:rPr>
              <a:t>Deep Dive with Security: AWS Identity and Access</a:t>
            </a:r>
          </a:p>
          <a:p>
            <a:pPr algn="l"/>
            <a:r>
              <a:rPr sz="1600" b="0" i="0">
                <a:solidFill>
                  <a:srgbClr val="232B37"/>
                </a:solidFill>
                <a:latin typeface="Amazon Ember Display"/>
              </a:rPr>
              <a:t>Management (IAM)</a:t>
            </a:r>
          </a:p>
        </p:txBody>
      </p:sp>
      <p:sp>
        <p:nvSpPr>
          <p:cNvPr id="13" name="Rounded Rectangle 12"/>
          <p:cNvSpPr/>
          <p:nvPr/>
        </p:nvSpPr>
        <p:spPr>
          <a:xfrm>
            <a:off x="7149867" y="1371600"/>
            <a:ext cx="4435580" cy="2263571"/>
          </a:xfrm>
          <a:prstGeom prst="roundRect">
            <a:avLst>
              <a:gd name="adj" fmla="val 807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32747" y="1517904"/>
            <a:ext cx="4069820" cy="377875"/>
          </a:xfrm>
          <a:prstGeom prst="rect">
            <a:avLst/>
          </a:prstGeom>
          <a:noFill/>
        </p:spPr>
        <p:txBody>
          <a:bodyPr wrap="square" anchor="t">
            <a:noAutofit/>
          </a:bodyPr>
          <a:lstStyle/>
          <a:p>
            <a:pPr algn="l"/>
            <a:r>
              <a:rPr sz="1800" b="1" i="0">
                <a:solidFill>
                  <a:srgbClr val="8F0072"/>
                </a:solidFill>
                <a:latin typeface="Amazon Ember Display"/>
              </a:rPr>
              <a:t>Optional Exam Prep Plan</a:t>
            </a:r>
          </a:p>
        </p:txBody>
      </p:sp>
      <p:sp>
        <p:nvSpPr>
          <p:cNvPr id="15" name="Rectangle 14"/>
          <p:cNvSpPr/>
          <p:nvPr/>
        </p:nvSpPr>
        <p:spPr>
          <a:xfrm>
            <a:off x="7332747" y="1859203"/>
            <a:ext cx="4069820" cy="32004"/>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332747" y="1950643"/>
            <a:ext cx="4069820" cy="66040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479051" y="2014651"/>
            <a:ext cx="3777212" cy="600659"/>
          </a:xfrm>
          <a:prstGeom prst="rect">
            <a:avLst/>
          </a:prstGeom>
          <a:noFill/>
        </p:spPr>
        <p:txBody>
          <a:bodyPr wrap="square" anchor="t">
            <a:noAutofit/>
          </a:bodyPr>
          <a:lstStyle/>
          <a:p>
            <a:pPr algn="l"/>
            <a:r>
              <a:rPr sz="1600" b="0" i="0">
                <a:solidFill>
                  <a:srgbClr val="232B37"/>
                </a:solidFill>
                <a:latin typeface="Amazon Ember Display"/>
              </a:rPr>
              <a:t>Continue: Cloud Quest: Serverless</a:t>
            </a:r>
          </a:p>
          <a:p>
            <a:pPr algn="l"/>
            <a:r>
              <a:rPr sz="1600" b="0" i="0">
                <a:solidFill>
                  <a:srgbClr val="232B37"/>
                </a:solidFill>
                <a:latin typeface="Amazon Ember Display"/>
              </a:rPr>
              <a:t>Developer*</a:t>
            </a:r>
          </a:p>
        </p:txBody>
      </p:sp>
      <p:sp>
        <p:nvSpPr>
          <p:cNvPr id="18" name="Rounded Rectangle 17"/>
          <p:cNvSpPr/>
          <p:nvPr/>
        </p:nvSpPr>
        <p:spPr>
          <a:xfrm>
            <a:off x="7332747" y="2665907"/>
            <a:ext cx="4069820"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479051" y="2715691"/>
            <a:ext cx="3777212" cy="346049"/>
          </a:xfrm>
          <a:prstGeom prst="rect">
            <a:avLst/>
          </a:prstGeom>
          <a:noFill/>
        </p:spPr>
        <p:txBody>
          <a:bodyPr wrap="square" anchor="t">
            <a:noAutofit/>
          </a:bodyPr>
          <a:lstStyle/>
          <a:p>
            <a:pPr algn="l"/>
            <a:r>
              <a:rPr sz="1600" b="0" i="0">
                <a:solidFill>
                  <a:srgbClr val="232B37"/>
                </a:solidFill>
                <a:latin typeface="Amazon Ember Display"/>
              </a:rPr>
              <a:t>Complete: Domain 4 review</a:t>
            </a:r>
          </a:p>
        </p:txBody>
      </p:sp>
      <p:sp>
        <p:nvSpPr>
          <p:cNvPr id="20" name="Rounded Rectangle 19"/>
          <p:cNvSpPr/>
          <p:nvPr/>
        </p:nvSpPr>
        <p:spPr>
          <a:xfrm>
            <a:off x="7332747" y="3104819"/>
            <a:ext cx="4069820"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479051" y="3154603"/>
            <a:ext cx="3777212" cy="346049"/>
          </a:xfrm>
          <a:prstGeom prst="rect">
            <a:avLst/>
          </a:prstGeom>
          <a:noFill/>
        </p:spPr>
        <p:txBody>
          <a:bodyPr wrap="square" anchor="t">
            <a:noAutofit/>
          </a:bodyPr>
          <a:lstStyle/>
          <a:p>
            <a:pPr algn="l"/>
            <a:r>
              <a:rPr sz="1600" b="0" i="0">
                <a:solidFill>
                  <a:srgbClr val="232B37"/>
                </a:solidFill>
                <a:latin typeface="Amazon Ember Display"/>
              </a:rPr>
              <a:t>Complete: Domain 4 practice*</a:t>
            </a:r>
          </a:p>
        </p:txBody>
      </p:sp>
      <p:sp>
        <p:nvSpPr>
          <p:cNvPr id="22" name="TextBox 21"/>
          <p:cNvSpPr txBox="1"/>
          <p:nvPr/>
        </p:nvSpPr>
        <p:spPr>
          <a:xfrm>
            <a:off x="612648" y="3726611"/>
            <a:ext cx="10972800" cy="346049"/>
          </a:xfrm>
          <a:prstGeom prst="rect">
            <a:avLst/>
          </a:prstGeom>
          <a:noFill/>
        </p:spPr>
        <p:txBody>
          <a:bodyPr wrap="square" anchor="ctr">
            <a:noAutofit/>
          </a:bodyPr>
          <a:lstStyle/>
          <a:p>
            <a:pPr algn="l"/>
            <a:r>
              <a:rPr sz="1600" b="0" i="0">
                <a:solidFill>
                  <a:srgbClr val="5A6B7B"/>
                </a:solidFill>
                <a:latin typeface="Amazon Ember Display"/>
              </a:rPr>
              <a:t>* Requires an AWS Skill Builder subscription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Today's focus: Testing and Deployment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481328"/>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50392" y="1609344"/>
            <a:ext cx="4828031" cy="441528"/>
          </a:xfrm>
          <a:prstGeom prst="rect">
            <a:avLst/>
          </a:prstGeom>
          <a:noFill/>
        </p:spPr>
        <p:txBody>
          <a:bodyPr wrap="square" anchor="t">
            <a:noAutofit/>
          </a:bodyPr>
          <a:lstStyle/>
          <a:p>
            <a:pPr algn="ctr"/>
            <a:r>
              <a:rPr sz="2200" b="1" i="0">
                <a:solidFill>
                  <a:srgbClr val="8F0072"/>
                </a:solidFill>
                <a:latin typeface="Amazon Ember Display"/>
              </a:rPr>
              <a:t>Developer Tools</a:t>
            </a:r>
          </a:p>
        </p:txBody>
      </p:sp>
      <p:sp>
        <p:nvSpPr>
          <p:cNvPr id="6" name="Rectangle 5"/>
          <p:cNvSpPr/>
          <p:nvPr/>
        </p:nvSpPr>
        <p:spPr>
          <a:xfrm>
            <a:off x="850392" y="202996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0392" y="212140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33272" y="2162048"/>
            <a:ext cx="4462271" cy="346049"/>
          </a:xfrm>
          <a:prstGeom prst="rect">
            <a:avLst/>
          </a:prstGeom>
          <a:noFill/>
        </p:spPr>
        <p:txBody>
          <a:bodyPr wrap="square" anchor="t">
            <a:noAutofit/>
          </a:bodyPr>
          <a:lstStyle/>
          <a:p>
            <a:pPr algn="ctr"/>
            <a:r>
              <a:rPr sz="1600" b="1" i="0">
                <a:solidFill>
                  <a:srgbClr val="232B37"/>
                </a:solidFill>
                <a:latin typeface="Amazon Ember Display"/>
              </a:rPr>
              <a:t>AWS CodePipeline</a:t>
            </a:r>
          </a:p>
        </p:txBody>
      </p:sp>
      <p:sp>
        <p:nvSpPr>
          <p:cNvPr id="9" name="Rounded Rectangle 8"/>
          <p:cNvSpPr/>
          <p:nvPr/>
        </p:nvSpPr>
        <p:spPr>
          <a:xfrm>
            <a:off x="850392" y="2523744"/>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33272" y="2564384"/>
            <a:ext cx="4462271" cy="346049"/>
          </a:xfrm>
          <a:prstGeom prst="rect">
            <a:avLst/>
          </a:prstGeom>
          <a:noFill/>
        </p:spPr>
        <p:txBody>
          <a:bodyPr wrap="square" anchor="t">
            <a:noAutofit/>
          </a:bodyPr>
          <a:lstStyle/>
          <a:p>
            <a:pPr algn="ctr"/>
            <a:r>
              <a:rPr sz="1600" b="1" i="0">
                <a:solidFill>
                  <a:srgbClr val="232B37"/>
                </a:solidFill>
                <a:latin typeface="Amazon Ember Display"/>
              </a:rPr>
              <a:t>AWS CodeBuild</a:t>
            </a:r>
          </a:p>
        </p:txBody>
      </p:sp>
      <p:sp>
        <p:nvSpPr>
          <p:cNvPr id="11" name="Rounded Rectangle 10"/>
          <p:cNvSpPr/>
          <p:nvPr/>
        </p:nvSpPr>
        <p:spPr>
          <a:xfrm>
            <a:off x="850392" y="2926080"/>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33272" y="2966720"/>
            <a:ext cx="4462271" cy="346049"/>
          </a:xfrm>
          <a:prstGeom prst="rect">
            <a:avLst/>
          </a:prstGeom>
          <a:noFill/>
        </p:spPr>
        <p:txBody>
          <a:bodyPr wrap="square" anchor="t">
            <a:noAutofit/>
          </a:bodyPr>
          <a:lstStyle/>
          <a:p>
            <a:pPr algn="ctr"/>
            <a:r>
              <a:rPr sz="1600" b="1" i="0">
                <a:solidFill>
                  <a:srgbClr val="232B37"/>
                </a:solidFill>
                <a:latin typeface="Amazon Ember Display"/>
              </a:rPr>
              <a:t>AWS CodeDeploy</a:t>
            </a:r>
          </a:p>
        </p:txBody>
      </p:sp>
      <p:sp>
        <p:nvSpPr>
          <p:cNvPr id="13" name="Rounded Rectangle 12"/>
          <p:cNvSpPr/>
          <p:nvPr/>
        </p:nvSpPr>
        <p:spPr>
          <a:xfrm>
            <a:off x="6281928" y="1481328"/>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519672" y="1609344"/>
            <a:ext cx="4828031" cy="441528"/>
          </a:xfrm>
          <a:prstGeom prst="rect">
            <a:avLst/>
          </a:prstGeom>
          <a:noFill/>
        </p:spPr>
        <p:txBody>
          <a:bodyPr wrap="square" anchor="t">
            <a:noAutofit/>
          </a:bodyPr>
          <a:lstStyle/>
          <a:p>
            <a:pPr algn="ctr"/>
            <a:r>
              <a:rPr sz="2200" b="1" i="0">
                <a:solidFill>
                  <a:srgbClr val="8F0072"/>
                </a:solidFill>
                <a:latin typeface="Amazon Ember Display"/>
              </a:rPr>
              <a:t>Infrastructure as code</a:t>
            </a:r>
          </a:p>
        </p:txBody>
      </p:sp>
      <p:sp>
        <p:nvSpPr>
          <p:cNvPr id="15" name="Rectangle 14"/>
          <p:cNvSpPr/>
          <p:nvPr/>
        </p:nvSpPr>
        <p:spPr>
          <a:xfrm>
            <a:off x="6519672" y="202996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519672" y="212140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02552" y="2162048"/>
            <a:ext cx="4462271" cy="346049"/>
          </a:xfrm>
          <a:prstGeom prst="rect">
            <a:avLst/>
          </a:prstGeom>
          <a:noFill/>
        </p:spPr>
        <p:txBody>
          <a:bodyPr wrap="square" anchor="t">
            <a:noAutofit/>
          </a:bodyPr>
          <a:lstStyle/>
          <a:p>
            <a:pPr algn="ctr"/>
            <a:r>
              <a:rPr sz="1600" b="1" i="0">
                <a:solidFill>
                  <a:srgbClr val="232B37"/>
                </a:solidFill>
                <a:latin typeface="Amazon Ember Display"/>
              </a:rPr>
              <a:t>AWS CloudFormation</a:t>
            </a:r>
          </a:p>
        </p:txBody>
      </p:sp>
      <p:sp>
        <p:nvSpPr>
          <p:cNvPr id="18" name="Rounded Rectangle 17"/>
          <p:cNvSpPr/>
          <p:nvPr/>
        </p:nvSpPr>
        <p:spPr>
          <a:xfrm>
            <a:off x="6519672" y="2523744"/>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702552" y="2564384"/>
            <a:ext cx="4462271" cy="346049"/>
          </a:xfrm>
          <a:prstGeom prst="rect">
            <a:avLst/>
          </a:prstGeom>
          <a:noFill/>
        </p:spPr>
        <p:txBody>
          <a:bodyPr wrap="square" anchor="t">
            <a:noAutofit/>
          </a:bodyPr>
          <a:lstStyle/>
          <a:p>
            <a:pPr algn="ctr"/>
            <a:r>
              <a:rPr sz="1600" b="1" i="0">
                <a:solidFill>
                  <a:srgbClr val="232B37"/>
                </a:solidFill>
                <a:latin typeface="Amazon Ember Display"/>
              </a:rPr>
              <a:t>AWS CDK</a:t>
            </a:r>
          </a:p>
        </p:txBody>
      </p:sp>
      <p:sp>
        <p:nvSpPr>
          <p:cNvPr id="20" name="Rounded Rectangle 19"/>
          <p:cNvSpPr/>
          <p:nvPr/>
        </p:nvSpPr>
        <p:spPr>
          <a:xfrm>
            <a:off x="6519672" y="2926080"/>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02552" y="2966720"/>
            <a:ext cx="4462271" cy="346049"/>
          </a:xfrm>
          <a:prstGeom prst="rect">
            <a:avLst/>
          </a:prstGeom>
          <a:noFill/>
        </p:spPr>
        <p:txBody>
          <a:bodyPr wrap="square" anchor="t">
            <a:noAutofit/>
          </a:bodyPr>
          <a:lstStyle/>
          <a:p>
            <a:pPr algn="ctr"/>
            <a:r>
              <a:rPr sz="1600" b="1" i="0">
                <a:solidFill>
                  <a:srgbClr val="232B37"/>
                </a:solidFill>
                <a:latin typeface="Amazon Ember Display"/>
              </a:rPr>
              <a:t>AWS SAM</a:t>
            </a:r>
          </a:p>
        </p:txBody>
      </p:sp>
      <p:sp>
        <p:nvSpPr>
          <p:cNvPr id="22" name="Rounded Rectangle 21"/>
          <p:cNvSpPr/>
          <p:nvPr/>
        </p:nvSpPr>
        <p:spPr>
          <a:xfrm>
            <a:off x="612648" y="3675887"/>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50392" y="3803903"/>
            <a:ext cx="4828031" cy="441528"/>
          </a:xfrm>
          <a:prstGeom prst="rect">
            <a:avLst/>
          </a:prstGeom>
          <a:noFill/>
        </p:spPr>
        <p:txBody>
          <a:bodyPr wrap="square" anchor="t">
            <a:noAutofit/>
          </a:bodyPr>
          <a:lstStyle/>
          <a:p>
            <a:pPr algn="ctr"/>
            <a:r>
              <a:rPr sz="2200" b="1" i="0">
                <a:solidFill>
                  <a:srgbClr val="8F0072"/>
                </a:solidFill>
                <a:latin typeface="Amazon Ember Display"/>
              </a:rPr>
              <a:t>Containers</a:t>
            </a:r>
          </a:p>
        </p:txBody>
      </p:sp>
      <p:sp>
        <p:nvSpPr>
          <p:cNvPr id="24" name="Rectangle 23"/>
          <p:cNvSpPr/>
          <p:nvPr/>
        </p:nvSpPr>
        <p:spPr>
          <a:xfrm>
            <a:off x="850392" y="4224527"/>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50392" y="431596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33272" y="4356608"/>
            <a:ext cx="4462271" cy="346049"/>
          </a:xfrm>
          <a:prstGeom prst="rect">
            <a:avLst/>
          </a:prstGeom>
          <a:noFill/>
        </p:spPr>
        <p:txBody>
          <a:bodyPr wrap="square" anchor="t">
            <a:noAutofit/>
          </a:bodyPr>
          <a:lstStyle/>
          <a:p>
            <a:pPr algn="ctr"/>
            <a:r>
              <a:rPr sz="1600" b="1" i="0">
                <a:solidFill>
                  <a:srgbClr val="232B37"/>
                </a:solidFill>
                <a:latin typeface="Amazon Ember Display"/>
              </a:rPr>
              <a:t>Amazon ECR</a:t>
            </a:r>
          </a:p>
        </p:txBody>
      </p:sp>
      <p:sp>
        <p:nvSpPr>
          <p:cNvPr id="27" name="Rounded Rectangle 26"/>
          <p:cNvSpPr/>
          <p:nvPr/>
        </p:nvSpPr>
        <p:spPr>
          <a:xfrm>
            <a:off x="850392" y="4718304"/>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33272" y="4758944"/>
            <a:ext cx="4462271" cy="346049"/>
          </a:xfrm>
          <a:prstGeom prst="rect">
            <a:avLst/>
          </a:prstGeom>
          <a:noFill/>
        </p:spPr>
        <p:txBody>
          <a:bodyPr wrap="square" anchor="t">
            <a:noAutofit/>
          </a:bodyPr>
          <a:lstStyle/>
          <a:p>
            <a:pPr algn="ctr"/>
            <a:r>
              <a:rPr sz="1600" b="1" i="0">
                <a:solidFill>
                  <a:srgbClr val="232B37"/>
                </a:solidFill>
                <a:latin typeface="Amazon Ember Display"/>
              </a:rPr>
              <a:t>Amazon ECS</a:t>
            </a:r>
          </a:p>
        </p:txBody>
      </p:sp>
      <p:sp>
        <p:nvSpPr>
          <p:cNvPr id="29" name="Rounded Rectangle 28"/>
          <p:cNvSpPr/>
          <p:nvPr/>
        </p:nvSpPr>
        <p:spPr>
          <a:xfrm>
            <a:off x="850392" y="5120640"/>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033272" y="5161280"/>
            <a:ext cx="4462271" cy="346049"/>
          </a:xfrm>
          <a:prstGeom prst="rect">
            <a:avLst/>
          </a:prstGeom>
          <a:noFill/>
        </p:spPr>
        <p:txBody>
          <a:bodyPr wrap="square" anchor="t">
            <a:noAutofit/>
          </a:bodyPr>
          <a:lstStyle/>
          <a:p>
            <a:pPr algn="ctr"/>
            <a:r>
              <a:rPr sz="1600" b="1" i="0">
                <a:solidFill>
                  <a:srgbClr val="232B37"/>
                </a:solidFill>
                <a:latin typeface="Amazon Ember Display"/>
              </a:rPr>
              <a:t>AWS Fargate</a:t>
            </a:r>
          </a:p>
        </p:txBody>
      </p:sp>
      <p:sp>
        <p:nvSpPr>
          <p:cNvPr id="31" name="Rounded Rectangle 30"/>
          <p:cNvSpPr/>
          <p:nvPr/>
        </p:nvSpPr>
        <p:spPr>
          <a:xfrm>
            <a:off x="6281928" y="3675887"/>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19672" y="3803903"/>
            <a:ext cx="4828031" cy="441528"/>
          </a:xfrm>
          <a:prstGeom prst="rect">
            <a:avLst/>
          </a:prstGeom>
          <a:noFill/>
        </p:spPr>
        <p:txBody>
          <a:bodyPr wrap="square" anchor="t">
            <a:noAutofit/>
          </a:bodyPr>
          <a:lstStyle/>
          <a:p>
            <a:pPr algn="ctr"/>
            <a:r>
              <a:rPr sz="2200" b="1" i="0">
                <a:solidFill>
                  <a:srgbClr val="8F0072"/>
                </a:solidFill>
                <a:latin typeface="Amazon Ember Display"/>
              </a:rPr>
              <a:t>Platform and configuration</a:t>
            </a:r>
          </a:p>
        </p:txBody>
      </p:sp>
      <p:sp>
        <p:nvSpPr>
          <p:cNvPr id="33" name="Rectangle 32"/>
          <p:cNvSpPr/>
          <p:nvPr/>
        </p:nvSpPr>
        <p:spPr>
          <a:xfrm>
            <a:off x="6519672" y="4224527"/>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519672" y="431596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702552" y="4356608"/>
            <a:ext cx="4462271" cy="346049"/>
          </a:xfrm>
          <a:prstGeom prst="rect">
            <a:avLst/>
          </a:prstGeom>
          <a:noFill/>
        </p:spPr>
        <p:txBody>
          <a:bodyPr wrap="square" anchor="t">
            <a:noAutofit/>
          </a:bodyPr>
          <a:lstStyle/>
          <a:p>
            <a:pPr algn="ctr"/>
            <a:r>
              <a:rPr sz="1600" b="1" i="0">
                <a:solidFill>
                  <a:srgbClr val="232B37"/>
                </a:solidFill>
                <a:latin typeface="Amazon Ember Display"/>
              </a:rPr>
              <a:t>AWS Elastic Beanstalk</a:t>
            </a:r>
          </a:p>
        </p:txBody>
      </p:sp>
      <p:sp>
        <p:nvSpPr>
          <p:cNvPr id="36" name="Rounded Rectangle 35"/>
          <p:cNvSpPr/>
          <p:nvPr/>
        </p:nvSpPr>
        <p:spPr>
          <a:xfrm>
            <a:off x="6519672" y="4718304"/>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702552" y="4758944"/>
            <a:ext cx="4462271" cy="346049"/>
          </a:xfrm>
          <a:prstGeom prst="rect">
            <a:avLst/>
          </a:prstGeom>
          <a:noFill/>
        </p:spPr>
        <p:txBody>
          <a:bodyPr wrap="square" anchor="t">
            <a:noAutofit/>
          </a:bodyPr>
          <a:lstStyle/>
          <a:p>
            <a:pPr algn="ctr"/>
            <a:r>
              <a:rPr sz="1600" b="1" i="0">
                <a:solidFill>
                  <a:srgbClr val="232B37"/>
                </a:solidFill>
                <a:latin typeface="Amazon Ember Display"/>
              </a:rPr>
              <a:t>AWS AppConfig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Your five weeks at a glance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51790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1517904"/>
            <a:ext cx="1325880" cy="731520"/>
          </a:xfrm>
          <a:prstGeom prst="rect">
            <a:avLst/>
          </a:prstGeom>
          <a:noFill/>
        </p:spPr>
        <p:txBody>
          <a:bodyPr wrap="square" anchor="ctr">
            <a:noAutofit/>
          </a:bodyPr>
          <a:lstStyle/>
          <a:p>
            <a:pPr algn="ctr"/>
            <a:r>
              <a:rPr sz="2600" b="1" i="0">
                <a:solidFill>
                  <a:srgbClr val="5A6B7B"/>
                </a:solidFill>
                <a:latin typeface="Amazon Ember Display"/>
              </a:rPr>
              <a:t>01</a:t>
            </a:r>
          </a:p>
        </p:txBody>
      </p:sp>
      <p:sp>
        <p:nvSpPr>
          <p:cNvPr id="6" name="TextBox 5"/>
          <p:cNvSpPr txBox="1"/>
          <p:nvPr/>
        </p:nvSpPr>
        <p:spPr>
          <a:xfrm>
            <a:off x="2167128" y="1609344"/>
            <a:ext cx="9326880" cy="548640"/>
          </a:xfrm>
          <a:prstGeom prst="rect">
            <a:avLst/>
          </a:prstGeom>
          <a:noFill/>
        </p:spPr>
        <p:txBody>
          <a:bodyPr wrap="square" anchor="ctr">
            <a:noAutofit/>
          </a:bodyPr>
          <a:lstStyle/>
          <a:p>
            <a:pPr algn="l"/>
            <a:r>
              <a:rPr sz="1600" b="0" i="0">
                <a:solidFill>
                  <a:srgbClr val="5A6B7B"/>
                </a:solidFill>
                <a:latin typeface="Amazon Ember Display"/>
              </a:rPr>
              <a:t>Regions/AZs · CloudFront · EC2/AMIs/Auto Scaling · ELB · ECS/EKS/Fargate/ECR · VPC · IAM</a:t>
            </a:r>
          </a:p>
        </p:txBody>
      </p:sp>
      <p:sp>
        <p:nvSpPr>
          <p:cNvPr id="7" name="Rounded Rectangle 6"/>
          <p:cNvSpPr/>
          <p:nvPr/>
        </p:nvSpPr>
        <p:spPr>
          <a:xfrm>
            <a:off x="612648" y="234086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12648" y="2340864"/>
            <a:ext cx="1325880" cy="731520"/>
          </a:xfrm>
          <a:prstGeom prst="rect">
            <a:avLst/>
          </a:prstGeom>
          <a:noFill/>
        </p:spPr>
        <p:txBody>
          <a:bodyPr wrap="square" anchor="ctr">
            <a:noAutofit/>
          </a:bodyPr>
          <a:lstStyle/>
          <a:p>
            <a:pPr algn="ctr"/>
            <a:r>
              <a:rPr sz="2600" b="1" i="0">
                <a:solidFill>
                  <a:srgbClr val="5A6B7B"/>
                </a:solidFill>
                <a:latin typeface="Amazon Ember Display"/>
              </a:rPr>
              <a:t>02</a:t>
            </a:r>
          </a:p>
        </p:txBody>
      </p:sp>
      <p:sp>
        <p:nvSpPr>
          <p:cNvPr id="9" name="TextBox 8"/>
          <p:cNvSpPr txBox="1"/>
          <p:nvPr/>
        </p:nvSpPr>
        <p:spPr>
          <a:xfrm>
            <a:off x="2167128" y="2432304"/>
            <a:ext cx="9326880" cy="548640"/>
          </a:xfrm>
          <a:prstGeom prst="rect">
            <a:avLst/>
          </a:prstGeom>
          <a:noFill/>
        </p:spPr>
        <p:txBody>
          <a:bodyPr wrap="square" anchor="ctr">
            <a:noAutofit/>
          </a:bodyPr>
          <a:lstStyle/>
          <a:p>
            <a:pPr algn="l"/>
            <a:r>
              <a:rPr sz="1600" b="0" i="0">
                <a:solidFill>
                  <a:srgbClr val="5A6B7B"/>
                </a:solidFill>
                <a:latin typeface="Amazon Ember Display"/>
              </a:rPr>
              <a:t>API Gateway · Lambda · DynamoDB · Step Functions · SQS · SNS · Amazon Bedrock · Kiro</a:t>
            </a:r>
          </a:p>
        </p:txBody>
      </p:sp>
      <p:sp>
        <p:nvSpPr>
          <p:cNvPr id="10" name="Rounded Rectangle 9"/>
          <p:cNvSpPr/>
          <p:nvPr/>
        </p:nvSpPr>
        <p:spPr>
          <a:xfrm>
            <a:off x="612648" y="316382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12648" y="3163824"/>
            <a:ext cx="1325880" cy="731520"/>
          </a:xfrm>
          <a:prstGeom prst="rect">
            <a:avLst/>
          </a:prstGeom>
          <a:noFill/>
        </p:spPr>
        <p:txBody>
          <a:bodyPr wrap="square" anchor="ctr">
            <a:noAutofit/>
          </a:bodyPr>
          <a:lstStyle/>
          <a:p>
            <a:pPr algn="ctr"/>
            <a:r>
              <a:rPr sz="2600" b="1" i="0">
                <a:solidFill>
                  <a:srgbClr val="5A6B7B"/>
                </a:solidFill>
                <a:latin typeface="Amazon Ember Display"/>
              </a:rPr>
              <a:t>03</a:t>
            </a:r>
          </a:p>
        </p:txBody>
      </p:sp>
      <p:sp>
        <p:nvSpPr>
          <p:cNvPr id="12" name="TextBox 11"/>
          <p:cNvSpPr txBox="1"/>
          <p:nvPr/>
        </p:nvSpPr>
        <p:spPr>
          <a:xfrm>
            <a:off x="2167128" y="3255264"/>
            <a:ext cx="9326880" cy="548640"/>
          </a:xfrm>
          <a:prstGeom prst="rect">
            <a:avLst/>
          </a:prstGeom>
          <a:noFill/>
        </p:spPr>
        <p:txBody>
          <a:bodyPr wrap="square" anchor="ctr">
            <a:noAutofit/>
          </a:bodyPr>
          <a:lstStyle/>
          <a:p>
            <a:pPr algn="l"/>
            <a:r>
              <a:rPr sz="1600" b="0" i="0">
                <a:solidFill>
                  <a:srgbClr val="5A6B7B"/>
                </a:solidFill>
                <a:latin typeface="Amazon Ember Display"/>
              </a:rPr>
              <a:t>SQS · SNS · EventBridge · ElastiCache · Cognito · CloudWatch · CloudTrail</a:t>
            </a:r>
          </a:p>
        </p:txBody>
      </p:sp>
      <p:sp>
        <p:nvSpPr>
          <p:cNvPr id="13" name="Rounded Rectangle 12"/>
          <p:cNvSpPr/>
          <p:nvPr/>
        </p:nvSpPr>
        <p:spPr>
          <a:xfrm>
            <a:off x="612648" y="3986784"/>
            <a:ext cx="10972800" cy="731520"/>
          </a:xfrm>
          <a:prstGeom prst="roundRect">
            <a:avLst>
              <a:gd name="adj" fmla="val 25000"/>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12648" y="4000080"/>
            <a:ext cx="1325880" cy="432028"/>
          </a:xfrm>
          <a:prstGeom prst="rect">
            <a:avLst/>
          </a:prstGeom>
          <a:noFill/>
        </p:spPr>
        <p:txBody>
          <a:bodyPr wrap="square" tIns="9144" bIns="9144" anchor="ctr">
            <a:noAutofit/>
          </a:bodyPr>
          <a:lstStyle/>
          <a:p>
            <a:pPr algn="ctr"/>
            <a:r>
              <a:rPr sz="2600" b="1" i="0">
                <a:solidFill>
                  <a:srgbClr val="8F0072"/>
                </a:solidFill>
                <a:latin typeface="Amazon Ember Display"/>
              </a:rPr>
              <a:t>04</a:t>
            </a:r>
          </a:p>
        </p:txBody>
      </p:sp>
      <p:sp>
        <p:nvSpPr>
          <p:cNvPr id="15" name="TextBox 14"/>
          <p:cNvSpPr txBox="1"/>
          <p:nvPr/>
        </p:nvSpPr>
        <p:spPr>
          <a:xfrm>
            <a:off x="612648" y="4432109"/>
            <a:ext cx="1325880" cy="272897"/>
          </a:xfrm>
          <a:prstGeom prst="rect">
            <a:avLst/>
          </a:prstGeom>
          <a:noFill/>
        </p:spPr>
        <p:txBody>
          <a:bodyPr wrap="square" tIns="9144" bIns="9144" anchor="ctr">
            <a:noAutofit/>
          </a:bodyPr>
          <a:lstStyle/>
          <a:p>
            <a:pPr algn="ctr"/>
            <a:r>
              <a:rPr sz="1600" b="1" i="0">
                <a:solidFill>
                  <a:srgbClr val="8F0072"/>
                </a:solidFill>
                <a:latin typeface="Amazon Ember Display"/>
              </a:rPr>
              <a:t>THIS WEEK</a:t>
            </a:r>
          </a:p>
        </p:txBody>
      </p:sp>
      <p:sp>
        <p:nvSpPr>
          <p:cNvPr id="16" name="TextBox 15"/>
          <p:cNvSpPr txBox="1"/>
          <p:nvPr/>
        </p:nvSpPr>
        <p:spPr>
          <a:xfrm>
            <a:off x="2167128" y="4078224"/>
            <a:ext cx="9326880" cy="600659"/>
          </a:xfrm>
          <a:prstGeom prst="rect">
            <a:avLst/>
          </a:prstGeom>
          <a:noFill/>
        </p:spPr>
        <p:txBody>
          <a:bodyPr wrap="square" anchor="ctr">
            <a:noAutofit/>
          </a:bodyPr>
          <a:lstStyle/>
          <a:p>
            <a:pPr algn="l"/>
            <a:r>
              <a:rPr sz="1600" b="1" i="0">
                <a:solidFill>
                  <a:srgbClr val="232B37"/>
                </a:solidFill>
                <a:latin typeface="Amazon Ember Display"/>
              </a:rPr>
              <a:t>CodePipeline · CodeDeploy · Elastic Beanstalk · ECS/EKS deployments · ECR · CloudFormation · CDK · SAM · Deployment strategies · AppConfig</a:t>
            </a:r>
          </a:p>
        </p:txBody>
      </p:sp>
      <p:sp>
        <p:nvSpPr>
          <p:cNvPr id="17" name="Rounded Rectangle 16"/>
          <p:cNvSpPr/>
          <p:nvPr/>
        </p:nvSpPr>
        <p:spPr>
          <a:xfrm>
            <a:off x="612648" y="480974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12648" y="4809744"/>
            <a:ext cx="1325880" cy="731520"/>
          </a:xfrm>
          <a:prstGeom prst="rect">
            <a:avLst/>
          </a:prstGeom>
          <a:noFill/>
        </p:spPr>
        <p:txBody>
          <a:bodyPr wrap="square" anchor="ctr">
            <a:noAutofit/>
          </a:bodyPr>
          <a:lstStyle/>
          <a:p>
            <a:pPr algn="ctr"/>
            <a:r>
              <a:rPr sz="2600" b="1" i="0">
                <a:solidFill>
                  <a:srgbClr val="5A6B7B"/>
                </a:solidFill>
                <a:latin typeface="Amazon Ember Display"/>
              </a:rPr>
              <a:t>05</a:t>
            </a:r>
          </a:p>
        </p:txBody>
      </p:sp>
      <p:sp>
        <p:nvSpPr>
          <p:cNvPr id="19" name="TextBox 18"/>
          <p:cNvSpPr txBox="1"/>
          <p:nvPr/>
        </p:nvSpPr>
        <p:spPr>
          <a:xfrm>
            <a:off x="2167128" y="4901183"/>
            <a:ext cx="9326880" cy="600659"/>
          </a:xfrm>
          <a:prstGeom prst="rect">
            <a:avLst/>
          </a:prstGeom>
          <a:noFill/>
        </p:spPr>
        <p:txBody>
          <a:bodyPr wrap="square" anchor="ctr">
            <a:noAutofit/>
          </a:bodyPr>
          <a:lstStyle/>
          <a:p>
            <a:pPr algn="l"/>
            <a:r>
              <a:rPr sz="1600" b="0" i="0">
                <a:solidFill>
                  <a:srgbClr val="5A6B7B"/>
                </a:solidFill>
                <a:latin typeface="Amazon Ember Display"/>
              </a:rPr>
              <a:t>WAF · Secrets Manager · KMS · PrivateLink · ACM · S3 presigned URLs · OAC · X-Ray · Bedrock Guardrails · AI security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pipeline promotes a build through environments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874519"/>
            <a:ext cx="10972800" cy="2468880"/>
          </a:xfrm>
          <a:prstGeom prst="roundRect">
            <a:avLst>
              <a:gd name="adj" fmla="val 6666"/>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40664" y="1984248"/>
            <a:ext cx="10716768" cy="346049"/>
          </a:xfrm>
          <a:prstGeom prst="rect">
            <a:avLst/>
          </a:prstGeom>
          <a:noFill/>
        </p:spPr>
        <p:txBody>
          <a:bodyPr wrap="square" anchor="ctr">
            <a:noAutofit/>
          </a:bodyPr>
          <a:lstStyle/>
          <a:p>
            <a:pPr algn="ctr"/>
            <a:r>
              <a:rPr sz="1600" b="1" i="0">
                <a:solidFill>
                  <a:srgbClr val="8F0072"/>
                </a:solidFill>
                <a:latin typeface="Amazon Ember Display"/>
              </a:rPr>
              <a:t>AWS CODEPIPELINE</a:t>
            </a:r>
          </a:p>
        </p:txBody>
      </p:sp>
      <p:sp>
        <p:nvSpPr>
          <p:cNvPr id="6" name="Rounded Rectangle 5"/>
          <p:cNvSpPr/>
          <p:nvPr/>
        </p:nvSpPr>
        <p:spPr>
          <a:xfrm>
            <a:off x="850392" y="2423160"/>
            <a:ext cx="2226564" cy="1627632"/>
          </a:xfrm>
          <a:prstGeom prst="roundRect">
            <a:avLst>
              <a:gd name="adj" fmla="val 7865"/>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Arch_Amazon-Simple-Storage-Service_64.png"/>
          <p:cNvPicPr>
            <a:picLocks noChangeAspect="1"/>
          </p:cNvPicPr>
          <p:nvPr/>
        </p:nvPicPr>
        <p:blipFill>
          <a:blip r:embed="rId3"/>
          <a:stretch>
            <a:fillRect/>
          </a:stretch>
        </p:blipFill>
        <p:spPr>
          <a:xfrm>
            <a:off x="1735074" y="2670048"/>
            <a:ext cx="457200" cy="457200"/>
          </a:xfrm>
          <a:prstGeom prst="rect">
            <a:avLst/>
          </a:prstGeom>
        </p:spPr>
      </p:pic>
      <p:sp>
        <p:nvSpPr>
          <p:cNvPr id="8" name="TextBox 7"/>
          <p:cNvSpPr txBox="1"/>
          <p:nvPr/>
        </p:nvSpPr>
        <p:spPr>
          <a:xfrm>
            <a:off x="905256" y="3191256"/>
            <a:ext cx="2116836" cy="346049"/>
          </a:xfrm>
          <a:prstGeom prst="rect">
            <a:avLst/>
          </a:prstGeom>
          <a:noFill/>
        </p:spPr>
        <p:txBody>
          <a:bodyPr wrap="square" anchor="ctr">
            <a:noAutofit/>
          </a:bodyPr>
          <a:lstStyle/>
          <a:p>
            <a:pPr algn="ctr"/>
            <a:r>
              <a:rPr sz="1600" b="1" i="0">
                <a:solidFill>
                  <a:srgbClr val="8F0072"/>
                </a:solidFill>
                <a:latin typeface="Amazon Ember Display"/>
              </a:rPr>
              <a:t>Source</a:t>
            </a:r>
          </a:p>
        </p:txBody>
      </p:sp>
      <p:sp>
        <p:nvSpPr>
          <p:cNvPr id="9" name="TextBox 8"/>
          <p:cNvSpPr txBox="1"/>
          <p:nvPr/>
        </p:nvSpPr>
        <p:spPr>
          <a:xfrm>
            <a:off x="905256" y="3573881"/>
            <a:ext cx="2116836" cy="346049"/>
          </a:xfrm>
          <a:prstGeom prst="rect">
            <a:avLst/>
          </a:prstGeom>
          <a:noFill/>
        </p:spPr>
        <p:txBody>
          <a:bodyPr wrap="square" anchor="ctr">
            <a:noAutofit/>
          </a:bodyPr>
          <a:lstStyle/>
          <a:p>
            <a:pPr algn="ctr"/>
            <a:r>
              <a:rPr sz="1600" b="0" i="0">
                <a:solidFill>
                  <a:srgbClr val="232B37"/>
                </a:solidFill>
                <a:latin typeface="Amazon Ember Display"/>
              </a:rPr>
              <a:t>S3 or Git</a:t>
            </a:r>
          </a:p>
        </p:txBody>
      </p:sp>
      <p:sp>
        <p:nvSpPr>
          <p:cNvPr id="10" name="Rounded Rectangle 9"/>
          <p:cNvSpPr/>
          <p:nvPr/>
        </p:nvSpPr>
        <p:spPr>
          <a:xfrm>
            <a:off x="3607308" y="2423160"/>
            <a:ext cx="2226564" cy="1627632"/>
          </a:xfrm>
          <a:prstGeom prst="roundRect">
            <a:avLst>
              <a:gd name="adj" fmla="val 7865"/>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Arch_AWS-CodeBuild_64.png"/>
          <p:cNvPicPr>
            <a:picLocks noChangeAspect="1"/>
          </p:cNvPicPr>
          <p:nvPr/>
        </p:nvPicPr>
        <p:blipFill>
          <a:blip r:embed="rId4"/>
          <a:stretch>
            <a:fillRect/>
          </a:stretch>
        </p:blipFill>
        <p:spPr>
          <a:xfrm>
            <a:off x="4491990" y="2670048"/>
            <a:ext cx="457200" cy="457200"/>
          </a:xfrm>
          <a:prstGeom prst="rect">
            <a:avLst/>
          </a:prstGeom>
        </p:spPr>
      </p:pic>
      <p:sp>
        <p:nvSpPr>
          <p:cNvPr id="12" name="TextBox 11"/>
          <p:cNvSpPr txBox="1"/>
          <p:nvPr/>
        </p:nvSpPr>
        <p:spPr>
          <a:xfrm>
            <a:off x="3662172" y="3191256"/>
            <a:ext cx="2116836" cy="346049"/>
          </a:xfrm>
          <a:prstGeom prst="rect">
            <a:avLst/>
          </a:prstGeom>
          <a:noFill/>
        </p:spPr>
        <p:txBody>
          <a:bodyPr wrap="square" anchor="ctr">
            <a:noAutofit/>
          </a:bodyPr>
          <a:lstStyle/>
          <a:p>
            <a:pPr algn="ctr"/>
            <a:r>
              <a:rPr sz="1600" b="1" i="0">
                <a:solidFill>
                  <a:srgbClr val="8F0072"/>
                </a:solidFill>
                <a:latin typeface="Amazon Ember Display"/>
              </a:rPr>
              <a:t>Build</a:t>
            </a:r>
          </a:p>
        </p:txBody>
      </p:sp>
      <p:sp>
        <p:nvSpPr>
          <p:cNvPr id="13" name="TextBox 12"/>
          <p:cNvSpPr txBox="1"/>
          <p:nvPr/>
        </p:nvSpPr>
        <p:spPr>
          <a:xfrm>
            <a:off x="3662172" y="3573881"/>
            <a:ext cx="2116836" cy="346049"/>
          </a:xfrm>
          <a:prstGeom prst="rect">
            <a:avLst/>
          </a:prstGeom>
          <a:noFill/>
        </p:spPr>
        <p:txBody>
          <a:bodyPr wrap="square" anchor="ctr">
            <a:noAutofit/>
          </a:bodyPr>
          <a:lstStyle/>
          <a:p>
            <a:pPr algn="ctr"/>
            <a:r>
              <a:rPr sz="1600" b="0" i="0">
                <a:solidFill>
                  <a:srgbClr val="232B37"/>
                </a:solidFill>
                <a:latin typeface="Amazon Ember Display"/>
              </a:rPr>
              <a:t>compile &amp; test</a:t>
            </a:r>
          </a:p>
        </p:txBody>
      </p:sp>
      <p:sp>
        <p:nvSpPr>
          <p:cNvPr id="14" name="Rounded Rectangle 13"/>
          <p:cNvSpPr/>
          <p:nvPr/>
        </p:nvSpPr>
        <p:spPr>
          <a:xfrm>
            <a:off x="6364224" y="2423160"/>
            <a:ext cx="2226564" cy="1627632"/>
          </a:xfrm>
          <a:prstGeom prst="roundRect">
            <a:avLst>
              <a:gd name="adj" fmla="val 7865"/>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Arch_AWS-CodeDeploy_64.png"/>
          <p:cNvPicPr>
            <a:picLocks noChangeAspect="1"/>
          </p:cNvPicPr>
          <p:nvPr/>
        </p:nvPicPr>
        <p:blipFill>
          <a:blip r:embed="rId5"/>
          <a:stretch>
            <a:fillRect/>
          </a:stretch>
        </p:blipFill>
        <p:spPr>
          <a:xfrm>
            <a:off x="7248906" y="2670048"/>
            <a:ext cx="457200" cy="457200"/>
          </a:xfrm>
          <a:prstGeom prst="rect">
            <a:avLst/>
          </a:prstGeom>
        </p:spPr>
      </p:pic>
      <p:sp>
        <p:nvSpPr>
          <p:cNvPr id="16" name="TextBox 15"/>
          <p:cNvSpPr txBox="1"/>
          <p:nvPr/>
        </p:nvSpPr>
        <p:spPr>
          <a:xfrm>
            <a:off x="6419088" y="3191256"/>
            <a:ext cx="2116836" cy="346049"/>
          </a:xfrm>
          <a:prstGeom prst="rect">
            <a:avLst/>
          </a:prstGeom>
          <a:noFill/>
        </p:spPr>
        <p:txBody>
          <a:bodyPr wrap="square" anchor="ctr">
            <a:noAutofit/>
          </a:bodyPr>
          <a:lstStyle/>
          <a:p>
            <a:pPr algn="ctr"/>
            <a:r>
              <a:rPr sz="1600" b="1" i="0">
                <a:solidFill>
                  <a:srgbClr val="8F0072"/>
                </a:solidFill>
                <a:latin typeface="Amazon Ember Display"/>
              </a:rPr>
              <a:t>Deploy</a:t>
            </a:r>
          </a:p>
        </p:txBody>
      </p:sp>
      <p:sp>
        <p:nvSpPr>
          <p:cNvPr id="17" name="TextBox 16"/>
          <p:cNvSpPr txBox="1"/>
          <p:nvPr/>
        </p:nvSpPr>
        <p:spPr>
          <a:xfrm>
            <a:off x="6419088" y="3573881"/>
            <a:ext cx="2116836" cy="346049"/>
          </a:xfrm>
          <a:prstGeom prst="rect">
            <a:avLst/>
          </a:prstGeom>
          <a:noFill/>
        </p:spPr>
        <p:txBody>
          <a:bodyPr wrap="square" anchor="ctr">
            <a:noAutofit/>
          </a:bodyPr>
          <a:lstStyle/>
          <a:p>
            <a:pPr algn="ctr"/>
            <a:r>
              <a:rPr sz="1600" b="0" i="0">
                <a:solidFill>
                  <a:srgbClr val="232B37"/>
                </a:solidFill>
                <a:latin typeface="Amazon Ember Display"/>
              </a:rPr>
              <a:t>to test</a:t>
            </a:r>
          </a:p>
        </p:txBody>
      </p:sp>
      <p:sp>
        <p:nvSpPr>
          <p:cNvPr id="18" name="Rounded Rectangle 17"/>
          <p:cNvSpPr/>
          <p:nvPr/>
        </p:nvSpPr>
        <p:spPr>
          <a:xfrm>
            <a:off x="9121140" y="2423160"/>
            <a:ext cx="2226564" cy="1627632"/>
          </a:xfrm>
          <a:prstGeom prst="roundRect">
            <a:avLst>
              <a:gd name="adj" fmla="val 7865"/>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Arch_AWS-CodeDeploy_64.png"/>
          <p:cNvPicPr>
            <a:picLocks noChangeAspect="1"/>
          </p:cNvPicPr>
          <p:nvPr/>
        </p:nvPicPr>
        <p:blipFill>
          <a:blip r:embed="rId5"/>
          <a:stretch>
            <a:fillRect/>
          </a:stretch>
        </p:blipFill>
        <p:spPr>
          <a:xfrm>
            <a:off x="10005822" y="2670048"/>
            <a:ext cx="457200" cy="457200"/>
          </a:xfrm>
          <a:prstGeom prst="rect">
            <a:avLst/>
          </a:prstGeom>
        </p:spPr>
      </p:pic>
      <p:sp>
        <p:nvSpPr>
          <p:cNvPr id="20" name="TextBox 19"/>
          <p:cNvSpPr txBox="1"/>
          <p:nvPr/>
        </p:nvSpPr>
        <p:spPr>
          <a:xfrm>
            <a:off x="9176004" y="3191256"/>
            <a:ext cx="2116836" cy="346049"/>
          </a:xfrm>
          <a:prstGeom prst="rect">
            <a:avLst/>
          </a:prstGeom>
          <a:noFill/>
        </p:spPr>
        <p:txBody>
          <a:bodyPr wrap="square" anchor="ctr">
            <a:noAutofit/>
          </a:bodyPr>
          <a:lstStyle/>
          <a:p>
            <a:pPr algn="ctr"/>
            <a:r>
              <a:rPr sz="1600" b="1" i="0">
                <a:solidFill>
                  <a:srgbClr val="8F0072"/>
                </a:solidFill>
                <a:latin typeface="Amazon Ember Display"/>
              </a:rPr>
              <a:t>Deploy</a:t>
            </a:r>
          </a:p>
        </p:txBody>
      </p:sp>
      <p:sp>
        <p:nvSpPr>
          <p:cNvPr id="21" name="TextBox 20"/>
          <p:cNvSpPr txBox="1"/>
          <p:nvPr/>
        </p:nvSpPr>
        <p:spPr>
          <a:xfrm>
            <a:off x="9176004" y="3573881"/>
            <a:ext cx="2116836" cy="346049"/>
          </a:xfrm>
          <a:prstGeom prst="rect">
            <a:avLst/>
          </a:prstGeom>
          <a:noFill/>
        </p:spPr>
        <p:txBody>
          <a:bodyPr wrap="square" anchor="ctr">
            <a:noAutofit/>
          </a:bodyPr>
          <a:lstStyle/>
          <a:p>
            <a:pPr algn="ctr"/>
            <a:r>
              <a:rPr sz="1600" b="0" i="0">
                <a:solidFill>
                  <a:srgbClr val="232B37"/>
                </a:solidFill>
                <a:latin typeface="Amazon Ember Display"/>
              </a:rPr>
              <a:t>to production</a:t>
            </a:r>
          </a:p>
        </p:txBody>
      </p:sp>
      <p:sp>
        <p:nvSpPr>
          <p:cNvPr id="22" name="Freeform 21"/>
          <p:cNvSpPr/>
          <p:nvPr/>
        </p:nvSpPr>
        <p:spPr>
          <a:xfrm>
            <a:off x="3113532" y="2898648"/>
            <a:ext cx="438912" cy="0"/>
          </a:xfrm>
          <a:custGeom>
            <a:avLst/>
            <a:gdLst/>
            <a:ahLst/>
            <a:cxnLst/>
            <a:rect l="l" t="t" r="r" b="b"/>
            <a:pathLst>
              <a:path w="438912">
                <a:moveTo>
                  <a:pt x="0" y="0"/>
                </a:moveTo>
                <a:lnTo>
                  <a:pt x="438912"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3378708" y="2779776"/>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5870448" y="2898648"/>
            <a:ext cx="438912" cy="0"/>
          </a:xfrm>
          <a:custGeom>
            <a:avLst/>
            <a:gdLst/>
            <a:ahLst/>
            <a:cxnLst/>
            <a:rect l="l" t="t" r="r" b="b"/>
            <a:pathLst>
              <a:path w="438912">
                <a:moveTo>
                  <a:pt x="0" y="0"/>
                </a:moveTo>
                <a:lnTo>
                  <a:pt x="438912"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6135624" y="2779776"/>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reeform 25"/>
          <p:cNvSpPr/>
          <p:nvPr/>
        </p:nvSpPr>
        <p:spPr>
          <a:xfrm>
            <a:off x="8627363" y="2898648"/>
            <a:ext cx="438913" cy="0"/>
          </a:xfrm>
          <a:custGeom>
            <a:avLst/>
            <a:gdLst/>
            <a:ahLst/>
            <a:cxnLst/>
            <a:rect l="l" t="t" r="r" b="b"/>
            <a:pathLst>
              <a:path w="438913">
                <a:moveTo>
                  <a:pt x="0" y="0"/>
                </a:moveTo>
                <a:lnTo>
                  <a:pt x="438913"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8892540" y="2779776"/>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2648" y="4617720"/>
            <a:ext cx="10972800" cy="346049"/>
          </a:xfrm>
          <a:prstGeom prst="rect">
            <a:avLst/>
          </a:prstGeom>
          <a:noFill/>
        </p:spPr>
        <p:txBody>
          <a:bodyPr wrap="square" anchor="t">
            <a:noAutofit/>
          </a:bodyPr>
          <a:lstStyle/>
          <a:p>
            <a:pPr algn="ctr"/>
            <a:r>
              <a:rPr sz="1600" b="0" i="0">
                <a:solidFill>
                  <a:srgbClr val="5A6B7B"/>
                </a:solidFill>
                <a:latin typeface="Amazon Ember Display"/>
              </a:rPr>
              <a:t>each stage runs in order; an action deploys to its own environment, and a manual approval can gate production</a:t>
            </a:r>
          </a:p>
        </p:txBody>
      </p:sp>
      <p:sp>
        <p:nvSpPr>
          <p:cNvPr id="29" name="TextBox 28">
            <a:hlinkClick r:id="rId6"/>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6"/>
              </a:rPr>
              <a:t>docs.aws.amazon.com · CodePipeline concepts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Keep the database outside a Beanstalk environment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828800"/>
            <a:ext cx="6492240" cy="3474720"/>
          </a:xfrm>
          <a:prstGeom prst="roundRect">
            <a:avLst>
              <a:gd name="adj" fmla="val 4736"/>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WS-Elastic-Beanstalk_64.png"/>
          <p:cNvPicPr>
            <a:picLocks noChangeAspect="1"/>
          </p:cNvPicPr>
          <p:nvPr/>
        </p:nvPicPr>
        <p:blipFill>
          <a:blip r:embed="rId3"/>
          <a:stretch>
            <a:fillRect/>
          </a:stretch>
        </p:blipFill>
        <p:spPr>
          <a:xfrm>
            <a:off x="804672" y="2039112"/>
            <a:ext cx="457200" cy="457200"/>
          </a:xfrm>
          <a:prstGeom prst="rect">
            <a:avLst/>
          </a:prstGeom>
        </p:spPr>
      </p:pic>
      <p:sp>
        <p:nvSpPr>
          <p:cNvPr id="6" name="TextBox 5"/>
          <p:cNvSpPr txBox="1"/>
          <p:nvPr/>
        </p:nvSpPr>
        <p:spPr>
          <a:xfrm>
            <a:off x="1380744" y="2094687"/>
            <a:ext cx="5577840" cy="346049"/>
          </a:xfrm>
          <a:prstGeom prst="rect">
            <a:avLst/>
          </a:prstGeom>
          <a:noFill/>
        </p:spPr>
        <p:txBody>
          <a:bodyPr wrap="square" anchor="ctr">
            <a:noAutofit/>
          </a:bodyPr>
          <a:lstStyle/>
          <a:p>
            <a:pPr algn="l"/>
            <a:r>
              <a:rPr sz="1600" b="1" i="0">
                <a:solidFill>
                  <a:srgbClr val="8F0072"/>
                </a:solidFill>
                <a:latin typeface="Amazon Ember Display"/>
              </a:rPr>
              <a:t>ELASTIC BEANSTALK ENVIRONMENT</a:t>
            </a:r>
          </a:p>
        </p:txBody>
      </p:sp>
      <p:sp>
        <p:nvSpPr>
          <p:cNvPr id="7" name="Rounded Rectangle 6"/>
          <p:cNvSpPr/>
          <p:nvPr/>
        </p:nvSpPr>
        <p:spPr>
          <a:xfrm>
            <a:off x="1024128" y="2697480"/>
            <a:ext cx="5669279" cy="868680"/>
          </a:xfrm>
          <a:prstGeom prst="roundRect">
            <a:avLst>
              <a:gd name="adj" fmla="val 14736"/>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Arch_Elastic-Load-Balancing_64.png"/>
          <p:cNvPicPr>
            <a:picLocks noChangeAspect="1"/>
          </p:cNvPicPr>
          <p:nvPr/>
        </p:nvPicPr>
        <p:blipFill>
          <a:blip r:embed="rId4"/>
          <a:stretch>
            <a:fillRect/>
          </a:stretch>
        </p:blipFill>
        <p:spPr>
          <a:xfrm>
            <a:off x="1216152" y="2903220"/>
            <a:ext cx="457200" cy="457200"/>
          </a:xfrm>
          <a:prstGeom prst="rect">
            <a:avLst/>
          </a:prstGeom>
        </p:spPr>
      </p:pic>
      <p:sp>
        <p:nvSpPr>
          <p:cNvPr id="9" name="TextBox 8"/>
          <p:cNvSpPr txBox="1"/>
          <p:nvPr/>
        </p:nvSpPr>
        <p:spPr>
          <a:xfrm>
            <a:off x="1783080" y="2820924"/>
            <a:ext cx="4782312" cy="346049"/>
          </a:xfrm>
          <a:prstGeom prst="rect">
            <a:avLst/>
          </a:prstGeom>
          <a:noFill/>
        </p:spPr>
        <p:txBody>
          <a:bodyPr wrap="square" anchor="ctr">
            <a:noAutofit/>
          </a:bodyPr>
          <a:lstStyle/>
          <a:p>
            <a:pPr algn="l"/>
            <a:r>
              <a:rPr sz="1600" b="1" i="0">
                <a:solidFill>
                  <a:srgbClr val="8F0072"/>
                </a:solidFill>
                <a:latin typeface="Amazon Ember Display"/>
              </a:rPr>
              <a:t>Load balancer</a:t>
            </a:r>
          </a:p>
        </p:txBody>
      </p:sp>
      <p:sp>
        <p:nvSpPr>
          <p:cNvPr id="10" name="TextBox 9"/>
          <p:cNvSpPr txBox="1"/>
          <p:nvPr/>
        </p:nvSpPr>
        <p:spPr>
          <a:xfrm>
            <a:off x="1783080" y="3140964"/>
            <a:ext cx="4782312" cy="346049"/>
          </a:xfrm>
          <a:prstGeom prst="rect">
            <a:avLst/>
          </a:prstGeom>
          <a:noFill/>
        </p:spPr>
        <p:txBody>
          <a:bodyPr wrap="square" anchor="ctr">
            <a:noAutofit/>
          </a:bodyPr>
          <a:lstStyle/>
          <a:p>
            <a:pPr algn="l"/>
            <a:r>
              <a:rPr sz="1600" b="0" i="0">
                <a:solidFill>
                  <a:srgbClr val="232B37"/>
                </a:solidFill>
                <a:latin typeface="Amazon Ember Display"/>
              </a:rPr>
              <a:t>routes traffic</a:t>
            </a:r>
          </a:p>
        </p:txBody>
      </p:sp>
      <p:sp>
        <p:nvSpPr>
          <p:cNvPr id="11" name="Rounded Rectangle 10"/>
          <p:cNvSpPr/>
          <p:nvPr/>
        </p:nvSpPr>
        <p:spPr>
          <a:xfrm>
            <a:off x="1024128" y="3703320"/>
            <a:ext cx="5669279" cy="1442923"/>
          </a:xfrm>
          <a:prstGeom prst="roundRect">
            <a:avLst>
              <a:gd name="adj" fmla="val 8871"/>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52144" y="3794759"/>
            <a:ext cx="5413247" cy="346049"/>
          </a:xfrm>
          <a:prstGeom prst="rect">
            <a:avLst/>
          </a:prstGeom>
          <a:noFill/>
        </p:spPr>
        <p:txBody>
          <a:bodyPr wrap="square" anchor="ctr">
            <a:noAutofit/>
          </a:bodyPr>
          <a:lstStyle/>
          <a:p>
            <a:pPr algn="l"/>
            <a:r>
              <a:rPr sz="1600" b="1" i="0">
                <a:solidFill>
                  <a:srgbClr val="8F0072"/>
                </a:solidFill>
                <a:latin typeface="Amazon Ember Display"/>
              </a:rPr>
              <a:t>AUTO SCALING GROUP</a:t>
            </a:r>
          </a:p>
        </p:txBody>
      </p:sp>
      <p:pic>
        <p:nvPicPr>
          <p:cNvPr id="13" name="Picture 12" descr="Arch_Amazon-EC2_64.png"/>
          <p:cNvPicPr>
            <a:picLocks noChangeAspect="1"/>
          </p:cNvPicPr>
          <p:nvPr/>
        </p:nvPicPr>
        <p:blipFill>
          <a:blip r:embed="rId5"/>
          <a:stretch>
            <a:fillRect/>
          </a:stretch>
        </p:blipFill>
        <p:spPr>
          <a:xfrm>
            <a:off x="2029968" y="4187952"/>
            <a:ext cx="457200" cy="457200"/>
          </a:xfrm>
          <a:prstGeom prst="rect">
            <a:avLst/>
          </a:prstGeom>
        </p:spPr>
      </p:pic>
      <p:sp>
        <p:nvSpPr>
          <p:cNvPr id="14" name="TextBox 13"/>
          <p:cNvSpPr txBox="1"/>
          <p:nvPr/>
        </p:nvSpPr>
        <p:spPr>
          <a:xfrm>
            <a:off x="1481328" y="4709160"/>
            <a:ext cx="1554480" cy="346049"/>
          </a:xfrm>
          <a:prstGeom prst="rect">
            <a:avLst/>
          </a:prstGeom>
          <a:noFill/>
        </p:spPr>
        <p:txBody>
          <a:bodyPr wrap="square" anchor="t">
            <a:noAutofit/>
          </a:bodyPr>
          <a:lstStyle/>
          <a:p>
            <a:pPr algn="ctr"/>
            <a:r>
              <a:rPr sz="1600" b="0" i="0">
                <a:solidFill>
                  <a:srgbClr val="232B37"/>
                </a:solidFill>
                <a:latin typeface="Amazon Ember Display"/>
              </a:rPr>
              <a:t>instance</a:t>
            </a:r>
          </a:p>
        </p:txBody>
      </p:sp>
      <p:pic>
        <p:nvPicPr>
          <p:cNvPr id="15" name="Picture 14" descr="Arch_Amazon-EC2_64.png"/>
          <p:cNvPicPr>
            <a:picLocks noChangeAspect="1"/>
          </p:cNvPicPr>
          <p:nvPr/>
        </p:nvPicPr>
        <p:blipFill>
          <a:blip r:embed="rId5"/>
          <a:stretch>
            <a:fillRect/>
          </a:stretch>
        </p:blipFill>
        <p:spPr>
          <a:xfrm>
            <a:off x="4361688" y="4187952"/>
            <a:ext cx="457200" cy="457200"/>
          </a:xfrm>
          <a:prstGeom prst="rect">
            <a:avLst/>
          </a:prstGeom>
        </p:spPr>
      </p:pic>
      <p:sp>
        <p:nvSpPr>
          <p:cNvPr id="16" name="TextBox 15"/>
          <p:cNvSpPr txBox="1"/>
          <p:nvPr/>
        </p:nvSpPr>
        <p:spPr>
          <a:xfrm>
            <a:off x="3813048" y="4709160"/>
            <a:ext cx="1554480" cy="346049"/>
          </a:xfrm>
          <a:prstGeom prst="rect">
            <a:avLst/>
          </a:prstGeom>
          <a:noFill/>
        </p:spPr>
        <p:txBody>
          <a:bodyPr wrap="square" anchor="t">
            <a:noAutofit/>
          </a:bodyPr>
          <a:lstStyle/>
          <a:p>
            <a:pPr algn="ctr"/>
            <a:r>
              <a:rPr sz="1600" b="0" i="0">
                <a:solidFill>
                  <a:srgbClr val="232B37"/>
                </a:solidFill>
                <a:latin typeface="Amazon Ember Display"/>
              </a:rPr>
              <a:t>instance</a:t>
            </a:r>
          </a:p>
        </p:txBody>
      </p:sp>
      <p:sp>
        <p:nvSpPr>
          <p:cNvPr id="17" name="Rounded Rectangle 16"/>
          <p:cNvSpPr/>
          <p:nvPr/>
        </p:nvSpPr>
        <p:spPr>
          <a:xfrm>
            <a:off x="8549640" y="2880360"/>
            <a:ext cx="2971800" cy="1143000"/>
          </a:xfrm>
          <a:prstGeom prst="roundRect">
            <a:avLst>
              <a:gd name="adj" fmla="val 11200"/>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Arch_Amazon-RDS_64.png"/>
          <p:cNvPicPr>
            <a:picLocks noChangeAspect="1"/>
          </p:cNvPicPr>
          <p:nvPr/>
        </p:nvPicPr>
        <p:blipFill>
          <a:blip r:embed="rId6"/>
          <a:stretch>
            <a:fillRect/>
          </a:stretch>
        </p:blipFill>
        <p:spPr>
          <a:xfrm>
            <a:off x="8741664" y="3223260"/>
            <a:ext cx="457200" cy="457200"/>
          </a:xfrm>
          <a:prstGeom prst="rect">
            <a:avLst/>
          </a:prstGeom>
        </p:spPr>
      </p:pic>
      <p:sp>
        <p:nvSpPr>
          <p:cNvPr id="19" name="TextBox 18"/>
          <p:cNvSpPr txBox="1"/>
          <p:nvPr/>
        </p:nvSpPr>
        <p:spPr>
          <a:xfrm>
            <a:off x="9308592" y="3140964"/>
            <a:ext cx="2084831" cy="346049"/>
          </a:xfrm>
          <a:prstGeom prst="rect">
            <a:avLst/>
          </a:prstGeom>
          <a:noFill/>
        </p:spPr>
        <p:txBody>
          <a:bodyPr wrap="square" anchor="ctr">
            <a:noAutofit/>
          </a:bodyPr>
          <a:lstStyle/>
          <a:p>
            <a:pPr algn="l"/>
            <a:r>
              <a:rPr sz="1600" b="1" i="0">
                <a:solidFill>
                  <a:srgbClr val="8F0072"/>
                </a:solidFill>
                <a:latin typeface="Amazon Ember Display"/>
              </a:rPr>
              <a:t>Amazon RDS</a:t>
            </a:r>
          </a:p>
        </p:txBody>
      </p:sp>
      <p:sp>
        <p:nvSpPr>
          <p:cNvPr id="20" name="TextBox 19"/>
          <p:cNvSpPr txBox="1"/>
          <p:nvPr/>
        </p:nvSpPr>
        <p:spPr>
          <a:xfrm>
            <a:off x="9308592" y="3461003"/>
            <a:ext cx="2084831" cy="346049"/>
          </a:xfrm>
          <a:prstGeom prst="rect">
            <a:avLst/>
          </a:prstGeom>
          <a:noFill/>
        </p:spPr>
        <p:txBody>
          <a:bodyPr wrap="square" anchor="ctr">
            <a:noAutofit/>
          </a:bodyPr>
          <a:lstStyle/>
          <a:p>
            <a:pPr algn="l"/>
            <a:r>
              <a:rPr sz="1600" b="0" i="0">
                <a:solidFill>
                  <a:srgbClr val="232B37"/>
                </a:solidFill>
                <a:latin typeface="Amazon Ember Display"/>
              </a:rPr>
              <a:t>separate resource</a:t>
            </a:r>
          </a:p>
        </p:txBody>
      </p:sp>
      <p:sp>
        <p:nvSpPr>
          <p:cNvPr id="21" name="Freeform 20"/>
          <p:cNvSpPr/>
          <p:nvPr/>
        </p:nvSpPr>
        <p:spPr>
          <a:xfrm>
            <a:off x="7104888" y="3451860"/>
            <a:ext cx="1444752" cy="0"/>
          </a:xfrm>
          <a:custGeom>
            <a:avLst/>
            <a:gdLst/>
            <a:ahLst/>
            <a:cxnLst/>
            <a:rect l="l" t="t" r="r" b="b"/>
            <a:pathLst>
              <a:path w="1444752">
                <a:moveTo>
                  <a:pt x="0" y="0"/>
                </a:moveTo>
                <a:lnTo>
                  <a:pt x="1444752" y="0"/>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96327" y="3067812"/>
            <a:ext cx="1261872" cy="346049"/>
          </a:xfrm>
          <a:prstGeom prst="rect">
            <a:avLst/>
          </a:prstGeom>
          <a:noFill/>
        </p:spPr>
        <p:txBody>
          <a:bodyPr wrap="square" anchor="t">
            <a:noAutofit/>
          </a:bodyPr>
          <a:lstStyle/>
          <a:p>
            <a:pPr algn="ctr"/>
            <a:r>
              <a:rPr sz="1600" b="0" i="0">
                <a:solidFill>
                  <a:srgbClr val="5A6B7B"/>
                </a:solidFill>
                <a:latin typeface="Amazon Ember Display"/>
              </a:rPr>
              <a:t>connects to</a:t>
            </a:r>
          </a:p>
        </p:txBody>
      </p:sp>
      <p:sp>
        <p:nvSpPr>
          <p:cNvPr id="23" name="TextBox 22"/>
          <p:cNvSpPr txBox="1"/>
          <p:nvPr/>
        </p:nvSpPr>
        <p:spPr>
          <a:xfrm>
            <a:off x="612648" y="5349240"/>
            <a:ext cx="10972800" cy="346049"/>
          </a:xfrm>
          <a:prstGeom prst="rect">
            <a:avLst/>
          </a:prstGeom>
          <a:noFill/>
        </p:spPr>
        <p:txBody>
          <a:bodyPr wrap="square" anchor="t">
            <a:noAutofit/>
          </a:bodyPr>
          <a:lstStyle/>
          <a:p>
            <a:pPr algn="ctr"/>
            <a:r>
              <a:rPr sz="1600" b="0" i="0">
                <a:solidFill>
                  <a:srgbClr val="5A6B7B"/>
                </a:solidFill>
                <a:latin typeface="Amazon Ember Display"/>
              </a:rPr>
              <a:t>a database created inside the environment is deleted with it -- create it separately so your data outlives a redeploy</a:t>
            </a:r>
          </a:p>
        </p:txBody>
      </p:sp>
      <p:sp>
        <p:nvSpPr>
          <p:cNvPr id="24" name="TextBox 23">
            <a:hlinkClick r:id="rId7"/>
          </p:cNvPr>
          <p:cNvSpPr txBox="1"/>
          <p:nvPr/>
        </p:nvSpPr>
        <p:spPr>
          <a:xfrm>
            <a:off x="612648" y="5943600"/>
            <a:ext cx="601788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7"/>
              </a:rPr>
              <a:t>docs.aws.amazon.com · Adding a database to your Elastic…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CodeDeploy deploys to a deployment group</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697479"/>
            <a:ext cx="2743200" cy="1097280"/>
          </a:xfrm>
          <a:prstGeom prst="roundRect">
            <a:avLst>
              <a:gd name="adj" fmla="val 11666"/>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WS-CodeDeploy_64.png"/>
          <p:cNvPicPr>
            <a:picLocks noChangeAspect="1"/>
          </p:cNvPicPr>
          <p:nvPr/>
        </p:nvPicPr>
        <p:blipFill>
          <a:blip r:embed="rId3"/>
          <a:stretch>
            <a:fillRect/>
          </a:stretch>
        </p:blipFill>
        <p:spPr>
          <a:xfrm>
            <a:off x="804671" y="3017520"/>
            <a:ext cx="457200" cy="457200"/>
          </a:xfrm>
          <a:prstGeom prst="rect">
            <a:avLst/>
          </a:prstGeom>
        </p:spPr>
      </p:pic>
      <p:sp>
        <p:nvSpPr>
          <p:cNvPr id="6" name="TextBox 5"/>
          <p:cNvSpPr txBox="1"/>
          <p:nvPr/>
        </p:nvSpPr>
        <p:spPr>
          <a:xfrm>
            <a:off x="1371600" y="2935224"/>
            <a:ext cx="1856231" cy="346049"/>
          </a:xfrm>
          <a:prstGeom prst="rect">
            <a:avLst/>
          </a:prstGeom>
          <a:noFill/>
        </p:spPr>
        <p:txBody>
          <a:bodyPr wrap="square" anchor="ctr">
            <a:noAutofit/>
          </a:bodyPr>
          <a:lstStyle/>
          <a:p>
            <a:pPr algn="l"/>
            <a:r>
              <a:rPr sz="1600" b="1" i="0">
                <a:solidFill>
                  <a:srgbClr val="8F0072"/>
                </a:solidFill>
                <a:latin typeface="Amazon Ember Display"/>
              </a:rPr>
              <a:t>CodeDeploy</a:t>
            </a:r>
          </a:p>
        </p:txBody>
      </p:sp>
      <p:sp>
        <p:nvSpPr>
          <p:cNvPr id="7" name="TextBox 6"/>
          <p:cNvSpPr txBox="1"/>
          <p:nvPr/>
        </p:nvSpPr>
        <p:spPr>
          <a:xfrm>
            <a:off x="1371600" y="3255263"/>
            <a:ext cx="1856231" cy="346049"/>
          </a:xfrm>
          <a:prstGeom prst="rect">
            <a:avLst/>
          </a:prstGeom>
          <a:noFill/>
        </p:spPr>
        <p:txBody>
          <a:bodyPr wrap="square" anchor="ctr">
            <a:noAutofit/>
          </a:bodyPr>
          <a:lstStyle/>
          <a:p>
            <a:pPr algn="l"/>
            <a:r>
              <a:rPr sz="1600" b="0" i="0">
                <a:solidFill>
                  <a:srgbClr val="232B37"/>
                </a:solidFill>
                <a:latin typeface="Amazon Ember Display"/>
              </a:rPr>
              <a:t>one deployment</a:t>
            </a:r>
          </a:p>
        </p:txBody>
      </p:sp>
      <p:sp>
        <p:nvSpPr>
          <p:cNvPr id="8" name="Rounded Rectangle 7"/>
          <p:cNvSpPr/>
          <p:nvPr/>
        </p:nvSpPr>
        <p:spPr>
          <a:xfrm>
            <a:off x="4572000" y="1828800"/>
            <a:ext cx="6949440" cy="3108960"/>
          </a:xfrm>
          <a:prstGeom prst="roundRect">
            <a:avLst>
              <a:gd name="adj" fmla="val 5294"/>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700016" y="1956816"/>
            <a:ext cx="6693407" cy="346049"/>
          </a:xfrm>
          <a:prstGeom prst="rect">
            <a:avLst/>
          </a:prstGeom>
          <a:noFill/>
        </p:spPr>
        <p:txBody>
          <a:bodyPr wrap="square" anchor="ctr">
            <a:noAutofit/>
          </a:bodyPr>
          <a:lstStyle/>
          <a:p>
            <a:pPr algn="ctr"/>
            <a:r>
              <a:rPr sz="1600" b="1" i="0">
                <a:solidFill>
                  <a:srgbClr val="8F0072"/>
                </a:solidFill>
                <a:latin typeface="Amazon Ember Display"/>
              </a:rPr>
              <a:t>DEPLOYMENT GROUP</a:t>
            </a:r>
          </a:p>
        </p:txBody>
      </p:sp>
      <p:sp>
        <p:nvSpPr>
          <p:cNvPr id="10" name="Rounded Rectangle 9"/>
          <p:cNvSpPr/>
          <p:nvPr/>
        </p:nvSpPr>
        <p:spPr>
          <a:xfrm>
            <a:off x="4828032" y="2432304"/>
            <a:ext cx="1920240" cy="1463040"/>
          </a:xfrm>
          <a:prstGeom prst="roundRect">
            <a:avLst>
              <a:gd name="adj" fmla="val 875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Arch_Amazon-EC2_64.png"/>
          <p:cNvPicPr>
            <a:picLocks noChangeAspect="1"/>
          </p:cNvPicPr>
          <p:nvPr/>
        </p:nvPicPr>
        <p:blipFill>
          <a:blip r:embed="rId4"/>
          <a:stretch>
            <a:fillRect/>
          </a:stretch>
        </p:blipFill>
        <p:spPr>
          <a:xfrm>
            <a:off x="5559552" y="2770632"/>
            <a:ext cx="457200" cy="457200"/>
          </a:xfrm>
          <a:prstGeom prst="rect">
            <a:avLst/>
          </a:prstGeom>
        </p:spPr>
      </p:pic>
      <p:sp>
        <p:nvSpPr>
          <p:cNvPr id="12" name="TextBox 11"/>
          <p:cNvSpPr txBox="1"/>
          <p:nvPr/>
        </p:nvSpPr>
        <p:spPr>
          <a:xfrm>
            <a:off x="4882896" y="3328416"/>
            <a:ext cx="1810512" cy="346049"/>
          </a:xfrm>
          <a:prstGeom prst="rect">
            <a:avLst/>
          </a:prstGeom>
          <a:noFill/>
        </p:spPr>
        <p:txBody>
          <a:bodyPr wrap="square" anchor="ctr">
            <a:noAutofit/>
          </a:bodyPr>
          <a:lstStyle/>
          <a:p>
            <a:pPr algn="ctr"/>
            <a:r>
              <a:rPr sz="1600" b="0" i="0">
                <a:solidFill>
                  <a:srgbClr val="232B37"/>
                </a:solidFill>
                <a:latin typeface="Amazon Ember Display"/>
              </a:rPr>
              <a:t>instance</a:t>
            </a:r>
          </a:p>
        </p:txBody>
      </p:sp>
      <p:sp>
        <p:nvSpPr>
          <p:cNvPr id="13" name="Rounded Rectangle 12"/>
          <p:cNvSpPr/>
          <p:nvPr/>
        </p:nvSpPr>
        <p:spPr>
          <a:xfrm>
            <a:off x="7086600" y="2432304"/>
            <a:ext cx="1920240" cy="1463040"/>
          </a:xfrm>
          <a:prstGeom prst="roundRect">
            <a:avLst>
              <a:gd name="adj" fmla="val 875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Arch_Amazon-EC2_64.png"/>
          <p:cNvPicPr>
            <a:picLocks noChangeAspect="1"/>
          </p:cNvPicPr>
          <p:nvPr/>
        </p:nvPicPr>
        <p:blipFill>
          <a:blip r:embed="rId4"/>
          <a:stretch>
            <a:fillRect/>
          </a:stretch>
        </p:blipFill>
        <p:spPr>
          <a:xfrm>
            <a:off x="7818120" y="2770632"/>
            <a:ext cx="457200" cy="457200"/>
          </a:xfrm>
          <a:prstGeom prst="rect">
            <a:avLst/>
          </a:prstGeom>
        </p:spPr>
      </p:pic>
      <p:sp>
        <p:nvSpPr>
          <p:cNvPr id="15" name="TextBox 14"/>
          <p:cNvSpPr txBox="1"/>
          <p:nvPr/>
        </p:nvSpPr>
        <p:spPr>
          <a:xfrm>
            <a:off x="7141464" y="3328416"/>
            <a:ext cx="1810512" cy="346049"/>
          </a:xfrm>
          <a:prstGeom prst="rect">
            <a:avLst/>
          </a:prstGeom>
          <a:noFill/>
        </p:spPr>
        <p:txBody>
          <a:bodyPr wrap="square" anchor="ctr">
            <a:noAutofit/>
          </a:bodyPr>
          <a:lstStyle/>
          <a:p>
            <a:pPr algn="ctr"/>
            <a:r>
              <a:rPr sz="1600" b="0" i="0">
                <a:solidFill>
                  <a:srgbClr val="232B37"/>
                </a:solidFill>
                <a:latin typeface="Amazon Ember Display"/>
              </a:rPr>
              <a:t>instance</a:t>
            </a:r>
          </a:p>
        </p:txBody>
      </p:sp>
      <p:sp>
        <p:nvSpPr>
          <p:cNvPr id="16" name="Rounded Rectangle 15"/>
          <p:cNvSpPr/>
          <p:nvPr/>
        </p:nvSpPr>
        <p:spPr>
          <a:xfrm>
            <a:off x="9345167" y="2432304"/>
            <a:ext cx="1920240" cy="1463040"/>
          </a:xfrm>
          <a:prstGeom prst="roundRect">
            <a:avLst>
              <a:gd name="adj" fmla="val 875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Arch_Amazon-EC2_64.png"/>
          <p:cNvPicPr>
            <a:picLocks noChangeAspect="1"/>
          </p:cNvPicPr>
          <p:nvPr/>
        </p:nvPicPr>
        <p:blipFill>
          <a:blip r:embed="rId4"/>
          <a:stretch>
            <a:fillRect/>
          </a:stretch>
        </p:blipFill>
        <p:spPr>
          <a:xfrm>
            <a:off x="10076688" y="2770632"/>
            <a:ext cx="457200" cy="457200"/>
          </a:xfrm>
          <a:prstGeom prst="rect">
            <a:avLst/>
          </a:prstGeom>
        </p:spPr>
      </p:pic>
      <p:sp>
        <p:nvSpPr>
          <p:cNvPr id="18" name="TextBox 17"/>
          <p:cNvSpPr txBox="1"/>
          <p:nvPr/>
        </p:nvSpPr>
        <p:spPr>
          <a:xfrm>
            <a:off x="9400032" y="3328416"/>
            <a:ext cx="1810512" cy="346049"/>
          </a:xfrm>
          <a:prstGeom prst="rect">
            <a:avLst/>
          </a:prstGeom>
          <a:noFill/>
        </p:spPr>
        <p:txBody>
          <a:bodyPr wrap="square" anchor="ctr">
            <a:noAutofit/>
          </a:bodyPr>
          <a:lstStyle/>
          <a:p>
            <a:pPr algn="ctr"/>
            <a:r>
              <a:rPr sz="1600" b="0" i="0">
                <a:solidFill>
                  <a:srgbClr val="232B37"/>
                </a:solidFill>
                <a:latin typeface="Amazon Ember Display"/>
              </a:rPr>
              <a:t>instance</a:t>
            </a:r>
          </a:p>
        </p:txBody>
      </p:sp>
      <p:sp>
        <p:nvSpPr>
          <p:cNvPr id="19" name="Freeform 18"/>
          <p:cNvSpPr/>
          <p:nvPr/>
        </p:nvSpPr>
        <p:spPr>
          <a:xfrm>
            <a:off x="3410712" y="3246120"/>
            <a:ext cx="1106424" cy="0"/>
          </a:xfrm>
          <a:custGeom>
            <a:avLst/>
            <a:gdLst/>
            <a:ahLst/>
            <a:cxnLst/>
            <a:rect l="l" t="t" r="r" b="b"/>
            <a:pathLst>
              <a:path w="1106424">
                <a:moveTo>
                  <a:pt x="0" y="0"/>
                </a:moveTo>
                <a:lnTo>
                  <a:pt x="1106424"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4343400" y="31272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5120640"/>
            <a:ext cx="10972800" cy="346049"/>
          </a:xfrm>
          <a:prstGeom prst="rect">
            <a:avLst/>
          </a:prstGeom>
          <a:noFill/>
        </p:spPr>
        <p:txBody>
          <a:bodyPr wrap="square" anchor="t">
            <a:noAutofit/>
          </a:bodyPr>
          <a:lstStyle/>
          <a:p>
            <a:pPr algn="ctr"/>
            <a:r>
              <a:rPr sz="1600" b="0" i="0">
                <a:solidFill>
                  <a:srgbClr val="5A6B7B"/>
                </a:solidFill>
                <a:latin typeface="Amazon Ember Display"/>
              </a:rPr>
              <a:t>a deployment group is a set of instances chosen by tags or an Auto Scaling group</a:t>
            </a:r>
          </a:p>
        </p:txBody>
      </p:sp>
      <p:sp>
        <p:nvSpPr>
          <p:cNvPr id="22" name="TextBox 21">
            <a:hlinkClick r:id="rId5"/>
          </p:cNvPr>
          <p:cNvSpPr txBox="1"/>
          <p:nvPr/>
        </p:nvSpPr>
        <p:spPr>
          <a:xfrm>
            <a:off x="612648" y="5943600"/>
            <a:ext cx="601788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Working with deployment groups in…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Four ways to ship a change, ordered by blast radius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01788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Deploying applications to Elastic…</a:t>
            </a:r>
          </a:p>
        </p:txBody>
      </p:sp>
      <p:sp>
        <p:nvSpPr>
          <p:cNvPr id="5" name="Rounded Rectangle 4"/>
          <p:cNvSpPr/>
          <p:nvPr/>
        </p:nvSpPr>
        <p:spPr>
          <a:xfrm>
            <a:off x="612648" y="1389888"/>
            <a:ext cx="2551176" cy="2139696"/>
          </a:xfrm>
          <a:prstGeom prst="roundRect">
            <a:avLst>
              <a:gd name="adj" fmla="val 25000"/>
            </a:avLst>
          </a:prstGeom>
          <a:solidFill>
            <a:srgbClr val="FFF5FE"/>
          </a:solidFill>
          <a:ln w="381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1536192"/>
            <a:ext cx="2221992" cy="377875"/>
          </a:xfrm>
          <a:prstGeom prst="rect">
            <a:avLst/>
          </a:prstGeom>
          <a:noFill/>
        </p:spPr>
        <p:txBody>
          <a:bodyPr wrap="square" anchor="t">
            <a:noAutofit/>
          </a:bodyPr>
          <a:lstStyle/>
          <a:p>
            <a:pPr algn="l"/>
            <a:r>
              <a:rPr sz="1800" b="1" i="0">
                <a:solidFill>
                  <a:srgbClr val="8F0072"/>
                </a:solidFill>
                <a:latin typeface="Amazon Ember Display"/>
              </a:rPr>
              <a:t>ALL AT ONCE</a:t>
            </a:r>
          </a:p>
        </p:txBody>
      </p:sp>
      <p:sp>
        <p:nvSpPr>
          <p:cNvPr id="7" name="Rounded Rectangle 6"/>
          <p:cNvSpPr/>
          <p:nvPr/>
        </p:nvSpPr>
        <p:spPr>
          <a:xfrm>
            <a:off x="777240" y="2251252"/>
            <a:ext cx="2221992" cy="819302"/>
          </a:xfrm>
          <a:prstGeom prst="roundRect">
            <a:avLst>
              <a:gd name="adj" fmla="val 3000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77240" y="2296972"/>
            <a:ext cx="2221992" cy="727862"/>
          </a:xfrm>
          <a:prstGeom prst="rect">
            <a:avLst/>
          </a:prstGeom>
          <a:noFill/>
        </p:spPr>
        <p:txBody>
          <a:bodyPr wrap="square" anchor="t">
            <a:noAutofit/>
          </a:bodyPr>
          <a:lstStyle/>
          <a:p>
            <a:pPr algn="ctr"/>
            <a:r>
              <a:rPr sz="2000" b="0" i="0">
                <a:solidFill>
                  <a:srgbClr val="232B37"/>
                </a:solidFill>
                <a:latin typeface="Amazon Ember Display"/>
              </a:rPr>
              <a:t>one step</a:t>
            </a:r>
          </a:p>
          <a:p>
            <a:pPr algn="ctr"/>
            <a:r>
              <a:rPr sz="2000" b="0" i="0">
                <a:solidFill>
                  <a:srgbClr val="232B37"/>
                </a:solidFill>
                <a:latin typeface="Amazon Ember Display"/>
              </a:rPr>
              <a:t>brief outage</a:t>
            </a:r>
          </a:p>
        </p:txBody>
      </p:sp>
      <p:sp>
        <p:nvSpPr>
          <p:cNvPr id="9" name="Rounded Rectangle 8"/>
          <p:cNvSpPr/>
          <p:nvPr/>
        </p:nvSpPr>
        <p:spPr>
          <a:xfrm>
            <a:off x="3419856" y="1389888"/>
            <a:ext cx="2551176" cy="2139696"/>
          </a:xfrm>
          <a:prstGeom prst="roundRect">
            <a:avLst>
              <a:gd name="adj" fmla="val 25000"/>
            </a:avLst>
          </a:prstGeom>
          <a:solidFill>
            <a:srgbClr val="FFF5FE"/>
          </a:solidFill>
          <a:ln w="381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584448" y="1536192"/>
            <a:ext cx="2221992" cy="377875"/>
          </a:xfrm>
          <a:prstGeom prst="rect">
            <a:avLst/>
          </a:prstGeom>
          <a:noFill/>
        </p:spPr>
        <p:txBody>
          <a:bodyPr wrap="square" anchor="t">
            <a:noAutofit/>
          </a:bodyPr>
          <a:lstStyle/>
          <a:p>
            <a:pPr algn="l"/>
            <a:r>
              <a:rPr sz="1800" b="1" i="0">
                <a:solidFill>
                  <a:srgbClr val="8F0072"/>
                </a:solidFill>
                <a:latin typeface="Amazon Ember Display"/>
              </a:rPr>
              <a:t>ROLLING</a:t>
            </a:r>
          </a:p>
        </p:txBody>
      </p:sp>
      <p:sp>
        <p:nvSpPr>
          <p:cNvPr id="11" name="Rounded Rectangle 10"/>
          <p:cNvSpPr/>
          <p:nvPr/>
        </p:nvSpPr>
        <p:spPr>
          <a:xfrm>
            <a:off x="3584448" y="2251252"/>
            <a:ext cx="2221992" cy="819302"/>
          </a:xfrm>
          <a:prstGeom prst="roundRect">
            <a:avLst>
              <a:gd name="adj" fmla="val 3000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584448" y="2296972"/>
            <a:ext cx="2221992" cy="727862"/>
          </a:xfrm>
          <a:prstGeom prst="rect">
            <a:avLst/>
          </a:prstGeom>
          <a:noFill/>
        </p:spPr>
        <p:txBody>
          <a:bodyPr wrap="square" anchor="t">
            <a:noAutofit/>
          </a:bodyPr>
          <a:lstStyle/>
          <a:p>
            <a:pPr algn="ctr"/>
            <a:r>
              <a:rPr sz="2000" b="0" i="0">
                <a:solidFill>
                  <a:srgbClr val="232B37"/>
                </a:solidFill>
                <a:latin typeface="Amazon Ember Display"/>
              </a:rPr>
              <a:t>batch by batch</a:t>
            </a:r>
          </a:p>
          <a:p>
            <a:pPr algn="ctr"/>
            <a:r>
              <a:rPr sz="2000" b="0" i="0">
                <a:solidFill>
                  <a:srgbClr val="232B37"/>
                </a:solidFill>
                <a:latin typeface="Amazon Ember Display"/>
              </a:rPr>
              <a:t>mixed versions</a:t>
            </a:r>
          </a:p>
        </p:txBody>
      </p:sp>
      <p:sp>
        <p:nvSpPr>
          <p:cNvPr id="13" name="Rounded Rectangle 12"/>
          <p:cNvSpPr/>
          <p:nvPr/>
        </p:nvSpPr>
        <p:spPr>
          <a:xfrm>
            <a:off x="6227064" y="1389888"/>
            <a:ext cx="2551176" cy="2139696"/>
          </a:xfrm>
          <a:prstGeom prst="roundRect">
            <a:avLst>
              <a:gd name="adj" fmla="val 25000"/>
            </a:avLst>
          </a:prstGeom>
          <a:solidFill>
            <a:srgbClr val="FFF5FE"/>
          </a:solidFill>
          <a:ln w="381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91656" y="1536192"/>
            <a:ext cx="2221992" cy="377875"/>
          </a:xfrm>
          <a:prstGeom prst="rect">
            <a:avLst/>
          </a:prstGeom>
          <a:noFill/>
        </p:spPr>
        <p:txBody>
          <a:bodyPr wrap="square" anchor="t">
            <a:noAutofit/>
          </a:bodyPr>
          <a:lstStyle/>
          <a:p>
            <a:pPr algn="l"/>
            <a:r>
              <a:rPr sz="1800" b="1" i="0">
                <a:solidFill>
                  <a:srgbClr val="8F0072"/>
                </a:solidFill>
                <a:latin typeface="Amazon Ember Display"/>
              </a:rPr>
              <a:t>BLUE / GREEN</a:t>
            </a:r>
          </a:p>
        </p:txBody>
      </p:sp>
      <p:sp>
        <p:nvSpPr>
          <p:cNvPr id="15" name="Rounded Rectangle 14"/>
          <p:cNvSpPr/>
          <p:nvPr/>
        </p:nvSpPr>
        <p:spPr>
          <a:xfrm>
            <a:off x="6391656" y="2251252"/>
            <a:ext cx="2221992" cy="819302"/>
          </a:xfrm>
          <a:prstGeom prst="roundRect">
            <a:avLst>
              <a:gd name="adj" fmla="val 3000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91656" y="2296972"/>
            <a:ext cx="2221992" cy="727862"/>
          </a:xfrm>
          <a:prstGeom prst="rect">
            <a:avLst/>
          </a:prstGeom>
          <a:noFill/>
        </p:spPr>
        <p:txBody>
          <a:bodyPr wrap="square" anchor="t">
            <a:noAutofit/>
          </a:bodyPr>
          <a:lstStyle/>
          <a:p>
            <a:pPr algn="ctr"/>
            <a:r>
              <a:rPr sz="2000" b="0" i="0">
                <a:solidFill>
                  <a:srgbClr val="232B37"/>
                </a:solidFill>
                <a:latin typeface="Amazon Ember Display"/>
              </a:rPr>
              <a:t>a second copy</a:t>
            </a:r>
          </a:p>
          <a:p>
            <a:pPr algn="ctr"/>
            <a:r>
              <a:rPr sz="2000" b="0" i="0">
                <a:solidFill>
                  <a:srgbClr val="232B37"/>
                </a:solidFill>
                <a:latin typeface="Amazon Ember Display"/>
              </a:rPr>
              <a:t>switch back fast</a:t>
            </a:r>
          </a:p>
        </p:txBody>
      </p:sp>
      <p:sp>
        <p:nvSpPr>
          <p:cNvPr id="17" name="Rounded Rectangle 16"/>
          <p:cNvSpPr/>
          <p:nvPr/>
        </p:nvSpPr>
        <p:spPr>
          <a:xfrm>
            <a:off x="9034272" y="1389888"/>
            <a:ext cx="2551176" cy="2139696"/>
          </a:xfrm>
          <a:prstGeom prst="roundRect">
            <a:avLst>
              <a:gd name="adj" fmla="val 25000"/>
            </a:avLst>
          </a:prstGeom>
          <a:solidFill>
            <a:srgbClr val="FFF5FE"/>
          </a:solidFill>
          <a:ln w="381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198864" y="1536192"/>
            <a:ext cx="2221992" cy="377875"/>
          </a:xfrm>
          <a:prstGeom prst="rect">
            <a:avLst/>
          </a:prstGeom>
          <a:noFill/>
        </p:spPr>
        <p:txBody>
          <a:bodyPr wrap="square" anchor="t">
            <a:noAutofit/>
          </a:bodyPr>
          <a:lstStyle/>
          <a:p>
            <a:pPr algn="l"/>
            <a:r>
              <a:rPr sz="1800" b="1" i="0">
                <a:solidFill>
                  <a:srgbClr val="8F0072"/>
                </a:solidFill>
                <a:latin typeface="Amazon Ember Display"/>
              </a:rPr>
              <a:t>CANARY</a:t>
            </a:r>
          </a:p>
        </p:txBody>
      </p:sp>
      <p:sp>
        <p:nvSpPr>
          <p:cNvPr id="19" name="Rounded Rectangle 18"/>
          <p:cNvSpPr/>
          <p:nvPr/>
        </p:nvSpPr>
        <p:spPr>
          <a:xfrm>
            <a:off x="9198864" y="2251252"/>
            <a:ext cx="2221992" cy="819302"/>
          </a:xfrm>
          <a:prstGeom prst="roundRect">
            <a:avLst>
              <a:gd name="adj" fmla="val 3000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198864" y="2296972"/>
            <a:ext cx="2221992" cy="727862"/>
          </a:xfrm>
          <a:prstGeom prst="rect">
            <a:avLst/>
          </a:prstGeom>
          <a:noFill/>
        </p:spPr>
        <p:txBody>
          <a:bodyPr wrap="square" anchor="t">
            <a:noAutofit/>
          </a:bodyPr>
          <a:lstStyle/>
          <a:p>
            <a:pPr algn="ctr"/>
            <a:r>
              <a:rPr sz="2000" b="0" i="0">
                <a:solidFill>
                  <a:srgbClr val="232B37"/>
                </a:solidFill>
                <a:latin typeface="Amazon Ember Display"/>
              </a:rPr>
              <a:t>a small slice</a:t>
            </a:r>
          </a:p>
          <a:p>
            <a:pPr algn="ctr"/>
            <a:r>
              <a:rPr sz="2000" b="0" i="0">
                <a:solidFill>
                  <a:srgbClr val="232B37"/>
                </a:solidFill>
                <a:latin typeface="Amazon Ember Display"/>
              </a:rPr>
              <a:t>widen if it holds</a:t>
            </a:r>
          </a:p>
        </p:txBody>
      </p:sp>
      <p:sp>
        <p:nvSpPr>
          <p:cNvPr id="21" name="TextBox 20"/>
          <p:cNvSpPr txBox="1"/>
          <p:nvPr/>
        </p:nvSpPr>
        <p:spPr>
          <a:xfrm>
            <a:off x="612648" y="3767328"/>
            <a:ext cx="2651760" cy="377875"/>
          </a:xfrm>
          <a:prstGeom prst="rect">
            <a:avLst/>
          </a:prstGeom>
          <a:noFill/>
        </p:spPr>
        <p:txBody>
          <a:bodyPr wrap="square" anchor="ctr">
            <a:noAutofit/>
          </a:bodyPr>
          <a:lstStyle/>
          <a:p>
            <a:pPr algn="l"/>
            <a:r>
              <a:rPr sz="1800" b="1" i="0">
                <a:solidFill>
                  <a:srgbClr val="5A6B7B"/>
                </a:solidFill>
                <a:latin typeface="Amazon Ember Display"/>
              </a:rPr>
              <a:t>MOST EXPOSURE</a:t>
            </a:r>
          </a:p>
        </p:txBody>
      </p:sp>
      <p:sp>
        <p:nvSpPr>
          <p:cNvPr id="22" name="Freeform 21"/>
          <p:cNvSpPr/>
          <p:nvPr/>
        </p:nvSpPr>
        <p:spPr>
          <a:xfrm>
            <a:off x="3429000" y="3922776"/>
            <a:ext cx="4736592" cy="0"/>
          </a:xfrm>
          <a:custGeom>
            <a:avLst/>
            <a:gdLst/>
            <a:ahLst/>
            <a:cxnLst/>
            <a:rect l="l" t="t" r="r" b="b"/>
            <a:pathLst>
              <a:path w="4736592">
                <a:moveTo>
                  <a:pt x="0" y="0"/>
                </a:moveTo>
                <a:lnTo>
                  <a:pt x="4736592" y="0"/>
                </a:lnTo>
              </a:path>
            </a:pathLst>
          </a:custGeom>
          <a:noFill/>
          <a:ln w="31750" cap="rnd">
            <a:solidFill>
              <a:srgbClr val="DEDEE3"/>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7991855" y="3803904"/>
            <a:ext cx="192024" cy="237744"/>
          </a:xfrm>
          <a:custGeom>
            <a:avLst/>
            <a:gdLst/>
            <a:ahLst/>
            <a:cxnLst/>
            <a:rect l="l" t="t" r="r" b="b"/>
            <a:pathLst>
              <a:path w="192024" h="237744">
                <a:moveTo>
                  <a:pt x="0" y="0"/>
                </a:moveTo>
                <a:lnTo>
                  <a:pt x="192024" y="118872"/>
                </a:lnTo>
                <a:lnTo>
                  <a:pt x="0" y="237744"/>
                </a:lnTo>
              </a:path>
            </a:pathLst>
          </a:custGeom>
          <a:noFill/>
          <a:ln w="31750" cap="rnd">
            <a:solidFill>
              <a:srgbClr val="DEDEE3"/>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767328"/>
            <a:ext cx="3264408" cy="377875"/>
          </a:xfrm>
          <a:prstGeom prst="rect">
            <a:avLst/>
          </a:prstGeom>
          <a:noFill/>
        </p:spPr>
        <p:txBody>
          <a:bodyPr wrap="square" anchor="ctr">
            <a:noAutofit/>
          </a:bodyPr>
          <a:lstStyle/>
          <a:p>
            <a:pPr algn="r"/>
            <a:r>
              <a:rPr sz="1800" b="1" i="0">
                <a:solidFill>
                  <a:srgbClr val="5A6B7B"/>
                </a:solidFill>
                <a:latin typeface="Amazon Ember Display"/>
              </a:rPr>
              <a:t>LEAST EXPOSURE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Blue/green swaps environments; canary splits traffic</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764792"/>
            <a:ext cx="1920240" cy="377875"/>
          </a:xfrm>
          <a:prstGeom prst="rect">
            <a:avLst/>
          </a:prstGeom>
          <a:noFill/>
        </p:spPr>
        <p:txBody>
          <a:bodyPr wrap="square" anchor="t">
            <a:noAutofit/>
          </a:bodyPr>
          <a:lstStyle/>
          <a:p>
            <a:pPr algn="l"/>
            <a:r>
              <a:rPr sz="1800" b="1" i="0">
                <a:solidFill>
                  <a:srgbClr val="8F0072"/>
                </a:solidFill>
                <a:latin typeface="Amazon Ember Display"/>
              </a:rPr>
              <a:t>BLUE / GREEN</a:t>
            </a:r>
          </a:p>
        </p:txBody>
      </p:sp>
      <p:sp>
        <p:nvSpPr>
          <p:cNvPr id="5" name="Rounded Rectangle 4"/>
          <p:cNvSpPr/>
          <p:nvPr/>
        </p:nvSpPr>
        <p:spPr>
          <a:xfrm>
            <a:off x="2624328" y="1783080"/>
            <a:ext cx="3441801" cy="1417320"/>
          </a:xfrm>
          <a:prstGeom prst="roundRect">
            <a:avLst>
              <a:gd name="adj" fmla="val 9032"/>
            </a:avLst>
          </a:prstGeom>
          <a:solidFill>
            <a:srgbClr val="FFFFFF"/>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2752344" y="1911095"/>
            <a:ext cx="3185769" cy="346049"/>
          </a:xfrm>
          <a:prstGeom prst="rect">
            <a:avLst/>
          </a:prstGeom>
          <a:noFill/>
        </p:spPr>
        <p:txBody>
          <a:bodyPr wrap="square" anchor="ctr">
            <a:noAutofit/>
          </a:bodyPr>
          <a:lstStyle/>
          <a:p>
            <a:pPr algn="ctr"/>
            <a:r>
              <a:rPr sz="1600" b="1" i="0">
                <a:solidFill>
                  <a:srgbClr val="8F0072"/>
                </a:solidFill>
                <a:latin typeface="Amazon Ember Display"/>
              </a:rPr>
              <a:t>ENVIRONMENT  v3  (live)</a:t>
            </a:r>
          </a:p>
        </p:txBody>
      </p:sp>
      <p:sp>
        <p:nvSpPr>
          <p:cNvPr id="7" name="Rounded Rectangle 6"/>
          <p:cNvSpPr/>
          <p:nvPr/>
        </p:nvSpPr>
        <p:spPr>
          <a:xfrm>
            <a:off x="3127248" y="2441448"/>
            <a:ext cx="2435961"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200400" y="2532888"/>
            <a:ext cx="2289657" cy="346049"/>
          </a:xfrm>
          <a:prstGeom prst="rect">
            <a:avLst/>
          </a:prstGeom>
          <a:noFill/>
        </p:spPr>
        <p:txBody>
          <a:bodyPr wrap="square" anchor="ctr">
            <a:noAutofit/>
          </a:bodyPr>
          <a:lstStyle/>
          <a:p>
            <a:pPr algn="ctr"/>
            <a:r>
              <a:rPr sz="1600" b="1" i="0">
                <a:solidFill>
                  <a:srgbClr val="FFFFFF"/>
                </a:solidFill>
                <a:latin typeface="Amazon Ember Display"/>
              </a:rPr>
              <a:t>100% of traffic</a:t>
            </a:r>
          </a:p>
        </p:txBody>
      </p:sp>
      <p:sp>
        <p:nvSpPr>
          <p:cNvPr id="9" name="Rounded Rectangle 8"/>
          <p:cNvSpPr/>
          <p:nvPr/>
        </p:nvSpPr>
        <p:spPr>
          <a:xfrm>
            <a:off x="8133588" y="1783080"/>
            <a:ext cx="3441801" cy="1417320"/>
          </a:xfrm>
          <a:prstGeom prst="roundRect">
            <a:avLst>
              <a:gd name="adj" fmla="val 9032"/>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261604" y="1911095"/>
            <a:ext cx="3185769" cy="346049"/>
          </a:xfrm>
          <a:prstGeom prst="rect">
            <a:avLst/>
          </a:prstGeom>
          <a:noFill/>
        </p:spPr>
        <p:txBody>
          <a:bodyPr wrap="square" anchor="ctr">
            <a:noAutofit/>
          </a:bodyPr>
          <a:lstStyle/>
          <a:p>
            <a:pPr algn="ctr"/>
            <a:r>
              <a:rPr sz="1600" b="1" i="0">
                <a:solidFill>
                  <a:srgbClr val="8F0072"/>
                </a:solidFill>
                <a:latin typeface="Amazon Ember Display"/>
              </a:rPr>
              <a:t>ENVIRONMENT  v4  (new)</a:t>
            </a:r>
          </a:p>
        </p:txBody>
      </p:sp>
      <p:sp>
        <p:nvSpPr>
          <p:cNvPr id="11" name="Rounded Rectangle 10"/>
          <p:cNvSpPr/>
          <p:nvPr/>
        </p:nvSpPr>
        <p:spPr>
          <a:xfrm>
            <a:off x="8636508" y="2441448"/>
            <a:ext cx="2435961"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709660" y="2532888"/>
            <a:ext cx="2289657" cy="346049"/>
          </a:xfrm>
          <a:prstGeom prst="rect">
            <a:avLst/>
          </a:prstGeom>
          <a:noFill/>
        </p:spPr>
        <p:txBody>
          <a:bodyPr wrap="square" anchor="ctr">
            <a:noAutofit/>
          </a:bodyPr>
          <a:lstStyle/>
          <a:p>
            <a:pPr algn="ctr"/>
            <a:r>
              <a:rPr sz="1600" b="1" i="0">
                <a:solidFill>
                  <a:srgbClr val="232B37"/>
                </a:solidFill>
                <a:latin typeface="Amazon Ember Display"/>
              </a:rPr>
              <a:t>0% of traffic</a:t>
            </a:r>
          </a:p>
        </p:txBody>
      </p:sp>
      <p:sp>
        <p:nvSpPr>
          <p:cNvPr id="13" name="Freeform 12"/>
          <p:cNvSpPr/>
          <p:nvPr/>
        </p:nvSpPr>
        <p:spPr>
          <a:xfrm>
            <a:off x="6139281" y="2491740"/>
            <a:ext cx="1939443" cy="0"/>
          </a:xfrm>
          <a:custGeom>
            <a:avLst/>
            <a:gdLst/>
            <a:ahLst/>
            <a:cxnLst/>
            <a:rect l="l" t="t" r="r" b="b"/>
            <a:pathLst>
              <a:path w="1939443">
                <a:moveTo>
                  <a:pt x="0" y="0"/>
                </a:moveTo>
                <a:lnTo>
                  <a:pt x="1939443"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7904988" y="237286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11849" y="2016252"/>
            <a:ext cx="1976018" cy="346049"/>
          </a:xfrm>
          <a:prstGeom prst="rect">
            <a:avLst/>
          </a:prstGeom>
          <a:noFill/>
        </p:spPr>
        <p:txBody>
          <a:bodyPr wrap="square" anchor="t">
            <a:noAutofit/>
          </a:bodyPr>
          <a:lstStyle/>
          <a:p>
            <a:pPr algn="ctr"/>
            <a:r>
              <a:rPr sz="1600" b="0" i="0">
                <a:solidFill>
                  <a:srgbClr val="5A6B7B"/>
                </a:solidFill>
                <a:latin typeface="Amazon Ember Display"/>
              </a:rPr>
              <a:t>switch the listener</a:t>
            </a:r>
          </a:p>
        </p:txBody>
      </p:sp>
      <p:sp>
        <p:nvSpPr>
          <p:cNvPr id="16" name="TextBox 15"/>
          <p:cNvSpPr txBox="1"/>
          <p:nvPr/>
        </p:nvSpPr>
        <p:spPr>
          <a:xfrm>
            <a:off x="612648" y="3566160"/>
            <a:ext cx="1920240" cy="377875"/>
          </a:xfrm>
          <a:prstGeom prst="rect">
            <a:avLst/>
          </a:prstGeom>
          <a:noFill/>
        </p:spPr>
        <p:txBody>
          <a:bodyPr wrap="square" anchor="t">
            <a:noAutofit/>
          </a:bodyPr>
          <a:lstStyle/>
          <a:p>
            <a:pPr algn="l"/>
            <a:r>
              <a:rPr sz="1800" b="1" i="0">
                <a:solidFill>
                  <a:srgbClr val="8F0072"/>
                </a:solidFill>
                <a:latin typeface="Amazon Ember Display"/>
              </a:rPr>
              <a:t>CANARY</a:t>
            </a:r>
          </a:p>
        </p:txBody>
      </p:sp>
      <p:sp>
        <p:nvSpPr>
          <p:cNvPr id="17" name="Rounded Rectangle 16"/>
          <p:cNvSpPr/>
          <p:nvPr/>
        </p:nvSpPr>
        <p:spPr>
          <a:xfrm>
            <a:off x="2624328" y="3584448"/>
            <a:ext cx="8951976" cy="1417320"/>
          </a:xfrm>
          <a:prstGeom prst="roundRect">
            <a:avLst>
              <a:gd name="adj" fmla="val 9032"/>
            </a:avLst>
          </a:prstGeom>
          <a:solidFill>
            <a:srgbClr val="FFFFFF"/>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2752344" y="3712463"/>
            <a:ext cx="8695944" cy="346049"/>
          </a:xfrm>
          <a:prstGeom prst="rect">
            <a:avLst/>
          </a:prstGeom>
          <a:noFill/>
        </p:spPr>
        <p:txBody>
          <a:bodyPr wrap="square" anchor="ctr">
            <a:noAutofit/>
          </a:bodyPr>
          <a:lstStyle/>
          <a:p>
            <a:pPr algn="ctr"/>
            <a:r>
              <a:rPr sz="1600" b="1" i="0">
                <a:solidFill>
                  <a:srgbClr val="8F0072"/>
                </a:solidFill>
                <a:latin typeface="Amazon Ember Display"/>
              </a:rPr>
              <a:t>ONE ENVIRONMENT, BOTH VERSIONS SERVING</a:t>
            </a:r>
          </a:p>
        </p:txBody>
      </p:sp>
      <p:sp>
        <p:nvSpPr>
          <p:cNvPr id="19" name="Rounded Rectangle 18"/>
          <p:cNvSpPr/>
          <p:nvPr/>
        </p:nvSpPr>
        <p:spPr>
          <a:xfrm>
            <a:off x="2898648" y="4224528"/>
            <a:ext cx="7471562"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971800" y="4315968"/>
            <a:ext cx="7325258" cy="346049"/>
          </a:xfrm>
          <a:prstGeom prst="rect">
            <a:avLst/>
          </a:prstGeom>
          <a:noFill/>
        </p:spPr>
        <p:txBody>
          <a:bodyPr wrap="square" anchor="ctr">
            <a:noAutofit/>
          </a:bodyPr>
          <a:lstStyle/>
          <a:p>
            <a:pPr algn="ctr"/>
            <a:r>
              <a:rPr sz="1600" b="1" i="0">
                <a:solidFill>
                  <a:srgbClr val="232B37"/>
                </a:solidFill>
                <a:latin typeface="Amazon Ember Display"/>
              </a:rPr>
              <a:t>v3  --  90%</a:t>
            </a:r>
          </a:p>
        </p:txBody>
      </p:sp>
      <p:sp>
        <p:nvSpPr>
          <p:cNvPr id="21" name="Rounded Rectangle 20"/>
          <p:cNvSpPr/>
          <p:nvPr/>
        </p:nvSpPr>
        <p:spPr>
          <a:xfrm>
            <a:off x="10461650" y="4224528"/>
            <a:ext cx="840333"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0534802" y="4315968"/>
            <a:ext cx="694029" cy="346049"/>
          </a:xfrm>
          <a:prstGeom prst="rect">
            <a:avLst/>
          </a:prstGeom>
          <a:noFill/>
        </p:spPr>
        <p:txBody>
          <a:bodyPr wrap="square" anchor="ctr">
            <a:noAutofit/>
          </a:bodyPr>
          <a:lstStyle/>
          <a:p>
            <a:pPr algn="ctr"/>
            <a:r>
              <a:rPr sz="1600" b="1" i="0">
                <a:solidFill>
                  <a:srgbClr val="FFFFFF"/>
                </a:solidFill>
                <a:latin typeface="Amazon Ember Display"/>
              </a:rPr>
              <a:t>10%</a:t>
            </a:r>
          </a:p>
        </p:txBody>
      </p:sp>
      <p:sp>
        <p:nvSpPr>
          <p:cNvPr id="23" name="TextBox 22"/>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blue/green rolls back by switching a listener; canary rolls back by moving the percentage</a:t>
            </a:r>
          </a:p>
        </p:txBody>
      </p:sp>
      <p:sp>
        <p:nvSpPr>
          <p:cNvPr id="24" name="TextBox 23">
            <a:hlinkClick r:id="rId3"/>
          </p:cNvPr>
          <p:cNvSpPr txBox="1"/>
          <p:nvPr/>
        </p:nvSpPr>
        <p:spPr>
          <a:xfrm>
            <a:off x="612648" y="5943600"/>
            <a:ext cx="592644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Amazon ECS blue/green deployments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canary holds a split; linear keeps moving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783080"/>
            <a:ext cx="5138928" cy="377875"/>
          </a:xfrm>
          <a:prstGeom prst="rect">
            <a:avLst/>
          </a:prstGeom>
          <a:noFill/>
        </p:spPr>
        <p:txBody>
          <a:bodyPr wrap="square" anchor="t">
            <a:noAutofit/>
          </a:bodyPr>
          <a:lstStyle/>
          <a:p>
            <a:pPr algn="l"/>
            <a:r>
              <a:rPr sz="1800" b="1" i="0">
                <a:solidFill>
                  <a:srgbClr val="8F0072"/>
                </a:solidFill>
                <a:latin typeface="Amazon Ember Display"/>
              </a:rPr>
              <a:t>CANARY  10% for 5 minutes</a:t>
            </a:r>
          </a:p>
        </p:txBody>
      </p:sp>
      <p:sp>
        <p:nvSpPr>
          <p:cNvPr id="5" name="Rounded Rectangle 4"/>
          <p:cNvSpPr/>
          <p:nvPr/>
        </p:nvSpPr>
        <p:spPr>
          <a:xfrm>
            <a:off x="612648" y="4617720"/>
            <a:ext cx="5138928" cy="32004"/>
          </a:xfrm>
          <a:prstGeom prst="roundRect">
            <a:avLst>
              <a:gd name="adj" fmla="val 28571"/>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758952" y="4414723"/>
            <a:ext cx="2350008" cy="202996"/>
          </a:xfrm>
          <a:prstGeom prst="roundRect">
            <a:avLst>
              <a:gd name="adj" fmla="val 27027"/>
            </a:avLst>
          </a:prstGeom>
          <a:solidFill>
            <a:srgbClr val="FF57E9"/>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58952" y="3995927"/>
            <a:ext cx="2350008" cy="346049"/>
          </a:xfrm>
          <a:prstGeom prst="rect">
            <a:avLst/>
          </a:prstGeom>
          <a:noFill/>
        </p:spPr>
        <p:txBody>
          <a:bodyPr wrap="square" anchor="t">
            <a:noAutofit/>
          </a:bodyPr>
          <a:lstStyle/>
          <a:p>
            <a:pPr algn="ctr"/>
            <a:r>
              <a:rPr sz="1600" b="1" i="0">
                <a:solidFill>
                  <a:srgbClr val="8F0072"/>
                </a:solidFill>
                <a:latin typeface="Amazon Ember Display"/>
              </a:rPr>
              <a:t>10%</a:t>
            </a:r>
          </a:p>
        </p:txBody>
      </p:sp>
      <p:sp>
        <p:nvSpPr>
          <p:cNvPr id="8" name="Rounded Rectangle 7"/>
          <p:cNvSpPr/>
          <p:nvPr/>
        </p:nvSpPr>
        <p:spPr>
          <a:xfrm>
            <a:off x="3255264" y="2585923"/>
            <a:ext cx="2350008" cy="2031796"/>
          </a:xfrm>
          <a:prstGeom prst="roundRect">
            <a:avLst>
              <a:gd name="adj" fmla="val 2700"/>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255264" y="2167127"/>
            <a:ext cx="2350008" cy="346049"/>
          </a:xfrm>
          <a:prstGeom prst="rect">
            <a:avLst/>
          </a:prstGeom>
          <a:noFill/>
        </p:spPr>
        <p:txBody>
          <a:bodyPr wrap="square" anchor="t">
            <a:noAutofit/>
          </a:bodyPr>
          <a:lstStyle/>
          <a:p>
            <a:pPr algn="ctr"/>
            <a:r>
              <a:rPr sz="1600" b="1" i="0">
                <a:solidFill>
                  <a:srgbClr val="8F0072"/>
                </a:solidFill>
                <a:latin typeface="Amazon Ember Display"/>
              </a:rPr>
              <a:t>100%</a:t>
            </a:r>
          </a:p>
        </p:txBody>
      </p:sp>
      <p:sp>
        <p:nvSpPr>
          <p:cNvPr id="10" name="TextBox 9"/>
          <p:cNvSpPr txBox="1"/>
          <p:nvPr/>
        </p:nvSpPr>
        <p:spPr>
          <a:xfrm>
            <a:off x="612648" y="4727448"/>
            <a:ext cx="5138928" cy="346049"/>
          </a:xfrm>
          <a:prstGeom prst="rect">
            <a:avLst/>
          </a:prstGeom>
          <a:noFill/>
        </p:spPr>
        <p:txBody>
          <a:bodyPr wrap="square" anchor="t">
            <a:noAutofit/>
          </a:bodyPr>
          <a:lstStyle/>
          <a:p>
            <a:pPr algn="ctr"/>
            <a:r>
              <a:rPr sz="1600" b="0" i="0">
                <a:solidFill>
                  <a:srgbClr val="5A6B7B"/>
                </a:solidFill>
                <a:latin typeface="Amazon Ember Display"/>
              </a:rPr>
              <a:t>one shift, then a hold, then the rest</a:t>
            </a:r>
          </a:p>
        </p:txBody>
      </p:sp>
      <p:sp>
        <p:nvSpPr>
          <p:cNvPr id="11" name="TextBox 10"/>
          <p:cNvSpPr txBox="1"/>
          <p:nvPr/>
        </p:nvSpPr>
        <p:spPr>
          <a:xfrm>
            <a:off x="6437376" y="1783080"/>
            <a:ext cx="5138928" cy="377875"/>
          </a:xfrm>
          <a:prstGeom prst="rect">
            <a:avLst/>
          </a:prstGeom>
          <a:noFill/>
        </p:spPr>
        <p:txBody>
          <a:bodyPr wrap="square" anchor="t">
            <a:noAutofit/>
          </a:bodyPr>
          <a:lstStyle/>
          <a:p>
            <a:pPr algn="l"/>
            <a:r>
              <a:rPr sz="1800" b="1" i="0">
                <a:solidFill>
                  <a:srgbClr val="8F0072"/>
                </a:solidFill>
                <a:latin typeface="Amazon Ember Display"/>
              </a:rPr>
              <a:t>LINEAR  10% every 1 minute</a:t>
            </a:r>
          </a:p>
        </p:txBody>
      </p:sp>
      <p:sp>
        <p:nvSpPr>
          <p:cNvPr id="12" name="Rounded Rectangle 11"/>
          <p:cNvSpPr/>
          <p:nvPr/>
        </p:nvSpPr>
        <p:spPr>
          <a:xfrm>
            <a:off x="6437376" y="4617720"/>
            <a:ext cx="5138928" cy="32004"/>
          </a:xfrm>
          <a:prstGeom prst="roundRect">
            <a:avLst>
              <a:gd name="adj" fmla="val 28571"/>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6583680" y="4211726"/>
            <a:ext cx="852220" cy="405993"/>
          </a:xfrm>
          <a:prstGeom prst="roundRect">
            <a:avLst>
              <a:gd name="adj" fmla="val 13513"/>
            </a:avLst>
          </a:prstGeom>
          <a:solidFill>
            <a:srgbClr val="FF57E9"/>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7582204" y="3804818"/>
            <a:ext cx="852220" cy="812901"/>
          </a:xfrm>
          <a:prstGeom prst="roundRect">
            <a:avLst>
              <a:gd name="adj" fmla="val 6749"/>
            </a:avLst>
          </a:prstGeom>
          <a:solidFill>
            <a:srgbClr val="FF57E9"/>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8580729" y="3398824"/>
            <a:ext cx="852220" cy="1218895"/>
          </a:xfrm>
          <a:prstGeom prst="roundRect">
            <a:avLst>
              <a:gd name="adj" fmla="val 6437"/>
            </a:avLst>
          </a:prstGeom>
          <a:solidFill>
            <a:srgbClr val="FF57E9"/>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9579254" y="2991916"/>
            <a:ext cx="852220" cy="1625803"/>
          </a:xfrm>
          <a:prstGeom prst="roundRect">
            <a:avLst>
              <a:gd name="adj" fmla="val 6437"/>
            </a:avLst>
          </a:prstGeom>
          <a:solidFill>
            <a:srgbClr val="FF57E9"/>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10577779" y="2585923"/>
            <a:ext cx="852220" cy="2031796"/>
          </a:xfrm>
          <a:prstGeom prst="roundRect">
            <a:avLst>
              <a:gd name="adj" fmla="val 643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0577779" y="2167127"/>
            <a:ext cx="852220" cy="346049"/>
          </a:xfrm>
          <a:prstGeom prst="rect">
            <a:avLst/>
          </a:prstGeom>
          <a:noFill/>
        </p:spPr>
        <p:txBody>
          <a:bodyPr wrap="square" anchor="t">
            <a:noAutofit/>
          </a:bodyPr>
          <a:lstStyle/>
          <a:p>
            <a:pPr algn="ctr"/>
            <a:r>
              <a:rPr sz="1600" b="1" i="0">
                <a:solidFill>
                  <a:srgbClr val="8F0072"/>
                </a:solidFill>
                <a:latin typeface="Amazon Ember Display"/>
              </a:rPr>
              <a:t>100%</a:t>
            </a:r>
          </a:p>
        </p:txBody>
      </p:sp>
      <p:sp>
        <p:nvSpPr>
          <p:cNvPr id="19" name="TextBox 18"/>
          <p:cNvSpPr txBox="1"/>
          <p:nvPr/>
        </p:nvSpPr>
        <p:spPr>
          <a:xfrm>
            <a:off x="6437376" y="4727448"/>
            <a:ext cx="5138928" cy="346049"/>
          </a:xfrm>
          <a:prstGeom prst="rect">
            <a:avLst/>
          </a:prstGeom>
          <a:noFill/>
        </p:spPr>
        <p:txBody>
          <a:bodyPr wrap="square" anchor="t">
            <a:noAutofit/>
          </a:bodyPr>
          <a:lstStyle/>
          <a:p>
            <a:pPr algn="ctr"/>
            <a:r>
              <a:rPr sz="1600" b="0" i="0">
                <a:solidFill>
                  <a:srgbClr val="5A6B7B"/>
                </a:solidFill>
                <a:latin typeface="Amazon Ember Display"/>
              </a:rPr>
              <a:t>never rests at any split</a:t>
            </a:r>
          </a:p>
        </p:txBody>
      </p:sp>
      <p:sp>
        <p:nvSpPr>
          <p:cNvPr id="20" name="TextBox 19"/>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the hold is what a canary buys you -- it is the window an alarm can fire in</a:t>
            </a:r>
          </a:p>
        </p:txBody>
      </p:sp>
      <p:sp>
        <p:nvSpPr>
          <p:cNvPr id="21" name="TextBox 20">
            <a:hlinkClick r:id="rId3"/>
          </p:cNvPr>
          <p:cNvSpPr txBox="1"/>
          <p:nvPr/>
        </p:nvSpPr>
        <p:spPr>
          <a:xfrm>
            <a:off x="612648" y="5943600"/>
            <a:ext cx="67494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Working with deployment configurations in…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The circuit breaker reverts a failed deployment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606040"/>
            <a:ext cx="2342692" cy="1143000"/>
          </a:xfrm>
          <a:prstGeom prst="roundRect">
            <a:avLst>
              <a:gd name="adj" fmla="val 960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22376" y="2788920"/>
            <a:ext cx="2123236" cy="346049"/>
          </a:xfrm>
          <a:prstGeom prst="rect">
            <a:avLst/>
          </a:prstGeom>
          <a:noFill/>
        </p:spPr>
        <p:txBody>
          <a:bodyPr wrap="square" anchor="ctr">
            <a:noAutofit/>
          </a:bodyPr>
          <a:lstStyle/>
          <a:p>
            <a:pPr algn="ctr"/>
            <a:r>
              <a:rPr sz="1600" b="1" i="0">
                <a:solidFill>
                  <a:srgbClr val="8F0072"/>
                </a:solidFill>
                <a:latin typeface="Amazon Ember Display"/>
              </a:rPr>
              <a:t>launch new tasks</a:t>
            </a:r>
          </a:p>
        </p:txBody>
      </p:sp>
      <p:sp>
        <p:nvSpPr>
          <p:cNvPr id="6" name="TextBox 5"/>
          <p:cNvSpPr txBox="1"/>
          <p:nvPr/>
        </p:nvSpPr>
        <p:spPr>
          <a:xfrm>
            <a:off x="722376" y="3209544"/>
            <a:ext cx="2123236" cy="346049"/>
          </a:xfrm>
          <a:prstGeom prst="rect">
            <a:avLst/>
          </a:prstGeom>
          <a:noFill/>
        </p:spPr>
        <p:txBody>
          <a:bodyPr wrap="square" anchor="ctr">
            <a:noAutofit/>
          </a:bodyPr>
          <a:lstStyle/>
          <a:p>
            <a:pPr algn="ctr"/>
            <a:r>
              <a:rPr sz="1600" b="0" i="0">
                <a:solidFill>
                  <a:srgbClr val="5A6B7B"/>
                </a:solidFill>
                <a:latin typeface="Amazon Ember Display"/>
              </a:rPr>
              <a:t>v4 starting</a:t>
            </a:r>
          </a:p>
        </p:txBody>
      </p:sp>
      <p:sp>
        <p:nvSpPr>
          <p:cNvPr id="7" name="Rounded Rectangle 6"/>
          <p:cNvSpPr/>
          <p:nvPr/>
        </p:nvSpPr>
        <p:spPr>
          <a:xfrm>
            <a:off x="3485692" y="2606040"/>
            <a:ext cx="2342692" cy="1143000"/>
          </a:xfrm>
          <a:prstGeom prst="roundRect">
            <a:avLst>
              <a:gd name="adj" fmla="val 960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595420" y="2788920"/>
            <a:ext cx="2123236" cy="346049"/>
          </a:xfrm>
          <a:prstGeom prst="rect">
            <a:avLst/>
          </a:prstGeom>
          <a:noFill/>
        </p:spPr>
        <p:txBody>
          <a:bodyPr wrap="square" anchor="ctr">
            <a:noAutofit/>
          </a:bodyPr>
          <a:lstStyle/>
          <a:p>
            <a:pPr algn="ctr"/>
            <a:r>
              <a:rPr sz="1600" b="1" i="0">
                <a:solidFill>
                  <a:srgbClr val="8F0072"/>
                </a:solidFill>
                <a:latin typeface="Amazon Ember Display"/>
              </a:rPr>
              <a:t>health checks fail</a:t>
            </a:r>
          </a:p>
        </p:txBody>
      </p:sp>
      <p:sp>
        <p:nvSpPr>
          <p:cNvPr id="9" name="TextBox 8"/>
          <p:cNvSpPr txBox="1"/>
          <p:nvPr/>
        </p:nvSpPr>
        <p:spPr>
          <a:xfrm>
            <a:off x="3595420" y="3209544"/>
            <a:ext cx="2123236" cy="346049"/>
          </a:xfrm>
          <a:prstGeom prst="rect">
            <a:avLst/>
          </a:prstGeom>
          <a:noFill/>
        </p:spPr>
        <p:txBody>
          <a:bodyPr wrap="square" anchor="ctr">
            <a:noAutofit/>
          </a:bodyPr>
          <a:lstStyle/>
          <a:p>
            <a:pPr algn="ctr"/>
            <a:r>
              <a:rPr sz="1600" b="0" i="0">
                <a:solidFill>
                  <a:srgbClr val="5A6B7B"/>
                </a:solidFill>
                <a:latin typeface="Amazon Ember Display"/>
              </a:rPr>
              <a:t>v4 unhealthy</a:t>
            </a:r>
          </a:p>
        </p:txBody>
      </p:sp>
      <p:sp>
        <p:nvSpPr>
          <p:cNvPr id="10" name="Freeform 9"/>
          <p:cNvSpPr/>
          <p:nvPr/>
        </p:nvSpPr>
        <p:spPr>
          <a:xfrm>
            <a:off x="3001060" y="3177540"/>
            <a:ext cx="429768" cy="0"/>
          </a:xfrm>
          <a:custGeom>
            <a:avLst/>
            <a:gdLst/>
            <a:ahLst/>
            <a:cxnLst/>
            <a:rect l="l" t="t" r="r" b="b"/>
            <a:pathLst>
              <a:path w="429768">
                <a:moveTo>
                  <a:pt x="0" y="0"/>
                </a:moveTo>
                <a:lnTo>
                  <a:pt x="42976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Freeform 10"/>
          <p:cNvSpPr/>
          <p:nvPr/>
        </p:nvSpPr>
        <p:spPr>
          <a:xfrm>
            <a:off x="3257092" y="305866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58737" y="2606040"/>
            <a:ext cx="2342692" cy="1143000"/>
          </a:xfrm>
          <a:prstGeom prst="roundRect">
            <a:avLst>
              <a:gd name="adj" fmla="val 960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68465" y="2788920"/>
            <a:ext cx="2123236" cy="346049"/>
          </a:xfrm>
          <a:prstGeom prst="rect">
            <a:avLst/>
          </a:prstGeom>
          <a:noFill/>
        </p:spPr>
        <p:txBody>
          <a:bodyPr wrap="square" anchor="ctr">
            <a:noAutofit/>
          </a:bodyPr>
          <a:lstStyle/>
          <a:p>
            <a:pPr algn="ctr"/>
            <a:r>
              <a:rPr sz="1600" b="1" i="0">
                <a:solidFill>
                  <a:srgbClr val="8F0072"/>
                </a:solidFill>
                <a:latin typeface="Amazon Ember Display"/>
              </a:rPr>
              <a:t>deployment fails</a:t>
            </a:r>
          </a:p>
        </p:txBody>
      </p:sp>
      <p:sp>
        <p:nvSpPr>
          <p:cNvPr id="14" name="TextBox 13"/>
          <p:cNvSpPr txBox="1"/>
          <p:nvPr/>
        </p:nvSpPr>
        <p:spPr>
          <a:xfrm>
            <a:off x="6468465" y="3209544"/>
            <a:ext cx="2123236" cy="346049"/>
          </a:xfrm>
          <a:prstGeom prst="rect">
            <a:avLst/>
          </a:prstGeom>
          <a:noFill/>
        </p:spPr>
        <p:txBody>
          <a:bodyPr wrap="square" anchor="ctr">
            <a:noAutofit/>
          </a:bodyPr>
          <a:lstStyle/>
          <a:p>
            <a:pPr algn="ctr"/>
            <a:r>
              <a:rPr sz="1600" b="0" i="0">
                <a:solidFill>
                  <a:srgbClr val="5A6B7B"/>
                </a:solidFill>
                <a:latin typeface="Amazon Ember Display"/>
              </a:rPr>
              <a:t>circuit breaker trips</a:t>
            </a:r>
          </a:p>
        </p:txBody>
      </p:sp>
      <p:sp>
        <p:nvSpPr>
          <p:cNvPr id="15" name="Freeform 14"/>
          <p:cNvSpPr/>
          <p:nvPr/>
        </p:nvSpPr>
        <p:spPr>
          <a:xfrm>
            <a:off x="5874105" y="3177540"/>
            <a:ext cx="429768" cy="0"/>
          </a:xfrm>
          <a:custGeom>
            <a:avLst/>
            <a:gdLst/>
            <a:ahLst/>
            <a:cxnLst/>
            <a:rect l="l" t="t" r="r" b="b"/>
            <a:pathLst>
              <a:path w="429768">
                <a:moveTo>
                  <a:pt x="0" y="0"/>
                </a:moveTo>
                <a:lnTo>
                  <a:pt x="42976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6130137" y="305866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231782" y="2606040"/>
            <a:ext cx="2342692" cy="1143000"/>
          </a:xfrm>
          <a:prstGeom prst="roundRect">
            <a:avLst>
              <a:gd name="adj" fmla="val 9600"/>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341510" y="2788920"/>
            <a:ext cx="2123236" cy="346049"/>
          </a:xfrm>
          <a:prstGeom prst="rect">
            <a:avLst/>
          </a:prstGeom>
          <a:noFill/>
        </p:spPr>
        <p:txBody>
          <a:bodyPr wrap="square" anchor="ctr">
            <a:noAutofit/>
          </a:bodyPr>
          <a:lstStyle/>
          <a:p>
            <a:pPr algn="ctr"/>
            <a:r>
              <a:rPr sz="1600" b="1" i="0">
                <a:solidFill>
                  <a:srgbClr val="8F0072"/>
                </a:solidFill>
                <a:latin typeface="Amazon Ember Display"/>
              </a:rPr>
              <a:t>v3 is restored</a:t>
            </a:r>
          </a:p>
        </p:txBody>
      </p:sp>
      <p:sp>
        <p:nvSpPr>
          <p:cNvPr id="19" name="TextBox 18"/>
          <p:cNvSpPr txBox="1"/>
          <p:nvPr/>
        </p:nvSpPr>
        <p:spPr>
          <a:xfrm>
            <a:off x="9341510" y="3209544"/>
            <a:ext cx="2123236" cy="346049"/>
          </a:xfrm>
          <a:prstGeom prst="rect">
            <a:avLst/>
          </a:prstGeom>
          <a:noFill/>
        </p:spPr>
        <p:txBody>
          <a:bodyPr wrap="square" anchor="ctr">
            <a:noAutofit/>
          </a:bodyPr>
          <a:lstStyle/>
          <a:p>
            <a:pPr algn="ctr"/>
            <a:r>
              <a:rPr sz="1600" b="0" i="0">
                <a:solidFill>
                  <a:srgbClr val="5A6B7B"/>
                </a:solidFill>
                <a:latin typeface="Amazon Ember Display"/>
              </a:rPr>
              <a:t>nobody intervened</a:t>
            </a:r>
          </a:p>
        </p:txBody>
      </p:sp>
      <p:sp>
        <p:nvSpPr>
          <p:cNvPr id="20" name="Freeform 19"/>
          <p:cNvSpPr/>
          <p:nvPr/>
        </p:nvSpPr>
        <p:spPr>
          <a:xfrm>
            <a:off x="8747150" y="3177540"/>
            <a:ext cx="429768" cy="0"/>
          </a:xfrm>
          <a:custGeom>
            <a:avLst/>
            <a:gdLst/>
            <a:ahLst/>
            <a:cxnLst/>
            <a:rect l="l" t="t" r="r" b="b"/>
            <a:pathLst>
              <a:path w="429768">
                <a:moveTo>
                  <a:pt x="0" y="0"/>
                </a:moveTo>
                <a:lnTo>
                  <a:pt x="42976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9003182" y="305866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1783994" y="3749039"/>
            <a:ext cx="8619134" cy="868681"/>
          </a:xfrm>
          <a:custGeom>
            <a:avLst/>
            <a:gdLst/>
            <a:ahLst/>
            <a:cxnLst/>
            <a:rect l="l" t="t" r="r" b="b"/>
            <a:pathLst>
              <a:path w="8619134" h="868681">
                <a:moveTo>
                  <a:pt x="8619134" y="0"/>
                </a:moveTo>
                <a:lnTo>
                  <a:pt x="8619134" y="868681"/>
                </a:lnTo>
                <a:lnTo>
                  <a:pt x="0" y="868681"/>
                </a:lnTo>
                <a:lnTo>
                  <a:pt x="0" y="0"/>
                </a:lnTo>
              </a:path>
            </a:pathLst>
          </a:custGeom>
          <a:noFill/>
          <a:ln w="444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1665122" y="3749039"/>
            <a:ext cx="237744" cy="192024"/>
          </a:xfrm>
          <a:custGeom>
            <a:avLst/>
            <a:gdLst/>
            <a:ahLst/>
            <a:cxnLst/>
            <a:rect l="l" t="t" r="r" b="b"/>
            <a:pathLst>
              <a:path w="237744" h="192024">
                <a:moveTo>
                  <a:pt x="0" y="192024"/>
                </a:moveTo>
                <a:lnTo>
                  <a:pt x="118872" y="0"/>
                </a:lnTo>
                <a:lnTo>
                  <a:pt x="237744" y="192024"/>
                </a:lnTo>
              </a:path>
            </a:pathLst>
          </a:custGeom>
          <a:noFill/>
          <a:ln w="444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875434" y="4180636"/>
            <a:ext cx="8436254" cy="346049"/>
          </a:xfrm>
          <a:prstGeom prst="rect">
            <a:avLst/>
          </a:prstGeom>
          <a:noFill/>
        </p:spPr>
        <p:txBody>
          <a:bodyPr wrap="square" anchor="ctr">
            <a:noAutofit/>
          </a:bodyPr>
          <a:lstStyle/>
          <a:p>
            <a:pPr algn="ctr"/>
            <a:r>
              <a:rPr sz="1600" b="1" i="0">
                <a:solidFill>
                  <a:srgbClr val="8F0072"/>
                </a:solidFill>
                <a:latin typeface="Amazon Ember Display"/>
              </a:rPr>
              <a:t>rollback enabled -- the previous task definition goes back automatically</a:t>
            </a:r>
          </a:p>
        </p:txBody>
      </p:sp>
      <p:sp>
        <p:nvSpPr>
          <p:cNvPr id="25" name="TextBox 24"/>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the circuit breaker always FAILS the deployment; rollback is what RESTORES the last good one</a:t>
            </a:r>
          </a:p>
        </p:txBody>
      </p:sp>
      <p:sp>
        <p:nvSpPr>
          <p:cNvPr id="26" name="TextBox 25">
            <a:hlinkClick r:id="rId3"/>
          </p:cNvPr>
          <p:cNvSpPr txBox="1"/>
          <p:nvPr/>
        </p:nvSpPr>
        <p:spPr>
          <a:xfrm>
            <a:off x="612648" y="5943600"/>
            <a:ext cx="638364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How the Amazon ECS deployment circuit…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Build, push, and tag an image, then pull to run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468880"/>
            <a:ext cx="2834640" cy="1188720"/>
          </a:xfrm>
          <a:prstGeom prst="roundRect">
            <a:avLst>
              <a:gd name="adj" fmla="val 10769"/>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Res_Server_48_Light.png"/>
          <p:cNvPicPr>
            <a:picLocks noChangeAspect="1"/>
          </p:cNvPicPr>
          <p:nvPr/>
        </p:nvPicPr>
        <p:blipFill>
          <a:blip r:embed="rId3"/>
          <a:stretch>
            <a:fillRect/>
          </a:stretch>
        </p:blipFill>
        <p:spPr>
          <a:xfrm>
            <a:off x="804671" y="2834640"/>
            <a:ext cx="457200" cy="457200"/>
          </a:xfrm>
          <a:prstGeom prst="rect">
            <a:avLst/>
          </a:prstGeom>
        </p:spPr>
      </p:pic>
      <p:sp>
        <p:nvSpPr>
          <p:cNvPr id="6" name="TextBox 5"/>
          <p:cNvSpPr txBox="1"/>
          <p:nvPr/>
        </p:nvSpPr>
        <p:spPr>
          <a:xfrm>
            <a:off x="1371600" y="2752344"/>
            <a:ext cx="1947672" cy="346049"/>
          </a:xfrm>
          <a:prstGeom prst="rect">
            <a:avLst/>
          </a:prstGeom>
          <a:noFill/>
        </p:spPr>
        <p:txBody>
          <a:bodyPr wrap="square" anchor="ctr">
            <a:noAutofit/>
          </a:bodyPr>
          <a:lstStyle/>
          <a:p>
            <a:pPr algn="l"/>
            <a:r>
              <a:rPr sz="1600" b="1" i="0">
                <a:solidFill>
                  <a:srgbClr val="8F0072"/>
                </a:solidFill>
                <a:latin typeface="Amazon Ember Display"/>
              </a:rPr>
              <a:t>Build image</a:t>
            </a:r>
          </a:p>
        </p:txBody>
      </p:sp>
      <p:sp>
        <p:nvSpPr>
          <p:cNvPr id="7" name="TextBox 6"/>
          <p:cNvSpPr txBox="1"/>
          <p:nvPr/>
        </p:nvSpPr>
        <p:spPr>
          <a:xfrm>
            <a:off x="1371600" y="3072384"/>
            <a:ext cx="1947672" cy="346049"/>
          </a:xfrm>
          <a:prstGeom prst="rect">
            <a:avLst/>
          </a:prstGeom>
          <a:noFill/>
        </p:spPr>
        <p:txBody>
          <a:bodyPr wrap="square" anchor="ctr">
            <a:noAutofit/>
          </a:bodyPr>
          <a:lstStyle/>
          <a:p>
            <a:pPr algn="l"/>
            <a:r>
              <a:rPr sz="1600" b="0" i="0">
                <a:solidFill>
                  <a:srgbClr val="232B37"/>
                </a:solidFill>
                <a:latin typeface="Amazon Ember Display"/>
              </a:rPr>
              <a:t>docker build</a:t>
            </a:r>
          </a:p>
        </p:txBody>
      </p:sp>
      <p:sp>
        <p:nvSpPr>
          <p:cNvPr id="8" name="Rounded Rectangle 7"/>
          <p:cNvSpPr/>
          <p:nvPr/>
        </p:nvSpPr>
        <p:spPr>
          <a:xfrm>
            <a:off x="4270248" y="1828800"/>
            <a:ext cx="3639312" cy="2651760"/>
          </a:xfrm>
          <a:prstGeom prst="roundRect">
            <a:avLst>
              <a:gd name="adj" fmla="val 6206"/>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Arch_Amazon-Elastic-Container-Registry_64.png"/>
          <p:cNvPicPr>
            <a:picLocks noChangeAspect="1"/>
          </p:cNvPicPr>
          <p:nvPr/>
        </p:nvPicPr>
        <p:blipFill>
          <a:blip r:embed="rId4"/>
          <a:stretch>
            <a:fillRect/>
          </a:stretch>
        </p:blipFill>
        <p:spPr>
          <a:xfrm>
            <a:off x="4462272" y="2039112"/>
            <a:ext cx="457200" cy="457200"/>
          </a:xfrm>
          <a:prstGeom prst="rect">
            <a:avLst/>
          </a:prstGeom>
        </p:spPr>
      </p:pic>
      <p:sp>
        <p:nvSpPr>
          <p:cNvPr id="10" name="TextBox 9"/>
          <p:cNvSpPr txBox="1"/>
          <p:nvPr/>
        </p:nvSpPr>
        <p:spPr>
          <a:xfrm>
            <a:off x="5038344" y="2094687"/>
            <a:ext cx="2724912" cy="346049"/>
          </a:xfrm>
          <a:prstGeom prst="rect">
            <a:avLst/>
          </a:prstGeom>
          <a:noFill/>
        </p:spPr>
        <p:txBody>
          <a:bodyPr wrap="square" anchor="ctr">
            <a:noAutofit/>
          </a:bodyPr>
          <a:lstStyle/>
          <a:p>
            <a:pPr algn="l"/>
            <a:r>
              <a:rPr sz="1600" b="1" i="0">
                <a:solidFill>
                  <a:srgbClr val="8F0072"/>
                </a:solidFill>
                <a:latin typeface="Amazon Ember Display"/>
              </a:rPr>
              <a:t>AMAZON ECR</a:t>
            </a:r>
          </a:p>
        </p:txBody>
      </p:sp>
      <p:sp>
        <p:nvSpPr>
          <p:cNvPr id="11" name="Rounded Rectangle 10"/>
          <p:cNvSpPr/>
          <p:nvPr/>
        </p:nvSpPr>
        <p:spPr>
          <a:xfrm>
            <a:off x="4773168" y="3246120"/>
            <a:ext cx="1012240" cy="475488"/>
          </a:xfrm>
          <a:prstGeom prst="roundRect">
            <a:avLst>
              <a:gd name="adj" fmla="val 19230"/>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846320" y="3337560"/>
            <a:ext cx="865936" cy="346049"/>
          </a:xfrm>
          <a:prstGeom prst="rect">
            <a:avLst/>
          </a:prstGeom>
          <a:noFill/>
        </p:spPr>
        <p:txBody>
          <a:bodyPr wrap="square" anchor="ctr">
            <a:noAutofit/>
          </a:bodyPr>
          <a:lstStyle/>
          <a:p>
            <a:pPr algn="ctr"/>
            <a:r>
              <a:rPr sz="1600" b="1" i="0">
                <a:solidFill>
                  <a:srgbClr val="8F0072"/>
                </a:solidFill>
                <a:latin typeface="Amazon Ember Display"/>
              </a:rPr>
              <a:t>app:v1</a:t>
            </a:r>
          </a:p>
        </p:txBody>
      </p:sp>
      <p:sp>
        <p:nvSpPr>
          <p:cNvPr id="13" name="Rounded Rectangle 12"/>
          <p:cNvSpPr/>
          <p:nvPr/>
        </p:nvSpPr>
        <p:spPr>
          <a:xfrm>
            <a:off x="6059728" y="3246120"/>
            <a:ext cx="1012240"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132880" y="3337560"/>
            <a:ext cx="865936" cy="346049"/>
          </a:xfrm>
          <a:prstGeom prst="rect">
            <a:avLst/>
          </a:prstGeom>
          <a:noFill/>
        </p:spPr>
        <p:txBody>
          <a:bodyPr wrap="square" anchor="ctr">
            <a:noAutofit/>
          </a:bodyPr>
          <a:lstStyle/>
          <a:p>
            <a:pPr algn="ctr"/>
            <a:r>
              <a:rPr sz="1600" b="1" i="0">
                <a:solidFill>
                  <a:srgbClr val="8F0072"/>
                </a:solidFill>
                <a:latin typeface="Amazon Ember Display"/>
              </a:rPr>
              <a:t>app:v2</a:t>
            </a:r>
          </a:p>
        </p:txBody>
      </p:sp>
      <p:sp>
        <p:nvSpPr>
          <p:cNvPr id="15" name="TextBox 14"/>
          <p:cNvSpPr txBox="1"/>
          <p:nvPr/>
        </p:nvSpPr>
        <p:spPr>
          <a:xfrm>
            <a:off x="4544568" y="3858768"/>
            <a:ext cx="3090672" cy="346049"/>
          </a:xfrm>
          <a:prstGeom prst="rect">
            <a:avLst/>
          </a:prstGeom>
          <a:noFill/>
        </p:spPr>
        <p:txBody>
          <a:bodyPr wrap="square" anchor="t">
            <a:noAutofit/>
          </a:bodyPr>
          <a:lstStyle/>
          <a:p>
            <a:pPr algn="ctr"/>
            <a:r>
              <a:rPr sz="1600" b="0" i="0">
                <a:solidFill>
                  <a:srgbClr val="232B37"/>
                </a:solidFill>
                <a:latin typeface="Amazon Ember Display"/>
              </a:rPr>
              <a:t>tagged versions</a:t>
            </a:r>
          </a:p>
        </p:txBody>
      </p:sp>
      <p:sp>
        <p:nvSpPr>
          <p:cNvPr id="16" name="Rounded Rectangle 15"/>
          <p:cNvSpPr/>
          <p:nvPr/>
        </p:nvSpPr>
        <p:spPr>
          <a:xfrm>
            <a:off x="8732520" y="2468880"/>
            <a:ext cx="2834640" cy="1188720"/>
          </a:xfrm>
          <a:prstGeom prst="roundRect">
            <a:avLst>
              <a:gd name="adj" fmla="val 10769"/>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Arch_Amazon-Elastic-Container-Service_64.png"/>
          <p:cNvPicPr>
            <a:picLocks noChangeAspect="1"/>
          </p:cNvPicPr>
          <p:nvPr/>
        </p:nvPicPr>
        <p:blipFill>
          <a:blip r:embed="rId5"/>
          <a:stretch>
            <a:fillRect/>
          </a:stretch>
        </p:blipFill>
        <p:spPr>
          <a:xfrm>
            <a:off x="8924544" y="2834640"/>
            <a:ext cx="457200" cy="457200"/>
          </a:xfrm>
          <a:prstGeom prst="rect">
            <a:avLst/>
          </a:prstGeom>
        </p:spPr>
      </p:pic>
      <p:sp>
        <p:nvSpPr>
          <p:cNvPr id="18" name="TextBox 17"/>
          <p:cNvSpPr txBox="1"/>
          <p:nvPr/>
        </p:nvSpPr>
        <p:spPr>
          <a:xfrm>
            <a:off x="9491472" y="2752344"/>
            <a:ext cx="1947672" cy="346049"/>
          </a:xfrm>
          <a:prstGeom prst="rect">
            <a:avLst/>
          </a:prstGeom>
          <a:noFill/>
        </p:spPr>
        <p:txBody>
          <a:bodyPr wrap="square" anchor="ctr">
            <a:noAutofit/>
          </a:bodyPr>
          <a:lstStyle/>
          <a:p>
            <a:pPr algn="l"/>
            <a:r>
              <a:rPr sz="1600" b="1" i="0">
                <a:solidFill>
                  <a:srgbClr val="8F0072"/>
                </a:solidFill>
                <a:latin typeface="Amazon Ember Display"/>
              </a:rPr>
              <a:t>Run</a:t>
            </a:r>
          </a:p>
        </p:txBody>
      </p:sp>
      <p:sp>
        <p:nvSpPr>
          <p:cNvPr id="19" name="TextBox 18"/>
          <p:cNvSpPr txBox="1"/>
          <p:nvPr/>
        </p:nvSpPr>
        <p:spPr>
          <a:xfrm>
            <a:off x="9491472" y="3072384"/>
            <a:ext cx="1947672" cy="346049"/>
          </a:xfrm>
          <a:prstGeom prst="rect">
            <a:avLst/>
          </a:prstGeom>
          <a:noFill/>
        </p:spPr>
        <p:txBody>
          <a:bodyPr wrap="square" anchor="ctr">
            <a:noAutofit/>
          </a:bodyPr>
          <a:lstStyle/>
          <a:p>
            <a:pPr algn="l"/>
            <a:r>
              <a:rPr sz="1600" b="0" i="0">
                <a:solidFill>
                  <a:srgbClr val="232B37"/>
                </a:solidFill>
                <a:latin typeface="Amazon Ember Display"/>
              </a:rPr>
              <a:t>pull &amp; run on ECS</a:t>
            </a:r>
          </a:p>
        </p:txBody>
      </p:sp>
      <p:sp>
        <p:nvSpPr>
          <p:cNvPr id="20" name="Freeform 19"/>
          <p:cNvSpPr/>
          <p:nvPr/>
        </p:nvSpPr>
        <p:spPr>
          <a:xfrm>
            <a:off x="3502152" y="3063240"/>
            <a:ext cx="713232" cy="0"/>
          </a:xfrm>
          <a:custGeom>
            <a:avLst/>
            <a:gdLst/>
            <a:ahLst/>
            <a:cxnLst/>
            <a:rect l="l" t="t" r="r" b="b"/>
            <a:pathLst>
              <a:path w="713232">
                <a:moveTo>
                  <a:pt x="0" y="0"/>
                </a:moveTo>
                <a:lnTo>
                  <a:pt x="713232"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4041648" y="294436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502152" y="2602890"/>
            <a:ext cx="676655" cy="346049"/>
          </a:xfrm>
          <a:prstGeom prst="rect">
            <a:avLst/>
          </a:prstGeom>
          <a:noFill/>
        </p:spPr>
        <p:txBody>
          <a:bodyPr wrap="square" anchor="t">
            <a:noAutofit/>
          </a:bodyPr>
          <a:lstStyle/>
          <a:p>
            <a:pPr algn="ctr"/>
            <a:r>
              <a:rPr sz="1600" b="0" i="0">
                <a:solidFill>
                  <a:srgbClr val="5A6B7B"/>
                </a:solidFill>
                <a:latin typeface="Amazon Ember Display"/>
              </a:rPr>
              <a:t>push</a:t>
            </a:r>
          </a:p>
        </p:txBody>
      </p:sp>
      <p:sp>
        <p:nvSpPr>
          <p:cNvPr id="23" name="Freeform 22"/>
          <p:cNvSpPr/>
          <p:nvPr/>
        </p:nvSpPr>
        <p:spPr>
          <a:xfrm>
            <a:off x="7964424" y="3063240"/>
            <a:ext cx="713232" cy="0"/>
          </a:xfrm>
          <a:custGeom>
            <a:avLst/>
            <a:gdLst/>
            <a:ahLst/>
            <a:cxnLst/>
            <a:rect l="l" t="t" r="r" b="b"/>
            <a:pathLst>
              <a:path w="713232">
                <a:moveTo>
                  <a:pt x="0" y="0"/>
                </a:moveTo>
                <a:lnTo>
                  <a:pt x="713232"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8503920" y="294436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64424" y="2602890"/>
            <a:ext cx="676656" cy="346049"/>
          </a:xfrm>
          <a:prstGeom prst="rect">
            <a:avLst/>
          </a:prstGeom>
          <a:noFill/>
        </p:spPr>
        <p:txBody>
          <a:bodyPr wrap="square" anchor="t">
            <a:noAutofit/>
          </a:bodyPr>
          <a:lstStyle/>
          <a:p>
            <a:pPr algn="ctr"/>
            <a:r>
              <a:rPr sz="1600" b="0" i="0">
                <a:solidFill>
                  <a:srgbClr val="5A6B7B"/>
                </a:solidFill>
                <a:latin typeface="Amazon Ember Display"/>
              </a:rPr>
              <a:t>pull</a:t>
            </a:r>
          </a:p>
        </p:txBody>
      </p:sp>
      <p:sp>
        <p:nvSpPr>
          <p:cNvPr id="26" name="TextBox 25"/>
          <p:cNvSpPr txBox="1"/>
          <p:nvPr/>
        </p:nvSpPr>
        <p:spPr>
          <a:xfrm>
            <a:off x="612648" y="4892040"/>
            <a:ext cx="10972800" cy="346049"/>
          </a:xfrm>
          <a:prstGeom prst="rect">
            <a:avLst/>
          </a:prstGeom>
          <a:noFill/>
        </p:spPr>
        <p:txBody>
          <a:bodyPr wrap="square" anchor="t">
            <a:noAutofit/>
          </a:bodyPr>
          <a:lstStyle/>
          <a:p>
            <a:pPr algn="ctr"/>
            <a:r>
              <a:rPr sz="1600" b="0" i="0">
                <a:solidFill>
                  <a:srgbClr val="5A6B7B"/>
                </a:solidFill>
                <a:latin typeface="Amazon Ember Display"/>
              </a:rPr>
              <a:t>push a tagged image, pull that version to run it, and let a lifecycle policy expire old ones</a:t>
            </a:r>
          </a:p>
        </p:txBody>
      </p:sp>
      <p:sp>
        <p:nvSpPr>
          <p:cNvPr id="27" name="TextBox 26">
            <a:hlinkClick r:id="rId6"/>
          </p:cNvPr>
          <p:cNvSpPr txBox="1"/>
          <p:nvPr/>
        </p:nvSpPr>
        <p:spPr>
          <a:xfrm>
            <a:off x="612648" y="5943600"/>
            <a:ext cx="65665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6"/>
              </a:rPr>
              <a:t>docs.aws.amazon.com · Pushing a Docker image to an Amazon ECR…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One template makes a stack; split stacks by layer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3154679"/>
            <a:ext cx="2560320" cy="1097280"/>
          </a:xfrm>
          <a:prstGeom prst="roundRect">
            <a:avLst>
              <a:gd name="adj" fmla="val 11666"/>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WS-CloudFormation_64.png"/>
          <p:cNvPicPr>
            <a:picLocks noChangeAspect="1"/>
          </p:cNvPicPr>
          <p:nvPr/>
        </p:nvPicPr>
        <p:blipFill>
          <a:blip r:embed="rId3"/>
          <a:stretch>
            <a:fillRect/>
          </a:stretch>
        </p:blipFill>
        <p:spPr>
          <a:xfrm>
            <a:off x="804671" y="3474720"/>
            <a:ext cx="457200" cy="457200"/>
          </a:xfrm>
          <a:prstGeom prst="rect">
            <a:avLst/>
          </a:prstGeom>
        </p:spPr>
      </p:pic>
      <p:sp>
        <p:nvSpPr>
          <p:cNvPr id="6" name="TextBox 5"/>
          <p:cNvSpPr txBox="1"/>
          <p:nvPr/>
        </p:nvSpPr>
        <p:spPr>
          <a:xfrm>
            <a:off x="1371600" y="3392424"/>
            <a:ext cx="1673351" cy="346049"/>
          </a:xfrm>
          <a:prstGeom prst="rect">
            <a:avLst/>
          </a:prstGeom>
          <a:noFill/>
        </p:spPr>
        <p:txBody>
          <a:bodyPr wrap="square" anchor="ctr">
            <a:noAutofit/>
          </a:bodyPr>
          <a:lstStyle/>
          <a:p>
            <a:pPr algn="l"/>
            <a:r>
              <a:rPr sz="1600" b="1" i="0">
                <a:solidFill>
                  <a:srgbClr val="8F0072"/>
                </a:solidFill>
                <a:latin typeface="Amazon Ember Display"/>
              </a:rPr>
              <a:t>Template</a:t>
            </a:r>
          </a:p>
        </p:txBody>
      </p:sp>
      <p:sp>
        <p:nvSpPr>
          <p:cNvPr id="7" name="TextBox 6"/>
          <p:cNvSpPr txBox="1"/>
          <p:nvPr/>
        </p:nvSpPr>
        <p:spPr>
          <a:xfrm>
            <a:off x="1371600" y="3712463"/>
            <a:ext cx="1673351" cy="346049"/>
          </a:xfrm>
          <a:prstGeom prst="rect">
            <a:avLst/>
          </a:prstGeom>
          <a:noFill/>
        </p:spPr>
        <p:txBody>
          <a:bodyPr wrap="square" anchor="ctr">
            <a:noAutofit/>
          </a:bodyPr>
          <a:lstStyle/>
          <a:p>
            <a:pPr algn="l"/>
            <a:r>
              <a:rPr sz="1600" b="0" i="0">
                <a:solidFill>
                  <a:srgbClr val="232B37"/>
                </a:solidFill>
                <a:latin typeface="Amazon Ember Display"/>
              </a:rPr>
              <a:t>one file</a:t>
            </a:r>
          </a:p>
        </p:txBody>
      </p:sp>
      <p:sp>
        <p:nvSpPr>
          <p:cNvPr id="8" name="Rounded Rectangle 7"/>
          <p:cNvSpPr/>
          <p:nvPr/>
        </p:nvSpPr>
        <p:spPr>
          <a:xfrm>
            <a:off x="4206240" y="1874519"/>
            <a:ext cx="7315200" cy="1097280"/>
          </a:xfrm>
          <a:prstGeom prst="roundRect">
            <a:avLst>
              <a:gd name="adj" fmla="val 13333"/>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407407" y="2276856"/>
            <a:ext cx="3383280" cy="346049"/>
          </a:xfrm>
          <a:prstGeom prst="rect">
            <a:avLst/>
          </a:prstGeom>
          <a:noFill/>
        </p:spPr>
        <p:txBody>
          <a:bodyPr wrap="square" anchor="ctr">
            <a:noAutofit/>
          </a:bodyPr>
          <a:lstStyle/>
          <a:p>
            <a:pPr algn="l"/>
            <a:r>
              <a:rPr sz="1600" b="1" i="0">
                <a:solidFill>
                  <a:srgbClr val="8F0072"/>
                </a:solidFill>
                <a:latin typeface="Amazon Ember Display"/>
              </a:rPr>
              <a:t>PRESENTATION STACK</a:t>
            </a:r>
          </a:p>
        </p:txBody>
      </p:sp>
      <p:sp>
        <p:nvSpPr>
          <p:cNvPr id="10" name="Rounded Rectangle 9"/>
          <p:cNvSpPr/>
          <p:nvPr/>
        </p:nvSpPr>
        <p:spPr>
          <a:xfrm>
            <a:off x="8182051" y="2185415"/>
            <a:ext cx="1477670"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55203" y="2276856"/>
            <a:ext cx="1331366" cy="346049"/>
          </a:xfrm>
          <a:prstGeom prst="rect">
            <a:avLst/>
          </a:prstGeom>
          <a:noFill/>
        </p:spPr>
        <p:txBody>
          <a:bodyPr wrap="square" anchor="ctr">
            <a:noAutofit/>
          </a:bodyPr>
          <a:lstStyle/>
          <a:p>
            <a:pPr algn="ctr"/>
            <a:r>
              <a:rPr sz="1600" b="1" i="0">
                <a:solidFill>
                  <a:srgbClr val="232B37"/>
                </a:solidFill>
                <a:latin typeface="Amazon Ember Display"/>
              </a:rPr>
              <a:t>CloudFront</a:t>
            </a:r>
          </a:p>
        </p:txBody>
      </p:sp>
      <p:sp>
        <p:nvSpPr>
          <p:cNvPr id="12" name="Rounded Rectangle 11"/>
          <p:cNvSpPr/>
          <p:nvPr/>
        </p:nvSpPr>
        <p:spPr>
          <a:xfrm>
            <a:off x="9842601" y="2185415"/>
            <a:ext cx="1477670"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915753" y="2276856"/>
            <a:ext cx="1331366" cy="346049"/>
          </a:xfrm>
          <a:prstGeom prst="rect">
            <a:avLst/>
          </a:prstGeom>
          <a:noFill/>
        </p:spPr>
        <p:txBody>
          <a:bodyPr wrap="square" anchor="ctr">
            <a:noAutofit/>
          </a:bodyPr>
          <a:lstStyle/>
          <a:p>
            <a:pPr algn="ctr"/>
            <a:r>
              <a:rPr sz="1600" b="1" i="0">
                <a:solidFill>
                  <a:srgbClr val="232B37"/>
                </a:solidFill>
                <a:latin typeface="Amazon Ember Display"/>
              </a:rPr>
              <a:t>S3</a:t>
            </a:r>
          </a:p>
        </p:txBody>
      </p:sp>
      <p:sp>
        <p:nvSpPr>
          <p:cNvPr id="14" name="Rounded Rectangle 13"/>
          <p:cNvSpPr/>
          <p:nvPr/>
        </p:nvSpPr>
        <p:spPr>
          <a:xfrm>
            <a:off x="4206240" y="3154680"/>
            <a:ext cx="7315200" cy="1097280"/>
          </a:xfrm>
          <a:prstGeom prst="roundRect">
            <a:avLst>
              <a:gd name="adj" fmla="val 13333"/>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07407" y="3557015"/>
            <a:ext cx="3383280" cy="346049"/>
          </a:xfrm>
          <a:prstGeom prst="rect">
            <a:avLst/>
          </a:prstGeom>
          <a:noFill/>
        </p:spPr>
        <p:txBody>
          <a:bodyPr wrap="square" anchor="ctr">
            <a:noAutofit/>
          </a:bodyPr>
          <a:lstStyle/>
          <a:p>
            <a:pPr algn="l"/>
            <a:r>
              <a:rPr sz="1600" b="1" i="0">
                <a:solidFill>
                  <a:srgbClr val="8F0072"/>
                </a:solidFill>
                <a:latin typeface="Amazon Ember Display"/>
              </a:rPr>
              <a:t>APPLICATION STACK</a:t>
            </a:r>
          </a:p>
        </p:txBody>
      </p:sp>
      <p:sp>
        <p:nvSpPr>
          <p:cNvPr id="16" name="Rounded Rectangle 15"/>
          <p:cNvSpPr/>
          <p:nvPr/>
        </p:nvSpPr>
        <p:spPr>
          <a:xfrm>
            <a:off x="8182051" y="3465576"/>
            <a:ext cx="1477670"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55203" y="3557016"/>
            <a:ext cx="1331366" cy="346049"/>
          </a:xfrm>
          <a:prstGeom prst="rect">
            <a:avLst/>
          </a:prstGeom>
          <a:noFill/>
        </p:spPr>
        <p:txBody>
          <a:bodyPr wrap="square" anchor="ctr">
            <a:noAutofit/>
          </a:bodyPr>
          <a:lstStyle/>
          <a:p>
            <a:pPr algn="ctr"/>
            <a:r>
              <a:rPr sz="1600" b="1" i="0">
                <a:solidFill>
                  <a:srgbClr val="232B37"/>
                </a:solidFill>
                <a:latin typeface="Amazon Ember Display"/>
              </a:rPr>
              <a:t>EC2</a:t>
            </a:r>
          </a:p>
        </p:txBody>
      </p:sp>
      <p:sp>
        <p:nvSpPr>
          <p:cNvPr id="18" name="Rounded Rectangle 17"/>
          <p:cNvSpPr/>
          <p:nvPr/>
        </p:nvSpPr>
        <p:spPr>
          <a:xfrm>
            <a:off x="9842601" y="3465576"/>
            <a:ext cx="1477670"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915753" y="3557016"/>
            <a:ext cx="1331366" cy="346049"/>
          </a:xfrm>
          <a:prstGeom prst="rect">
            <a:avLst/>
          </a:prstGeom>
          <a:noFill/>
        </p:spPr>
        <p:txBody>
          <a:bodyPr wrap="square" anchor="ctr">
            <a:noAutofit/>
          </a:bodyPr>
          <a:lstStyle/>
          <a:p>
            <a:pPr algn="ctr"/>
            <a:r>
              <a:rPr sz="1600" b="1" i="0">
                <a:solidFill>
                  <a:srgbClr val="232B37"/>
                </a:solidFill>
                <a:latin typeface="Amazon Ember Display"/>
              </a:rPr>
              <a:t>ELB</a:t>
            </a:r>
          </a:p>
        </p:txBody>
      </p:sp>
      <p:sp>
        <p:nvSpPr>
          <p:cNvPr id="20" name="Rounded Rectangle 19"/>
          <p:cNvSpPr/>
          <p:nvPr/>
        </p:nvSpPr>
        <p:spPr>
          <a:xfrm>
            <a:off x="4206240" y="4434840"/>
            <a:ext cx="7315200" cy="1097280"/>
          </a:xfrm>
          <a:prstGeom prst="roundRect">
            <a:avLst>
              <a:gd name="adj" fmla="val 13333"/>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407407" y="4837175"/>
            <a:ext cx="3383280" cy="346049"/>
          </a:xfrm>
          <a:prstGeom prst="rect">
            <a:avLst/>
          </a:prstGeom>
          <a:noFill/>
        </p:spPr>
        <p:txBody>
          <a:bodyPr wrap="square" anchor="ctr">
            <a:noAutofit/>
          </a:bodyPr>
          <a:lstStyle/>
          <a:p>
            <a:pPr algn="l"/>
            <a:r>
              <a:rPr sz="1600" b="1" i="0">
                <a:solidFill>
                  <a:srgbClr val="8F0072"/>
                </a:solidFill>
                <a:latin typeface="Amazon Ember Display"/>
              </a:rPr>
              <a:t>DATA STACK</a:t>
            </a:r>
          </a:p>
        </p:txBody>
      </p:sp>
      <p:sp>
        <p:nvSpPr>
          <p:cNvPr id="22" name="Rounded Rectangle 21"/>
          <p:cNvSpPr/>
          <p:nvPr/>
        </p:nvSpPr>
        <p:spPr>
          <a:xfrm>
            <a:off x="8182051" y="4745736"/>
            <a:ext cx="1477670"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255203" y="4837175"/>
            <a:ext cx="1331366" cy="346049"/>
          </a:xfrm>
          <a:prstGeom prst="rect">
            <a:avLst/>
          </a:prstGeom>
          <a:noFill/>
        </p:spPr>
        <p:txBody>
          <a:bodyPr wrap="square" anchor="ctr">
            <a:noAutofit/>
          </a:bodyPr>
          <a:lstStyle/>
          <a:p>
            <a:pPr algn="ctr"/>
            <a:r>
              <a:rPr sz="1600" b="1" i="0">
                <a:solidFill>
                  <a:srgbClr val="232B37"/>
                </a:solidFill>
                <a:latin typeface="Amazon Ember Display"/>
              </a:rPr>
              <a:t>RDS</a:t>
            </a:r>
          </a:p>
        </p:txBody>
      </p:sp>
      <p:sp>
        <p:nvSpPr>
          <p:cNvPr id="24" name="Rounded Rectangle 23"/>
          <p:cNvSpPr/>
          <p:nvPr/>
        </p:nvSpPr>
        <p:spPr>
          <a:xfrm>
            <a:off x="9842601" y="4745736"/>
            <a:ext cx="1477670"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9915753" y="4837175"/>
            <a:ext cx="1331366" cy="346049"/>
          </a:xfrm>
          <a:prstGeom prst="rect">
            <a:avLst/>
          </a:prstGeom>
          <a:noFill/>
        </p:spPr>
        <p:txBody>
          <a:bodyPr wrap="square" anchor="ctr">
            <a:noAutofit/>
          </a:bodyPr>
          <a:lstStyle/>
          <a:p>
            <a:pPr algn="ctr"/>
            <a:r>
              <a:rPr sz="1600" b="1" i="0">
                <a:solidFill>
                  <a:srgbClr val="232B37"/>
                </a:solidFill>
                <a:latin typeface="Amazon Ember Display"/>
              </a:rPr>
              <a:t>DynamoDB</a:t>
            </a:r>
          </a:p>
        </p:txBody>
      </p:sp>
      <p:sp>
        <p:nvSpPr>
          <p:cNvPr id="26" name="Freeform 25"/>
          <p:cNvSpPr/>
          <p:nvPr/>
        </p:nvSpPr>
        <p:spPr>
          <a:xfrm>
            <a:off x="3172968" y="3703320"/>
            <a:ext cx="576071" cy="0"/>
          </a:xfrm>
          <a:custGeom>
            <a:avLst/>
            <a:gdLst/>
            <a:ahLst/>
            <a:cxnLst/>
            <a:rect l="l" t="t" r="r" b="b"/>
            <a:pathLst>
              <a:path w="576071">
                <a:moveTo>
                  <a:pt x="0" y="0"/>
                </a:moveTo>
                <a:lnTo>
                  <a:pt x="576071" y="0"/>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3749039" y="2423160"/>
            <a:ext cx="0" cy="2560319"/>
          </a:xfrm>
          <a:custGeom>
            <a:avLst/>
            <a:gdLst/>
            <a:ahLst/>
            <a:cxnLst/>
            <a:rect l="l" t="t" r="r" b="b"/>
            <a:pathLst>
              <a:path h="2560319">
                <a:moveTo>
                  <a:pt x="0" y="0"/>
                </a:moveTo>
                <a:lnTo>
                  <a:pt x="0" y="2560319"/>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Freeform 27"/>
          <p:cNvSpPr/>
          <p:nvPr/>
        </p:nvSpPr>
        <p:spPr>
          <a:xfrm>
            <a:off x="3749039" y="2423160"/>
            <a:ext cx="402337" cy="0"/>
          </a:xfrm>
          <a:custGeom>
            <a:avLst/>
            <a:gdLst/>
            <a:ahLst/>
            <a:cxnLst/>
            <a:rect l="l" t="t" r="r" b="b"/>
            <a:pathLst>
              <a:path w="402337">
                <a:moveTo>
                  <a:pt x="0" y="0"/>
                </a:moveTo>
                <a:lnTo>
                  <a:pt x="402337"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Freeform 28"/>
          <p:cNvSpPr/>
          <p:nvPr/>
        </p:nvSpPr>
        <p:spPr>
          <a:xfrm>
            <a:off x="3977639" y="230428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Freeform 29"/>
          <p:cNvSpPr/>
          <p:nvPr/>
        </p:nvSpPr>
        <p:spPr>
          <a:xfrm>
            <a:off x="3749039" y="3703320"/>
            <a:ext cx="402337" cy="0"/>
          </a:xfrm>
          <a:custGeom>
            <a:avLst/>
            <a:gdLst/>
            <a:ahLst/>
            <a:cxnLst/>
            <a:rect l="l" t="t" r="r" b="b"/>
            <a:pathLst>
              <a:path w="402337">
                <a:moveTo>
                  <a:pt x="0" y="0"/>
                </a:moveTo>
                <a:lnTo>
                  <a:pt x="402337"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Freeform 30"/>
          <p:cNvSpPr/>
          <p:nvPr/>
        </p:nvSpPr>
        <p:spPr>
          <a:xfrm>
            <a:off x="3977639" y="35844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Freeform 31"/>
          <p:cNvSpPr/>
          <p:nvPr/>
        </p:nvSpPr>
        <p:spPr>
          <a:xfrm>
            <a:off x="3749039" y="4983479"/>
            <a:ext cx="402337" cy="0"/>
          </a:xfrm>
          <a:custGeom>
            <a:avLst/>
            <a:gdLst/>
            <a:ahLst/>
            <a:cxnLst/>
            <a:rect l="l" t="t" r="r" b="b"/>
            <a:pathLst>
              <a:path w="402337">
                <a:moveTo>
                  <a:pt x="0" y="0"/>
                </a:moveTo>
                <a:lnTo>
                  <a:pt x="402337"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Freeform 32"/>
          <p:cNvSpPr/>
          <p:nvPr/>
        </p:nvSpPr>
        <p:spPr>
          <a:xfrm>
            <a:off x="3977639" y="4864607"/>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2648" y="5623560"/>
            <a:ext cx="10972800" cy="346049"/>
          </a:xfrm>
          <a:prstGeom prst="rect">
            <a:avLst/>
          </a:prstGeom>
          <a:noFill/>
        </p:spPr>
        <p:txBody>
          <a:bodyPr wrap="square" anchor="t">
            <a:noAutofit/>
          </a:bodyPr>
          <a:lstStyle/>
          <a:p>
            <a:pPr algn="ctr"/>
            <a:r>
              <a:rPr sz="1600" b="0" i="0">
                <a:solidFill>
                  <a:srgbClr val="5A6B7B"/>
                </a:solidFill>
                <a:latin typeface="Amazon Ember Display"/>
              </a:rPr>
              <a:t>a template defines a stack -- separate stacks by layer so each updates independently</a:t>
            </a:r>
          </a:p>
        </p:txBody>
      </p:sp>
      <p:sp>
        <p:nvSpPr>
          <p:cNvPr id="35" name="TextBox 34">
            <a:hlinkClick r:id="rId4"/>
          </p:cNvPr>
          <p:cNvSpPr txBox="1"/>
          <p:nvPr/>
        </p:nvSpPr>
        <p:spPr>
          <a:xfrm>
            <a:off x="612648" y="5943600"/>
            <a:ext cx="65665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4"/>
              </a:rPr>
              <a:t>docs.aws.amazon.com · Managing AWS resources as a single unit…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change set previews changes before you execute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194560"/>
            <a:ext cx="2788920" cy="1188720"/>
          </a:xfrm>
          <a:prstGeom prst="roundRect">
            <a:avLst>
              <a:gd name="adj" fmla="val 10769"/>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WS-CloudFormation_64.png"/>
          <p:cNvPicPr>
            <a:picLocks noChangeAspect="1"/>
          </p:cNvPicPr>
          <p:nvPr/>
        </p:nvPicPr>
        <p:blipFill>
          <a:blip r:embed="rId3"/>
          <a:stretch>
            <a:fillRect/>
          </a:stretch>
        </p:blipFill>
        <p:spPr>
          <a:xfrm>
            <a:off x="804671" y="2560320"/>
            <a:ext cx="457200" cy="457200"/>
          </a:xfrm>
          <a:prstGeom prst="rect">
            <a:avLst/>
          </a:prstGeom>
        </p:spPr>
      </p:pic>
      <p:sp>
        <p:nvSpPr>
          <p:cNvPr id="6" name="TextBox 5"/>
          <p:cNvSpPr txBox="1"/>
          <p:nvPr/>
        </p:nvSpPr>
        <p:spPr>
          <a:xfrm>
            <a:off x="1371600" y="2478024"/>
            <a:ext cx="1901951" cy="346049"/>
          </a:xfrm>
          <a:prstGeom prst="rect">
            <a:avLst/>
          </a:prstGeom>
          <a:noFill/>
        </p:spPr>
        <p:txBody>
          <a:bodyPr wrap="square" anchor="ctr">
            <a:noAutofit/>
          </a:bodyPr>
          <a:lstStyle/>
          <a:p>
            <a:pPr algn="l"/>
            <a:r>
              <a:rPr sz="1600" b="1" i="0">
                <a:solidFill>
                  <a:srgbClr val="8F0072"/>
                </a:solidFill>
                <a:latin typeface="Amazon Ember Display"/>
              </a:rPr>
              <a:t>Current stack</a:t>
            </a:r>
          </a:p>
        </p:txBody>
      </p:sp>
      <p:sp>
        <p:nvSpPr>
          <p:cNvPr id="7" name="TextBox 6"/>
          <p:cNvSpPr txBox="1"/>
          <p:nvPr/>
        </p:nvSpPr>
        <p:spPr>
          <a:xfrm>
            <a:off x="1371600" y="2798063"/>
            <a:ext cx="1901951" cy="346049"/>
          </a:xfrm>
          <a:prstGeom prst="rect">
            <a:avLst/>
          </a:prstGeom>
          <a:noFill/>
        </p:spPr>
        <p:txBody>
          <a:bodyPr wrap="square" anchor="ctr">
            <a:noAutofit/>
          </a:bodyPr>
          <a:lstStyle/>
          <a:p>
            <a:pPr algn="l"/>
            <a:r>
              <a:rPr sz="1600" b="0" i="0">
                <a:solidFill>
                  <a:srgbClr val="232B37"/>
                </a:solidFill>
                <a:latin typeface="Amazon Ember Display"/>
              </a:rPr>
              <a:t>running now</a:t>
            </a:r>
          </a:p>
        </p:txBody>
      </p:sp>
      <p:sp>
        <p:nvSpPr>
          <p:cNvPr id="8" name="Rounded Rectangle 7"/>
          <p:cNvSpPr/>
          <p:nvPr/>
        </p:nvSpPr>
        <p:spPr>
          <a:xfrm>
            <a:off x="4453127" y="1828800"/>
            <a:ext cx="3227832" cy="2103120"/>
          </a:xfrm>
          <a:prstGeom prst="roundRect">
            <a:avLst>
              <a:gd name="adj" fmla="val 6956"/>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581143" y="1956816"/>
            <a:ext cx="2971800" cy="346049"/>
          </a:xfrm>
          <a:prstGeom prst="rect">
            <a:avLst/>
          </a:prstGeom>
          <a:noFill/>
        </p:spPr>
        <p:txBody>
          <a:bodyPr wrap="square" anchor="ctr">
            <a:noAutofit/>
          </a:bodyPr>
          <a:lstStyle/>
          <a:p>
            <a:pPr algn="ctr"/>
            <a:r>
              <a:rPr sz="1600" b="1" i="0">
                <a:solidFill>
                  <a:srgbClr val="8F0072"/>
                </a:solidFill>
                <a:latin typeface="Amazon Ember Display"/>
              </a:rPr>
              <a:t>CHANGE SET  (PREVIEW)</a:t>
            </a:r>
          </a:p>
        </p:txBody>
      </p:sp>
      <p:sp>
        <p:nvSpPr>
          <p:cNvPr id="10" name="TextBox 9"/>
          <p:cNvSpPr txBox="1"/>
          <p:nvPr/>
        </p:nvSpPr>
        <p:spPr>
          <a:xfrm>
            <a:off x="4773167" y="2487168"/>
            <a:ext cx="2587752" cy="402336"/>
          </a:xfrm>
          <a:prstGeom prst="rect">
            <a:avLst/>
          </a:prstGeom>
          <a:noFill/>
        </p:spPr>
        <p:txBody>
          <a:bodyPr wrap="square" anchor="ctr">
            <a:noAutofit/>
          </a:bodyPr>
          <a:lstStyle/>
          <a:p>
            <a:pPr algn="l"/>
            <a:r>
              <a:rPr sz="1600" b="0" i="0">
                <a:solidFill>
                  <a:srgbClr val="232B37"/>
                </a:solidFill>
                <a:latin typeface="Amazon Ember Display"/>
              </a:rPr>
              <a:t>+ add a table</a:t>
            </a:r>
          </a:p>
        </p:txBody>
      </p:sp>
      <p:sp>
        <p:nvSpPr>
          <p:cNvPr id="11" name="TextBox 10"/>
          <p:cNvSpPr txBox="1"/>
          <p:nvPr/>
        </p:nvSpPr>
        <p:spPr>
          <a:xfrm>
            <a:off x="4773167" y="2999232"/>
            <a:ext cx="2587752" cy="402336"/>
          </a:xfrm>
          <a:prstGeom prst="rect">
            <a:avLst/>
          </a:prstGeom>
          <a:noFill/>
        </p:spPr>
        <p:txBody>
          <a:bodyPr wrap="square" anchor="ctr">
            <a:noAutofit/>
          </a:bodyPr>
          <a:lstStyle/>
          <a:p>
            <a:pPr algn="l"/>
            <a:r>
              <a:rPr sz="1600" b="0" i="0">
                <a:solidFill>
                  <a:srgbClr val="232B37"/>
                </a:solidFill>
                <a:latin typeface="Amazon Ember Display"/>
              </a:rPr>
              <a:t>~ replace an instance</a:t>
            </a:r>
          </a:p>
        </p:txBody>
      </p:sp>
      <p:sp>
        <p:nvSpPr>
          <p:cNvPr id="12" name="Rounded Rectangle 11"/>
          <p:cNvSpPr/>
          <p:nvPr/>
        </p:nvSpPr>
        <p:spPr>
          <a:xfrm>
            <a:off x="8732520" y="2194560"/>
            <a:ext cx="2788920" cy="1188720"/>
          </a:xfrm>
          <a:prstGeom prst="roundRect">
            <a:avLst>
              <a:gd name="adj" fmla="val 10769"/>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Arch_AWS-CloudFormation_64.png"/>
          <p:cNvPicPr>
            <a:picLocks noChangeAspect="1"/>
          </p:cNvPicPr>
          <p:nvPr/>
        </p:nvPicPr>
        <p:blipFill>
          <a:blip r:embed="rId3"/>
          <a:stretch>
            <a:fillRect/>
          </a:stretch>
        </p:blipFill>
        <p:spPr>
          <a:xfrm>
            <a:off x="8924544" y="2560320"/>
            <a:ext cx="457200" cy="457200"/>
          </a:xfrm>
          <a:prstGeom prst="rect">
            <a:avLst/>
          </a:prstGeom>
        </p:spPr>
      </p:pic>
      <p:sp>
        <p:nvSpPr>
          <p:cNvPr id="14" name="TextBox 13"/>
          <p:cNvSpPr txBox="1"/>
          <p:nvPr/>
        </p:nvSpPr>
        <p:spPr>
          <a:xfrm>
            <a:off x="9491472" y="2478024"/>
            <a:ext cx="1901951" cy="346049"/>
          </a:xfrm>
          <a:prstGeom prst="rect">
            <a:avLst/>
          </a:prstGeom>
          <a:noFill/>
        </p:spPr>
        <p:txBody>
          <a:bodyPr wrap="square" anchor="ctr">
            <a:noAutofit/>
          </a:bodyPr>
          <a:lstStyle/>
          <a:p>
            <a:pPr algn="l"/>
            <a:r>
              <a:rPr sz="1600" b="1" i="0">
                <a:solidFill>
                  <a:srgbClr val="8F0072"/>
                </a:solidFill>
                <a:latin typeface="Amazon Ember Display"/>
              </a:rPr>
              <a:t>Updated stack</a:t>
            </a:r>
          </a:p>
        </p:txBody>
      </p:sp>
      <p:sp>
        <p:nvSpPr>
          <p:cNvPr id="15" name="TextBox 14"/>
          <p:cNvSpPr txBox="1"/>
          <p:nvPr/>
        </p:nvSpPr>
        <p:spPr>
          <a:xfrm>
            <a:off x="9491472" y="2798063"/>
            <a:ext cx="1901951" cy="346049"/>
          </a:xfrm>
          <a:prstGeom prst="rect">
            <a:avLst/>
          </a:prstGeom>
          <a:noFill/>
        </p:spPr>
        <p:txBody>
          <a:bodyPr wrap="square" anchor="ctr">
            <a:noAutofit/>
          </a:bodyPr>
          <a:lstStyle/>
          <a:p>
            <a:pPr algn="l"/>
            <a:r>
              <a:rPr sz="1600" b="0" i="0">
                <a:solidFill>
                  <a:srgbClr val="232B37"/>
                </a:solidFill>
                <a:latin typeface="Amazon Ember Display"/>
              </a:rPr>
              <a:t>after execute</a:t>
            </a:r>
          </a:p>
        </p:txBody>
      </p:sp>
      <p:sp>
        <p:nvSpPr>
          <p:cNvPr id="16" name="Freeform 15"/>
          <p:cNvSpPr/>
          <p:nvPr/>
        </p:nvSpPr>
        <p:spPr>
          <a:xfrm>
            <a:off x="3456432" y="2788920"/>
            <a:ext cx="941832" cy="0"/>
          </a:xfrm>
          <a:custGeom>
            <a:avLst/>
            <a:gdLst/>
            <a:ahLst/>
            <a:cxnLst/>
            <a:rect l="l" t="t" r="r" b="b"/>
            <a:pathLst>
              <a:path w="941832">
                <a:moveTo>
                  <a:pt x="0" y="0"/>
                </a:moveTo>
                <a:lnTo>
                  <a:pt x="941832"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4224527" y="26700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56432" y="2328570"/>
            <a:ext cx="905255" cy="346049"/>
          </a:xfrm>
          <a:prstGeom prst="rect">
            <a:avLst/>
          </a:prstGeom>
          <a:noFill/>
        </p:spPr>
        <p:txBody>
          <a:bodyPr wrap="square" anchor="t">
            <a:noAutofit/>
          </a:bodyPr>
          <a:lstStyle/>
          <a:p>
            <a:pPr algn="ctr"/>
            <a:r>
              <a:rPr sz="1600" b="0" i="0">
                <a:solidFill>
                  <a:srgbClr val="5A6B7B"/>
                </a:solidFill>
                <a:latin typeface="Amazon Ember Display"/>
              </a:rPr>
              <a:t>submit</a:t>
            </a:r>
          </a:p>
        </p:txBody>
      </p:sp>
      <p:sp>
        <p:nvSpPr>
          <p:cNvPr id="19" name="Freeform 18"/>
          <p:cNvSpPr/>
          <p:nvPr/>
        </p:nvSpPr>
        <p:spPr>
          <a:xfrm>
            <a:off x="7735824" y="2788920"/>
            <a:ext cx="941832" cy="0"/>
          </a:xfrm>
          <a:custGeom>
            <a:avLst/>
            <a:gdLst/>
            <a:ahLst/>
            <a:cxnLst/>
            <a:rect l="l" t="t" r="r" b="b"/>
            <a:pathLst>
              <a:path w="941832">
                <a:moveTo>
                  <a:pt x="0" y="0"/>
                </a:moveTo>
                <a:lnTo>
                  <a:pt x="941832"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8503920" y="26700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35824" y="2328570"/>
            <a:ext cx="905256" cy="346049"/>
          </a:xfrm>
          <a:prstGeom prst="rect">
            <a:avLst/>
          </a:prstGeom>
          <a:noFill/>
        </p:spPr>
        <p:txBody>
          <a:bodyPr wrap="square" anchor="t">
            <a:noAutofit/>
          </a:bodyPr>
          <a:lstStyle/>
          <a:p>
            <a:pPr algn="ctr"/>
            <a:r>
              <a:rPr sz="1600" b="0" i="0">
                <a:solidFill>
                  <a:srgbClr val="5A6B7B"/>
                </a:solidFill>
                <a:latin typeface="Amazon Ember Display"/>
              </a:rPr>
              <a:t>execute</a:t>
            </a:r>
          </a:p>
        </p:txBody>
      </p:sp>
      <p:sp>
        <p:nvSpPr>
          <p:cNvPr id="22" name="Freeform 21"/>
          <p:cNvSpPr/>
          <p:nvPr/>
        </p:nvSpPr>
        <p:spPr>
          <a:xfrm>
            <a:off x="2007107" y="3383279"/>
            <a:ext cx="4059937" cy="1280161"/>
          </a:xfrm>
          <a:custGeom>
            <a:avLst/>
            <a:gdLst/>
            <a:ahLst/>
            <a:cxnLst/>
            <a:rect l="l" t="t" r="r" b="b"/>
            <a:pathLst>
              <a:path w="4059937" h="1280161">
                <a:moveTo>
                  <a:pt x="4059937" y="548641"/>
                </a:moveTo>
                <a:lnTo>
                  <a:pt x="4059937" y="1280161"/>
                </a:lnTo>
                <a:lnTo>
                  <a:pt x="0" y="1280161"/>
                </a:lnTo>
                <a:lnTo>
                  <a:pt x="0" y="0"/>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1888236" y="3383279"/>
            <a:ext cx="237743" cy="192024"/>
          </a:xfrm>
          <a:custGeom>
            <a:avLst/>
            <a:gdLst/>
            <a:ahLst/>
            <a:cxnLst/>
            <a:rect l="l" t="t" r="r" b="b"/>
            <a:pathLst>
              <a:path w="237743" h="192024">
                <a:moveTo>
                  <a:pt x="0" y="192024"/>
                </a:moveTo>
                <a:lnTo>
                  <a:pt x="118871" y="0"/>
                </a:lnTo>
                <a:lnTo>
                  <a:pt x="237743" y="192024"/>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098548" y="4226356"/>
            <a:ext cx="3877056" cy="346049"/>
          </a:xfrm>
          <a:prstGeom prst="rect">
            <a:avLst/>
          </a:prstGeom>
          <a:noFill/>
        </p:spPr>
        <p:txBody>
          <a:bodyPr wrap="square" anchor="ctr">
            <a:noAutofit/>
          </a:bodyPr>
          <a:lstStyle/>
          <a:p>
            <a:pPr algn="ctr"/>
            <a:r>
              <a:rPr sz="1600" b="0" i="0">
                <a:solidFill>
                  <a:srgbClr val="5A6B7B"/>
                </a:solidFill>
                <a:latin typeface="Amazon Ember Display"/>
              </a:rPr>
              <a:t>revise and preview again</a:t>
            </a:r>
          </a:p>
        </p:txBody>
      </p:sp>
      <p:sp>
        <p:nvSpPr>
          <p:cNvPr id="25" name="TextBox 24"/>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the preview lists what will be added, modified, or replaced; nothing changes until you execute</a:t>
            </a:r>
          </a:p>
        </p:txBody>
      </p:sp>
      <p:sp>
        <p:nvSpPr>
          <p:cNvPr id="26" name="TextBox 25">
            <a:hlinkClick r:id="rId4"/>
          </p:cNvPr>
          <p:cNvSpPr txBox="1"/>
          <p:nvPr/>
        </p:nvSpPr>
        <p:spPr>
          <a:xfrm>
            <a:off x="612648" y="5943600"/>
            <a:ext cx="67494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4"/>
              </a:rPr>
              <a:t>docs.aws.amazon.com · Update CloudFormation stacks using change…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Run a task definition as tasks behind an ALB</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697479"/>
            <a:ext cx="2606040" cy="1097280"/>
          </a:xfrm>
          <a:prstGeom prst="roundRect">
            <a:avLst>
              <a:gd name="adj" fmla="val 11666"/>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Elastic-Load-Balancing_64.png"/>
          <p:cNvPicPr>
            <a:picLocks noChangeAspect="1"/>
          </p:cNvPicPr>
          <p:nvPr/>
        </p:nvPicPr>
        <p:blipFill>
          <a:blip r:embed="rId3"/>
          <a:stretch>
            <a:fillRect/>
          </a:stretch>
        </p:blipFill>
        <p:spPr>
          <a:xfrm>
            <a:off x="804671" y="3017520"/>
            <a:ext cx="457200" cy="457200"/>
          </a:xfrm>
          <a:prstGeom prst="rect">
            <a:avLst/>
          </a:prstGeom>
        </p:spPr>
      </p:pic>
      <p:sp>
        <p:nvSpPr>
          <p:cNvPr id="6" name="TextBox 5"/>
          <p:cNvSpPr txBox="1"/>
          <p:nvPr/>
        </p:nvSpPr>
        <p:spPr>
          <a:xfrm>
            <a:off x="1371600" y="2935224"/>
            <a:ext cx="1719072" cy="346049"/>
          </a:xfrm>
          <a:prstGeom prst="rect">
            <a:avLst/>
          </a:prstGeom>
          <a:noFill/>
        </p:spPr>
        <p:txBody>
          <a:bodyPr wrap="square" anchor="ctr">
            <a:noAutofit/>
          </a:bodyPr>
          <a:lstStyle/>
          <a:p>
            <a:pPr algn="l"/>
            <a:r>
              <a:rPr sz="1600" b="1" i="0">
                <a:solidFill>
                  <a:srgbClr val="8F0072"/>
                </a:solidFill>
                <a:latin typeface="Amazon Ember Display"/>
              </a:rPr>
              <a:t>Load balancer</a:t>
            </a:r>
          </a:p>
        </p:txBody>
      </p:sp>
      <p:sp>
        <p:nvSpPr>
          <p:cNvPr id="7" name="TextBox 6"/>
          <p:cNvSpPr txBox="1"/>
          <p:nvPr/>
        </p:nvSpPr>
        <p:spPr>
          <a:xfrm>
            <a:off x="1371600" y="3255263"/>
            <a:ext cx="1719072" cy="346049"/>
          </a:xfrm>
          <a:prstGeom prst="rect">
            <a:avLst/>
          </a:prstGeom>
          <a:noFill/>
        </p:spPr>
        <p:txBody>
          <a:bodyPr wrap="square" anchor="ctr">
            <a:noAutofit/>
          </a:bodyPr>
          <a:lstStyle/>
          <a:p>
            <a:pPr algn="l"/>
            <a:r>
              <a:rPr sz="1600" b="0" i="0">
                <a:solidFill>
                  <a:srgbClr val="232B37"/>
                </a:solidFill>
                <a:latin typeface="Amazon Ember Display"/>
              </a:rPr>
              <a:t>routes traffic</a:t>
            </a:r>
          </a:p>
        </p:txBody>
      </p:sp>
      <p:sp>
        <p:nvSpPr>
          <p:cNvPr id="8" name="Rounded Rectangle 7"/>
          <p:cNvSpPr/>
          <p:nvPr/>
        </p:nvSpPr>
        <p:spPr>
          <a:xfrm>
            <a:off x="3794760" y="1783080"/>
            <a:ext cx="4434840" cy="3401568"/>
          </a:xfrm>
          <a:prstGeom prst="roundRect">
            <a:avLst>
              <a:gd name="adj" fmla="val 4838"/>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922776" y="1911095"/>
            <a:ext cx="4178807" cy="346049"/>
          </a:xfrm>
          <a:prstGeom prst="rect">
            <a:avLst/>
          </a:prstGeom>
          <a:noFill/>
        </p:spPr>
        <p:txBody>
          <a:bodyPr wrap="square" anchor="ctr">
            <a:noAutofit/>
          </a:bodyPr>
          <a:lstStyle/>
          <a:p>
            <a:pPr algn="ctr"/>
            <a:r>
              <a:rPr sz="1600" b="1" i="0">
                <a:solidFill>
                  <a:srgbClr val="8F0072"/>
                </a:solidFill>
                <a:latin typeface="Amazon Ember Display"/>
              </a:rPr>
              <a:t>ECS SERVICE  (FARGATE)</a:t>
            </a:r>
          </a:p>
        </p:txBody>
      </p:sp>
      <p:sp>
        <p:nvSpPr>
          <p:cNvPr id="10" name="Rounded Rectangle 9"/>
          <p:cNvSpPr/>
          <p:nvPr/>
        </p:nvSpPr>
        <p:spPr>
          <a:xfrm>
            <a:off x="4206240" y="2313432"/>
            <a:ext cx="3611879" cy="822960"/>
          </a:xfrm>
          <a:prstGeom prst="roundRect">
            <a:avLst>
              <a:gd name="adj" fmla="val 1333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Arch_AWS-Fargate_64.png"/>
          <p:cNvPicPr>
            <a:picLocks noChangeAspect="1"/>
          </p:cNvPicPr>
          <p:nvPr/>
        </p:nvPicPr>
        <p:blipFill>
          <a:blip r:embed="rId4"/>
          <a:stretch>
            <a:fillRect/>
          </a:stretch>
        </p:blipFill>
        <p:spPr>
          <a:xfrm>
            <a:off x="4389120" y="2496312"/>
            <a:ext cx="457200" cy="457200"/>
          </a:xfrm>
          <a:prstGeom prst="rect">
            <a:avLst/>
          </a:prstGeom>
        </p:spPr>
      </p:pic>
      <p:sp>
        <p:nvSpPr>
          <p:cNvPr id="12" name="TextBox 11"/>
          <p:cNvSpPr txBox="1"/>
          <p:nvPr/>
        </p:nvSpPr>
        <p:spPr>
          <a:xfrm>
            <a:off x="4956048" y="2551887"/>
            <a:ext cx="2743200" cy="346049"/>
          </a:xfrm>
          <a:prstGeom prst="rect">
            <a:avLst/>
          </a:prstGeom>
          <a:noFill/>
        </p:spPr>
        <p:txBody>
          <a:bodyPr wrap="square" anchor="ctr">
            <a:noAutofit/>
          </a:bodyPr>
          <a:lstStyle/>
          <a:p>
            <a:pPr algn="l"/>
            <a:r>
              <a:rPr sz="1600" b="1" i="0">
                <a:solidFill>
                  <a:srgbClr val="8F0072"/>
                </a:solidFill>
                <a:latin typeface="Amazon Ember Display"/>
              </a:rPr>
              <a:t>task  v3</a:t>
            </a:r>
          </a:p>
        </p:txBody>
      </p:sp>
      <p:sp>
        <p:nvSpPr>
          <p:cNvPr id="13" name="Rounded Rectangle 12"/>
          <p:cNvSpPr/>
          <p:nvPr/>
        </p:nvSpPr>
        <p:spPr>
          <a:xfrm>
            <a:off x="4206240" y="3246120"/>
            <a:ext cx="3611879" cy="822960"/>
          </a:xfrm>
          <a:prstGeom prst="roundRect">
            <a:avLst>
              <a:gd name="adj" fmla="val 1333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Arch_AWS-Fargate_64.png"/>
          <p:cNvPicPr>
            <a:picLocks noChangeAspect="1"/>
          </p:cNvPicPr>
          <p:nvPr/>
        </p:nvPicPr>
        <p:blipFill>
          <a:blip r:embed="rId4"/>
          <a:stretch>
            <a:fillRect/>
          </a:stretch>
        </p:blipFill>
        <p:spPr>
          <a:xfrm>
            <a:off x="4389120" y="3429000"/>
            <a:ext cx="457200" cy="457200"/>
          </a:xfrm>
          <a:prstGeom prst="rect">
            <a:avLst/>
          </a:prstGeom>
        </p:spPr>
      </p:pic>
      <p:sp>
        <p:nvSpPr>
          <p:cNvPr id="15" name="TextBox 14"/>
          <p:cNvSpPr txBox="1"/>
          <p:nvPr/>
        </p:nvSpPr>
        <p:spPr>
          <a:xfrm>
            <a:off x="4956048" y="3484575"/>
            <a:ext cx="2743200" cy="346049"/>
          </a:xfrm>
          <a:prstGeom prst="rect">
            <a:avLst/>
          </a:prstGeom>
          <a:noFill/>
        </p:spPr>
        <p:txBody>
          <a:bodyPr wrap="square" anchor="ctr">
            <a:noAutofit/>
          </a:bodyPr>
          <a:lstStyle/>
          <a:p>
            <a:pPr algn="l"/>
            <a:r>
              <a:rPr sz="1600" b="1" i="0">
                <a:solidFill>
                  <a:srgbClr val="8F0072"/>
                </a:solidFill>
                <a:latin typeface="Amazon Ember Display"/>
              </a:rPr>
              <a:t>task  v3</a:t>
            </a:r>
          </a:p>
        </p:txBody>
      </p:sp>
      <p:sp>
        <p:nvSpPr>
          <p:cNvPr id="16" name="Rounded Rectangle 15"/>
          <p:cNvSpPr/>
          <p:nvPr/>
        </p:nvSpPr>
        <p:spPr>
          <a:xfrm>
            <a:off x="4206240" y="4178808"/>
            <a:ext cx="3611879" cy="822960"/>
          </a:xfrm>
          <a:prstGeom prst="roundRect">
            <a:avLst>
              <a:gd name="adj" fmla="val 13333"/>
            </a:avLst>
          </a:prstGeom>
          <a:solidFill>
            <a:srgbClr val="FF57E9"/>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Arch_AWS-Fargate_64.png"/>
          <p:cNvPicPr>
            <a:picLocks noChangeAspect="1"/>
          </p:cNvPicPr>
          <p:nvPr/>
        </p:nvPicPr>
        <p:blipFill>
          <a:blip r:embed="rId4"/>
          <a:stretch>
            <a:fillRect/>
          </a:stretch>
        </p:blipFill>
        <p:spPr>
          <a:xfrm>
            <a:off x="4389120" y="4361688"/>
            <a:ext cx="457200" cy="457200"/>
          </a:xfrm>
          <a:prstGeom prst="rect">
            <a:avLst/>
          </a:prstGeom>
        </p:spPr>
      </p:pic>
      <p:sp>
        <p:nvSpPr>
          <p:cNvPr id="18" name="TextBox 17"/>
          <p:cNvSpPr txBox="1"/>
          <p:nvPr/>
        </p:nvSpPr>
        <p:spPr>
          <a:xfrm>
            <a:off x="4956048" y="4417263"/>
            <a:ext cx="2743200" cy="346049"/>
          </a:xfrm>
          <a:prstGeom prst="rect">
            <a:avLst/>
          </a:prstGeom>
          <a:noFill/>
        </p:spPr>
        <p:txBody>
          <a:bodyPr wrap="square" anchor="ctr">
            <a:noAutofit/>
          </a:bodyPr>
          <a:lstStyle/>
          <a:p>
            <a:pPr algn="l"/>
            <a:r>
              <a:rPr sz="1600" b="1" i="0">
                <a:solidFill>
                  <a:srgbClr val="FFFFFF"/>
                </a:solidFill>
                <a:latin typeface="Amazon Ember Display"/>
              </a:rPr>
              <a:t>task  v4  (new)</a:t>
            </a:r>
          </a:p>
        </p:txBody>
      </p:sp>
      <p:sp>
        <p:nvSpPr>
          <p:cNvPr id="19" name="Freeform 18"/>
          <p:cNvSpPr/>
          <p:nvPr/>
        </p:nvSpPr>
        <p:spPr>
          <a:xfrm>
            <a:off x="3273552" y="3246120"/>
            <a:ext cx="466344" cy="0"/>
          </a:xfrm>
          <a:custGeom>
            <a:avLst/>
            <a:gdLst/>
            <a:ahLst/>
            <a:cxnLst/>
            <a:rect l="l" t="t" r="r" b="b"/>
            <a:pathLst>
              <a:path w="466344">
                <a:moveTo>
                  <a:pt x="0" y="0"/>
                </a:moveTo>
                <a:lnTo>
                  <a:pt x="466344"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3566160" y="31272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869680" y="2651760"/>
            <a:ext cx="2651760" cy="1188720"/>
          </a:xfrm>
          <a:prstGeom prst="roundRect">
            <a:avLst>
              <a:gd name="adj" fmla="val 10769"/>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Arch_Amazon-Elastic-Container-Service_64.png"/>
          <p:cNvPicPr>
            <a:picLocks noChangeAspect="1"/>
          </p:cNvPicPr>
          <p:nvPr/>
        </p:nvPicPr>
        <p:blipFill>
          <a:blip r:embed="rId5"/>
          <a:stretch>
            <a:fillRect/>
          </a:stretch>
        </p:blipFill>
        <p:spPr>
          <a:xfrm>
            <a:off x="9061704" y="3017520"/>
            <a:ext cx="457200" cy="457200"/>
          </a:xfrm>
          <a:prstGeom prst="rect">
            <a:avLst/>
          </a:prstGeom>
        </p:spPr>
      </p:pic>
      <p:sp>
        <p:nvSpPr>
          <p:cNvPr id="23" name="TextBox 22"/>
          <p:cNvSpPr txBox="1"/>
          <p:nvPr/>
        </p:nvSpPr>
        <p:spPr>
          <a:xfrm>
            <a:off x="9628632" y="2935224"/>
            <a:ext cx="1764791" cy="346049"/>
          </a:xfrm>
          <a:prstGeom prst="rect">
            <a:avLst/>
          </a:prstGeom>
          <a:noFill/>
        </p:spPr>
        <p:txBody>
          <a:bodyPr wrap="square" anchor="ctr">
            <a:noAutofit/>
          </a:bodyPr>
          <a:lstStyle/>
          <a:p>
            <a:pPr algn="l"/>
            <a:r>
              <a:rPr sz="1600" b="1" i="0">
                <a:solidFill>
                  <a:srgbClr val="8F0072"/>
                </a:solidFill>
                <a:latin typeface="Amazon Ember Display"/>
              </a:rPr>
              <a:t>Task definition</a:t>
            </a:r>
          </a:p>
        </p:txBody>
      </p:sp>
      <p:sp>
        <p:nvSpPr>
          <p:cNvPr id="24" name="TextBox 23"/>
          <p:cNvSpPr txBox="1"/>
          <p:nvPr/>
        </p:nvSpPr>
        <p:spPr>
          <a:xfrm>
            <a:off x="9628632" y="3255263"/>
            <a:ext cx="1764791" cy="346049"/>
          </a:xfrm>
          <a:prstGeom prst="rect">
            <a:avLst/>
          </a:prstGeom>
          <a:noFill/>
        </p:spPr>
        <p:txBody>
          <a:bodyPr wrap="square" anchor="ctr">
            <a:noAutofit/>
          </a:bodyPr>
          <a:lstStyle/>
          <a:p>
            <a:pPr algn="l"/>
            <a:r>
              <a:rPr sz="1600" b="0" i="0">
                <a:solidFill>
                  <a:srgbClr val="232B37"/>
                </a:solidFill>
                <a:latin typeface="Amazon Ember Display"/>
              </a:rPr>
              <a:t>v4: image + CPU</a:t>
            </a:r>
          </a:p>
        </p:txBody>
      </p:sp>
      <p:sp>
        <p:nvSpPr>
          <p:cNvPr id="25" name="Freeform 24"/>
          <p:cNvSpPr/>
          <p:nvPr/>
        </p:nvSpPr>
        <p:spPr>
          <a:xfrm>
            <a:off x="8266175" y="3246120"/>
            <a:ext cx="603505" cy="0"/>
          </a:xfrm>
          <a:custGeom>
            <a:avLst/>
            <a:gdLst/>
            <a:ahLst/>
            <a:cxnLst/>
            <a:rect l="l" t="t" r="r" b="b"/>
            <a:pathLst>
              <a:path w="603505">
                <a:moveTo>
                  <a:pt x="603505" y="0"/>
                </a:moveTo>
                <a:lnTo>
                  <a:pt x="0" y="0"/>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reeform 25"/>
          <p:cNvSpPr/>
          <p:nvPr/>
        </p:nvSpPr>
        <p:spPr>
          <a:xfrm>
            <a:off x="8266175" y="3127248"/>
            <a:ext cx="192025" cy="237743"/>
          </a:xfrm>
          <a:custGeom>
            <a:avLst/>
            <a:gdLst/>
            <a:ahLst/>
            <a:cxnLst/>
            <a:rect l="l" t="t" r="r" b="b"/>
            <a:pathLst>
              <a:path w="192025" h="237743">
                <a:moveTo>
                  <a:pt x="192025" y="0"/>
                </a:moveTo>
                <a:lnTo>
                  <a:pt x="0" y="118872"/>
                </a:lnTo>
                <a:lnTo>
                  <a:pt x="192025" y="237743"/>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a rolling update launches new-version tasks and drains the old ones with no downtime</a:t>
            </a:r>
          </a:p>
        </p:txBody>
      </p:sp>
      <p:sp>
        <p:nvSpPr>
          <p:cNvPr id="28" name="TextBox 27">
            <a:hlinkClick r:id="rId6"/>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6"/>
              </a:rPr>
              <a:t>docs.aws.amazon.com · Amazon ECS task definitions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Declaring a queue in a CloudFormation template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737360"/>
            <a:ext cx="6035040" cy="3623462"/>
          </a:xfrm>
          <a:prstGeom prst="roundRect">
            <a:avLst>
              <a:gd name="adj" fmla="val 3500"/>
            </a:avLst>
          </a:prstGeom>
          <a:solidFill>
            <a:srgbClr val="13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93391"/>
            <a:ext cx="274320" cy="282854"/>
          </a:xfrm>
          <a:prstGeom prst="rect">
            <a:avLst/>
          </a:prstGeom>
          <a:noFill/>
        </p:spPr>
        <p:txBody>
          <a:bodyPr wrap="none" lIns="0" tIns="0" rIns="0" bIns="0" anchor="ctr">
            <a:spAutoFit/>
          </a:bodyPr>
          <a:lstStyle/>
          <a:p>
            <a:pPr algn="r"/>
            <a:r>
              <a:rPr sz="1280" b="0">
                <a:solidFill>
                  <a:srgbClr val="72747E"/>
                </a:solidFill>
                <a:latin typeface="Menlo"/>
              </a:rPr>
              <a:t>1</a:t>
            </a:r>
          </a:p>
        </p:txBody>
      </p:sp>
      <p:sp>
        <p:nvSpPr>
          <p:cNvPr id="6" name="TextBox 5"/>
          <p:cNvSpPr txBox="1"/>
          <p:nvPr/>
        </p:nvSpPr>
        <p:spPr>
          <a:xfrm>
            <a:off x="1161288" y="1993391"/>
            <a:ext cx="5120639" cy="282854"/>
          </a:xfrm>
          <a:prstGeom prst="rect">
            <a:avLst/>
          </a:prstGeom>
          <a:noFill/>
        </p:spPr>
        <p:txBody>
          <a:bodyPr wrap="none" lIns="0" tIns="0" rIns="0" bIns="0" anchor="ctr">
            <a:spAutoFit/>
          </a:bodyPr>
          <a:lstStyle/>
          <a:p>
            <a:pPr algn="l"/>
            <a:r>
              <a:rPr sz="1600" b="0">
                <a:solidFill>
                  <a:srgbClr val="CCCCD1"/>
                </a:solidFill>
                <a:latin typeface="Menlo"/>
              </a:rPr>
              <a:t>{</a:t>
            </a:r>
          </a:p>
        </p:txBody>
      </p:sp>
      <p:sp>
        <p:nvSpPr>
          <p:cNvPr id="7" name="TextBox 6"/>
          <p:cNvSpPr txBox="1"/>
          <p:nvPr/>
        </p:nvSpPr>
        <p:spPr>
          <a:xfrm>
            <a:off x="859536" y="2276246"/>
            <a:ext cx="274320" cy="282854"/>
          </a:xfrm>
          <a:prstGeom prst="rect">
            <a:avLst/>
          </a:prstGeom>
          <a:noFill/>
        </p:spPr>
        <p:txBody>
          <a:bodyPr wrap="none" lIns="0" tIns="0" rIns="0" bIns="0" anchor="ctr">
            <a:spAutoFit/>
          </a:bodyPr>
          <a:lstStyle/>
          <a:p>
            <a:pPr algn="r"/>
            <a:r>
              <a:rPr sz="1280" b="0">
                <a:solidFill>
                  <a:srgbClr val="72747E"/>
                </a:solidFill>
                <a:latin typeface="Menlo"/>
              </a:rPr>
              <a:t>2</a:t>
            </a:r>
          </a:p>
        </p:txBody>
      </p:sp>
      <p:sp>
        <p:nvSpPr>
          <p:cNvPr id="8" name="TextBox 7"/>
          <p:cNvSpPr txBox="1"/>
          <p:nvPr/>
        </p:nvSpPr>
        <p:spPr>
          <a:xfrm>
            <a:off x="1161288" y="2276246"/>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"Resources"</a:t>
            </a:r>
            <a:r>
              <a:rPr sz="1600" b="0">
                <a:solidFill>
                  <a:srgbClr val="CCCCD1"/>
                </a:solidFill>
                <a:latin typeface="Menlo"/>
              </a:rPr>
              <a:t>:</a:t>
            </a:r>
            <a:r>
              <a:rPr sz="1600" b="0">
                <a:solidFill>
                  <a:srgbClr val="F6F6F9"/>
                </a:solidFill>
                <a:latin typeface="Menlo"/>
              </a:rPr>
              <a:t> </a:t>
            </a:r>
            <a:r>
              <a:rPr sz="1600" b="0">
                <a:solidFill>
                  <a:srgbClr val="CCCCD1"/>
                </a:solidFill>
                <a:latin typeface="Menlo"/>
              </a:rPr>
              <a:t>{</a:t>
            </a:r>
          </a:p>
        </p:txBody>
      </p:sp>
      <p:sp>
        <p:nvSpPr>
          <p:cNvPr id="9" name="TextBox 8"/>
          <p:cNvSpPr txBox="1"/>
          <p:nvPr/>
        </p:nvSpPr>
        <p:spPr>
          <a:xfrm>
            <a:off x="859536" y="2559100"/>
            <a:ext cx="274320" cy="282854"/>
          </a:xfrm>
          <a:prstGeom prst="rect">
            <a:avLst/>
          </a:prstGeom>
          <a:noFill/>
        </p:spPr>
        <p:txBody>
          <a:bodyPr wrap="none" lIns="0" tIns="0" rIns="0" bIns="0" anchor="ctr">
            <a:spAutoFit/>
          </a:bodyPr>
          <a:lstStyle/>
          <a:p>
            <a:pPr algn="r"/>
            <a:r>
              <a:rPr sz="1280" b="0">
                <a:solidFill>
                  <a:srgbClr val="72747E"/>
                </a:solidFill>
                <a:latin typeface="Menlo"/>
              </a:rPr>
              <a:t>3</a:t>
            </a:r>
          </a:p>
        </p:txBody>
      </p:sp>
      <p:sp>
        <p:nvSpPr>
          <p:cNvPr id="10" name="TextBox 9"/>
          <p:cNvSpPr txBox="1"/>
          <p:nvPr/>
        </p:nvSpPr>
        <p:spPr>
          <a:xfrm>
            <a:off x="1161288" y="2559100"/>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"Orders"</a:t>
            </a:r>
            <a:r>
              <a:rPr sz="1600" b="0">
                <a:solidFill>
                  <a:srgbClr val="CCCCD1"/>
                </a:solidFill>
                <a:latin typeface="Menlo"/>
              </a:rPr>
              <a:t>:</a:t>
            </a:r>
            <a:r>
              <a:rPr sz="1600" b="0">
                <a:solidFill>
                  <a:srgbClr val="F6F6F9"/>
                </a:solidFill>
                <a:latin typeface="Menlo"/>
              </a:rPr>
              <a:t> </a:t>
            </a:r>
            <a:r>
              <a:rPr sz="1600" b="0">
                <a:solidFill>
                  <a:srgbClr val="CCCCD1"/>
                </a:solidFill>
                <a:latin typeface="Menlo"/>
              </a:rPr>
              <a:t>{</a:t>
            </a:r>
          </a:p>
        </p:txBody>
      </p:sp>
      <p:sp>
        <p:nvSpPr>
          <p:cNvPr id="11" name="TextBox 10"/>
          <p:cNvSpPr txBox="1"/>
          <p:nvPr/>
        </p:nvSpPr>
        <p:spPr>
          <a:xfrm>
            <a:off x="859536" y="2841955"/>
            <a:ext cx="274320" cy="282854"/>
          </a:xfrm>
          <a:prstGeom prst="rect">
            <a:avLst/>
          </a:prstGeom>
          <a:noFill/>
        </p:spPr>
        <p:txBody>
          <a:bodyPr wrap="none" lIns="0" tIns="0" rIns="0" bIns="0" anchor="ctr">
            <a:spAutoFit/>
          </a:bodyPr>
          <a:lstStyle/>
          <a:p>
            <a:pPr algn="r"/>
            <a:r>
              <a:rPr sz="1280" b="0">
                <a:solidFill>
                  <a:srgbClr val="72747E"/>
                </a:solidFill>
                <a:latin typeface="Menlo"/>
              </a:rPr>
              <a:t>4</a:t>
            </a:r>
          </a:p>
        </p:txBody>
      </p:sp>
      <p:sp>
        <p:nvSpPr>
          <p:cNvPr id="12" name="TextBox 11"/>
          <p:cNvSpPr txBox="1"/>
          <p:nvPr/>
        </p:nvSpPr>
        <p:spPr>
          <a:xfrm>
            <a:off x="1161288" y="2841955"/>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"Type"</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"AWS::SQS::Queue"</a:t>
            </a:r>
            <a:r>
              <a:rPr sz="1600" b="0">
                <a:solidFill>
                  <a:srgbClr val="CCCCD1"/>
                </a:solidFill>
                <a:latin typeface="Menlo"/>
              </a:rPr>
              <a:t>,</a:t>
            </a:r>
          </a:p>
        </p:txBody>
      </p:sp>
      <p:sp>
        <p:nvSpPr>
          <p:cNvPr id="13" name="TextBox 12"/>
          <p:cNvSpPr txBox="1"/>
          <p:nvPr/>
        </p:nvSpPr>
        <p:spPr>
          <a:xfrm>
            <a:off x="859536" y="3124809"/>
            <a:ext cx="274320" cy="282854"/>
          </a:xfrm>
          <a:prstGeom prst="rect">
            <a:avLst/>
          </a:prstGeom>
          <a:noFill/>
        </p:spPr>
        <p:txBody>
          <a:bodyPr wrap="none" lIns="0" tIns="0" rIns="0" bIns="0" anchor="ctr">
            <a:spAutoFit/>
          </a:bodyPr>
          <a:lstStyle/>
          <a:p>
            <a:pPr algn="r"/>
            <a:r>
              <a:rPr sz="1280" b="0">
                <a:solidFill>
                  <a:srgbClr val="72747E"/>
                </a:solidFill>
                <a:latin typeface="Menlo"/>
              </a:rPr>
              <a:t>5</a:t>
            </a:r>
          </a:p>
        </p:txBody>
      </p:sp>
      <p:sp>
        <p:nvSpPr>
          <p:cNvPr id="14" name="TextBox 13"/>
          <p:cNvSpPr txBox="1"/>
          <p:nvPr/>
        </p:nvSpPr>
        <p:spPr>
          <a:xfrm>
            <a:off x="1161288" y="3124809"/>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"Properties"</a:t>
            </a:r>
            <a:r>
              <a:rPr sz="1600" b="0">
                <a:solidFill>
                  <a:srgbClr val="CCCCD1"/>
                </a:solidFill>
                <a:latin typeface="Menlo"/>
              </a:rPr>
              <a:t>:</a:t>
            </a:r>
            <a:r>
              <a:rPr sz="1600" b="0">
                <a:solidFill>
                  <a:srgbClr val="F6F6F9"/>
                </a:solidFill>
                <a:latin typeface="Menlo"/>
              </a:rPr>
              <a:t> </a:t>
            </a:r>
            <a:r>
              <a:rPr sz="1600" b="0">
                <a:solidFill>
                  <a:srgbClr val="CCCCD1"/>
                </a:solidFill>
                <a:latin typeface="Menlo"/>
              </a:rPr>
              <a:t>{</a:t>
            </a:r>
          </a:p>
        </p:txBody>
      </p:sp>
      <p:sp>
        <p:nvSpPr>
          <p:cNvPr id="15" name="TextBox 14"/>
          <p:cNvSpPr txBox="1"/>
          <p:nvPr/>
        </p:nvSpPr>
        <p:spPr>
          <a:xfrm>
            <a:off x="859536" y="3407663"/>
            <a:ext cx="274320" cy="282854"/>
          </a:xfrm>
          <a:prstGeom prst="rect">
            <a:avLst/>
          </a:prstGeom>
          <a:noFill/>
        </p:spPr>
        <p:txBody>
          <a:bodyPr wrap="none" lIns="0" tIns="0" rIns="0" bIns="0" anchor="ctr">
            <a:spAutoFit/>
          </a:bodyPr>
          <a:lstStyle/>
          <a:p>
            <a:pPr algn="r"/>
            <a:r>
              <a:rPr sz="1280" b="0">
                <a:solidFill>
                  <a:srgbClr val="72747E"/>
                </a:solidFill>
                <a:latin typeface="Menlo"/>
              </a:rPr>
              <a:t>6</a:t>
            </a:r>
          </a:p>
        </p:txBody>
      </p:sp>
      <p:sp>
        <p:nvSpPr>
          <p:cNvPr id="16" name="TextBox 15"/>
          <p:cNvSpPr txBox="1"/>
          <p:nvPr/>
        </p:nvSpPr>
        <p:spPr>
          <a:xfrm>
            <a:off x="1161288" y="3407663"/>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"QueueName"</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"orders"</a:t>
            </a:r>
            <a:r>
              <a:rPr sz="1600" b="0">
                <a:solidFill>
                  <a:srgbClr val="CCCCD1"/>
                </a:solidFill>
                <a:latin typeface="Menlo"/>
              </a:rPr>
              <a:t>,</a:t>
            </a:r>
          </a:p>
        </p:txBody>
      </p:sp>
      <p:sp>
        <p:nvSpPr>
          <p:cNvPr id="17" name="TextBox 16"/>
          <p:cNvSpPr txBox="1"/>
          <p:nvPr/>
        </p:nvSpPr>
        <p:spPr>
          <a:xfrm>
            <a:off x="859536" y="3690518"/>
            <a:ext cx="274320" cy="282854"/>
          </a:xfrm>
          <a:prstGeom prst="rect">
            <a:avLst/>
          </a:prstGeom>
          <a:noFill/>
        </p:spPr>
        <p:txBody>
          <a:bodyPr wrap="none" lIns="0" tIns="0" rIns="0" bIns="0" anchor="ctr">
            <a:spAutoFit/>
          </a:bodyPr>
          <a:lstStyle/>
          <a:p>
            <a:pPr algn="r"/>
            <a:r>
              <a:rPr sz="1280" b="0">
                <a:solidFill>
                  <a:srgbClr val="72747E"/>
                </a:solidFill>
                <a:latin typeface="Menlo"/>
              </a:rPr>
              <a:t>7</a:t>
            </a:r>
          </a:p>
        </p:txBody>
      </p:sp>
      <p:sp>
        <p:nvSpPr>
          <p:cNvPr id="18" name="TextBox 17"/>
          <p:cNvSpPr txBox="1"/>
          <p:nvPr/>
        </p:nvSpPr>
        <p:spPr>
          <a:xfrm>
            <a:off x="1161288" y="3690518"/>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"VisibilityTimeout"</a:t>
            </a:r>
            <a:r>
              <a:rPr sz="1600" b="0">
                <a:solidFill>
                  <a:srgbClr val="CCCCD1"/>
                </a:solidFill>
                <a:latin typeface="Menlo"/>
              </a:rPr>
              <a:t>:</a:t>
            </a:r>
            <a:r>
              <a:rPr sz="1600" b="0">
                <a:solidFill>
                  <a:srgbClr val="F6F6F9"/>
                </a:solidFill>
                <a:latin typeface="Menlo"/>
              </a:rPr>
              <a:t> </a:t>
            </a:r>
            <a:r>
              <a:rPr sz="1600" b="0">
                <a:solidFill>
                  <a:srgbClr val="FF9900"/>
                </a:solidFill>
                <a:latin typeface="Menlo"/>
              </a:rPr>
              <a:t>30</a:t>
            </a:r>
          </a:p>
        </p:txBody>
      </p:sp>
      <p:sp>
        <p:nvSpPr>
          <p:cNvPr id="19" name="TextBox 18"/>
          <p:cNvSpPr txBox="1"/>
          <p:nvPr/>
        </p:nvSpPr>
        <p:spPr>
          <a:xfrm>
            <a:off x="859536" y="3973372"/>
            <a:ext cx="274320" cy="282854"/>
          </a:xfrm>
          <a:prstGeom prst="rect">
            <a:avLst/>
          </a:prstGeom>
          <a:noFill/>
        </p:spPr>
        <p:txBody>
          <a:bodyPr wrap="none" lIns="0" tIns="0" rIns="0" bIns="0" anchor="ctr">
            <a:spAutoFit/>
          </a:bodyPr>
          <a:lstStyle/>
          <a:p>
            <a:pPr algn="r"/>
            <a:r>
              <a:rPr sz="1280" b="0">
                <a:solidFill>
                  <a:srgbClr val="72747E"/>
                </a:solidFill>
                <a:latin typeface="Menlo"/>
              </a:rPr>
              <a:t>8</a:t>
            </a:r>
          </a:p>
        </p:txBody>
      </p:sp>
      <p:sp>
        <p:nvSpPr>
          <p:cNvPr id="20" name="TextBox 19"/>
          <p:cNvSpPr txBox="1"/>
          <p:nvPr/>
        </p:nvSpPr>
        <p:spPr>
          <a:xfrm>
            <a:off x="1161288" y="3973372"/>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CCCCD1"/>
                </a:solidFill>
                <a:latin typeface="Menlo"/>
              </a:rPr>
              <a:t>}</a:t>
            </a:r>
          </a:p>
        </p:txBody>
      </p:sp>
      <p:sp>
        <p:nvSpPr>
          <p:cNvPr id="21" name="TextBox 20"/>
          <p:cNvSpPr txBox="1"/>
          <p:nvPr/>
        </p:nvSpPr>
        <p:spPr>
          <a:xfrm>
            <a:off x="859536" y="4256227"/>
            <a:ext cx="274320" cy="282854"/>
          </a:xfrm>
          <a:prstGeom prst="rect">
            <a:avLst/>
          </a:prstGeom>
          <a:noFill/>
        </p:spPr>
        <p:txBody>
          <a:bodyPr wrap="none" lIns="0" tIns="0" rIns="0" bIns="0" anchor="ctr">
            <a:spAutoFit/>
          </a:bodyPr>
          <a:lstStyle/>
          <a:p>
            <a:pPr algn="r"/>
            <a:r>
              <a:rPr sz="1280" b="0">
                <a:solidFill>
                  <a:srgbClr val="72747E"/>
                </a:solidFill>
                <a:latin typeface="Menlo"/>
              </a:rPr>
              <a:t>9</a:t>
            </a:r>
          </a:p>
        </p:txBody>
      </p:sp>
      <p:sp>
        <p:nvSpPr>
          <p:cNvPr id="22" name="TextBox 21"/>
          <p:cNvSpPr txBox="1"/>
          <p:nvPr/>
        </p:nvSpPr>
        <p:spPr>
          <a:xfrm>
            <a:off x="1161288" y="4256227"/>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CCCCD1"/>
                </a:solidFill>
                <a:latin typeface="Menlo"/>
              </a:rPr>
              <a:t>}</a:t>
            </a:r>
          </a:p>
        </p:txBody>
      </p:sp>
      <p:sp>
        <p:nvSpPr>
          <p:cNvPr id="23" name="TextBox 22"/>
          <p:cNvSpPr txBox="1"/>
          <p:nvPr/>
        </p:nvSpPr>
        <p:spPr>
          <a:xfrm>
            <a:off x="859536" y="4539081"/>
            <a:ext cx="274320" cy="282854"/>
          </a:xfrm>
          <a:prstGeom prst="rect">
            <a:avLst/>
          </a:prstGeom>
          <a:noFill/>
        </p:spPr>
        <p:txBody>
          <a:bodyPr wrap="none" lIns="0" tIns="0" rIns="0" bIns="0" anchor="ctr">
            <a:spAutoFit/>
          </a:bodyPr>
          <a:lstStyle/>
          <a:p>
            <a:pPr algn="r"/>
            <a:r>
              <a:rPr sz="1280" b="0">
                <a:solidFill>
                  <a:srgbClr val="72747E"/>
                </a:solidFill>
                <a:latin typeface="Menlo"/>
              </a:rPr>
              <a:t>10</a:t>
            </a:r>
          </a:p>
        </p:txBody>
      </p:sp>
      <p:sp>
        <p:nvSpPr>
          <p:cNvPr id="24" name="TextBox 23"/>
          <p:cNvSpPr txBox="1"/>
          <p:nvPr/>
        </p:nvSpPr>
        <p:spPr>
          <a:xfrm>
            <a:off x="1161288" y="4539081"/>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CCCCD1"/>
                </a:solidFill>
                <a:latin typeface="Menlo"/>
              </a:rPr>
              <a:t>}</a:t>
            </a:r>
          </a:p>
        </p:txBody>
      </p:sp>
      <p:sp>
        <p:nvSpPr>
          <p:cNvPr id="25" name="TextBox 24"/>
          <p:cNvSpPr txBox="1"/>
          <p:nvPr/>
        </p:nvSpPr>
        <p:spPr>
          <a:xfrm>
            <a:off x="859536" y="4821935"/>
            <a:ext cx="274320" cy="282854"/>
          </a:xfrm>
          <a:prstGeom prst="rect">
            <a:avLst/>
          </a:prstGeom>
          <a:noFill/>
        </p:spPr>
        <p:txBody>
          <a:bodyPr wrap="none" lIns="0" tIns="0" rIns="0" bIns="0" anchor="ctr">
            <a:spAutoFit/>
          </a:bodyPr>
          <a:lstStyle/>
          <a:p>
            <a:pPr algn="r"/>
            <a:r>
              <a:rPr sz="1280" b="0">
                <a:solidFill>
                  <a:srgbClr val="72747E"/>
                </a:solidFill>
                <a:latin typeface="Menlo"/>
              </a:rPr>
              <a:t>11</a:t>
            </a:r>
          </a:p>
        </p:txBody>
      </p:sp>
      <p:sp>
        <p:nvSpPr>
          <p:cNvPr id="26" name="TextBox 25"/>
          <p:cNvSpPr txBox="1"/>
          <p:nvPr/>
        </p:nvSpPr>
        <p:spPr>
          <a:xfrm>
            <a:off x="1161288" y="4821935"/>
            <a:ext cx="5120639" cy="282854"/>
          </a:xfrm>
          <a:prstGeom prst="rect">
            <a:avLst/>
          </a:prstGeom>
          <a:noFill/>
        </p:spPr>
        <p:txBody>
          <a:bodyPr wrap="none" lIns="0" tIns="0" rIns="0" bIns="0" anchor="ctr">
            <a:spAutoFit/>
          </a:bodyPr>
          <a:lstStyle/>
          <a:p>
            <a:pPr algn="l"/>
            <a:r>
              <a:rPr sz="1600" b="0">
                <a:solidFill>
                  <a:srgbClr val="CCCCD1"/>
                </a:solidFill>
                <a:latin typeface="Menlo"/>
              </a:rPr>
              <a:t>}</a:t>
            </a:r>
          </a:p>
        </p:txBody>
      </p:sp>
      <p:sp>
        <p:nvSpPr>
          <p:cNvPr id="27" name="Oval 26"/>
          <p:cNvSpPr/>
          <p:nvPr/>
        </p:nvSpPr>
        <p:spPr>
          <a:xfrm>
            <a:off x="521207" y="2262225"/>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1</a:t>
            </a:r>
          </a:p>
        </p:txBody>
      </p:sp>
      <p:sp>
        <p:nvSpPr>
          <p:cNvPr id="28" name="Oval 27"/>
          <p:cNvSpPr/>
          <p:nvPr/>
        </p:nvSpPr>
        <p:spPr>
          <a:xfrm>
            <a:off x="521207" y="2827933"/>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2</a:t>
            </a:r>
          </a:p>
        </p:txBody>
      </p:sp>
      <p:sp>
        <p:nvSpPr>
          <p:cNvPr id="29" name="Oval 28"/>
          <p:cNvSpPr/>
          <p:nvPr/>
        </p:nvSpPr>
        <p:spPr>
          <a:xfrm>
            <a:off x="521207" y="3676497"/>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3</a:t>
            </a:r>
          </a:p>
        </p:txBody>
      </p:sp>
      <p:sp>
        <p:nvSpPr>
          <p:cNvPr id="30" name="TextBox 29"/>
          <p:cNvSpPr txBox="1"/>
          <p:nvPr/>
        </p:nvSpPr>
        <p:spPr>
          <a:xfrm>
            <a:off x="6949440" y="1426463"/>
            <a:ext cx="4739335" cy="329184"/>
          </a:xfrm>
          <a:prstGeom prst="rect">
            <a:avLst/>
          </a:prstGeom>
          <a:noFill/>
        </p:spPr>
        <p:txBody>
          <a:bodyPr wrap="none" lIns="0" tIns="0" rIns="0" bIns="0" anchor="ctr">
            <a:spAutoFit/>
          </a:bodyPr>
          <a:lstStyle/>
          <a:p>
            <a:pPr algn="l"/>
            <a:r>
              <a:rPr sz="1500" b="1">
                <a:solidFill>
                  <a:srgbClr val="5A636E"/>
                </a:solidFill>
                <a:latin typeface="Amazon Ember"/>
              </a:rPr>
              <a:t>WHAT EACH PART DOES</a:t>
            </a:r>
          </a:p>
        </p:txBody>
      </p:sp>
      <p:sp>
        <p:nvSpPr>
          <p:cNvPr id="31" name="Oval 30"/>
          <p:cNvSpPr/>
          <p:nvPr/>
        </p:nvSpPr>
        <p:spPr>
          <a:xfrm>
            <a:off x="6894576" y="1801367"/>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1</a:t>
            </a:r>
          </a:p>
        </p:txBody>
      </p:sp>
      <p:sp>
        <p:nvSpPr>
          <p:cNvPr id="32" name="TextBox 31"/>
          <p:cNvSpPr txBox="1"/>
          <p:nvPr/>
        </p:nvSpPr>
        <p:spPr>
          <a:xfrm>
            <a:off x="7370064" y="1828800"/>
            <a:ext cx="4318711" cy="1207008"/>
          </a:xfrm>
          <a:prstGeom prst="rect">
            <a:avLst/>
          </a:prstGeom>
          <a:noFill/>
        </p:spPr>
        <p:txBody>
          <a:bodyPr wrap="square" lIns="0" tIns="0" bIns="0">
            <a:spAutoFit/>
          </a:bodyPr>
          <a:lstStyle/>
          <a:p>
            <a:r>
              <a:rPr sz="1700" b="1">
                <a:solidFill>
                  <a:srgbClr val="8F0072"/>
                </a:solidFill>
                <a:latin typeface="Menlo"/>
              </a:rPr>
              <a:t>Resources</a:t>
            </a:r>
          </a:p>
          <a:p>
            <a:pPr>
              <a:spcBef>
                <a:spcPts val="200"/>
              </a:spcBef>
            </a:pPr>
            <a:r>
              <a:rPr sz="1600">
                <a:solidFill>
                  <a:srgbClr val="333B45"/>
                </a:solidFill>
                <a:latin typeface="Amazon Ember"/>
              </a:rPr>
              <a:t>every template declares resources, not steps</a:t>
            </a:r>
          </a:p>
        </p:txBody>
      </p:sp>
      <p:sp>
        <p:nvSpPr>
          <p:cNvPr id="33" name="Oval 32"/>
          <p:cNvSpPr/>
          <p:nvPr/>
        </p:nvSpPr>
        <p:spPr>
          <a:xfrm>
            <a:off x="6894576" y="3246120"/>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2</a:t>
            </a:r>
          </a:p>
        </p:txBody>
      </p:sp>
      <p:sp>
        <p:nvSpPr>
          <p:cNvPr id="34" name="TextBox 33"/>
          <p:cNvSpPr txBox="1"/>
          <p:nvPr/>
        </p:nvSpPr>
        <p:spPr>
          <a:xfrm>
            <a:off x="7370064" y="3273552"/>
            <a:ext cx="4318711" cy="1207008"/>
          </a:xfrm>
          <a:prstGeom prst="rect">
            <a:avLst/>
          </a:prstGeom>
          <a:noFill/>
        </p:spPr>
        <p:txBody>
          <a:bodyPr wrap="square" lIns="0" tIns="0" bIns="0">
            <a:spAutoFit/>
          </a:bodyPr>
          <a:lstStyle/>
          <a:p>
            <a:r>
              <a:rPr sz="1700" b="1">
                <a:solidFill>
                  <a:srgbClr val="8F0072"/>
                </a:solidFill>
                <a:latin typeface="Menlo"/>
              </a:rPr>
              <a:t>Type</a:t>
            </a:r>
          </a:p>
          <a:p>
            <a:pPr>
              <a:spcBef>
                <a:spcPts val="200"/>
              </a:spcBef>
            </a:pPr>
            <a:r>
              <a:rPr sz="1600">
                <a:solidFill>
                  <a:srgbClr val="333B45"/>
                </a:solidFill>
                <a:latin typeface="Amazon Ember"/>
              </a:rPr>
              <a:t>the resource type fixes which properties are legal</a:t>
            </a:r>
          </a:p>
        </p:txBody>
      </p:sp>
      <p:sp>
        <p:nvSpPr>
          <p:cNvPr id="35" name="Oval 34"/>
          <p:cNvSpPr/>
          <p:nvPr/>
        </p:nvSpPr>
        <p:spPr>
          <a:xfrm>
            <a:off x="6894576" y="4690872"/>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3</a:t>
            </a:r>
          </a:p>
        </p:txBody>
      </p:sp>
      <p:sp>
        <p:nvSpPr>
          <p:cNvPr id="36" name="TextBox 35"/>
          <p:cNvSpPr txBox="1"/>
          <p:nvPr/>
        </p:nvSpPr>
        <p:spPr>
          <a:xfrm>
            <a:off x="7370064" y="4718304"/>
            <a:ext cx="4318711" cy="1207008"/>
          </a:xfrm>
          <a:prstGeom prst="rect">
            <a:avLst/>
          </a:prstGeom>
          <a:noFill/>
        </p:spPr>
        <p:txBody>
          <a:bodyPr wrap="square" lIns="0" tIns="0" bIns="0">
            <a:spAutoFit/>
          </a:bodyPr>
          <a:lstStyle/>
          <a:p>
            <a:r>
              <a:rPr sz="1700" b="1">
                <a:solidFill>
                  <a:srgbClr val="8F0072"/>
                </a:solidFill>
                <a:latin typeface="Menlo"/>
              </a:rPr>
              <a:t>VisibilityTimeout</a:t>
            </a:r>
          </a:p>
          <a:p>
            <a:pPr>
              <a:spcBef>
                <a:spcPts val="200"/>
              </a:spcBef>
            </a:pPr>
            <a:r>
              <a:rPr sz="1600">
                <a:solidFill>
                  <a:srgbClr val="333B45"/>
                </a:solidFill>
                <a:latin typeface="Amazon Ember"/>
              </a:rPr>
              <a:t>a property of the queue, set declaratively</a:t>
            </a:r>
          </a:p>
        </p:txBody>
      </p:sp>
      <p:sp>
        <p:nvSpPr>
          <p:cNvPr id="37" name="TextBox 36">
            <a:hlinkClick r:id="rId3"/>
          </p:cNvPr>
          <p:cNvSpPr txBox="1"/>
          <p:nvPr/>
        </p:nvSpPr>
        <p:spPr>
          <a:xfrm>
            <a:off x="612648" y="5943600"/>
            <a:ext cx="5925312" cy="274320"/>
          </a:xfrm>
          <a:prstGeom prst="rect">
            <a:avLst/>
          </a:prstGeom>
          <a:noFill/>
        </p:spPr>
        <p:txBody>
          <a:bodyPr wrap="none" lIns="0" tIns="0" rIns="0" bIns="0">
            <a:spAutoFit/>
          </a:bodyPr>
          <a:lstStyle/>
          <a:p>
            <a:pPr algn="l"/>
            <a:r>
              <a:rPr sz="1100" b="1">
                <a:solidFill>
                  <a:srgbClr val="5A636E"/>
                </a:solidFill>
                <a:latin typeface="Amazon Ember"/>
              </a:rPr>
              <a:t>SOURCE  </a:t>
            </a:r>
            <a:r>
              <a:rPr sz="1200" u="sng">
                <a:solidFill>
                  <a:srgbClr val="0563C1"/>
                </a:solidFill>
                <a:latin typeface="Menlo"/>
                <a:hlinkClick r:id="rId3"/>
              </a:rPr>
              <a:t>docs.aws.amazon.com - CloudFormation template sections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Declaring the same queue in a CDK stack</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737360"/>
            <a:ext cx="6035040" cy="4189171"/>
          </a:xfrm>
          <a:prstGeom prst="roundRect">
            <a:avLst>
              <a:gd name="adj" fmla="val 3500"/>
            </a:avLst>
          </a:prstGeom>
          <a:solidFill>
            <a:srgbClr val="13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93391"/>
            <a:ext cx="274320" cy="282854"/>
          </a:xfrm>
          <a:prstGeom prst="rect">
            <a:avLst/>
          </a:prstGeom>
          <a:noFill/>
        </p:spPr>
        <p:txBody>
          <a:bodyPr wrap="none" lIns="0" tIns="0" rIns="0" bIns="0" anchor="ctr">
            <a:spAutoFit/>
          </a:bodyPr>
          <a:lstStyle/>
          <a:p>
            <a:pPr algn="r"/>
            <a:r>
              <a:rPr sz="1280" b="0">
                <a:solidFill>
                  <a:srgbClr val="72747E"/>
                </a:solidFill>
                <a:latin typeface="Menlo"/>
              </a:rPr>
              <a:t>1</a:t>
            </a:r>
          </a:p>
        </p:txBody>
      </p:sp>
      <p:sp>
        <p:nvSpPr>
          <p:cNvPr id="6" name="TextBox 5"/>
          <p:cNvSpPr txBox="1"/>
          <p:nvPr/>
        </p:nvSpPr>
        <p:spPr>
          <a:xfrm>
            <a:off x="1161288" y="1993391"/>
            <a:ext cx="5120639" cy="282854"/>
          </a:xfrm>
          <a:prstGeom prst="rect">
            <a:avLst/>
          </a:prstGeom>
          <a:noFill/>
        </p:spPr>
        <p:txBody>
          <a:bodyPr wrap="none" lIns="0" tIns="0" rIns="0" bIns="0" anchor="ctr">
            <a:spAutoFit/>
          </a:bodyPr>
          <a:lstStyle/>
          <a:p>
            <a:pPr algn="l"/>
            <a:r>
              <a:rPr sz="1600" b="0">
                <a:solidFill>
                  <a:srgbClr val="8C8C94"/>
                </a:solidFill>
                <a:latin typeface="Menlo"/>
              </a:rPr>
              <a:t>// imports omitted</a:t>
            </a:r>
          </a:p>
        </p:txBody>
      </p:sp>
      <p:sp>
        <p:nvSpPr>
          <p:cNvPr id="7" name="TextBox 6"/>
          <p:cNvSpPr txBox="1"/>
          <p:nvPr/>
        </p:nvSpPr>
        <p:spPr>
          <a:xfrm>
            <a:off x="859536" y="2276246"/>
            <a:ext cx="274320" cy="282854"/>
          </a:xfrm>
          <a:prstGeom prst="rect">
            <a:avLst/>
          </a:prstGeom>
          <a:noFill/>
        </p:spPr>
        <p:txBody>
          <a:bodyPr wrap="none" lIns="0" tIns="0" rIns="0" bIns="0" anchor="ctr">
            <a:spAutoFit/>
          </a:bodyPr>
          <a:lstStyle/>
          <a:p>
            <a:pPr algn="r"/>
            <a:r>
              <a:rPr sz="1280" b="0">
                <a:solidFill>
                  <a:srgbClr val="72747E"/>
                </a:solidFill>
                <a:latin typeface="Menlo"/>
              </a:rPr>
              <a:t>2</a:t>
            </a:r>
          </a:p>
        </p:txBody>
      </p:sp>
      <p:sp>
        <p:nvSpPr>
          <p:cNvPr id="8" name="TextBox 7"/>
          <p:cNvSpPr txBox="1"/>
          <p:nvPr/>
        </p:nvSpPr>
        <p:spPr>
          <a:xfrm>
            <a:off x="859536" y="2559100"/>
            <a:ext cx="274320" cy="282854"/>
          </a:xfrm>
          <a:prstGeom prst="rect">
            <a:avLst/>
          </a:prstGeom>
          <a:noFill/>
        </p:spPr>
        <p:txBody>
          <a:bodyPr wrap="none" lIns="0" tIns="0" rIns="0" bIns="0" anchor="ctr">
            <a:spAutoFit/>
          </a:bodyPr>
          <a:lstStyle/>
          <a:p>
            <a:pPr algn="r"/>
            <a:r>
              <a:rPr sz="1280" b="0">
                <a:solidFill>
                  <a:srgbClr val="72747E"/>
                </a:solidFill>
                <a:latin typeface="Menlo"/>
              </a:rPr>
              <a:t>3</a:t>
            </a:r>
          </a:p>
        </p:txBody>
      </p:sp>
      <p:sp>
        <p:nvSpPr>
          <p:cNvPr id="9" name="TextBox 8"/>
          <p:cNvSpPr txBox="1"/>
          <p:nvPr/>
        </p:nvSpPr>
        <p:spPr>
          <a:xfrm>
            <a:off x="1161288" y="2559100"/>
            <a:ext cx="5120639" cy="282854"/>
          </a:xfrm>
          <a:prstGeom prst="rect">
            <a:avLst/>
          </a:prstGeom>
          <a:noFill/>
        </p:spPr>
        <p:txBody>
          <a:bodyPr wrap="none" lIns="0" tIns="0" rIns="0" bIns="0" anchor="ctr">
            <a:spAutoFit/>
          </a:bodyPr>
          <a:lstStyle/>
          <a:p>
            <a:pPr algn="l"/>
            <a:r>
              <a:rPr sz="1600" b="0">
                <a:solidFill>
                  <a:srgbClr val="FFED4D"/>
                </a:solidFill>
                <a:latin typeface="Menlo"/>
              </a:rPr>
              <a:t>export</a:t>
            </a:r>
            <a:r>
              <a:rPr sz="1600" b="0">
                <a:solidFill>
                  <a:srgbClr val="F6F6F9"/>
                </a:solidFill>
                <a:latin typeface="Menlo"/>
              </a:rPr>
              <a:t> </a:t>
            </a:r>
            <a:r>
              <a:rPr sz="1600" b="0">
                <a:solidFill>
                  <a:srgbClr val="FFED4D"/>
                </a:solidFill>
                <a:latin typeface="Menlo"/>
              </a:rPr>
              <a:t>class</a:t>
            </a:r>
            <a:r>
              <a:rPr sz="1600" b="0">
                <a:solidFill>
                  <a:srgbClr val="F6F6F9"/>
                </a:solidFill>
                <a:latin typeface="Menlo"/>
              </a:rPr>
              <a:t> </a:t>
            </a:r>
            <a:r>
              <a:rPr sz="1600" b="0">
                <a:solidFill>
                  <a:srgbClr val="3DEFFF"/>
                </a:solidFill>
                <a:latin typeface="Menlo"/>
              </a:rPr>
              <a:t>OrdersStack</a:t>
            </a:r>
            <a:r>
              <a:rPr sz="1600" b="0">
                <a:solidFill>
                  <a:srgbClr val="F6F6F9"/>
                </a:solidFill>
                <a:latin typeface="Menlo"/>
              </a:rPr>
              <a:t> </a:t>
            </a:r>
            <a:r>
              <a:rPr sz="1600" b="0">
                <a:solidFill>
                  <a:srgbClr val="FFED4D"/>
                </a:solidFill>
                <a:latin typeface="Menlo"/>
              </a:rPr>
              <a:t>extends</a:t>
            </a:r>
            <a:r>
              <a:rPr sz="1600" b="0">
                <a:solidFill>
                  <a:srgbClr val="F6F6F9"/>
                </a:solidFill>
                <a:latin typeface="Menlo"/>
              </a:rPr>
              <a:t> </a:t>
            </a:r>
            <a:r>
              <a:rPr sz="1600" b="0">
                <a:solidFill>
                  <a:srgbClr val="3DEFFF"/>
                </a:solidFill>
                <a:latin typeface="Menlo"/>
              </a:rPr>
              <a:t>Stack</a:t>
            </a:r>
            <a:r>
              <a:rPr sz="1600" b="0">
                <a:solidFill>
                  <a:srgbClr val="F6F6F9"/>
                </a:solidFill>
                <a:latin typeface="Menlo"/>
              </a:rPr>
              <a:t> </a:t>
            </a:r>
            <a:r>
              <a:rPr sz="1600" b="0">
                <a:solidFill>
                  <a:srgbClr val="CCCCD1"/>
                </a:solidFill>
                <a:latin typeface="Menlo"/>
              </a:rPr>
              <a:t>{</a:t>
            </a:r>
          </a:p>
        </p:txBody>
      </p:sp>
      <p:sp>
        <p:nvSpPr>
          <p:cNvPr id="10" name="TextBox 9"/>
          <p:cNvSpPr txBox="1"/>
          <p:nvPr/>
        </p:nvSpPr>
        <p:spPr>
          <a:xfrm>
            <a:off x="859536" y="2841955"/>
            <a:ext cx="274320" cy="282854"/>
          </a:xfrm>
          <a:prstGeom prst="rect">
            <a:avLst/>
          </a:prstGeom>
          <a:noFill/>
        </p:spPr>
        <p:txBody>
          <a:bodyPr wrap="none" lIns="0" tIns="0" rIns="0" bIns="0" anchor="ctr">
            <a:spAutoFit/>
          </a:bodyPr>
          <a:lstStyle/>
          <a:p>
            <a:pPr algn="r"/>
            <a:r>
              <a:rPr sz="1280" b="0">
                <a:solidFill>
                  <a:srgbClr val="72747E"/>
                </a:solidFill>
                <a:latin typeface="Menlo"/>
              </a:rPr>
              <a:t>4</a:t>
            </a:r>
          </a:p>
        </p:txBody>
      </p:sp>
      <p:sp>
        <p:nvSpPr>
          <p:cNvPr id="11" name="TextBox 10"/>
          <p:cNvSpPr txBox="1"/>
          <p:nvPr/>
        </p:nvSpPr>
        <p:spPr>
          <a:xfrm>
            <a:off x="1161288" y="2841955"/>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FFED4D"/>
                </a:solidFill>
                <a:latin typeface="Menlo"/>
              </a:rPr>
              <a:t>constructor</a:t>
            </a:r>
            <a:r>
              <a:rPr sz="1600" b="0">
                <a:solidFill>
                  <a:srgbClr val="CCCCD1"/>
                </a:solidFill>
                <a:latin typeface="Menlo"/>
              </a:rPr>
              <a:t>(</a:t>
            </a:r>
          </a:p>
        </p:txBody>
      </p:sp>
      <p:sp>
        <p:nvSpPr>
          <p:cNvPr id="12" name="TextBox 11"/>
          <p:cNvSpPr txBox="1"/>
          <p:nvPr/>
        </p:nvSpPr>
        <p:spPr>
          <a:xfrm>
            <a:off x="859536" y="3124809"/>
            <a:ext cx="274320" cy="282854"/>
          </a:xfrm>
          <a:prstGeom prst="rect">
            <a:avLst/>
          </a:prstGeom>
          <a:noFill/>
        </p:spPr>
        <p:txBody>
          <a:bodyPr wrap="none" lIns="0" tIns="0" rIns="0" bIns="0" anchor="ctr">
            <a:spAutoFit/>
          </a:bodyPr>
          <a:lstStyle/>
          <a:p>
            <a:pPr algn="r"/>
            <a:r>
              <a:rPr sz="1280" b="0">
                <a:solidFill>
                  <a:srgbClr val="72747E"/>
                </a:solidFill>
                <a:latin typeface="Menlo"/>
              </a:rPr>
              <a:t>5</a:t>
            </a:r>
          </a:p>
        </p:txBody>
      </p:sp>
      <p:sp>
        <p:nvSpPr>
          <p:cNvPr id="13" name="TextBox 12"/>
          <p:cNvSpPr txBox="1"/>
          <p:nvPr/>
        </p:nvSpPr>
        <p:spPr>
          <a:xfrm>
            <a:off x="1161288" y="3124809"/>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scope</a:t>
            </a:r>
            <a:r>
              <a:rPr sz="1600" b="0">
                <a:solidFill>
                  <a:srgbClr val="CCCCD1"/>
                </a:solidFill>
                <a:latin typeface="Menlo"/>
              </a:rPr>
              <a:t>:</a:t>
            </a:r>
            <a:r>
              <a:rPr sz="1600" b="0">
                <a:solidFill>
                  <a:srgbClr val="F6F6F9"/>
                </a:solidFill>
                <a:latin typeface="Menlo"/>
              </a:rPr>
              <a:t> </a:t>
            </a:r>
            <a:r>
              <a:rPr sz="1600" b="0">
                <a:solidFill>
                  <a:srgbClr val="3DEFFF"/>
                </a:solidFill>
                <a:latin typeface="Menlo"/>
              </a:rPr>
              <a:t>Construct</a:t>
            </a:r>
            <a:r>
              <a:rPr sz="1600" b="0">
                <a:solidFill>
                  <a:srgbClr val="CCCCD1"/>
                </a:solidFill>
                <a:latin typeface="Menlo"/>
              </a:rPr>
              <a:t>,</a:t>
            </a:r>
          </a:p>
        </p:txBody>
      </p:sp>
      <p:sp>
        <p:nvSpPr>
          <p:cNvPr id="14" name="TextBox 13"/>
          <p:cNvSpPr txBox="1"/>
          <p:nvPr/>
        </p:nvSpPr>
        <p:spPr>
          <a:xfrm>
            <a:off x="859536" y="3407663"/>
            <a:ext cx="274320" cy="282854"/>
          </a:xfrm>
          <a:prstGeom prst="rect">
            <a:avLst/>
          </a:prstGeom>
          <a:noFill/>
        </p:spPr>
        <p:txBody>
          <a:bodyPr wrap="none" lIns="0" tIns="0" rIns="0" bIns="0" anchor="ctr">
            <a:spAutoFit/>
          </a:bodyPr>
          <a:lstStyle/>
          <a:p>
            <a:pPr algn="r"/>
            <a:r>
              <a:rPr sz="1280" b="0">
                <a:solidFill>
                  <a:srgbClr val="72747E"/>
                </a:solidFill>
                <a:latin typeface="Menlo"/>
              </a:rPr>
              <a:t>6</a:t>
            </a:r>
          </a:p>
        </p:txBody>
      </p:sp>
      <p:sp>
        <p:nvSpPr>
          <p:cNvPr id="15" name="TextBox 14"/>
          <p:cNvSpPr txBox="1"/>
          <p:nvPr/>
        </p:nvSpPr>
        <p:spPr>
          <a:xfrm>
            <a:off x="1161288" y="3407663"/>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id</a:t>
            </a:r>
            <a:r>
              <a:rPr sz="1600" b="0">
                <a:solidFill>
                  <a:srgbClr val="CCCCD1"/>
                </a:solidFill>
                <a:latin typeface="Menlo"/>
              </a:rPr>
              <a:t>:</a:t>
            </a:r>
            <a:r>
              <a:rPr sz="1600" b="0">
                <a:solidFill>
                  <a:srgbClr val="F6F6F9"/>
                </a:solidFill>
                <a:latin typeface="Menlo"/>
              </a:rPr>
              <a:t> string</a:t>
            </a:r>
            <a:r>
              <a:rPr sz="1600" b="0">
                <a:solidFill>
                  <a:srgbClr val="CCCCD1"/>
                </a:solidFill>
                <a:latin typeface="Menlo"/>
              </a:rPr>
              <a:t>,</a:t>
            </a:r>
          </a:p>
        </p:txBody>
      </p:sp>
      <p:sp>
        <p:nvSpPr>
          <p:cNvPr id="16" name="TextBox 15"/>
          <p:cNvSpPr txBox="1"/>
          <p:nvPr/>
        </p:nvSpPr>
        <p:spPr>
          <a:xfrm>
            <a:off x="859536" y="3690518"/>
            <a:ext cx="274320" cy="282854"/>
          </a:xfrm>
          <a:prstGeom prst="rect">
            <a:avLst/>
          </a:prstGeom>
          <a:noFill/>
        </p:spPr>
        <p:txBody>
          <a:bodyPr wrap="none" lIns="0" tIns="0" rIns="0" bIns="0" anchor="ctr">
            <a:spAutoFit/>
          </a:bodyPr>
          <a:lstStyle/>
          <a:p>
            <a:pPr algn="r"/>
            <a:r>
              <a:rPr sz="1280" b="0">
                <a:solidFill>
                  <a:srgbClr val="72747E"/>
                </a:solidFill>
                <a:latin typeface="Menlo"/>
              </a:rPr>
              <a:t>7</a:t>
            </a:r>
          </a:p>
        </p:txBody>
      </p:sp>
      <p:sp>
        <p:nvSpPr>
          <p:cNvPr id="17" name="TextBox 16"/>
          <p:cNvSpPr txBox="1"/>
          <p:nvPr/>
        </p:nvSpPr>
        <p:spPr>
          <a:xfrm>
            <a:off x="1161288" y="3690518"/>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CCCCD1"/>
                </a:solidFill>
                <a:latin typeface="Menlo"/>
              </a:rPr>
              <a:t>)</a:t>
            </a:r>
            <a:r>
              <a:rPr sz="1600" b="0">
                <a:solidFill>
                  <a:srgbClr val="F6F6F9"/>
                </a:solidFill>
                <a:latin typeface="Menlo"/>
              </a:rPr>
              <a:t> </a:t>
            </a:r>
            <a:r>
              <a:rPr sz="1600" b="0">
                <a:solidFill>
                  <a:srgbClr val="CCCCD1"/>
                </a:solidFill>
                <a:latin typeface="Menlo"/>
              </a:rPr>
              <a:t>{</a:t>
            </a:r>
          </a:p>
        </p:txBody>
      </p:sp>
      <p:sp>
        <p:nvSpPr>
          <p:cNvPr id="18" name="TextBox 17"/>
          <p:cNvSpPr txBox="1"/>
          <p:nvPr/>
        </p:nvSpPr>
        <p:spPr>
          <a:xfrm>
            <a:off x="859536" y="3973372"/>
            <a:ext cx="274320" cy="282854"/>
          </a:xfrm>
          <a:prstGeom prst="rect">
            <a:avLst/>
          </a:prstGeom>
          <a:noFill/>
        </p:spPr>
        <p:txBody>
          <a:bodyPr wrap="none" lIns="0" tIns="0" rIns="0" bIns="0" anchor="ctr">
            <a:spAutoFit/>
          </a:bodyPr>
          <a:lstStyle/>
          <a:p>
            <a:pPr algn="r"/>
            <a:r>
              <a:rPr sz="1280" b="0">
                <a:solidFill>
                  <a:srgbClr val="72747E"/>
                </a:solidFill>
                <a:latin typeface="Menlo"/>
              </a:rPr>
              <a:t>8</a:t>
            </a:r>
          </a:p>
        </p:txBody>
      </p:sp>
      <p:sp>
        <p:nvSpPr>
          <p:cNvPr id="19" name="TextBox 18"/>
          <p:cNvSpPr txBox="1"/>
          <p:nvPr/>
        </p:nvSpPr>
        <p:spPr>
          <a:xfrm>
            <a:off x="1161288" y="3973372"/>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FFED4D"/>
                </a:solidFill>
                <a:latin typeface="Menlo"/>
              </a:rPr>
              <a:t>super</a:t>
            </a:r>
            <a:r>
              <a:rPr sz="1600" b="0">
                <a:solidFill>
                  <a:srgbClr val="CCCCD1"/>
                </a:solidFill>
                <a:latin typeface="Menlo"/>
              </a:rPr>
              <a:t>(</a:t>
            </a:r>
            <a:r>
              <a:rPr sz="1600" b="0">
                <a:solidFill>
                  <a:srgbClr val="F6F6F9"/>
                </a:solidFill>
                <a:latin typeface="Menlo"/>
              </a:rPr>
              <a:t>scope</a:t>
            </a:r>
            <a:r>
              <a:rPr sz="1600" b="0">
                <a:solidFill>
                  <a:srgbClr val="CCCCD1"/>
                </a:solidFill>
                <a:latin typeface="Menlo"/>
              </a:rPr>
              <a:t>,</a:t>
            </a:r>
            <a:r>
              <a:rPr sz="1600" b="0">
                <a:solidFill>
                  <a:srgbClr val="F6F6F9"/>
                </a:solidFill>
                <a:latin typeface="Menlo"/>
              </a:rPr>
              <a:t> id</a:t>
            </a:r>
            <a:r>
              <a:rPr sz="1600" b="0">
                <a:solidFill>
                  <a:srgbClr val="CCCCD1"/>
                </a:solidFill>
                <a:latin typeface="Menlo"/>
              </a:rPr>
              <a:t>);</a:t>
            </a:r>
          </a:p>
        </p:txBody>
      </p:sp>
      <p:sp>
        <p:nvSpPr>
          <p:cNvPr id="20" name="TextBox 19"/>
          <p:cNvSpPr txBox="1"/>
          <p:nvPr/>
        </p:nvSpPr>
        <p:spPr>
          <a:xfrm>
            <a:off x="859536" y="4256227"/>
            <a:ext cx="274320" cy="282854"/>
          </a:xfrm>
          <a:prstGeom prst="rect">
            <a:avLst/>
          </a:prstGeom>
          <a:noFill/>
        </p:spPr>
        <p:txBody>
          <a:bodyPr wrap="none" lIns="0" tIns="0" rIns="0" bIns="0" anchor="ctr">
            <a:spAutoFit/>
          </a:bodyPr>
          <a:lstStyle/>
          <a:p>
            <a:pPr algn="r"/>
            <a:r>
              <a:rPr sz="1280" b="0">
                <a:solidFill>
                  <a:srgbClr val="72747E"/>
                </a:solidFill>
                <a:latin typeface="Menlo"/>
              </a:rPr>
              <a:t>9</a:t>
            </a:r>
          </a:p>
        </p:txBody>
      </p:sp>
      <p:sp>
        <p:nvSpPr>
          <p:cNvPr id="21" name="TextBox 20"/>
          <p:cNvSpPr txBox="1"/>
          <p:nvPr/>
        </p:nvSpPr>
        <p:spPr>
          <a:xfrm>
            <a:off x="1161288" y="4256227"/>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FFED4D"/>
                </a:solidFill>
                <a:latin typeface="Menlo"/>
              </a:rPr>
              <a:t>new</a:t>
            </a:r>
            <a:r>
              <a:rPr sz="1600" b="0">
                <a:solidFill>
                  <a:srgbClr val="F6F6F9"/>
                </a:solidFill>
                <a:latin typeface="Menlo"/>
              </a:rPr>
              <a:t> sqs</a:t>
            </a:r>
            <a:r>
              <a:rPr sz="1600" b="0">
                <a:solidFill>
                  <a:srgbClr val="CCCCD1"/>
                </a:solidFill>
                <a:latin typeface="Menlo"/>
              </a:rPr>
              <a:t>.</a:t>
            </a:r>
            <a:r>
              <a:rPr sz="1600" b="0">
                <a:solidFill>
                  <a:srgbClr val="75CFFF"/>
                </a:solidFill>
                <a:latin typeface="Menlo"/>
              </a:rPr>
              <a:t>Queue</a:t>
            </a:r>
            <a:r>
              <a:rPr sz="1600" b="0">
                <a:solidFill>
                  <a:srgbClr val="CCCCD1"/>
                </a:solidFill>
                <a:latin typeface="Menlo"/>
              </a:rPr>
              <a:t>(</a:t>
            </a:r>
            <a:r>
              <a:rPr sz="1600" b="0">
                <a:solidFill>
                  <a:srgbClr val="FFED4D"/>
                </a:solidFill>
                <a:latin typeface="Menlo"/>
              </a:rPr>
              <a:t>this</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'OrdersQueue'</a:t>
            </a:r>
            <a:r>
              <a:rPr sz="1600" b="0">
                <a:solidFill>
                  <a:srgbClr val="CCCCD1"/>
                </a:solidFill>
                <a:latin typeface="Menlo"/>
              </a:rPr>
              <a:t>,</a:t>
            </a:r>
            <a:r>
              <a:rPr sz="1600" b="0">
                <a:solidFill>
                  <a:srgbClr val="F6F6F9"/>
                </a:solidFill>
                <a:latin typeface="Menlo"/>
              </a:rPr>
              <a:t> </a:t>
            </a:r>
            <a:r>
              <a:rPr sz="1600" b="0">
                <a:solidFill>
                  <a:srgbClr val="CCCCD1"/>
                </a:solidFill>
                <a:latin typeface="Menlo"/>
              </a:rPr>
              <a:t>{</a:t>
            </a:r>
          </a:p>
        </p:txBody>
      </p:sp>
      <p:sp>
        <p:nvSpPr>
          <p:cNvPr id="22" name="TextBox 21"/>
          <p:cNvSpPr txBox="1"/>
          <p:nvPr/>
        </p:nvSpPr>
        <p:spPr>
          <a:xfrm>
            <a:off x="859536" y="4539081"/>
            <a:ext cx="274320" cy="282854"/>
          </a:xfrm>
          <a:prstGeom prst="rect">
            <a:avLst/>
          </a:prstGeom>
          <a:noFill/>
        </p:spPr>
        <p:txBody>
          <a:bodyPr wrap="none" lIns="0" tIns="0" rIns="0" bIns="0" anchor="ctr">
            <a:spAutoFit/>
          </a:bodyPr>
          <a:lstStyle/>
          <a:p>
            <a:pPr algn="r"/>
            <a:r>
              <a:rPr sz="1280" b="0">
                <a:solidFill>
                  <a:srgbClr val="72747E"/>
                </a:solidFill>
                <a:latin typeface="Menlo"/>
              </a:rPr>
              <a:t>10</a:t>
            </a:r>
          </a:p>
        </p:txBody>
      </p:sp>
      <p:sp>
        <p:nvSpPr>
          <p:cNvPr id="23" name="TextBox 22"/>
          <p:cNvSpPr txBox="1"/>
          <p:nvPr/>
        </p:nvSpPr>
        <p:spPr>
          <a:xfrm>
            <a:off x="1161288" y="4539081"/>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queueName</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'orders'</a:t>
            </a:r>
            <a:r>
              <a:rPr sz="1600" b="0">
                <a:solidFill>
                  <a:srgbClr val="CCCCD1"/>
                </a:solidFill>
                <a:latin typeface="Menlo"/>
              </a:rPr>
              <a:t>,</a:t>
            </a:r>
          </a:p>
        </p:txBody>
      </p:sp>
      <p:sp>
        <p:nvSpPr>
          <p:cNvPr id="24" name="TextBox 23"/>
          <p:cNvSpPr txBox="1"/>
          <p:nvPr/>
        </p:nvSpPr>
        <p:spPr>
          <a:xfrm>
            <a:off x="859536" y="4821935"/>
            <a:ext cx="274320" cy="282854"/>
          </a:xfrm>
          <a:prstGeom prst="rect">
            <a:avLst/>
          </a:prstGeom>
          <a:noFill/>
        </p:spPr>
        <p:txBody>
          <a:bodyPr wrap="none" lIns="0" tIns="0" rIns="0" bIns="0" anchor="ctr">
            <a:spAutoFit/>
          </a:bodyPr>
          <a:lstStyle/>
          <a:p>
            <a:pPr algn="r"/>
            <a:r>
              <a:rPr sz="1280" b="0">
                <a:solidFill>
                  <a:srgbClr val="72747E"/>
                </a:solidFill>
                <a:latin typeface="Menlo"/>
              </a:rPr>
              <a:t>11</a:t>
            </a:r>
          </a:p>
        </p:txBody>
      </p:sp>
      <p:sp>
        <p:nvSpPr>
          <p:cNvPr id="25" name="TextBox 24"/>
          <p:cNvSpPr txBox="1"/>
          <p:nvPr/>
        </p:nvSpPr>
        <p:spPr>
          <a:xfrm>
            <a:off x="1161288" y="4821935"/>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CCCCD1"/>
                </a:solidFill>
                <a:latin typeface="Menlo"/>
              </a:rPr>
              <a:t>});</a:t>
            </a:r>
          </a:p>
        </p:txBody>
      </p:sp>
      <p:sp>
        <p:nvSpPr>
          <p:cNvPr id="26" name="TextBox 25"/>
          <p:cNvSpPr txBox="1"/>
          <p:nvPr/>
        </p:nvSpPr>
        <p:spPr>
          <a:xfrm>
            <a:off x="859536" y="5104790"/>
            <a:ext cx="274320" cy="282854"/>
          </a:xfrm>
          <a:prstGeom prst="rect">
            <a:avLst/>
          </a:prstGeom>
          <a:noFill/>
        </p:spPr>
        <p:txBody>
          <a:bodyPr wrap="none" lIns="0" tIns="0" rIns="0" bIns="0" anchor="ctr">
            <a:spAutoFit/>
          </a:bodyPr>
          <a:lstStyle/>
          <a:p>
            <a:pPr algn="r"/>
            <a:r>
              <a:rPr sz="1280" b="0">
                <a:solidFill>
                  <a:srgbClr val="72747E"/>
                </a:solidFill>
                <a:latin typeface="Menlo"/>
              </a:rPr>
              <a:t>12</a:t>
            </a:r>
          </a:p>
        </p:txBody>
      </p:sp>
      <p:sp>
        <p:nvSpPr>
          <p:cNvPr id="27" name="TextBox 26"/>
          <p:cNvSpPr txBox="1"/>
          <p:nvPr/>
        </p:nvSpPr>
        <p:spPr>
          <a:xfrm>
            <a:off x="1161288" y="5104790"/>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CCCCD1"/>
                </a:solidFill>
                <a:latin typeface="Menlo"/>
              </a:rPr>
              <a:t>}</a:t>
            </a:r>
          </a:p>
        </p:txBody>
      </p:sp>
      <p:sp>
        <p:nvSpPr>
          <p:cNvPr id="28" name="TextBox 27"/>
          <p:cNvSpPr txBox="1"/>
          <p:nvPr/>
        </p:nvSpPr>
        <p:spPr>
          <a:xfrm>
            <a:off x="859536" y="5387644"/>
            <a:ext cx="274320" cy="282854"/>
          </a:xfrm>
          <a:prstGeom prst="rect">
            <a:avLst/>
          </a:prstGeom>
          <a:noFill/>
        </p:spPr>
        <p:txBody>
          <a:bodyPr wrap="none" lIns="0" tIns="0" rIns="0" bIns="0" anchor="ctr">
            <a:spAutoFit/>
          </a:bodyPr>
          <a:lstStyle/>
          <a:p>
            <a:pPr algn="r"/>
            <a:r>
              <a:rPr sz="1280" b="0">
                <a:solidFill>
                  <a:srgbClr val="72747E"/>
                </a:solidFill>
                <a:latin typeface="Menlo"/>
              </a:rPr>
              <a:t>13</a:t>
            </a:r>
          </a:p>
        </p:txBody>
      </p:sp>
      <p:sp>
        <p:nvSpPr>
          <p:cNvPr id="29" name="TextBox 28"/>
          <p:cNvSpPr txBox="1"/>
          <p:nvPr/>
        </p:nvSpPr>
        <p:spPr>
          <a:xfrm>
            <a:off x="1161288" y="5387644"/>
            <a:ext cx="5120639" cy="282854"/>
          </a:xfrm>
          <a:prstGeom prst="rect">
            <a:avLst/>
          </a:prstGeom>
          <a:noFill/>
        </p:spPr>
        <p:txBody>
          <a:bodyPr wrap="none" lIns="0" tIns="0" rIns="0" bIns="0" anchor="ctr">
            <a:spAutoFit/>
          </a:bodyPr>
          <a:lstStyle/>
          <a:p>
            <a:pPr algn="l"/>
            <a:r>
              <a:rPr sz="1600" b="0">
                <a:solidFill>
                  <a:srgbClr val="CCCCD1"/>
                </a:solidFill>
                <a:latin typeface="Menlo"/>
              </a:rPr>
              <a:t>}</a:t>
            </a:r>
          </a:p>
        </p:txBody>
      </p:sp>
      <p:sp>
        <p:nvSpPr>
          <p:cNvPr id="30" name="Oval 29"/>
          <p:cNvSpPr/>
          <p:nvPr/>
        </p:nvSpPr>
        <p:spPr>
          <a:xfrm>
            <a:off x="521207" y="2545079"/>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1</a:t>
            </a:r>
          </a:p>
        </p:txBody>
      </p:sp>
      <p:sp>
        <p:nvSpPr>
          <p:cNvPr id="31" name="Oval 30"/>
          <p:cNvSpPr/>
          <p:nvPr/>
        </p:nvSpPr>
        <p:spPr>
          <a:xfrm>
            <a:off x="521207" y="4242205"/>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2</a:t>
            </a:r>
          </a:p>
        </p:txBody>
      </p:sp>
      <p:sp>
        <p:nvSpPr>
          <p:cNvPr id="32" name="Oval 31"/>
          <p:cNvSpPr/>
          <p:nvPr/>
        </p:nvSpPr>
        <p:spPr>
          <a:xfrm>
            <a:off x="521207" y="4525060"/>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3</a:t>
            </a:r>
          </a:p>
        </p:txBody>
      </p:sp>
      <p:sp>
        <p:nvSpPr>
          <p:cNvPr id="33" name="TextBox 32"/>
          <p:cNvSpPr txBox="1"/>
          <p:nvPr/>
        </p:nvSpPr>
        <p:spPr>
          <a:xfrm>
            <a:off x="6949440" y="1426463"/>
            <a:ext cx="4739335" cy="329184"/>
          </a:xfrm>
          <a:prstGeom prst="rect">
            <a:avLst/>
          </a:prstGeom>
          <a:noFill/>
        </p:spPr>
        <p:txBody>
          <a:bodyPr wrap="none" lIns="0" tIns="0" rIns="0" bIns="0" anchor="ctr">
            <a:spAutoFit/>
          </a:bodyPr>
          <a:lstStyle/>
          <a:p>
            <a:pPr algn="l"/>
            <a:r>
              <a:rPr sz="1500" b="1">
                <a:solidFill>
                  <a:srgbClr val="5A636E"/>
                </a:solidFill>
                <a:latin typeface="Amazon Ember"/>
              </a:rPr>
              <a:t>WHAT EACH PART DOES</a:t>
            </a:r>
          </a:p>
        </p:txBody>
      </p:sp>
      <p:sp>
        <p:nvSpPr>
          <p:cNvPr id="34" name="Oval 33"/>
          <p:cNvSpPr/>
          <p:nvPr/>
        </p:nvSpPr>
        <p:spPr>
          <a:xfrm>
            <a:off x="6894576" y="1801367"/>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1</a:t>
            </a:r>
          </a:p>
        </p:txBody>
      </p:sp>
      <p:sp>
        <p:nvSpPr>
          <p:cNvPr id="35" name="TextBox 34"/>
          <p:cNvSpPr txBox="1"/>
          <p:nvPr/>
        </p:nvSpPr>
        <p:spPr>
          <a:xfrm>
            <a:off x="7370064" y="1828800"/>
            <a:ext cx="4318711" cy="1207008"/>
          </a:xfrm>
          <a:prstGeom prst="rect">
            <a:avLst/>
          </a:prstGeom>
          <a:noFill/>
        </p:spPr>
        <p:txBody>
          <a:bodyPr wrap="square" lIns="0" tIns="0" bIns="0">
            <a:spAutoFit/>
          </a:bodyPr>
          <a:lstStyle/>
          <a:p>
            <a:r>
              <a:rPr sz="1700" b="1">
                <a:solidFill>
                  <a:srgbClr val="8F0072"/>
                </a:solidFill>
                <a:latin typeface="Menlo"/>
              </a:rPr>
              <a:t>extends Stack</a:t>
            </a:r>
          </a:p>
          <a:p>
            <a:pPr>
              <a:spcBef>
                <a:spcPts val="200"/>
              </a:spcBef>
            </a:pPr>
            <a:r>
              <a:rPr sz="1600">
                <a:solidFill>
                  <a:srgbClr val="333B45"/>
                </a:solidFill>
                <a:latin typeface="Amazon Ember"/>
              </a:rPr>
              <a:t>a stack is a class you subclass</a:t>
            </a:r>
          </a:p>
        </p:txBody>
      </p:sp>
      <p:sp>
        <p:nvSpPr>
          <p:cNvPr id="36" name="Oval 35"/>
          <p:cNvSpPr/>
          <p:nvPr/>
        </p:nvSpPr>
        <p:spPr>
          <a:xfrm>
            <a:off x="6894576" y="3246120"/>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2</a:t>
            </a:r>
          </a:p>
        </p:txBody>
      </p:sp>
      <p:sp>
        <p:nvSpPr>
          <p:cNvPr id="37" name="TextBox 36"/>
          <p:cNvSpPr txBox="1"/>
          <p:nvPr/>
        </p:nvSpPr>
        <p:spPr>
          <a:xfrm>
            <a:off x="7370064" y="3273552"/>
            <a:ext cx="4318711" cy="1207008"/>
          </a:xfrm>
          <a:prstGeom prst="rect">
            <a:avLst/>
          </a:prstGeom>
          <a:noFill/>
        </p:spPr>
        <p:txBody>
          <a:bodyPr wrap="square" lIns="0" tIns="0" bIns="0">
            <a:spAutoFit/>
          </a:bodyPr>
          <a:lstStyle/>
          <a:p>
            <a:r>
              <a:rPr sz="1700" b="1">
                <a:solidFill>
                  <a:srgbClr val="8F0072"/>
                </a:solidFill>
                <a:latin typeface="Menlo"/>
              </a:rPr>
              <a:t>new sqs.Queue</a:t>
            </a:r>
          </a:p>
          <a:p>
            <a:pPr>
              <a:spcBef>
                <a:spcPts val="200"/>
              </a:spcBef>
            </a:pPr>
            <a:r>
              <a:rPr sz="1600">
                <a:solidFill>
                  <a:srgbClr val="333B45"/>
                </a:solidFill>
                <a:latin typeface="Amazon Ember"/>
              </a:rPr>
              <a:t>a construct, created in code rather than declared</a:t>
            </a:r>
          </a:p>
        </p:txBody>
      </p:sp>
      <p:sp>
        <p:nvSpPr>
          <p:cNvPr id="38" name="Oval 37"/>
          <p:cNvSpPr/>
          <p:nvPr/>
        </p:nvSpPr>
        <p:spPr>
          <a:xfrm>
            <a:off x="6894576" y="4690872"/>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3</a:t>
            </a:r>
          </a:p>
        </p:txBody>
      </p:sp>
      <p:sp>
        <p:nvSpPr>
          <p:cNvPr id="39" name="TextBox 38"/>
          <p:cNvSpPr txBox="1"/>
          <p:nvPr/>
        </p:nvSpPr>
        <p:spPr>
          <a:xfrm>
            <a:off x="7370064" y="4718304"/>
            <a:ext cx="4318711" cy="1207008"/>
          </a:xfrm>
          <a:prstGeom prst="rect">
            <a:avLst/>
          </a:prstGeom>
          <a:noFill/>
        </p:spPr>
        <p:txBody>
          <a:bodyPr wrap="square" lIns="0" tIns="0" bIns="0">
            <a:spAutoFit/>
          </a:bodyPr>
          <a:lstStyle/>
          <a:p>
            <a:r>
              <a:rPr sz="1700" b="1">
                <a:solidFill>
                  <a:srgbClr val="8F0072"/>
                </a:solidFill>
                <a:latin typeface="Menlo"/>
              </a:rPr>
              <a:t>queueName</a:t>
            </a:r>
          </a:p>
          <a:p>
            <a:pPr>
              <a:spcBef>
                <a:spcPts val="200"/>
              </a:spcBef>
            </a:pPr>
            <a:r>
              <a:rPr sz="1600">
                <a:solidFill>
                  <a:srgbClr val="333B45"/>
                </a:solidFill>
                <a:latin typeface="Amazon Ember"/>
              </a:rPr>
              <a:t>the same property as the template, typed</a:t>
            </a:r>
          </a:p>
        </p:txBody>
      </p:sp>
      <p:sp>
        <p:nvSpPr>
          <p:cNvPr id="40" name="TextBox 39">
            <a:hlinkClick r:id="rId3"/>
          </p:cNvPr>
          <p:cNvSpPr txBox="1"/>
          <p:nvPr/>
        </p:nvSpPr>
        <p:spPr>
          <a:xfrm>
            <a:off x="612648" y="5943600"/>
            <a:ext cx="5925312" cy="274320"/>
          </a:xfrm>
          <a:prstGeom prst="rect">
            <a:avLst/>
          </a:prstGeom>
          <a:noFill/>
        </p:spPr>
        <p:txBody>
          <a:bodyPr wrap="none" lIns="0" tIns="0" rIns="0" bIns="0">
            <a:spAutoFit/>
          </a:bodyPr>
          <a:lstStyle/>
          <a:p>
            <a:pPr algn="l"/>
            <a:r>
              <a:rPr sz="1100" b="1">
                <a:solidFill>
                  <a:srgbClr val="5A636E"/>
                </a:solidFill>
                <a:latin typeface="Amazon Ember"/>
              </a:rPr>
              <a:t>SOURCE  </a:t>
            </a:r>
            <a:r>
              <a:rPr sz="1200" u="sng">
                <a:solidFill>
                  <a:srgbClr val="0563C1"/>
                </a:solidFill>
                <a:latin typeface="Menlo"/>
                <a:hlinkClick r:id="rId3"/>
              </a:rPr>
              <a:t>docs.aws.amazon.com - Introduction to AWS CDK stacks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Declaring a function in a SAM template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737360"/>
            <a:ext cx="6035040" cy="4189171"/>
          </a:xfrm>
          <a:prstGeom prst="roundRect">
            <a:avLst>
              <a:gd name="adj" fmla="val 3500"/>
            </a:avLst>
          </a:prstGeom>
          <a:solidFill>
            <a:srgbClr val="13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93391"/>
            <a:ext cx="274320" cy="282854"/>
          </a:xfrm>
          <a:prstGeom prst="rect">
            <a:avLst/>
          </a:prstGeom>
          <a:noFill/>
        </p:spPr>
        <p:txBody>
          <a:bodyPr wrap="none" lIns="0" tIns="0" rIns="0" bIns="0" anchor="ctr">
            <a:spAutoFit/>
          </a:bodyPr>
          <a:lstStyle/>
          <a:p>
            <a:pPr algn="r"/>
            <a:r>
              <a:rPr sz="1280" b="0">
                <a:solidFill>
                  <a:srgbClr val="72747E"/>
                </a:solidFill>
                <a:latin typeface="Menlo"/>
              </a:rPr>
              <a:t>1</a:t>
            </a:r>
          </a:p>
        </p:txBody>
      </p:sp>
      <p:sp>
        <p:nvSpPr>
          <p:cNvPr id="6" name="TextBox 5"/>
          <p:cNvSpPr txBox="1"/>
          <p:nvPr/>
        </p:nvSpPr>
        <p:spPr>
          <a:xfrm>
            <a:off x="1161288" y="1993391"/>
            <a:ext cx="5120639" cy="282854"/>
          </a:xfrm>
          <a:prstGeom prst="rect">
            <a:avLst/>
          </a:prstGeom>
          <a:noFill/>
        </p:spPr>
        <p:txBody>
          <a:bodyPr wrap="none" lIns="0" tIns="0" rIns="0" bIns="0" anchor="ctr">
            <a:spAutoFit/>
          </a:bodyPr>
          <a:lstStyle/>
          <a:p>
            <a:pPr algn="l"/>
            <a:r>
              <a:rPr sz="1600" b="0">
                <a:solidFill>
                  <a:srgbClr val="75CFFF"/>
                </a:solidFill>
                <a:latin typeface="Menlo"/>
              </a:rPr>
              <a:t>Transform</a:t>
            </a:r>
            <a:r>
              <a:rPr sz="1600" b="0">
                <a:solidFill>
                  <a:srgbClr val="CCCCD1"/>
                </a:solidFill>
                <a:latin typeface="Menlo"/>
              </a:rPr>
              <a:t>:</a:t>
            </a:r>
            <a:r>
              <a:rPr sz="1600" b="0">
                <a:solidFill>
                  <a:srgbClr val="F6F6F9"/>
                </a:solidFill>
                <a:latin typeface="Menlo"/>
              </a:rPr>
              <a:t> AWS</a:t>
            </a:r>
            <a:r>
              <a:rPr sz="1600" b="0">
                <a:solidFill>
                  <a:srgbClr val="CCCCD1"/>
                </a:solidFill>
                <a:latin typeface="Menlo"/>
              </a:rPr>
              <a:t>::</a:t>
            </a:r>
            <a:r>
              <a:rPr sz="1600" b="0">
                <a:solidFill>
                  <a:srgbClr val="F6F6F9"/>
                </a:solidFill>
                <a:latin typeface="Menlo"/>
              </a:rPr>
              <a:t>Serverless-2016-10-31</a:t>
            </a:r>
          </a:p>
        </p:txBody>
      </p:sp>
      <p:sp>
        <p:nvSpPr>
          <p:cNvPr id="7" name="TextBox 6"/>
          <p:cNvSpPr txBox="1"/>
          <p:nvPr/>
        </p:nvSpPr>
        <p:spPr>
          <a:xfrm>
            <a:off x="859536" y="2276246"/>
            <a:ext cx="274320" cy="282854"/>
          </a:xfrm>
          <a:prstGeom prst="rect">
            <a:avLst/>
          </a:prstGeom>
          <a:noFill/>
        </p:spPr>
        <p:txBody>
          <a:bodyPr wrap="none" lIns="0" tIns="0" rIns="0" bIns="0" anchor="ctr">
            <a:spAutoFit/>
          </a:bodyPr>
          <a:lstStyle/>
          <a:p>
            <a:pPr algn="r"/>
            <a:r>
              <a:rPr sz="1280" b="0">
                <a:solidFill>
                  <a:srgbClr val="72747E"/>
                </a:solidFill>
                <a:latin typeface="Menlo"/>
              </a:rPr>
              <a:t>2</a:t>
            </a:r>
          </a:p>
        </p:txBody>
      </p:sp>
      <p:sp>
        <p:nvSpPr>
          <p:cNvPr id="8" name="TextBox 7"/>
          <p:cNvSpPr txBox="1"/>
          <p:nvPr/>
        </p:nvSpPr>
        <p:spPr>
          <a:xfrm>
            <a:off x="1161288" y="2276246"/>
            <a:ext cx="5120639" cy="282854"/>
          </a:xfrm>
          <a:prstGeom prst="rect">
            <a:avLst/>
          </a:prstGeom>
          <a:noFill/>
        </p:spPr>
        <p:txBody>
          <a:bodyPr wrap="none" lIns="0" tIns="0" rIns="0" bIns="0" anchor="ctr">
            <a:spAutoFit/>
          </a:bodyPr>
          <a:lstStyle/>
          <a:p>
            <a:pPr algn="l"/>
            <a:r>
              <a:rPr sz="1600" b="0">
                <a:solidFill>
                  <a:srgbClr val="75CFFF"/>
                </a:solidFill>
                <a:latin typeface="Menlo"/>
              </a:rPr>
              <a:t>Resources</a:t>
            </a:r>
            <a:r>
              <a:rPr sz="1600" b="0">
                <a:solidFill>
                  <a:srgbClr val="CCCCD1"/>
                </a:solidFill>
                <a:latin typeface="Menlo"/>
              </a:rPr>
              <a:t>:</a:t>
            </a:r>
          </a:p>
        </p:txBody>
      </p:sp>
      <p:sp>
        <p:nvSpPr>
          <p:cNvPr id="9" name="TextBox 8"/>
          <p:cNvSpPr txBox="1"/>
          <p:nvPr/>
        </p:nvSpPr>
        <p:spPr>
          <a:xfrm>
            <a:off x="859536" y="2559100"/>
            <a:ext cx="274320" cy="282854"/>
          </a:xfrm>
          <a:prstGeom prst="rect">
            <a:avLst/>
          </a:prstGeom>
          <a:noFill/>
        </p:spPr>
        <p:txBody>
          <a:bodyPr wrap="none" lIns="0" tIns="0" rIns="0" bIns="0" anchor="ctr">
            <a:spAutoFit/>
          </a:bodyPr>
          <a:lstStyle/>
          <a:p>
            <a:pPr algn="r"/>
            <a:r>
              <a:rPr sz="1280" b="0">
                <a:solidFill>
                  <a:srgbClr val="72747E"/>
                </a:solidFill>
                <a:latin typeface="Menlo"/>
              </a:rPr>
              <a:t>3</a:t>
            </a:r>
          </a:p>
        </p:txBody>
      </p:sp>
      <p:sp>
        <p:nvSpPr>
          <p:cNvPr id="10" name="TextBox 9"/>
          <p:cNvSpPr txBox="1"/>
          <p:nvPr/>
        </p:nvSpPr>
        <p:spPr>
          <a:xfrm>
            <a:off x="1161288" y="2559100"/>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OrdersFn</a:t>
            </a:r>
            <a:r>
              <a:rPr sz="1600" b="0">
                <a:solidFill>
                  <a:srgbClr val="CCCCD1"/>
                </a:solidFill>
                <a:latin typeface="Menlo"/>
              </a:rPr>
              <a:t>:</a:t>
            </a:r>
          </a:p>
        </p:txBody>
      </p:sp>
      <p:sp>
        <p:nvSpPr>
          <p:cNvPr id="11" name="TextBox 10"/>
          <p:cNvSpPr txBox="1"/>
          <p:nvPr/>
        </p:nvSpPr>
        <p:spPr>
          <a:xfrm>
            <a:off x="859536" y="2841955"/>
            <a:ext cx="274320" cy="282854"/>
          </a:xfrm>
          <a:prstGeom prst="rect">
            <a:avLst/>
          </a:prstGeom>
          <a:noFill/>
        </p:spPr>
        <p:txBody>
          <a:bodyPr wrap="none" lIns="0" tIns="0" rIns="0" bIns="0" anchor="ctr">
            <a:spAutoFit/>
          </a:bodyPr>
          <a:lstStyle/>
          <a:p>
            <a:pPr algn="r"/>
            <a:r>
              <a:rPr sz="1280" b="0">
                <a:solidFill>
                  <a:srgbClr val="72747E"/>
                </a:solidFill>
                <a:latin typeface="Menlo"/>
              </a:rPr>
              <a:t>4</a:t>
            </a:r>
          </a:p>
        </p:txBody>
      </p:sp>
      <p:sp>
        <p:nvSpPr>
          <p:cNvPr id="12" name="TextBox 11"/>
          <p:cNvSpPr txBox="1"/>
          <p:nvPr/>
        </p:nvSpPr>
        <p:spPr>
          <a:xfrm>
            <a:off x="1161288" y="2841955"/>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Type</a:t>
            </a:r>
            <a:r>
              <a:rPr sz="1600" b="0">
                <a:solidFill>
                  <a:srgbClr val="CCCCD1"/>
                </a:solidFill>
                <a:latin typeface="Menlo"/>
              </a:rPr>
              <a:t>:</a:t>
            </a:r>
            <a:r>
              <a:rPr sz="1600" b="0">
                <a:solidFill>
                  <a:srgbClr val="F6F6F9"/>
                </a:solidFill>
                <a:latin typeface="Menlo"/>
              </a:rPr>
              <a:t> AWS</a:t>
            </a:r>
            <a:r>
              <a:rPr sz="1600" b="0">
                <a:solidFill>
                  <a:srgbClr val="CCCCD1"/>
                </a:solidFill>
                <a:latin typeface="Menlo"/>
              </a:rPr>
              <a:t>::</a:t>
            </a:r>
            <a:r>
              <a:rPr sz="1600" b="0">
                <a:solidFill>
                  <a:srgbClr val="F6F6F9"/>
                </a:solidFill>
                <a:latin typeface="Menlo"/>
              </a:rPr>
              <a:t>Serverless</a:t>
            </a:r>
            <a:r>
              <a:rPr sz="1600" b="0">
                <a:solidFill>
                  <a:srgbClr val="CCCCD1"/>
                </a:solidFill>
                <a:latin typeface="Menlo"/>
              </a:rPr>
              <a:t>::</a:t>
            </a:r>
            <a:r>
              <a:rPr sz="1600" b="0">
                <a:solidFill>
                  <a:srgbClr val="F6F6F9"/>
                </a:solidFill>
                <a:latin typeface="Menlo"/>
              </a:rPr>
              <a:t>Function</a:t>
            </a:r>
          </a:p>
        </p:txBody>
      </p:sp>
      <p:sp>
        <p:nvSpPr>
          <p:cNvPr id="13" name="TextBox 12"/>
          <p:cNvSpPr txBox="1"/>
          <p:nvPr/>
        </p:nvSpPr>
        <p:spPr>
          <a:xfrm>
            <a:off x="859536" y="3124809"/>
            <a:ext cx="274320" cy="282854"/>
          </a:xfrm>
          <a:prstGeom prst="rect">
            <a:avLst/>
          </a:prstGeom>
          <a:noFill/>
        </p:spPr>
        <p:txBody>
          <a:bodyPr wrap="none" lIns="0" tIns="0" rIns="0" bIns="0" anchor="ctr">
            <a:spAutoFit/>
          </a:bodyPr>
          <a:lstStyle/>
          <a:p>
            <a:pPr algn="r"/>
            <a:r>
              <a:rPr sz="1280" b="0">
                <a:solidFill>
                  <a:srgbClr val="72747E"/>
                </a:solidFill>
                <a:latin typeface="Menlo"/>
              </a:rPr>
              <a:t>5</a:t>
            </a:r>
          </a:p>
        </p:txBody>
      </p:sp>
      <p:sp>
        <p:nvSpPr>
          <p:cNvPr id="14" name="TextBox 13"/>
          <p:cNvSpPr txBox="1"/>
          <p:nvPr/>
        </p:nvSpPr>
        <p:spPr>
          <a:xfrm>
            <a:off x="1161288" y="3124809"/>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Properties</a:t>
            </a:r>
            <a:r>
              <a:rPr sz="1600" b="0">
                <a:solidFill>
                  <a:srgbClr val="CCCCD1"/>
                </a:solidFill>
                <a:latin typeface="Menlo"/>
              </a:rPr>
              <a:t>:</a:t>
            </a:r>
          </a:p>
        </p:txBody>
      </p:sp>
      <p:sp>
        <p:nvSpPr>
          <p:cNvPr id="15" name="TextBox 14"/>
          <p:cNvSpPr txBox="1"/>
          <p:nvPr/>
        </p:nvSpPr>
        <p:spPr>
          <a:xfrm>
            <a:off x="859536" y="3407663"/>
            <a:ext cx="274320" cy="282854"/>
          </a:xfrm>
          <a:prstGeom prst="rect">
            <a:avLst/>
          </a:prstGeom>
          <a:noFill/>
        </p:spPr>
        <p:txBody>
          <a:bodyPr wrap="none" lIns="0" tIns="0" rIns="0" bIns="0" anchor="ctr">
            <a:spAutoFit/>
          </a:bodyPr>
          <a:lstStyle/>
          <a:p>
            <a:pPr algn="r"/>
            <a:r>
              <a:rPr sz="1280" b="0">
                <a:solidFill>
                  <a:srgbClr val="72747E"/>
                </a:solidFill>
                <a:latin typeface="Menlo"/>
              </a:rPr>
              <a:t>6</a:t>
            </a:r>
          </a:p>
        </p:txBody>
      </p:sp>
      <p:sp>
        <p:nvSpPr>
          <p:cNvPr id="16" name="TextBox 15"/>
          <p:cNvSpPr txBox="1"/>
          <p:nvPr/>
        </p:nvSpPr>
        <p:spPr>
          <a:xfrm>
            <a:off x="1161288" y="3407663"/>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Runtime</a:t>
            </a:r>
            <a:r>
              <a:rPr sz="1600" b="0">
                <a:solidFill>
                  <a:srgbClr val="CCCCD1"/>
                </a:solidFill>
                <a:latin typeface="Menlo"/>
              </a:rPr>
              <a:t>:</a:t>
            </a:r>
            <a:r>
              <a:rPr sz="1600" b="0">
                <a:solidFill>
                  <a:srgbClr val="F6F6F9"/>
                </a:solidFill>
                <a:latin typeface="Menlo"/>
              </a:rPr>
              <a:t> python3.12</a:t>
            </a:r>
          </a:p>
        </p:txBody>
      </p:sp>
      <p:sp>
        <p:nvSpPr>
          <p:cNvPr id="17" name="TextBox 16"/>
          <p:cNvSpPr txBox="1"/>
          <p:nvPr/>
        </p:nvSpPr>
        <p:spPr>
          <a:xfrm>
            <a:off x="859536" y="3690518"/>
            <a:ext cx="274320" cy="282854"/>
          </a:xfrm>
          <a:prstGeom prst="rect">
            <a:avLst/>
          </a:prstGeom>
          <a:noFill/>
        </p:spPr>
        <p:txBody>
          <a:bodyPr wrap="none" lIns="0" tIns="0" rIns="0" bIns="0" anchor="ctr">
            <a:spAutoFit/>
          </a:bodyPr>
          <a:lstStyle/>
          <a:p>
            <a:pPr algn="r"/>
            <a:r>
              <a:rPr sz="1280" b="0">
                <a:solidFill>
                  <a:srgbClr val="72747E"/>
                </a:solidFill>
                <a:latin typeface="Menlo"/>
              </a:rPr>
              <a:t>7</a:t>
            </a:r>
          </a:p>
        </p:txBody>
      </p:sp>
      <p:sp>
        <p:nvSpPr>
          <p:cNvPr id="18" name="TextBox 17"/>
          <p:cNvSpPr txBox="1"/>
          <p:nvPr/>
        </p:nvSpPr>
        <p:spPr>
          <a:xfrm>
            <a:off x="1161288" y="3690518"/>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Handler</a:t>
            </a:r>
            <a:r>
              <a:rPr sz="1600" b="0">
                <a:solidFill>
                  <a:srgbClr val="CCCCD1"/>
                </a:solidFill>
                <a:latin typeface="Menlo"/>
              </a:rPr>
              <a:t>:</a:t>
            </a:r>
            <a:r>
              <a:rPr sz="1600" b="0">
                <a:solidFill>
                  <a:srgbClr val="F6F6F9"/>
                </a:solidFill>
                <a:latin typeface="Menlo"/>
              </a:rPr>
              <a:t> app.handler</a:t>
            </a:r>
          </a:p>
        </p:txBody>
      </p:sp>
      <p:sp>
        <p:nvSpPr>
          <p:cNvPr id="19" name="TextBox 18"/>
          <p:cNvSpPr txBox="1"/>
          <p:nvPr/>
        </p:nvSpPr>
        <p:spPr>
          <a:xfrm>
            <a:off x="859536" y="3973372"/>
            <a:ext cx="274320" cy="282854"/>
          </a:xfrm>
          <a:prstGeom prst="rect">
            <a:avLst/>
          </a:prstGeom>
          <a:noFill/>
        </p:spPr>
        <p:txBody>
          <a:bodyPr wrap="none" lIns="0" tIns="0" rIns="0" bIns="0" anchor="ctr">
            <a:spAutoFit/>
          </a:bodyPr>
          <a:lstStyle/>
          <a:p>
            <a:pPr algn="r"/>
            <a:r>
              <a:rPr sz="1280" b="0">
                <a:solidFill>
                  <a:srgbClr val="72747E"/>
                </a:solidFill>
                <a:latin typeface="Menlo"/>
              </a:rPr>
              <a:t>8</a:t>
            </a:r>
          </a:p>
        </p:txBody>
      </p:sp>
      <p:sp>
        <p:nvSpPr>
          <p:cNvPr id="20" name="TextBox 19"/>
          <p:cNvSpPr txBox="1"/>
          <p:nvPr/>
        </p:nvSpPr>
        <p:spPr>
          <a:xfrm>
            <a:off x="1161288" y="3973372"/>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CodeUri</a:t>
            </a:r>
            <a:r>
              <a:rPr sz="1600" b="0">
                <a:solidFill>
                  <a:srgbClr val="CCCCD1"/>
                </a:solidFill>
                <a:latin typeface="Menlo"/>
              </a:rPr>
              <a:t>:</a:t>
            </a:r>
            <a:r>
              <a:rPr sz="1600" b="0">
                <a:solidFill>
                  <a:srgbClr val="F6F6F9"/>
                </a:solidFill>
                <a:latin typeface="Menlo"/>
              </a:rPr>
              <a:t> </a:t>
            </a:r>
            <a:r>
              <a:rPr sz="1600" b="0">
                <a:solidFill>
                  <a:srgbClr val="CCCCD1"/>
                </a:solidFill>
                <a:latin typeface="Menlo"/>
              </a:rPr>
              <a:t>./</a:t>
            </a:r>
            <a:r>
              <a:rPr sz="1600" b="0">
                <a:solidFill>
                  <a:srgbClr val="F6F6F9"/>
                </a:solidFill>
                <a:latin typeface="Menlo"/>
              </a:rPr>
              <a:t>src</a:t>
            </a:r>
          </a:p>
        </p:txBody>
      </p:sp>
      <p:sp>
        <p:nvSpPr>
          <p:cNvPr id="21" name="TextBox 20"/>
          <p:cNvSpPr txBox="1"/>
          <p:nvPr/>
        </p:nvSpPr>
        <p:spPr>
          <a:xfrm>
            <a:off x="859536" y="4256227"/>
            <a:ext cx="274320" cy="282854"/>
          </a:xfrm>
          <a:prstGeom prst="rect">
            <a:avLst/>
          </a:prstGeom>
          <a:noFill/>
        </p:spPr>
        <p:txBody>
          <a:bodyPr wrap="none" lIns="0" tIns="0" rIns="0" bIns="0" anchor="ctr">
            <a:spAutoFit/>
          </a:bodyPr>
          <a:lstStyle/>
          <a:p>
            <a:pPr algn="r"/>
            <a:r>
              <a:rPr sz="1280" b="0">
                <a:solidFill>
                  <a:srgbClr val="72747E"/>
                </a:solidFill>
                <a:latin typeface="Menlo"/>
              </a:rPr>
              <a:t>9</a:t>
            </a:r>
          </a:p>
        </p:txBody>
      </p:sp>
      <p:sp>
        <p:nvSpPr>
          <p:cNvPr id="22" name="TextBox 21"/>
          <p:cNvSpPr txBox="1"/>
          <p:nvPr/>
        </p:nvSpPr>
        <p:spPr>
          <a:xfrm>
            <a:off x="1161288" y="4256227"/>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Events</a:t>
            </a:r>
            <a:r>
              <a:rPr sz="1600" b="0">
                <a:solidFill>
                  <a:srgbClr val="CCCCD1"/>
                </a:solidFill>
                <a:latin typeface="Menlo"/>
              </a:rPr>
              <a:t>:</a:t>
            </a:r>
          </a:p>
        </p:txBody>
      </p:sp>
      <p:sp>
        <p:nvSpPr>
          <p:cNvPr id="23" name="TextBox 22"/>
          <p:cNvSpPr txBox="1"/>
          <p:nvPr/>
        </p:nvSpPr>
        <p:spPr>
          <a:xfrm>
            <a:off x="859536" y="4539081"/>
            <a:ext cx="274320" cy="282854"/>
          </a:xfrm>
          <a:prstGeom prst="rect">
            <a:avLst/>
          </a:prstGeom>
          <a:noFill/>
        </p:spPr>
        <p:txBody>
          <a:bodyPr wrap="none" lIns="0" tIns="0" rIns="0" bIns="0" anchor="ctr">
            <a:spAutoFit/>
          </a:bodyPr>
          <a:lstStyle/>
          <a:p>
            <a:pPr algn="r"/>
            <a:r>
              <a:rPr sz="1280" b="0">
                <a:solidFill>
                  <a:srgbClr val="72747E"/>
                </a:solidFill>
                <a:latin typeface="Menlo"/>
              </a:rPr>
              <a:t>10</a:t>
            </a:r>
          </a:p>
        </p:txBody>
      </p:sp>
      <p:sp>
        <p:nvSpPr>
          <p:cNvPr id="24" name="TextBox 23"/>
          <p:cNvSpPr txBox="1"/>
          <p:nvPr/>
        </p:nvSpPr>
        <p:spPr>
          <a:xfrm>
            <a:off x="1161288" y="4539081"/>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FromQueue</a:t>
            </a:r>
            <a:r>
              <a:rPr sz="1600" b="0">
                <a:solidFill>
                  <a:srgbClr val="CCCCD1"/>
                </a:solidFill>
                <a:latin typeface="Menlo"/>
              </a:rPr>
              <a:t>:</a:t>
            </a:r>
          </a:p>
        </p:txBody>
      </p:sp>
      <p:sp>
        <p:nvSpPr>
          <p:cNvPr id="25" name="TextBox 24"/>
          <p:cNvSpPr txBox="1"/>
          <p:nvPr/>
        </p:nvSpPr>
        <p:spPr>
          <a:xfrm>
            <a:off x="859536" y="4821935"/>
            <a:ext cx="274320" cy="282854"/>
          </a:xfrm>
          <a:prstGeom prst="rect">
            <a:avLst/>
          </a:prstGeom>
          <a:noFill/>
        </p:spPr>
        <p:txBody>
          <a:bodyPr wrap="none" lIns="0" tIns="0" rIns="0" bIns="0" anchor="ctr">
            <a:spAutoFit/>
          </a:bodyPr>
          <a:lstStyle/>
          <a:p>
            <a:pPr algn="r"/>
            <a:r>
              <a:rPr sz="1280" b="0">
                <a:solidFill>
                  <a:srgbClr val="72747E"/>
                </a:solidFill>
                <a:latin typeface="Menlo"/>
              </a:rPr>
              <a:t>11</a:t>
            </a:r>
          </a:p>
        </p:txBody>
      </p:sp>
      <p:sp>
        <p:nvSpPr>
          <p:cNvPr id="26" name="TextBox 25"/>
          <p:cNvSpPr txBox="1"/>
          <p:nvPr/>
        </p:nvSpPr>
        <p:spPr>
          <a:xfrm>
            <a:off x="1161288" y="4821935"/>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Type</a:t>
            </a:r>
            <a:r>
              <a:rPr sz="1600" b="0">
                <a:solidFill>
                  <a:srgbClr val="CCCCD1"/>
                </a:solidFill>
                <a:latin typeface="Menlo"/>
              </a:rPr>
              <a:t>:</a:t>
            </a:r>
            <a:r>
              <a:rPr sz="1600" b="0">
                <a:solidFill>
                  <a:srgbClr val="F6F6F9"/>
                </a:solidFill>
                <a:latin typeface="Menlo"/>
              </a:rPr>
              <a:t> SQS</a:t>
            </a:r>
          </a:p>
        </p:txBody>
      </p:sp>
      <p:sp>
        <p:nvSpPr>
          <p:cNvPr id="27" name="TextBox 26"/>
          <p:cNvSpPr txBox="1"/>
          <p:nvPr/>
        </p:nvSpPr>
        <p:spPr>
          <a:xfrm>
            <a:off x="859536" y="5104790"/>
            <a:ext cx="274320" cy="282854"/>
          </a:xfrm>
          <a:prstGeom prst="rect">
            <a:avLst/>
          </a:prstGeom>
          <a:noFill/>
        </p:spPr>
        <p:txBody>
          <a:bodyPr wrap="none" lIns="0" tIns="0" rIns="0" bIns="0" anchor="ctr">
            <a:spAutoFit/>
          </a:bodyPr>
          <a:lstStyle/>
          <a:p>
            <a:pPr algn="r"/>
            <a:r>
              <a:rPr sz="1280" b="0">
                <a:solidFill>
                  <a:srgbClr val="72747E"/>
                </a:solidFill>
                <a:latin typeface="Menlo"/>
              </a:rPr>
              <a:t>12</a:t>
            </a:r>
          </a:p>
        </p:txBody>
      </p:sp>
      <p:sp>
        <p:nvSpPr>
          <p:cNvPr id="28" name="TextBox 27"/>
          <p:cNvSpPr txBox="1"/>
          <p:nvPr/>
        </p:nvSpPr>
        <p:spPr>
          <a:xfrm>
            <a:off x="1161288" y="5104790"/>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Properties</a:t>
            </a:r>
            <a:r>
              <a:rPr sz="1600" b="0">
                <a:solidFill>
                  <a:srgbClr val="CCCCD1"/>
                </a:solidFill>
                <a:latin typeface="Menlo"/>
              </a:rPr>
              <a:t>:</a:t>
            </a:r>
          </a:p>
        </p:txBody>
      </p:sp>
      <p:sp>
        <p:nvSpPr>
          <p:cNvPr id="29" name="TextBox 28"/>
          <p:cNvSpPr txBox="1"/>
          <p:nvPr/>
        </p:nvSpPr>
        <p:spPr>
          <a:xfrm>
            <a:off x="859536" y="5387644"/>
            <a:ext cx="274320" cy="282854"/>
          </a:xfrm>
          <a:prstGeom prst="rect">
            <a:avLst/>
          </a:prstGeom>
          <a:noFill/>
        </p:spPr>
        <p:txBody>
          <a:bodyPr wrap="none" lIns="0" tIns="0" rIns="0" bIns="0" anchor="ctr">
            <a:spAutoFit/>
          </a:bodyPr>
          <a:lstStyle/>
          <a:p>
            <a:pPr algn="r"/>
            <a:r>
              <a:rPr sz="1280" b="0">
                <a:solidFill>
                  <a:srgbClr val="72747E"/>
                </a:solidFill>
                <a:latin typeface="Menlo"/>
              </a:rPr>
              <a:t>13</a:t>
            </a:r>
          </a:p>
        </p:txBody>
      </p:sp>
      <p:sp>
        <p:nvSpPr>
          <p:cNvPr id="30" name="TextBox 29"/>
          <p:cNvSpPr txBox="1"/>
          <p:nvPr/>
        </p:nvSpPr>
        <p:spPr>
          <a:xfrm>
            <a:off x="1161288" y="5387644"/>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Queue</a:t>
            </a:r>
            <a:r>
              <a:rPr sz="1600" b="0">
                <a:solidFill>
                  <a:srgbClr val="CCCCD1"/>
                </a:solidFill>
                <a:latin typeface="Menlo"/>
              </a:rPr>
              <a:t>:</a:t>
            </a:r>
            <a:r>
              <a:rPr sz="1600" b="0">
                <a:solidFill>
                  <a:srgbClr val="F6F6F9"/>
                </a:solidFill>
                <a:latin typeface="Menlo"/>
              </a:rPr>
              <a:t> </a:t>
            </a:r>
            <a:r>
              <a:rPr sz="1600" b="0">
                <a:solidFill>
                  <a:srgbClr val="B2A8FF"/>
                </a:solidFill>
                <a:latin typeface="Menlo"/>
              </a:rPr>
              <a:t>!GetAtt</a:t>
            </a:r>
            <a:r>
              <a:rPr sz="1600" b="0">
                <a:solidFill>
                  <a:srgbClr val="F6F6F9"/>
                </a:solidFill>
                <a:latin typeface="Menlo"/>
              </a:rPr>
              <a:t> Orders.Arn</a:t>
            </a:r>
          </a:p>
        </p:txBody>
      </p:sp>
      <p:sp>
        <p:nvSpPr>
          <p:cNvPr id="31" name="Oval 30"/>
          <p:cNvSpPr/>
          <p:nvPr/>
        </p:nvSpPr>
        <p:spPr>
          <a:xfrm>
            <a:off x="521207" y="1979370"/>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1</a:t>
            </a:r>
          </a:p>
        </p:txBody>
      </p:sp>
      <p:sp>
        <p:nvSpPr>
          <p:cNvPr id="32" name="Oval 31"/>
          <p:cNvSpPr/>
          <p:nvPr/>
        </p:nvSpPr>
        <p:spPr>
          <a:xfrm>
            <a:off x="521207" y="2827933"/>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2</a:t>
            </a:r>
          </a:p>
        </p:txBody>
      </p:sp>
      <p:sp>
        <p:nvSpPr>
          <p:cNvPr id="33" name="Oval 32"/>
          <p:cNvSpPr/>
          <p:nvPr/>
        </p:nvSpPr>
        <p:spPr>
          <a:xfrm>
            <a:off x="521207" y="4242205"/>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3</a:t>
            </a:r>
          </a:p>
        </p:txBody>
      </p:sp>
      <p:sp>
        <p:nvSpPr>
          <p:cNvPr id="34" name="TextBox 33"/>
          <p:cNvSpPr txBox="1"/>
          <p:nvPr/>
        </p:nvSpPr>
        <p:spPr>
          <a:xfrm>
            <a:off x="6949440" y="1426463"/>
            <a:ext cx="4739335" cy="329184"/>
          </a:xfrm>
          <a:prstGeom prst="rect">
            <a:avLst/>
          </a:prstGeom>
          <a:noFill/>
        </p:spPr>
        <p:txBody>
          <a:bodyPr wrap="none" lIns="0" tIns="0" rIns="0" bIns="0" anchor="ctr">
            <a:spAutoFit/>
          </a:bodyPr>
          <a:lstStyle/>
          <a:p>
            <a:pPr algn="l"/>
            <a:r>
              <a:rPr sz="1500" b="1">
                <a:solidFill>
                  <a:srgbClr val="5A636E"/>
                </a:solidFill>
                <a:latin typeface="Amazon Ember"/>
              </a:rPr>
              <a:t>WHAT EACH PART DOES</a:t>
            </a:r>
          </a:p>
        </p:txBody>
      </p:sp>
      <p:sp>
        <p:nvSpPr>
          <p:cNvPr id="35" name="Oval 34"/>
          <p:cNvSpPr/>
          <p:nvPr/>
        </p:nvSpPr>
        <p:spPr>
          <a:xfrm>
            <a:off x="6894576" y="1801367"/>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1</a:t>
            </a:r>
          </a:p>
        </p:txBody>
      </p:sp>
      <p:sp>
        <p:nvSpPr>
          <p:cNvPr id="36" name="TextBox 35"/>
          <p:cNvSpPr txBox="1"/>
          <p:nvPr/>
        </p:nvSpPr>
        <p:spPr>
          <a:xfrm>
            <a:off x="7370064" y="1828800"/>
            <a:ext cx="4318711" cy="1207008"/>
          </a:xfrm>
          <a:prstGeom prst="rect">
            <a:avLst/>
          </a:prstGeom>
          <a:noFill/>
        </p:spPr>
        <p:txBody>
          <a:bodyPr wrap="square" lIns="0" tIns="0" bIns="0">
            <a:spAutoFit/>
          </a:bodyPr>
          <a:lstStyle/>
          <a:p>
            <a:r>
              <a:rPr sz="1700" b="1">
                <a:solidFill>
                  <a:srgbClr val="8F0072"/>
                </a:solidFill>
                <a:latin typeface="Menlo"/>
              </a:rPr>
              <a:t>Transform</a:t>
            </a:r>
          </a:p>
          <a:p>
            <a:pPr>
              <a:spcBef>
                <a:spcPts val="200"/>
              </a:spcBef>
            </a:pPr>
            <a:r>
              <a:rPr sz="1600">
                <a:solidFill>
                  <a:srgbClr val="333B45"/>
                </a:solidFill>
                <a:latin typeface="Amazon Ember"/>
              </a:rPr>
              <a:t>the line that makes this a SAM template</a:t>
            </a:r>
          </a:p>
        </p:txBody>
      </p:sp>
      <p:sp>
        <p:nvSpPr>
          <p:cNvPr id="37" name="Oval 36"/>
          <p:cNvSpPr/>
          <p:nvPr/>
        </p:nvSpPr>
        <p:spPr>
          <a:xfrm>
            <a:off x="6894576" y="3246120"/>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2</a:t>
            </a:r>
          </a:p>
        </p:txBody>
      </p:sp>
      <p:sp>
        <p:nvSpPr>
          <p:cNvPr id="38" name="TextBox 37"/>
          <p:cNvSpPr txBox="1"/>
          <p:nvPr/>
        </p:nvSpPr>
        <p:spPr>
          <a:xfrm>
            <a:off x="7370064" y="3273552"/>
            <a:ext cx="4318711" cy="1207008"/>
          </a:xfrm>
          <a:prstGeom prst="rect">
            <a:avLst/>
          </a:prstGeom>
          <a:noFill/>
        </p:spPr>
        <p:txBody>
          <a:bodyPr wrap="square" lIns="0" tIns="0" bIns="0">
            <a:spAutoFit/>
          </a:bodyPr>
          <a:lstStyle/>
          <a:p>
            <a:r>
              <a:rPr sz="1700" b="1">
                <a:solidFill>
                  <a:srgbClr val="8F0072"/>
                </a:solidFill>
                <a:latin typeface="Menlo"/>
              </a:rPr>
              <a:t>AWS::Serverless::Function</a:t>
            </a:r>
          </a:p>
          <a:p>
            <a:pPr>
              <a:spcBef>
                <a:spcPts val="200"/>
              </a:spcBef>
            </a:pPr>
            <a:r>
              <a:rPr sz="1600">
                <a:solidFill>
                  <a:srgbClr val="333B45"/>
                </a:solidFill>
                <a:latin typeface="Amazon Ember"/>
              </a:rPr>
              <a:t>one resource expands to several</a:t>
            </a:r>
          </a:p>
        </p:txBody>
      </p:sp>
      <p:sp>
        <p:nvSpPr>
          <p:cNvPr id="39" name="Oval 38"/>
          <p:cNvSpPr/>
          <p:nvPr/>
        </p:nvSpPr>
        <p:spPr>
          <a:xfrm>
            <a:off x="6894576" y="4690872"/>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3</a:t>
            </a:r>
          </a:p>
        </p:txBody>
      </p:sp>
      <p:sp>
        <p:nvSpPr>
          <p:cNvPr id="40" name="TextBox 39"/>
          <p:cNvSpPr txBox="1"/>
          <p:nvPr/>
        </p:nvSpPr>
        <p:spPr>
          <a:xfrm>
            <a:off x="7370064" y="4718304"/>
            <a:ext cx="4318711" cy="1207008"/>
          </a:xfrm>
          <a:prstGeom prst="rect">
            <a:avLst/>
          </a:prstGeom>
          <a:noFill/>
        </p:spPr>
        <p:txBody>
          <a:bodyPr wrap="square" lIns="0" tIns="0" bIns="0">
            <a:spAutoFit/>
          </a:bodyPr>
          <a:lstStyle/>
          <a:p>
            <a:r>
              <a:rPr sz="1700" b="1">
                <a:solidFill>
                  <a:srgbClr val="8F0072"/>
                </a:solidFill>
                <a:latin typeface="Menlo"/>
              </a:rPr>
              <a:t>Events</a:t>
            </a:r>
          </a:p>
          <a:p>
            <a:pPr>
              <a:spcBef>
                <a:spcPts val="200"/>
              </a:spcBef>
            </a:pPr>
            <a:r>
              <a:rPr sz="1600">
                <a:solidFill>
                  <a:srgbClr val="333B45"/>
                </a:solidFill>
                <a:latin typeface="Amazon Ember"/>
              </a:rPr>
              <a:t>the trigger is declared with the function</a:t>
            </a:r>
          </a:p>
        </p:txBody>
      </p:sp>
      <p:sp>
        <p:nvSpPr>
          <p:cNvPr id="41" name="TextBox 40">
            <a:hlinkClick r:id="rId3"/>
          </p:cNvPr>
          <p:cNvSpPr txBox="1"/>
          <p:nvPr/>
        </p:nvSpPr>
        <p:spPr>
          <a:xfrm>
            <a:off x="612648" y="5943600"/>
            <a:ext cx="5925312" cy="274320"/>
          </a:xfrm>
          <a:prstGeom prst="rect">
            <a:avLst/>
          </a:prstGeom>
          <a:noFill/>
        </p:spPr>
        <p:txBody>
          <a:bodyPr wrap="none" lIns="0" tIns="0" rIns="0" bIns="0">
            <a:spAutoFit/>
          </a:bodyPr>
          <a:lstStyle/>
          <a:p>
            <a:pPr algn="l"/>
            <a:r>
              <a:rPr sz="1100" b="1">
                <a:solidFill>
                  <a:srgbClr val="5A636E"/>
                </a:solidFill>
                <a:latin typeface="Amazon Ember"/>
              </a:rPr>
              <a:t>SOURCE  </a:t>
            </a:r>
            <a:r>
              <a:rPr sz="1200" u="sng">
                <a:solidFill>
                  <a:srgbClr val="0563C1"/>
                </a:solidFill>
                <a:latin typeface="Menlo"/>
                <a:hlinkClick r:id="rId3"/>
              </a:rPr>
              <a:t>docs.aws.amazon.com - AWS SAM template anatomy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Configuration belongs outside the package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What is AWS AppConfig?</a:t>
            </a:r>
          </a:p>
        </p:txBody>
      </p:sp>
      <p:sp>
        <p:nvSpPr>
          <p:cNvPr id="5" name="Rounded Rectangle 4"/>
          <p:cNvSpPr/>
          <p:nvPr/>
        </p:nvSpPr>
        <p:spPr>
          <a:xfrm>
            <a:off x="731520" y="1691640"/>
            <a:ext cx="5998464"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87552" y="1691640"/>
            <a:ext cx="5486400" cy="859536"/>
          </a:xfrm>
          <a:prstGeom prst="rect">
            <a:avLst/>
          </a:prstGeom>
          <a:noFill/>
        </p:spPr>
        <p:txBody>
          <a:bodyPr wrap="square" anchor="ctr">
            <a:noAutofit/>
          </a:bodyPr>
          <a:lstStyle/>
          <a:p>
            <a:pPr algn="l"/>
            <a:r>
              <a:rPr sz="1900" b="0" i="0">
                <a:solidFill>
                  <a:srgbClr val="232B37"/>
                </a:solidFill>
                <a:latin typeface="Amazon Ember Display"/>
              </a:rPr>
              <a:t>fixed for the life of this version</a:t>
            </a:r>
          </a:p>
        </p:txBody>
      </p:sp>
      <p:sp>
        <p:nvSpPr>
          <p:cNvPr id="7" name="Freeform 6"/>
          <p:cNvSpPr/>
          <p:nvPr/>
        </p:nvSpPr>
        <p:spPr>
          <a:xfrm>
            <a:off x="6931151" y="2121408"/>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7168895" y="2002536"/>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62088" y="1691640"/>
            <a:ext cx="4023360"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81544" y="1727619"/>
            <a:ext cx="3584448" cy="409702"/>
          </a:xfrm>
          <a:prstGeom prst="rect">
            <a:avLst/>
          </a:prstGeom>
          <a:noFill/>
        </p:spPr>
        <p:txBody>
          <a:bodyPr wrap="square" anchor="t">
            <a:noAutofit/>
          </a:bodyPr>
          <a:lstStyle/>
          <a:p>
            <a:pPr algn="l"/>
            <a:r>
              <a:rPr sz="2000" b="1" i="0">
                <a:solidFill>
                  <a:srgbClr val="8F0072"/>
                </a:solidFill>
                <a:latin typeface="Amazon Ember Display"/>
              </a:rPr>
              <a:t>environment variable</a:t>
            </a:r>
          </a:p>
        </p:txBody>
      </p:sp>
      <p:sp>
        <p:nvSpPr>
          <p:cNvPr id="11" name="TextBox 10"/>
          <p:cNvSpPr txBox="1"/>
          <p:nvPr/>
        </p:nvSpPr>
        <p:spPr>
          <a:xfrm>
            <a:off x="7781544" y="2137321"/>
            <a:ext cx="3584448" cy="377875"/>
          </a:xfrm>
          <a:prstGeom prst="rect">
            <a:avLst/>
          </a:prstGeom>
          <a:noFill/>
        </p:spPr>
        <p:txBody>
          <a:bodyPr wrap="square" anchor="t">
            <a:noAutofit/>
          </a:bodyPr>
          <a:lstStyle/>
          <a:p>
            <a:pPr algn="l"/>
            <a:r>
              <a:rPr sz="1800" b="0" i="0">
                <a:solidFill>
                  <a:srgbClr val="232B37"/>
                </a:solidFill>
                <a:latin typeface="Amazon Ember Display"/>
              </a:rPr>
              <a:t>read once at initialisation</a:t>
            </a:r>
          </a:p>
        </p:txBody>
      </p:sp>
      <p:sp>
        <p:nvSpPr>
          <p:cNvPr id="12" name="Rounded Rectangle 11"/>
          <p:cNvSpPr/>
          <p:nvPr/>
        </p:nvSpPr>
        <p:spPr>
          <a:xfrm>
            <a:off x="731520" y="2660904"/>
            <a:ext cx="5998464"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87552" y="2660904"/>
            <a:ext cx="5486400" cy="859536"/>
          </a:xfrm>
          <a:prstGeom prst="rect">
            <a:avLst/>
          </a:prstGeom>
          <a:noFill/>
        </p:spPr>
        <p:txBody>
          <a:bodyPr wrap="square" anchor="ctr">
            <a:noAutofit/>
          </a:bodyPr>
          <a:lstStyle/>
          <a:p>
            <a:pPr algn="l"/>
            <a:r>
              <a:rPr sz="1900" b="0" i="0">
                <a:solidFill>
                  <a:srgbClr val="232B37"/>
                </a:solidFill>
                <a:latin typeface="Amazon Ember Display"/>
              </a:rPr>
              <a:t>differs per environment, shared widely</a:t>
            </a:r>
          </a:p>
        </p:txBody>
      </p:sp>
      <p:sp>
        <p:nvSpPr>
          <p:cNvPr id="14" name="Freeform 13"/>
          <p:cNvSpPr/>
          <p:nvPr/>
        </p:nvSpPr>
        <p:spPr>
          <a:xfrm>
            <a:off x="6931151" y="3090672"/>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7168895" y="2971800"/>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562088" y="2660904"/>
            <a:ext cx="4023360"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81544" y="2696883"/>
            <a:ext cx="3584448" cy="409702"/>
          </a:xfrm>
          <a:prstGeom prst="rect">
            <a:avLst/>
          </a:prstGeom>
          <a:noFill/>
        </p:spPr>
        <p:txBody>
          <a:bodyPr wrap="square" anchor="t">
            <a:noAutofit/>
          </a:bodyPr>
          <a:lstStyle/>
          <a:p>
            <a:pPr algn="l"/>
            <a:r>
              <a:rPr sz="2000" b="1" i="0">
                <a:solidFill>
                  <a:srgbClr val="8F0072"/>
                </a:solidFill>
                <a:latin typeface="Amazon Ember Display"/>
              </a:rPr>
              <a:t>Parameter Store</a:t>
            </a:r>
          </a:p>
        </p:txBody>
      </p:sp>
      <p:sp>
        <p:nvSpPr>
          <p:cNvPr id="18" name="TextBox 17"/>
          <p:cNvSpPr txBox="1"/>
          <p:nvPr/>
        </p:nvSpPr>
        <p:spPr>
          <a:xfrm>
            <a:off x="7781544" y="3106585"/>
            <a:ext cx="3584448" cy="377875"/>
          </a:xfrm>
          <a:prstGeom prst="rect">
            <a:avLst/>
          </a:prstGeom>
          <a:noFill/>
        </p:spPr>
        <p:txBody>
          <a:bodyPr wrap="square" anchor="t">
            <a:noAutofit/>
          </a:bodyPr>
          <a:lstStyle/>
          <a:p>
            <a:pPr algn="l"/>
            <a:r>
              <a:rPr sz="1800" b="0" i="0">
                <a:solidFill>
                  <a:srgbClr val="232B37"/>
                </a:solidFill>
                <a:latin typeface="Amazon Ember Display"/>
              </a:rPr>
              <a:t>one value, many functions</a:t>
            </a:r>
          </a:p>
        </p:txBody>
      </p:sp>
      <p:sp>
        <p:nvSpPr>
          <p:cNvPr id="19" name="Rounded Rectangle 18"/>
          <p:cNvSpPr/>
          <p:nvPr/>
        </p:nvSpPr>
        <p:spPr>
          <a:xfrm>
            <a:off x="731520" y="3630168"/>
            <a:ext cx="5998464"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87552" y="3630168"/>
            <a:ext cx="5486400" cy="859536"/>
          </a:xfrm>
          <a:prstGeom prst="rect">
            <a:avLst/>
          </a:prstGeom>
          <a:noFill/>
        </p:spPr>
        <p:txBody>
          <a:bodyPr wrap="square" anchor="ctr">
            <a:noAutofit/>
          </a:bodyPr>
          <a:lstStyle/>
          <a:p>
            <a:pPr algn="l"/>
            <a:r>
              <a:rPr sz="1900" b="0" i="0">
                <a:solidFill>
                  <a:srgbClr val="232B37"/>
                </a:solidFill>
                <a:latin typeface="Amazon Ember Display"/>
              </a:rPr>
              <a:t>a credential that must be rotated</a:t>
            </a:r>
          </a:p>
        </p:txBody>
      </p:sp>
      <p:sp>
        <p:nvSpPr>
          <p:cNvPr id="21" name="Freeform 20"/>
          <p:cNvSpPr/>
          <p:nvPr/>
        </p:nvSpPr>
        <p:spPr>
          <a:xfrm>
            <a:off x="6931151" y="4059936"/>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7168895" y="3941064"/>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562088" y="3630168"/>
            <a:ext cx="4023360"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781544" y="3666147"/>
            <a:ext cx="3584448" cy="409702"/>
          </a:xfrm>
          <a:prstGeom prst="rect">
            <a:avLst/>
          </a:prstGeom>
          <a:noFill/>
        </p:spPr>
        <p:txBody>
          <a:bodyPr wrap="square" anchor="t">
            <a:noAutofit/>
          </a:bodyPr>
          <a:lstStyle/>
          <a:p>
            <a:pPr algn="l"/>
            <a:r>
              <a:rPr sz="2000" b="1" i="0">
                <a:solidFill>
                  <a:srgbClr val="8F0072"/>
                </a:solidFill>
                <a:latin typeface="Amazon Ember Display"/>
              </a:rPr>
              <a:t>Secrets Manager</a:t>
            </a:r>
          </a:p>
        </p:txBody>
      </p:sp>
      <p:sp>
        <p:nvSpPr>
          <p:cNvPr id="25" name="TextBox 24"/>
          <p:cNvSpPr txBox="1"/>
          <p:nvPr/>
        </p:nvSpPr>
        <p:spPr>
          <a:xfrm>
            <a:off x="7781544" y="4075849"/>
            <a:ext cx="3584448" cy="377875"/>
          </a:xfrm>
          <a:prstGeom prst="rect">
            <a:avLst/>
          </a:prstGeom>
          <a:noFill/>
        </p:spPr>
        <p:txBody>
          <a:bodyPr wrap="square" anchor="t">
            <a:noAutofit/>
          </a:bodyPr>
          <a:lstStyle/>
          <a:p>
            <a:pPr algn="l"/>
            <a:r>
              <a:rPr sz="1800" b="0" i="0">
                <a:solidFill>
                  <a:srgbClr val="232B37"/>
                </a:solidFill>
                <a:latin typeface="Amazon Ember Display"/>
              </a:rPr>
              <a:t>rotates on a schedule</a:t>
            </a:r>
          </a:p>
        </p:txBody>
      </p:sp>
      <p:sp>
        <p:nvSpPr>
          <p:cNvPr id="26" name="Rounded Rectangle 25"/>
          <p:cNvSpPr/>
          <p:nvPr/>
        </p:nvSpPr>
        <p:spPr>
          <a:xfrm>
            <a:off x="731520" y="4599432"/>
            <a:ext cx="5998464"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87552" y="4599432"/>
            <a:ext cx="5486400" cy="859536"/>
          </a:xfrm>
          <a:prstGeom prst="rect">
            <a:avLst/>
          </a:prstGeom>
          <a:noFill/>
        </p:spPr>
        <p:txBody>
          <a:bodyPr wrap="square" anchor="ctr">
            <a:noAutofit/>
          </a:bodyPr>
          <a:lstStyle/>
          <a:p>
            <a:pPr algn="l"/>
            <a:r>
              <a:rPr sz="1900" b="0" i="0">
                <a:solidFill>
                  <a:srgbClr val="232B37"/>
                </a:solidFill>
                <a:latin typeface="Amazon Ember Display"/>
              </a:rPr>
              <a:t>must change while it is running</a:t>
            </a:r>
          </a:p>
        </p:txBody>
      </p:sp>
      <p:sp>
        <p:nvSpPr>
          <p:cNvPr id="28" name="Freeform 27"/>
          <p:cNvSpPr/>
          <p:nvPr/>
        </p:nvSpPr>
        <p:spPr>
          <a:xfrm>
            <a:off x="6931151" y="5029200"/>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Freeform 28"/>
          <p:cNvSpPr/>
          <p:nvPr/>
        </p:nvSpPr>
        <p:spPr>
          <a:xfrm>
            <a:off x="7168895" y="491032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562088" y="4599432"/>
            <a:ext cx="4023360"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781544" y="4635411"/>
            <a:ext cx="3584448" cy="409702"/>
          </a:xfrm>
          <a:prstGeom prst="rect">
            <a:avLst/>
          </a:prstGeom>
          <a:noFill/>
        </p:spPr>
        <p:txBody>
          <a:bodyPr wrap="square" anchor="t">
            <a:noAutofit/>
          </a:bodyPr>
          <a:lstStyle/>
          <a:p>
            <a:pPr algn="l"/>
            <a:r>
              <a:rPr sz="2000" b="1" i="0">
                <a:solidFill>
                  <a:srgbClr val="8F0072"/>
                </a:solidFill>
                <a:latin typeface="Amazon Ember Display"/>
              </a:rPr>
              <a:t>AWS AppConfig</a:t>
            </a:r>
          </a:p>
        </p:txBody>
      </p:sp>
      <p:sp>
        <p:nvSpPr>
          <p:cNvPr id="32" name="TextBox 31"/>
          <p:cNvSpPr txBox="1"/>
          <p:nvPr/>
        </p:nvSpPr>
        <p:spPr>
          <a:xfrm>
            <a:off x="7781544" y="5045113"/>
            <a:ext cx="3584448" cy="377875"/>
          </a:xfrm>
          <a:prstGeom prst="rect">
            <a:avLst/>
          </a:prstGeom>
          <a:noFill/>
        </p:spPr>
        <p:txBody>
          <a:bodyPr wrap="square" anchor="t">
            <a:noAutofit/>
          </a:bodyPr>
          <a:lstStyle/>
          <a:p>
            <a:pPr algn="l"/>
            <a:r>
              <a:rPr sz="1800" b="0" i="0">
                <a:solidFill>
                  <a:srgbClr val="232B37"/>
                </a:solidFill>
                <a:latin typeface="Amazon Ember Display"/>
              </a:rPr>
              <a:t>validated, staged rollout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Parameter Store holds it; Secrets Manager rotates it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01788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Rotate AWS Secrets Manager secrets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441528"/>
          </a:xfrm>
          <a:prstGeom prst="rect">
            <a:avLst/>
          </a:prstGeom>
          <a:noFill/>
        </p:spPr>
        <p:txBody>
          <a:bodyPr wrap="square" anchor="t">
            <a:noAutofit/>
          </a:bodyPr>
          <a:lstStyle/>
          <a:p>
            <a:pPr algn="ctr"/>
            <a:r>
              <a:rPr sz="2200" b="1" i="0">
                <a:solidFill>
                  <a:srgbClr val="8F0072"/>
                </a:solidFill>
                <a:latin typeface="Amazon Ember Display"/>
              </a:rPr>
              <a:t>PARAMETER STORE</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2112264"/>
            <a:ext cx="4828031" cy="377875"/>
          </a:xfrm>
          <a:prstGeom prst="rect">
            <a:avLst/>
          </a:prstGeom>
          <a:noFill/>
        </p:spPr>
        <p:txBody>
          <a:bodyPr wrap="square" anchor="t">
            <a:noAutofit/>
          </a:bodyPr>
          <a:lstStyle/>
          <a:p>
            <a:pPr algn="ctr"/>
            <a:r>
              <a:rPr sz="1800" b="1" i="0">
                <a:solidFill>
                  <a:srgbClr val="5A6B7B"/>
                </a:solidFill>
                <a:latin typeface="Amazon Ember Display"/>
              </a:rPr>
              <a:t>configuration, at scale</a:t>
            </a:r>
          </a:p>
        </p:txBody>
      </p:sp>
      <p:sp>
        <p:nvSpPr>
          <p:cNvPr id="9" name="Rounded Rectangle 8"/>
          <p:cNvSpPr/>
          <p:nvPr/>
        </p:nvSpPr>
        <p:spPr>
          <a:xfrm>
            <a:off x="850392" y="253288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69848" y="2646680"/>
            <a:ext cx="4389119" cy="346049"/>
          </a:xfrm>
          <a:prstGeom prst="rect">
            <a:avLst/>
          </a:prstGeom>
          <a:noFill/>
        </p:spPr>
        <p:txBody>
          <a:bodyPr wrap="square" anchor="t">
            <a:noAutofit/>
          </a:bodyPr>
          <a:lstStyle/>
          <a:p>
            <a:pPr algn="l"/>
            <a:r>
              <a:rPr sz="1600" b="1" i="0">
                <a:solidFill>
                  <a:srgbClr val="232B37"/>
                </a:solidFill>
                <a:latin typeface="Amazon Ember Display"/>
              </a:rPr>
              <a:t>plain or encrypted strings</a:t>
            </a:r>
          </a:p>
        </p:txBody>
      </p:sp>
      <p:sp>
        <p:nvSpPr>
          <p:cNvPr id="11" name="Rounded Rectangle 10"/>
          <p:cNvSpPr/>
          <p:nvPr/>
        </p:nvSpPr>
        <p:spPr>
          <a:xfrm>
            <a:off x="850392" y="313639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69848" y="3250184"/>
            <a:ext cx="4389119" cy="346049"/>
          </a:xfrm>
          <a:prstGeom prst="rect">
            <a:avLst/>
          </a:prstGeom>
          <a:noFill/>
        </p:spPr>
        <p:txBody>
          <a:bodyPr wrap="square" anchor="t">
            <a:noAutofit/>
          </a:bodyPr>
          <a:lstStyle/>
          <a:p>
            <a:pPr algn="l"/>
            <a:r>
              <a:rPr sz="1600" b="1" i="0">
                <a:solidFill>
                  <a:srgbClr val="232B37"/>
                </a:solidFill>
                <a:latin typeface="Amazon Ember Display"/>
              </a:rPr>
              <a:t>no rotation of its own</a:t>
            </a:r>
          </a:p>
        </p:txBody>
      </p:sp>
      <p:sp>
        <p:nvSpPr>
          <p:cNvPr id="13" name="Rounded Rectangle 12"/>
          <p:cNvSpPr/>
          <p:nvPr/>
        </p:nvSpPr>
        <p:spPr>
          <a:xfrm>
            <a:off x="850392" y="373989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9848" y="3853688"/>
            <a:ext cx="4389119" cy="346049"/>
          </a:xfrm>
          <a:prstGeom prst="rect">
            <a:avLst/>
          </a:prstGeom>
          <a:noFill/>
        </p:spPr>
        <p:txBody>
          <a:bodyPr wrap="square" anchor="t">
            <a:noAutofit/>
          </a:bodyPr>
          <a:lstStyle/>
          <a:p>
            <a:pPr algn="l"/>
            <a:r>
              <a:rPr sz="1600" b="1" i="0">
                <a:solidFill>
                  <a:srgbClr val="232B37"/>
                </a:solidFill>
                <a:latin typeface="Amazon Ember Display"/>
              </a:rPr>
              <a:t>no charge on standard parameters</a:t>
            </a:r>
          </a:p>
        </p:txBody>
      </p:sp>
      <p:sp>
        <p:nvSpPr>
          <p:cNvPr id="15" name="Rounded Rectangle 14"/>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19672" y="1554480"/>
            <a:ext cx="4828031" cy="441528"/>
          </a:xfrm>
          <a:prstGeom prst="rect">
            <a:avLst/>
          </a:prstGeom>
          <a:noFill/>
        </p:spPr>
        <p:txBody>
          <a:bodyPr wrap="square" anchor="t">
            <a:noAutofit/>
          </a:bodyPr>
          <a:lstStyle/>
          <a:p>
            <a:pPr algn="ctr"/>
            <a:r>
              <a:rPr sz="2200" b="1" i="0">
                <a:solidFill>
                  <a:srgbClr val="8F0072"/>
                </a:solidFill>
                <a:latin typeface="Amazon Ember Display"/>
              </a:rPr>
              <a:t>SECRETS MANAGER</a:t>
            </a:r>
          </a:p>
        </p:txBody>
      </p:sp>
      <p:sp>
        <p:nvSpPr>
          <p:cNvPr id="17" name="Rectangle 16"/>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19672" y="2112264"/>
            <a:ext cx="4828031" cy="377875"/>
          </a:xfrm>
          <a:prstGeom prst="rect">
            <a:avLst/>
          </a:prstGeom>
          <a:noFill/>
        </p:spPr>
        <p:txBody>
          <a:bodyPr wrap="square" anchor="t">
            <a:noAutofit/>
          </a:bodyPr>
          <a:lstStyle/>
          <a:p>
            <a:pPr algn="ctr"/>
            <a:r>
              <a:rPr sz="1800" b="1" i="0">
                <a:solidFill>
                  <a:srgbClr val="5A6B7B"/>
                </a:solidFill>
                <a:latin typeface="Amazon Ember Display"/>
              </a:rPr>
              <a:t>credentials, not settings</a:t>
            </a:r>
          </a:p>
        </p:txBody>
      </p:sp>
      <p:sp>
        <p:nvSpPr>
          <p:cNvPr id="19" name="Rounded Rectangle 18"/>
          <p:cNvSpPr/>
          <p:nvPr/>
        </p:nvSpPr>
        <p:spPr>
          <a:xfrm>
            <a:off x="6519672" y="253288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646680"/>
            <a:ext cx="4389119" cy="346049"/>
          </a:xfrm>
          <a:prstGeom prst="rect">
            <a:avLst/>
          </a:prstGeom>
          <a:noFill/>
        </p:spPr>
        <p:txBody>
          <a:bodyPr wrap="square" anchor="t">
            <a:noAutofit/>
          </a:bodyPr>
          <a:lstStyle/>
          <a:p>
            <a:pPr algn="l"/>
            <a:r>
              <a:rPr sz="1600" b="1" i="0">
                <a:solidFill>
                  <a:srgbClr val="232B37"/>
                </a:solidFill>
                <a:latin typeface="Amazon Ember Display"/>
              </a:rPr>
              <a:t>always encrypted</a:t>
            </a:r>
          </a:p>
        </p:txBody>
      </p:sp>
      <p:sp>
        <p:nvSpPr>
          <p:cNvPr id="21" name="Rounded Rectangle 20"/>
          <p:cNvSpPr/>
          <p:nvPr/>
        </p:nvSpPr>
        <p:spPr>
          <a:xfrm>
            <a:off x="6519672" y="313639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250184"/>
            <a:ext cx="4389119" cy="346049"/>
          </a:xfrm>
          <a:prstGeom prst="rect">
            <a:avLst/>
          </a:prstGeom>
          <a:noFill/>
        </p:spPr>
        <p:txBody>
          <a:bodyPr wrap="square" anchor="t">
            <a:noAutofit/>
          </a:bodyPr>
          <a:lstStyle/>
          <a:p>
            <a:pPr algn="l"/>
            <a:r>
              <a:rPr sz="1600" b="1" i="0">
                <a:solidFill>
                  <a:srgbClr val="232B37"/>
                </a:solidFill>
                <a:latin typeface="Amazon Ember Display"/>
              </a:rPr>
              <a:t>ROTATES on a schedule</a:t>
            </a:r>
          </a:p>
        </p:txBody>
      </p:sp>
      <p:sp>
        <p:nvSpPr>
          <p:cNvPr id="23" name="Rounded Rectangle 22"/>
          <p:cNvSpPr/>
          <p:nvPr/>
        </p:nvSpPr>
        <p:spPr>
          <a:xfrm>
            <a:off x="6519672" y="373989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3853688"/>
            <a:ext cx="4389119" cy="346049"/>
          </a:xfrm>
          <a:prstGeom prst="rect">
            <a:avLst/>
          </a:prstGeom>
          <a:noFill/>
        </p:spPr>
        <p:txBody>
          <a:bodyPr wrap="square" anchor="t">
            <a:noAutofit/>
          </a:bodyPr>
          <a:lstStyle/>
          <a:p>
            <a:pPr algn="l"/>
            <a:r>
              <a:rPr sz="1600" b="1" i="0">
                <a:solidFill>
                  <a:srgbClr val="232B37"/>
                </a:solidFill>
                <a:latin typeface="Amazon Ember Display"/>
              </a:rPr>
              <a:t>charged per secret</a:t>
            </a:r>
          </a:p>
        </p:txBody>
      </p:sp>
      <p:sp>
        <p:nvSpPr>
          <p:cNvPr id="25" name="TextBox 24"/>
          <p:cNvSpPr txBox="1"/>
          <p:nvPr/>
        </p:nvSpPr>
        <p:spPr>
          <a:xfrm>
            <a:off x="612648" y="4736592"/>
            <a:ext cx="10972800" cy="441528"/>
          </a:xfrm>
          <a:prstGeom prst="rect">
            <a:avLst/>
          </a:prstGeom>
          <a:noFill/>
        </p:spPr>
        <p:txBody>
          <a:bodyPr wrap="square" anchor="ctr">
            <a:noAutofit/>
          </a:bodyPr>
          <a:lstStyle/>
          <a:p>
            <a:pPr algn="ctr"/>
            <a:r>
              <a:rPr sz="2200" b="1" i="0">
                <a:solidFill>
                  <a:srgbClr val="8F0072"/>
                </a:solidFill>
                <a:latin typeface="Amazon Ember Display"/>
              </a:rPr>
              <a:t>if nothing will ever rotate it, it is configuration -- not a secret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test event is a JSON payload you replay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737360"/>
            <a:ext cx="6035040" cy="3057753"/>
          </a:xfrm>
          <a:prstGeom prst="roundRect">
            <a:avLst>
              <a:gd name="adj" fmla="val 3500"/>
            </a:avLst>
          </a:prstGeom>
          <a:solidFill>
            <a:srgbClr val="13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93391"/>
            <a:ext cx="274320" cy="282854"/>
          </a:xfrm>
          <a:prstGeom prst="rect">
            <a:avLst/>
          </a:prstGeom>
          <a:noFill/>
        </p:spPr>
        <p:txBody>
          <a:bodyPr wrap="none" lIns="0" tIns="0" rIns="0" bIns="0" anchor="ctr">
            <a:spAutoFit/>
          </a:bodyPr>
          <a:lstStyle/>
          <a:p>
            <a:pPr algn="r"/>
            <a:r>
              <a:rPr sz="1280" b="0">
                <a:solidFill>
                  <a:srgbClr val="72747E"/>
                </a:solidFill>
                <a:latin typeface="Menlo"/>
              </a:rPr>
              <a:t>1</a:t>
            </a:r>
          </a:p>
        </p:txBody>
      </p:sp>
      <p:sp>
        <p:nvSpPr>
          <p:cNvPr id="6" name="TextBox 5"/>
          <p:cNvSpPr txBox="1"/>
          <p:nvPr/>
        </p:nvSpPr>
        <p:spPr>
          <a:xfrm>
            <a:off x="1161288" y="1993391"/>
            <a:ext cx="5120639" cy="282854"/>
          </a:xfrm>
          <a:prstGeom prst="rect">
            <a:avLst/>
          </a:prstGeom>
          <a:noFill/>
        </p:spPr>
        <p:txBody>
          <a:bodyPr wrap="none" lIns="0" tIns="0" rIns="0" bIns="0" anchor="ctr">
            <a:spAutoFit/>
          </a:bodyPr>
          <a:lstStyle/>
          <a:p>
            <a:pPr algn="l"/>
            <a:r>
              <a:rPr sz="1600" b="0">
                <a:solidFill>
                  <a:srgbClr val="CCCCD1"/>
                </a:solidFill>
                <a:latin typeface="Menlo"/>
              </a:rPr>
              <a:t>{</a:t>
            </a:r>
          </a:p>
        </p:txBody>
      </p:sp>
      <p:sp>
        <p:nvSpPr>
          <p:cNvPr id="7" name="TextBox 6"/>
          <p:cNvSpPr txBox="1"/>
          <p:nvPr/>
        </p:nvSpPr>
        <p:spPr>
          <a:xfrm>
            <a:off x="859536" y="2276246"/>
            <a:ext cx="274320" cy="282854"/>
          </a:xfrm>
          <a:prstGeom prst="rect">
            <a:avLst/>
          </a:prstGeom>
          <a:noFill/>
        </p:spPr>
        <p:txBody>
          <a:bodyPr wrap="none" lIns="0" tIns="0" rIns="0" bIns="0" anchor="ctr">
            <a:spAutoFit/>
          </a:bodyPr>
          <a:lstStyle/>
          <a:p>
            <a:pPr algn="r"/>
            <a:r>
              <a:rPr sz="1280" b="0">
                <a:solidFill>
                  <a:srgbClr val="72747E"/>
                </a:solidFill>
                <a:latin typeface="Menlo"/>
              </a:rPr>
              <a:t>2</a:t>
            </a:r>
          </a:p>
        </p:txBody>
      </p:sp>
      <p:sp>
        <p:nvSpPr>
          <p:cNvPr id="8" name="TextBox 7"/>
          <p:cNvSpPr txBox="1"/>
          <p:nvPr/>
        </p:nvSpPr>
        <p:spPr>
          <a:xfrm>
            <a:off x="1161288" y="2276246"/>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"httpMethod"</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"POST"</a:t>
            </a:r>
            <a:r>
              <a:rPr sz="1600" b="0">
                <a:solidFill>
                  <a:srgbClr val="CCCCD1"/>
                </a:solidFill>
                <a:latin typeface="Menlo"/>
              </a:rPr>
              <a:t>,</a:t>
            </a:r>
          </a:p>
        </p:txBody>
      </p:sp>
      <p:sp>
        <p:nvSpPr>
          <p:cNvPr id="9" name="TextBox 8"/>
          <p:cNvSpPr txBox="1"/>
          <p:nvPr/>
        </p:nvSpPr>
        <p:spPr>
          <a:xfrm>
            <a:off x="859536" y="2559100"/>
            <a:ext cx="274320" cy="282854"/>
          </a:xfrm>
          <a:prstGeom prst="rect">
            <a:avLst/>
          </a:prstGeom>
          <a:noFill/>
        </p:spPr>
        <p:txBody>
          <a:bodyPr wrap="none" lIns="0" tIns="0" rIns="0" bIns="0" anchor="ctr">
            <a:spAutoFit/>
          </a:bodyPr>
          <a:lstStyle/>
          <a:p>
            <a:pPr algn="r"/>
            <a:r>
              <a:rPr sz="1280" b="0">
                <a:solidFill>
                  <a:srgbClr val="72747E"/>
                </a:solidFill>
                <a:latin typeface="Menlo"/>
              </a:rPr>
              <a:t>3</a:t>
            </a:r>
          </a:p>
        </p:txBody>
      </p:sp>
      <p:sp>
        <p:nvSpPr>
          <p:cNvPr id="10" name="TextBox 9"/>
          <p:cNvSpPr txBox="1"/>
          <p:nvPr/>
        </p:nvSpPr>
        <p:spPr>
          <a:xfrm>
            <a:off x="1161288" y="2559100"/>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"path"</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"/orders"</a:t>
            </a:r>
            <a:r>
              <a:rPr sz="1600" b="0">
                <a:solidFill>
                  <a:srgbClr val="CCCCD1"/>
                </a:solidFill>
                <a:latin typeface="Menlo"/>
              </a:rPr>
              <a:t>,</a:t>
            </a:r>
          </a:p>
        </p:txBody>
      </p:sp>
      <p:sp>
        <p:nvSpPr>
          <p:cNvPr id="11" name="TextBox 10"/>
          <p:cNvSpPr txBox="1"/>
          <p:nvPr/>
        </p:nvSpPr>
        <p:spPr>
          <a:xfrm>
            <a:off x="859536" y="2841955"/>
            <a:ext cx="274320" cy="282854"/>
          </a:xfrm>
          <a:prstGeom prst="rect">
            <a:avLst/>
          </a:prstGeom>
          <a:noFill/>
        </p:spPr>
        <p:txBody>
          <a:bodyPr wrap="none" lIns="0" tIns="0" rIns="0" bIns="0" anchor="ctr">
            <a:spAutoFit/>
          </a:bodyPr>
          <a:lstStyle/>
          <a:p>
            <a:pPr algn="r"/>
            <a:r>
              <a:rPr sz="1280" b="0">
                <a:solidFill>
                  <a:srgbClr val="72747E"/>
                </a:solidFill>
                <a:latin typeface="Menlo"/>
              </a:rPr>
              <a:t>4</a:t>
            </a:r>
          </a:p>
        </p:txBody>
      </p:sp>
      <p:sp>
        <p:nvSpPr>
          <p:cNvPr id="12" name="TextBox 11"/>
          <p:cNvSpPr txBox="1"/>
          <p:nvPr/>
        </p:nvSpPr>
        <p:spPr>
          <a:xfrm>
            <a:off x="1161288" y="2841955"/>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"headers"</a:t>
            </a:r>
            <a:r>
              <a:rPr sz="1600" b="0">
                <a:solidFill>
                  <a:srgbClr val="CCCCD1"/>
                </a:solidFill>
                <a:latin typeface="Menlo"/>
              </a:rPr>
              <a:t>:</a:t>
            </a:r>
            <a:r>
              <a:rPr sz="1600" b="0">
                <a:solidFill>
                  <a:srgbClr val="F6F6F9"/>
                </a:solidFill>
                <a:latin typeface="Menlo"/>
              </a:rPr>
              <a:t> </a:t>
            </a:r>
            <a:r>
              <a:rPr sz="1600" b="0">
                <a:solidFill>
                  <a:srgbClr val="CCCCD1"/>
                </a:solidFill>
                <a:latin typeface="Menlo"/>
              </a:rPr>
              <a:t>{</a:t>
            </a:r>
          </a:p>
        </p:txBody>
      </p:sp>
      <p:sp>
        <p:nvSpPr>
          <p:cNvPr id="13" name="TextBox 12"/>
          <p:cNvSpPr txBox="1"/>
          <p:nvPr/>
        </p:nvSpPr>
        <p:spPr>
          <a:xfrm>
            <a:off x="859536" y="3124809"/>
            <a:ext cx="274320" cy="282854"/>
          </a:xfrm>
          <a:prstGeom prst="rect">
            <a:avLst/>
          </a:prstGeom>
          <a:noFill/>
        </p:spPr>
        <p:txBody>
          <a:bodyPr wrap="none" lIns="0" tIns="0" rIns="0" bIns="0" anchor="ctr">
            <a:spAutoFit/>
          </a:bodyPr>
          <a:lstStyle/>
          <a:p>
            <a:pPr algn="r"/>
            <a:r>
              <a:rPr sz="1280" b="0">
                <a:solidFill>
                  <a:srgbClr val="72747E"/>
                </a:solidFill>
                <a:latin typeface="Menlo"/>
              </a:rPr>
              <a:t>5</a:t>
            </a:r>
          </a:p>
        </p:txBody>
      </p:sp>
      <p:sp>
        <p:nvSpPr>
          <p:cNvPr id="14" name="TextBox 13"/>
          <p:cNvSpPr txBox="1"/>
          <p:nvPr/>
        </p:nvSpPr>
        <p:spPr>
          <a:xfrm>
            <a:off x="1161288" y="3124809"/>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"Content-Type"</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"application/json"</a:t>
            </a:r>
          </a:p>
        </p:txBody>
      </p:sp>
      <p:sp>
        <p:nvSpPr>
          <p:cNvPr id="15" name="TextBox 14"/>
          <p:cNvSpPr txBox="1"/>
          <p:nvPr/>
        </p:nvSpPr>
        <p:spPr>
          <a:xfrm>
            <a:off x="859536" y="3407663"/>
            <a:ext cx="274320" cy="282854"/>
          </a:xfrm>
          <a:prstGeom prst="rect">
            <a:avLst/>
          </a:prstGeom>
          <a:noFill/>
        </p:spPr>
        <p:txBody>
          <a:bodyPr wrap="none" lIns="0" tIns="0" rIns="0" bIns="0" anchor="ctr">
            <a:spAutoFit/>
          </a:bodyPr>
          <a:lstStyle/>
          <a:p>
            <a:pPr algn="r"/>
            <a:r>
              <a:rPr sz="1280" b="0">
                <a:solidFill>
                  <a:srgbClr val="72747E"/>
                </a:solidFill>
                <a:latin typeface="Menlo"/>
              </a:rPr>
              <a:t>6</a:t>
            </a:r>
          </a:p>
        </p:txBody>
      </p:sp>
      <p:sp>
        <p:nvSpPr>
          <p:cNvPr id="16" name="TextBox 15"/>
          <p:cNvSpPr txBox="1"/>
          <p:nvPr/>
        </p:nvSpPr>
        <p:spPr>
          <a:xfrm>
            <a:off x="1161288" y="3407663"/>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CCCCD1"/>
                </a:solidFill>
                <a:latin typeface="Menlo"/>
              </a:rPr>
              <a:t>},</a:t>
            </a:r>
          </a:p>
        </p:txBody>
      </p:sp>
      <p:sp>
        <p:nvSpPr>
          <p:cNvPr id="17" name="TextBox 16"/>
          <p:cNvSpPr txBox="1"/>
          <p:nvPr/>
        </p:nvSpPr>
        <p:spPr>
          <a:xfrm>
            <a:off x="859536" y="3690518"/>
            <a:ext cx="274320" cy="282854"/>
          </a:xfrm>
          <a:prstGeom prst="rect">
            <a:avLst/>
          </a:prstGeom>
          <a:noFill/>
        </p:spPr>
        <p:txBody>
          <a:bodyPr wrap="none" lIns="0" tIns="0" rIns="0" bIns="0" anchor="ctr">
            <a:spAutoFit/>
          </a:bodyPr>
          <a:lstStyle/>
          <a:p>
            <a:pPr algn="r"/>
            <a:r>
              <a:rPr sz="1280" b="0">
                <a:solidFill>
                  <a:srgbClr val="72747E"/>
                </a:solidFill>
                <a:latin typeface="Menlo"/>
              </a:rPr>
              <a:t>7</a:t>
            </a:r>
          </a:p>
        </p:txBody>
      </p:sp>
      <p:sp>
        <p:nvSpPr>
          <p:cNvPr id="18" name="TextBox 17"/>
          <p:cNvSpPr txBox="1"/>
          <p:nvPr/>
        </p:nvSpPr>
        <p:spPr>
          <a:xfrm>
            <a:off x="1161288" y="3690518"/>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"body"</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"{\"sku\":\"A-1\",\"qty\":2}"</a:t>
            </a:r>
            <a:r>
              <a:rPr sz="1600" b="0">
                <a:solidFill>
                  <a:srgbClr val="CCCCD1"/>
                </a:solidFill>
                <a:latin typeface="Menlo"/>
              </a:rPr>
              <a:t>,</a:t>
            </a:r>
          </a:p>
        </p:txBody>
      </p:sp>
      <p:sp>
        <p:nvSpPr>
          <p:cNvPr id="19" name="TextBox 18"/>
          <p:cNvSpPr txBox="1"/>
          <p:nvPr/>
        </p:nvSpPr>
        <p:spPr>
          <a:xfrm>
            <a:off x="859536" y="3973372"/>
            <a:ext cx="274320" cy="282854"/>
          </a:xfrm>
          <a:prstGeom prst="rect">
            <a:avLst/>
          </a:prstGeom>
          <a:noFill/>
        </p:spPr>
        <p:txBody>
          <a:bodyPr wrap="none" lIns="0" tIns="0" rIns="0" bIns="0" anchor="ctr">
            <a:spAutoFit/>
          </a:bodyPr>
          <a:lstStyle/>
          <a:p>
            <a:pPr algn="r"/>
            <a:r>
              <a:rPr sz="1280" b="0">
                <a:solidFill>
                  <a:srgbClr val="72747E"/>
                </a:solidFill>
                <a:latin typeface="Menlo"/>
              </a:rPr>
              <a:t>8</a:t>
            </a:r>
          </a:p>
        </p:txBody>
      </p:sp>
      <p:sp>
        <p:nvSpPr>
          <p:cNvPr id="20" name="TextBox 19"/>
          <p:cNvSpPr txBox="1"/>
          <p:nvPr/>
        </p:nvSpPr>
        <p:spPr>
          <a:xfrm>
            <a:off x="1161288" y="3973372"/>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"isBase64Encoded"</a:t>
            </a:r>
            <a:r>
              <a:rPr sz="1600" b="0">
                <a:solidFill>
                  <a:srgbClr val="CCCCD1"/>
                </a:solidFill>
                <a:latin typeface="Menlo"/>
              </a:rPr>
              <a:t>:</a:t>
            </a:r>
            <a:r>
              <a:rPr sz="1600" b="0">
                <a:solidFill>
                  <a:srgbClr val="F6F6F9"/>
                </a:solidFill>
                <a:latin typeface="Menlo"/>
              </a:rPr>
              <a:t> </a:t>
            </a:r>
            <a:r>
              <a:rPr sz="1600" b="0">
                <a:solidFill>
                  <a:srgbClr val="FF9900"/>
                </a:solidFill>
                <a:latin typeface="Menlo"/>
              </a:rPr>
              <a:t>false</a:t>
            </a:r>
          </a:p>
        </p:txBody>
      </p:sp>
      <p:sp>
        <p:nvSpPr>
          <p:cNvPr id="21" name="TextBox 20"/>
          <p:cNvSpPr txBox="1"/>
          <p:nvPr/>
        </p:nvSpPr>
        <p:spPr>
          <a:xfrm>
            <a:off x="859536" y="4256227"/>
            <a:ext cx="274320" cy="282854"/>
          </a:xfrm>
          <a:prstGeom prst="rect">
            <a:avLst/>
          </a:prstGeom>
          <a:noFill/>
        </p:spPr>
        <p:txBody>
          <a:bodyPr wrap="none" lIns="0" tIns="0" rIns="0" bIns="0" anchor="ctr">
            <a:spAutoFit/>
          </a:bodyPr>
          <a:lstStyle/>
          <a:p>
            <a:pPr algn="r"/>
            <a:r>
              <a:rPr sz="1280" b="0">
                <a:solidFill>
                  <a:srgbClr val="72747E"/>
                </a:solidFill>
                <a:latin typeface="Menlo"/>
              </a:rPr>
              <a:t>9</a:t>
            </a:r>
          </a:p>
        </p:txBody>
      </p:sp>
      <p:sp>
        <p:nvSpPr>
          <p:cNvPr id="22" name="TextBox 21"/>
          <p:cNvSpPr txBox="1"/>
          <p:nvPr/>
        </p:nvSpPr>
        <p:spPr>
          <a:xfrm>
            <a:off x="1161288" y="4256227"/>
            <a:ext cx="5120639" cy="282854"/>
          </a:xfrm>
          <a:prstGeom prst="rect">
            <a:avLst/>
          </a:prstGeom>
          <a:noFill/>
        </p:spPr>
        <p:txBody>
          <a:bodyPr wrap="none" lIns="0" tIns="0" rIns="0" bIns="0" anchor="ctr">
            <a:spAutoFit/>
          </a:bodyPr>
          <a:lstStyle/>
          <a:p>
            <a:pPr algn="l"/>
            <a:r>
              <a:rPr sz="1600" b="0">
                <a:solidFill>
                  <a:srgbClr val="CCCCD1"/>
                </a:solidFill>
                <a:latin typeface="Menlo"/>
              </a:rPr>
              <a:t>}</a:t>
            </a:r>
          </a:p>
        </p:txBody>
      </p:sp>
      <p:sp>
        <p:nvSpPr>
          <p:cNvPr id="23" name="Oval 22"/>
          <p:cNvSpPr/>
          <p:nvPr/>
        </p:nvSpPr>
        <p:spPr>
          <a:xfrm>
            <a:off x="521207" y="2262225"/>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1</a:t>
            </a:r>
          </a:p>
        </p:txBody>
      </p:sp>
      <p:sp>
        <p:nvSpPr>
          <p:cNvPr id="24" name="Oval 23"/>
          <p:cNvSpPr/>
          <p:nvPr/>
        </p:nvSpPr>
        <p:spPr>
          <a:xfrm>
            <a:off x="521207" y="3676497"/>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2</a:t>
            </a:r>
          </a:p>
        </p:txBody>
      </p:sp>
      <p:sp>
        <p:nvSpPr>
          <p:cNvPr id="25" name="Oval 24"/>
          <p:cNvSpPr/>
          <p:nvPr/>
        </p:nvSpPr>
        <p:spPr>
          <a:xfrm>
            <a:off x="521207" y="3959351"/>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3</a:t>
            </a:r>
          </a:p>
        </p:txBody>
      </p:sp>
      <p:sp>
        <p:nvSpPr>
          <p:cNvPr id="26" name="TextBox 25"/>
          <p:cNvSpPr txBox="1"/>
          <p:nvPr/>
        </p:nvSpPr>
        <p:spPr>
          <a:xfrm>
            <a:off x="6949440" y="1426463"/>
            <a:ext cx="4739335" cy="329184"/>
          </a:xfrm>
          <a:prstGeom prst="rect">
            <a:avLst/>
          </a:prstGeom>
          <a:noFill/>
        </p:spPr>
        <p:txBody>
          <a:bodyPr wrap="none" lIns="0" tIns="0" rIns="0" bIns="0" anchor="ctr">
            <a:spAutoFit/>
          </a:bodyPr>
          <a:lstStyle/>
          <a:p>
            <a:pPr algn="l"/>
            <a:r>
              <a:rPr sz="1500" b="1">
                <a:solidFill>
                  <a:srgbClr val="5A636E"/>
                </a:solidFill>
                <a:latin typeface="Amazon Ember"/>
              </a:rPr>
              <a:t>WHAT EACH PART DOES</a:t>
            </a:r>
          </a:p>
        </p:txBody>
      </p:sp>
      <p:sp>
        <p:nvSpPr>
          <p:cNvPr id="27" name="Oval 26"/>
          <p:cNvSpPr/>
          <p:nvPr/>
        </p:nvSpPr>
        <p:spPr>
          <a:xfrm>
            <a:off x="6894576" y="1801367"/>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1</a:t>
            </a:r>
          </a:p>
        </p:txBody>
      </p:sp>
      <p:sp>
        <p:nvSpPr>
          <p:cNvPr id="28" name="TextBox 27"/>
          <p:cNvSpPr txBox="1"/>
          <p:nvPr/>
        </p:nvSpPr>
        <p:spPr>
          <a:xfrm>
            <a:off x="7370064" y="1828800"/>
            <a:ext cx="4318711" cy="1207008"/>
          </a:xfrm>
          <a:prstGeom prst="rect">
            <a:avLst/>
          </a:prstGeom>
          <a:noFill/>
        </p:spPr>
        <p:txBody>
          <a:bodyPr wrap="square" lIns="0" tIns="0" bIns="0">
            <a:spAutoFit/>
          </a:bodyPr>
          <a:lstStyle/>
          <a:p>
            <a:r>
              <a:rPr sz="1700" b="1">
                <a:solidFill>
                  <a:srgbClr val="8F0072"/>
                </a:solidFill>
                <a:latin typeface="Menlo"/>
              </a:rPr>
              <a:t>httpMethod</a:t>
            </a:r>
          </a:p>
          <a:p>
            <a:pPr>
              <a:spcBef>
                <a:spcPts val="200"/>
              </a:spcBef>
            </a:pPr>
            <a:r>
              <a:rPr sz="1600">
                <a:solidFill>
                  <a:srgbClr val="333B45"/>
                </a:solidFill>
                <a:latin typeface="Amazon Ember"/>
              </a:rPr>
              <a:t>the event stands in for whatever would have invoked you</a:t>
            </a:r>
          </a:p>
        </p:txBody>
      </p:sp>
      <p:sp>
        <p:nvSpPr>
          <p:cNvPr id="29" name="Oval 28"/>
          <p:cNvSpPr/>
          <p:nvPr/>
        </p:nvSpPr>
        <p:spPr>
          <a:xfrm>
            <a:off x="6894576" y="3246120"/>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2</a:t>
            </a:r>
          </a:p>
        </p:txBody>
      </p:sp>
      <p:sp>
        <p:nvSpPr>
          <p:cNvPr id="30" name="TextBox 29"/>
          <p:cNvSpPr txBox="1"/>
          <p:nvPr/>
        </p:nvSpPr>
        <p:spPr>
          <a:xfrm>
            <a:off x="7370064" y="3273552"/>
            <a:ext cx="4318711" cy="1207008"/>
          </a:xfrm>
          <a:prstGeom prst="rect">
            <a:avLst/>
          </a:prstGeom>
          <a:noFill/>
        </p:spPr>
        <p:txBody>
          <a:bodyPr wrap="square" lIns="0" tIns="0" bIns="0">
            <a:spAutoFit/>
          </a:bodyPr>
          <a:lstStyle/>
          <a:p>
            <a:r>
              <a:rPr sz="1700" b="1">
                <a:solidFill>
                  <a:srgbClr val="8F0072"/>
                </a:solidFill>
                <a:latin typeface="Menlo"/>
              </a:rPr>
              <a:t>"body"</a:t>
            </a:r>
          </a:p>
          <a:p>
            <a:pPr>
              <a:spcBef>
                <a:spcPts val="200"/>
              </a:spcBef>
            </a:pPr>
            <a:r>
              <a:rPr sz="1600">
                <a:solidFill>
                  <a:srgbClr val="333B45"/>
                </a:solidFill>
                <a:latin typeface="Amazon Ember"/>
              </a:rPr>
              <a:t>a proxy event carries the body as a STRING, not an object</a:t>
            </a:r>
          </a:p>
        </p:txBody>
      </p:sp>
      <p:sp>
        <p:nvSpPr>
          <p:cNvPr id="31" name="Oval 30"/>
          <p:cNvSpPr/>
          <p:nvPr/>
        </p:nvSpPr>
        <p:spPr>
          <a:xfrm>
            <a:off x="6894576" y="4690872"/>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3</a:t>
            </a:r>
          </a:p>
        </p:txBody>
      </p:sp>
      <p:sp>
        <p:nvSpPr>
          <p:cNvPr id="32" name="TextBox 31"/>
          <p:cNvSpPr txBox="1"/>
          <p:nvPr/>
        </p:nvSpPr>
        <p:spPr>
          <a:xfrm>
            <a:off x="7370064" y="4718304"/>
            <a:ext cx="4318711" cy="1207008"/>
          </a:xfrm>
          <a:prstGeom prst="rect">
            <a:avLst/>
          </a:prstGeom>
          <a:noFill/>
        </p:spPr>
        <p:txBody>
          <a:bodyPr wrap="square" lIns="0" tIns="0" bIns="0">
            <a:spAutoFit/>
          </a:bodyPr>
          <a:lstStyle/>
          <a:p>
            <a:r>
              <a:rPr sz="1700" b="1">
                <a:solidFill>
                  <a:srgbClr val="8F0072"/>
                </a:solidFill>
                <a:latin typeface="Menlo"/>
              </a:rPr>
              <a:t>isBase64Encoded</a:t>
            </a:r>
          </a:p>
          <a:p>
            <a:pPr>
              <a:spcBef>
                <a:spcPts val="200"/>
              </a:spcBef>
            </a:pPr>
            <a:r>
              <a:rPr sz="1600">
                <a:solidFill>
                  <a:srgbClr val="333B45"/>
                </a:solidFill>
                <a:latin typeface="Amazon Ember"/>
              </a:rPr>
              <a:t>the flag your parser has to respect</a:t>
            </a:r>
          </a:p>
        </p:txBody>
      </p:sp>
      <p:sp>
        <p:nvSpPr>
          <p:cNvPr id="33" name="TextBox 32">
            <a:hlinkClick r:id="rId3"/>
          </p:cNvPr>
          <p:cNvSpPr txBox="1"/>
          <p:nvPr/>
        </p:nvSpPr>
        <p:spPr>
          <a:xfrm>
            <a:off x="612648" y="5943600"/>
            <a:ext cx="5925312" cy="274320"/>
          </a:xfrm>
          <a:prstGeom prst="rect">
            <a:avLst/>
          </a:prstGeom>
          <a:noFill/>
        </p:spPr>
        <p:txBody>
          <a:bodyPr wrap="none" lIns="0" tIns="0" rIns="0" bIns="0">
            <a:spAutoFit/>
          </a:bodyPr>
          <a:lstStyle/>
          <a:p>
            <a:pPr algn="l"/>
            <a:r>
              <a:rPr sz="1100" b="1">
                <a:solidFill>
                  <a:srgbClr val="5A636E"/>
                </a:solidFill>
                <a:latin typeface="Amazon Ember"/>
              </a:rPr>
              <a:t>SOURCE  </a:t>
            </a:r>
            <a:r>
              <a:rPr sz="1200" u="sng">
                <a:solidFill>
                  <a:srgbClr val="0563C1"/>
                </a:solidFill>
                <a:latin typeface="Menlo"/>
                <a:hlinkClick r:id="rId3"/>
              </a:rPr>
              <a:t>docs.aws.amazon.com - Testing Lambda functions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An alias is a pointer, so traffic moves with no deploy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41248" y="2788920"/>
            <a:ext cx="2880360" cy="1188720"/>
          </a:xfrm>
          <a:prstGeom prst="roundRect">
            <a:avLst>
              <a:gd name="adj" fmla="val 10769"/>
            </a:avLst>
          </a:prstGeom>
          <a:solidFill>
            <a:srgbClr val="FF57E9"/>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69264" y="2990088"/>
            <a:ext cx="2624328" cy="377875"/>
          </a:xfrm>
          <a:prstGeom prst="rect">
            <a:avLst/>
          </a:prstGeom>
          <a:noFill/>
        </p:spPr>
        <p:txBody>
          <a:bodyPr wrap="square" anchor="ctr">
            <a:noAutofit/>
          </a:bodyPr>
          <a:lstStyle/>
          <a:p>
            <a:pPr algn="ctr"/>
            <a:r>
              <a:rPr sz="1800" b="1" i="0">
                <a:solidFill>
                  <a:srgbClr val="FFFFFF"/>
                </a:solidFill>
                <a:latin typeface="Amazon Ember Display"/>
              </a:rPr>
              <a:t>ALIAS   live</a:t>
            </a:r>
          </a:p>
        </p:txBody>
      </p:sp>
      <p:sp>
        <p:nvSpPr>
          <p:cNvPr id="6" name="TextBox 5"/>
          <p:cNvSpPr txBox="1"/>
          <p:nvPr/>
        </p:nvSpPr>
        <p:spPr>
          <a:xfrm>
            <a:off x="969264" y="3429000"/>
            <a:ext cx="2624328" cy="346049"/>
          </a:xfrm>
          <a:prstGeom prst="rect">
            <a:avLst/>
          </a:prstGeom>
          <a:noFill/>
        </p:spPr>
        <p:txBody>
          <a:bodyPr wrap="square" anchor="ctr">
            <a:noAutofit/>
          </a:bodyPr>
          <a:lstStyle/>
          <a:p>
            <a:pPr algn="ctr"/>
            <a:r>
              <a:rPr sz="1600" b="0" i="0">
                <a:solidFill>
                  <a:srgbClr val="FFFFFF"/>
                </a:solidFill>
                <a:latin typeface="Amazon Ember Display"/>
              </a:rPr>
              <a:t>what callers invoke</a:t>
            </a:r>
          </a:p>
        </p:txBody>
      </p:sp>
      <p:sp>
        <p:nvSpPr>
          <p:cNvPr id="7" name="Rounded Rectangle 6"/>
          <p:cNvSpPr/>
          <p:nvPr/>
        </p:nvSpPr>
        <p:spPr>
          <a:xfrm>
            <a:off x="7589520" y="2103120"/>
            <a:ext cx="3291840" cy="1051560"/>
          </a:xfrm>
          <a:prstGeom prst="roundRect">
            <a:avLst>
              <a:gd name="adj" fmla="val 10434"/>
            </a:avLst>
          </a:prstGeom>
          <a:solidFill>
            <a:srgbClr val="FFFFFF"/>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717536" y="2249424"/>
            <a:ext cx="3035808" cy="346049"/>
          </a:xfrm>
          <a:prstGeom prst="rect">
            <a:avLst/>
          </a:prstGeom>
          <a:noFill/>
        </p:spPr>
        <p:txBody>
          <a:bodyPr wrap="square" anchor="ctr">
            <a:noAutofit/>
          </a:bodyPr>
          <a:lstStyle/>
          <a:p>
            <a:pPr algn="ctr"/>
            <a:r>
              <a:rPr sz="1600" b="1" i="0">
                <a:solidFill>
                  <a:srgbClr val="8F0072"/>
                </a:solidFill>
                <a:latin typeface="Amazon Ember Display"/>
              </a:rPr>
              <a:t>VERSION 3</a:t>
            </a:r>
          </a:p>
        </p:txBody>
      </p:sp>
      <p:sp>
        <p:nvSpPr>
          <p:cNvPr id="9" name="TextBox 8"/>
          <p:cNvSpPr txBox="1"/>
          <p:nvPr/>
        </p:nvSpPr>
        <p:spPr>
          <a:xfrm>
            <a:off x="7717536" y="2633472"/>
            <a:ext cx="3035808" cy="346049"/>
          </a:xfrm>
          <a:prstGeom prst="rect">
            <a:avLst/>
          </a:prstGeom>
          <a:noFill/>
        </p:spPr>
        <p:txBody>
          <a:bodyPr wrap="square" anchor="ctr">
            <a:noAutofit/>
          </a:bodyPr>
          <a:lstStyle/>
          <a:p>
            <a:pPr algn="ctr"/>
            <a:r>
              <a:rPr sz="1600" b="0" i="0">
                <a:solidFill>
                  <a:srgbClr val="5A6B7B"/>
                </a:solidFill>
                <a:latin typeface="Amazon Ember Display"/>
              </a:rPr>
              <a:t>immutable  ·  serving</a:t>
            </a:r>
          </a:p>
        </p:txBody>
      </p:sp>
      <p:sp>
        <p:nvSpPr>
          <p:cNvPr id="10" name="Rounded Rectangle 9"/>
          <p:cNvSpPr/>
          <p:nvPr/>
        </p:nvSpPr>
        <p:spPr>
          <a:xfrm>
            <a:off x="7589520" y="3703320"/>
            <a:ext cx="3291840" cy="1051560"/>
          </a:xfrm>
          <a:prstGeom prst="roundRect">
            <a:avLst>
              <a:gd name="adj" fmla="val 10434"/>
            </a:avLst>
          </a:prstGeom>
          <a:solidFill>
            <a:srgbClr val="FFFFFF"/>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717536" y="3849624"/>
            <a:ext cx="3035808" cy="346049"/>
          </a:xfrm>
          <a:prstGeom prst="rect">
            <a:avLst/>
          </a:prstGeom>
          <a:noFill/>
        </p:spPr>
        <p:txBody>
          <a:bodyPr wrap="square" anchor="ctr">
            <a:noAutofit/>
          </a:bodyPr>
          <a:lstStyle/>
          <a:p>
            <a:pPr algn="ctr"/>
            <a:r>
              <a:rPr sz="1600" b="1" i="0">
                <a:solidFill>
                  <a:srgbClr val="8F0072"/>
                </a:solidFill>
                <a:latin typeface="Amazon Ember Display"/>
              </a:rPr>
              <a:t>VERSION 4</a:t>
            </a:r>
          </a:p>
        </p:txBody>
      </p:sp>
      <p:sp>
        <p:nvSpPr>
          <p:cNvPr id="12" name="TextBox 11"/>
          <p:cNvSpPr txBox="1"/>
          <p:nvPr/>
        </p:nvSpPr>
        <p:spPr>
          <a:xfrm>
            <a:off x="7717536" y="4233672"/>
            <a:ext cx="3035808" cy="346049"/>
          </a:xfrm>
          <a:prstGeom prst="rect">
            <a:avLst/>
          </a:prstGeom>
          <a:noFill/>
        </p:spPr>
        <p:txBody>
          <a:bodyPr wrap="square" anchor="ctr">
            <a:noAutofit/>
          </a:bodyPr>
          <a:lstStyle/>
          <a:p>
            <a:pPr algn="ctr"/>
            <a:r>
              <a:rPr sz="1600" b="0" i="0">
                <a:solidFill>
                  <a:srgbClr val="5A6B7B"/>
                </a:solidFill>
                <a:latin typeface="Amazon Ember Display"/>
              </a:rPr>
              <a:t>immutable  ·  ready</a:t>
            </a:r>
          </a:p>
        </p:txBody>
      </p:sp>
      <p:sp>
        <p:nvSpPr>
          <p:cNvPr id="13" name="Freeform 12"/>
          <p:cNvSpPr/>
          <p:nvPr/>
        </p:nvSpPr>
        <p:spPr>
          <a:xfrm>
            <a:off x="3794760" y="2628900"/>
            <a:ext cx="3739896" cy="0"/>
          </a:xfrm>
          <a:custGeom>
            <a:avLst/>
            <a:gdLst/>
            <a:ahLst/>
            <a:cxnLst/>
            <a:rect l="l" t="t" r="r" b="b"/>
            <a:pathLst>
              <a:path w="3739896">
                <a:moveTo>
                  <a:pt x="0" y="0"/>
                </a:moveTo>
                <a:lnTo>
                  <a:pt x="3739896"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7360920" y="251002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2281428" y="3977639"/>
            <a:ext cx="5271516" cy="251461"/>
          </a:xfrm>
          <a:custGeom>
            <a:avLst/>
            <a:gdLst/>
            <a:ahLst/>
            <a:cxnLst/>
            <a:rect l="l" t="t" r="r" b="b"/>
            <a:pathLst>
              <a:path w="5271516" h="251461">
                <a:moveTo>
                  <a:pt x="0" y="0"/>
                </a:moveTo>
                <a:lnTo>
                  <a:pt x="0" y="251461"/>
                </a:lnTo>
                <a:lnTo>
                  <a:pt x="5271516" y="251461"/>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7360920" y="4110228"/>
            <a:ext cx="192024" cy="237744"/>
          </a:xfrm>
          <a:custGeom>
            <a:avLst/>
            <a:gdLst/>
            <a:ahLst/>
            <a:cxnLst/>
            <a:rect l="l" t="t" r="r" b="b"/>
            <a:pathLst>
              <a:path w="192024" h="237744">
                <a:moveTo>
                  <a:pt x="0" y="0"/>
                </a:moveTo>
                <a:lnTo>
                  <a:pt x="192024" y="118872"/>
                </a:lnTo>
                <a:lnTo>
                  <a:pt x="0" y="237744"/>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13048" y="2091232"/>
            <a:ext cx="3739896" cy="346049"/>
          </a:xfrm>
          <a:prstGeom prst="rect">
            <a:avLst/>
          </a:prstGeom>
          <a:noFill/>
        </p:spPr>
        <p:txBody>
          <a:bodyPr wrap="square" anchor="t">
            <a:noAutofit/>
          </a:bodyPr>
          <a:lstStyle/>
          <a:p>
            <a:pPr algn="ctr"/>
            <a:r>
              <a:rPr sz="1600" b="0" i="0">
                <a:solidFill>
                  <a:srgbClr val="5A6B7B"/>
                </a:solidFill>
                <a:latin typeface="Amazon Ember Display"/>
              </a:rPr>
              <a:t>100% today</a:t>
            </a:r>
          </a:p>
        </p:txBody>
      </p:sp>
      <p:sp>
        <p:nvSpPr>
          <p:cNvPr id="18" name="TextBox 17"/>
          <p:cNvSpPr txBox="1"/>
          <p:nvPr/>
        </p:nvSpPr>
        <p:spPr>
          <a:xfrm>
            <a:off x="3813048" y="3691432"/>
            <a:ext cx="3739896" cy="346049"/>
          </a:xfrm>
          <a:prstGeom prst="rect">
            <a:avLst/>
          </a:prstGeom>
          <a:noFill/>
        </p:spPr>
        <p:txBody>
          <a:bodyPr wrap="square" anchor="t">
            <a:noAutofit/>
          </a:bodyPr>
          <a:lstStyle/>
          <a:p>
            <a:pPr algn="ctr"/>
            <a:r>
              <a:rPr sz="1600" b="0" i="0">
                <a:solidFill>
                  <a:srgbClr val="5A6B7B"/>
                </a:solidFill>
                <a:latin typeface="Amazon Ember Display"/>
              </a:rPr>
              <a:t>where it points next</a:t>
            </a:r>
          </a:p>
        </p:txBody>
      </p:sp>
      <p:sp>
        <p:nvSpPr>
          <p:cNvPr id="19" name="TextBox 18"/>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a weighted alias is what a canary actually moves -- the code never changes</a:t>
            </a:r>
          </a:p>
        </p:txBody>
      </p:sp>
      <p:sp>
        <p:nvSpPr>
          <p:cNvPr id="20" name="TextBox 19">
            <a:hlinkClick r:id="rId3"/>
          </p:cNvPr>
          <p:cNvSpPr txBox="1"/>
          <p:nvPr/>
        </p:nvSpPr>
        <p:spPr>
          <a:xfrm>
            <a:off x="612648" y="5943600"/>
            <a:ext cx="62922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Create an alias for a Lambda function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Package a function three ways; a layer is shared</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377440"/>
            <a:ext cx="3410712" cy="2228392"/>
          </a:xfrm>
          <a:prstGeom prst="roundRect">
            <a:avLst>
              <a:gd name="adj" fmla="val 5744"/>
            </a:avLst>
          </a:prstGeom>
          <a:solidFill>
            <a:srgbClr val="FFFFFF"/>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WS-Lambda_64.png"/>
          <p:cNvPicPr>
            <a:picLocks noChangeAspect="1"/>
          </p:cNvPicPr>
          <p:nvPr/>
        </p:nvPicPr>
        <p:blipFill>
          <a:blip r:embed="rId3"/>
          <a:stretch>
            <a:fillRect/>
          </a:stretch>
        </p:blipFill>
        <p:spPr>
          <a:xfrm>
            <a:off x="850392" y="2578608"/>
            <a:ext cx="457200" cy="457200"/>
          </a:xfrm>
          <a:prstGeom prst="rect">
            <a:avLst/>
          </a:prstGeom>
        </p:spPr>
      </p:pic>
      <p:sp>
        <p:nvSpPr>
          <p:cNvPr id="6" name="TextBox 5"/>
          <p:cNvSpPr txBox="1"/>
          <p:nvPr/>
        </p:nvSpPr>
        <p:spPr>
          <a:xfrm>
            <a:off x="1490472" y="2624328"/>
            <a:ext cx="2404872" cy="377875"/>
          </a:xfrm>
          <a:prstGeom prst="rect">
            <a:avLst/>
          </a:prstGeom>
          <a:noFill/>
        </p:spPr>
        <p:txBody>
          <a:bodyPr wrap="square" anchor="ctr">
            <a:noAutofit/>
          </a:bodyPr>
          <a:lstStyle/>
          <a:p>
            <a:pPr algn="l"/>
            <a:r>
              <a:rPr sz="1800" b="1" i="0">
                <a:solidFill>
                  <a:srgbClr val="8F0072"/>
                </a:solidFill>
                <a:latin typeface="Amazon Ember Display"/>
              </a:rPr>
              <a:t>ZIP ARCHIVE</a:t>
            </a:r>
          </a:p>
        </p:txBody>
      </p:sp>
      <p:sp>
        <p:nvSpPr>
          <p:cNvPr id="7" name="TextBox 6"/>
          <p:cNvSpPr txBox="1"/>
          <p:nvPr/>
        </p:nvSpPr>
        <p:spPr>
          <a:xfrm>
            <a:off x="795528" y="3163824"/>
            <a:ext cx="3044952" cy="692200"/>
          </a:xfrm>
          <a:prstGeom prst="rect">
            <a:avLst/>
          </a:prstGeom>
          <a:noFill/>
        </p:spPr>
        <p:txBody>
          <a:bodyPr wrap="square" anchor="t">
            <a:noAutofit/>
          </a:bodyPr>
          <a:lstStyle/>
          <a:p>
            <a:pPr algn="ctr"/>
            <a:r>
              <a:rPr sz="1600" b="0" i="0">
                <a:solidFill>
                  <a:srgbClr val="232B37"/>
                </a:solidFill>
                <a:latin typeface="Amazon Ember Display"/>
              </a:rPr>
              <a:t>code plus dependencies, uploaded directly</a:t>
            </a:r>
          </a:p>
        </p:txBody>
      </p:sp>
      <p:sp>
        <p:nvSpPr>
          <p:cNvPr id="8" name="Rounded Rectangle 7"/>
          <p:cNvSpPr/>
          <p:nvPr/>
        </p:nvSpPr>
        <p:spPr>
          <a:xfrm>
            <a:off x="795528" y="3965752"/>
            <a:ext cx="3044952"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68680" y="4057192"/>
            <a:ext cx="2898648" cy="346049"/>
          </a:xfrm>
          <a:prstGeom prst="rect">
            <a:avLst/>
          </a:prstGeom>
          <a:noFill/>
        </p:spPr>
        <p:txBody>
          <a:bodyPr wrap="square" anchor="ctr">
            <a:noAutofit/>
          </a:bodyPr>
          <a:lstStyle/>
          <a:p>
            <a:pPr algn="ctr"/>
            <a:r>
              <a:rPr sz="1600" b="1" i="0">
                <a:solidFill>
                  <a:srgbClr val="232B37"/>
                </a:solidFill>
                <a:latin typeface="Amazon Ember Display"/>
              </a:rPr>
              <a:t>the default</a:t>
            </a:r>
          </a:p>
        </p:txBody>
      </p:sp>
      <p:sp>
        <p:nvSpPr>
          <p:cNvPr id="10" name="Rounded Rectangle 9"/>
          <p:cNvSpPr/>
          <p:nvPr/>
        </p:nvSpPr>
        <p:spPr>
          <a:xfrm>
            <a:off x="4389120" y="2377440"/>
            <a:ext cx="3410712" cy="2228392"/>
          </a:xfrm>
          <a:prstGeom prst="roundRect">
            <a:avLst>
              <a:gd name="adj" fmla="val 5744"/>
            </a:avLst>
          </a:prstGeom>
          <a:solidFill>
            <a:srgbClr val="FFFFFF"/>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Arch_Amazon-Elastic-Container-Registry_64.png"/>
          <p:cNvPicPr>
            <a:picLocks noChangeAspect="1"/>
          </p:cNvPicPr>
          <p:nvPr/>
        </p:nvPicPr>
        <p:blipFill>
          <a:blip r:embed="rId4"/>
          <a:stretch>
            <a:fillRect/>
          </a:stretch>
        </p:blipFill>
        <p:spPr>
          <a:xfrm>
            <a:off x="4626864" y="2578608"/>
            <a:ext cx="457200" cy="457200"/>
          </a:xfrm>
          <a:prstGeom prst="rect">
            <a:avLst/>
          </a:prstGeom>
        </p:spPr>
      </p:pic>
      <p:sp>
        <p:nvSpPr>
          <p:cNvPr id="12" name="TextBox 11"/>
          <p:cNvSpPr txBox="1"/>
          <p:nvPr/>
        </p:nvSpPr>
        <p:spPr>
          <a:xfrm>
            <a:off x="5266944" y="2624328"/>
            <a:ext cx="2404872" cy="377875"/>
          </a:xfrm>
          <a:prstGeom prst="rect">
            <a:avLst/>
          </a:prstGeom>
          <a:noFill/>
        </p:spPr>
        <p:txBody>
          <a:bodyPr wrap="square" anchor="ctr">
            <a:noAutofit/>
          </a:bodyPr>
          <a:lstStyle/>
          <a:p>
            <a:pPr algn="l"/>
            <a:r>
              <a:rPr sz="1800" b="1" i="0">
                <a:solidFill>
                  <a:srgbClr val="8F0072"/>
                </a:solidFill>
                <a:latin typeface="Amazon Ember Display"/>
              </a:rPr>
              <a:t>CONTAINER IMAGE</a:t>
            </a:r>
          </a:p>
        </p:txBody>
      </p:sp>
      <p:sp>
        <p:nvSpPr>
          <p:cNvPr id="13" name="TextBox 12"/>
          <p:cNvSpPr txBox="1"/>
          <p:nvPr/>
        </p:nvSpPr>
        <p:spPr>
          <a:xfrm>
            <a:off x="4572000" y="3163824"/>
            <a:ext cx="3044952" cy="692200"/>
          </a:xfrm>
          <a:prstGeom prst="rect">
            <a:avLst/>
          </a:prstGeom>
          <a:noFill/>
        </p:spPr>
        <p:txBody>
          <a:bodyPr wrap="square" anchor="t">
            <a:noAutofit/>
          </a:bodyPr>
          <a:lstStyle/>
          <a:p>
            <a:pPr algn="ctr"/>
            <a:r>
              <a:rPr sz="1600" b="0" i="0">
                <a:solidFill>
                  <a:srgbClr val="232B37"/>
                </a:solidFill>
                <a:latin typeface="Amazon Ember Display"/>
              </a:rPr>
              <a:t>built, pushed to a registry, then pulled</a:t>
            </a:r>
          </a:p>
        </p:txBody>
      </p:sp>
      <p:sp>
        <p:nvSpPr>
          <p:cNvPr id="14" name="Rounded Rectangle 13"/>
          <p:cNvSpPr/>
          <p:nvPr/>
        </p:nvSpPr>
        <p:spPr>
          <a:xfrm>
            <a:off x="4572000" y="3965752"/>
            <a:ext cx="3044952"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645152" y="4057192"/>
            <a:ext cx="2898648" cy="346049"/>
          </a:xfrm>
          <a:prstGeom prst="rect">
            <a:avLst/>
          </a:prstGeom>
          <a:noFill/>
        </p:spPr>
        <p:txBody>
          <a:bodyPr wrap="square" anchor="ctr">
            <a:noAutofit/>
          </a:bodyPr>
          <a:lstStyle/>
          <a:p>
            <a:pPr algn="ctr"/>
            <a:r>
              <a:rPr sz="1600" b="1" i="0">
                <a:solidFill>
                  <a:srgbClr val="232B37"/>
                </a:solidFill>
                <a:latin typeface="Amazon Ember Display"/>
              </a:rPr>
              <a:t>for large packages</a:t>
            </a:r>
          </a:p>
        </p:txBody>
      </p:sp>
      <p:sp>
        <p:nvSpPr>
          <p:cNvPr id="16" name="Rounded Rectangle 15"/>
          <p:cNvSpPr/>
          <p:nvPr/>
        </p:nvSpPr>
        <p:spPr>
          <a:xfrm>
            <a:off x="8165592" y="2377440"/>
            <a:ext cx="3410712" cy="2228392"/>
          </a:xfrm>
          <a:prstGeom prst="roundRect">
            <a:avLst>
              <a:gd name="adj" fmla="val 5744"/>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Arch_AWS-Lambda_64.png"/>
          <p:cNvPicPr>
            <a:picLocks noChangeAspect="1"/>
          </p:cNvPicPr>
          <p:nvPr/>
        </p:nvPicPr>
        <p:blipFill>
          <a:blip r:embed="rId3"/>
          <a:stretch>
            <a:fillRect/>
          </a:stretch>
        </p:blipFill>
        <p:spPr>
          <a:xfrm>
            <a:off x="8403336" y="2578608"/>
            <a:ext cx="457200" cy="457200"/>
          </a:xfrm>
          <a:prstGeom prst="rect">
            <a:avLst/>
          </a:prstGeom>
        </p:spPr>
      </p:pic>
      <p:sp>
        <p:nvSpPr>
          <p:cNvPr id="18" name="TextBox 17"/>
          <p:cNvSpPr txBox="1"/>
          <p:nvPr/>
        </p:nvSpPr>
        <p:spPr>
          <a:xfrm>
            <a:off x="9043416" y="2624328"/>
            <a:ext cx="2404872" cy="377875"/>
          </a:xfrm>
          <a:prstGeom prst="rect">
            <a:avLst/>
          </a:prstGeom>
          <a:noFill/>
        </p:spPr>
        <p:txBody>
          <a:bodyPr wrap="square" anchor="ctr">
            <a:noAutofit/>
          </a:bodyPr>
          <a:lstStyle/>
          <a:p>
            <a:pPr algn="l"/>
            <a:r>
              <a:rPr sz="1800" b="1" i="0">
                <a:solidFill>
                  <a:srgbClr val="8F0072"/>
                </a:solidFill>
                <a:latin typeface="Amazon Ember Display"/>
              </a:rPr>
              <a:t>LAYER</a:t>
            </a:r>
          </a:p>
        </p:txBody>
      </p:sp>
      <p:sp>
        <p:nvSpPr>
          <p:cNvPr id="19" name="TextBox 18"/>
          <p:cNvSpPr txBox="1"/>
          <p:nvPr/>
        </p:nvSpPr>
        <p:spPr>
          <a:xfrm>
            <a:off x="8348471" y="3163824"/>
            <a:ext cx="3044952" cy="692200"/>
          </a:xfrm>
          <a:prstGeom prst="rect">
            <a:avLst/>
          </a:prstGeom>
          <a:noFill/>
        </p:spPr>
        <p:txBody>
          <a:bodyPr wrap="square" anchor="t">
            <a:noAutofit/>
          </a:bodyPr>
          <a:lstStyle/>
          <a:p>
            <a:pPr algn="ctr"/>
            <a:r>
              <a:rPr sz="1600" b="0" i="0">
                <a:solidFill>
                  <a:srgbClr val="232B37"/>
                </a:solidFill>
                <a:latin typeface="Amazon Ember Display"/>
              </a:rPr>
              <a:t>a dependency shared by many functions</a:t>
            </a:r>
          </a:p>
        </p:txBody>
      </p:sp>
      <p:sp>
        <p:nvSpPr>
          <p:cNvPr id="20" name="Rounded Rectangle 19"/>
          <p:cNvSpPr/>
          <p:nvPr/>
        </p:nvSpPr>
        <p:spPr>
          <a:xfrm>
            <a:off x="8348471" y="3965752"/>
            <a:ext cx="3044952"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421624" y="4057192"/>
            <a:ext cx="2898648" cy="346049"/>
          </a:xfrm>
          <a:prstGeom prst="rect">
            <a:avLst/>
          </a:prstGeom>
          <a:noFill/>
        </p:spPr>
        <p:txBody>
          <a:bodyPr wrap="square" anchor="ctr">
            <a:noAutofit/>
          </a:bodyPr>
          <a:lstStyle/>
          <a:p>
            <a:pPr algn="ctr"/>
            <a:r>
              <a:rPr sz="1600" b="1" i="0">
                <a:solidFill>
                  <a:srgbClr val="FFFFFF"/>
                </a:solidFill>
                <a:latin typeface="Amazon Ember Display"/>
              </a:rPr>
              <a:t>NOT a third format</a:t>
            </a:r>
          </a:p>
        </p:txBody>
      </p:sp>
      <p:sp>
        <p:nvSpPr>
          <p:cNvPr id="22" name="TextBox 21"/>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a layer with exactly one consumer is indirection, not reuse</a:t>
            </a:r>
          </a:p>
        </p:txBody>
      </p:sp>
      <p:sp>
        <p:nvSpPr>
          <p:cNvPr id="23" name="TextBox 22">
            <a:hlinkClick r:id="rId5"/>
          </p:cNvPr>
          <p:cNvSpPr txBox="1"/>
          <p:nvPr/>
        </p:nvSpPr>
        <p:spPr>
          <a:xfrm>
            <a:off x="612648" y="5943600"/>
            <a:ext cx="65665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Deploying Lambda functions as .zip file…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hook fires on an event, not when you remember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kiro.dev · Hooks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441528"/>
          </a:xfrm>
          <a:prstGeom prst="rect">
            <a:avLst/>
          </a:prstGeom>
          <a:noFill/>
        </p:spPr>
        <p:txBody>
          <a:bodyPr wrap="square" anchor="t">
            <a:noAutofit/>
          </a:bodyPr>
          <a:lstStyle/>
          <a:p>
            <a:pPr algn="ctr"/>
            <a:r>
              <a:rPr sz="2200" b="1" i="0">
                <a:solidFill>
                  <a:srgbClr val="8F0072"/>
                </a:solidFill>
                <a:latin typeface="Amazon Ember Display"/>
              </a:rPr>
              <a:t>STARTED BY A PERSON</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2112264"/>
            <a:ext cx="4828031" cy="377875"/>
          </a:xfrm>
          <a:prstGeom prst="rect">
            <a:avLst/>
          </a:prstGeom>
          <a:noFill/>
        </p:spPr>
        <p:txBody>
          <a:bodyPr wrap="square" anchor="t">
            <a:noAutofit/>
          </a:bodyPr>
          <a:lstStyle/>
          <a:p>
            <a:pPr algn="ctr"/>
            <a:r>
              <a:rPr sz="1800" b="1" i="0">
                <a:solidFill>
                  <a:srgbClr val="5A6B7B"/>
                </a:solidFill>
                <a:latin typeface="Amazon Ember Display"/>
              </a:rPr>
              <a:t>runs when someone asks</a:t>
            </a:r>
          </a:p>
        </p:txBody>
      </p:sp>
      <p:sp>
        <p:nvSpPr>
          <p:cNvPr id="9" name="Rounded Rectangle 8"/>
          <p:cNvSpPr/>
          <p:nvPr/>
        </p:nvSpPr>
        <p:spPr>
          <a:xfrm>
            <a:off x="850392" y="253288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69848" y="2646680"/>
            <a:ext cx="4389119" cy="346049"/>
          </a:xfrm>
          <a:prstGeom prst="rect">
            <a:avLst/>
          </a:prstGeom>
          <a:noFill/>
        </p:spPr>
        <p:txBody>
          <a:bodyPr wrap="square" anchor="t">
            <a:noAutofit/>
          </a:bodyPr>
          <a:lstStyle/>
          <a:p>
            <a:pPr algn="l"/>
            <a:r>
              <a:rPr sz="1600" b="1" i="0">
                <a:solidFill>
                  <a:srgbClr val="232B37"/>
                </a:solidFill>
                <a:latin typeface="Amazon Ember Display"/>
              </a:rPr>
              <a:t>a chat request</a:t>
            </a:r>
          </a:p>
        </p:txBody>
      </p:sp>
      <p:sp>
        <p:nvSpPr>
          <p:cNvPr id="11" name="Rounded Rectangle 10"/>
          <p:cNvSpPr/>
          <p:nvPr/>
        </p:nvSpPr>
        <p:spPr>
          <a:xfrm>
            <a:off x="850392" y="313639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69848" y="3250184"/>
            <a:ext cx="4389119" cy="346049"/>
          </a:xfrm>
          <a:prstGeom prst="rect">
            <a:avLst/>
          </a:prstGeom>
          <a:noFill/>
        </p:spPr>
        <p:txBody>
          <a:bodyPr wrap="square" anchor="t">
            <a:noAutofit/>
          </a:bodyPr>
          <a:lstStyle/>
          <a:p>
            <a:pPr algn="l"/>
            <a:r>
              <a:rPr sz="1600" b="1" i="0">
                <a:solidFill>
                  <a:srgbClr val="232B37"/>
                </a:solidFill>
                <a:latin typeface="Amazon Ember Display"/>
              </a:rPr>
              <a:t>running a spec</a:t>
            </a:r>
          </a:p>
        </p:txBody>
      </p:sp>
      <p:sp>
        <p:nvSpPr>
          <p:cNvPr id="13" name="Rounded Rectangle 12"/>
          <p:cNvSpPr/>
          <p:nvPr/>
        </p:nvSpPr>
        <p:spPr>
          <a:xfrm>
            <a:off x="850392" y="373989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9848" y="3853688"/>
            <a:ext cx="4389119" cy="346049"/>
          </a:xfrm>
          <a:prstGeom prst="rect">
            <a:avLst/>
          </a:prstGeom>
          <a:noFill/>
        </p:spPr>
        <p:txBody>
          <a:bodyPr wrap="square" anchor="t">
            <a:noAutofit/>
          </a:bodyPr>
          <a:lstStyle/>
          <a:p>
            <a:pPr algn="l"/>
            <a:r>
              <a:rPr sz="1600" b="1" i="0">
                <a:solidFill>
                  <a:srgbClr val="232B37"/>
                </a:solidFill>
                <a:latin typeface="Amazon Ember Display"/>
              </a:rPr>
              <a:t>a steering file shapes it, starts nothing</a:t>
            </a:r>
          </a:p>
        </p:txBody>
      </p:sp>
      <p:sp>
        <p:nvSpPr>
          <p:cNvPr id="15" name="Rounded Rectangle 14"/>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19672" y="1554480"/>
            <a:ext cx="4828031" cy="441528"/>
          </a:xfrm>
          <a:prstGeom prst="rect">
            <a:avLst/>
          </a:prstGeom>
          <a:noFill/>
        </p:spPr>
        <p:txBody>
          <a:bodyPr wrap="square" anchor="t">
            <a:noAutofit/>
          </a:bodyPr>
          <a:lstStyle/>
          <a:p>
            <a:pPr algn="ctr"/>
            <a:r>
              <a:rPr sz="2200" b="1" i="0">
                <a:solidFill>
                  <a:srgbClr val="8F0072"/>
                </a:solidFill>
                <a:latin typeface="Amazon Ember Display"/>
              </a:rPr>
              <a:t>STARTED BY AN EVENT</a:t>
            </a:r>
          </a:p>
        </p:txBody>
      </p:sp>
      <p:sp>
        <p:nvSpPr>
          <p:cNvPr id="17" name="Rectangle 16"/>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19672" y="2112264"/>
            <a:ext cx="4828031" cy="377875"/>
          </a:xfrm>
          <a:prstGeom prst="rect">
            <a:avLst/>
          </a:prstGeom>
          <a:noFill/>
        </p:spPr>
        <p:txBody>
          <a:bodyPr wrap="square" anchor="t">
            <a:noAutofit/>
          </a:bodyPr>
          <a:lstStyle/>
          <a:p>
            <a:pPr algn="ctr"/>
            <a:r>
              <a:rPr sz="1800" b="1" i="0">
                <a:solidFill>
                  <a:srgbClr val="5A6B7B"/>
                </a:solidFill>
                <a:latin typeface="Amazon Ember Display"/>
              </a:rPr>
              <a:t>runs with nobody asking</a:t>
            </a:r>
          </a:p>
        </p:txBody>
      </p:sp>
      <p:sp>
        <p:nvSpPr>
          <p:cNvPr id="19" name="Rounded Rectangle 18"/>
          <p:cNvSpPr/>
          <p:nvPr/>
        </p:nvSpPr>
        <p:spPr>
          <a:xfrm>
            <a:off x="6519672" y="253288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646680"/>
            <a:ext cx="4389119" cy="346049"/>
          </a:xfrm>
          <a:prstGeom prst="rect">
            <a:avLst/>
          </a:prstGeom>
          <a:noFill/>
        </p:spPr>
        <p:txBody>
          <a:bodyPr wrap="square" anchor="t">
            <a:noAutofit/>
          </a:bodyPr>
          <a:lstStyle/>
          <a:p>
            <a:pPr algn="l"/>
            <a:r>
              <a:rPr sz="1600" b="1" i="0">
                <a:solidFill>
                  <a:srgbClr val="232B37"/>
                </a:solidFill>
                <a:latin typeface="Amazon Ember Display"/>
              </a:rPr>
              <a:t>a hook registered on a file event</a:t>
            </a:r>
          </a:p>
        </p:txBody>
      </p:sp>
      <p:sp>
        <p:nvSpPr>
          <p:cNvPr id="21" name="Rounded Rectangle 20"/>
          <p:cNvSpPr/>
          <p:nvPr/>
        </p:nvSpPr>
        <p:spPr>
          <a:xfrm>
            <a:off x="6519672" y="313639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250184"/>
            <a:ext cx="4389119" cy="346049"/>
          </a:xfrm>
          <a:prstGeom prst="rect">
            <a:avLst/>
          </a:prstGeom>
          <a:noFill/>
        </p:spPr>
        <p:txBody>
          <a:bodyPr wrap="square" anchor="t">
            <a:noAutofit/>
          </a:bodyPr>
          <a:lstStyle/>
          <a:p>
            <a:pPr algn="l"/>
            <a:r>
              <a:rPr sz="1600" b="1" i="0">
                <a:solidFill>
                  <a:srgbClr val="232B37"/>
                </a:solidFill>
                <a:latin typeface="Amazon Ember Display"/>
              </a:rPr>
              <a:t>the same work, every time</a:t>
            </a:r>
          </a:p>
        </p:txBody>
      </p:sp>
      <p:sp>
        <p:nvSpPr>
          <p:cNvPr id="23" name="Rounded Rectangle 22"/>
          <p:cNvSpPr/>
          <p:nvPr/>
        </p:nvSpPr>
        <p:spPr>
          <a:xfrm>
            <a:off x="6519672" y="373989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3853688"/>
            <a:ext cx="4389119" cy="346049"/>
          </a:xfrm>
          <a:prstGeom prst="rect">
            <a:avLst/>
          </a:prstGeom>
          <a:noFill/>
        </p:spPr>
        <p:txBody>
          <a:bodyPr wrap="square" anchor="t">
            <a:noAutofit/>
          </a:bodyPr>
          <a:lstStyle/>
          <a:p>
            <a:pPr algn="l"/>
            <a:r>
              <a:rPr sz="1600" b="1" i="0">
                <a:solidFill>
                  <a:srgbClr val="232B37"/>
                </a:solidFill>
                <a:latin typeface="Amazon Ember Display"/>
              </a:rPr>
              <a:t>closes the gap on every change</a:t>
            </a:r>
          </a:p>
        </p:txBody>
      </p:sp>
      <p:sp>
        <p:nvSpPr>
          <p:cNvPr id="25" name="TextBox 24"/>
          <p:cNvSpPr txBox="1"/>
          <p:nvPr/>
        </p:nvSpPr>
        <p:spPr>
          <a:xfrm>
            <a:off x="612648" y="4736592"/>
            <a:ext cx="10972800" cy="441528"/>
          </a:xfrm>
          <a:prstGeom prst="rect">
            <a:avLst/>
          </a:prstGeom>
          <a:noFill/>
        </p:spPr>
        <p:txBody>
          <a:bodyPr wrap="square" anchor="ctr">
            <a:noAutofit/>
          </a:bodyPr>
          <a:lstStyle/>
          <a:p>
            <a:pPr algn="ctr"/>
            <a:r>
              <a:rPr sz="2200" b="1" i="0">
                <a:solidFill>
                  <a:srgbClr val="8F0072"/>
                </a:solidFill>
                <a:latin typeface="Amazon Ember Display"/>
              </a:rPr>
              <a:t>if coverage depends on remembering, the trigger is the defect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Headless mode makes the agent a build step</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737360"/>
            <a:ext cx="6035040" cy="3623462"/>
          </a:xfrm>
          <a:prstGeom prst="roundRect">
            <a:avLst>
              <a:gd name="adj" fmla="val 3500"/>
            </a:avLst>
          </a:prstGeom>
          <a:solidFill>
            <a:srgbClr val="13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93391"/>
            <a:ext cx="274320" cy="282854"/>
          </a:xfrm>
          <a:prstGeom prst="rect">
            <a:avLst/>
          </a:prstGeom>
          <a:noFill/>
        </p:spPr>
        <p:txBody>
          <a:bodyPr wrap="none" lIns="0" tIns="0" rIns="0" bIns="0" anchor="ctr">
            <a:spAutoFit/>
          </a:bodyPr>
          <a:lstStyle/>
          <a:p>
            <a:pPr algn="r"/>
            <a:r>
              <a:rPr sz="1280" b="0">
                <a:solidFill>
                  <a:srgbClr val="72747E"/>
                </a:solidFill>
                <a:latin typeface="Menlo"/>
              </a:rPr>
              <a:t>1</a:t>
            </a:r>
          </a:p>
        </p:txBody>
      </p:sp>
      <p:sp>
        <p:nvSpPr>
          <p:cNvPr id="6" name="TextBox 5"/>
          <p:cNvSpPr txBox="1"/>
          <p:nvPr/>
        </p:nvSpPr>
        <p:spPr>
          <a:xfrm>
            <a:off x="1161288" y="1993391"/>
            <a:ext cx="5120639" cy="282854"/>
          </a:xfrm>
          <a:prstGeom prst="rect">
            <a:avLst/>
          </a:prstGeom>
          <a:noFill/>
        </p:spPr>
        <p:txBody>
          <a:bodyPr wrap="none" lIns="0" tIns="0" rIns="0" bIns="0" anchor="ctr">
            <a:spAutoFit/>
          </a:bodyPr>
          <a:lstStyle/>
          <a:p>
            <a:pPr algn="l"/>
            <a:r>
              <a:rPr sz="1600" b="0">
                <a:solidFill>
                  <a:srgbClr val="75CFFF"/>
                </a:solidFill>
                <a:latin typeface="Menlo"/>
              </a:rPr>
              <a:t>phases</a:t>
            </a:r>
            <a:r>
              <a:rPr sz="1600" b="0">
                <a:solidFill>
                  <a:srgbClr val="CCCCD1"/>
                </a:solidFill>
                <a:latin typeface="Menlo"/>
              </a:rPr>
              <a:t>:</a:t>
            </a:r>
          </a:p>
        </p:txBody>
      </p:sp>
      <p:sp>
        <p:nvSpPr>
          <p:cNvPr id="7" name="TextBox 6"/>
          <p:cNvSpPr txBox="1"/>
          <p:nvPr/>
        </p:nvSpPr>
        <p:spPr>
          <a:xfrm>
            <a:off x="859536" y="2276246"/>
            <a:ext cx="274320" cy="282854"/>
          </a:xfrm>
          <a:prstGeom prst="rect">
            <a:avLst/>
          </a:prstGeom>
          <a:noFill/>
        </p:spPr>
        <p:txBody>
          <a:bodyPr wrap="none" lIns="0" tIns="0" rIns="0" bIns="0" anchor="ctr">
            <a:spAutoFit/>
          </a:bodyPr>
          <a:lstStyle/>
          <a:p>
            <a:pPr algn="r"/>
            <a:r>
              <a:rPr sz="1280" b="0">
                <a:solidFill>
                  <a:srgbClr val="72747E"/>
                </a:solidFill>
                <a:latin typeface="Menlo"/>
              </a:rPr>
              <a:t>2</a:t>
            </a:r>
          </a:p>
        </p:txBody>
      </p:sp>
      <p:sp>
        <p:nvSpPr>
          <p:cNvPr id="8" name="TextBox 7"/>
          <p:cNvSpPr txBox="1"/>
          <p:nvPr/>
        </p:nvSpPr>
        <p:spPr>
          <a:xfrm>
            <a:off x="1161288" y="2276246"/>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post_build</a:t>
            </a:r>
            <a:r>
              <a:rPr sz="1600" b="0">
                <a:solidFill>
                  <a:srgbClr val="CCCCD1"/>
                </a:solidFill>
                <a:latin typeface="Menlo"/>
              </a:rPr>
              <a:t>:</a:t>
            </a:r>
          </a:p>
        </p:txBody>
      </p:sp>
      <p:sp>
        <p:nvSpPr>
          <p:cNvPr id="9" name="TextBox 8"/>
          <p:cNvSpPr txBox="1"/>
          <p:nvPr/>
        </p:nvSpPr>
        <p:spPr>
          <a:xfrm>
            <a:off x="859536" y="2559100"/>
            <a:ext cx="274320" cy="282854"/>
          </a:xfrm>
          <a:prstGeom prst="rect">
            <a:avLst/>
          </a:prstGeom>
          <a:noFill/>
        </p:spPr>
        <p:txBody>
          <a:bodyPr wrap="none" lIns="0" tIns="0" rIns="0" bIns="0" anchor="ctr">
            <a:spAutoFit/>
          </a:bodyPr>
          <a:lstStyle/>
          <a:p>
            <a:pPr algn="r"/>
            <a:r>
              <a:rPr sz="1280" b="0">
                <a:solidFill>
                  <a:srgbClr val="72747E"/>
                </a:solidFill>
                <a:latin typeface="Menlo"/>
              </a:rPr>
              <a:t>3</a:t>
            </a:r>
          </a:p>
        </p:txBody>
      </p:sp>
      <p:sp>
        <p:nvSpPr>
          <p:cNvPr id="10" name="TextBox 9"/>
          <p:cNvSpPr txBox="1"/>
          <p:nvPr/>
        </p:nvSpPr>
        <p:spPr>
          <a:xfrm>
            <a:off x="1161288" y="2559100"/>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commands</a:t>
            </a:r>
            <a:r>
              <a:rPr sz="1600" b="0">
                <a:solidFill>
                  <a:srgbClr val="CCCCD1"/>
                </a:solidFill>
                <a:latin typeface="Menlo"/>
              </a:rPr>
              <a:t>:</a:t>
            </a:r>
          </a:p>
        </p:txBody>
      </p:sp>
      <p:sp>
        <p:nvSpPr>
          <p:cNvPr id="11" name="TextBox 10"/>
          <p:cNvSpPr txBox="1"/>
          <p:nvPr/>
        </p:nvSpPr>
        <p:spPr>
          <a:xfrm>
            <a:off x="859536" y="2841955"/>
            <a:ext cx="274320" cy="282854"/>
          </a:xfrm>
          <a:prstGeom prst="rect">
            <a:avLst/>
          </a:prstGeom>
          <a:noFill/>
        </p:spPr>
        <p:txBody>
          <a:bodyPr wrap="none" lIns="0" tIns="0" rIns="0" bIns="0" anchor="ctr">
            <a:spAutoFit/>
          </a:bodyPr>
          <a:lstStyle/>
          <a:p>
            <a:pPr algn="r"/>
            <a:r>
              <a:rPr sz="1280" b="0">
                <a:solidFill>
                  <a:srgbClr val="72747E"/>
                </a:solidFill>
                <a:latin typeface="Menlo"/>
              </a:rPr>
              <a:t>4</a:t>
            </a:r>
          </a:p>
        </p:txBody>
      </p:sp>
      <p:sp>
        <p:nvSpPr>
          <p:cNvPr id="12" name="TextBox 11"/>
          <p:cNvSpPr txBox="1"/>
          <p:nvPr/>
        </p:nvSpPr>
        <p:spPr>
          <a:xfrm>
            <a:off x="1161288" y="2841955"/>
            <a:ext cx="5120639" cy="282854"/>
          </a:xfrm>
          <a:prstGeom prst="rect">
            <a:avLst/>
          </a:prstGeom>
          <a:noFill/>
        </p:spPr>
        <p:txBody>
          <a:bodyPr wrap="none" lIns="0" tIns="0" rIns="0" bIns="0" anchor="ctr">
            <a:spAutoFit/>
          </a:bodyPr>
          <a:lstStyle/>
          <a:p>
            <a:pPr algn="l"/>
            <a:r>
              <a:rPr sz="1600" b="0">
                <a:solidFill>
                  <a:srgbClr val="8C8C94"/>
                </a:solidFill>
                <a:latin typeface="Menlo"/>
              </a:rPr>
              <a:t>      # non-interactive: stdout plus an exit code</a:t>
            </a:r>
          </a:p>
        </p:txBody>
      </p:sp>
      <p:sp>
        <p:nvSpPr>
          <p:cNvPr id="13" name="TextBox 12"/>
          <p:cNvSpPr txBox="1"/>
          <p:nvPr/>
        </p:nvSpPr>
        <p:spPr>
          <a:xfrm>
            <a:off x="859536" y="3124809"/>
            <a:ext cx="274320" cy="282854"/>
          </a:xfrm>
          <a:prstGeom prst="rect">
            <a:avLst/>
          </a:prstGeom>
          <a:noFill/>
        </p:spPr>
        <p:txBody>
          <a:bodyPr wrap="none" lIns="0" tIns="0" rIns="0" bIns="0" anchor="ctr">
            <a:spAutoFit/>
          </a:bodyPr>
          <a:lstStyle/>
          <a:p>
            <a:pPr algn="r"/>
            <a:r>
              <a:rPr sz="1280" b="0">
                <a:solidFill>
                  <a:srgbClr val="72747E"/>
                </a:solidFill>
                <a:latin typeface="Menlo"/>
              </a:rPr>
              <a:t>5</a:t>
            </a:r>
          </a:p>
        </p:txBody>
      </p:sp>
      <p:sp>
        <p:nvSpPr>
          <p:cNvPr id="14" name="TextBox 13"/>
          <p:cNvSpPr txBox="1"/>
          <p:nvPr/>
        </p:nvSpPr>
        <p:spPr>
          <a:xfrm>
            <a:off x="1161288" y="3124809"/>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CCCCD1"/>
                </a:solidFill>
                <a:latin typeface="Menlo"/>
              </a:rPr>
              <a:t>-</a:t>
            </a:r>
            <a:r>
              <a:rPr sz="1600" b="0">
                <a:solidFill>
                  <a:srgbClr val="F6F6F9"/>
                </a:solidFill>
                <a:latin typeface="Menlo"/>
              </a:rPr>
              <a:t> kiro </a:t>
            </a:r>
            <a:r>
              <a:rPr sz="1600" b="0">
                <a:solidFill>
                  <a:srgbClr val="CCCCD1"/>
                </a:solidFill>
                <a:latin typeface="Menlo"/>
              </a:rPr>
              <a:t>--</a:t>
            </a:r>
            <a:r>
              <a:rPr sz="1600" b="0">
                <a:solidFill>
                  <a:srgbClr val="F6F6F9"/>
                </a:solidFill>
                <a:latin typeface="Menlo"/>
              </a:rPr>
              <a:t>headless </a:t>
            </a:r>
            <a:r>
              <a:rPr sz="1600" b="0">
                <a:solidFill>
                  <a:srgbClr val="CCCCD1"/>
                </a:solidFill>
                <a:latin typeface="Menlo"/>
              </a:rPr>
              <a:t>--</a:t>
            </a:r>
            <a:r>
              <a:rPr sz="1600" b="0">
                <a:solidFill>
                  <a:srgbClr val="F6F6F9"/>
                </a:solidFill>
                <a:latin typeface="Menlo"/>
              </a:rPr>
              <a:t>prompt </a:t>
            </a:r>
            <a:r>
              <a:rPr sz="1600" b="0">
                <a:solidFill>
                  <a:srgbClr val="00E582"/>
                </a:solidFill>
                <a:latin typeface="Menlo"/>
              </a:rPr>
              <a:t>"review the log"</a:t>
            </a:r>
          </a:p>
        </p:txBody>
      </p:sp>
      <p:sp>
        <p:nvSpPr>
          <p:cNvPr id="15" name="TextBox 14"/>
          <p:cNvSpPr txBox="1"/>
          <p:nvPr/>
        </p:nvSpPr>
        <p:spPr>
          <a:xfrm>
            <a:off x="859536" y="3407663"/>
            <a:ext cx="274320" cy="282854"/>
          </a:xfrm>
          <a:prstGeom prst="rect">
            <a:avLst/>
          </a:prstGeom>
          <a:noFill/>
        </p:spPr>
        <p:txBody>
          <a:bodyPr wrap="none" lIns="0" tIns="0" rIns="0" bIns="0" anchor="ctr">
            <a:spAutoFit/>
          </a:bodyPr>
          <a:lstStyle/>
          <a:p>
            <a:pPr algn="r"/>
            <a:r>
              <a:rPr sz="1280" b="0">
                <a:solidFill>
                  <a:srgbClr val="72747E"/>
                </a:solidFill>
                <a:latin typeface="Menlo"/>
              </a:rPr>
              <a:t>6</a:t>
            </a:r>
          </a:p>
        </p:txBody>
      </p:sp>
      <p:sp>
        <p:nvSpPr>
          <p:cNvPr id="16" name="TextBox 15"/>
          <p:cNvSpPr txBox="1"/>
          <p:nvPr/>
        </p:nvSpPr>
        <p:spPr>
          <a:xfrm>
            <a:off x="1161288" y="3407663"/>
            <a:ext cx="5120639" cy="282854"/>
          </a:xfrm>
          <a:prstGeom prst="rect">
            <a:avLst/>
          </a:prstGeom>
          <a:noFill/>
        </p:spPr>
        <p:txBody>
          <a:bodyPr wrap="none" lIns="0" tIns="0" rIns="0" bIns="0" anchor="ctr">
            <a:spAutoFit/>
          </a:bodyPr>
          <a:lstStyle/>
          <a:p>
            <a:pPr algn="l"/>
            <a:r>
              <a:rPr sz="1600" b="0">
                <a:solidFill>
                  <a:srgbClr val="8C8C94"/>
                </a:solidFill>
                <a:latin typeface="Menlo"/>
              </a:rPr>
              <a:t>      # a non-zero exit fails the stage, so the</a:t>
            </a:r>
          </a:p>
        </p:txBody>
      </p:sp>
      <p:sp>
        <p:nvSpPr>
          <p:cNvPr id="17" name="TextBox 16"/>
          <p:cNvSpPr txBox="1"/>
          <p:nvPr/>
        </p:nvSpPr>
        <p:spPr>
          <a:xfrm>
            <a:off x="859536" y="3690518"/>
            <a:ext cx="274320" cy="282854"/>
          </a:xfrm>
          <a:prstGeom prst="rect">
            <a:avLst/>
          </a:prstGeom>
          <a:noFill/>
        </p:spPr>
        <p:txBody>
          <a:bodyPr wrap="none" lIns="0" tIns="0" rIns="0" bIns="0" anchor="ctr">
            <a:spAutoFit/>
          </a:bodyPr>
          <a:lstStyle/>
          <a:p>
            <a:pPr algn="r"/>
            <a:r>
              <a:rPr sz="1280" b="0">
                <a:solidFill>
                  <a:srgbClr val="72747E"/>
                </a:solidFill>
                <a:latin typeface="Menlo"/>
              </a:rPr>
              <a:t>7</a:t>
            </a:r>
          </a:p>
        </p:txBody>
      </p:sp>
      <p:sp>
        <p:nvSpPr>
          <p:cNvPr id="18" name="TextBox 17"/>
          <p:cNvSpPr txBox="1"/>
          <p:nvPr/>
        </p:nvSpPr>
        <p:spPr>
          <a:xfrm>
            <a:off x="1161288" y="3690518"/>
            <a:ext cx="5120639" cy="282854"/>
          </a:xfrm>
          <a:prstGeom prst="rect">
            <a:avLst/>
          </a:prstGeom>
          <a:noFill/>
        </p:spPr>
        <p:txBody>
          <a:bodyPr wrap="none" lIns="0" tIns="0" rIns="0" bIns="0" anchor="ctr">
            <a:spAutoFit/>
          </a:bodyPr>
          <a:lstStyle/>
          <a:p>
            <a:pPr algn="l"/>
            <a:r>
              <a:rPr sz="1600" b="0">
                <a:solidFill>
                  <a:srgbClr val="8C8C94"/>
                </a:solidFill>
                <a:latin typeface="Menlo"/>
              </a:rPr>
              <a:t>      # promotion stops with nobody reading logs</a:t>
            </a:r>
          </a:p>
        </p:txBody>
      </p:sp>
      <p:sp>
        <p:nvSpPr>
          <p:cNvPr id="19" name="TextBox 18"/>
          <p:cNvSpPr txBox="1"/>
          <p:nvPr/>
        </p:nvSpPr>
        <p:spPr>
          <a:xfrm>
            <a:off x="859536" y="3973372"/>
            <a:ext cx="274320" cy="282854"/>
          </a:xfrm>
          <a:prstGeom prst="rect">
            <a:avLst/>
          </a:prstGeom>
          <a:noFill/>
        </p:spPr>
        <p:txBody>
          <a:bodyPr wrap="none" lIns="0" tIns="0" rIns="0" bIns="0" anchor="ctr">
            <a:spAutoFit/>
          </a:bodyPr>
          <a:lstStyle/>
          <a:p>
            <a:pPr algn="r"/>
            <a:r>
              <a:rPr sz="1280" b="0">
                <a:solidFill>
                  <a:srgbClr val="72747E"/>
                </a:solidFill>
                <a:latin typeface="Menlo"/>
              </a:rPr>
              <a:t>8</a:t>
            </a:r>
          </a:p>
        </p:txBody>
      </p:sp>
      <p:sp>
        <p:nvSpPr>
          <p:cNvPr id="20" name="TextBox 19"/>
          <p:cNvSpPr txBox="1"/>
          <p:nvPr/>
        </p:nvSpPr>
        <p:spPr>
          <a:xfrm>
            <a:off x="1161288" y="3973372"/>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CCCCD1"/>
                </a:solidFill>
                <a:latin typeface="Menlo"/>
              </a:rPr>
              <a:t>-</a:t>
            </a:r>
            <a:r>
              <a:rPr sz="1600" b="0">
                <a:solidFill>
                  <a:srgbClr val="F6F6F9"/>
                </a:solidFill>
                <a:latin typeface="Menlo"/>
              </a:rPr>
              <a:t> echo </a:t>
            </a:r>
            <a:r>
              <a:rPr sz="1600" b="0">
                <a:solidFill>
                  <a:srgbClr val="00E582"/>
                </a:solidFill>
                <a:latin typeface="Menlo"/>
              </a:rPr>
              <a:t>"validation passed"</a:t>
            </a:r>
          </a:p>
        </p:txBody>
      </p:sp>
      <p:sp>
        <p:nvSpPr>
          <p:cNvPr id="21" name="TextBox 20"/>
          <p:cNvSpPr txBox="1"/>
          <p:nvPr/>
        </p:nvSpPr>
        <p:spPr>
          <a:xfrm>
            <a:off x="859536" y="4256227"/>
            <a:ext cx="274320" cy="282854"/>
          </a:xfrm>
          <a:prstGeom prst="rect">
            <a:avLst/>
          </a:prstGeom>
          <a:noFill/>
        </p:spPr>
        <p:txBody>
          <a:bodyPr wrap="none" lIns="0" tIns="0" rIns="0" bIns="0" anchor="ctr">
            <a:spAutoFit/>
          </a:bodyPr>
          <a:lstStyle/>
          <a:p>
            <a:pPr algn="r"/>
            <a:r>
              <a:rPr sz="1280" b="0">
                <a:solidFill>
                  <a:srgbClr val="72747E"/>
                </a:solidFill>
                <a:latin typeface="Menlo"/>
              </a:rPr>
              <a:t>9</a:t>
            </a:r>
          </a:p>
        </p:txBody>
      </p:sp>
      <p:sp>
        <p:nvSpPr>
          <p:cNvPr id="22" name="TextBox 21"/>
          <p:cNvSpPr txBox="1"/>
          <p:nvPr/>
        </p:nvSpPr>
        <p:spPr>
          <a:xfrm>
            <a:off x="1161288" y="4256227"/>
            <a:ext cx="5120639" cy="282854"/>
          </a:xfrm>
          <a:prstGeom prst="rect">
            <a:avLst/>
          </a:prstGeom>
          <a:noFill/>
        </p:spPr>
        <p:txBody>
          <a:bodyPr wrap="none" lIns="0" tIns="0" rIns="0" bIns="0" anchor="ctr">
            <a:spAutoFit/>
          </a:bodyPr>
          <a:lstStyle/>
          <a:p>
            <a:pPr algn="l"/>
            <a:r>
              <a:rPr sz="1600" b="0">
                <a:solidFill>
                  <a:srgbClr val="75CFFF"/>
                </a:solidFill>
                <a:latin typeface="Menlo"/>
              </a:rPr>
              <a:t>artifacts</a:t>
            </a:r>
            <a:r>
              <a:rPr sz="1600" b="0">
                <a:solidFill>
                  <a:srgbClr val="CCCCD1"/>
                </a:solidFill>
                <a:latin typeface="Menlo"/>
              </a:rPr>
              <a:t>:</a:t>
            </a:r>
          </a:p>
        </p:txBody>
      </p:sp>
      <p:sp>
        <p:nvSpPr>
          <p:cNvPr id="23" name="TextBox 22"/>
          <p:cNvSpPr txBox="1"/>
          <p:nvPr/>
        </p:nvSpPr>
        <p:spPr>
          <a:xfrm>
            <a:off x="859536" y="4539081"/>
            <a:ext cx="274320" cy="282854"/>
          </a:xfrm>
          <a:prstGeom prst="rect">
            <a:avLst/>
          </a:prstGeom>
          <a:noFill/>
        </p:spPr>
        <p:txBody>
          <a:bodyPr wrap="none" lIns="0" tIns="0" rIns="0" bIns="0" anchor="ctr">
            <a:spAutoFit/>
          </a:bodyPr>
          <a:lstStyle/>
          <a:p>
            <a:pPr algn="r"/>
            <a:r>
              <a:rPr sz="1280" b="0">
                <a:solidFill>
                  <a:srgbClr val="72747E"/>
                </a:solidFill>
                <a:latin typeface="Menlo"/>
              </a:rPr>
              <a:t>10</a:t>
            </a:r>
          </a:p>
        </p:txBody>
      </p:sp>
      <p:sp>
        <p:nvSpPr>
          <p:cNvPr id="24" name="TextBox 23"/>
          <p:cNvSpPr txBox="1"/>
          <p:nvPr/>
        </p:nvSpPr>
        <p:spPr>
          <a:xfrm>
            <a:off x="1161288" y="4539081"/>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75CFFF"/>
                </a:solidFill>
                <a:latin typeface="Menlo"/>
              </a:rPr>
              <a:t>files</a:t>
            </a:r>
            <a:r>
              <a:rPr sz="1600" b="0">
                <a:solidFill>
                  <a:srgbClr val="CCCCD1"/>
                </a:solidFill>
                <a:latin typeface="Menlo"/>
              </a:rPr>
              <a:t>:</a:t>
            </a:r>
          </a:p>
        </p:txBody>
      </p:sp>
      <p:sp>
        <p:nvSpPr>
          <p:cNvPr id="25" name="TextBox 24"/>
          <p:cNvSpPr txBox="1"/>
          <p:nvPr/>
        </p:nvSpPr>
        <p:spPr>
          <a:xfrm>
            <a:off x="859536" y="4821935"/>
            <a:ext cx="274320" cy="282854"/>
          </a:xfrm>
          <a:prstGeom prst="rect">
            <a:avLst/>
          </a:prstGeom>
          <a:noFill/>
        </p:spPr>
        <p:txBody>
          <a:bodyPr wrap="none" lIns="0" tIns="0" rIns="0" bIns="0" anchor="ctr">
            <a:spAutoFit/>
          </a:bodyPr>
          <a:lstStyle/>
          <a:p>
            <a:pPr algn="r"/>
            <a:r>
              <a:rPr sz="1280" b="0">
                <a:solidFill>
                  <a:srgbClr val="72747E"/>
                </a:solidFill>
                <a:latin typeface="Menlo"/>
              </a:rPr>
              <a:t>11</a:t>
            </a:r>
          </a:p>
        </p:txBody>
      </p:sp>
      <p:sp>
        <p:nvSpPr>
          <p:cNvPr id="26" name="TextBox 25"/>
          <p:cNvSpPr txBox="1"/>
          <p:nvPr/>
        </p:nvSpPr>
        <p:spPr>
          <a:xfrm>
            <a:off x="1161288" y="4821935"/>
            <a:ext cx="5120639" cy="282854"/>
          </a:xfrm>
          <a:prstGeom prst="rect">
            <a:avLst/>
          </a:prstGeom>
          <a:noFill/>
        </p:spPr>
        <p:txBody>
          <a:bodyPr wrap="none" lIns="0" tIns="0" rIns="0" bIns="0" anchor="ctr">
            <a:spAutoFit/>
          </a:bodyPr>
          <a:lstStyle/>
          <a:p>
            <a:pPr algn="l"/>
            <a:r>
              <a:rPr sz="1600" b="0">
                <a:solidFill>
                  <a:srgbClr val="F6F6F9"/>
                </a:solidFill>
                <a:latin typeface="Menlo"/>
              </a:rPr>
              <a:t>    </a:t>
            </a:r>
            <a:r>
              <a:rPr sz="1600" b="0">
                <a:solidFill>
                  <a:srgbClr val="CCCCD1"/>
                </a:solidFill>
                <a:latin typeface="Menlo"/>
              </a:rPr>
              <a:t>-</a:t>
            </a:r>
            <a:r>
              <a:rPr sz="1600" b="0">
                <a:solidFill>
                  <a:srgbClr val="F6F6F9"/>
                </a:solidFill>
                <a:latin typeface="Menlo"/>
              </a:rPr>
              <a:t> </a:t>
            </a:r>
            <a:r>
              <a:rPr sz="1600" b="0">
                <a:solidFill>
                  <a:srgbClr val="00E582"/>
                </a:solidFill>
                <a:latin typeface="Menlo"/>
              </a:rPr>
              <a:t>'**/*'</a:t>
            </a:r>
          </a:p>
        </p:txBody>
      </p:sp>
      <p:sp>
        <p:nvSpPr>
          <p:cNvPr id="27" name="Oval 26"/>
          <p:cNvSpPr/>
          <p:nvPr/>
        </p:nvSpPr>
        <p:spPr>
          <a:xfrm>
            <a:off x="521207" y="2262225"/>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1</a:t>
            </a:r>
          </a:p>
        </p:txBody>
      </p:sp>
      <p:sp>
        <p:nvSpPr>
          <p:cNvPr id="28" name="Oval 27"/>
          <p:cNvSpPr/>
          <p:nvPr/>
        </p:nvSpPr>
        <p:spPr>
          <a:xfrm>
            <a:off x="521207" y="3110788"/>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2</a:t>
            </a:r>
          </a:p>
        </p:txBody>
      </p:sp>
      <p:sp>
        <p:nvSpPr>
          <p:cNvPr id="29" name="Oval 28"/>
          <p:cNvSpPr/>
          <p:nvPr/>
        </p:nvSpPr>
        <p:spPr>
          <a:xfrm>
            <a:off x="521207" y="4242205"/>
            <a:ext cx="310896" cy="31089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3</a:t>
            </a:r>
          </a:p>
        </p:txBody>
      </p:sp>
      <p:sp>
        <p:nvSpPr>
          <p:cNvPr id="30" name="TextBox 29"/>
          <p:cNvSpPr txBox="1"/>
          <p:nvPr/>
        </p:nvSpPr>
        <p:spPr>
          <a:xfrm>
            <a:off x="6949440" y="1426463"/>
            <a:ext cx="4739335" cy="329184"/>
          </a:xfrm>
          <a:prstGeom prst="rect">
            <a:avLst/>
          </a:prstGeom>
          <a:noFill/>
        </p:spPr>
        <p:txBody>
          <a:bodyPr wrap="none" lIns="0" tIns="0" rIns="0" bIns="0" anchor="ctr">
            <a:spAutoFit/>
          </a:bodyPr>
          <a:lstStyle/>
          <a:p>
            <a:pPr algn="l"/>
            <a:r>
              <a:rPr sz="1500" b="1">
                <a:solidFill>
                  <a:srgbClr val="5A636E"/>
                </a:solidFill>
                <a:latin typeface="Amazon Ember"/>
              </a:rPr>
              <a:t>WHAT EACH PART DOES</a:t>
            </a:r>
          </a:p>
        </p:txBody>
      </p:sp>
      <p:sp>
        <p:nvSpPr>
          <p:cNvPr id="31" name="Oval 30"/>
          <p:cNvSpPr/>
          <p:nvPr/>
        </p:nvSpPr>
        <p:spPr>
          <a:xfrm>
            <a:off x="6894576" y="1801367"/>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1</a:t>
            </a:r>
          </a:p>
        </p:txBody>
      </p:sp>
      <p:sp>
        <p:nvSpPr>
          <p:cNvPr id="32" name="TextBox 31"/>
          <p:cNvSpPr txBox="1"/>
          <p:nvPr/>
        </p:nvSpPr>
        <p:spPr>
          <a:xfrm>
            <a:off x="7370064" y="1828800"/>
            <a:ext cx="4318711" cy="1207008"/>
          </a:xfrm>
          <a:prstGeom prst="rect">
            <a:avLst/>
          </a:prstGeom>
          <a:noFill/>
        </p:spPr>
        <p:txBody>
          <a:bodyPr wrap="square" lIns="0" tIns="0" bIns="0">
            <a:spAutoFit/>
          </a:bodyPr>
          <a:lstStyle/>
          <a:p>
            <a:r>
              <a:rPr sz="1700" b="1">
                <a:solidFill>
                  <a:srgbClr val="8F0072"/>
                </a:solidFill>
                <a:latin typeface="Menlo"/>
              </a:rPr>
              <a:t>post_build</a:t>
            </a:r>
          </a:p>
          <a:p>
            <a:pPr>
              <a:spcBef>
                <a:spcPts val="200"/>
              </a:spcBef>
            </a:pPr>
            <a:r>
              <a:rPr sz="1600">
                <a:solidFill>
                  <a:srgbClr val="333B45"/>
                </a:solidFill>
                <a:latin typeface="Amazon Ember"/>
              </a:rPr>
              <a:t>it runs as an ordinary phase, after the build</a:t>
            </a:r>
          </a:p>
        </p:txBody>
      </p:sp>
      <p:sp>
        <p:nvSpPr>
          <p:cNvPr id="33" name="Oval 32"/>
          <p:cNvSpPr/>
          <p:nvPr/>
        </p:nvSpPr>
        <p:spPr>
          <a:xfrm>
            <a:off x="6894576" y="3246120"/>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2</a:t>
            </a:r>
          </a:p>
        </p:txBody>
      </p:sp>
      <p:sp>
        <p:nvSpPr>
          <p:cNvPr id="34" name="TextBox 33"/>
          <p:cNvSpPr txBox="1"/>
          <p:nvPr/>
        </p:nvSpPr>
        <p:spPr>
          <a:xfrm>
            <a:off x="7370064" y="3273552"/>
            <a:ext cx="4318711" cy="1207008"/>
          </a:xfrm>
          <a:prstGeom prst="rect">
            <a:avLst/>
          </a:prstGeom>
          <a:noFill/>
        </p:spPr>
        <p:txBody>
          <a:bodyPr wrap="square" lIns="0" tIns="0" bIns="0">
            <a:spAutoFit/>
          </a:bodyPr>
          <a:lstStyle/>
          <a:p>
            <a:r>
              <a:rPr sz="1700" b="1">
                <a:solidFill>
                  <a:srgbClr val="8F0072"/>
                </a:solidFill>
                <a:latin typeface="Menlo"/>
              </a:rPr>
              <a:t>--headless</a:t>
            </a:r>
          </a:p>
          <a:p>
            <a:pPr>
              <a:spcBef>
                <a:spcPts val="200"/>
              </a:spcBef>
            </a:pPr>
            <a:r>
              <a:rPr sz="1600">
                <a:solidFill>
                  <a:srgbClr val="333B45"/>
                </a:solidFill>
                <a:latin typeface="Amazon Ember"/>
              </a:rPr>
              <a:t>no interface: a prompt in, stdout and an exit code out</a:t>
            </a:r>
          </a:p>
        </p:txBody>
      </p:sp>
      <p:sp>
        <p:nvSpPr>
          <p:cNvPr id="35" name="Oval 34"/>
          <p:cNvSpPr/>
          <p:nvPr/>
        </p:nvSpPr>
        <p:spPr>
          <a:xfrm>
            <a:off x="6894576" y="4690872"/>
            <a:ext cx="402336" cy="402336"/>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161D26"/>
                </a:solidFill>
                <a:latin typeface="Amazon Ember"/>
              </a:rPr>
              <a:t>3</a:t>
            </a:r>
          </a:p>
        </p:txBody>
      </p:sp>
      <p:sp>
        <p:nvSpPr>
          <p:cNvPr id="36" name="TextBox 35"/>
          <p:cNvSpPr txBox="1"/>
          <p:nvPr/>
        </p:nvSpPr>
        <p:spPr>
          <a:xfrm>
            <a:off x="7370064" y="4718304"/>
            <a:ext cx="4318711" cy="1207008"/>
          </a:xfrm>
          <a:prstGeom prst="rect">
            <a:avLst/>
          </a:prstGeom>
          <a:noFill/>
        </p:spPr>
        <p:txBody>
          <a:bodyPr wrap="square" lIns="0" tIns="0" bIns="0">
            <a:spAutoFit/>
          </a:bodyPr>
          <a:lstStyle/>
          <a:p>
            <a:r>
              <a:rPr sz="1700" b="1">
                <a:solidFill>
                  <a:srgbClr val="8F0072"/>
                </a:solidFill>
                <a:latin typeface="Menlo"/>
              </a:rPr>
              <a:t>artifacts</a:t>
            </a:r>
          </a:p>
          <a:p>
            <a:pPr>
              <a:spcBef>
                <a:spcPts val="200"/>
              </a:spcBef>
            </a:pPr>
            <a:r>
              <a:rPr sz="1600">
                <a:solidFill>
                  <a:srgbClr val="333B45"/>
                </a:solidFill>
                <a:latin typeface="Amazon Ember"/>
              </a:rPr>
              <a:t>the stage still produces what the next one consumes</a:t>
            </a:r>
          </a:p>
        </p:txBody>
      </p:sp>
      <p:sp>
        <p:nvSpPr>
          <p:cNvPr id="37" name="TextBox 36">
            <a:hlinkClick r:id="rId3"/>
          </p:cNvPr>
          <p:cNvSpPr txBox="1"/>
          <p:nvPr/>
        </p:nvSpPr>
        <p:spPr>
          <a:xfrm>
            <a:off x="612648" y="5943600"/>
            <a:ext cx="5925312" cy="274320"/>
          </a:xfrm>
          <a:prstGeom prst="rect">
            <a:avLst/>
          </a:prstGeom>
          <a:noFill/>
        </p:spPr>
        <p:txBody>
          <a:bodyPr wrap="none" lIns="0" tIns="0" rIns="0" bIns="0">
            <a:spAutoFit/>
          </a:bodyPr>
          <a:lstStyle/>
          <a:p>
            <a:pPr algn="l"/>
            <a:r>
              <a:rPr sz="1100" b="1">
                <a:solidFill>
                  <a:srgbClr val="5A636E"/>
                </a:solidFill>
                <a:latin typeface="Amazon Ember"/>
              </a:rPr>
              <a:t>SOURCE  </a:t>
            </a:r>
            <a:r>
              <a:rPr sz="1200" u="sng">
                <a:solidFill>
                  <a:srgbClr val="0563C1"/>
                </a:solidFill>
                <a:latin typeface="Menlo"/>
                <a:hlinkClick r:id="rId3"/>
              </a:rPr>
              <a:t>kiro.dev - Headless mode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dirty="0">
                <a:solidFill>
                  <a:srgbClr val="232B37"/>
                </a:solidFill>
                <a:latin typeface="Amazon Ember Display"/>
              </a:rPr>
              <a:t>Which deployment service does the wording name?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783080"/>
            <a:ext cx="10963656" cy="555040"/>
          </a:xfrm>
          <a:prstGeom prst="roundRect">
            <a:avLst>
              <a:gd name="adj" fmla="val 16474"/>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887575"/>
            <a:ext cx="8271662" cy="346049"/>
          </a:xfrm>
          <a:prstGeom prst="rect">
            <a:avLst/>
          </a:prstGeom>
          <a:noFill/>
        </p:spPr>
        <p:txBody>
          <a:bodyPr wrap="square" anchor="ctr">
            <a:noAutofit/>
          </a:bodyPr>
          <a:lstStyle/>
          <a:p>
            <a:pPr algn="l"/>
            <a:r>
              <a:rPr sz="1600" b="0" i="0">
                <a:solidFill>
                  <a:srgbClr val="232B37"/>
                </a:solidFill>
                <a:latin typeface="Amazon Ember Display"/>
              </a:rPr>
              <a:t>one file describes the whole stack</a:t>
            </a:r>
          </a:p>
        </p:txBody>
      </p:sp>
      <p:sp>
        <p:nvSpPr>
          <p:cNvPr id="6" name="Rounded Rectangle 5"/>
          <p:cNvSpPr/>
          <p:nvPr/>
        </p:nvSpPr>
        <p:spPr>
          <a:xfrm>
            <a:off x="9487814" y="1822856"/>
            <a:ext cx="2088489"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560966" y="1914296"/>
            <a:ext cx="1942185" cy="346049"/>
          </a:xfrm>
          <a:prstGeom prst="rect">
            <a:avLst/>
          </a:prstGeom>
          <a:noFill/>
        </p:spPr>
        <p:txBody>
          <a:bodyPr wrap="square" anchor="ctr">
            <a:noAutofit/>
          </a:bodyPr>
          <a:lstStyle/>
          <a:p>
            <a:pPr algn="ctr"/>
            <a:r>
              <a:rPr sz="1600" b="1" i="0">
                <a:solidFill>
                  <a:srgbClr val="FFFFFF"/>
                </a:solidFill>
                <a:latin typeface="Amazon Ember Display"/>
              </a:rPr>
              <a:t>CloudFormation</a:t>
            </a:r>
          </a:p>
        </p:txBody>
      </p:sp>
      <p:sp>
        <p:nvSpPr>
          <p:cNvPr id="8" name="TextBox 7"/>
          <p:cNvSpPr txBox="1"/>
          <p:nvPr/>
        </p:nvSpPr>
        <p:spPr>
          <a:xfrm>
            <a:off x="777240" y="2442616"/>
            <a:ext cx="8271662" cy="346049"/>
          </a:xfrm>
          <a:prstGeom prst="rect">
            <a:avLst/>
          </a:prstGeom>
          <a:noFill/>
        </p:spPr>
        <p:txBody>
          <a:bodyPr wrap="square" anchor="ctr">
            <a:noAutofit/>
          </a:bodyPr>
          <a:lstStyle/>
          <a:p>
            <a:pPr algn="l"/>
            <a:r>
              <a:rPr sz="1600" b="0" i="0">
                <a:solidFill>
                  <a:srgbClr val="232B37"/>
                </a:solidFill>
                <a:latin typeface="Amazon Ember Display"/>
              </a:rPr>
              <a:t>the same stack, written in TypeScript</a:t>
            </a:r>
          </a:p>
        </p:txBody>
      </p:sp>
      <p:sp>
        <p:nvSpPr>
          <p:cNvPr id="9" name="Rounded Rectangle 8"/>
          <p:cNvSpPr/>
          <p:nvPr/>
        </p:nvSpPr>
        <p:spPr>
          <a:xfrm>
            <a:off x="9487814" y="2377897"/>
            <a:ext cx="2088489"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60966" y="2469337"/>
            <a:ext cx="1942185" cy="346049"/>
          </a:xfrm>
          <a:prstGeom prst="rect">
            <a:avLst/>
          </a:prstGeom>
          <a:noFill/>
        </p:spPr>
        <p:txBody>
          <a:bodyPr wrap="square" anchor="ctr">
            <a:noAutofit/>
          </a:bodyPr>
          <a:lstStyle/>
          <a:p>
            <a:pPr algn="ctr"/>
            <a:r>
              <a:rPr sz="1600" b="1" i="0">
                <a:solidFill>
                  <a:srgbClr val="FFFFFF"/>
                </a:solidFill>
                <a:latin typeface="Amazon Ember Display"/>
              </a:rPr>
              <a:t>AWS CDK</a:t>
            </a:r>
          </a:p>
        </p:txBody>
      </p:sp>
      <p:sp>
        <p:nvSpPr>
          <p:cNvPr id="11" name="Rounded Rectangle 10"/>
          <p:cNvSpPr/>
          <p:nvPr/>
        </p:nvSpPr>
        <p:spPr>
          <a:xfrm>
            <a:off x="612648" y="2893161"/>
            <a:ext cx="10963656" cy="555040"/>
          </a:xfrm>
          <a:prstGeom prst="roundRect">
            <a:avLst>
              <a:gd name="adj" fmla="val 16474"/>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77240" y="2997657"/>
            <a:ext cx="8271662" cy="346049"/>
          </a:xfrm>
          <a:prstGeom prst="rect">
            <a:avLst/>
          </a:prstGeom>
          <a:noFill/>
        </p:spPr>
        <p:txBody>
          <a:bodyPr wrap="square" anchor="ctr">
            <a:noAutofit/>
          </a:bodyPr>
          <a:lstStyle/>
          <a:p>
            <a:pPr algn="l"/>
            <a:r>
              <a:rPr sz="1600" b="0" i="0">
                <a:solidFill>
                  <a:srgbClr val="232B37"/>
                </a:solidFill>
                <a:latin typeface="Amazon Ember Display"/>
              </a:rPr>
              <a:t>a function and its trigger, declared together</a:t>
            </a:r>
          </a:p>
        </p:txBody>
      </p:sp>
      <p:sp>
        <p:nvSpPr>
          <p:cNvPr id="13" name="Rounded Rectangle 12"/>
          <p:cNvSpPr/>
          <p:nvPr/>
        </p:nvSpPr>
        <p:spPr>
          <a:xfrm>
            <a:off x="9487814" y="2932937"/>
            <a:ext cx="2088489"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560966" y="3024377"/>
            <a:ext cx="1942185" cy="346049"/>
          </a:xfrm>
          <a:prstGeom prst="rect">
            <a:avLst/>
          </a:prstGeom>
          <a:noFill/>
        </p:spPr>
        <p:txBody>
          <a:bodyPr wrap="square" anchor="ctr">
            <a:noAutofit/>
          </a:bodyPr>
          <a:lstStyle/>
          <a:p>
            <a:pPr algn="ctr"/>
            <a:r>
              <a:rPr sz="1600" b="1" i="0">
                <a:solidFill>
                  <a:srgbClr val="FFFFFF"/>
                </a:solidFill>
                <a:latin typeface="Amazon Ember Display"/>
              </a:rPr>
              <a:t>AWS SAM</a:t>
            </a:r>
          </a:p>
        </p:txBody>
      </p:sp>
      <p:sp>
        <p:nvSpPr>
          <p:cNvPr id="15" name="TextBox 14"/>
          <p:cNvSpPr txBox="1"/>
          <p:nvPr/>
        </p:nvSpPr>
        <p:spPr>
          <a:xfrm>
            <a:off x="777240" y="3552698"/>
            <a:ext cx="8271662" cy="346049"/>
          </a:xfrm>
          <a:prstGeom prst="rect">
            <a:avLst/>
          </a:prstGeom>
          <a:noFill/>
        </p:spPr>
        <p:txBody>
          <a:bodyPr wrap="square" anchor="ctr">
            <a:noAutofit/>
          </a:bodyPr>
          <a:lstStyle/>
          <a:p>
            <a:pPr algn="l"/>
            <a:r>
              <a:rPr sz="1600" b="0" i="0">
                <a:solidFill>
                  <a:srgbClr val="232B37"/>
                </a:solidFill>
                <a:latin typeface="Amazon Ember Display"/>
              </a:rPr>
              <a:t>build, test and deploy stages in order</a:t>
            </a:r>
          </a:p>
        </p:txBody>
      </p:sp>
      <p:sp>
        <p:nvSpPr>
          <p:cNvPr id="16" name="Rounded Rectangle 15"/>
          <p:cNvSpPr/>
          <p:nvPr/>
        </p:nvSpPr>
        <p:spPr>
          <a:xfrm>
            <a:off x="9487814" y="3487978"/>
            <a:ext cx="2088489"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560966" y="3579418"/>
            <a:ext cx="1942185" cy="346049"/>
          </a:xfrm>
          <a:prstGeom prst="rect">
            <a:avLst/>
          </a:prstGeom>
          <a:noFill/>
        </p:spPr>
        <p:txBody>
          <a:bodyPr wrap="square" anchor="ctr">
            <a:noAutofit/>
          </a:bodyPr>
          <a:lstStyle/>
          <a:p>
            <a:pPr algn="ctr"/>
            <a:r>
              <a:rPr sz="1600" b="1" i="0">
                <a:solidFill>
                  <a:srgbClr val="FFFFFF"/>
                </a:solidFill>
                <a:latin typeface="Amazon Ember Display"/>
              </a:rPr>
              <a:t>CodePipeline</a:t>
            </a:r>
          </a:p>
        </p:txBody>
      </p:sp>
      <p:sp>
        <p:nvSpPr>
          <p:cNvPr id="18" name="Rounded Rectangle 17"/>
          <p:cNvSpPr/>
          <p:nvPr/>
        </p:nvSpPr>
        <p:spPr>
          <a:xfrm>
            <a:off x="612648" y="4003243"/>
            <a:ext cx="10963656" cy="555040"/>
          </a:xfrm>
          <a:prstGeom prst="roundRect">
            <a:avLst>
              <a:gd name="adj" fmla="val 16474"/>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77240" y="4107738"/>
            <a:ext cx="8271662" cy="346049"/>
          </a:xfrm>
          <a:prstGeom prst="rect">
            <a:avLst/>
          </a:prstGeom>
          <a:noFill/>
        </p:spPr>
        <p:txBody>
          <a:bodyPr wrap="square" anchor="ctr">
            <a:noAutofit/>
          </a:bodyPr>
          <a:lstStyle/>
          <a:p>
            <a:pPr algn="l"/>
            <a:r>
              <a:rPr sz="1600" b="0" i="0">
                <a:solidFill>
                  <a:srgbClr val="232B37"/>
                </a:solidFill>
                <a:latin typeface="Amazon Ember Display"/>
              </a:rPr>
              <a:t>push a new version to servers you already run</a:t>
            </a:r>
          </a:p>
        </p:txBody>
      </p:sp>
      <p:sp>
        <p:nvSpPr>
          <p:cNvPr id="20" name="Rounded Rectangle 19"/>
          <p:cNvSpPr/>
          <p:nvPr/>
        </p:nvSpPr>
        <p:spPr>
          <a:xfrm>
            <a:off x="9487814" y="4043019"/>
            <a:ext cx="2088489"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9560966" y="4134459"/>
            <a:ext cx="1942185" cy="346049"/>
          </a:xfrm>
          <a:prstGeom prst="rect">
            <a:avLst/>
          </a:prstGeom>
          <a:noFill/>
        </p:spPr>
        <p:txBody>
          <a:bodyPr wrap="square" anchor="ctr">
            <a:noAutofit/>
          </a:bodyPr>
          <a:lstStyle/>
          <a:p>
            <a:pPr algn="ctr"/>
            <a:r>
              <a:rPr sz="1600" b="1" i="0">
                <a:solidFill>
                  <a:srgbClr val="FFFFFF"/>
                </a:solidFill>
                <a:latin typeface="Amazon Ember Display"/>
              </a:rPr>
              <a:t>CodeDeploy</a:t>
            </a:r>
          </a:p>
        </p:txBody>
      </p:sp>
      <p:sp>
        <p:nvSpPr>
          <p:cNvPr id="22" name="TextBox 21"/>
          <p:cNvSpPr txBox="1"/>
          <p:nvPr/>
        </p:nvSpPr>
        <p:spPr>
          <a:xfrm>
            <a:off x="777240" y="4662779"/>
            <a:ext cx="8271662" cy="346049"/>
          </a:xfrm>
          <a:prstGeom prst="rect">
            <a:avLst/>
          </a:prstGeom>
          <a:noFill/>
        </p:spPr>
        <p:txBody>
          <a:bodyPr wrap="square" anchor="ctr">
            <a:noAutofit/>
          </a:bodyPr>
          <a:lstStyle/>
          <a:p>
            <a:pPr algn="l"/>
            <a:r>
              <a:rPr sz="1600" b="0" i="0">
                <a:solidFill>
                  <a:srgbClr val="232B37"/>
                </a:solidFill>
                <a:latin typeface="Amazon Ember Display"/>
              </a:rPr>
              <a:t>upload code and let the platform run it</a:t>
            </a:r>
          </a:p>
        </p:txBody>
      </p:sp>
      <p:sp>
        <p:nvSpPr>
          <p:cNvPr id="23" name="Rounded Rectangle 22"/>
          <p:cNvSpPr/>
          <p:nvPr/>
        </p:nvSpPr>
        <p:spPr>
          <a:xfrm>
            <a:off x="9487814" y="4598060"/>
            <a:ext cx="2088489"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560966" y="4689500"/>
            <a:ext cx="1942185" cy="346049"/>
          </a:xfrm>
          <a:prstGeom prst="rect">
            <a:avLst/>
          </a:prstGeom>
          <a:noFill/>
        </p:spPr>
        <p:txBody>
          <a:bodyPr wrap="square" anchor="ctr">
            <a:noAutofit/>
          </a:bodyPr>
          <a:lstStyle/>
          <a:p>
            <a:pPr algn="ctr"/>
            <a:r>
              <a:rPr sz="1600" b="1" i="0">
                <a:solidFill>
                  <a:srgbClr val="FFFFFF"/>
                </a:solidFill>
                <a:latin typeface="Amazon Ember Display"/>
              </a:rPr>
              <a:t>Elastic Beanstalk</a:t>
            </a:r>
          </a:p>
        </p:txBody>
      </p:sp>
      <p:sp>
        <p:nvSpPr>
          <p:cNvPr id="25" name="Rounded Rectangle 24"/>
          <p:cNvSpPr/>
          <p:nvPr/>
        </p:nvSpPr>
        <p:spPr>
          <a:xfrm>
            <a:off x="612648" y="5113324"/>
            <a:ext cx="10963656" cy="555040"/>
          </a:xfrm>
          <a:prstGeom prst="roundRect">
            <a:avLst>
              <a:gd name="adj" fmla="val 16474"/>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77240" y="5217820"/>
            <a:ext cx="8271662" cy="346049"/>
          </a:xfrm>
          <a:prstGeom prst="rect">
            <a:avLst/>
          </a:prstGeom>
          <a:noFill/>
        </p:spPr>
        <p:txBody>
          <a:bodyPr wrap="square" anchor="ctr">
            <a:noAutofit/>
          </a:bodyPr>
          <a:lstStyle/>
          <a:p>
            <a:pPr algn="l"/>
            <a:r>
              <a:rPr sz="1600" b="0" i="0">
                <a:solidFill>
                  <a:srgbClr val="232B37"/>
                </a:solidFill>
                <a:latin typeface="Amazon Ember Display"/>
              </a:rPr>
              <a:t>run containers without managing servers</a:t>
            </a:r>
          </a:p>
        </p:txBody>
      </p:sp>
      <p:sp>
        <p:nvSpPr>
          <p:cNvPr id="27" name="Rounded Rectangle 26"/>
          <p:cNvSpPr/>
          <p:nvPr/>
        </p:nvSpPr>
        <p:spPr>
          <a:xfrm>
            <a:off x="9487814" y="5153101"/>
            <a:ext cx="2088489"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560966" y="5244541"/>
            <a:ext cx="1942185" cy="346049"/>
          </a:xfrm>
          <a:prstGeom prst="rect">
            <a:avLst/>
          </a:prstGeom>
          <a:noFill/>
        </p:spPr>
        <p:txBody>
          <a:bodyPr wrap="square" anchor="ctr">
            <a:noAutofit/>
          </a:bodyPr>
          <a:lstStyle/>
          <a:p>
            <a:pPr algn="ctr"/>
            <a:r>
              <a:rPr sz="1600" b="1" i="0">
                <a:solidFill>
                  <a:srgbClr val="FFFFFF"/>
                </a:solidFill>
                <a:latin typeface="Amazon Ember Display"/>
              </a:rPr>
              <a:t>ECS on Fargate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3736" y="324534"/>
            <a:ext cx="11284527" cy="646331"/>
          </a:xfrm>
          <a:prstGeom prst="rect">
            <a:avLst/>
          </a:prstGeom>
          <a:noFill/>
        </p:spPr>
        <p:txBody>
          <a:bodyPr wrap="square">
            <a:spAutoFit/>
          </a:bodyPr>
          <a:lstStyle/>
          <a:p>
            <a:r>
              <a:rPr sz="3600" b="1" dirty="0">
                <a:solidFill>
                  <a:srgbClr val="232F3E"/>
                </a:solidFill>
                <a:latin typeface="Amazon Ember Display"/>
              </a:rPr>
              <a:t>Which deployment service does the wording name?</a:t>
            </a:r>
          </a:p>
        </p:txBody>
      </p:sp>
      <p:sp>
        <p:nvSpPr>
          <p:cNvPr id="3" name="Rectangle 2"/>
          <p:cNvSpPr/>
          <p:nvPr/>
        </p:nvSpPr>
        <p:spPr>
          <a:xfrm>
            <a:off x="533400" y="1143000"/>
            <a:ext cx="11125200" cy="45720"/>
          </a:xfrm>
          <a:prstGeom prst="rect">
            <a:avLst/>
          </a:prstGeom>
          <a:solidFill>
            <a:srgbClr val="E60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65"/>
          </a:p>
        </p:txBody>
      </p:sp>
      <p:sp>
        <p:nvSpPr>
          <p:cNvPr id="4" name="Rounded Rectangle 3"/>
          <p:cNvSpPr/>
          <p:nvPr/>
        </p:nvSpPr>
        <p:spPr>
          <a:xfrm>
            <a:off x="533400" y="1524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one file describes the whole stack</a:t>
            </a:r>
          </a:p>
        </p:txBody>
      </p:sp>
      <p:sp>
        <p:nvSpPr>
          <p:cNvPr id="5" name="Rounded Rectangle 4"/>
          <p:cNvSpPr/>
          <p:nvPr/>
        </p:nvSpPr>
        <p:spPr>
          <a:xfrm>
            <a:off x="8534400" y="15240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6" name="Rounded Rectangle 5"/>
          <p:cNvSpPr/>
          <p:nvPr/>
        </p:nvSpPr>
        <p:spPr>
          <a:xfrm>
            <a:off x="533400" y="2209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the same stack, written in TypeScript</a:t>
            </a:r>
          </a:p>
        </p:txBody>
      </p:sp>
      <p:sp>
        <p:nvSpPr>
          <p:cNvPr id="7" name="Rounded Rectangle 6"/>
          <p:cNvSpPr/>
          <p:nvPr/>
        </p:nvSpPr>
        <p:spPr>
          <a:xfrm>
            <a:off x="8534400" y="22098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8" name="Rounded Rectangle 7"/>
          <p:cNvSpPr/>
          <p:nvPr/>
        </p:nvSpPr>
        <p:spPr>
          <a:xfrm>
            <a:off x="533400" y="28956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a function and its trigger, declared together</a:t>
            </a:r>
          </a:p>
        </p:txBody>
      </p:sp>
      <p:sp>
        <p:nvSpPr>
          <p:cNvPr id="9" name="Rounded Rectangle 8"/>
          <p:cNvSpPr/>
          <p:nvPr/>
        </p:nvSpPr>
        <p:spPr>
          <a:xfrm>
            <a:off x="8534400" y="28956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0" name="Rounded Rectangle 9"/>
          <p:cNvSpPr/>
          <p:nvPr/>
        </p:nvSpPr>
        <p:spPr>
          <a:xfrm>
            <a:off x="533400" y="35814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build, test and deploy stages in order</a:t>
            </a:r>
          </a:p>
        </p:txBody>
      </p:sp>
      <p:sp>
        <p:nvSpPr>
          <p:cNvPr id="11" name="Rounded Rectangle 10"/>
          <p:cNvSpPr/>
          <p:nvPr/>
        </p:nvSpPr>
        <p:spPr>
          <a:xfrm>
            <a:off x="8534400" y="35814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2" name="Rounded Rectangle 11"/>
          <p:cNvSpPr/>
          <p:nvPr/>
        </p:nvSpPr>
        <p:spPr>
          <a:xfrm>
            <a:off x="533400" y="42672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push a new version to servers you already run</a:t>
            </a:r>
          </a:p>
        </p:txBody>
      </p:sp>
      <p:sp>
        <p:nvSpPr>
          <p:cNvPr id="13" name="Rounded Rectangle 12"/>
          <p:cNvSpPr/>
          <p:nvPr/>
        </p:nvSpPr>
        <p:spPr>
          <a:xfrm>
            <a:off x="8534400" y="42672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4" name="Rounded Rectangle 13"/>
          <p:cNvSpPr/>
          <p:nvPr/>
        </p:nvSpPr>
        <p:spPr>
          <a:xfrm>
            <a:off x="533400" y="4953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upload code and let the platform run it</a:t>
            </a:r>
          </a:p>
        </p:txBody>
      </p:sp>
      <p:sp>
        <p:nvSpPr>
          <p:cNvPr id="15" name="Rounded Rectangle 14"/>
          <p:cNvSpPr/>
          <p:nvPr/>
        </p:nvSpPr>
        <p:spPr>
          <a:xfrm>
            <a:off x="8534400" y="49530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6" name="Rounded Rectangle 15"/>
          <p:cNvSpPr/>
          <p:nvPr/>
        </p:nvSpPr>
        <p:spPr>
          <a:xfrm>
            <a:off x="533400" y="5638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run containers without managing servers</a:t>
            </a:r>
          </a:p>
        </p:txBody>
      </p:sp>
      <p:sp>
        <p:nvSpPr>
          <p:cNvPr id="17" name="Rounded Rectangle 16"/>
          <p:cNvSpPr/>
          <p:nvPr/>
        </p:nvSpPr>
        <p:spPr>
          <a:xfrm>
            <a:off x="8534400" y="56388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3400" y="1143000"/>
            <a:ext cx="11125200" cy="45720"/>
          </a:xfrm>
          <a:prstGeom prst="rect">
            <a:avLst/>
          </a:prstGeom>
          <a:solidFill>
            <a:srgbClr val="E60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65"/>
          </a:p>
        </p:txBody>
      </p:sp>
      <p:sp>
        <p:nvSpPr>
          <p:cNvPr id="4" name="Rounded Rectangle 3"/>
          <p:cNvSpPr/>
          <p:nvPr/>
        </p:nvSpPr>
        <p:spPr>
          <a:xfrm>
            <a:off x="533400" y="1524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one file describes the whole stack</a:t>
            </a:r>
          </a:p>
        </p:txBody>
      </p:sp>
      <p:sp>
        <p:nvSpPr>
          <p:cNvPr id="5" name="Rounded Rectangle 4"/>
          <p:cNvSpPr/>
          <p:nvPr/>
        </p:nvSpPr>
        <p:spPr>
          <a:xfrm>
            <a:off x="8534400" y="15240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CloudFormation</a:t>
            </a:r>
          </a:p>
        </p:txBody>
      </p:sp>
      <p:sp>
        <p:nvSpPr>
          <p:cNvPr id="6" name="Rounded Rectangle 5"/>
          <p:cNvSpPr/>
          <p:nvPr/>
        </p:nvSpPr>
        <p:spPr>
          <a:xfrm>
            <a:off x="533400" y="2209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the same stack, written in TypeScript</a:t>
            </a:r>
          </a:p>
        </p:txBody>
      </p:sp>
      <p:sp>
        <p:nvSpPr>
          <p:cNvPr id="7" name="Rounded Rectangle 6"/>
          <p:cNvSpPr/>
          <p:nvPr/>
        </p:nvSpPr>
        <p:spPr>
          <a:xfrm>
            <a:off x="8534400" y="22098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8" name="Rounded Rectangle 7"/>
          <p:cNvSpPr/>
          <p:nvPr/>
        </p:nvSpPr>
        <p:spPr>
          <a:xfrm>
            <a:off x="533400" y="28956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a function and its trigger, declared together</a:t>
            </a:r>
          </a:p>
        </p:txBody>
      </p:sp>
      <p:sp>
        <p:nvSpPr>
          <p:cNvPr id="9" name="Rounded Rectangle 8"/>
          <p:cNvSpPr/>
          <p:nvPr/>
        </p:nvSpPr>
        <p:spPr>
          <a:xfrm>
            <a:off x="8534400" y="28956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0" name="Rounded Rectangle 9"/>
          <p:cNvSpPr/>
          <p:nvPr/>
        </p:nvSpPr>
        <p:spPr>
          <a:xfrm>
            <a:off x="533400" y="35814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build, test and deploy stages in order</a:t>
            </a:r>
          </a:p>
        </p:txBody>
      </p:sp>
      <p:sp>
        <p:nvSpPr>
          <p:cNvPr id="11" name="Rounded Rectangle 10"/>
          <p:cNvSpPr/>
          <p:nvPr/>
        </p:nvSpPr>
        <p:spPr>
          <a:xfrm>
            <a:off x="8534400" y="35814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2" name="Rounded Rectangle 11"/>
          <p:cNvSpPr/>
          <p:nvPr/>
        </p:nvSpPr>
        <p:spPr>
          <a:xfrm>
            <a:off x="533400" y="42672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push a new version to servers you already run</a:t>
            </a:r>
          </a:p>
        </p:txBody>
      </p:sp>
      <p:sp>
        <p:nvSpPr>
          <p:cNvPr id="13" name="Rounded Rectangle 12"/>
          <p:cNvSpPr/>
          <p:nvPr/>
        </p:nvSpPr>
        <p:spPr>
          <a:xfrm>
            <a:off x="8534400" y="42672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4" name="Rounded Rectangle 13"/>
          <p:cNvSpPr/>
          <p:nvPr/>
        </p:nvSpPr>
        <p:spPr>
          <a:xfrm>
            <a:off x="533400" y="4953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upload code and let the platform run it</a:t>
            </a:r>
          </a:p>
        </p:txBody>
      </p:sp>
      <p:sp>
        <p:nvSpPr>
          <p:cNvPr id="15" name="Rounded Rectangle 14"/>
          <p:cNvSpPr/>
          <p:nvPr/>
        </p:nvSpPr>
        <p:spPr>
          <a:xfrm>
            <a:off x="8534400" y="49530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6" name="Rounded Rectangle 15"/>
          <p:cNvSpPr/>
          <p:nvPr/>
        </p:nvSpPr>
        <p:spPr>
          <a:xfrm>
            <a:off x="533400" y="5638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run containers without managing servers</a:t>
            </a:r>
          </a:p>
        </p:txBody>
      </p:sp>
      <p:sp>
        <p:nvSpPr>
          <p:cNvPr id="17" name="Rounded Rectangle 16"/>
          <p:cNvSpPr/>
          <p:nvPr/>
        </p:nvSpPr>
        <p:spPr>
          <a:xfrm>
            <a:off x="8534400" y="56388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20" name="TextBox 19">
            <a:extLst>
              <a:ext uri="{FF2B5EF4-FFF2-40B4-BE49-F238E27FC236}">
                <a16:creationId xmlns:a16="http://schemas.microsoft.com/office/drawing/2014/main" id="{00251448-D55D-1EBB-9D04-2E814814DA5F}"/>
              </a:ext>
            </a:extLst>
          </p:cNvPr>
          <p:cNvSpPr txBox="1"/>
          <p:nvPr/>
        </p:nvSpPr>
        <p:spPr>
          <a:xfrm>
            <a:off x="453736" y="324534"/>
            <a:ext cx="11284527" cy="646331"/>
          </a:xfrm>
          <a:prstGeom prst="rect">
            <a:avLst/>
          </a:prstGeom>
          <a:noFill/>
        </p:spPr>
        <p:txBody>
          <a:bodyPr wrap="square">
            <a:spAutoFit/>
          </a:bodyPr>
          <a:lstStyle/>
          <a:p>
            <a:r>
              <a:rPr sz="3600" b="1" dirty="0">
                <a:solidFill>
                  <a:srgbClr val="232F3E"/>
                </a:solidFill>
                <a:latin typeface="Amazon Ember Display"/>
              </a:rPr>
              <a:t>Which deployment service does the wording name?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3400" y="1143000"/>
            <a:ext cx="11125200" cy="45720"/>
          </a:xfrm>
          <a:prstGeom prst="rect">
            <a:avLst/>
          </a:prstGeom>
          <a:solidFill>
            <a:srgbClr val="E60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65"/>
          </a:p>
        </p:txBody>
      </p:sp>
      <p:sp>
        <p:nvSpPr>
          <p:cNvPr id="4" name="Rounded Rectangle 3"/>
          <p:cNvSpPr/>
          <p:nvPr/>
        </p:nvSpPr>
        <p:spPr>
          <a:xfrm>
            <a:off x="533400" y="1524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one file describes the whole stack</a:t>
            </a:r>
          </a:p>
        </p:txBody>
      </p:sp>
      <p:sp>
        <p:nvSpPr>
          <p:cNvPr id="5" name="Rounded Rectangle 4"/>
          <p:cNvSpPr/>
          <p:nvPr/>
        </p:nvSpPr>
        <p:spPr>
          <a:xfrm>
            <a:off x="8534400" y="15240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CloudFormation</a:t>
            </a:r>
          </a:p>
        </p:txBody>
      </p:sp>
      <p:sp>
        <p:nvSpPr>
          <p:cNvPr id="6" name="Rounded Rectangle 5"/>
          <p:cNvSpPr/>
          <p:nvPr/>
        </p:nvSpPr>
        <p:spPr>
          <a:xfrm>
            <a:off x="533400" y="2209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the same stack, written in TypeScript</a:t>
            </a:r>
          </a:p>
        </p:txBody>
      </p:sp>
      <p:sp>
        <p:nvSpPr>
          <p:cNvPr id="7" name="Rounded Rectangle 6"/>
          <p:cNvSpPr/>
          <p:nvPr/>
        </p:nvSpPr>
        <p:spPr>
          <a:xfrm>
            <a:off x="8534400" y="22098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AWS CDK</a:t>
            </a:r>
          </a:p>
        </p:txBody>
      </p:sp>
      <p:sp>
        <p:nvSpPr>
          <p:cNvPr id="8" name="Rounded Rectangle 7"/>
          <p:cNvSpPr/>
          <p:nvPr/>
        </p:nvSpPr>
        <p:spPr>
          <a:xfrm>
            <a:off x="533400" y="28956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a function and its trigger, declared together</a:t>
            </a:r>
          </a:p>
        </p:txBody>
      </p:sp>
      <p:sp>
        <p:nvSpPr>
          <p:cNvPr id="9" name="Rounded Rectangle 8"/>
          <p:cNvSpPr/>
          <p:nvPr/>
        </p:nvSpPr>
        <p:spPr>
          <a:xfrm>
            <a:off x="8534400" y="28956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0" name="Rounded Rectangle 9"/>
          <p:cNvSpPr/>
          <p:nvPr/>
        </p:nvSpPr>
        <p:spPr>
          <a:xfrm>
            <a:off x="533400" y="35814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build, test and deploy stages in order</a:t>
            </a:r>
          </a:p>
        </p:txBody>
      </p:sp>
      <p:sp>
        <p:nvSpPr>
          <p:cNvPr id="11" name="Rounded Rectangle 10"/>
          <p:cNvSpPr/>
          <p:nvPr/>
        </p:nvSpPr>
        <p:spPr>
          <a:xfrm>
            <a:off x="8534400" y="35814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2" name="Rounded Rectangle 11"/>
          <p:cNvSpPr/>
          <p:nvPr/>
        </p:nvSpPr>
        <p:spPr>
          <a:xfrm>
            <a:off x="533400" y="42672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push a new version to servers you already run</a:t>
            </a:r>
          </a:p>
        </p:txBody>
      </p:sp>
      <p:sp>
        <p:nvSpPr>
          <p:cNvPr id="13" name="Rounded Rectangle 12"/>
          <p:cNvSpPr/>
          <p:nvPr/>
        </p:nvSpPr>
        <p:spPr>
          <a:xfrm>
            <a:off x="8534400" y="42672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4" name="Rounded Rectangle 13"/>
          <p:cNvSpPr/>
          <p:nvPr/>
        </p:nvSpPr>
        <p:spPr>
          <a:xfrm>
            <a:off x="533400" y="4953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upload code and let the platform run it</a:t>
            </a:r>
          </a:p>
        </p:txBody>
      </p:sp>
      <p:sp>
        <p:nvSpPr>
          <p:cNvPr id="15" name="Rounded Rectangle 14"/>
          <p:cNvSpPr/>
          <p:nvPr/>
        </p:nvSpPr>
        <p:spPr>
          <a:xfrm>
            <a:off x="8534400" y="49530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6" name="Rounded Rectangle 15"/>
          <p:cNvSpPr/>
          <p:nvPr/>
        </p:nvSpPr>
        <p:spPr>
          <a:xfrm>
            <a:off x="533400" y="5638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run containers without managing servers</a:t>
            </a:r>
          </a:p>
        </p:txBody>
      </p:sp>
      <p:sp>
        <p:nvSpPr>
          <p:cNvPr id="17" name="Rounded Rectangle 16"/>
          <p:cNvSpPr/>
          <p:nvPr/>
        </p:nvSpPr>
        <p:spPr>
          <a:xfrm>
            <a:off x="8534400" y="56388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20" name="TextBox 19">
            <a:extLst>
              <a:ext uri="{FF2B5EF4-FFF2-40B4-BE49-F238E27FC236}">
                <a16:creationId xmlns:a16="http://schemas.microsoft.com/office/drawing/2014/main" id="{516B77E7-3B62-401C-F96E-D6F9B4F1EC1E}"/>
              </a:ext>
            </a:extLst>
          </p:cNvPr>
          <p:cNvSpPr txBox="1"/>
          <p:nvPr/>
        </p:nvSpPr>
        <p:spPr>
          <a:xfrm>
            <a:off x="453736" y="324534"/>
            <a:ext cx="11284527" cy="646331"/>
          </a:xfrm>
          <a:prstGeom prst="rect">
            <a:avLst/>
          </a:prstGeom>
          <a:noFill/>
        </p:spPr>
        <p:txBody>
          <a:bodyPr wrap="square">
            <a:spAutoFit/>
          </a:bodyPr>
          <a:lstStyle/>
          <a:p>
            <a:r>
              <a:rPr sz="3600" b="1" dirty="0">
                <a:solidFill>
                  <a:srgbClr val="232F3E"/>
                </a:solidFill>
                <a:latin typeface="Amazon Ember Display"/>
              </a:rPr>
              <a:t>Which deployment service does the wording name?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3400" y="1143000"/>
            <a:ext cx="11125200" cy="45720"/>
          </a:xfrm>
          <a:prstGeom prst="rect">
            <a:avLst/>
          </a:prstGeom>
          <a:solidFill>
            <a:srgbClr val="E60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65"/>
          </a:p>
        </p:txBody>
      </p:sp>
      <p:sp>
        <p:nvSpPr>
          <p:cNvPr id="4" name="Rounded Rectangle 3"/>
          <p:cNvSpPr/>
          <p:nvPr/>
        </p:nvSpPr>
        <p:spPr>
          <a:xfrm>
            <a:off x="533400" y="1524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one file describes the whole stack</a:t>
            </a:r>
          </a:p>
        </p:txBody>
      </p:sp>
      <p:sp>
        <p:nvSpPr>
          <p:cNvPr id="5" name="Rounded Rectangle 4"/>
          <p:cNvSpPr/>
          <p:nvPr/>
        </p:nvSpPr>
        <p:spPr>
          <a:xfrm>
            <a:off x="8534400" y="15240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CloudFormation</a:t>
            </a:r>
          </a:p>
        </p:txBody>
      </p:sp>
      <p:sp>
        <p:nvSpPr>
          <p:cNvPr id="6" name="Rounded Rectangle 5"/>
          <p:cNvSpPr/>
          <p:nvPr/>
        </p:nvSpPr>
        <p:spPr>
          <a:xfrm>
            <a:off x="533400" y="2209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the same stack, written in TypeScript</a:t>
            </a:r>
          </a:p>
        </p:txBody>
      </p:sp>
      <p:sp>
        <p:nvSpPr>
          <p:cNvPr id="7" name="Rounded Rectangle 6"/>
          <p:cNvSpPr/>
          <p:nvPr/>
        </p:nvSpPr>
        <p:spPr>
          <a:xfrm>
            <a:off x="8534400" y="22098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AWS CDK</a:t>
            </a:r>
          </a:p>
        </p:txBody>
      </p:sp>
      <p:sp>
        <p:nvSpPr>
          <p:cNvPr id="8" name="Rounded Rectangle 7"/>
          <p:cNvSpPr/>
          <p:nvPr/>
        </p:nvSpPr>
        <p:spPr>
          <a:xfrm>
            <a:off x="533400" y="28956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a function and its trigger, declared together</a:t>
            </a:r>
          </a:p>
        </p:txBody>
      </p:sp>
      <p:sp>
        <p:nvSpPr>
          <p:cNvPr id="9" name="Rounded Rectangle 8"/>
          <p:cNvSpPr/>
          <p:nvPr/>
        </p:nvSpPr>
        <p:spPr>
          <a:xfrm>
            <a:off x="8534400" y="28956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AWS SAM</a:t>
            </a:r>
          </a:p>
        </p:txBody>
      </p:sp>
      <p:sp>
        <p:nvSpPr>
          <p:cNvPr id="10" name="Rounded Rectangle 9"/>
          <p:cNvSpPr/>
          <p:nvPr/>
        </p:nvSpPr>
        <p:spPr>
          <a:xfrm>
            <a:off x="533400" y="35814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build, test and deploy stages in order</a:t>
            </a:r>
          </a:p>
        </p:txBody>
      </p:sp>
      <p:sp>
        <p:nvSpPr>
          <p:cNvPr id="11" name="Rounded Rectangle 10"/>
          <p:cNvSpPr/>
          <p:nvPr/>
        </p:nvSpPr>
        <p:spPr>
          <a:xfrm>
            <a:off x="8534400" y="35814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2" name="Rounded Rectangle 11"/>
          <p:cNvSpPr/>
          <p:nvPr/>
        </p:nvSpPr>
        <p:spPr>
          <a:xfrm>
            <a:off x="533400" y="42672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push a new version to servers you already run</a:t>
            </a:r>
          </a:p>
        </p:txBody>
      </p:sp>
      <p:sp>
        <p:nvSpPr>
          <p:cNvPr id="13" name="Rounded Rectangle 12"/>
          <p:cNvSpPr/>
          <p:nvPr/>
        </p:nvSpPr>
        <p:spPr>
          <a:xfrm>
            <a:off x="8534400" y="42672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4" name="Rounded Rectangle 13"/>
          <p:cNvSpPr/>
          <p:nvPr/>
        </p:nvSpPr>
        <p:spPr>
          <a:xfrm>
            <a:off x="533400" y="4953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upload code and let the platform run it</a:t>
            </a:r>
          </a:p>
        </p:txBody>
      </p:sp>
      <p:sp>
        <p:nvSpPr>
          <p:cNvPr id="15" name="Rounded Rectangle 14"/>
          <p:cNvSpPr/>
          <p:nvPr/>
        </p:nvSpPr>
        <p:spPr>
          <a:xfrm>
            <a:off x="8534400" y="49530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6" name="Rounded Rectangle 15"/>
          <p:cNvSpPr/>
          <p:nvPr/>
        </p:nvSpPr>
        <p:spPr>
          <a:xfrm>
            <a:off x="533400" y="5638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run containers without managing servers</a:t>
            </a:r>
          </a:p>
        </p:txBody>
      </p:sp>
      <p:sp>
        <p:nvSpPr>
          <p:cNvPr id="17" name="Rounded Rectangle 16"/>
          <p:cNvSpPr/>
          <p:nvPr/>
        </p:nvSpPr>
        <p:spPr>
          <a:xfrm>
            <a:off x="8534400" y="56388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20" name="TextBox 19">
            <a:extLst>
              <a:ext uri="{FF2B5EF4-FFF2-40B4-BE49-F238E27FC236}">
                <a16:creationId xmlns:a16="http://schemas.microsoft.com/office/drawing/2014/main" id="{F413F9DB-BEFD-B1C3-E965-FD58FDF0796C}"/>
              </a:ext>
            </a:extLst>
          </p:cNvPr>
          <p:cNvSpPr txBox="1"/>
          <p:nvPr/>
        </p:nvSpPr>
        <p:spPr>
          <a:xfrm>
            <a:off x="453736" y="324534"/>
            <a:ext cx="11284527" cy="646331"/>
          </a:xfrm>
          <a:prstGeom prst="rect">
            <a:avLst/>
          </a:prstGeom>
          <a:noFill/>
        </p:spPr>
        <p:txBody>
          <a:bodyPr wrap="square">
            <a:spAutoFit/>
          </a:bodyPr>
          <a:lstStyle/>
          <a:p>
            <a:r>
              <a:rPr sz="3600" b="1" dirty="0">
                <a:solidFill>
                  <a:srgbClr val="232F3E"/>
                </a:solidFill>
                <a:latin typeface="Amazon Ember Display"/>
              </a:rPr>
              <a:t>Which deployment service does the wording name?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3400" y="1143000"/>
            <a:ext cx="11125200" cy="45720"/>
          </a:xfrm>
          <a:prstGeom prst="rect">
            <a:avLst/>
          </a:prstGeom>
          <a:solidFill>
            <a:srgbClr val="E60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65"/>
          </a:p>
        </p:txBody>
      </p:sp>
      <p:sp>
        <p:nvSpPr>
          <p:cNvPr id="4" name="Rounded Rectangle 3"/>
          <p:cNvSpPr/>
          <p:nvPr/>
        </p:nvSpPr>
        <p:spPr>
          <a:xfrm>
            <a:off x="533400" y="1524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one file describes the whole stack</a:t>
            </a:r>
          </a:p>
        </p:txBody>
      </p:sp>
      <p:sp>
        <p:nvSpPr>
          <p:cNvPr id="5" name="Rounded Rectangle 4"/>
          <p:cNvSpPr/>
          <p:nvPr/>
        </p:nvSpPr>
        <p:spPr>
          <a:xfrm>
            <a:off x="8534400" y="15240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CloudFormation</a:t>
            </a:r>
          </a:p>
        </p:txBody>
      </p:sp>
      <p:sp>
        <p:nvSpPr>
          <p:cNvPr id="6" name="Rounded Rectangle 5"/>
          <p:cNvSpPr/>
          <p:nvPr/>
        </p:nvSpPr>
        <p:spPr>
          <a:xfrm>
            <a:off x="533400" y="2209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the same stack, written in TypeScript</a:t>
            </a:r>
          </a:p>
        </p:txBody>
      </p:sp>
      <p:sp>
        <p:nvSpPr>
          <p:cNvPr id="7" name="Rounded Rectangle 6"/>
          <p:cNvSpPr/>
          <p:nvPr/>
        </p:nvSpPr>
        <p:spPr>
          <a:xfrm>
            <a:off x="8534400" y="22098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AWS CDK</a:t>
            </a:r>
          </a:p>
        </p:txBody>
      </p:sp>
      <p:sp>
        <p:nvSpPr>
          <p:cNvPr id="8" name="Rounded Rectangle 7"/>
          <p:cNvSpPr/>
          <p:nvPr/>
        </p:nvSpPr>
        <p:spPr>
          <a:xfrm>
            <a:off x="533400" y="28956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a function and its trigger, declared together</a:t>
            </a:r>
          </a:p>
        </p:txBody>
      </p:sp>
      <p:sp>
        <p:nvSpPr>
          <p:cNvPr id="9" name="Rounded Rectangle 8"/>
          <p:cNvSpPr/>
          <p:nvPr/>
        </p:nvSpPr>
        <p:spPr>
          <a:xfrm>
            <a:off x="8534400" y="28956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AWS SAM</a:t>
            </a:r>
          </a:p>
        </p:txBody>
      </p:sp>
      <p:sp>
        <p:nvSpPr>
          <p:cNvPr id="10" name="Rounded Rectangle 9"/>
          <p:cNvSpPr/>
          <p:nvPr/>
        </p:nvSpPr>
        <p:spPr>
          <a:xfrm>
            <a:off x="533400" y="35814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build, test and deploy stages in order</a:t>
            </a:r>
          </a:p>
        </p:txBody>
      </p:sp>
      <p:sp>
        <p:nvSpPr>
          <p:cNvPr id="11" name="Rounded Rectangle 10"/>
          <p:cNvSpPr/>
          <p:nvPr/>
        </p:nvSpPr>
        <p:spPr>
          <a:xfrm>
            <a:off x="8534400" y="35814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CodePipeline</a:t>
            </a:r>
          </a:p>
        </p:txBody>
      </p:sp>
      <p:sp>
        <p:nvSpPr>
          <p:cNvPr id="12" name="Rounded Rectangle 11"/>
          <p:cNvSpPr/>
          <p:nvPr/>
        </p:nvSpPr>
        <p:spPr>
          <a:xfrm>
            <a:off x="533400" y="42672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push a new version to servers you already run</a:t>
            </a:r>
          </a:p>
        </p:txBody>
      </p:sp>
      <p:sp>
        <p:nvSpPr>
          <p:cNvPr id="13" name="Rounded Rectangle 12"/>
          <p:cNvSpPr/>
          <p:nvPr/>
        </p:nvSpPr>
        <p:spPr>
          <a:xfrm>
            <a:off x="8534400" y="42672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4" name="Rounded Rectangle 13"/>
          <p:cNvSpPr/>
          <p:nvPr/>
        </p:nvSpPr>
        <p:spPr>
          <a:xfrm>
            <a:off x="533400" y="4953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upload code and let the platform run it</a:t>
            </a:r>
          </a:p>
        </p:txBody>
      </p:sp>
      <p:sp>
        <p:nvSpPr>
          <p:cNvPr id="15" name="Rounded Rectangle 14"/>
          <p:cNvSpPr/>
          <p:nvPr/>
        </p:nvSpPr>
        <p:spPr>
          <a:xfrm>
            <a:off x="8534400" y="49530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6" name="Rounded Rectangle 15"/>
          <p:cNvSpPr/>
          <p:nvPr/>
        </p:nvSpPr>
        <p:spPr>
          <a:xfrm>
            <a:off x="533400" y="5638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run containers without managing servers</a:t>
            </a:r>
          </a:p>
        </p:txBody>
      </p:sp>
      <p:sp>
        <p:nvSpPr>
          <p:cNvPr id="17" name="Rounded Rectangle 16"/>
          <p:cNvSpPr/>
          <p:nvPr/>
        </p:nvSpPr>
        <p:spPr>
          <a:xfrm>
            <a:off x="8534400" y="56388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20" name="TextBox 19">
            <a:extLst>
              <a:ext uri="{FF2B5EF4-FFF2-40B4-BE49-F238E27FC236}">
                <a16:creationId xmlns:a16="http://schemas.microsoft.com/office/drawing/2014/main" id="{7529D980-669A-4397-E3EB-BAA5597E3136}"/>
              </a:ext>
            </a:extLst>
          </p:cNvPr>
          <p:cNvSpPr txBox="1"/>
          <p:nvPr/>
        </p:nvSpPr>
        <p:spPr>
          <a:xfrm>
            <a:off x="453736" y="324534"/>
            <a:ext cx="11284527" cy="646331"/>
          </a:xfrm>
          <a:prstGeom prst="rect">
            <a:avLst/>
          </a:prstGeom>
          <a:noFill/>
        </p:spPr>
        <p:txBody>
          <a:bodyPr wrap="square">
            <a:spAutoFit/>
          </a:bodyPr>
          <a:lstStyle/>
          <a:p>
            <a:r>
              <a:rPr sz="3600" b="1" dirty="0">
                <a:solidFill>
                  <a:srgbClr val="232F3E"/>
                </a:solidFill>
                <a:latin typeface="Amazon Ember Display"/>
              </a:rPr>
              <a:t>Which deployment service does the wording name?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3400" y="1143000"/>
            <a:ext cx="11125200" cy="45720"/>
          </a:xfrm>
          <a:prstGeom prst="rect">
            <a:avLst/>
          </a:prstGeom>
          <a:solidFill>
            <a:srgbClr val="E60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65"/>
          </a:p>
        </p:txBody>
      </p:sp>
      <p:sp>
        <p:nvSpPr>
          <p:cNvPr id="4" name="Rounded Rectangle 3"/>
          <p:cNvSpPr/>
          <p:nvPr/>
        </p:nvSpPr>
        <p:spPr>
          <a:xfrm>
            <a:off x="533400" y="1524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one file describes the whole stack</a:t>
            </a:r>
          </a:p>
        </p:txBody>
      </p:sp>
      <p:sp>
        <p:nvSpPr>
          <p:cNvPr id="5" name="Rounded Rectangle 4"/>
          <p:cNvSpPr/>
          <p:nvPr/>
        </p:nvSpPr>
        <p:spPr>
          <a:xfrm>
            <a:off x="8534400" y="15240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CloudFormation</a:t>
            </a:r>
          </a:p>
        </p:txBody>
      </p:sp>
      <p:sp>
        <p:nvSpPr>
          <p:cNvPr id="6" name="Rounded Rectangle 5"/>
          <p:cNvSpPr/>
          <p:nvPr/>
        </p:nvSpPr>
        <p:spPr>
          <a:xfrm>
            <a:off x="533400" y="2209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the same stack, written in TypeScript</a:t>
            </a:r>
          </a:p>
        </p:txBody>
      </p:sp>
      <p:sp>
        <p:nvSpPr>
          <p:cNvPr id="7" name="Rounded Rectangle 6"/>
          <p:cNvSpPr/>
          <p:nvPr/>
        </p:nvSpPr>
        <p:spPr>
          <a:xfrm>
            <a:off x="8534400" y="22098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AWS CDK</a:t>
            </a:r>
          </a:p>
        </p:txBody>
      </p:sp>
      <p:sp>
        <p:nvSpPr>
          <p:cNvPr id="8" name="Rounded Rectangle 7"/>
          <p:cNvSpPr/>
          <p:nvPr/>
        </p:nvSpPr>
        <p:spPr>
          <a:xfrm>
            <a:off x="533400" y="28956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a function and its trigger, declared together</a:t>
            </a:r>
          </a:p>
        </p:txBody>
      </p:sp>
      <p:sp>
        <p:nvSpPr>
          <p:cNvPr id="9" name="Rounded Rectangle 8"/>
          <p:cNvSpPr/>
          <p:nvPr/>
        </p:nvSpPr>
        <p:spPr>
          <a:xfrm>
            <a:off x="8534400" y="28956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AWS SAM</a:t>
            </a:r>
          </a:p>
        </p:txBody>
      </p:sp>
      <p:sp>
        <p:nvSpPr>
          <p:cNvPr id="10" name="Rounded Rectangle 9"/>
          <p:cNvSpPr/>
          <p:nvPr/>
        </p:nvSpPr>
        <p:spPr>
          <a:xfrm>
            <a:off x="533400" y="35814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build, test and deploy stages in order</a:t>
            </a:r>
          </a:p>
        </p:txBody>
      </p:sp>
      <p:sp>
        <p:nvSpPr>
          <p:cNvPr id="11" name="Rounded Rectangle 10"/>
          <p:cNvSpPr/>
          <p:nvPr/>
        </p:nvSpPr>
        <p:spPr>
          <a:xfrm>
            <a:off x="8534400" y="35814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CodePipeline</a:t>
            </a:r>
          </a:p>
        </p:txBody>
      </p:sp>
      <p:sp>
        <p:nvSpPr>
          <p:cNvPr id="12" name="Rounded Rectangle 11"/>
          <p:cNvSpPr/>
          <p:nvPr/>
        </p:nvSpPr>
        <p:spPr>
          <a:xfrm>
            <a:off x="533400" y="42672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push a new version to servers you already run</a:t>
            </a:r>
          </a:p>
        </p:txBody>
      </p:sp>
      <p:sp>
        <p:nvSpPr>
          <p:cNvPr id="13" name="Rounded Rectangle 12"/>
          <p:cNvSpPr/>
          <p:nvPr/>
        </p:nvSpPr>
        <p:spPr>
          <a:xfrm>
            <a:off x="8534400" y="42672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CodeDeploy</a:t>
            </a:r>
          </a:p>
        </p:txBody>
      </p:sp>
      <p:sp>
        <p:nvSpPr>
          <p:cNvPr id="14" name="Rounded Rectangle 13"/>
          <p:cNvSpPr/>
          <p:nvPr/>
        </p:nvSpPr>
        <p:spPr>
          <a:xfrm>
            <a:off x="533400" y="4953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upload code and let the platform run it</a:t>
            </a:r>
          </a:p>
        </p:txBody>
      </p:sp>
      <p:sp>
        <p:nvSpPr>
          <p:cNvPr id="15" name="Rounded Rectangle 14"/>
          <p:cNvSpPr/>
          <p:nvPr/>
        </p:nvSpPr>
        <p:spPr>
          <a:xfrm>
            <a:off x="8534400" y="49530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16" name="Rounded Rectangle 15"/>
          <p:cNvSpPr/>
          <p:nvPr/>
        </p:nvSpPr>
        <p:spPr>
          <a:xfrm>
            <a:off x="533400" y="5638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run containers without managing servers</a:t>
            </a:r>
          </a:p>
        </p:txBody>
      </p:sp>
      <p:sp>
        <p:nvSpPr>
          <p:cNvPr id="17" name="Rounded Rectangle 16"/>
          <p:cNvSpPr/>
          <p:nvPr/>
        </p:nvSpPr>
        <p:spPr>
          <a:xfrm>
            <a:off x="8534400" y="56388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20" name="TextBox 19">
            <a:extLst>
              <a:ext uri="{FF2B5EF4-FFF2-40B4-BE49-F238E27FC236}">
                <a16:creationId xmlns:a16="http://schemas.microsoft.com/office/drawing/2014/main" id="{E7907EC3-8594-98A3-BAD8-12FBF09658CB}"/>
              </a:ext>
            </a:extLst>
          </p:cNvPr>
          <p:cNvSpPr txBox="1"/>
          <p:nvPr/>
        </p:nvSpPr>
        <p:spPr>
          <a:xfrm>
            <a:off x="453736" y="324534"/>
            <a:ext cx="11284527" cy="646331"/>
          </a:xfrm>
          <a:prstGeom prst="rect">
            <a:avLst/>
          </a:prstGeom>
          <a:noFill/>
        </p:spPr>
        <p:txBody>
          <a:bodyPr wrap="square">
            <a:spAutoFit/>
          </a:bodyPr>
          <a:lstStyle/>
          <a:p>
            <a:r>
              <a:rPr sz="3600" b="1" dirty="0">
                <a:solidFill>
                  <a:srgbClr val="232F3E"/>
                </a:solidFill>
                <a:latin typeface="Amazon Ember Display"/>
              </a:rPr>
              <a:t>Which deployment service does the wording name?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3400" y="1143000"/>
            <a:ext cx="11125200" cy="45720"/>
          </a:xfrm>
          <a:prstGeom prst="rect">
            <a:avLst/>
          </a:prstGeom>
          <a:solidFill>
            <a:srgbClr val="E60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65"/>
          </a:p>
        </p:txBody>
      </p:sp>
      <p:sp>
        <p:nvSpPr>
          <p:cNvPr id="4" name="Rounded Rectangle 3"/>
          <p:cNvSpPr/>
          <p:nvPr/>
        </p:nvSpPr>
        <p:spPr>
          <a:xfrm>
            <a:off x="533400" y="1524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one file describes the whole stack</a:t>
            </a:r>
          </a:p>
        </p:txBody>
      </p:sp>
      <p:sp>
        <p:nvSpPr>
          <p:cNvPr id="5" name="Rounded Rectangle 4"/>
          <p:cNvSpPr/>
          <p:nvPr/>
        </p:nvSpPr>
        <p:spPr>
          <a:xfrm>
            <a:off x="8534400" y="15240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CloudFormation</a:t>
            </a:r>
          </a:p>
        </p:txBody>
      </p:sp>
      <p:sp>
        <p:nvSpPr>
          <p:cNvPr id="6" name="Rounded Rectangle 5"/>
          <p:cNvSpPr/>
          <p:nvPr/>
        </p:nvSpPr>
        <p:spPr>
          <a:xfrm>
            <a:off x="533400" y="2209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the same stack, written in TypeScript</a:t>
            </a:r>
          </a:p>
        </p:txBody>
      </p:sp>
      <p:sp>
        <p:nvSpPr>
          <p:cNvPr id="7" name="Rounded Rectangle 6"/>
          <p:cNvSpPr/>
          <p:nvPr/>
        </p:nvSpPr>
        <p:spPr>
          <a:xfrm>
            <a:off x="8534400" y="22098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AWS CDK</a:t>
            </a:r>
          </a:p>
        </p:txBody>
      </p:sp>
      <p:sp>
        <p:nvSpPr>
          <p:cNvPr id="8" name="Rounded Rectangle 7"/>
          <p:cNvSpPr/>
          <p:nvPr/>
        </p:nvSpPr>
        <p:spPr>
          <a:xfrm>
            <a:off x="533400" y="28956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a function and its trigger, declared together</a:t>
            </a:r>
          </a:p>
        </p:txBody>
      </p:sp>
      <p:sp>
        <p:nvSpPr>
          <p:cNvPr id="9" name="Rounded Rectangle 8"/>
          <p:cNvSpPr/>
          <p:nvPr/>
        </p:nvSpPr>
        <p:spPr>
          <a:xfrm>
            <a:off x="8534400" y="28956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AWS SAM</a:t>
            </a:r>
          </a:p>
        </p:txBody>
      </p:sp>
      <p:sp>
        <p:nvSpPr>
          <p:cNvPr id="10" name="Rounded Rectangle 9"/>
          <p:cNvSpPr/>
          <p:nvPr/>
        </p:nvSpPr>
        <p:spPr>
          <a:xfrm>
            <a:off x="533400" y="35814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build, test and deploy stages in order</a:t>
            </a:r>
          </a:p>
        </p:txBody>
      </p:sp>
      <p:sp>
        <p:nvSpPr>
          <p:cNvPr id="11" name="Rounded Rectangle 10"/>
          <p:cNvSpPr/>
          <p:nvPr/>
        </p:nvSpPr>
        <p:spPr>
          <a:xfrm>
            <a:off x="8534400" y="35814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CodePipeline</a:t>
            </a:r>
          </a:p>
        </p:txBody>
      </p:sp>
      <p:sp>
        <p:nvSpPr>
          <p:cNvPr id="12" name="Rounded Rectangle 11"/>
          <p:cNvSpPr/>
          <p:nvPr/>
        </p:nvSpPr>
        <p:spPr>
          <a:xfrm>
            <a:off x="533400" y="42672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push a new version to servers you already run</a:t>
            </a:r>
          </a:p>
        </p:txBody>
      </p:sp>
      <p:sp>
        <p:nvSpPr>
          <p:cNvPr id="13" name="Rounded Rectangle 12"/>
          <p:cNvSpPr/>
          <p:nvPr/>
        </p:nvSpPr>
        <p:spPr>
          <a:xfrm>
            <a:off x="8534400" y="42672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CodeDeploy</a:t>
            </a:r>
          </a:p>
        </p:txBody>
      </p:sp>
      <p:sp>
        <p:nvSpPr>
          <p:cNvPr id="14" name="Rounded Rectangle 13"/>
          <p:cNvSpPr/>
          <p:nvPr/>
        </p:nvSpPr>
        <p:spPr>
          <a:xfrm>
            <a:off x="533400" y="4953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upload code and let the platform run it</a:t>
            </a:r>
          </a:p>
        </p:txBody>
      </p:sp>
      <p:sp>
        <p:nvSpPr>
          <p:cNvPr id="15" name="Rounded Rectangle 14"/>
          <p:cNvSpPr/>
          <p:nvPr/>
        </p:nvSpPr>
        <p:spPr>
          <a:xfrm>
            <a:off x="8534400" y="49530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Elastic Beanstalk</a:t>
            </a:r>
          </a:p>
        </p:txBody>
      </p:sp>
      <p:sp>
        <p:nvSpPr>
          <p:cNvPr id="16" name="Rounded Rectangle 15"/>
          <p:cNvSpPr/>
          <p:nvPr/>
        </p:nvSpPr>
        <p:spPr>
          <a:xfrm>
            <a:off x="533400" y="5638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run containers without managing servers</a:t>
            </a:r>
          </a:p>
        </p:txBody>
      </p:sp>
      <p:sp>
        <p:nvSpPr>
          <p:cNvPr id="17" name="Rounded Rectangle 16"/>
          <p:cNvSpPr/>
          <p:nvPr/>
        </p:nvSpPr>
        <p:spPr>
          <a:xfrm>
            <a:off x="8534400" y="5638800"/>
            <a:ext cx="2667000" cy="571500"/>
          </a:xfrm>
          <a:prstGeom prst="roundRect">
            <a:avLst/>
          </a:prstGeom>
          <a:solidFill>
            <a:srgbClr val="E0E0E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2000" b="1">
                <a:solidFill>
                  <a:srgbClr val="BBBBBB"/>
                </a:solidFill>
                <a:latin typeface="Amazon Ember"/>
              </a:rPr>
              <a:t>?</a:t>
            </a:r>
          </a:p>
        </p:txBody>
      </p:sp>
      <p:sp>
        <p:nvSpPr>
          <p:cNvPr id="20" name="TextBox 19">
            <a:extLst>
              <a:ext uri="{FF2B5EF4-FFF2-40B4-BE49-F238E27FC236}">
                <a16:creationId xmlns:a16="http://schemas.microsoft.com/office/drawing/2014/main" id="{CE7D0DBE-3B82-A74B-DA92-7B4D1BE6398A}"/>
              </a:ext>
            </a:extLst>
          </p:cNvPr>
          <p:cNvSpPr txBox="1"/>
          <p:nvPr/>
        </p:nvSpPr>
        <p:spPr>
          <a:xfrm>
            <a:off x="453736" y="324534"/>
            <a:ext cx="11284527" cy="646331"/>
          </a:xfrm>
          <a:prstGeom prst="rect">
            <a:avLst/>
          </a:prstGeom>
          <a:noFill/>
        </p:spPr>
        <p:txBody>
          <a:bodyPr wrap="square">
            <a:spAutoFit/>
          </a:bodyPr>
          <a:lstStyle/>
          <a:p>
            <a:r>
              <a:rPr sz="3600" b="1" dirty="0">
                <a:solidFill>
                  <a:srgbClr val="232F3E"/>
                </a:solidFill>
                <a:latin typeface="Amazon Ember Display"/>
              </a:rPr>
              <a:t>Which deployment service does the wording name?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3400" y="1143000"/>
            <a:ext cx="11125200" cy="45720"/>
          </a:xfrm>
          <a:prstGeom prst="rect">
            <a:avLst/>
          </a:prstGeom>
          <a:solidFill>
            <a:srgbClr val="E60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65"/>
          </a:p>
        </p:txBody>
      </p:sp>
      <p:sp>
        <p:nvSpPr>
          <p:cNvPr id="4" name="Rounded Rectangle 3"/>
          <p:cNvSpPr/>
          <p:nvPr/>
        </p:nvSpPr>
        <p:spPr>
          <a:xfrm>
            <a:off x="533400" y="1524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one file describes the whole stack</a:t>
            </a:r>
          </a:p>
        </p:txBody>
      </p:sp>
      <p:sp>
        <p:nvSpPr>
          <p:cNvPr id="5" name="Rounded Rectangle 4"/>
          <p:cNvSpPr/>
          <p:nvPr/>
        </p:nvSpPr>
        <p:spPr>
          <a:xfrm>
            <a:off x="8534400" y="15240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CloudFormation</a:t>
            </a:r>
          </a:p>
        </p:txBody>
      </p:sp>
      <p:sp>
        <p:nvSpPr>
          <p:cNvPr id="6" name="Rounded Rectangle 5"/>
          <p:cNvSpPr/>
          <p:nvPr/>
        </p:nvSpPr>
        <p:spPr>
          <a:xfrm>
            <a:off x="533400" y="2209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the same stack, written in TypeScript</a:t>
            </a:r>
          </a:p>
        </p:txBody>
      </p:sp>
      <p:sp>
        <p:nvSpPr>
          <p:cNvPr id="7" name="Rounded Rectangle 6"/>
          <p:cNvSpPr/>
          <p:nvPr/>
        </p:nvSpPr>
        <p:spPr>
          <a:xfrm>
            <a:off x="8534400" y="22098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AWS CDK</a:t>
            </a:r>
          </a:p>
        </p:txBody>
      </p:sp>
      <p:sp>
        <p:nvSpPr>
          <p:cNvPr id="8" name="Rounded Rectangle 7"/>
          <p:cNvSpPr/>
          <p:nvPr/>
        </p:nvSpPr>
        <p:spPr>
          <a:xfrm>
            <a:off x="533400" y="28956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a function and its trigger, declared together</a:t>
            </a:r>
          </a:p>
        </p:txBody>
      </p:sp>
      <p:sp>
        <p:nvSpPr>
          <p:cNvPr id="9" name="Rounded Rectangle 8"/>
          <p:cNvSpPr/>
          <p:nvPr/>
        </p:nvSpPr>
        <p:spPr>
          <a:xfrm>
            <a:off x="8534400" y="28956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AWS SAM</a:t>
            </a:r>
          </a:p>
        </p:txBody>
      </p:sp>
      <p:sp>
        <p:nvSpPr>
          <p:cNvPr id="10" name="Rounded Rectangle 9"/>
          <p:cNvSpPr/>
          <p:nvPr/>
        </p:nvSpPr>
        <p:spPr>
          <a:xfrm>
            <a:off x="533400" y="35814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build, test and deploy stages in order</a:t>
            </a:r>
          </a:p>
        </p:txBody>
      </p:sp>
      <p:sp>
        <p:nvSpPr>
          <p:cNvPr id="11" name="Rounded Rectangle 10"/>
          <p:cNvSpPr/>
          <p:nvPr/>
        </p:nvSpPr>
        <p:spPr>
          <a:xfrm>
            <a:off x="8534400" y="35814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CodePipeline</a:t>
            </a:r>
          </a:p>
        </p:txBody>
      </p:sp>
      <p:sp>
        <p:nvSpPr>
          <p:cNvPr id="12" name="Rounded Rectangle 11"/>
          <p:cNvSpPr/>
          <p:nvPr/>
        </p:nvSpPr>
        <p:spPr>
          <a:xfrm>
            <a:off x="533400" y="42672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push a new version to servers you already run</a:t>
            </a:r>
          </a:p>
        </p:txBody>
      </p:sp>
      <p:sp>
        <p:nvSpPr>
          <p:cNvPr id="13" name="Rounded Rectangle 12"/>
          <p:cNvSpPr/>
          <p:nvPr/>
        </p:nvSpPr>
        <p:spPr>
          <a:xfrm>
            <a:off x="8534400" y="42672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CodeDeploy</a:t>
            </a:r>
          </a:p>
        </p:txBody>
      </p:sp>
      <p:sp>
        <p:nvSpPr>
          <p:cNvPr id="14" name="Rounded Rectangle 13"/>
          <p:cNvSpPr/>
          <p:nvPr/>
        </p:nvSpPr>
        <p:spPr>
          <a:xfrm>
            <a:off x="533400" y="49530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upload code and let the platform run it</a:t>
            </a:r>
          </a:p>
        </p:txBody>
      </p:sp>
      <p:sp>
        <p:nvSpPr>
          <p:cNvPr id="15" name="Rounded Rectangle 14"/>
          <p:cNvSpPr/>
          <p:nvPr/>
        </p:nvSpPr>
        <p:spPr>
          <a:xfrm>
            <a:off x="8534400" y="49530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Elastic Beanstalk</a:t>
            </a:r>
          </a:p>
        </p:txBody>
      </p:sp>
      <p:sp>
        <p:nvSpPr>
          <p:cNvPr id="16" name="Rounded Rectangle 15"/>
          <p:cNvSpPr/>
          <p:nvPr/>
        </p:nvSpPr>
        <p:spPr>
          <a:xfrm>
            <a:off x="533400" y="5638800"/>
            <a:ext cx="7239000" cy="5715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228600" tIns="114300" rtlCol="0" anchor="ctr"/>
          <a:lstStyle/>
          <a:p>
            <a:pPr algn="ctr"/>
            <a:r>
              <a:rPr sz="1833">
                <a:solidFill>
                  <a:srgbClr val="232F3E"/>
                </a:solidFill>
                <a:latin typeface="Amazon Ember"/>
              </a:rPr>
              <a:t>run containers without managing servers</a:t>
            </a:r>
          </a:p>
        </p:txBody>
      </p:sp>
      <p:sp>
        <p:nvSpPr>
          <p:cNvPr id="17" name="Rounded Rectangle 16"/>
          <p:cNvSpPr/>
          <p:nvPr/>
        </p:nvSpPr>
        <p:spPr>
          <a:xfrm>
            <a:off x="8534400" y="5638800"/>
            <a:ext cx="2667000" cy="571500"/>
          </a:xfrm>
          <a:prstGeom prst="roundRect">
            <a:avLst/>
          </a:prstGeom>
          <a:solidFill>
            <a:srgbClr val="FF33FF"/>
          </a:solidFill>
          <a:ln w="19050">
            <a:solidFill>
              <a:srgbClr val="FF33FF"/>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r>
              <a:rPr sz="1833" b="1">
                <a:solidFill>
                  <a:srgbClr val="FFFFFF"/>
                </a:solidFill>
                <a:latin typeface="Amazon Ember"/>
              </a:rPr>
              <a:t>ECS on Fargate</a:t>
            </a:r>
          </a:p>
        </p:txBody>
      </p:sp>
      <p:sp>
        <p:nvSpPr>
          <p:cNvPr id="20" name="TextBox 19">
            <a:extLst>
              <a:ext uri="{FF2B5EF4-FFF2-40B4-BE49-F238E27FC236}">
                <a16:creationId xmlns:a16="http://schemas.microsoft.com/office/drawing/2014/main" id="{4E1457B5-D9AA-D536-86E7-9C14F86EE12C}"/>
              </a:ext>
            </a:extLst>
          </p:cNvPr>
          <p:cNvSpPr txBox="1"/>
          <p:nvPr/>
        </p:nvSpPr>
        <p:spPr>
          <a:xfrm>
            <a:off x="453736" y="324534"/>
            <a:ext cx="11284527" cy="646331"/>
          </a:xfrm>
          <a:prstGeom prst="rect">
            <a:avLst/>
          </a:prstGeom>
          <a:noFill/>
        </p:spPr>
        <p:txBody>
          <a:bodyPr wrap="square">
            <a:spAutoFit/>
          </a:bodyPr>
          <a:lstStyle/>
          <a:p>
            <a:r>
              <a:rPr sz="3600" b="1" dirty="0">
                <a:solidFill>
                  <a:srgbClr val="232F3E"/>
                </a:solidFill>
                <a:latin typeface="Amazon Ember Display"/>
              </a:rPr>
              <a:t>Which deployment service does the wording name?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Put the deployment tools to work</a:t>
            </a:r>
          </a:p>
        </p:txBody>
      </p:sp>
      <p:sp>
        <p:nvSpPr>
          <p:cNvPr id="3" name="Text Placeholder 2"/>
          <p:cNvSpPr>
            <a:spLocks noGrp="1"/>
          </p:cNvSpPr>
          <p:nvPr>
            <p:ph type="body" sz="quarter" idx="11"/>
          </p:nvPr>
        </p:nvSpPr>
        <p:spPr>
          <a:xfrm>
            <a:off x="322916" y="2434551"/>
            <a:ext cx="3492500" cy="377875"/>
          </a:xfrm>
        </p:spPr>
        <p:txBody>
          <a:bodyPr/>
          <a:lstStyle/>
          <a:p>
            <a:r>
              <a:rPr sz="1800" b="1">
                <a:solidFill>
                  <a:srgbClr val="FF57E9"/>
                </a:solidFill>
                <a:latin typeface="Amazon Ember Display"/>
              </a:rPr>
              <a:t>PRACTICE QUESTIONS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keeping a registry from growing forever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stores container images in Amazon ECR for its microservices application. The development team pushes new images to the repository multiple times per day using semantic version tags (v1.0.0, v1.0.1, etc.). After several months, the repository contains hundreds of images. Storage costs are increasing, and the team only needs to retain the 10 most recent images for each service.</a:t>
            </a:r>
          </a:p>
          <a:p>
            <a:r>
              <a:rPr sz="1600" b="1">
                <a:solidFill>
                  <a:srgbClr val="232B37"/>
                </a:solidFill>
                <a:latin typeface="Amazon Ember Display"/>
              </a:rPr>
              <a:t>The developer must implement a solution that automatically removes older images.</a:t>
            </a:r>
          </a:p>
          <a:p>
            <a:r>
              <a:rPr sz="1600" b="1">
                <a:solidFill>
                  <a:srgbClr val="232B37"/>
                </a:solidFill>
                <a:latin typeface="Amazon Ember Display"/>
              </a:rPr>
              <a:t>Which solution will meet this requirement with the LEAST operational overhead?</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an ECR lifecycle policy rule that expires images when the image count exceeds 10. Set the tag status to tagged and define a tag prefix list that matches the versioning pattern.</a:t>
            </a:r>
          </a:p>
          <a:p>
            <a:pPr marL="342900" indent="-342900">
              <a:spcBef>
                <a:spcPts val="600"/>
              </a:spcBef>
            </a:pPr>
            <a:r>
              <a:rPr sz="1600" b="0">
                <a:solidFill>
                  <a:srgbClr val="232B37"/>
                </a:solidFill>
                <a:latin typeface="Amazon Ember Display"/>
              </a:rPr>
              <a:t>B.  Create an AWS Lambda function that runs on a daily schedule. The function lists all images in the repository, sorts by push date, and deletes images beyond the 10 most recent.</a:t>
            </a:r>
          </a:p>
          <a:p>
            <a:pPr marL="342900" indent="-342900">
              <a:spcBef>
                <a:spcPts val="600"/>
              </a:spcBef>
            </a:pPr>
            <a:r>
              <a:rPr sz="1600" b="0">
                <a:solidFill>
                  <a:srgbClr val="232B37"/>
                </a:solidFill>
                <a:latin typeface="Amazon Ember Display"/>
              </a:rPr>
              <a:t>C.  Configure an S3 lifecycle rule on the ECR registry's underlying storage bucket to transition objects older than 30 days to S3 Glacier.</a:t>
            </a:r>
          </a:p>
          <a:p>
            <a:pPr marL="342900" indent="-342900">
              <a:spcBef>
                <a:spcPts val="600"/>
              </a:spcBef>
            </a:pPr>
            <a:r>
              <a:rPr sz="1600" b="0">
                <a:solidFill>
                  <a:srgbClr val="232B37"/>
                </a:solidFill>
                <a:latin typeface="Amazon Ember Display"/>
              </a:rPr>
              <a:t>D.  Enable image tag immutability on the repository. Manually delete old images using the AWS CLI each month.</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keeping a registry from growing forever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stores container images in Amazon ECR for its microservices application. The development team pushes new images to the repository multiple times per day using semantic version tags (v1.0.0, v1.0.1, etc.). After several months, the repository contains hundreds of images. Storage costs are increasing, and the team only needs to retain the 10 most recent images for each service.</a:t>
            </a:r>
          </a:p>
          <a:p>
            <a:r>
              <a:rPr sz="1600" b="1">
                <a:solidFill>
                  <a:srgbClr val="232B37"/>
                </a:solidFill>
                <a:latin typeface="Amazon Ember Display"/>
              </a:rPr>
              <a:t>The developer must implement a solution that automatically removes older images.</a:t>
            </a:r>
          </a:p>
          <a:p>
            <a:r>
              <a:rPr sz="1600" b="1">
                <a:solidFill>
                  <a:srgbClr val="232B37"/>
                </a:solidFill>
                <a:latin typeface="Amazon Ember Display"/>
              </a:rPr>
              <a:t>Which solution will meet this requirement with the LEAST operational overhead?</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an ECR lifecycle policy rule that expires images when the image count exceeds 10. Set the tag status to tagged and define a tag prefix list that matches the versioning pattern.</a:t>
            </a:r>
          </a:p>
          <a:p>
            <a:pPr marL="342900" indent="-342900">
              <a:spcBef>
                <a:spcPts val="600"/>
              </a:spcBef>
            </a:pPr>
            <a:r>
              <a:rPr sz="1600" b="0">
                <a:solidFill>
                  <a:srgbClr val="232B37"/>
                </a:solidFill>
                <a:latin typeface="Amazon Ember Display"/>
              </a:rPr>
              <a:t>B.  Create an AWS Lambda function that runs on a daily schedule. The function lists all images in the repository, sorts by push date, and deletes images beyond the 10 most recent.</a:t>
            </a:r>
          </a:p>
          <a:p>
            <a:pPr marL="342900" indent="-342900">
              <a:spcBef>
                <a:spcPts val="600"/>
              </a:spcBef>
            </a:pPr>
            <a:r>
              <a:rPr sz="1600" b="0">
                <a:solidFill>
                  <a:srgbClr val="232B37"/>
                </a:solidFill>
                <a:latin typeface="Amazon Ember Display"/>
              </a:rPr>
              <a:t>C.  Configure an S3 lifecycle rule on the ECR registry's underlying storage bucket to transition objects older than 30 days to S3 Glacier.</a:t>
            </a:r>
          </a:p>
          <a:p>
            <a:pPr marL="342900" indent="-342900">
              <a:spcBef>
                <a:spcPts val="600"/>
              </a:spcBef>
            </a:pPr>
            <a:r>
              <a:rPr sz="1600" b="0">
                <a:solidFill>
                  <a:srgbClr val="232B37"/>
                </a:solidFill>
                <a:latin typeface="Amazon Ember Display"/>
              </a:rPr>
              <a:t>D.  Enable image tag immutability on the repository. Manually delete old images using the AWS CLI each month.</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keeping a registry from growing forever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stores container images in Amazon ECR for its microservices application. The development team pushes new images to the repository multiple times per day using semantic version tags (v1.0.0, v1.0.1, etc.). After several months, the repository contains hundreds of images. Storage costs are increasing, and the team only needs to retain the 10 most recent images for each service.</a:t>
            </a:r>
          </a:p>
          <a:p>
            <a:r>
              <a:rPr sz="1600" b="1">
                <a:solidFill>
                  <a:srgbClr val="232B37"/>
                </a:solidFill>
                <a:latin typeface="Amazon Ember Display"/>
              </a:rPr>
              <a:t>The developer must implement a solution that automatically removes older images.</a:t>
            </a:r>
          </a:p>
          <a:p>
            <a:r>
              <a:rPr sz="1600" b="1">
                <a:solidFill>
                  <a:srgbClr val="232B37"/>
                </a:solidFill>
                <a:latin typeface="Amazon Ember Display"/>
              </a:rPr>
              <a:t>Which solution will meet this requirement with the LEAST operational overhead?</a:t>
            </a:r>
          </a:p>
          <a:p>
            <a:endParaRPr sz="1600" b="1">
              <a:solidFill>
                <a:srgbClr val="232B37"/>
              </a:solidFill>
              <a:latin typeface="Amazon Ember Display"/>
            </a:endParaRPr>
          </a:p>
          <a:p>
            <a:pPr marL="342900" indent="-342900">
              <a:spcBef>
                <a:spcPts val="600"/>
              </a:spcBef>
            </a:pPr>
            <a:r>
              <a:rPr sz="1600" b="1">
                <a:solidFill>
                  <a:srgbClr val="2E7D32"/>
                </a:solidFill>
                <a:latin typeface="Amazon Ember Display"/>
              </a:rPr>
              <a:t>A.  Create an ECR lifecycle policy rule that expires images when the image count exceeds 10. Set the tag status to tagged and define a tag prefix list that matches the versioning pattern.  [CORRECT]</a:t>
            </a:r>
          </a:p>
          <a:p>
            <a:pPr marL="342900" indent="-342900">
              <a:spcBef>
                <a:spcPts val="600"/>
              </a:spcBef>
            </a:pPr>
            <a:r>
              <a:rPr sz="1600" b="0">
                <a:solidFill>
                  <a:srgbClr val="232B37"/>
                </a:solidFill>
                <a:latin typeface="Amazon Ember Display"/>
              </a:rPr>
              <a:t>B.  Create an AWS Lambda function that runs on a daily schedule. The function lists all images in the repository, sorts by push date, and deletes images beyond the 10 most recent.</a:t>
            </a:r>
          </a:p>
          <a:p>
            <a:pPr marL="342900" indent="-342900">
              <a:spcBef>
                <a:spcPts val="600"/>
              </a:spcBef>
            </a:pPr>
            <a:r>
              <a:rPr sz="1600" b="0">
                <a:solidFill>
                  <a:srgbClr val="232B37"/>
                </a:solidFill>
                <a:latin typeface="Amazon Ember Display"/>
              </a:rPr>
              <a:t>C.  Configure an S3 lifecycle rule on the ECR registry's underlying storage bucket to transition objects older than 30 days to S3 Glacier.</a:t>
            </a:r>
          </a:p>
          <a:p>
            <a:pPr marL="342900" indent="-342900">
              <a:spcBef>
                <a:spcPts val="600"/>
              </a:spcBef>
            </a:pPr>
            <a:r>
              <a:rPr sz="1600" b="0">
                <a:solidFill>
                  <a:srgbClr val="232B37"/>
                </a:solidFill>
                <a:latin typeface="Amazon Ember Display"/>
              </a:rPr>
              <a:t>D.  Enable image tag immutability on the repository. Manually delete old images using the AWS CLI each month.</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keeping a registry from growing forever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5665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Automate the cleanup of images by using…</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A</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A</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A lifecycle rule expires by image count, with no code to run</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A scheduled Lambda re-implements what a lifecycle policy already does</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ECR owns its storage; those buckets are not yours to configure</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Tag immutability prevents overwrites, it never deletes anything</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“the team only needs to retain the 10 most recent images for each service”</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A retention count with no operational work points to an ECR lifecycle policy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a rolling update that must not drop capacity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582058"/>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307738"/>
          </a:xfrm>
          <a:prstGeom prst="rect">
            <a:avLst/>
          </a:prstGeom>
          <a:noFill/>
        </p:spPr>
        <p:txBody>
          <a:bodyPr wrap="square" anchor="t">
            <a:noAutofit/>
          </a:bodyPr>
          <a:lstStyle/>
          <a:p>
            <a:r>
              <a:rPr sz="1600" b="1">
                <a:solidFill>
                  <a:srgbClr val="232B37"/>
                </a:solidFill>
                <a:latin typeface="Amazon Ember Display"/>
              </a:rPr>
              <a:t>A company runs an ECS service on AWS Fargate behind an Application Load Balancer. The service handles payment processing and must maintain availability during deployments. The developer needs to deploy a new task definition version with zero downtime. If the new version encounters errors, the deployment must automatically roll back.</a:t>
            </a:r>
          </a:p>
          <a:p>
            <a:r>
              <a:rPr sz="1600" b="1">
                <a:solidFill>
                  <a:srgbClr val="232B37"/>
                </a:solidFill>
                <a:latin typeface="Amazon Ember Display"/>
              </a:rPr>
              <a:t>The developer must configure the deployment with the LEAST manual intervention.</a:t>
            </a:r>
          </a:p>
          <a:p>
            <a:r>
              <a:rPr sz="1600" b="1">
                <a:solidFill>
                  <a:srgbClr val="232B37"/>
                </a:solidFill>
                <a:latin typeface="Amazon Ember Display"/>
              </a:rPr>
              <a:t>Which deployment configuration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Configure the ECS service deployment configuration with minimumHealthyPercent set to 100 and maximumPercent set to 200. Enable the ECS deployment circuit breaker with automatic rollback.</a:t>
            </a:r>
          </a:p>
          <a:p>
            <a:pPr marL="342900" indent="-342900">
              <a:spcBef>
                <a:spcPts val="600"/>
              </a:spcBef>
            </a:pPr>
            <a:r>
              <a:rPr sz="1600" b="0">
                <a:solidFill>
                  <a:srgbClr val="232B37"/>
                </a:solidFill>
                <a:latin typeface="Amazon Ember Display"/>
              </a:rPr>
              <a:t>B.  Configure the ECS service deployment configuration with minimumHealthyPercent set to 50 and maximumPercent set to 100. Monitor the deployment manually and update the service to the previous task definition if errors occur.</a:t>
            </a:r>
          </a:p>
          <a:p>
            <a:pPr marL="342900" indent="-342900">
              <a:spcBef>
                <a:spcPts val="600"/>
              </a:spcBef>
            </a:pPr>
            <a:r>
              <a:rPr sz="1600" b="0">
                <a:solidFill>
                  <a:srgbClr val="232B37"/>
                </a:solidFill>
                <a:latin typeface="Amazon Ember Display"/>
              </a:rPr>
              <a:t>C.  Stop the existing ECS service. Create a new service with the updated task definition. Redirect the ALB target group to the new service. Delete the old service.</a:t>
            </a:r>
          </a:p>
          <a:p>
            <a:pPr marL="342900" indent="-342900">
              <a:spcBef>
                <a:spcPts val="600"/>
              </a:spcBef>
            </a:pPr>
            <a:r>
              <a:rPr sz="1600" b="0">
                <a:solidFill>
                  <a:srgbClr val="232B37"/>
                </a:solidFill>
                <a:latin typeface="Amazon Ember Display"/>
              </a:rPr>
              <a:t>D.  Configure the ECS service to use CodeDeploy blue/green deployment. Set the deployment configuration to route all traffic immediately to the new target group. Disable automatic rollback.</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a rolling update that must not drop capacity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582058"/>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307738"/>
          </a:xfrm>
          <a:prstGeom prst="rect">
            <a:avLst/>
          </a:prstGeom>
          <a:noFill/>
        </p:spPr>
        <p:txBody>
          <a:bodyPr wrap="square" anchor="t">
            <a:noAutofit/>
          </a:bodyPr>
          <a:lstStyle/>
          <a:p>
            <a:r>
              <a:rPr sz="1600" b="1">
                <a:solidFill>
                  <a:srgbClr val="232B37"/>
                </a:solidFill>
                <a:latin typeface="Amazon Ember Display"/>
              </a:rPr>
              <a:t>A company runs an ECS service on AWS Fargate behind an Application Load Balancer. The service handles payment processing and must maintain availability during deployments. The developer needs to deploy a new task definition version with zero downtime. If the new version encounters errors, the deployment must automatically roll back.</a:t>
            </a:r>
          </a:p>
          <a:p>
            <a:r>
              <a:rPr sz="1600" b="1">
                <a:solidFill>
                  <a:srgbClr val="232B37"/>
                </a:solidFill>
                <a:latin typeface="Amazon Ember Display"/>
              </a:rPr>
              <a:t>The developer must configure the deployment with the LEAST manual intervention.</a:t>
            </a:r>
          </a:p>
          <a:p>
            <a:r>
              <a:rPr sz="1600" b="1">
                <a:solidFill>
                  <a:srgbClr val="232B37"/>
                </a:solidFill>
                <a:latin typeface="Amazon Ember Display"/>
              </a:rPr>
              <a:t>Which deployment configuration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Configure the ECS service deployment configuration with minimumHealthyPercent set to 100 and maximumPercent set to 200. Enable the ECS deployment circuit breaker with automatic rollback.</a:t>
            </a:r>
          </a:p>
          <a:p>
            <a:pPr marL="342900" indent="-342900">
              <a:spcBef>
                <a:spcPts val="600"/>
              </a:spcBef>
            </a:pPr>
            <a:r>
              <a:rPr sz="1600" b="0">
                <a:solidFill>
                  <a:srgbClr val="232B37"/>
                </a:solidFill>
                <a:latin typeface="Amazon Ember Display"/>
              </a:rPr>
              <a:t>B.  Configure the ECS service deployment configuration with minimumHealthyPercent set to 50 and maximumPercent set to 100. Monitor the deployment manually and update the service to the previous task definition if errors occur.</a:t>
            </a:r>
          </a:p>
          <a:p>
            <a:pPr marL="342900" indent="-342900">
              <a:spcBef>
                <a:spcPts val="600"/>
              </a:spcBef>
            </a:pPr>
            <a:r>
              <a:rPr sz="1600" b="0">
                <a:solidFill>
                  <a:srgbClr val="232B37"/>
                </a:solidFill>
                <a:latin typeface="Amazon Ember Display"/>
              </a:rPr>
              <a:t>C.  Stop the existing ECS service. Create a new service with the updated task definition. Redirect the ALB target group to the new service. Delete the old service.</a:t>
            </a:r>
          </a:p>
          <a:p>
            <a:pPr marL="342900" indent="-342900">
              <a:spcBef>
                <a:spcPts val="600"/>
              </a:spcBef>
            </a:pPr>
            <a:r>
              <a:rPr sz="1600" b="0">
                <a:solidFill>
                  <a:srgbClr val="232B37"/>
                </a:solidFill>
                <a:latin typeface="Amazon Ember Display"/>
              </a:rPr>
              <a:t>D.  Configure the ECS service to use CodeDeploy blue/green deployment. Set the deployment configuration to route all traffic immediately to the new target group. Disable automatic rollback.</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a rolling update that must not drop capacity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718720"/>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307738"/>
          </a:xfrm>
          <a:prstGeom prst="rect">
            <a:avLst/>
          </a:prstGeom>
          <a:noFill/>
        </p:spPr>
        <p:txBody>
          <a:bodyPr wrap="square" anchor="t">
            <a:noAutofit/>
          </a:bodyPr>
          <a:lstStyle/>
          <a:p>
            <a:r>
              <a:rPr sz="1600" b="1" dirty="0">
                <a:solidFill>
                  <a:srgbClr val="232B37"/>
                </a:solidFill>
                <a:latin typeface="Amazon Ember Display"/>
              </a:rPr>
              <a:t>A company runs an ECS service on AWS Fargate behind an Application Load Balancer. The service handles payment processing and must maintain availability during deployments. The developer needs to deploy a new task definition version with zero downtime. If the new version encounters errors, the deployment must automatically roll back.</a:t>
            </a:r>
          </a:p>
          <a:p>
            <a:r>
              <a:rPr sz="1600" b="1" dirty="0">
                <a:solidFill>
                  <a:srgbClr val="232B37"/>
                </a:solidFill>
                <a:latin typeface="Amazon Ember Display"/>
              </a:rPr>
              <a:t>The developer must configure the deployment with the LEAST manual intervention.</a:t>
            </a:r>
          </a:p>
          <a:p>
            <a:r>
              <a:rPr sz="1600" b="1" dirty="0">
                <a:solidFill>
                  <a:srgbClr val="232B37"/>
                </a:solidFill>
                <a:latin typeface="Amazon Ember Display"/>
              </a:rPr>
              <a:t>Which deployment configuration will meet these requirements?</a:t>
            </a:r>
          </a:p>
          <a:p>
            <a:endParaRPr sz="1600" b="1" dirty="0">
              <a:solidFill>
                <a:srgbClr val="232B37"/>
              </a:solidFill>
              <a:latin typeface="Amazon Ember Display"/>
            </a:endParaRPr>
          </a:p>
          <a:p>
            <a:pPr marL="342900" indent="-342900">
              <a:spcBef>
                <a:spcPts val="600"/>
              </a:spcBef>
            </a:pPr>
            <a:r>
              <a:rPr sz="1600" b="1" dirty="0">
                <a:solidFill>
                  <a:srgbClr val="2E7D32"/>
                </a:solidFill>
                <a:latin typeface="Amazon Ember Display"/>
              </a:rPr>
              <a:t>A.  Configure the ECS service deployment configuration with </a:t>
            </a:r>
            <a:r>
              <a:rPr sz="1600" b="1" dirty="0" err="1">
                <a:solidFill>
                  <a:srgbClr val="2E7D32"/>
                </a:solidFill>
                <a:latin typeface="Amazon Ember Display"/>
              </a:rPr>
              <a:t>minimumHealthyPercent</a:t>
            </a:r>
            <a:r>
              <a:rPr sz="1600" b="1" dirty="0">
                <a:solidFill>
                  <a:srgbClr val="2E7D32"/>
                </a:solidFill>
                <a:latin typeface="Amazon Ember Display"/>
              </a:rPr>
              <a:t> set to 100 and </a:t>
            </a:r>
            <a:r>
              <a:rPr sz="1600" b="1" dirty="0" err="1">
                <a:solidFill>
                  <a:srgbClr val="2E7D32"/>
                </a:solidFill>
                <a:latin typeface="Amazon Ember Display"/>
              </a:rPr>
              <a:t>maximumPercent</a:t>
            </a:r>
            <a:r>
              <a:rPr sz="1600" b="1" dirty="0">
                <a:solidFill>
                  <a:srgbClr val="2E7D32"/>
                </a:solidFill>
                <a:latin typeface="Amazon Ember Display"/>
              </a:rPr>
              <a:t> set to 200. Enable the ECS deployment circuit breaker with automatic rollback.  [CORRECT]</a:t>
            </a:r>
          </a:p>
          <a:p>
            <a:pPr marL="342900" indent="-342900">
              <a:spcBef>
                <a:spcPts val="600"/>
              </a:spcBef>
            </a:pPr>
            <a:r>
              <a:rPr sz="1600" b="0" dirty="0">
                <a:solidFill>
                  <a:srgbClr val="232B37"/>
                </a:solidFill>
                <a:latin typeface="Amazon Ember Display"/>
              </a:rPr>
              <a:t>B.  Configure the ECS service deployment configuration with </a:t>
            </a:r>
            <a:r>
              <a:rPr sz="1600" b="0" dirty="0" err="1">
                <a:solidFill>
                  <a:srgbClr val="232B37"/>
                </a:solidFill>
                <a:latin typeface="Amazon Ember Display"/>
              </a:rPr>
              <a:t>minimumHealthyPercent</a:t>
            </a:r>
            <a:r>
              <a:rPr sz="1600" b="0" dirty="0">
                <a:solidFill>
                  <a:srgbClr val="232B37"/>
                </a:solidFill>
                <a:latin typeface="Amazon Ember Display"/>
              </a:rPr>
              <a:t> set to 50 and </a:t>
            </a:r>
            <a:r>
              <a:rPr sz="1600" b="0" dirty="0" err="1">
                <a:solidFill>
                  <a:srgbClr val="232B37"/>
                </a:solidFill>
                <a:latin typeface="Amazon Ember Display"/>
              </a:rPr>
              <a:t>maximumPercent</a:t>
            </a:r>
            <a:r>
              <a:rPr sz="1600" b="0" dirty="0">
                <a:solidFill>
                  <a:srgbClr val="232B37"/>
                </a:solidFill>
                <a:latin typeface="Amazon Ember Display"/>
              </a:rPr>
              <a:t> set to 100. Monitor the deployment manually and update the service to the previous task definition if errors occur.</a:t>
            </a:r>
          </a:p>
          <a:p>
            <a:pPr marL="342900" indent="-342900">
              <a:spcBef>
                <a:spcPts val="600"/>
              </a:spcBef>
            </a:pPr>
            <a:r>
              <a:rPr sz="1600" b="0" dirty="0">
                <a:solidFill>
                  <a:srgbClr val="232B37"/>
                </a:solidFill>
                <a:latin typeface="Amazon Ember Display"/>
              </a:rPr>
              <a:t>C.  Stop the existing ECS service. Create a new service with the updated task definition. Redirect the ALB target group to the new service. Delete the old service.</a:t>
            </a:r>
          </a:p>
          <a:p>
            <a:pPr marL="342900" indent="-342900">
              <a:spcBef>
                <a:spcPts val="600"/>
              </a:spcBef>
            </a:pPr>
            <a:r>
              <a:rPr sz="1600" b="0" dirty="0">
                <a:solidFill>
                  <a:srgbClr val="232B37"/>
                </a:solidFill>
                <a:latin typeface="Amazon Ember Display"/>
              </a:rPr>
              <a:t>D.  Configure the ECS service to use </a:t>
            </a:r>
            <a:r>
              <a:rPr sz="1600" b="0" dirty="0" err="1">
                <a:solidFill>
                  <a:srgbClr val="232B37"/>
                </a:solidFill>
                <a:latin typeface="Amazon Ember Display"/>
              </a:rPr>
              <a:t>CodeDeploy</a:t>
            </a:r>
            <a:r>
              <a:rPr sz="1600" b="0" dirty="0">
                <a:solidFill>
                  <a:srgbClr val="232B37"/>
                </a:solidFill>
                <a:latin typeface="Amazon Ember Display"/>
              </a:rPr>
              <a:t> blue/green deployment. Set the deployment configuration to route all traffic immediately to the new target group. Disable automatic rollback.</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a rolling update that must not drop capacity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38364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How the Amazon ECS deployment circuit…</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A</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A</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Keep every healthy task, add new ones, let the circuit breaker revert</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minimumHealthyPercent 50 gives up half the capacity mid-deploy</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Stopping the service is downtime, which the requirement forbids</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All-at-once shifting exposes every user, and rollback was disabled</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“zero downtime”</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Holding capacity and reverting on failure is the ECS circuit breaker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where a manual approval belongs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development team uses AWS CodePipeline to automate deployments. The pipeline has four stages: Source, Build (AWS CodeBuild), Staging (AWS CodeDeploy to a staging environment), and Production (AWS CodeDeploy to production). The team wants the Production stage to require a manual approval after the Staging deployment succeeds and before the Production deployment begins.</a:t>
            </a:r>
          </a:p>
          <a:p>
            <a:r>
              <a:rPr sz="1600" b="1">
                <a:solidFill>
                  <a:srgbClr val="232B37"/>
                </a:solidFill>
                <a:latin typeface="Amazon Ember Display"/>
              </a:rPr>
              <a:t>Which solution will meet this requirement?</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Add a manual approval action between the Staging and Production stages in CodePipeline. Configure the approval action with an SNS topic to notify the team.</a:t>
            </a:r>
          </a:p>
          <a:p>
            <a:pPr marL="342900" indent="-342900">
              <a:spcBef>
                <a:spcPts val="600"/>
              </a:spcBef>
            </a:pPr>
            <a:r>
              <a:rPr sz="1600" b="0">
                <a:solidFill>
                  <a:srgbClr val="232B37"/>
                </a:solidFill>
                <a:latin typeface="Amazon Ember Display"/>
              </a:rPr>
              <a:t>B.  Create a CloudWatch Events rule that triggers when the Staging stage succeeds. Configure the rule to disable the Production stage until a team member re-enables it.</a:t>
            </a:r>
          </a:p>
          <a:p>
            <a:pPr marL="342900" indent="-342900">
              <a:spcBef>
                <a:spcPts val="600"/>
              </a:spcBef>
            </a:pPr>
            <a:r>
              <a:rPr sz="1600" b="0">
                <a:solidFill>
                  <a:srgbClr val="232B37"/>
                </a:solidFill>
                <a:latin typeface="Amazon Ember Display"/>
              </a:rPr>
              <a:t>C.  Add a Lambda function action between the Staging and Production stages. Configure the function to poll a DynamoDB table for an approval flag before allowing the pipeline to continue.</a:t>
            </a:r>
          </a:p>
          <a:p>
            <a:pPr marL="342900" indent="-342900">
              <a:spcBef>
                <a:spcPts val="600"/>
              </a:spcBef>
            </a:pPr>
            <a:r>
              <a:rPr sz="1600" b="0">
                <a:solidFill>
                  <a:srgbClr val="232B37"/>
                </a:solidFill>
                <a:latin typeface="Amazon Ember Display"/>
              </a:rPr>
              <a:t>D.  Create two separate pipelines. Configure the first pipeline for Source through Staging. Configure the second pipeline for Production only. Manually trigger the second pipeline after verifying the staging deployment.</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where a manual approval belongs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development team uses AWS CodePipeline to automate deployments. The pipeline has four stages: Source, Build (AWS CodeBuild), Staging (AWS CodeDeploy to a staging environment), and Production (AWS CodeDeploy to production). The team wants the Production stage to require a manual approval after the Staging deployment succeeds and before the Production deployment begins.</a:t>
            </a:r>
          </a:p>
          <a:p>
            <a:r>
              <a:rPr sz="1600" b="1">
                <a:solidFill>
                  <a:srgbClr val="232B37"/>
                </a:solidFill>
                <a:latin typeface="Amazon Ember Display"/>
              </a:rPr>
              <a:t>Which solution will meet this requirement?</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Add a manual approval action between the Staging and Production stages in CodePipeline. Configure the approval action with an SNS topic to notify the team.</a:t>
            </a:r>
          </a:p>
          <a:p>
            <a:pPr marL="342900" indent="-342900">
              <a:spcBef>
                <a:spcPts val="600"/>
              </a:spcBef>
            </a:pPr>
            <a:r>
              <a:rPr sz="1600" b="0">
                <a:solidFill>
                  <a:srgbClr val="232B37"/>
                </a:solidFill>
                <a:latin typeface="Amazon Ember Display"/>
              </a:rPr>
              <a:t>B.  Create a CloudWatch Events rule that triggers when the Staging stage succeeds. Configure the rule to disable the Production stage until a team member re-enables it.</a:t>
            </a:r>
          </a:p>
          <a:p>
            <a:pPr marL="342900" indent="-342900">
              <a:spcBef>
                <a:spcPts val="600"/>
              </a:spcBef>
            </a:pPr>
            <a:r>
              <a:rPr sz="1600" b="0">
                <a:solidFill>
                  <a:srgbClr val="232B37"/>
                </a:solidFill>
                <a:latin typeface="Amazon Ember Display"/>
              </a:rPr>
              <a:t>C.  Add a Lambda function action between the Staging and Production stages. Configure the function to poll a DynamoDB table for an approval flag before allowing the pipeline to continue.</a:t>
            </a:r>
          </a:p>
          <a:p>
            <a:pPr marL="342900" indent="-342900">
              <a:spcBef>
                <a:spcPts val="600"/>
              </a:spcBef>
            </a:pPr>
            <a:r>
              <a:rPr sz="1600" b="0">
                <a:solidFill>
                  <a:srgbClr val="232B37"/>
                </a:solidFill>
                <a:latin typeface="Amazon Ember Display"/>
              </a:rPr>
              <a:t>D.  Create two separate pipelines. Configure the first pipeline for Source through Staging. Configure the second pipeline for Production only. Manually trigger the second pipeline after verifying the staging deployment.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where a manual approval belongs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development team uses AWS CodePipeline to automate deployments. The pipeline has four stages: Source, Build (AWS CodeBuild), Staging (AWS CodeDeploy to a staging environment), and Production (AWS CodeDeploy to production). The team wants the Production stage to require a manual approval after the Staging deployment succeeds and before the Production deployment begins.</a:t>
            </a:r>
          </a:p>
          <a:p>
            <a:r>
              <a:rPr sz="1600" b="1">
                <a:solidFill>
                  <a:srgbClr val="232B37"/>
                </a:solidFill>
                <a:latin typeface="Amazon Ember Display"/>
              </a:rPr>
              <a:t>Which solution will meet this requirement?</a:t>
            </a:r>
          </a:p>
          <a:p>
            <a:endParaRPr sz="1600" b="1">
              <a:solidFill>
                <a:srgbClr val="232B37"/>
              </a:solidFill>
              <a:latin typeface="Amazon Ember Display"/>
            </a:endParaRPr>
          </a:p>
          <a:p>
            <a:pPr marL="342900" indent="-342900">
              <a:spcBef>
                <a:spcPts val="600"/>
              </a:spcBef>
            </a:pPr>
            <a:r>
              <a:rPr sz="1600" b="1">
                <a:solidFill>
                  <a:srgbClr val="2E7D32"/>
                </a:solidFill>
                <a:latin typeface="Amazon Ember Display"/>
              </a:rPr>
              <a:t>A.  Add a manual approval action between the Staging and Production stages in CodePipeline. Configure the approval action with an SNS topic to notify the team.  [CORRECT]</a:t>
            </a:r>
          </a:p>
          <a:p>
            <a:pPr marL="342900" indent="-342900">
              <a:spcBef>
                <a:spcPts val="600"/>
              </a:spcBef>
            </a:pPr>
            <a:r>
              <a:rPr sz="1600" b="0">
                <a:solidFill>
                  <a:srgbClr val="232B37"/>
                </a:solidFill>
                <a:latin typeface="Amazon Ember Display"/>
              </a:rPr>
              <a:t>B.  Create a CloudWatch Events rule that triggers when the Staging stage succeeds. Configure the rule to disable the Production stage until a team member re-enables it.</a:t>
            </a:r>
          </a:p>
          <a:p>
            <a:pPr marL="342900" indent="-342900">
              <a:spcBef>
                <a:spcPts val="600"/>
              </a:spcBef>
            </a:pPr>
            <a:r>
              <a:rPr sz="1600" b="0">
                <a:solidFill>
                  <a:srgbClr val="232B37"/>
                </a:solidFill>
                <a:latin typeface="Amazon Ember Display"/>
              </a:rPr>
              <a:t>C.  Add a Lambda function action between the Staging and Production stages. Configure the function to poll a DynamoDB table for an approval flag before allowing the pipeline to continue.</a:t>
            </a:r>
          </a:p>
          <a:p>
            <a:pPr marL="342900" indent="-342900">
              <a:spcBef>
                <a:spcPts val="600"/>
              </a:spcBef>
            </a:pPr>
            <a:r>
              <a:rPr sz="1600" b="0">
                <a:solidFill>
                  <a:srgbClr val="232B37"/>
                </a:solidFill>
                <a:latin typeface="Amazon Ember Display"/>
              </a:rPr>
              <a:t>D.  Create two separate pipelines. Configure the first pipeline for Source through Staging. Configure the second pipeline for Production only. Manually trigger the second pipeline after verifying the staging deployment.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where a manual approval belongs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47508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Add a manual approval action to a stage</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A</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A</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A manual approval action pauses the pipeline until someone approves</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CodePipeline stages cannot be enabled or disabled independently</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A Lambda gate re-implements the built-in approval action</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Two pipelines break one deployment's end-to-end traceability</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“require a manual approval after the Staging deployment succeeds”</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A human gate between two stages is a CodePipeline manual approval action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what a SAM deployment actually creates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16775" y="1225296"/>
            <a:ext cx="11082528" cy="3540668"/>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96819"/>
          </a:xfrm>
          <a:prstGeom prst="rect">
            <a:avLst/>
          </a:prstGeom>
          <a:noFill/>
        </p:spPr>
        <p:txBody>
          <a:bodyPr wrap="square" anchor="t">
            <a:noAutofit/>
          </a:bodyPr>
          <a:lstStyle/>
          <a:p>
            <a:r>
              <a:rPr sz="1600" b="1" dirty="0">
                <a:solidFill>
                  <a:srgbClr val="232B37"/>
                </a:solidFill>
                <a:latin typeface="Amazon Ember Display"/>
              </a:rPr>
              <a:t>A developer deploys a serverless application using AWS SAM. The application consists of an API Gateway API, two Lambda functions, and a DynamoDB table. The developer wants to test the API locally before deploying to AWS. The developer also needs to validate the SAM template for syntax errors.</a:t>
            </a:r>
          </a:p>
          <a:p>
            <a:r>
              <a:rPr sz="1600" b="1" dirty="0">
                <a:solidFill>
                  <a:srgbClr val="232B37"/>
                </a:solidFill>
                <a:latin typeface="Amazon Ember Display"/>
              </a:rPr>
              <a:t>Which two AWS SAM CLI commands should the developer use to validate and test the application locally? (Select TWO.)</a:t>
            </a:r>
          </a:p>
          <a:p>
            <a:endParaRPr sz="1600" b="1" dirty="0">
              <a:solidFill>
                <a:srgbClr val="232B37"/>
              </a:solidFill>
              <a:latin typeface="Amazon Ember Display"/>
            </a:endParaRPr>
          </a:p>
          <a:p>
            <a:pPr marL="342900" indent="-342900">
              <a:spcBef>
                <a:spcPts val="600"/>
              </a:spcBef>
            </a:pPr>
            <a:r>
              <a:rPr sz="1600" b="0" dirty="0">
                <a:solidFill>
                  <a:srgbClr val="232B37"/>
                </a:solidFill>
                <a:latin typeface="Amazon Ember Display"/>
              </a:rPr>
              <a:t>A.  Run </a:t>
            </a:r>
            <a:r>
              <a:rPr sz="1600" b="0" dirty="0" err="1">
                <a:solidFill>
                  <a:srgbClr val="232B37"/>
                </a:solidFill>
                <a:latin typeface="Amazon Ember Display"/>
              </a:rPr>
              <a:t>sam</a:t>
            </a:r>
            <a:r>
              <a:rPr sz="1600" b="0" dirty="0">
                <a:solidFill>
                  <a:srgbClr val="232B37"/>
                </a:solidFill>
                <a:latin typeface="Amazon Ember Display"/>
              </a:rPr>
              <a:t> validate to check the SAM template for syntax and semantic errors.</a:t>
            </a:r>
          </a:p>
          <a:p>
            <a:pPr marL="342900" indent="-342900">
              <a:spcBef>
                <a:spcPts val="600"/>
              </a:spcBef>
            </a:pPr>
            <a:r>
              <a:rPr sz="1600" b="0" dirty="0">
                <a:solidFill>
                  <a:srgbClr val="232B37"/>
                </a:solidFill>
                <a:latin typeface="Amazon Ember Display"/>
              </a:rPr>
              <a:t>B.  Run </a:t>
            </a:r>
            <a:r>
              <a:rPr sz="1600" b="0" dirty="0" err="1">
                <a:solidFill>
                  <a:srgbClr val="232B37"/>
                </a:solidFill>
                <a:latin typeface="Amazon Ember Display"/>
              </a:rPr>
              <a:t>sam</a:t>
            </a:r>
            <a:r>
              <a:rPr sz="1600" b="0" dirty="0">
                <a:solidFill>
                  <a:srgbClr val="232B37"/>
                </a:solidFill>
                <a:latin typeface="Amazon Ember Display"/>
              </a:rPr>
              <a:t> local start-</a:t>
            </a:r>
            <a:r>
              <a:rPr sz="1600" b="0" dirty="0" err="1">
                <a:solidFill>
                  <a:srgbClr val="232B37"/>
                </a:solidFill>
                <a:latin typeface="Amazon Ember Display"/>
              </a:rPr>
              <a:t>api</a:t>
            </a:r>
            <a:r>
              <a:rPr sz="1600" b="0" dirty="0">
                <a:solidFill>
                  <a:srgbClr val="232B37"/>
                </a:solidFill>
                <a:latin typeface="Amazon Ember Display"/>
              </a:rPr>
              <a:t> to start a local HTTP server that emulates the API Gateway endpoint.</a:t>
            </a:r>
          </a:p>
          <a:p>
            <a:pPr marL="342900" indent="-342900">
              <a:spcBef>
                <a:spcPts val="600"/>
              </a:spcBef>
            </a:pPr>
            <a:r>
              <a:rPr sz="1600" b="0" dirty="0">
                <a:solidFill>
                  <a:srgbClr val="232B37"/>
                </a:solidFill>
                <a:latin typeface="Amazon Ember Display"/>
              </a:rPr>
              <a:t>C.  Run </a:t>
            </a:r>
            <a:r>
              <a:rPr sz="1600" b="0" dirty="0" err="1">
                <a:solidFill>
                  <a:srgbClr val="232B37"/>
                </a:solidFill>
                <a:latin typeface="Amazon Ember Display"/>
              </a:rPr>
              <a:t>sam</a:t>
            </a:r>
            <a:r>
              <a:rPr sz="1600" b="0" dirty="0">
                <a:solidFill>
                  <a:srgbClr val="232B37"/>
                </a:solidFill>
                <a:latin typeface="Amazon Ember Display"/>
              </a:rPr>
              <a:t> deploy --guided to deploy the application and test it in the cloud.</a:t>
            </a:r>
          </a:p>
          <a:p>
            <a:pPr marL="342900" indent="-342900">
              <a:spcBef>
                <a:spcPts val="600"/>
              </a:spcBef>
            </a:pPr>
            <a:r>
              <a:rPr sz="1600" b="0" dirty="0">
                <a:solidFill>
                  <a:srgbClr val="232B37"/>
                </a:solidFill>
                <a:latin typeface="Amazon Ember Display"/>
              </a:rPr>
              <a:t>D.  Run </a:t>
            </a:r>
            <a:r>
              <a:rPr sz="1600" b="0" dirty="0" err="1">
                <a:solidFill>
                  <a:srgbClr val="232B37"/>
                </a:solidFill>
                <a:latin typeface="Amazon Ember Display"/>
              </a:rPr>
              <a:t>sam</a:t>
            </a:r>
            <a:r>
              <a:rPr sz="1600" b="0" dirty="0">
                <a:solidFill>
                  <a:srgbClr val="232B37"/>
                </a:solidFill>
                <a:latin typeface="Amazon Ember Display"/>
              </a:rPr>
              <a:t> </a:t>
            </a:r>
            <a:r>
              <a:rPr sz="1600" b="0" dirty="0" err="1">
                <a:solidFill>
                  <a:srgbClr val="232B37"/>
                </a:solidFill>
                <a:latin typeface="Amazon Ember Display"/>
              </a:rPr>
              <a:t>init</a:t>
            </a:r>
            <a:r>
              <a:rPr sz="1600" b="0" dirty="0">
                <a:solidFill>
                  <a:srgbClr val="232B37"/>
                </a:solidFill>
                <a:latin typeface="Amazon Ember Display"/>
              </a:rPr>
              <a:t> to generate a new SAM project template.</a:t>
            </a:r>
          </a:p>
          <a:p>
            <a:pPr marL="342900" indent="-342900">
              <a:spcBef>
                <a:spcPts val="600"/>
              </a:spcBef>
            </a:pPr>
            <a:r>
              <a:rPr sz="1600" b="0" dirty="0">
                <a:solidFill>
                  <a:srgbClr val="232B37"/>
                </a:solidFill>
                <a:latin typeface="Amazon Ember Display"/>
              </a:rPr>
              <a:t>E.  Run </a:t>
            </a:r>
            <a:r>
              <a:rPr sz="1600" b="0" dirty="0" err="1">
                <a:solidFill>
                  <a:srgbClr val="232B37"/>
                </a:solidFill>
                <a:latin typeface="Amazon Ember Display"/>
              </a:rPr>
              <a:t>sam</a:t>
            </a:r>
            <a:r>
              <a:rPr sz="1600" b="0" dirty="0">
                <a:solidFill>
                  <a:srgbClr val="232B37"/>
                </a:solidFill>
                <a:latin typeface="Amazon Ember Display"/>
              </a:rPr>
              <a:t> build to compile the Lambda function code and prepare deployment artifacts.</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what a SAM deployment actually creates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347120"/>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96819"/>
          </a:xfrm>
          <a:prstGeom prst="rect">
            <a:avLst/>
          </a:prstGeom>
          <a:noFill/>
        </p:spPr>
        <p:txBody>
          <a:bodyPr wrap="square" anchor="t">
            <a:noAutofit/>
          </a:bodyPr>
          <a:lstStyle/>
          <a:p>
            <a:r>
              <a:rPr sz="1600" b="1" dirty="0">
                <a:solidFill>
                  <a:srgbClr val="232B37"/>
                </a:solidFill>
                <a:latin typeface="Amazon Ember Display"/>
              </a:rPr>
              <a:t>A developer deploys a serverless application using AWS SAM. The application consists of an API Gateway API, two Lambda functions, and a DynamoDB table. The developer wants to test the API locally before deploying to AWS. The developer also needs to validate the SAM template for syntax errors.</a:t>
            </a:r>
          </a:p>
          <a:p>
            <a:r>
              <a:rPr sz="1600" b="1" dirty="0">
                <a:solidFill>
                  <a:srgbClr val="232B37"/>
                </a:solidFill>
                <a:latin typeface="Amazon Ember Display"/>
              </a:rPr>
              <a:t>Which two AWS SAM CLI commands should the developer use to validate and test the application locally? (Select TWO.)</a:t>
            </a:r>
          </a:p>
          <a:p>
            <a:endParaRPr sz="1600" b="1" dirty="0">
              <a:solidFill>
                <a:srgbClr val="232B37"/>
              </a:solidFill>
              <a:latin typeface="Amazon Ember Display"/>
            </a:endParaRPr>
          </a:p>
          <a:p>
            <a:pPr marL="342900" indent="-342900">
              <a:spcBef>
                <a:spcPts val="600"/>
              </a:spcBef>
            </a:pPr>
            <a:r>
              <a:rPr sz="1600" b="0" dirty="0">
                <a:solidFill>
                  <a:srgbClr val="232B37"/>
                </a:solidFill>
                <a:latin typeface="Amazon Ember Display"/>
              </a:rPr>
              <a:t>A.  Run </a:t>
            </a:r>
            <a:r>
              <a:rPr sz="1600" b="0" dirty="0" err="1">
                <a:solidFill>
                  <a:srgbClr val="232B37"/>
                </a:solidFill>
                <a:latin typeface="Amazon Ember Display"/>
              </a:rPr>
              <a:t>sam</a:t>
            </a:r>
            <a:r>
              <a:rPr sz="1600" b="0" dirty="0">
                <a:solidFill>
                  <a:srgbClr val="232B37"/>
                </a:solidFill>
                <a:latin typeface="Amazon Ember Display"/>
              </a:rPr>
              <a:t> validate to check the SAM template for syntax and semantic errors.</a:t>
            </a:r>
          </a:p>
          <a:p>
            <a:pPr marL="342900" indent="-342900">
              <a:spcBef>
                <a:spcPts val="600"/>
              </a:spcBef>
            </a:pPr>
            <a:r>
              <a:rPr sz="1600" b="0" dirty="0">
                <a:solidFill>
                  <a:srgbClr val="232B37"/>
                </a:solidFill>
                <a:latin typeface="Amazon Ember Display"/>
              </a:rPr>
              <a:t>B.  Run </a:t>
            </a:r>
            <a:r>
              <a:rPr sz="1600" b="0" dirty="0" err="1">
                <a:solidFill>
                  <a:srgbClr val="232B37"/>
                </a:solidFill>
                <a:latin typeface="Amazon Ember Display"/>
              </a:rPr>
              <a:t>sam</a:t>
            </a:r>
            <a:r>
              <a:rPr sz="1600" b="0" dirty="0">
                <a:solidFill>
                  <a:srgbClr val="232B37"/>
                </a:solidFill>
                <a:latin typeface="Amazon Ember Display"/>
              </a:rPr>
              <a:t> local start-</a:t>
            </a:r>
            <a:r>
              <a:rPr sz="1600" b="0" dirty="0" err="1">
                <a:solidFill>
                  <a:srgbClr val="232B37"/>
                </a:solidFill>
                <a:latin typeface="Amazon Ember Display"/>
              </a:rPr>
              <a:t>api</a:t>
            </a:r>
            <a:r>
              <a:rPr sz="1600" b="0" dirty="0">
                <a:solidFill>
                  <a:srgbClr val="232B37"/>
                </a:solidFill>
                <a:latin typeface="Amazon Ember Display"/>
              </a:rPr>
              <a:t> to start a local HTTP server that emulates the API Gateway endpoint.</a:t>
            </a:r>
          </a:p>
          <a:p>
            <a:pPr marL="342900" indent="-342900">
              <a:spcBef>
                <a:spcPts val="600"/>
              </a:spcBef>
            </a:pPr>
            <a:r>
              <a:rPr sz="1600" b="0" dirty="0">
                <a:solidFill>
                  <a:srgbClr val="232B37"/>
                </a:solidFill>
                <a:latin typeface="Amazon Ember Display"/>
              </a:rPr>
              <a:t>C.  Run </a:t>
            </a:r>
            <a:r>
              <a:rPr sz="1600" b="0" dirty="0" err="1">
                <a:solidFill>
                  <a:srgbClr val="232B37"/>
                </a:solidFill>
                <a:latin typeface="Amazon Ember Display"/>
              </a:rPr>
              <a:t>sam</a:t>
            </a:r>
            <a:r>
              <a:rPr sz="1600" b="0" dirty="0">
                <a:solidFill>
                  <a:srgbClr val="232B37"/>
                </a:solidFill>
                <a:latin typeface="Amazon Ember Display"/>
              </a:rPr>
              <a:t> deploy --guided to deploy the application and test it in the cloud.</a:t>
            </a:r>
          </a:p>
          <a:p>
            <a:pPr marL="342900" indent="-342900">
              <a:spcBef>
                <a:spcPts val="600"/>
              </a:spcBef>
            </a:pPr>
            <a:r>
              <a:rPr sz="1600" b="0" dirty="0">
                <a:solidFill>
                  <a:srgbClr val="232B37"/>
                </a:solidFill>
                <a:latin typeface="Amazon Ember Display"/>
              </a:rPr>
              <a:t>D.  Run </a:t>
            </a:r>
            <a:r>
              <a:rPr sz="1600" b="0" dirty="0" err="1">
                <a:solidFill>
                  <a:srgbClr val="232B37"/>
                </a:solidFill>
                <a:latin typeface="Amazon Ember Display"/>
              </a:rPr>
              <a:t>sam</a:t>
            </a:r>
            <a:r>
              <a:rPr sz="1600" b="0" dirty="0">
                <a:solidFill>
                  <a:srgbClr val="232B37"/>
                </a:solidFill>
                <a:latin typeface="Amazon Ember Display"/>
              </a:rPr>
              <a:t> </a:t>
            </a:r>
            <a:r>
              <a:rPr sz="1600" b="0" dirty="0" err="1">
                <a:solidFill>
                  <a:srgbClr val="232B37"/>
                </a:solidFill>
                <a:latin typeface="Amazon Ember Display"/>
              </a:rPr>
              <a:t>init</a:t>
            </a:r>
            <a:r>
              <a:rPr sz="1600" b="0" dirty="0">
                <a:solidFill>
                  <a:srgbClr val="232B37"/>
                </a:solidFill>
                <a:latin typeface="Amazon Ember Display"/>
              </a:rPr>
              <a:t> to generate a new SAM project template.</a:t>
            </a:r>
          </a:p>
          <a:p>
            <a:pPr marL="342900" indent="-342900">
              <a:spcBef>
                <a:spcPts val="600"/>
              </a:spcBef>
            </a:pPr>
            <a:r>
              <a:rPr sz="1600" b="0" dirty="0">
                <a:solidFill>
                  <a:srgbClr val="232B37"/>
                </a:solidFill>
                <a:latin typeface="Amazon Ember Display"/>
              </a:rPr>
              <a:t>E.  Run </a:t>
            </a:r>
            <a:r>
              <a:rPr sz="1600" b="0" dirty="0" err="1">
                <a:solidFill>
                  <a:srgbClr val="232B37"/>
                </a:solidFill>
                <a:latin typeface="Amazon Ember Display"/>
              </a:rPr>
              <a:t>sam</a:t>
            </a:r>
            <a:r>
              <a:rPr sz="1600" b="0" dirty="0">
                <a:solidFill>
                  <a:srgbClr val="232B37"/>
                </a:solidFill>
                <a:latin typeface="Amazon Ember Display"/>
              </a:rPr>
              <a:t> build to compile the Lambda function code and prepare deployment artifacts.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what a SAM deployment actually creates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374829"/>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96819"/>
          </a:xfrm>
          <a:prstGeom prst="rect">
            <a:avLst/>
          </a:prstGeom>
          <a:noFill/>
        </p:spPr>
        <p:txBody>
          <a:bodyPr wrap="square" anchor="t">
            <a:noAutofit/>
          </a:bodyPr>
          <a:lstStyle/>
          <a:p>
            <a:r>
              <a:rPr sz="1600" b="1">
                <a:solidFill>
                  <a:srgbClr val="232B37"/>
                </a:solidFill>
                <a:latin typeface="Amazon Ember Display"/>
              </a:rPr>
              <a:t>A developer deploys a serverless application using AWS SAM. The application consists of an API Gateway API, two Lambda functions, and a DynamoDB table. The developer wants to test the API locally before deploying to AWS. The developer also needs to validate the SAM template for syntax errors.</a:t>
            </a:r>
          </a:p>
          <a:p>
            <a:r>
              <a:rPr sz="1600" b="1">
                <a:solidFill>
                  <a:srgbClr val="232B37"/>
                </a:solidFill>
                <a:latin typeface="Amazon Ember Display"/>
              </a:rPr>
              <a:t>Which two AWS SAM CLI commands should the developer use to validate and test the application locally? (Select TWO.)</a:t>
            </a:r>
          </a:p>
          <a:p>
            <a:endParaRPr sz="1600" b="1">
              <a:solidFill>
                <a:srgbClr val="232B37"/>
              </a:solidFill>
              <a:latin typeface="Amazon Ember Display"/>
            </a:endParaRPr>
          </a:p>
          <a:p>
            <a:pPr marL="342900" indent="-342900">
              <a:spcBef>
                <a:spcPts val="600"/>
              </a:spcBef>
            </a:pPr>
            <a:r>
              <a:rPr sz="1600" b="1">
                <a:solidFill>
                  <a:srgbClr val="2E7D32"/>
                </a:solidFill>
                <a:latin typeface="Amazon Ember Display"/>
              </a:rPr>
              <a:t>A.  Run sam validate to check the SAM template for syntax and semantic errors.  [CORRECT]</a:t>
            </a:r>
          </a:p>
          <a:p>
            <a:pPr marL="342900" indent="-342900">
              <a:spcBef>
                <a:spcPts val="600"/>
              </a:spcBef>
            </a:pPr>
            <a:r>
              <a:rPr sz="1600" b="1">
                <a:solidFill>
                  <a:srgbClr val="2E7D32"/>
                </a:solidFill>
                <a:latin typeface="Amazon Ember Display"/>
              </a:rPr>
              <a:t>B.  Run sam local start-api to start a local HTTP server that emulates the API Gateway endpoint.  [CORRECT]</a:t>
            </a:r>
          </a:p>
          <a:p>
            <a:pPr marL="342900" indent="-342900">
              <a:spcBef>
                <a:spcPts val="600"/>
              </a:spcBef>
            </a:pPr>
            <a:r>
              <a:rPr sz="1600" b="0">
                <a:solidFill>
                  <a:srgbClr val="232B37"/>
                </a:solidFill>
                <a:latin typeface="Amazon Ember Display"/>
              </a:rPr>
              <a:t>C.  Run sam deploy --guided to deploy the application and test it in the cloud.</a:t>
            </a:r>
          </a:p>
          <a:p>
            <a:pPr marL="342900" indent="-342900">
              <a:spcBef>
                <a:spcPts val="600"/>
              </a:spcBef>
            </a:pPr>
            <a:r>
              <a:rPr sz="1600" b="0">
                <a:solidFill>
                  <a:srgbClr val="232B37"/>
                </a:solidFill>
                <a:latin typeface="Amazon Ember Display"/>
              </a:rPr>
              <a:t>D.  Run sam init to generate a new SAM project template.</a:t>
            </a:r>
          </a:p>
          <a:p>
            <a:pPr marL="342900" indent="-342900">
              <a:spcBef>
                <a:spcPts val="600"/>
              </a:spcBef>
            </a:pPr>
            <a:r>
              <a:rPr sz="1600" b="0">
                <a:solidFill>
                  <a:srgbClr val="232B37"/>
                </a:solidFill>
                <a:latin typeface="Amazon Ember Display"/>
              </a:rPr>
              <a:t>E.  Run sam build to compile the Lambda function code and prepare deployment artifacts.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what a SAM deployment actually creates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6131078"/>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sam local start-api</a:t>
            </a:r>
          </a:p>
        </p:txBody>
      </p:sp>
      <p:sp>
        <p:nvSpPr>
          <p:cNvPr id="5" name="TextBox 4"/>
          <p:cNvSpPr txBox="1"/>
          <p:nvPr/>
        </p:nvSpPr>
        <p:spPr>
          <a:xfrm>
            <a:off x="606552" y="1158200"/>
            <a:ext cx="8229600" cy="304723"/>
          </a:xfrm>
          <a:prstGeom prst="rect">
            <a:avLst/>
          </a:prstGeom>
          <a:noFill/>
        </p:spPr>
        <p:txBody>
          <a:bodyPr wrap="square" tIns="9144" bIns="9144" anchor="t">
            <a:noAutofit/>
          </a:bodyPr>
          <a:lstStyle/>
          <a:p>
            <a:pPr algn="l"/>
            <a:r>
              <a:rPr sz="1800" b="1" i="0" dirty="0">
                <a:solidFill>
                  <a:srgbClr val="8F0072"/>
                </a:solidFill>
                <a:latin typeface="Amazon Ember Display"/>
              </a:rPr>
              <a:t>WHY THE ANSWERS ARE A and B</a:t>
            </a:r>
          </a:p>
        </p:txBody>
      </p:sp>
      <p:sp>
        <p:nvSpPr>
          <p:cNvPr id="6" name="TextBox 5"/>
          <p:cNvSpPr txBox="1"/>
          <p:nvPr/>
        </p:nvSpPr>
        <p:spPr>
          <a:xfrm>
            <a:off x="612648" y="1458494"/>
            <a:ext cx="10972800" cy="274320"/>
          </a:xfrm>
          <a:prstGeom prst="rect">
            <a:avLst/>
          </a:prstGeom>
          <a:noFill/>
        </p:spPr>
        <p:txBody>
          <a:bodyPr wrap="square" tIns="9144" bIns="9144" anchor="t">
            <a:noAutofit/>
          </a:bodyPr>
          <a:lstStyle/>
          <a:p>
            <a:pPr algn="l"/>
            <a:r>
              <a:rPr sz="1700" b="1" i="0">
                <a:solidFill>
                  <a:srgbClr val="232B37"/>
                </a:solidFill>
                <a:latin typeface="Amazon Ember Display"/>
              </a:rPr>
              <a:t>One command validates the template, another serves the API locally</a:t>
            </a:r>
          </a:p>
        </p:txBody>
      </p:sp>
      <p:sp>
        <p:nvSpPr>
          <p:cNvPr id="7" name="Rounded Rectangle 6"/>
          <p:cNvSpPr/>
          <p:nvPr/>
        </p:nvSpPr>
        <p:spPr>
          <a:xfrm>
            <a:off x="612648" y="1796822"/>
            <a:ext cx="10972800" cy="1243584"/>
          </a:xfrm>
          <a:prstGeom prst="roundRect">
            <a:avLst>
              <a:gd name="adj" fmla="val 12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795528" y="1970558"/>
            <a:ext cx="402336" cy="402336"/>
          </a:xfrm>
          <a:prstGeom prst="roundRect">
            <a:avLst>
              <a:gd name="adj" fmla="val 22000"/>
            </a:avLst>
          </a:prstGeom>
          <a:solidFill>
            <a:srgbClr val="FF57E9"/>
          </a:solidFill>
          <a:ln w="127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95528" y="2007134"/>
            <a:ext cx="402336" cy="377875"/>
          </a:xfrm>
          <a:prstGeom prst="rect">
            <a:avLst/>
          </a:prstGeom>
          <a:noFill/>
        </p:spPr>
        <p:txBody>
          <a:bodyPr wrap="square" anchor="t">
            <a:noAutofit/>
          </a:bodyPr>
          <a:lstStyle/>
          <a:p>
            <a:pPr algn="ctr"/>
            <a:r>
              <a:rPr sz="1800" b="1" i="0">
                <a:solidFill>
                  <a:srgbClr val="FFFFFF"/>
                </a:solidFill>
                <a:latin typeface="Amazon Ember Display"/>
              </a:rPr>
              <a:t>A</a:t>
            </a:r>
          </a:p>
        </p:txBody>
      </p:sp>
      <p:sp>
        <p:nvSpPr>
          <p:cNvPr id="10" name="TextBox 9"/>
          <p:cNvSpPr txBox="1"/>
          <p:nvPr/>
        </p:nvSpPr>
        <p:spPr>
          <a:xfrm>
            <a:off x="1362456" y="2007134"/>
            <a:ext cx="9966960" cy="377875"/>
          </a:xfrm>
          <a:prstGeom prst="rect">
            <a:avLst/>
          </a:prstGeom>
          <a:noFill/>
        </p:spPr>
        <p:txBody>
          <a:bodyPr wrap="square" anchor="t">
            <a:noAutofit/>
          </a:bodyPr>
          <a:lstStyle/>
          <a:p>
            <a:pPr algn="l"/>
            <a:r>
              <a:rPr sz="1800" b="1" i="0">
                <a:solidFill>
                  <a:srgbClr val="232B37"/>
                </a:solidFill>
                <a:latin typeface="Amazon Ember Display"/>
              </a:rPr>
              <a:t>sam validate checks the template against the SAM specification</a:t>
            </a:r>
          </a:p>
        </p:txBody>
      </p:sp>
      <p:sp>
        <p:nvSpPr>
          <p:cNvPr id="11" name="Rounded Rectangle 10"/>
          <p:cNvSpPr/>
          <p:nvPr/>
        </p:nvSpPr>
        <p:spPr>
          <a:xfrm>
            <a:off x="795528" y="2500910"/>
            <a:ext cx="402336" cy="402336"/>
          </a:xfrm>
          <a:prstGeom prst="roundRect">
            <a:avLst>
              <a:gd name="adj" fmla="val 22000"/>
            </a:avLst>
          </a:prstGeom>
          <a:solidFill>
            <a:srgbClr val="FF57E9"/>
          </a:solidFill>
          <a:ln w="127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95528" y="2537486"/>
            <a:ext cx="402336" cy="377875"/>
          </a:xfrm>
          <a:prstGeom prst="rect">
            <a:avLst/>
          </a:prstGeom>
          <a:noFill/>
        </p:spPr>
        <p:txBody>
          <a:bodyPr wrap="square" anchor="t">
            <a:noAutofit/>
          </a:bodyPr>
          <a:lstStyle/>
          <a:p>
            <a:pPr algn="ctr"/>
            <a:r>
              <a:rPr sz="1800" b="1" i="0">
                <a:solidFill>
                  <a:srgbClr val="FFFFFF"/>
                </a:solidFill>
                <a:latin typeface="Amazon Ember Display"/>
              </a:rPr>
              <a:t>B</a:t>
            </a:r>
          </a:p>
        </p:txBody>
      </p:sp>
      <p:sp>
        <p:nvSpPr>
          <p:cNvPr id="13" name="TextBox 12"/>
          <p:cNvSpPr txBox="1"/>
          <p:nvPr/>
        </p:nvSpPr>
        <p:spPr>
          <a:xfrm>
            <a:off x="1362456" y="2537486"/>
            <a:ext cx="9966960" cy="377875"/>
          </a:xfrm>
          <a:prstGeom prst="rect">
            <a:avLst/>
          </a:prstGeom>
          <a:noFill/>
        </p:spPr>
        <p:txBody>
          <a:bodyPr wrap="square" anchor="t">
            <a:noAutofit/>
          </a:bodyPr>
          <a:lstStyle/>
          <a:p>
            <a:pPr algn="l"/>
            <a:r>
              <a:rPr sz="1800" b="1" i="0">
                <a:solidFill>
                  <a:srgbClr val="232B37"/>
                </a:solidFill>
                <a:latin typeface="Amazon Ember Display"/>
              </a:rPr>
              <a:t>sam local start-api serves the API endpoints on localhost</a:t>
            </a:r>
          </a:p>
        </p:txBody>
      </p:sp>
      <p:sp>
        <p:nvSpPr>
          <p:cNvPr id="14" name="TextBox 13"/>
          <p:cNvSpPr txBox="1"/>
          <p:nvPr/>
        </p:nvSpPr>
        <p:spPr>
          <a:xfrm>
            <a:off x="612648" y="3040406"/>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5" name="Rounded Rectangle 14"/>
          <p:cNvSpPr/>
          <p:nvPr/>
        </p:nvSpPr>
        <p:spPr>
          <a:xfrm>
            <a:off x="612648" y="3333014"/>
            <a:ext cx="10972800" cy="493776"/>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43359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451886"/>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461030"/>
            <a:ext cx="10186416" cy="361962"/>
          </a:xfrm>
          <a:prstGeom prst="rect">
            <a:avLst/>
          </a:prstGeom>
          <a:noFill/>
        </p:spPr>
        <p:txBody>
          <a:bodyPr wrap="square" anchor="t">
            <a:noAutofit/>
          </a:bodyPr>
          <a:lstStyle/>
          <a:p>
            <a:pPr algn="l"/>
            <a:r>
              <a:rPr sz="1700" b="0" i="0">
                <a:solidFill>
                  <a:srgbClr val="232B37"/>
                </a:solidFill>
                <a:latin typeface="Amazon Ember Display"/>
              </a:rPr>
              <a:t>Deploying in order to test contradicts testing locally first</a:t>
            </a:r>
          </a:p>
        </p:txBody>
      </p:sp>
      <p:sp>
        <p:nvSpPr>
          <p:cNvPr id="19" name="Rounded Rectangle 18"/>
          <p:cNvSpPr/>
          <p:nvPr/>
        </p:nvSpPr>
        <p:spPr>
          <a:xfrm>
            <a:off x="612648" y="3881654"/>
            <a:ext cx="10972800" cy="493776"/>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398223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000526"/>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009669"/>
            <a:ext cx="10186416" cy="361962"/>
          </a:xfrm>
          <a:prstGeom prst="rect">
            <a:avLst/>
          </a:prstGeom>
          <a:noFill/>
        </p:spPr>
        <p:txBody>
          <a:bodyPr wrap="square" anchor="t">
            <a:noAutofit/>
          </a:bodyPr>
          <a:lstStyle/>
          <a:p>
            <a:pPr algn="l"/>
            <a:r>
              <a:rPr sz="1700" b="0" i="0">
                <a:solidFill>
                  <a:srgbClr val="232B37"/>
                </a:solidFill>
                <a:latin typeface="Amazon Ember Display"/>
              </a:rPr>
              <a:t>sam init starts a new project; this application already exists</a:t>
            </a:r>
          </a:p>
        </p:txBody>
      </p:sp>
      <p:sp>
        <p:nvSpPr>
          <p:cNvPr id="23" name="Rounded Rectangle 22"/>
          <p:cNvSpPr/>
          <p:nvPr/>
        </p:nvSpPr>
        <p:spPr>
          <a:xfrm>
            <a:off x="612648" y="4430294"/>
            <a:ext cx="10972800" cy="493776"/>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758952" y="453087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76656" y="4549166"/>
            <a:ext cx="475488" cy="346049"/>
          </a:xfrm>
          <a:prstGeom prst="rect">
            <a:avLst/>
          </a:prstGeom>
          <a:noFill/>
        </p:spPr>
        <p:txBody>
          <a:bodyPr wrap="square" anchor="t">
            <a:noAutofit/>
          </a:bodyPr>
          <a:lstStyle/>
          <a:p>
            <a:pPr algn="ctr"/>
            <a:r>
              <a:rPr sz="1600" b="1" i="0">
                <a:solidFill>
                  <a:srgbClr val="5A6B7B"/>
                </a:solidFill>
                <a:latin typeface="Amazon Ember Display"/>
              </a:rPr>
              <a:t>E</a:t>
            </a:r>
          </a:p>
        </p:txBody>
      </p:sp>
      <p:sp>
        <p:nvSpPr>
          <p:cNvPr id="26" name="TextBox 25"/>
          <p:cNvSpPr txBox="1"/>
          <p:nvPr/>
        </p:nvSpPr>
        <p:spPr>
          <a:xfrm>
            <a:off x="1216152" y="4558310"/>
            <a:ext cx="10186416" cy="361962"/>
          </a:xfrm>
          <a:prstGeom prst="rect">
            <a:avLst/>
          </a:prstGeom>
          <a:noFill/>
        </p:spPr>
        <p:txBody>
          <a:bodyPr wrap="square" anchor="t">
            <a:noAutofit/>
          </a:bodyPr>
          <a:lstStyle/>
          <a:p>
            <a:pPr algn="l"/>
            <a:r>
              <a:rPr sz="1700" b="0" i="0">
                <a:solidFill>
                  <a:srgbClr val="232B37"/>
                </a:solidFill>
                <a:latin typeface="Amazon Ember Display"/>
              </a:rPr>
              <a:t>sam build prepares artifacts but validates nothing</a:t>
            </a:r>
          </a:p>
        </p:txBody>
      </p:sp>
      <p:sp>
        <p:nvSpPr>
          <p:cNvPr id="27" name="Rounded Rectangle 26"/>
          <p:cNvSpPr/>
          <p:nvPr/>
        </p:nvSpPr>
        <p:spPr>
          <a:xfrm>
            <a:off x="612648" y="4978934"/>
            <a:ext cx="10972800" cy="914400"/>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612648" y="4978934"/>
            <a:ext cx="68580" cy="914400"/>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0392" y="525325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30" name="TextBox 29"/>
          <p:cNvSpPr txBox="1"/>
          <p:nvPr/>
        </p:nvSpPr>
        <p:spPr>
          <a:xfrm>
            <a:off x="2487168" y="5088662"/>
            <a:ext cx="8823960" cy="361962"/>
          </a:xfrm>
          <a:prstGeom prst="rect">
            <a:avLst/>
          </a:prstGeom>
          <a:noFill/>
        </p:spPr>
        <p:txBody>
          <a:bodyPr wrap="square" anchor="t">
            <a:noAutofit/>
          </a:bodyPr>
          <a:lstStyle/>
          <a:p>
            <a:pPr algn="l"/>
            <a:r>
              <a:rPr sz="1700" b="1" i="0">
                <a:solidFill>
                  <a:srgbClr val="8F0072"/>
                </a:solidFill>
                <a:latin typeface="Amazon Ember Display"/>
              </a:rPr>
              <a:t>“test the API locally before deploying”</a:t>
            </a:r>
          </a:p>
        </p:txBody>
      </p:sp>
      <p:sp>
        <p:nvSpPr>
          <p:cNvPr id="31" name="TextBox 30"/>
          <p:cNvSpPr txBox="1"/>
          <p:nvPr/>
        </p:nvSpPr>
        <p:spPr>
          <a:xfrm>
            <a:off x="2487168" y="5436134"/>
            <a:ext cx="8823960" cy="361962"/>
          </a:xfrm>
          <a:prstGeom prst="rect">
            <a:avLst/>
          </a:prstGeom>
          <a:noFill/>
        </p:spPr>
        <p:txBody>
          <a:bodyPr wrap="square" anchor="t">
            <a:noAutofit/>
          </a:bodyPr>
          <a:lstStyle/>
          <a:p>
            <a:pPr algn="l"/>
            <a:r>
              <a:rPr sz="1700" b="0" i="0">
                <a:solidFill>
                  <a:srgbClr val="232B37"/>
                </a:solidFill>
                <a:latin typeface="Amazon Ember Display"/>
              </a:rPr>
              <a:t>→  Local testing plus template checking is two separate SAM CLI commands, not one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shifting traffic to a new function version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094329"/>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20009"/>
          </a:xfrm>
          <a:prstGeom prst="rect">
            <a:avLst/>
          </a:prstGeom>
          <a:noFill/>
        </p:spPr>
        <p:txBody>
          <a:bodyPr wrap="square" anchor="t">
            <a:noAutofit/>
          </a:bodyPr>
          <a:lstStyle/>
          <a:p>
            <a:r>
              <a:rPr sz="1600" b="1">
                <a:solidFill>
                  <a:srgbClr val="232B37"/>
                </a:solidFill>
                <a:latin typeface="Amazon Ember Display"/>
              </a:rPr>
              <a:t>A company deploys an order processing function on AWS Lambda through AWS CodeDeploy. For each release, the team must send 10 percent of production traffic to the new function version, hold that split for 5 minutes, and then shift all remaining traffic. The deployment must roll back automatically if an Amazon CloudWatch alarm enters the ALARM state during the shift.</a:t>
            </a:r>
          </a:p>
          <a:p>
            <a:r>
              <a:rPr sz="1600" b="1">
                <a:solidFill>
                  <a:srgbClr val="232B37"/>
                </a:solidFill>
                <a:latin typeface="Amazon Ember Display"/>
              </a:rPr>
              <a:t>Which CodeDeploy deployment configuration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CodeDeployDefault.LambdaCanary10Percent15Minutes</a:t>
            </a:r>
          </a:p>
          <a:p>
            <a:pPr marL="342900" indent="-342900">
              <a:spcBef>
                <a:spcPts val="600"/>
              </a:spcBef>
            </a:pPr>
            <a:r>
              <a:rPr sz="1600" b="0">
                <a:solidFill>
                  <a:srgbClr val="232B37"/>
                </a:solidFill>
                <a:latin typeface="Amazon Ember Display"/>
              </a:rPr>
              <a:t>B.  CodeDeployDefault.LambdaCanary10Percent5Minutes</a:t>
            </a:r>
          </a:p>
          <a:p>
            <a:pPr marL="342900" indent="-342900">
              <a:spcBef>
                <a:spcPts val="600"/>
              </a:spcBef>
            </a:pPr>
            <a:r>
              <a:rPr sz="1600" b="0">
                <a:solidFill>
                  <a:srgbClr val="232B37"/>
                </a:solidFill>
                <a:latin typeface="Amazon Ember Display"/>
              </a:rPr>
              <a:t>C.  CodeDeployDefault.LambdaLinear10PercentEvery1Minute</a:t>
            </a:r>
          </a:p>
          <a:p>
            <a:pPr marL="342900" indent="-342900">
              <a:spcBef>
                <a:spcPts val="600"/>
              </a:spcBef>
            </a:pPr>
            <a:r>
              <a:rPr sz="1600" b="0">
                <a:solidFill>
                  <a:srgbClr val="232B37"/>
                </a:solidFill>
                <a:latin typeface="Amazon Ember Display"/>
              </a:rPr>
              <a:t>D.  CodeDeployDefault.LambdaLinear10PercentEvery3Minutes</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shifting traffic to a new function version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094329"/>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20009"/>
          </a:xfrm>
          <a:prstGeom prst="rect">
            <a:avLst/>
          </a:prstGeom>
          <a:noFill/>
        </p:spPr>
        <p:txBody>
          <a:bodyPr wrap="square" anchor="t">
            <a:noAutofit/>
          </a:bodyPr>
          <a:lstStyle/>
          <a:p>
            <a:r>
              <a:rPr sz="1600" b="1">
                <a:solidFill>
                  <a:srgbClr val="232B37"/>
                </a:solidFill>
                <a:latin typeface="Amazon Ember Display"/>
              </a:rPr>
              <a:t>A company deploys an order processing function on AWS Lambda through AWS CodeDeploy. For each release, the team must send 10 percent of production traffic to the new function version, hold that split for 5 minutes, and then shift all remaining traffic. The deployment must roll back automatically if an Amazon CloudWatch alarm enters the ALARM state during the shift.</a:t>
            </a:r>
          </a:p>
          <a:p>
            <a:r>
              <a:rPr sz="1600" b="1">
                <a:solidFill>
                  <a:srgbClr val="232B37"/>
                </a:solidFill>
                <a:latin typeface="Amazon Ember Display"/>
              </a:rPr>
              <a:t>Which CodeDeploy deployment configuration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CodeDeployDefault.LambdaCanary10Percent15Minutes</a:t>
            </a:r>
          </a:p>
          <a:p>
            <a:pPr marL="342900" indent="-342900">
              <a:spcBef>
                <a:spcPts val="600"/>
              </a:spcBef>
            </a:pPr>
            <a:r>
              <a:rPr sz="1600" b="0">
                <a:solidFill>
                  <a:srgbClr val="232B37"/>
                </a:solidFill>
                <a:latin typeface="Amazon Ember Display"/>
              </a:rPr>
              <a:t>B.  CodeDeployDefault.LambdaCanary10Percent5Minutes</a:t>
            </a:r>
          </a:p>
          <a:p>
            <a:pPr marL="342900" indent="-342900">
              <a:spcBef>
                <a:spcPts val="600"/>
              </a:spcBef>
            </a:pPr>
            <a:r>
              <a:rPr sz="1600" b="0">
                <a:solidFill>
                  <a:srgbClr val="232B37"/>
                </a:solidFill>
                <a:latin typeface="Amazon Ember Display"/>
              </a:rPr>
              <a:t>C.  CodeDeployDefault.LambdaLinear10PercentEvery1Minute</a:t>
            </a:r>
          </a:p>
          <a:p>
            <a:pPr marL="342900" indent="-342900">
              <a:spcBef>
                <a:spcPts val="600"/>
              </a:spcBef>
            </a:pPr>
            <a:r>
              <a:rPr sz="1600" b="0">
                <a:solidFill>
                  <a:srgbClr val="232B37"/>
                </a:solidFill>
                <a:latin typeface="Amazon Ember Display"/>
              </a:rPr>
              <a:t>D.  CodeDeployDefault.LambdaLinear10PercentEvery3Minutes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shifting traffic to a new function version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094329"/>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20009"/>
          </a:xfrm>
          <a:prstGeom prst="rect">
            <a:avLst/>
          </a:prstGeom>
          <a:noFill/>
        </p:spPr>
        <p:txBody>
          <a:bodyPr wrap="square" anchor="t">
            <a:noAutofit/>
          </a:bodyPr>
          <a:lstStyle/>
          <a:p>
            <a:r>
              <a:rPr sz="1600" b="1">
                <a:solidFill>
                  <a:srgbClr val="232B37"/>
                </a:solidFill>
                <a:latin typeface="Amazon Ember Display"/>
              </a:rPr>
              <a:t>A company deploys an order processing function on AWS Lambda through AWS CodeDeploy. For each release, the team must send 10 percent of production traffic to the new function version, hold that split for 5 minutes, and then shift all remaining traffic. The deployment must roll back automatically if an Amazon CloudWatch alarm enters the ALARM state during the shift.</a:t>
            </a:r>
          </a:p>
          <a:p>
            <a:r>
              <a:rPr sz="1600" b="1">
                <a:solidFill>
                  <a:srgbClr val="232B37"/>
                </a:solidFill>
                <a:latin typeface="Amazon Ember Display"/>
              </a:rPr>
              <a:t>Which CodeDeploy deployment configuration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CodeDeployDefault.LambdaCanary10Percent15Minutes</a:t>
            </a:r>
          </a:p>
          <a:p>
            <a:pPr marL="342900" indent="-342900">
              <a:spcBef>
                <a:spcPts val="600"/>
              </a:spcBef>
            </a:pPr>
            <a:r>
              <a:rPr sz="1600" b="1">
                <a:solidFill>
                  <a:srgbClr val="2E7D32"/>
                </a:solidFill>
                <a:latin typeface="Amazon Ember Display"/>
              </a:rPr>
              <a:t>B.  CodeDeployDefault.LambdaCanary10Percent5Minutes  [CORRECT]</a:t>
            </a:r>
          </a:p>
          <a:p>
            <a:pPr marL="342900" indent="-342900">
              <a:spcBef>
                <a:spcPts val="600"/>
              </a:spcBef>
            </a:pPr>
            <a:r>
              <a:rPr sz="1600" b="0">
                <a:solidFill>
                  <a:srgbClr val="232B37"/>
                </a:solidFill>
                <a:latin typeface="Amazon Ember Display"/>
              </a:rPr>
              <a:t>C.  CodeDeployDefault.LambdaLinear10PercentEvery1Minute</a:t>
            </a:r>
          </a:p>
          <a:p>
            <a:pPr marL="342900" indent="-342900">
              <a:spcBef>
                <a:spcPts val="600"/>
              </a:spcBef>
            </a:pPr>
            <a:r>
              <a:rPr sz="1600" b="0">
                <a:solidFill>
                  <a:srgbClr val="232B37"/>
                </a:solidFill>
                <a:latin typeface="Amazon Ember Display"/>
              </a:rPr>
              <a:t>D.  CodeDeployDefault.LambdaLinear10PercentEvery3Minutes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shifting traffic to a new function version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7494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Working with deployment configurations in…</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B</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B</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The canary configuration names both the percentage and the interval</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The right canary split, but it waits fifteen minutes not five</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Linear shifts in steps, so traffic never holds at 10 percent</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Also linear -- a gradual ramp rather than a canary that holds</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“hold that split for 5 minutes”</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A fixed percentage held for a fixed interval is a canary, not a linear shift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tests that a large team keeps skipping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094329"/>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20009"/>
          </a:xfrm>
          <a:prstGeom prst="rect">
            <a:avLst/>
          </a:prstGeom>
          <a:noFill/>
        </p:spPr>
        <p:txBody>
          <a:bodyPr wrap="square" anchor="t">
            <a:noAutofit/>
          </a:bodyPr>
          <a:lstStyle/>
          <a:p>
            <a:r>
              <a:rPr sz="1600" b="1">
                <a:solidFill>
                  <a:srgbClr val="232B37"/>
                </a:solidFill>
                <a:latin typeface="Amazon Ember Display"/>
              </a:rPr>
              <a:t>A company maintains a service that a large team changes frequently. Developers often add functions without matching unit tests, and test coverage has declined over several releases. The company wants unit tests to be generated for a source file every time a developer saves that file, without requiring the developer to start the task.</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Configure a steering file that directs the agent to generate unit tests for every function.</a:t>
            </a:r>
          </a:p>
          <a:p>
            <a:pPr marL="342900" indent="-342900">
              <a:spcBef>
                <a:spcPts val="600"/>
              </a:spcBef>
            </a:pPr>
            <a:r>
              <a:rPr sz="1600" b="0">
                <a:solidFill>
                  <a:srgbClr val="232B37"/>
                </a:solidFill>
                <a:latin typeface="Amazon Ember Display"/>
              </a:rPr>
              <a:t>B.  Ask the agent in a chat session to generate unit tests for the changed files each day.</a:t>
            </a:r>
          </a:p>
          <a:p>
            <a:pPr marL="342900" indent="-342900">
              <a:spcBef>
                <a:spcPts val="600"/>
              </a:spcBef>
            </a:pPr>
            <a:r>
              <a:rPr sz="1600" b="0">
                <a:solidFill>
                  <a:srgbClr val="232B37"/>
                </a:solidFill>
                <a:latin typeface="Amazon Ember Display"/>
              </a:rPr>
              <a:t>C.  Create a spec with a task for unit test generation and run the spec before each code review.</a:t>
            </a:r>
          </a:p>
          <a:p>
            <a:pPr marL="342900" indent="-342900">
              <a:spcBef>
                <a:spcPts val="600"/>
              </a:spcBef>
            </a:pPr>
            <a:r>
              <a:rPr sz="1600" b="0">
                <a:solidFill>
                  <a:srgbClr val="232B37"/>
                </a:solidFill>
                <a:latin typeface="Amazon Ember Display"/>
              </a:rPr>
              <a:t>D.  Configure a hook that triggers on file save and runs an agent task to generate the unit tests.</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tests that a large team keeps skipping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094329"/>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20009"/>
          </a:xfrm>
          <a:prstGeom prst="rect">
            <a:avLst/>
          </a:prstGeom>
          <a:noFill/>
        </p:spPr>
        <p:txBody>
          <a:bodyPr wrap="square" anchor="t">
            <a:noAutofit/>
          </a:bodyPr>
          <a:lstStyle/>
          <a:p>
            <a:r>
              <a:rPr sz="1600" b="1">
                <a:solidFill>
                  <a:srgbClr val="232B37"/>
                </a:solidFill>
                <a:latin typeface="Amazon Ember Display"/>
              </a:rPr>
              <a:t>A company maintains a service that a large team changes frequently. Developers often add functions without matching unit tests, and test coverage has declined over several releases. The company wants unit tests to be generated for a source file every time a developer saves that file, without requiring the developer to start the task.</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Configure a steering file that directs the agent to generate unit tests for every function.</a:t>
            </a:r>
          </a:p>
          <a:p>
            <a:pPr marL="342900" indent="-342900">
              <a:spcBef>
                <a:spcPts val="600"/>
              </a:spcBef>
            </a:pPr>
            <a:r>
              <a:rPr sz="1600" b="0">
                <a:solidFill>
                  <a:srgbClr val="232B37"/>
                </a:solidFill>
                <a:latin typeface="Amazon Ember Display"/>
              </a:rPr>
              <a:t>B.  Ask the agent in a chat session to generate unit tests for the changed files each day.</a:t>
            </a:r>
          </a:p>
          <a:p>
            <a:pPr marL="342900" indent="-342900">
              <a:spcBef>
                <a:spcPts val="600"/>
              </a:spcBef>
            </a:pPr>
            <a:r>
              <a:rPr sz="1600" b="0">
                <a:solidFill>
                  <a:srgbClr val="232B37"/>
                </a:solidFill>
                <a:latin typeface="Amazon Ember Display"/>
              </a:rPr>
              <a:t>C.  Create a spec with a task for unit test generation and run the spec before each code review.</a:t>
            </a:r>
          </a:p>
          <a:p>
            <a:pPr marL="342900" indent="-342900">
              <a:spcBef>
                <a:spcPts val="600"/>
              </a:spcBef>
            </a:pPr>
            <a:r>
              <a:rPr sz="1600" b="0">
                <a:solidFill>
                  <a:srgbClr val="232B37"/>
                </a:solidFill>
                <a:latin typeface="Amazon Ember Display"/>
              </a:rPr>
              <a:t>D.  Configure a hook that triggers on file save and runs an agent task to generate the unit tests.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tests that a large team keeps skipping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094329"/>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20009"/>
          </a:xfrm>
          <a:prstGeom prst="rect">
            <a:avLst/>
          </a:prstGeom>
          <a:noFill/>
        </p:spPr>
        <p:txBody>
          <a:bodyPr wrap="square" anchor="t">
            <a:noAutofit/>
          </a:bodyPr>
          <a:lstStyle/>
          <a:p>
            <a:r>
              <a:rPr sz="1600" b="1">
                <a:solidFill>
                  <a:srgbClr val="232B37"/>
                </a:solidFill>
                <a:latin typeface="Amazon Ember Display"/>
              </a:rPr>
              <a:t>A company maintains a service that a large team changes frequently. Developers often add functions without matching unit tests, and test coverage has declined over several releases. The company wants unit tests to be generated for a source file every time a developer saves that file, without requiring the developer to start the task.</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Configure a steering file that directs the agent to generate unit tests for every function.</a:t>
            </a:r>
          </a:p>
          <a:p>
            <a:pPr marL="342900" indent="-342900">
              <a:spcBef>
                <a:spcPts val="600"/>
              </a:spcBef>
            </a:pPr>
            <a:r>
              <a:rPr sz="1600" b="0">
                <a:solidFill>
                  <a:srgbClr val="232B37"/>
                </a:solidFill>
                <a:latin typeface="Amazon Ember Display"/>
              </a:rPr>
              <a:t>B.  Ask the agent in a chat session to generate unit tests for the changed files each day.</a:t>
            </a:r>
          </a:p>
          <a:p>
            <a:pPr marL="342900" indent="-342900">
              <a:spcBef>
                <a:spcPts val="600"/>
              </a:spcBef>
            </a:pPr>
            <a:r>
              <a:rPr sz="1600" b="0">
                <a:solidFill>
                  <a:srgbClr val="232B37"/>
                </a:solidFill>
                <a:latin typeface="Amazon Ember Display"/>
              </a:rPr>
              <a:t>C.  Create a spec with a task for unit test generation and run the spec before each code review.</a:t>
            </a:r>
          </a:p>
          <a:p>
            <a:pPr marL="342900" indent="-342900">
              <a:spcBef>
                <a:spcPts val="600"/>
              </a:spcBef>
            </a:pPr>
            <a:r>
              <a:rPr sz="1600" b="1">
                <a:solidFill>
                  <a:srgbClr val="2E7D32"/>
                </a:solidFill>
                <a:latin typeface="Amazon Ember Display"/>
              </a:rPr>
              <a:t>D.  Configure a hook that triggers on file save and runs an agent task to generate the unit tests.  [CORRECT]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tests that a large team keeps skipping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kiro.dev · Hooks</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D</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D</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A hook runs an agent task automatically on a file-save event</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A steering file shapes generated output but runs on no event</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A chat request is the manual step being removed</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A developer runs a spec; a file save does not</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“without requiring the developer to start the task”</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Work that must start on an event rather than a prompt points at a hook</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7: promoting one build from test to production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34304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068726"/>
          </a:xfrm>
          <a:prstGeom prst="rect">
            <a:avLst/>
          </a:prstGeom>
          <a:noFill/>
        </p:spPr>
        <p:txBody>
          <a:bodyPr wrap="square" anchor="t">
            <a:noAutofit/>
          </a:bodyPr>
          <a:lstStyle/>
          <a:p>
            <a:r>
              <a:rPr sz="1600" b="1">
                <a:solidFill>
                  <a:srgbClr val="232B37"/>
                </a:solidFill>
                <a:latin typeface="Amazon Ember Display"/>
              </a:rPr>
              <a:t>A company deploys an application through a pipeline that promotes builds to a test environment and then to production. After each deployment to the test environment, a developer reviews application logs by hand and confirms a set of validation checks before promoting the build. The company must run this post-deployment validation inside the pipeline and stop the promotion automatically when a check does not pass.</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Add a manual approval action to the pipeline so that a developer confirms the checks first.</a:t>
            </a:r>
          </a:p>
          <a:p>
            <a:pPr marL="342900" indent="-342900">
              <a:spcBef>
                <a:spcPts val="600"/>
              </a:spcBef>
            </a:pPr>
            <a:r>
              <a:rPr sz="1600" b="0">
                <a:solidFill>
                  <a:srgbClr val="232B37"/>
                </a:solidFill>
                <a:latin typeface="Amazon Ember Display"/>
              </a:rPr>
              <a:t>B.  Add a pipeline stage that runs the agent in headless mode and returns a non-zero exit code on failure.</a:t>
            </a:r>
          </a:p>
          <a:p>
            <a:pPr marL="342900" indent="-342900">
              <a:spcBef>
                <a:spcPts val="600"/>
              </a:spcBef>
            </a:pPr>
            <a:r>
              <a:rPr sz="1600" b="0">
                <a:solidFill>
                  <a:srgbClr val="232B37"/>
                </a:solidFill>
                <a:latin typeface="Amazon Ember Display"/>
              </a:rPr>
              <a:t>C.  Install the agent's integrated development environment on the build host and script its interface.</a:t>
            </a:r>
          </a:p>
          <a:p>
            <a:pPr marL="342900" indent="-342900">
              <a:spcBef>
                <a:spcPts val="600"/>
              </a:spcBef>
            </a:pPr>
            <a:r>
              <a:rPr sz="1600" b="0">
                <a:solidFill>
                  <a:srgbClr val="232B37"/>
                </a:solidFill>
                <a:latin typeface="Amazon Ember Display"/>
              </a:rPr>
              <a:t>D.  Add a pipeline stage that publishes the application logs to a notification topic for review.</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7: promoting one build from test to production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34304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068726"/>
          </a:xfrm>
          <a:prstGeom prst="rect">
            <a:avLst/>
          </a:prstGeom>
          <a:noFill/>
        </p:spPr>
        <p:txBody>
          <a:bodyPr wrap="square" anchor="t">
            <a:noAutofit/>
          </a:bodyPr>
          <a:lstStyle/>
          <a:p>
            <a:r>
              <a:rPr sz="1600" b="1">
                <a:solidFill>
                  <a:srgbClr val="232B37"/>
                </a:solidFill>
                <a:latin typeface="Amazon Ember Display"/>
              </a:rPr>
              <a:t>A company deploys an application through a pipeline that promotes builds to a test environment and then to production. After each deployment to the test environment, a developer reviews application logs by hand and confirms a set of validation checks before promoting the build. The company must run this post-deployment validation inside the pipeline and stop the promotion automatically when a check does not pass.</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Add a manual approval action to the pipeline so that a developer confirms the checks first.</a:t>
            </a:r>
          </a:p>
          <a:p>
            <a:pPr marL="342900" indent="-342900">
              <a:spcBef>
                <a:spcPts val="600"/>
              </a:spcBef>
            </a:pPr>
            <a:r>
              <a:rPr sz="1600" b="0">
                <a:solidFill>
                  <a:srgbClr val="232B37"/>
                </a:solidFill>
                <a:latin typeface="Amazon Ember Display"/>
              </a:rPr>
              <a:t>B.  Add a pipeline stage that runs the agent in headless mode and returns a non-zero exit code on failure.</a:t>
            </a:r>
          </a:p>
          <a:p>
            <a:pPr marL="342900" indent="-342900">
              <a:spcBef>
                <a:spcPts val="600"/>
              </a:spcBef>
            </a:pPr>
            <a:r>
              <a:rPr sz="1600" b="0">
                <a:solidFill>
                  <a:srgbClr val="232B37"/>
                </a:solidFill>
                <a:latin typeface="Amazon Ember Display"/>
              </a:rPr>
              <a:t>C.  Install the agent's integrated development environment on the build host and script its interface.</a:t>
            </a:r>
          </a:p>
          <a:p>
            <a:pPr marL="342900" indent="-342900">
              <a:spcBef>
                <a:spcPts val="600"/>
              </a:spcBef>
            </a:pPr>
            <a:r>
              <a:rPr sz="1600" b="0">
                <a:solidFill>
                  <a:srgbClr val="232B37"/>
                </a:solidFill>
                <a:latin typeface="Amazon Ember Display"/>
              </a:rPr>
              <a:t>D.  Add a pipeline stage that publishes the application logs to a notification topic for review.</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7: promoting one build from test to production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5"/>
            <a:ext cx="11082528" cy="3679213"/>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068726"/>
          </a:xfrm>
          <a:prstGeom prst="rect">
            <a:avLst/>
          </a:prstGeom>
          <a:noFill/>
        </p:spPr>
        <p:txBody>
          <a:bodyPr wrap="square" anchor="t">
            <a:noAutofit/>
          </a:bodyPr>
          <a:lstStyle/>
          <a:p>
            <a:r>
              <a:rPr sz="1600" b="1">
                <a:solidFill>
                  <a:srgbClr val="232B37"/>
                </a:solidFill>
                <a:latin typeface="Amazon Ember Display"/>
              </a:rPr>
              <a:t>A company deploys an application through a pipeline that promotes builds to a test environment and then to production. After each deployment to the test environment, a developer reviews application logs by hand and confirms a set of validation checks before promoting the build. The company must run this post-deployment validation inside the pipeline and stop the promotion automatically when a check does not pass.</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Add a manual approval action to the pipeline so that a developer confirms the checks first.</a:t>
            </a:r>
          </a:p>
          <a:p>
            <a:pPr marL="342900" indent="-342900">
              <a:spcBef>
                <a:spcPts val="600"/>
              </a:spcBef>
            </a:pPr>
            <a:r>
              <a:rPr sz="1600" b="1">
                <a:solidFill>
                  <a:srgbClr val="2E7D32"/>
                </a:solidFill>
                <a:latin typeface="Amazon Ember Display"/>
              </a:rPr>
              <a:t>B.  Add a pipeline stage that runs the agent in headless mode and returns a non-zero exit code on failure.  [CORRECT]</a:t>
            </a:r>
          </a:p>
          <a:p>
            <a:pPr marL="342900" indent="-342900">
              <a:spcBef>
                <a:spcPts val="600"/>
              </a:spcBef>
            </a:pPr>
            <a:r>
              <a:rPr sz="1600" b="0">
                <a:solidFill>
                  <a:srgbClr val="232B37"/>
                </a:solidFill>
                <a:latin typeface="Amazon Ember Display"/>
              </a:rPr>
              <a:t>C.  Install the agent's integrated development environment on the build host and script its interface.</a:t>
            </a:r>
          </a:p>
          <a:p>
            <a:pPr marL="342900" indent="-342900">
              <a:spcBef>
                <a:spcPts val="600"/>
              </a:spcBef>
            </a:pPr>
            <a:r>
              <a:rPr sz="1600" b="0">
                <a:solidFill>
                  <a:srgbClr val="232B37"/>
                </a:solidFill>
                <a:latin typeface="Amazon Ember Display"/>
              </a:rPr>
              <a:t>D.  Add a pipeline stage that publishes the application logs to a notification topic for review.</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7: promoting one build from test to production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kiro.dev · Headless mode</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B</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B</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Headless mode runs with no session and fails the stage on a non-zero exit</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Manual approval keeps the person the company is automating away</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The IDE is interactive; headless mode exists for build hosts</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Publishing logs notifies people but validates nothing</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“stop the promotion automatically when a check does not pass”</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Automated validation inside a pipeline needs a non-interactive run and an exit code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Coming up: Week 5 digital training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371600"/>
            <a:ext cx="6182515" cy="4295571"/>
          </a:xfrm>
          <a:prstGeom prst="roundRect">
            <a:avLst>
              <a:gd name="adj" fmla="val 4257"/>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5528" y="1517904"/>
            <a:ext cx="5816755" cy="377875"/>
          </a:xfrm>
          <a:prstGeom prst="rect">
            <a:avLst/>
          </a:prstGeom>
          <a:noFill/>
        </p:spPr>
        <p:txBody>
          <a:bodyPr wrap="square" anchor="t">
            <a:noAutofit/>
          </a:bodyPr>
          <a:lstStyle/>
          <a:p>
            <a:pPr algn="l"/>
            <a:r>
              <a:rPr sz="1800" b="1" i="0">
                <a:solidFill>
                  <a:srgbClr val="8F0072"/>
                </a:solidFill>
                <a:latin typeface="Amazon Ember Display"/>
              </a:rPr>
              <a:t>Learning Plan courses</a:t>
            </a:r>
          </a:p>
        </p:txBody>
      </p:sp>
      <p:sp>
        <p:nvSpPr>
          <p:cNvPr id="6" name="Rectangle 5"/>
          <p:cNvSpPr/>
          <p:nvPr/>
        </p:nvSpPr>
        <p:spPr>
          <a:xfrm>
            <a:off x="795528" y="1859203"/>
            <a:ext cx="5816755" cy="32004"/>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95528" y="1950643"/>
            <a:ext cx="5816755"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41832" y="2000427"/>
            <a:ext cx="5524147" cy="346049"/>
          </a:xfrm>
          <a:prstGeom prst="rect">
            <a:avLst/>
          </a:prstGeom>
          <a:noFill/>
        </p:spPr>
        <p:txBody>
          <a:bodyPr wrap="square" anchor="t">
            <a:noAutofit/>
          </a:bodyPr>
          <a:lstStyle/>
          <a:p>
            <a:pPr algn="l"/>
            <a:r>
              <a:rPr sz="1600" b="0" i="0">
                <a:solidFill>
                  <a:srgbClr val="232B37"/>
                </a:solidFill>
                <a:latin typeface="Amazon Ember Display"/>
              </a:rPr>
              <a:t>AWS Lambda - Troubleshooting</a:t>
            </a:r>
          </a:p>
        </p:txBody>
      </p:sp>
      <p:sp>
        <p:nvSpPr>
          <p:cNvPr id="9" name="Rounded Rectangle 8"/>
          <p:cNvSpPr/>
          <p:nvPr/>
        </p:nvSpPr>
        <p:spPr>
          <a:xfrm>
            <a:off x="795528" y="2389555"/>
            <a:ext cx="5816755"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832" y="2439339"/>
            <a:ext cx="5524147" cy="346049"/>
          </a:xfrm>
          <a:prstGeom prst="rect">
            <a:avLst/>
          </a:prstGeom>
          <a:noFill/>
        </p:spPr>
        <p:txBody>
          <a:bodyPr wrap="square" anchor="t">
            <a:noAutofit/>
          </a:bodyPr>
          <a:lstStyle/>
          <a:p>
            <a:pPr algn="l"/>
            <a:r>
              <a:rPr sz="1600" b="0" i="0">
                <a:solidFill>
                  <a:srgbClr val="232B37"/>
                </a:solidFill>
                <a:latin typeface="Amazon Ember Display"/>
              </a:rPr>
              <a:t>AWS CloudFront- Troubleshooting</a:t>
            </a:r>
          </a:p>
        </p:txBody>
      </p:sp>
      <p:sp>
        <p:nvSpPr>
          <p:cNvPr id="11" name="Rounded Rectangle 10"/>
          <p:cNvSpPr/>
          <p:nvPr/>
        </p:nvSpPr>
        <p:spPr>
          <a:xfrm>
            <a:off x="795528" y="2828467"/>
            <a:ext cx="5816755"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41832" y="2878251"/>
            <a:ext cx="5524147" cy="346049"/>
          </a:xfrm>
          <a:prstGeom prst="rect">
            <a:avLst/>
          </a:prstGeom>
          <a:noFill/>
        </p:spPr>
        <p:txBody>
          <a:bodyPr wrap="square" anchor="t">
            <a:noAutofit/>
          </a:bodyPr>
          <a:lstStyle/>
          <a:p>
            <a:pPr algn="l"/>
            <a:r>
              <a:rPr sz="1600" b="0" i="0">
                <a:solidFill>
                  <a:srgbClr val="232B37"/>
                </a:solidFill>
                <a:latin typeface="Amazon Ember Display"/>
              </a:rPr>
              <a:t>AWS CloudFormation Stacks- Troubleshooting</a:t>
            </a:r>
          </a:p>
        </p:txBody>
      </p:sp>
      <p:sp>
        <p:nvSpPr>
          <p:cNvPr id="13" name="Rounded Rectangle 12"/>
          <p:cNvSpPr/>
          <p:nvPr/>
        </p:nvSpPr>
        <p:spPr>
          <a:xfrm>
            <a:off x="795528" y="3267379"/>
            <a:ext cx="5816755"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41832" y="3317163"/>
            <a:ext cx="5524147" cy="346049"/>
          </a:xfrm>
          <a:prstGeom prst="rect">
            <a:avLst/>
          </a:prstGeom>
          <a:noFill/>
        </p:spPr>
        <p:txBody>
          <a:bodyPr wrap="square" anchor="t">
            <a:noAutofit/>
          </a:bodyPr>
          <a:lstStyle/>
          <a:p>
            <a:pPr algn="l"/>
            <a:r>
              <a:rPr sz="1600" b="0" i="0">
                <a:solidFill>
                  <a:srgbClr val="232B37"/>
                </a:solidFill>
                <a:latin typeface="Amazon Ember Display"/>
              </a:rPr>
              <a:t>Amazon DynamoDB - Troubleshooting</a:t>
            </a:r>
          </a:p>
        </p:txBody>
      </p:sp>
      <p:sp>
        <p:nvSpPr>
          <p:cNvPr id="15" name="Rounded Rectangle 14"/>
          <p:cNvSpPr/>
          <p:nvPr/>
        </p:nvSpPr>
        <p:spPr>
          <a:xfrm>
            <a:off x="795528" y="3706291"/>
            <a:ext cx="5816755"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41832" y="3756075"/>
            <a:ext cx="5524147" cy="346049"/>
          </a:xfrm>
          <a:prstGeom prst="rect">
            <a:avLst/>
          </a:prstGeom>
          <a:noFill/>
        </p:spPr>
        <p:txBody>
          <a:bodyPr wrap="square" anchor="t">
            <a:noAutofit/>
          </a:bodyPr>
          <a:lstStyle/>
          <a:p>
            <a:pPr algn="l"/>
            <a:r>
              <a:rPr sz="1600" b="0" i="0">
                <a:solidFill>
                  <a:srgbClr val="232B37"/>
                </a:solidFill>
                <a:latin typeface="Amazon Ember Display"/>
              </a:rPr>
              <a:t>Security and Observability for Serverless Applications</a:t>
            </a:r>
          </a:p>
        </p:txBody>
      </p:sp>
      <p:sp>
        <p:nvSpPr>
          <p:cNvPr id="17" name="Rounded Rectangle 16"/>
          <p:cNvSpPr/>
          <p:nvPr/>
        </p:nvSpPr>
        <p:spPr>
          <a:xfrm>
            <a:off x="795528" y="4145203"/>
            <a:ext cx="5816755" cy="66040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41832" y="4209211"/>
            <a:ext cx="5524147" cy="600659"/>
          </a:xfrm>
          <a:prstGeom prst="rect">
            <a:avLst/>
          </a:prstGeom>
          <a:noFill/>
        </p:spPr>
        <p:txBody>
          <a:bodyPr wrap="square" anchor="t">
            <a:noAutofit/>
          </a:bodyPr>
          <a:lstStyle/>
          <a:p>
            <a:pPr algn="l"/>
            <a:r>
              <a:rPr sz="1600" b="0" i="0">
                <a:solidFill>
                  <a:srgbClr val="232B37"/>
                </a:solidFill>
                <a:latin typeface="Amazon Ember Display"/>
              </a:rPr>
              <a:t>Securing and Protecting your Data in Amazon Simple</a:t>
            </a:r>
          </a:p>
          <a:p>
            <a:pPr algn="l"/>
            <a:r>
              <a:rPr sz="1600" b="0" i="0">
                <a:solidFill>
                  <a:srgbClr val="232B37"/>
                </a:solidFill>
                <a:latin typeface="Amazon Ember Display"/>
              </a:rPr>
              <a:t>Storage Service (S3)</a:t>
            </a:r>
          </a:p>
        </p:txBody>
      </p:sp>
      <p:sp>
        <p:nvSpPr>
          <p:cNvPr id="19" name="Rounded Rectangle 18"/>
          <p:cNvSpPr/>
          <p:nvPr/>
        </p:nvSpPr>
        <p:spPr>
          <a:xfrm>
            <a:off x="795528" y="4860467"/>
            <a:ext cx="5816755" cy="66040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41832" y="4924475"/>
            <a:ext cx="5524147" cy="600659"/>
          </a:xfrm>
          <a:prstGeom prst="rect">
            <a:avLst/>
          </a:prstGeom>
          <a:noFill/>
        </p:spPr>
        <p:txBody>
          <a:bodyPr wrap="square" anchor="t">
            <a:noAutofit/>
          </a:bodyPr>
          <a:lstStyle/>
          <a:p>
            <a:pPr algn="l"/>
            <a:r>
              <a:rPr sz="1600" b="0" i="0">
                <a:solidFill>
                  <a:srgbClr val="232B37"/>
                </a:solidFill>
                <a:latin typeface="Amazon Ember Display"/>
              </a:rPr>
              <a:t>Exam Prep Official Practice Question Set: AWS Certified</a:t>
            </a:r>
          </a:p>
          <a:p>
            <a:pPr algn="l"/>
            <a:r>
              <a:rPr sz="1600" b="0" i="0">
                <a:solidFill>
                  <a:srgbClr val="232B37"/>
                </a:solidFill>
                <a:latin typeface="Amazon Ember Display"/>
              </a:rPr>
              <a:t>Developer - Associate (DVA-C02 - English)</a:t>
            </a:r>
          </a:p>
        </p:txBody>
      </p:sp>
      <p:sp>
        <p:nvSpPr>
          <p:cNvPr id="21" name="Rounded Rectangle 20"/>
          <p:cNvSpPr/>
          <p:nvPr/>
        </p:nvSpPr>
        <p:spPr>
          <a:xfrm>
            <a:off x="7014619" y="1371600"/>
            <a:ext cx="4570828" cy="4295571"/>
          </a:xfrm>
          <a:prstGeom prst="roundRect">
            <a:avLst>
              <a:gd name="adj" fmla="val 4257"/>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97499" y="1517904"/>
            <a:ext cx="4205068" cy="377875"/>
          </a:xfrm>
          <a:prstGeom prst="rect">
            <a:avLst/>
          </a:prstGeom>
          <a:noFill/>
        </p:spPr>
        <p:txBody>
          <a:bodyPr wrap="square" anchor="t">
            <a:noAutofit/>
          </a:bodyPr>
          <a:lstStyle/>
          <a:p>
            <a:pPr algn="l"/>
            <a:r>
              <a:rPr sz="1800" b="1" i="0">
                <a:solidFill>
                  <a:srgbClr val="8F0072"/>
                </a:solidFill>
                <a:latin typeface="Amazon Ember Display"/>
              </a:rPr>
              <a:t>Optional Exam Prep Plan</a:t>
            </a:r>
          </a:p>
        </p:txBody>
      </p:sp>
      <p:sp>
        <p:nvSpPr>
          <p:cNvPr id="23" name="Rectangle 22"/>
          <p:cNvSpPr/>
          <p:nvPr/>
        </p:nvSpPr>
        <p:spPr>
          <a:xfrm>
            <a:off x="7197499" y="1859203"/>
            <a:ext cx="4205068" cy="32004"/>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197499" y="1950643"/>
            <a:ext cx="4205068" cy="66040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343803" y="2014651"/>
            <a:ext cx="3912460" cy="600659"/>
          </a:xfrm>
          <a:prstGeom prst="rect">
            <a:avLst/>
          </a:prstGeom>
          <a:noFill/>
        </p:spPr>
        <p:txBody>
          <a:bodyPr wrap="square" anchor="t">
            <a:noAutofit/>
          </a:bodyPr>
          <a:lstStyle/>
          <a:p>
            <a:pPr algn="l"/>
            <a:r>
              <a:rPr sz="1600" b="0" i="0">
                <a:solidFill>
                  <a:srgbClr val="232B37"/>
                </a:solidFill>
                <a:latin typeface="Amazon Ember Display"/>
              </a:rPr>
              <a:t>Complete: AWS Cloud Quest:</a:t>
            </a:r>
          </a:p>
          <a:p>
            <a:pPr algn="l"/>
            <a:r>
              <a:rPr sz="1600" b="0" i="0">
                <a:solidFill>
                  <a:srgbClr val="232B37"/>
                </a:solidFill>
                <a:latin typeface="Amazon Ember Display"/>
              </a:rPr>
              <a:t>Serverless Developer*</a:t>
            </a:r>
          </a:p>
        </p:txBody>
      </p:sp>
      <p:sp>
        <p:nvSpPr>
          <p:cNvPr id="26" name="Rounded Rectangle 25"/>
          <p:cNvSpPr/>
          <p:nvPr/>
        </p:nvSpPr>
        <p:spPr>
          <a:xfrm>
            <a:off x="7197499" y="2665907"/>
            <a:ext cx="4205068" cy="66040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343803" y="2729915"/>
            <a:ext cx="3912460" cy="600659"/>
          </a:xfrm>
          <a:prstGeom prst="rect">
            <a:avLst/>
          </a:prstGeom>
          <a:noFill/>
        </p:spPr>
        <p:txBody>
          <a:bodyPr wrap="square" anchor="t">
            <a:noAutofit/>
          </a:bodyPr>
          <a:lstStyle/>
          <a:p>
            <a:pPr algn="l"/>
            <a:r>
              <a:rPr sz="1600" b="0" i="0">
                <a:solidFill>
                  <a:srgbClr val="232B37"/>
                </a:solidFill>
                <a:latin typeface="Amazon Ember Display"/>
              </a:rPr>
              <a:t>Complete: Official Practice Exam: AWS</a:t>
            </a:r>
          </a:p>
          <a:p>
            <a:pPr algn="l"/>
            <a:r>
              <a:rPr sz="1600" b="0" i="0">
                <a:solidFill>
                  <a:srgbClr val="232B37"/>
                </a:solidFill>
                <a:latin typeface="Amazon Ember Display"/>
              </a:rPr>
              <a:t>Certified Developer - Associate</a:t>
            </a:r>
          </a:p>
        </p:txBody>
      </p:sp>
      <p:sp>
        <p:nvSpPr>
          <p:cNvPr id="28" name="TextBox 27"/>
          <p:cNvSpPr txBox="1"/>
          <p:nvPr/>
        </p:nvSpPr>
        <p:spPr>
          <a:xfrm>
            <a:off x="612648" y="5758611"/>
            <a:ext cx="10972800" cy="346049"/>
          </a:xfrm>
          <a:prstGeom prst="rect">
            <a:avLst/>
          </a:prstGeom>
          <a:noFill/>
        </p:spPr>
        <p:txBody>
          <a:bodyPr wrap="square" anchor="ctr">
            <a:noAutofit/>
          </a:bodyPr>
          <a:lstStyle/>
          <a:p>
            <a:pPr algn="l"/>
            <a:r>
              <a:rPr sz="1600" b="0" i="0">
                <a:solidFill>
                  <a:srgbClr val="5A6B7B"/>
                </a:solidFill>
                <a:latin typeface="Amazon Ember Display"/>
              </a:rPr>
              <a:t>* Requires an AWS Skill Builder subscription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Q&amp;A time</a:t>
            </a:r>
          </a:p>
        </p:txBody>
      </p:sp>
      <p:sp>
        <p:nvSpPr>
          <p:cNvPr id="3" name="Text Placeholder 2"/>
          <p:cNvSpPr>
            <a:spLocks noGrp="1"/>
          </p:cNvSpPr>
          <p:nvPr>
            <p:ph type="body" sz="quarter" idx="11"/>
          </p:nvPr>
        </p:nvSpPr>
        <p:spPr>
          <a:xfrm>
            <a:off x="322916" y="2434551"/>
            <a:ext cx="3492500" cy="377875"/>
          </a:xfrm>
        </p:spPr>
        <p:txBody>
          <a:bodyPr/>
          <a:lstStyle/>
          <a:p>
            <a:r>
              <a:rPr sz="1800" b="1">
                <a:solidFill>
                  <a:srgbClr val="FF57E9"/>
                </a:solidFill>
                <a:latin typeface="Amazon Ember Display"/>
              </a:rPr>
              <a:t>QUESTIONS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Thank you</a:t>
            </a:r>
          </a:p>
        </p:txBody>
      </p:sp>
      <p:sp>
        <p:nvSpPr>
          <p:cNvPr id="3" name="Text Placeholder 2"/>
          <p:cNvSpPr>
            <a:spLocks noGrp="1"/>
          </p:cNvSpPr>
          <p:nvPr>
            <p:ph type="body" sz="quarter" idx="11"/>
          </p:nvPr>
        </p:nvSpPr>
        <p:spPr>
          <a:xfrm>
            <a:off x="322916" y="2434551"/>
            <a:ext cx="3492500" cy="377875"/>
          </a:xfrm>
        </p:spPr>
        <p:txBody>
          <a:bodyPr/>
          <a:lstStyle/>
          <a:p>
            <a:r>
              <a:rPr sz="1800" b="1">
                <a:solidFill>
                  <a:srgbClr val="FF57E9"/>
                </a:solidFill>
                <a:latin typeface="Amazon Ember Display"/>
              </a:rPr>
              <a:t>SEE YOU NEXT WEEK</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Appendix -- DVA-C02 reference</a:t>
            </a:r>
          </a:p>
        </p:txBody>
      </p:sp>
      <p:sp>
        <p:nvSpPr>
          <p:cNvPr id="3" name="Text Placeholder 2"/>
          <p:cNvSpPr>
            <a:spLocks noGrp="1"/>
          </p:cNvSpPr>
          <p:nvPr>
            <p:ph type="body" sz="quarter" idx="11"/>
          </p:nvPr>
        </p:nvSpPr>
        <p:spPr>
          <a:xfrm>
            <a:off x="322916" y="2434551"/>
            <a:ext cx="3695166" cy="377875"/>
          </a:xfrm>
        </p:spPr>
        <p:txBody>
          <a:bodyPr/>
          <a:lstStyle/>
          <a:p>
            <a:r>
              <a:rPr sz="1800" b="1">
                <a:solidFill>
                  <a:srgbClr val="FF57E9"/>
                </a:solidFill>
                <a:latin typeface="Amazon Ember Display"/>
              </a:rPr>
              <a:t>SELF-STUDY REFERENCE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How C02 and C03 differ for this week</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aws.amazon.com · Certification updates, September 2026</a:t>
            </a:r>
          </a:p>
        </p:txBody>
      </p:sp>
      <p:sp>
        <p:nvSpPr>
          <p:cNvPr id="5" name="Rounded Rectangle 4"/>
          <p:cNvSpPr/>
          <p:nvPr/>
        </p:nvSpPr>
        <p:spPr>
          <a:xfrm>
            <a:off x="61264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441528"/>
          </a:xfrm>
          <a:prstGeom prst="rect">
            <a:avLst/>
          </a:prstGeom>
          <a:noFill/>
        </p:spPr>
        <p:txBody>
          <a:bodyPr wrap="square" anchor="t">
            <a:noAutofit/>
          </a:bodyPr>
          <a:lstStyle/>
          <a:p>
            <a:pPr algn="ctr"/>
            <a:r>
              <a:rPr sz="2200" b="1" i="0">
                <a:solidFill>
                  <a:srgbClr val="8F0072"/>
                </a:solidFill>
                <a:latin typeface="Amazon Ember Display"/>
              </a:rPr>
              <a:t>Domain weightings: C02 to C03</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346049"/>
          </a:xfrm>
          <a:prstGeom prst="rect">
            <a:avLst/>
          </a:prstGeom>
          <a:noFill/>
        </p:spPr>
        <p:txBody>
          <a:bodyPr wrap="square" anchor="t">
            <a:noAutofit/>
          </a:bodyPr>
          <a:lstStyle/>
          <a:p>
            <a:pPr algn="l"/>
            <a:r>
              <a:rPr sz="1600" b="1" i="0">
                <a:solidFill>
                  <a:srgbClr val="232B37"/>
                </a:solidFill>
                <a:latin typeface="Amazon Ember Display"/>
              </a:rPr>
              <a:t>Development 32% to 30%</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346049"/>
          </a:xfrm>
          <a:prstGeom prst="rect">
            <a:avLst/>
          </a:prstGeom>
          <a:noFill/>
        </p:spPr>
        <p:txBody>
          <a:bodyPr wrap="square" anchor="t">
            <a:noAutofit/>
          </a:bodyPr>
          <a:lstStyle/>
          <a:p>
            <a:pPr algn="l"/>
            <a:r>
              <a:rPr sz="1600" b="1" i="0">
                <a:solidFill>
                  <a:srgbClr val="232B37"/>
                </a:solidFill>
                <a:latin typeface="Amazon Ember Display"/>
              </a:rPr>
              <a:t>Security 26%, unchanged</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346049"/>
          </a:xfrm>
          <a:prstGeom prst="rect">
            <a:avLst/>
          </a:prstGeom>
          <a:noFill/>
        </p:spPr>
        <p:txBody>
          <a:bodyPr wrap="square" anchor="t">
            <a:noAutofit/>
          </a:bodyPr>
          <a:lstStyle/>
          <a:p>
            <a:pPr algn="l"/>
            <a:r>
              <a:rPr sz="1600" b="1" i="0">
                <a:solidFill>
                  <a:srgbClr val="232B37"/>
                </a:solidFill>
                <a:latin typeface="Amazon Ember Display"/>
              </a:rPr>
              <a:t>Testing and Deployment 24% to 22%</a:t>
            </a:r>
          </a:p>
        </p:txBody>
      </p:sp>
      <p:sp>
        <p:nvSpPr>
          <p:cNvPr id="14" name="Rounded Rectangle 13"/>
          <p:cNvSpPr/>
          <p:nvPr/>
        </p:nvSpPr>
        <p:spPr>
          <a:xfrm>
            <a:off x="85039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069848" y="4128008"/>
            <a:ext cx="4389119" cy="346049"/>
          </a:xfrm>
          <a:prstGeom prst="rect">
            <a:avLst/>
          </a:prstGeom>
          <a:noFill/>
        </p:spPr>
        <p:txBody>
          <a:bodyPr wrap="square" anchor="t">
            <a:noAutofit/>
          </a:bodyPr>
          <a:lstStyle/>
          <a:p>
            <a:pPr algn="l"/>
            <a:r>
              <a:rPr sz="1600" b="1" i="0">
                <a:solidFill>
                  <a:srgbClr val="232B37"/>
                </a:solidFill>
                <a:latin typeface="Amazon Ember Display"/>
              </a:rPr>
              <a:t>Troubleshooting 18% to 22%</a:t>
            </a:r>
          </a:p>
        </p:txBody>
      </p:sp>
      <p:sp>
        <p:nvSpPr>
          <p:cNvPr id="16" name="Rounded Rectangle 15"/>
          <p:cNvSpPr/>
          <p:nvPr/>
        </p:nvSpPr>
        <p:spPr>
          <a:xfrm>
            <a:off x="628192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519672" y="1554480"/>
            <a:ext cx="4828031" cy="441528"/>
          </a:xfrm>
          <a:prstGeom prst="rect">
            <a:avLst/>
          </a:prstGeom>
          <a:noFill/>
        </p:spPr>
        <p:txBody>
          <a:bodyPr wrap="square" anchor="t">
            <a:noAutofit/>
          </a:bodyPr>
          <a:lstStyle/>
          <a:p>
            <a:pPr algn="ctr"/>
            <a:r>
              <a:rPr sz="2200" b="1" i="0">
                <a:solidFill>
                  <a:srgbClr val="8F0072"/>
                </a:solidFill>
                <a:latin typeface="Amazon Ember Display"/>
              </a:rPr>
              <a:t>Renamed, consolidated, and added</a:t>
            </a:r>
          </a:p>
        </p:txBody>
      </p:sp>
      <p:sp>
        <p:nvSpPr>
          <p:cNvPr id="18" name="Rectangle 17"/>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317496"/>
            <a:ext cx="4389119" cy="346049"/>
          </a:xfrm>
          <a:prstGeom prst="rect">
            <a:avLst/>
          </a:prstGeom>
          <a:noFill/>
        </p:spPr>
        <p:txBody>
          <a:bodyPr wrap="square" anchor="t">
            <a:noAutofit/>
          </a:bodyPr>
          <a:lstStyle/>
          <a:p>
            <a:pPr algn="l"/>
            <a:r>
              <a:rPr sz="1600" b="1" i="0">
                <a:solidFill>
                  <a:srgbClr val="232B37"/>
                </a:solidFill>
                <a:latin typeface="Amazon Ember Display"/>
              </a:rPr>
              <a:t>Renamed to Testing and Deployment</a:t>
            </a:r>
          </a:p>
        </p:txBody>
      </p:sp>
      <p:sp>
        <p:nvSpPr>
          <p:cNvPr id="21" name="Rounded Rectangle 20"/>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2921000"/>
            <a:ext cx="4389119" cy="346049"/>
          </a:xfrm>
          <a:prstGeom prst="rect">
            <a:avLst/>
          </a:prstGeom>
          <a:noFill/>
        </p:spPr>
        <p:txBody>
          <a:bodyPr wrap="square" anchor="t">
            <a:noAutofit/>
          </a:bodyPr>
          <a:lstStyle/>
          <a:p>
            <a:pPr algn="l"/>
            <a:r>
              <a:rPr sz="1600" b="1" i="0">
                <a:solidFill>
                  <a:srgbClr val="232B37"/>
                </a:solidFill>
                <a:latin typeface="Amazon Ember Display"/>
              </a:rPr>
              <a:t>Testing: 11 skills to 5</a:t>
            </a:r>
          </a:p>
        </p:txBody>
      </p:sp>
      <p:sp>
        <p:nvSpPr>
          <p:cNvPr id="23" name="Rounded Rectangle 22"/>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3524504"/>
            <a:ext cx="4389119" cy="346049"/>
          </a:xfrm>
          <a:prstGeom prst="rect">
            <a:avLst/>
          </a:prstGeom>
          <a:noFill/>
        </p:spPr>
        <p:txBody>
          <a:bodyPr wrap="square" anchor="t">
            <a:noAutofit/>
          </a:bodyPr>
          <a:lstStyle/>
          <a:p>
            <a:pPr algn="l"/>
            <a:r>
              <a:rPr sz="1600" b="1" i="0">
                <a:solidFill>
                  <a:srgbClr val="232B37"/>
                </a:solidFill>
                <a:latin typeface="Amazon Ember Display"/>
              </a:rPr>
              <a:t>Container deployment is new at C03</a:t>
            </a:r>
          </a:p>
        </p:txBody>
      </p:sp>
      <p:sp>
        <p:nvSpPr>
          <p:cNvPr id="25" name="Rounded Rectangle 24"/>
          <p:cNvSpPr/>
          <p:nvPr/>
        </p:nvSpPr>
        <p:spPr>
          <a:xfrm>
            <a:off x="651967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739128" y="4128008"/>
            <a:ext cx="4389119" cy="346049"/>
          </a:xfrm>
          <a:prstGeom prst="rect">
            <a:avLst/>
          </a:prstGeom>
          <a:noFill/>
        </p:spPr>
        <p:txBody>
          <a:bodyPr wrap="square" anchor="t">
            <a:noAutofit/>
          </a:bodyPr>
          <a:lstStyle/>
          <a:p>
            <a:pPr algn="l"/>
            <a:r>
              <a:rPr sz="1600" b="1" i="0">
                <a:solidFill>
                  <a:srgbClr val="232B37"/>
                </a:solidFill>
                <a:latin typeface="Amazon Ember Display"/>
              </a:rPr>
              <a:t>Nothing else documented this week</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What a DVA-C02 candidate needs here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DVA-C02 exam guide</a:t>
            </a:r>
          </a:p>
        </p:txBody>
      </p:sp>
      <p:sp>
        <p:nvSpPr>
          <p:cNvPr id="5" name="Rounded Rectangle 4"/>
          <p:cNvSpPr/>
          <p:nvPr/>
        </p:nvSpPr>
        <p:spPr>
          <a:xfrm>
            <a:off x="61264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441528"/>
          </a:xfrm>
          <a:prstGeom prst="rect">
            <a:avLst/>
          </a:prstGeom>
          <a:noFill/>
        </p:spPr>
        <p:txBody>
          <a:bodyPr wrap="square" anchor="t">
            <a:noAutofit/>
          </a:bodyPr>
          <a:lstStyle/>
          <a:p>
            <a:pPr algn="ctr"/>
            <a:r>
              <a:rPr sz="2200" b="1" i="0">
                <a:solidFill>
                  <a:srgbClr val="8F0072"/>
                </a:solidFill>
                <a:latin typeface="Amazon Ember Display"/>
              </a:rPr>
              <a:t>C03 only -- skip for C02</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346049"/>
          </a:xfrm>
          <a:prstGeom prst="rect">
            <a:avLst/>
          </a:prstGeom>
          <a:noFill/>
        </p:spPr>
        <p:txBody>
          <a:bodyPr wrap="square" anchor="t">
            <a:noAutofit/>
          </a:bodyPr>
          <a:lstStyle/>
          <a:p>
            <a:pPr algn="l"/>
            <a:r>
              <a:rPr sz="1600" b="1" i="0">
                <a:solidFill>
                  <a:srgbClr val="232B37"/>
                </a:solidFill>
                <a:latin typeface="Amazon Ember Display"/>
              </a:rPr>
              <a:t>Domain 3  AI tools to generate tests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346049"/>
          </a:xfrm>
          <a:prstGeom prst="rect">
            <a:avLst/>
          </a:prstGeom>
          <a:noFill/>
        </p:spPr>
        <p:txBody>
          <a:bodyPr wrap="square" anchor="t">
            <a:noAutofit/>
          </a:bodyPr>
          <a:lstStyle/>
          <a:p>
            <a:pPr algn="l"/>
            <a:r>
              <a:rPr sz="1600" b="1" i="0">
                <a:solidFill>
                  <a:srgbClr val="232B37"/>
                </a:solidFill>
                <a:latin typeface="Amazon Ember Display"/>
              </a:rPr>
              <a:t>New at C03  container deployment</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346049"/>
          </a:xfrm>
          <a:prstGeom prst="rect">
            <a:avLst/>
          </a:prstGeom>
          <a:noFill/>
        </p:spPr>
        <p:txBody>
          <a:bodyPr wrap="square" anchor="t">
            <a:noAutofit/>
          </a:bodyPr>
          <a:lstStyle/>
          <a:p>
            <a:pPr algn="l"/>
            <a:r>
              <a:rPr sz="1600" b="1" i="0">
                <a:solidFill>
                  <a:srgbClr val="232B37"/>
                </a:solidFill>
                <a:latin typeface="Amazon Ember Display"/>
              </a:rPr>
              <a:t>Domain 3  AI tools to support CI/CD</a:t>
            </a:r>
          </a:p>
        </p:txBody>
      </p:sp>
      <p:sp>
        <p:nvSpPr>
          <p:cNvPr id="14" name="Rounded Rectangle 13"/>
          <p:cNvSpPr/>
          <p:nvPr/>
        </p:nvSpPr>
        <p:spPr>
          <a:xfrm>
            <a:off x="628192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441528"/>
          </a:xfrm>
          <a:prstGeom prst="rect">
            <a:avLst/>
          </a:prstGeom>
          <a:noFill/>
        </p:spPr>
        <p:txBody>
          <a:bodyPr wrap="square" anchor="t">
            <a:noAutofit/>
          </a:bodyPr>
          <a:lstStyle/>
          <a:p>
            <a:pPr algn="ctr"/>
            <a:r>
              <a:rPr sz="2200" b="1" i="0">
                <a:solidFill>
                  <a:srgbClr val="8F0072"/>
                </a:solidFill>
                <a:latin typeface="Amazon Ember Display"/>
              </a:rPr>
              <a:t>Serves both exams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346049"/>
          </a:xfrm>
          <a:prstGeom prst="rect">
            <a:avLst/>
          </a:prstGeom>
          <a:noFill/>
        </p:spPr>
        <p:txBody>
          <a:bodyPr wrap="square" anchor="t">
            <a:noAutofit/>
          </a:bodyPr>
          <a:lstStyle/>
          <a:p>
            <a:pPr algn="l"/>
            <a:r>
              <a:rPr sz="1600" b="1" i="0">
                <a:solidFill>
                  <a:srgbClr val="232B37"/>
                </a:solidFill>
                <a:latin typeface="Amazon Ember Display"/>
              </a:rPr>
              <a:t>CodePipeline, CodeDeploy, Beanstalk</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346049"/>
          </a:xfrm>
          <a:prstGeom prst="rect">
            <a:avLst/>
          </a:prstGeom>
          <a:noFill/>
        </p:spPr>
        <p:txBody>
          <a:bodyPr wrap="square" anchor="t">
            <a:noAutofit/>
          </a:bodyPr>
          <a:lstStyle/>
          <a:p>
            <a:pPr algn="l"/>
            <a:r>
              <a:rPr sz="1600" b="1" i="0">
                <a:solidFill>
                  <a:srgbClr val="232B37"/>
                </a:solidFill>
                <a:latin typeface="Amazon Ember Display"/>
              </a:rPr>
              <a:t>CloudFormation, CDK, and SAM templates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346049"/>
          </a:xfrm>
          <a:prstGeom prst="rect">
            <a:avLst/>
          </a:prstGeom>
          <a:noFill/>
        </p:spPr>
        <p:txBody>
          <a:bodyPr wrap="square" anchor="t">
            <a:noAutofit/>
          </a:bodyPr>
          <a:lstStyle/>
          <a:p>
            <a:pPr algn="l"/>
            <a:r>
              <a:rPr sz="1600" b="1" i="0">
                <a:solidFill>
                  <a:srgbClr val="232B37"/>
                </a:solidFill>
                <a:latin typeface="Amazon Ember Display"/>
              </a:rPr>
              <a:t>Deployment strategies and AppConfig</a:t>
            </a:r>
          </a:p>
        </p:txBody>
      </p:sp>
      <p:sp>
        <p:nvSpPr>
          <p:cNvPr id="23" name="Rounded Rectangle 22"/>
          <p:cNvSpPr/>
          <p:nvPr/>
        </p:nvSpPr>
        <p:spPr>
          <a:xfrm>
            <a:off x="651967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4128008"/>
            <a:ext cx="4389119" cy="346049"/>
          </a:xfrm>
          <a:prstGeom prst="rect">
            <a:avLst/>
          </a:prstGeom>
          <a:noFill/>
        </p:spPr>
        <p:txBody>
          <a:bodyPr wrap="square" anchor="t">
            <a:noAutofit/>
          </a:bodyPr>
          <a:lstStyle/>
          <a:p>
            <a:pPr algn="l"/>
            <a:r>
              <a:rPr sz="1600" b="1" i="0">
                <a:solidFill>
                  <a:srgbClr val="232B37"/>
                </a:solidFill>
                <a:latin typeface="Amazon Ember Display"/>
              </a:rPr>
              <a:t>ECR and container image tags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TrainingLive">
      <a:dk1>
        <a:srgbClr val="232F3D"/>
      </a:dk1>
      <a:lt1>
        <a:srgbClr val="FFFFFF"/>
      </a:lt1>
      <a:dk2>
        <a:srgbClr val="232F3D"/>
      </a:dk2>
      <a:lt2>
        <a:srgbClr val="FFFFFF"/>
      </a:lt2>
      <a:accent1>
        <a:srgbClr val="FF9400"/>
      </a:accent1>
      <a:accent2>
        <a:srgbClr val="7F52F0"/>
      </a:accent2>
      <a:accent3>
        <a:srgbClr val="216FD8"/>
      </a:accent3>
      <a:accent4>
        <a:srgbClr val="FFCBBE"/>
      </a:accent4>
      <a:accent5>
        <a:srgbClr val="FBD9BD"/>
      </a:accent5>
      <a:accent6>
        <a:srgbClr val="D5FCE4"/>
      </a:accent6>
      <a:hlink>
        <a:srgbClr val="0563C1"/>
      </a:hlink>
      <a:folHlink>
        <a:srgbClr val="FE99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T&amp;C Default 2020 Template_Light</Template>
  <TotalTime>18198</TotalTime>
  <Words>24049</Words>
  <Application>Microsoft Office PowerPoint</Application>
  <PresentationFormat>Widescreen</PresentationFormat>
  <Paragraphs>1677</Paragraphs>
  <Slides>72</Slides>
  <Notes>72</Notes>
  <HiddenSlides>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72</vt:i4>
      </vt:variant>
    </vt:vector>
  </HeadingPairs>
  <TitlesOfParts>
    <vt:vector size="82" baseType="lpstr">
      <vt:lpstr>Amazon Ember</vt:lpstr>
      <vt:lpstr>Amazon Ember Display</vt:lpstr>
      <vt:lpstr>Amazon Ember Display Heavy</vt:lpstr>
      <vt:lpstr>Amazon Ember Mono</vt:lpstr>
      <vt:lpstr>Amazon Ember Thin</vt:lpstr>
      <vt:lpstr>Arial</vt:lpstr>
      <vt:lpstr>Calibri</vt:lpstr>
      <vt:lpstr>Consolas</vt:lpstr>
      <vt:lpstr>Menlo</vt:lpstr>
      <vt:lpstr>Office Theme</vt:lpstr>
      <vt:lpstr>PowerPoint Presentation</vt:lpstr>
      <vt:lpstr>PowerPoint Presentation</vt:lpstr>
      <vt:lpstr>Content Review — Session 4</vt:lpstr>
      <vt:lpstr>Event check-in</vt:lpstr>
      <vt:lpstr>Week 4 digital training</vt:lpstr>
      <vt:lpstr>Today's focus: Testing and Deployment</vt:lpstr>
      <vt:lpstr>Your five weeks at a glance</vt:lpstr>
      <vt:lpstr>A pipeline promotes a build through environments</vt:lpstr>
      <vt:lpstr>Keep the database outside a Beanstalk environment</vt:lpstr>
      <vt:lpstr>CodeDeploy deploys to a deployment group</vt:lpstr>
      <vt:lpstr>Four ways to ship a change, ordered by blast radius</vt:lpstr>
      <vt:lpstr>Blue/green swaps environments; canary splits traffic</vt:lpstr>
      <vt:lpstr>A canary holds a split; linear keeps moving</vt:lpstr>
      <vt:lpstr>The circuit breaker reverts a failed deployment</vt:lpstr>
      <vt:lpstr>Build, push, and tag an image, then pull to run</vt:lpstr>
      <vt:lpstr>One template makes a stack; split stacks by layer</vt:lpstr>
      <vt:lpstr>A change set previews changes before you execute</vt:lpstr>
      <vt:lpstr>Run a task definition as tasks behind an ALB</vt:lpstr>
      <vt:lpstr>Declaring a queue in a CloudFormation template</vt:lpstr>
      <vt:lpstr>Declaring the same queue in a CDK stack</vt:lpstr>
      <vt:lpstr>Declaring a function in a SAM template</vt:lpstr>
      <vt:lpstr>Configuration belongs outside the package</vt:lpstr>
      <vt:lpstr>Parameter Store holds it; Secrets Manager rotates it</vt:lpstr>
      <vt:lpstr>A test event is a JSON payload you replay</vt:lpstr>
      <vt:lpstr>An alias is a pointer, so traffic moves with no deploy</vt:lpstr>
      <vt:lpstr>Package a function three ways; a layer is shared</vt:lpstr>
      <vt:lpstr>A hook fires on an event, not when you remember</vt:lpstr>
      <vt:lpstr>Headless mode makes the agent a build step</vt:lpstr>
      <vt:lpstr>Which deployment service does the wording name?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Put the deployment tools to work</vt:lpstr>
      <vt:lpstr>Question 16: keeping a registry from growing forever</vt:lpstr>
      <vt:lpstr>Question 16: keeping a registry from growing forever</vt:lpstr>
      <vt:lpstr>Question 16: keeping a registry from growing forever</vt:lpstr>
      <vt:lpstr>Question 16: keeping a registry from growing forever</vt:lpstr>
      <vt:lpstr>Question 17: a rolling update that must not drop capacity</vt:lpstr>
      <vt:lpstr>Question 17: a rolling update that must not drop capacity</vt:lpstr>
      <vt:lpstr>Question 17: a rolling update that must not drop capacity</vt:lpstr>
      <vt:lpstr>Question 17: a rolling update that must not drop capacity</vt:lpstr>
      <vt:lpstr>Question 18: where a manual approval belongs</vt:lpstr>
      <vt:lpstr>Question 18: where a manual approval belongs</vt:lpstr>
      <vt:lpstr>Question 18: where a manual approval belongs</vt:lpstr>
      <vt:lpstr>Question 18: where a manual approval belongs</vt:lpstr>
      <vt:lpstr>Question 19: what a SAM deployment actually creates</vt:lpstr>
      <vt:lpstr>Question 19: what a SAM deployment actually creates</vt:lpstr>
      <vt:lpstr>Question 19: what a SAM deployment actually creates</vt:lpstr>
      <vt:lpstr>Question 19: what a SAM deployment actually creates</vt:lpstr>
      <vt:lpstr>Question 20: shifting traffic to a new function version</vt:lpstr>
      <vt:lpstr>Question 20: shifting traffic to a new function version</vt:lpstr>
      <vt:lpstr>Question 20: shifting traffic to a new function version</vt:lpstr>
      <vt:lpstr>Question 20: shifting traffic to a new function version</vt:lpstr>
      <vt:lpstr>Question 27: tests that a large team keeps skipping</vt:lpstr>
      <vt:lpstr>Question 27: tests that a large team keeps skipping</vt:lpstr>
      <vt:lpstr>Question 27: tests that a large team keeps skipping</vt:lpstr>
      <vt:lpstr>Question 27: tests that a large team keeps skipping</vt:lpstr>
      <vt:lpstr>Question 28: promoting one build from test to production</vt:lpstr>
      <vt:lpstr>Question 28: promoting one build from test to production</vt:lpstr>
      <vt:lpstr>Question 28: promoting one build from test to production</vt:lpstr>
      <vt:lpstr>Question 28: promoting one build from test to production</vt:lpstr>
      <vt:lpstr>Coming up: Week 5 digital training</vt:lpstr>
      <vt:lpstr>Q&amp;A time</vt:lpstr>
      <vt:lpstr>Thank you</vt:lpstr>
      <vt:lpstr>Appendix -- DVA-C02 reference</vt:lpstr>
      <vt:lpstr>How C02 and C03 differ for this week</vt:lpstr>
      <vt:lpstr>What a DVA-C02 candidate needs here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helcreig@amazon.com</dc:creator>
  <cp:lastModifiedBy>Smith, Brady</cp:lastModifiedBy>
  <cp:revision>338</cp:revision>
  <dcterms:created xsi:type="dcterms:W3CDTF">2021-08-17T14:22:37Z</dcterms:created>
  <dcterms:modified xsi:type="dcterms:W3CDTF">2026-09-09T04:27:39Z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2025-06-19T23:02:47Z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26410b14-cc75-4b03-bc75-b591f4ea6db2</vt:lpwstr>
  </property>
  <property fmtid="{D5CDD505-2E9C-101B-9397-08002B2CF9AE}" pid="8" name="MSIP_Label_929eed6f-34eb-4453-9f97-09510b9b219f_ContentBits">
    <vt:lpwstr>0</vt:lpwstr>
  </property>
  <property fmtid="{D5CDD505-2E9C-101B-9397-08002B2CF9AE}" pid="9" name="MSIP_Label_929eed6f-34eb-4453-9f97-09510b9b219f_Tag">
    <vt:lpwstr>10, 3, 0, 1</vt:lpwstr>
  </property>
</Properties>
</file>