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01" r:id="rId39"/>
    <p:sldId id="293" r:id="rId40"/>
    <p:sldId id="294" r:id="rId41"/>
    <p:sldId id="295" r:id="rId42"/>
    <p:sldId id="296" r:id="rId43"/>
    <p:sldId id="297" r:id="rId44"/>
    <p:sldId id="298" r:id="rId45"/>
    <p:sldId id="302" r:id="rId46"/>
    <p:sldId id="299" r:id="rId47"/>
    <p:sldId id="300"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sldSz cx="12192000" cy="6858000"/>
  <p:notesSz cx="6858000" cy="9144000"/>
  <p:defaultTextStyle>
    <a:defPPr>
      <a:defRPr lang="en-US"/>
    </a:defPPr>
    <a:lvl1pPr marL="0" algn="l" defTabSz="1097212" rtl="0" eaLnBrk="1" latinLnBrk="0" hangingPunct="1">
      <a:defRPr sz="2118" kern="1200">
        <a:solidFill>
          <a:schemeClr val="tx1"/>
        </a:solidFill>
        <a:latin typeface="+mn-lt"/>
        <a:ea typeface="+mn-ea"/>
        <a:cs typeface="+mn-cs"/>
      </a:defRPr>
    </a:lvl1pPr>
    <a:lvl2pPr marL="548606" algn="l" defTabSz="1097212" rtl="0" eaLnBrk="1" latinLnBrk="0" hangingPunct="1">
      <a:defRPr sz="2118" kern="1200">
        <a:solidFill>
          <a:schemeClr val="tx1"/>
        </a:solidFill>
        <a:latin typeface="+mn-lt"/>
        <a:ea typeface="+mn-ea"/>
        <a:cs typeface="+mn-cs"/>
      </a:defRPr>
    </a:lvl2pPr>
    <a:lvl3pPr marL="1097212" algn="l" defTabSz="1097212" rtl="0" eaLnBrk="1" latinLnBrk="0" hangingPunct="1">
      <a:defRPr sz="2118" kern="1200">
        <a:solidFill>
          <a:schemeClr val="tx1"/>
        </a:solidFill>
        <a:latin typeface="+mn-lt"/>
        <a:ea typeface="+mn-ea"/>
        <a:cs typeface="+mn-cs"/>
      </a:defRPr>
    </a:lvl3pPr>
    <a:lvl4pPr marL="1645818" algn="l" defTabSz="1097212" rtl="0" eaLnBrk="1" latinLnBrk="0" hangingPunct="1">
      <a:defRPr sz="2118" kern="1200">
        <a:solidFill>
          <a:schemeClr val="tx1"/>
        </a:solidFill>
        <a:latin typeface="+mn-lt"/>
        <a:ea typeface="+mn-ea"/>
        <a:cs typeface="+mn-cs"/>
      </a:defRPr>
    </a:lvl4pPr>
    <a:lvl5pPr marL="2194424" algn="l" defTabSz="1097212" rtl="0" eaLnBrk="1" latinLnBrk="0" hangingPunct="1">
      <a:defRPr sz="2118" kern="1200">
        <a:solidFill>
          <a:schemeClr val="tx1"/>
        </a:solidFill>
        <a:latin typeface="+mn-lt"/>
        <a:ea typeface="+mn-ea"/>
        <a:cs typeface="+mn-cs"/>
      </a:defRPr>
    </a:lvl5pPr>
    <a:lvl6pPr marL="2743031" algn="l" defTabSz="1097212" rtl="0" eaLnBrk="1" latinLnBrk="0" hangingPunct="1">
      <a:defRPr sz="2118" kern="1200">
        <a:solidFill>
          <a:schemeClr val="tx1"/>
        </a:solidFill>
        <a:latin typeface="+mn-lt"/>
        <a:ea typeface="+mn-ea"/>
        <a:cs typeface="+mn-cs"/>
      </a:defRPr>
    </a:lvl6pPr>
    <a:lvl7pPr marL="3291635" algn="l" defTabSz="1097212" rtl="0" eaLnBrk="1" latinLnBrk="0" hangingPunct="1">
      <a:defRPr sz="2118" kern="1200">
        <a:solidFill>
          <a:schemeClr val="tx1"/>
        </a:solidFill>
        <a:latin typeface="+mn-lt"/>
        <a:ea typeface="+mn-ea"/>
        <a:cs typeface="+mn-cs"/>
      </a:defRPr>
    </a:lvl7pPr>
    <a:lvl8pPr marL="3840241" algn="l" defTabSz="1097212" rtl="0" eaLnBrk="1" latinLnBrk="0" hangingPunct="1">
      <a:defRPr sz="2118" kern="1200">
        <a:solidFill>
          <a:schemeClr val="tx1"/>
        </a:solidFill>
        <a:latin typeface="+mn-lt"/>
        <a:ea typeface="+mn-ea"/>
        <a:cs typeface="+mn-cs"/>
      </a:defRPr>
    </a:lvl8pPr>
    <a:lvl9pPr marL="4388848" algn="l" defTabSz="1097212" rtl="0" eaLnBrk="1" latinLnBrk="0" hangingPunct="1">
      <a:defRPr sz="211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67137" autoAdjust="0"/>
  </p:normalViewPr>
  <p:slideViewPr>
    <p:cSldViewPr snapToGrid="0" snapToObjects="1">
      <p:cViewPr varScale="1">
        <p:scale>
          <a:sx n="50" d="100"/>
          <a:sy n="50" d="100"/>
        </p:scale>
        <p:origin x="128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 Id="rId8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Brady" userId="e76634a4-7138-4bc5-b76d-07c789b36324" providerId="ADAL" clId="{9E9136EE-B768-4B6D-95DA-B300D70FE1B5}"/>
    <pc:docChg chg="modSld">
      <pc:chgData name="Smith, Brady" userId="e76634a4-7138-4bc5-b76d-07c789b36324" providerId="ADAL" clId="{9E9136EE-B768-4B6D-95DA-B300D70FE1B5}" dt="2026-09-09T04:19:05.189" v="0" actId="207"/>
      <pc:docMkLst>
        <pc:docMk/>
      </pc:docMkLst>
      <pc:sldChg chg="modSp mod">
        <pc:chgData name="Smith, Brady" userId="e76634a4-7138-4bc5-b76d-07c789b36324" providerId="ADAL" clId="{9E9136EE-B768-4B6D-95DA-B300D70FE1B5}" dt="2026-09-09T04:19:05.189" v="0" actId="207"/>
        <pc:sldMkLst>
          <pc:docMk/>
          <pc:sldMk cId="0" sldId="257"/>
        </pc:sldMkLst>
        <pc:spChg chg="mod">
          <ac:chgData name="Smith, Brady" userId="e76634a4-7138-4bc5-b76d-07c789b36324" providerId="ADAL" clId="{9E9136EE-B768-4B6D-95DA-B300D70FE1B5}" dt="2026-09-09T04:19:05.189" v="0" actId="207"/>
          <ac:spMkLst>
            <pc:docMk/>
            <pc:sldMk cId="0" sldId="25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C9830B-90A4-EA47-B8ED-2BCF3026A73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DA6E1F-B7C3-CB4A-8789-7F0039C49383}" type="slidenum">
              <a:rPr lang="en-US" smtClean="0"/>
              <a:t>‹#›</a:t>
            </a:fld>
            <a:endParaRPr lang="en-US"/>
          </a:p>
        </p:txBody>
      </p:sp>
    </p:spTree>
    <p:extLst>
      <p:ext uri="{BB962C8B-B14F-4D97-AF65-F5344CB8AC3E}">
        <p14:creationId xmlns:p14="http://schemas.microsoft.com/office/powerpoint/2010/main" val="350957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This slide is hidden on purpose. Confirm it stays hidden, or delete it, before you export a PDF or share the deck with a partner.</a:t>
            </a:r>
          </a:p>
          <a:p>
            <a:endParaRPr/>
          </a:p>
          <a:p>
            <a:pPr>
              <a:spcAft>
                <a:spcPts val="600"/>
              </a:spcAft>
            </a:pPr>
            <a:r>
              <a:t>The content is APCR-team owned and is licensed only for delivery inside an authorized event. If a partner asks for the deck, point them to the official event materials rather than forwarding this file.</a:t>
            </a:r>
          </a:p>
          <a:p>
            <a:endParaRPr/>
          </a:p>
          <a:p>
            <a:pPr>
              <a:spcAft>
                <a:spcPts val="600"/>
              </a:spcAft>
            </a:pPr>
            <a:r>
              <a:t>Nothing here is presented to the room. Advance straight past it into the title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WHY THESE SLIDES EXIST: two Customer Case slides ground the session in real customers with real problems. They are NOT promotional. Each works backwards from the customer's challenge, which is why the title is the problem and not the result.</a:t>
            </a:r>
          </a:p>
          <a:p>
            <a:endParaRPr/>
          </a:p>
          <a:p>
            <a:pPr>
              <a:spcAft>
                <a:spcPts val="600"/>
              </a:spcAft>
            </a:pPr>
            <a:r>
              <a:t>YOU MAY: name the customer exactly as AWS's published page names it; state any figure that appears on that page; describe the services the page names; and point people at the SOURCE link on the slide. Everything on these slides is verified word for word against the published case study.</a:t>
            </a:r>
          </a:p>
          <a:p>
            <a:endParaRPr/>
          </a:p>
          <a:p>
            <a:pPr>
              <a:spcAft>
                <a:spcPts val="600"/>
              </a:spcAft>
            </a:pPr>
            <a:r>
              <a:t>YOU MAY NOT: add a figure, a service, or an architectural detail that is not on the page. Do not infer how the customer built something. Do not say or imply that an attendee's own customer will get the same result. Do not present these as your own work, and do not use customer logos.</a:t>
            </a:r>
          </a:p>
          <a:p>
            <a:endParaRPr/>
          </a:p>
          <a:p>
            <a:pPr>
              <a:spcAft>
                <a:spcPts val="600"/>
              </a:spcAft>
            </a:pPr>
            <a:r>
              <a:t>WHY THE RULES ARE THIS TIGHT: a published case study has already been through the customer's own legal and marketing approval, and that approval covers presentations. Anything added on top of it has been approved by nobody, so an added detail is the one thing that turns an approved reference into a problem.</a:t>
            </a:r>
          </a:p>
          <a:p>
            <a:endParaRPr/>
          </a:p>
          <a:p>
            <a:pPr>
              <a:spcAft>
                <a:spcPts val="600"/>
              </a:spcAft>
            </a:pPr>
            <a:r>
              <a:t>IF A LINK IS DEAD, DROP THE SLIDE. Customer consent can be withdrawn, and AWS then removes the page. A case-study URL that stops working may mean permission lapsed rather than a broken link, so do not present it from a cached copy or an older deck. Tell the APCR team instead.</a:t>
            </a:r>
          </a:p>
          <a:p>
            <a:endParaRPr/>
          </a:p>
          <a:p>
            <a:pPr>
              <a:spcAft>
                <a:spcPts val="600"/>
              </a:spcAft>
            </a:pPr>
            <a:r>
              <a:t>ON SPEAKING FOR AWS: present these as AWS's published customer stories, not as an AWS position you are announcing and not as your own findings. If someone asks a question the page does not answer, the honest answer is that the case study does not say, and you can follow up.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FACILITATOR: The opening slide for the second content-review session. Welcome the room back</a:t>
            </a:r>
            <a:r>
              <a:rPr lang="en-US" dirty="0"/>
              <a:t> </a:t>
            </a:r>
            <a:r>
              <a:rPr dirty="0"/>
              <a:t>and set the frame: this week goes deeper into developing with core AWS services </a:t>
            </a:r>
            <a:r>
              <a:rPr lang="en-US" dirty="0"/>
              <a:t>–</a:t>
            </a:r>
            <a:r>
              <a:rPr dirty="0"/>
              <a:t> compute, databases, and the messaging that ties them together.</a:t>
            </a:r>
          </a:p>
          <a:p>
            <a:endParaRPr dirty="0"/>
          </a:p>
          <a:p>
            <a:pPr>
              <a:spcAft>
                <a:spcPts val="600"/>
              </a:spcAft>
            </a:pPr>
            <a:r>
              <a:rPr dirty="0"/>
              <a:t>Say what the next two hours look like </a:t>
            </a:r>
            <a:r>
              <a:rPr lang="en-US" dirty="0"/>
              <a:t>--</a:t>
            </a:r>
            <a:r>
              <a:rPr dirty="0"/>
              <a:t> roughly half is a fast re-grounding in the week-two services, and half is exam-strategy practice on live questions.</a:t>
            </a:r>
          </a:p>
          <a:p>
            <a:endParaRPr dirty="0"/>
          </a:p>
          <a:p>
            <a:pPr>
              <a:spcAft>
                <a:spcPts val="600"/>
              </a:spcAft>
            </a:pPr>
            <a:r>
              <a:rPr dirty="0"/>
              <a:t>Keep this short. Everyone here already holds Cloud Practitioner and has a week of study behind them; pitch it as a working session, not a lecture.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FACILITATOR: A quick pulse check before the content starts. Ask how week one landed </a:t>
            </a:r>
            <a:r>
              <a:rPr lang="en-US" dirty="0"/>
              <a:t>--</a:t>
            </a:r>
            <a:r>
              <a:rPr dirty="0"/>
              <a:t> who finished the digital training, who feels behind, and what got in the way.</a:t>
            </a:r>
          </a:p>
          <a:p>
            <a:endParaRPr dirty="0"/>
          </a:p>
          <a:p>
            <a:pPr>
              <a:spcAft>
                <a:spcPts val="600"/>
              </a:spcAft>
            </a:pPr>
            <a:r>
              <a:rPr dirty="0"/>
              <a:t>Some people will have fallen behind, and that is normal. Be encouraging and share a little of your own study experience so the room relaxes and talks.</a:t>
            </a:r>
          </a:p>
          <a:p>
            <a:endParaRPr dirty="0"/>
          </a:p>
          <a:p>
            <a:pPr>
              <a:spcAft>
                <a:spcPts val="600"/>
              </a:spcAft>
            </a:pPr>
            <a:r>
              <a:rPr dirty="0"/>
              <a:t>Keep it to two or three minutes, then move into the week-two curriculum.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This week's training checklist. The left card is the free Learning Plan; the right card is the optional Exam Prep Plan a subscriber can add.</a:t>
            </a:r>
          </a:p>
          <a:p>
            <a:endParaRPr dirty="0"/>
          </a:p>
          <a:p>
            <a:pPr>
              <a:spcAft>
                <a:spcPts val="600"/>
              </a:spcAft>
            </a:pPr>
            <a:r>
              <a:rPr dirty="0"/>
              <a:t>FACILITATOR: Use this as a check-in. Ask how people are doing with the material and relate it to your own experience studying for the exam -- which modules stood out, what your key takeaways were. Week two shifts toward databases and the serverless mindset, which builds directly on week one's compute and networking foundations.</a:t>
            </a:r>
          </a:p>
          <a:p>
            <a:endParaRPr dirty="0"/>
          </a:p>
          <a:p>
            <a:pPr>
              <a:spcAft>
                <a:spcPts val="600"/>
              </a:spcAft>
            </a:pPr>
            <a:r>
              <a:rPr dirty="0"/>
              <a:t>The Exam Prep Plan is the subscription-based, cert-aligned companion plan. Remind the room of the value of Cloud Quest -- the lab practice in particular -- and check whether anyone has tried the labs yet.</a:t>
            </a:r>
          </a:p>
          <a:p>
            <a:endParaRPr dirty="0"/>
          </a:p>
          <a:p>
            <a:pPr>
              <a:spcAft>
                <a:spcPts val="600"/>
              </a:spcAft>
            </a:pPr>
            <a:r>
              <a:rPr dirty="0"/>
              <a:t>Note: the item names beginning "Domain 2" are the actual Exam Prep Plan module names in Skill Builder, so learners can find them; they are navigation, not exam-coverage claims. Keep any talk of exam weighting out of this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 comparison of what the free Skill Builder tier includes against what an individual subscription adds. The subscription is optional and is not required to take part in this event.</a:t>
            </a:r>
          </a:p>
          <a:p>
            <a:endParaRPr dirty="0"/>
          </a:p>
          <a:p>
            <a:pPr>
              <a:spcAft>
                <a:spcPts val="600"/>
              </a:spcAft>
            </a:pPr>
            <a:r>
              <a:rPr dirty="0"/>
              <a:t>FACILITATOR: Frame the subscription around the labs and practice exams -- the hands-on practice and official practice questions are what most people find worth it when preparing for an Associate exam. Point the room at the Developer Associate Exam Prep Plan they can access during the event</a:t>
            </a:r>
            <a:r>
              <a:rPr lang="en-US" dirty="0"/>
              <a:t> </a:t>
            </a:r>
            <a:r>
              <a:rPr dirty="0"/>
              <a:t>and recommend Cloud Quest for extra lab work.</a:t>
            </a:r>
          </a:p>
          <a:p>
            <a:endParaRPr dirty="0"/>
          </a:p>
          <a:p>
            <a:pPr>
              <a:spcAft>
                <a:spcPts val="600"/>
              </a:spcAft>
            </a:pPr>
            <a:r>
              <a:rPr dirty="0"/>
              <a:t>Verify before delivery: the feature counts and the $29 per month / $449 per year pricing are carried from the source logistics slide and can change. The Skill Builder pricing page does not render for automated checking, so confirm the current numbers on </a:t>
            </a:r>
            <a:r>
              <a:rPr dirty="0" err="1"/>
              <a:t>skillbuilder.aws</a:t>
            </a:r>
            <a:r>
              <a:rPr dirty="0"/>
              <a:t> before you state them to the room</a:t>
            </a:r>
            <a:r>
              <a:rPr lang="en-US" dirty="0"/>
              <a:t> </a:t>
            </a:r>
            <a:r>
              <a:rPr dirty="0"/>
              <a:t>and speak to the free tier if you are unsure.</a:t>
            </a:r>
          </a:p>
          <a:p>
            <a:endParaRPr dirty="0"/>
          </a:p>
          <a:p>
            <a:pPr>
              <a:spcAft>
                <a:spcPts val="600"/>
              </a:spcAft>
            </a:pPr>
            <a:r>
              <a:rPr dirty="0"/>
              <a:t>The free tier already covers a great deal, so nobody should feel they must pay to succeed here.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The services this session works through, grouped by the role they play. Compute is Lambda; the data tier is DynamoDB and RDS; API Gateway fronts the requests; and the application-integration set -- SNS, SQS, and Step Functions -- is how the pieces are decoupled and coordinated.</a:t>
            </a:r>
          </a:p>
          <a:p>
            <a:endParaRPr dirty="0"/>
          </a:p>
          <a:p>
            <a:pPr>
              <a:spcAft>
                <a:spcPts val="600"/>
              </a:spcAft>
            </a:pPr>
            <a:r>
              <a:rPr dirty="0"/>
              <a:t>FACILITATOR: Use this as a one-slide map of the session. Point out that most of the time goes on the development block -- API Gateway, Lambda, DynamoDB, and Step Functions -- with a shorter database-offerings segment and a decoupling-and-messaging segment after it.</a:t>
            </a:r>
          </a:p>
          <a:p>
            <a:endParaRPr dirty="0"/>
          </a:p>
          <a:p>
            <a:pPr>
              <a:spcAft>
                <a:spcPts val="600"/>
              </a:spcAft>
            </a:pPr>
            <a:r>
              <a:rPr dirty="0"/>
              <a:t>Set the expectation that everyone here has seen these services at Cloud Practitioner depth; the job today is to go one level deeper into how a developer actually builds with them and where the exam tends to probe.</a:t>
            </a:r>
          </a:p>
          <a:p>
            <a:endParaRPr dirty="0"/>
          </a:p>
          <a:p>
            <a:pPr>
              <a:spcAft>
                <a:spcPts val="600"/>
              </a:spcAft>
            </a:pPr>
            <a:r>
              <a:rPr dirty="0"/>
              <a:t>Then move into the first section,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map of the whole five-week event, one row per week, with this week highlighted. Use it near the top of the session so the room can see where week 2 sits in the arc and what is still to come.</a:t>
            </a:r>
          </a:p>
          <a:p>
            <a:endParaRPr/>
          </a:p>
          <a:p>
            <a:pPr>
              <a:spcAft>
                <a:spcPts val="600"/>
              </a:spcAft>
            </a:pPr>
            <a:r>
              <a:t>FACILITATOR: Point at the highlighted row. Week 2 is the developing-with-core-services week -- API Gateway, Lambda, DynamoDB, Step Functions, and the messaging services that decouple them, plus the AI services added this cycle, Amazon Bedrock and Kiro. Note how it builds on week 1's compute and networking foundations and sets up the deployment and security weeks that follow.</a:t>
            </a:r>
          </a:p>
          <a:p>
            <a:endParaRPr/>
          </a:p>
          <a:p>
            <a:pPr>
              <a:spcAft>
                <a:spcPts val="600"/>
              </a:spcAft>
            </a:pPr>
            <a:r>
              <a:t>Keep it brief -- this is orientation, not content. The same map appears in every session with the current week moving, so returning attendees will recognize it at a glance. Then move into today's focus.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The section opener. Put the question to the room and take a couple of answers before moving on. This audience already holds Cloud Practitioner, so treat the next slides as a fast re-grounding in how a developer actually builds -- not a first lecture. The block ahead is the largest of the session: API Gateway and Lambda first, then DynamoDB, then Step Functions.</a:t>
            </a:r>
          </a:p>
          <a:p>
            <a:endParaRPr dirty="0"/>
          </a:p>
          <a:p>
            <a:pPr>
              <a:spcAft>
                <a:spcPts val="600"/>
              </a:spcAft>
            </a:pPr>
            <a:r>
              <a:rPr dirty="0"/>
              <a:t>EXAM RELEVANCE: Development with AWS services is the largest domain on this exam. The services in this section are the ones most answers are built on -- how requests arrive, where the code runs, and how the pieces are wired together.</a:t>
            </a:r>
          </a:p>
          <a:p>
            <a:endParaRPr dirty="0"/>
          </a:p>
          <a:p>
            <a:pPr>
              <a:spcAft>
                <a:spcPts val="600"/>
              </a:spcAft>
            </a:pPr>
            <a:r>
              <a:rPr dirty="0"/>
              <a:t>PARTNER CONTEXT: When a customer asks a </a:t>
            </a:r>
            <a:r>
              <a:rPr lang="en-US" dirty="0"/>
              <a:t>P</a:t>
            </a:r>
            <a:r>
              <a:rPr dirty="0"/>
              <a:t>artner to "build a small service," this is the toolkit that keeps it cheap to run and quick to ship -- managed compute and a managed front door rather than servers to patch.</a:t>
            </a:r>
          </a:p>
          <a:p>
            <a:endParaRPr dirty="0"/>
          </a:p>
          <a:p>
            <a:pPr>
              <a:spcAft>
                <a:spcPts val="600"/>
              </a:spcAft>
            </a:pPr>
            <a:r>
              <a:rPr dirty="0"/>
              <a:t>EXAM MAPPING: Domain 1, Development with AWS Services (and).</a:t>
            </a:r>
          </a:p>
          <a:p>
            <a:endParaRPr dirty="0"/>
          </a:p>
          <a:p>
            <a:pPr>
              <a:spcAft>
                <a:spcPts val="600"/>
              </a:spcAft>
            </a:pPr>
            <a:r>
              <a:rPr dirty="0"/>
              <a:t>REFERENCE: https://docs.aws.amazon.com/lambda/latest/dg/welcome.html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the same application delivered two ways, and the difference is drawn as a boundary rather than described. Point at the chip on each inner box first -- that chip says who is responsible for everything inside it.</a:t>
            </a:r>
          </a:p>
          <a:p>
            <a:endParaRPr dirty="0"/>
          </a:p>
          <a:p>
            <a:pPr>
              <a:spcAft>
                <a:spcPts val="600"/>
              </a:spcAft>
            </a:pPr>
            <a:r>
              <a:rPr dirty="0"/>
              <a:t>On the left you size the instances, patch the operating system, and pay while they are running whether or not a request arrives. On the right AWS runs the compute, it scales to the request rate, and you are billed for execution.</a:t>
            </a:r>
          </a:p>
          <a:p>
            <a:endParaRPr dirty="0"/>
          </a:p>
          <a:p>
            <a:pPr>
              <a:spcAft>
                <a:spcPts val="600"/>
              </a:spcAft>
            </a:pPr>
            <a:r>
              <a:rPr dirty="0"/>
              <a:t>Both panels are the same size on purpose. The only difference the eye finds is where the responsibility boundary sits, which is the actual distinction between the two models.</a:t>
            </a:r>
          </a:p>
          <a:p>
            <a:endParaRPr dirty="0"/>
          </a:p>
          <a:p>
            <a:pPr>
              <a:spcAft>
                <a:spcPts val="600"/>
              </a:spcAft>
            </a:pPr>
            <a:r>
              <a:rPr dirty="0"/>
              <a:t>EXAM RELEVANCE: </a:t>
            </a:r>
            <a:r>
              <a:rPr lang="en-US" dirty="0"/>
              <a:t>A</a:t>
            </a:r>
            <a:r>
              <a:rPr dirty="0"/>
              <a:t> scenario stressing no servers to manage, automatic scaling, or paying only when code runs is pointing at serverless. One needing a long-running process, a specific operating system, or control of the instance points back at EC2.</a:t>
            </a:r>
          </a:p>
          <a:p>
            <a:endParaRPr dirty="0"/>
          </a:p>
          <a:p>
            <a:pPr>
              <a:spcAft>
                <a:spcPts val="600"/>
              </a:spcAft>
            </a:pPr>
            <a:r>
              <a:rPr dirty="0"/>
              <a:t>PARTNER CONTEXT: </a:t>
            </a:r>
            <a:r>
              <a:rPr lang="en-US" dirty="0"/>
              <a:t>F</a:t>
            </a:r>
            <a:r>
              <a:rPr dirty="0"/>
              <a:t>or a customer with spiky or low-volume traffic, serverless removes a class of operational work they were often not staffed for. For steady high-utilization workloads the economics can favor provisioned compute, which is worth checking before recommending either.</a:t>
            </a:r>
          </a:p>
          <a:p>
            <a:endParaRPr dirty="0"/>
          </a:p>
          <a:p>
            <a:pPr>
              <a:spcAft>
                <a:spcPts val="600"/>
              </a:spcAft>
            </a:pPr>
            <a:r>
              <a:rPr dirty="0"/>
              <a:t>EXAM MAPPING: Domain 1.</a:t>
            </a:r>
          </a:p>
          <a:p>
            <a:endParaRPr dirty="0"/>
          </a:p>
          <a:p>
            <a:pPr>
              <a:spcAft>
                <a:spcPts val="600"/>
              </a:spcAft>
            </a:pPr>
            <a:r>
              <a:rPr lang="en-US" dirty="0"/>
              <a:t>REFERENCE: </a:t>
            </a:r>
            <a:r>
              <a:rPr dirty="0"/>
              <a:t>https://docs.aws.amazon.com/lambda/latest/dg/welcome.html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The core serverless request pattern. A client makes an HTTP call; Amazon API Gateway accepts it and passes it to an AWS Lambda function that holds the business logic; the function does its work and returns a response back through the gateway. There is no web server in the path that you own or scale.</a:t>
            </a:r>
          </a:p>
          <a:p>
            <a:endParaRPr dirty="0"/>
          </a:p>
          <a:p>
            <a:pPr>
              <a:spcAft>
                <a:spcPts val="600"/>
              </a:spcAft>
            </a:pPr>
            <a:r>
              <a:rPr dirty="0"/>
              <a:t>EXAM RELEVANCE: This API-Gateway-fronts-Lambda shape is the reference architecture behind many Development questions. Recognize it when a scenario describes exposing microservices over HTTP without managing servers.</a:t>
            </a:r>
          </a:p>
          <a:p>
            <a:endParaRPr dirty="0"/>
          </a:p>
          <a:p>
            <a:pPr>
              <a:spcAft>
                <a:spcPts val="600"/>
              </a:spcAft>
            </a:pPr>
            <a:r>
              <a:rPr dirty="0"/>
              <a:t>PARTNER CONTEXT: Fronting each capability with its own API gives a customer a stable contract they can hand to other teams or </a:t>
            </a:r>
            <a:r>
              <a:rPr lang="en-US" dirty="0"/>
              <a:t>P</a:t>
            </a:r>
            <a:r>
              <a:rPr dirty="0"/>
              <a:t>artners, while letting each piece scale and deploy independently -- a common first step when breaking up a monolith.</a:t>
            </a:r>
          </a:p>
          <a:p>
            <a:endParaRPr dirty="0"/>
          </a:p>
          <a:p>
            <a:pPr>
              <a:spcAft>
                <a:spcPts val="600"/>
              </a:spcAft>
            </a:pPr>
            <a:r>
              <a:rPr dirty="0"/>
              <a:t>EXAM MAPPING: Domain 1 (choose synchronous and asynchronous patterns).</a:t>
            </a:r>
          </a:p>
          <a:p>
            <a:endParaRPr dirty="0"/>
          </a:p>
          <a:p>
            <a:pPr>
              <a:spcAft>
                <a:spcPts val="600"/>
              </a:spcAft>
            </a:pPr>
            <a:r>
              <a:rPr dirty="0"/>
              <a:t>REFERENCE: https://docs.aws.amazon.com/apigateway/latest/developerguide/welcome.html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Amazon API Gateway is a managed service for creating, publishing, securing, and monitoring APIs at scale. A REST API is built from resources (the paths) and methods (the HTTP verbs on them), each wired to a backend such as a Lambda function or an AWS service. The gateway is the single managed entry point in front of that backend.</a:t>
            </a:r>
          </a:p>
          <a:p>
            <a:endParaRPr/>
          </a:p>
          <a:p>
            <a:pPr>
              <a:spcAft>
                <a:spcPts val="600"/>
              </a:spcAft>
            </a:pPr>
            <a:r>
              <a:t>EXAM RELEVANCE: Know what the gateway owns rather than your code -- request routing, authorization, throttling, and request and response transformation. When a question asks where to enforce a rate limit or validate a request before it reaches Lambda, this is the layer.</a:t>
            </a:r>
          </a:p>
          <a:p>
            <a:endParaRPr/>
          </a:p>
          <a:p>
            <a:pPr>
              <a:spcAft>
                <a:spcPts val="600"/>
              </a:spcAft>
            </a:pPr>
            <a:r>
              <a:t>PARTNER CONTEXT: A customer worried about a backend being overwhelmed can often get protection at the gateway -- throttling and validation -- without touching application code, which is a fast, low-risk change to propose.</a:t>
            </a:r>
          </a:p>
          <a:p>
            <a:endParaRPr/>
          </a:p>
          <a:p>
            <a:pPr>
              <a:spcAft>
                <a:spcPts val="600"/>
              </a:spcAft>
            </a:pPr>
            <a:r>
              <a:t>EXAM MAPPING: Domain 1 (create, extend, and maintain APIs).</a:t>
            </a:r>
          </a:p>
          <a:p>
            <a:endParaRPr/>
          </a:p>
          <a:p>
            <a:pPr>
              <a:spcAft>
                <a:spcPts val="600"/>
              </a:spcAft>
            </a:pPr>
            <a:r>
              <a:t>REFERENCE: https://docs.aws.amazon.com/apigateway/latest/developerguide/welcome.html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endpoint type is the kind of endpoint API Gateway creates for a REST API. Edge-optimized routes callers through the Amazon CloudFront network and suits geographically spread clients. Regional serves callers in the same Region and lets you put your own content delivery in front if you want. Private makes the API reachable only from inside a virtual private cloud through an interface VPC endpoint.</a:t>
            </a:r>
          </a:p>
          <a:p>
            <a:endParaRPr/>
          </a:p>
          <a:p>
            <a:pPr>
              <a:spcAft>
                <a:spcPts val="600"/>
              </a:spcAft>
            </a:pPr>
            <a:r>
              <a:t>EXAM RELEVANCE: Match the type to who calls the API. Globally distributed users point at edge-optimized; callers in one Region point at regional; an API that must never be reachable from the public internet points at private.</a:t>
            </a:r>
          </a:p>
          <a:p>
            <a:endParaRPr/>
          </a:p>
          <a:p>
            <a:pPr>
              <a:spcAft>
                <a:spcPts val="600"/>
              </a:spcAft>
            </a:pPr>
            <a:r>
              <a:t>PARTNER CONTEXT: For an internal service a customer does not want exposed publicly, a private endpoint keeps the traffic inside their network -- often the deciding factor for a security or compliance stakeholder.</a:t>
            </a:r>
          </a:p>
          <a:p>
            <a:endParaRPr/>
          </a:p>
          <a:p>
            <a:pPr>
              <a:spcAft>
                <a:spcPts val="600"/>
              </a:spcAft>
            </a:pPr>
            <a:r>
              <a:t>EXAM MAPPING: Domain 1 (create, extend, and maintain APIs).</a:t>
            </a:r>
          </a:p>
          <a:p>
            <a:endParaRPr/>
          </a:p>
          <a:p>
            <a:pPr>
              <a:spcAft>
                <a:spcPts val="600"/>
              </a:spcAft>
            </a:pPr>
            <a:r>
              <a:t>REFERENCE: https://docs.aws.amazon.com/apigateway/latest/developerguide/api-gateway-api-endpoint-types.html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stage is a named deployment of an API -- alpha, beta, production, and so on -- and each stage has its own invoke URL. Stage variables are name-value pairs attached to a stage; you reference them in the integration so the same API definition can point a development stage at a development backend and a production stage at a production backend without changing the API itself.</a:t>
            </a:r>
          </a:p>
          <a:p>
            <a:endParaRPr/>
          </a:p>
          <a:p>
            <a:pPr>
              <a:spcAft>
                <a:spcPts val="600"/>
              </a:spcAft>
            </a:pPr>
            <a:r>
              <a:t>EXAM RELEVANCE: When a scenario needs the same API to talk to different backend endpoints per environment, or to promote a version without redeploying everything, stages and stage variables are the mechanism. Note that API Gateway stages and custom domain names are exercised under the deployment domain of the current exam.</a:t>
            </a:r>
          </a:p>
          <a:p>
            <a:endParaRPr/>
          </a:p>
          <a:p>
            <a:pPr>
              <a:spcAft>
                <a:spcPts val="600"/>
              </a:spcAft>
            </a:pPr>
            <a:r>
              <a:t>PARTNER CONTEXT: Stages give a customer a clean promotion path from test to production behind one API, which reduces the risk of a change that was only ever tried against the wrong backend.</a:t>
            </a:r>
          </a:p>
          <a:p>
            <a:endParaRPr/>
          </a:p>
          <a:p>
            <a:pPr>
              <a:spcAft>
                <a:spcPts val="600"/>
              </a:spcAft>
            </a:pPr>
            <a:r>
              <a:t>EXAM MAPPING: Domain 1; API Gateway stages and custom domains are tested under Domain 3 at C03.</a:t>
            </a:r>
          </a:p>
          <a:p>
            <a:endParaRPr/>
          </a:p>
          <a:p>
            <a:pPr>
              <a:spcAft>
                <a:spcPts val="600"/>
              </a:spcAft>
            </a:pPr>
            <a:r>
              <a:t>REFERENCE: https://docs.aws.amazon.com/apigateway/latest/developerguide/set-up-stages.html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AWS Lambda is a serverless compute service that runs your code in response to an event and manages the underlying compute for you. You upload a function; Lambda runs it when something invokes it, scales the number of concurrent executions to match the incoming events, and charges for the compute the function actually uses.</a:t>
            </a:r>
          </a:p>
          <a:p>
            <a:endParaRPr/>
          </a:p>
          <a:p>
            <a:pPr>
              <a:spcAft>
                <a:spcPts val="600"/>
              </a:spcAft>
            </a:pPr>
            <a:r>
              <a:t>EXAM RELEVANCE: Lambda is the compute that most Development answers assume. Know that scaling is automatic and per-event, that there is no server to size or patch, and that you are billed on execution rather than on uptime.</a:t>
            </a:r>
          </a:p>
          <a:p>
            <a:endParaRPr/>
          </a:p>
          <a:p>
            <a:pPr>
              <a:spcAft>
                <a:spcPts val="600"/>
              </a:spcAft>
            </a:pPr>
            <a:r>
              <a:t>PARTNER CONTEXT: For event-driven or bursty work -- processing an upload, reacting to a queue, backing an API -- Lambda lets a customer ship the logic and nothing else, which is often the difference between a small team shipping a service and not.</a:t>
            </a:r>
          </a:p>
          <a:p>
            <a:endParaRPr/>
          </a:p>
          <a:p>
            <a:pPr>
              <a:spcAft>
                <a:spcPts val="600"/>
              </a:spcAft>
            </a:pPr>
            <a:r>
              <a:t>EXAM MAPPING: Domain 1 (configure and integrate Lambda functions).</a:t>
            </a:r>
          </a:p>
          <a:p>
            <a:endParaRPr/>
          </a:p>
          <a:p>
            <a:pPr>
              <a:spcAft>
                <a:spcPts val="600"/>
              </a:spcAft>
            </a:pPr>
            <a:r>
              <a:t>REFERENCE: https://docs.aws.amazon.com/lambda/latest/dg/welcome.html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O</a:t>
            </a:r>
            <a:r>
              <a:rPr dirty="0"/>
              <a:t>ne request, all the way through. Read it left to right -- the client calls the API, API Gateway receives it, Lambda runs the code, DynamoDB stores the result. Four services, and not one server in the picture.</a:t>
            </a:r>
          </a:p>
          <a:p>
            <a:endParaRPr dirty="0"/>
          </a:p>
          <a:p>
            <a:pPr>
              <a:spcAft>
                <a:spcPts val="600"/>
              </a:spcAft>
            </a:pPr>
            <a:r>
              <a:rPr dirty="0"/>
              <a:t>Point at each boundary as you go. API Gateway is the front door, so it handles the HTTP concerns. Lambda is where your code actually runs. DynamoDB is where the item lands.</a:t>
            </a:r>
          </a:p>
          <a:p>
            <a:endParaRPr dirty="0"/>
          </a:p>
          <a:p>
            <a:pPr>
              <a:spcAft>
                <a:spcPts val="600"/>
              </a:spcAft>
            </a:pPr>
            <a:r>
              <a:rPr dirty="0"/>
              <a:t>The axis underneath is doing real work: it says the ordering is the lesson. A learner who has only seen these services named separately has no picture of how they connect, and this is that picture.</a:t>
            </a:r>
          </a:p>
          <a:p>
            <a:endParaRPr dirty="0"/>
          </a:p>
          <a:p>
            <a:pPr>
              <a:spcAft>
                <a:spcPts val="600"/>
              </a:spcAft>
            </a:pPr>
            <a:r>
              <a:rPr dirty="0"/>
              <a:t>EXAM RELEVANCE: </a:t>
            </a:r>
            <a:r>
              <a:rPr lang="en-US" dirty="0"/>
              <a:t>M</a:t>
            </a:r>
            <a:r>
              <a:rPr dirty="0"/>
              <a:t>ost Development answers are built on this path, so knowing which service owns which concern is what makes a scenario readable. A question about request validation or throttling is at the front door; one about execution time or memory is at the function.</a:t>
            </a:r>
          </a:p>
          <a:p>
            <a:endParaRPr dirty="0"/>
          </a:p>
          <a:p>
            <a:pPr>
              <a:spcAft>
                <a:spcPts val="600"/>
              </a:spcAft>
            </a:pPr>
            <a:r>
              <a:rPr dirty="0"/>
              <a:t>PARTNER CONTEXT: </a:t>
            </a:r>
            <a:r>
              <a:rPr lang="en-US" dirty="0"/>
              <a:t>T</a:t>
            </a:r>
            <a:r>
              <a:rPr dirty="0"/>
              <a:t>his is the shape of nearly every small service a customer asks a </a:t>
            </a:r>
            <a:r>
              <a:rPr lang="en-US" dirty="0"/>
              <a:t>P</a:t>
            </a:r>
            <a:r>
              <a:rPr dirty="0"/>
              <a:t>artner to build, and it is quick to ship because none of the four needs capacity planning.</a:t>
            </a:r>
          </a:p>
          <a:p>
            <a:endParaRPr dirty="0"/>
          </a:p>
          <a:p>
            <a:pPr>
              <a:spcAft>
                <a:spcPts val="600"/>
              </a:spcAft>
            </a:pPr>
            <a:r>
              <a:rPr dirty="0"/>
              <a:t>EXAM MAPPING: Domain 1 and.</a:t>
            </a:r>
          </a:p>
          <a:p>
            <a:endParaRPr dirty="0"/>
          </a:p>
          <a:p>
            <a:pPr>
              <a:spcAft>
                <a:spcPts val="600"/>
              </a:spcAft>
            </a:pPr>
            <a:r>
              <a:rPr lang="en-US" dirty="0"/>
              <a:t>REFERENCE: </a:t>
            </a:r>
            <a:r>
              <a:rPr dirty="0"/>
              <a:t>https://docs.aws.amazon.com/apigateway/latest/developerguide/welcome.html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vocabulary every Lambda answer uses. A function is the resource you invoke to run your code. A trigger is the resource or configuration that invokes it. An event is the JSON document the trigger passes in. A runtime is the language-specific environment the code runs in. A layer is a .zip archive of libraries or shared code that several functions can reuse instead of bundling it each time.</a:t>
            </a:r>
          </a:p>
          <a:p>
            <a:endParaRPr/>
          </a:p>
          <a:p>
            <a:pPr>
              <a:spcAft>
                <a:spcPts val="600"/>
              </a:spcAft>
            </a:pPr>
            <a:r>
              <a:t>EXAM RELEVANCE: These terms recur throughout the exam, so keep them precise -- especially the difference between a trigger (what causes the invocation) and the event (the data delivered) and the role of a layer in sharing dependencies.</a:t>
            </a:r>
          </a:p>
          <a:p>
            <a:endParaRPr/>
          </a:p>
          <a:p>
            <a:pPr>
              <a:spcAft>
                <a:spcPts val="600"/>
              </a:spcAft>
            </a:pPr>
            <a:r>
              <a:t>PARTNER CONTEXT: Layers are an easy win to point out -- a customer with the same dependencies across many functions can pull them into a layer and shrink every deployment package, which speeds up their releases.</a:t>
            </a:r>
          </a:p>
          <a:p>
            <a:endParaRPr/>
          </a:p>
          <a:p>
            <a:pPr>
              <a:spcAft>
                <a:spcPts val="600"/>
              </a:spcAft>
            </a:pPr>
            <a:r>
              <a:t>EXAM MAPPING: Domain 1 (configure functions with variables and dependencies).</a:t>
            </a:r>
          </a:p>
          <a:p>
            <a:endParaRPr/>
          </a:p>
          <a:p>
            <a:pPr>
              <a:spcAft>
                <a:spcPts val="600"/>
              </a:spcAft>
            </a:pPr>
            <a:r>
              <a:t>REFERENCE: https://docs.aws.amazon.com/lambda/latest/dg/foundation-progmodel.html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runtime reads the handler name, passes each invocation event to the handler, and the handler's return value becomes the response. This is also where serializing and deserializing data lives, day to day: the runtime hands the handler the event already parsed into a language object, your code reads the fields it needs, and whatever the handler returns is serialized back into the response for the caller. When you call another AWS service through the SDK you do the same in reverse -- build a request object and read a structured response.</a:t>
            </a:r>
          </a:p>
          <a:p>
            <a:endParaRPr/>
          </a:p>
          <a:p>
            <a:pPr>
              <a:spcAft>
                <a:spcPts val="600"/>
              </a:spcAft>
            </a:pPr>
            <a:r>
              <a:t>EXAM RELEVANCE: Know that the handler is the function's entry point and that the shape of the event depends on what triggered it. Serializing and deserializing data to integrate application code with AWS services is a Development skill on this exam, so be comfortable reading an event and shaping a return value.</a:t>
            </a:r>
          </a:p>
          <a:p>
            <a:endParaRPr/>
          </a:p>
          <a:p>
            <a:pPr>
              <a:spcAft>
                <a:spcPts val="600"/>
              </a:spcAft>
            </a:pPr>
            <a:r>
              <a:t>PARTNER CONTEXT: Most first Lambda bugs a customer hits are shape mismatches -- reading a field that is not in the event, or returning something the caller cannot parse. Pointing at the handler contract early saves a lot of that.</a:t>
            </a:r>
          </a:p>
          <a:p>
            <a:endParaRPr/>
          </a:p>
          <a:p>
            <a:pPr>
              <a:spcAft>
                <a:spcPts val="600"/>
              </a:spcAft>
            </a:pPr>
            <a:r>
              <a:t>EXAM MAPPING: Domain 1 (handler and runtime) and (serialize and deserialize data).</a:t>
            </a:r>
          </a:p>
          <a:p>
            <a:endParaRPr/>
          </a:p>
          <a:p>
            <a:pPr>
              <a:spcAft>
                <a:spcPts val="600"/>
              </a:spcAft>
            </a:pPr>
            <a:r>
              <a:t>REFERENCE: https://docs.aws.amazon.com/lambda/latest/dg/python-handler.html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Lambda can be invoked synchronously or asynchronously, and the trigger decides which. With a synchronous invocation the caller waits for the function to finish and gets the result or the error directly -- API Gateway calls Lambda this way. With an asynchronous invocation Lambda puts the event on an internal queue, returns to the caller straight away, and runs the function in the background, retrying automatically if it fails.</a:t>
            </a:r>
          </a:p>
          <a:p>
            <a:endParaRPr/>
          </a:p>
          <a:p>
            <a:pPr>
              <a:spcAft>
                <a:spcPts val="600"/>
              </a:spcAft>
            </a:pPr>
            <a:r>
              <a:t>EXAM RELEVANCE: This distinction drives error handling. Synchronous callers see failures immediately and own the retry. Asynchronous invocations are retried by Lambda and should send events that still fail to a dead-letter queue or an on-failure destination, so keep that boundary sharp in a troubleshooting scenario.</a:t>
            </a:r>
          </a:p>
          <a:p>
            <a:endParaRPr/>
          </a:p>
          <a:p>
            <a:pPr>
              <a:spcAft>
                <a:spcPts val="600"/>
              </a:spcAft>
            </a:pPr>
            <a:r>
              <a:t>PARTNER CONTEXT: When a customer reports "the request timed out but the work still happened," it is usually a synchronous caller in front of slow work that should have been asynchronous -- a design conversation worth having.</a:t>
            </a:r>
          </a:p>
          <a:p>
            <a:endParaRPr/>
          </a:p>
          <a:p>
            <a:pPr>
              <a:spcAft>
                <a:spcPts val="600"/>
              </a:spcAft>
            </a:pPr>
            <a:r>
              <a:t>EXAM MAPPING: Domain 1 (choose synchronous and asynchronous patterns).</a:t>
            </a:r>
          </a:p>
          <a:p>
            <a:endParaRPr/>
          </a:p>
          <a:p>
            <a:pPr>
              <a:spcAft>
                <a:spcPts val="600"/>
              </a:spcAft>
            </a:pPr>
            <a:r>
              <a:t>REFERENCE: https://docs.aws.amazon.com/lambda/latest/dg/lambda-invocation.html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There are three ways a function gets invoked. Synchronous push, where a source like API Gateway calls and waits. Asynchronous push, where a source like Amazon S3 or Amazon SNS hands Lambda an event and does not wait. And poll-based, where Lambda itself reads records in batches from a stream or queue -- Amazon Kinesis, Amazon DynamoDB Streams, or Amazon SQS -- using an event source mapping that Lambda manages on your behalf.</a:t>
            </a:r>
          </a:p>
          <a:p>
            <a:endParaRPr/>
          </a:p>
          <a:p>
            <a:pPr>
              <a:spcAft>
                <a:spcPts val="600"/>
              </a:spcAft>
            </a:pPr>
            <a:r>
              <a:t>EXAM RELEVANCE: Know that stream and queue sources are poll-based and configured with an event source mapping, not by the source pushing to Lambda. A question about processing records from a queue or a stream in batches is testing this model.</a:t>
            </a:r>
          </a:p>
          <a:p>
            <a:endParaRPr/>
          </a:p>
          <a:p>
            <a:pPr>
              <a:spcAft>
                <a:spcPts val="600"/>
              </a:spcAft>
            </a:pPr>
            <a:r>
              <a:t>PARTNER CONTEXT: When a customer needs to process a firehose of records, the poll-based model with an event source mapping lets Lambda pull at its own pace and in batches, which is usually cheaper and steadier than trying to push each record.</a:t>
            </a:r>
          </a:p>
          <a:p>
            <a:endParaRPr/>
          </a:p>
          <a:p>
            <a:pPr>
              <a:spcAft>
                <a:spcPts val="600"/>
              </a:spcAft>
            </a:pPr>
            <a:r>
              <a:t>EXAM MAPPING: Domain 1 (integrate Lambda by using event source mappings).</a:t>
            </a:r>
          </a:p>
          <a:p>
            <a:endParaRPr/>
          </a:p>
          <a:p>
            <a:pPr>
              <a:spcAft>
                <a:spcPts val="600"/>
              </a:spcAft>
            </a:pPr>
            <a:r>
              <a:t>REFERENCE: https://docs.aws.amazon.com/lambda/latest/dg/invocation-eventsourcemapping.html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Memory is the principal setting a Lambda developer uses to control performance. The amount of memory you assign also determines the amount of virtual CPU the function receives -- they scale together, so adding memory gives a function proportionally more processing power. For a compute-bound function, raising memory can cut the run time enough that the cost per invocation barely changes.</a:t>
            </a:r>
          </a:p>
          <a:p>
            <a:endParaRPr/>
          </a:p>
          <a:p>
            <a:pPr>
              <a:spcAft>
                <a:spcPts val="600"/>
              </a:spcAft>
            </a:pPr>
            <a:r>
              <a:t>EXAM RELEVANCE: If a scenario describes a function that is slow because it is doing heavy computation, increasing memory is the lever, because it also raises CPU. Keep this straight from the case where the function is slow for another reason -- more memory only helps when the work is actually compute-bound.</a:t>
            </a:r>
          </a:p>
          <a:p>
            <a:endParaRPr/>
          </a:p>
          <a:p>
            <a:pPr>
              <a:spcAft>
                <a:spcPts val="600"/>
              </a:spcAft>
            </a:pPr>
            <a:r>
              <a:t>PARTNER CONTEXT: The practical advice is to tune memory against a representative workload and measure, rather than guessing -- the fastest setting and the cheapest setting are often close together, and only measurement finds them.</a:t>
            </a:r>
          </a:p>
          <a:p>
            <a:endParaRPr/>
          </a:p>
          <a:p>
            <a:pPr>
              <a:spcAft>
                <a:spcPts val="600"/>
              </a:spcAft>
            </a:pPr>
            <a:r>
              <a:t>EXAM MAPPING: Domain 4 (optimize memory and compute power).</a:t>
            </a:r>
          </a:p>
          <a:p>
            <a:endParaRPr/>
          </a:p>
          <a:p>
            <a:pPr>
              <a:spcAft>
                <a:spcPts val="600"/>
              </a:spcAft>
            </a:pPr>
            <a:r>
              <a:t>REFERENCE: https://docs.aws.amazon.com/lambda/latest/dg/configuration-memory.html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function timeout is the maximum time you allow an invocation to run before Lambda stops it. It is a safety limit, not a target -- set it high enough for normal work but low enough that a stuck invocation does not run on and cost money. Common reasons a function hits its timeout are waiting on a slow downstream call, having too little memory and therefore too little CPU for the work, or retries piling up against a dependency.</a:t>
            </a:r>
          </a:p>
          <a:p>
            <a:endParaRPr/>
          </a:p>
          <a:p>
            <a:pPr>
              <a:spcAft>
                <a:spcPts val="600"/>
              </a:spcAft>
            </a:pPr>
            <a:r>
              <a:t>EXAM RELEVANCE: Match the symptom to the cause. A function that times out waiting on a network call needs a fix in the dependency path or the timeout budget; one that times out under heavy computation may just need more memory. Do not reach for the same fix for every timeout.</a:t>
            </a:r>
          </a:p>
          <a:p>
            <a:endParaRPr/>
          </a:p>
          <a:p>
            <a:pPr>
              <a:spcAft>
                <a:spcPts val="600"/>
              </a:spcAft>
            </a:pPr>
            <a:r>
              <a:t>PARTNER CONTEXT: Setting a realistic timeout is a small change that stops a runaway function from quietly running up cost, which customers appreciate finding before the bill does.</a:t>
            </a:r>
          </a:p>
          <a:p>
            <a:endParaRPr/>
          </a:p>
          <a:p>
            <a:pPr>
              <a:spcAft>
                <a:spcPts val="600"/>
              </a:spcAft>
            </a:pPr>
            <a:r>
              <a:t>EXAM MAPPING: Domain 1 (handle event lifecycles and errors); Domain 4.</a:t>
            </a:r>
          </a:p>
          <a:p>
            <a:endParaRPr/>
          </a:p>
          <a:p>
            <a:pPr>
              <a:spcAft>
                <a:spcPts val="600"/>
              </a:spcAft>
            </a:pPr>
            <a:r>
              <a:t>REFERENCE: https://docs.aws.amazon.com/lambda/latest/dg/best-practices.html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A</a:t>
            </a:r>
            <a:r>
              <a:rPr dirty="0"/>
              <a:t>n upload on the left, a function on the right, and the thing between them is the part a learner cannot see -- the event. It is drawn on the wire deliberately, because "S3 triggers Lambda" hides the mechanism.</a:t>
            </a:r>
          </a:p>
          <a:p>
            <a:endParaRPr dirty="0"/>
          </a:p>
          <a:p>
            <a:pPr>
              <a:spcAft>
                <a:spcPts val="600"/>
              </a:spcAft>
            </a:pPr>
            <a:r>
              <a:rPr dirty="0"/>
              <a:t>Say what does the work. S3 publishes the event; nothing is polling and no server is waiting in between. The function runs once per event and then goes away.</a:t>
            </a:r>
          </a:p>
          <a:p>
            <a:endParaRPr dirty="0"/>
          </a:p>
          <a:p>
            <a:pPr>
              <a:spcAft>
                <a:spcPts val="600"/>
              </a:spcAft>
            </a:pPr>
            <a:r>
              <a:rPr dirty="0"/>
              <a:t>That is what makes the pattern cheap. Between uploads there is nothing running, so there is nothing to pay for and nothing to scale down.</a:t>
            </a:r>
          </a:p>
          <a:p>
            <a:endParaRPr dirty="0"/>
          </a:p>
          <a:p>
            <a:pPr>
              <a:spcAft>
                <a:spcPts val="600"/>
              </a:spcAft>
            </a:pPr>
            <a:r>
              <a:rPr dirty="0"/>
              <a:t>EXAM RELEVANCE: </a:t>
            </a:r>
            <a:r>
              <a:rPr lang="en-US" dirty="0"/>
              <a:t>T</a:t>
            </a:r>
            <a:r>
              <a:rPr dirty="0"/>
              <a:t>he tested idea is that the source publishes and the function is invoked -- not that something checks on a schedule. A scenario describing processing that should start as soon as a file lands is describing this.</a:t>
            </a:r>
          </a:p>
          <a:p>
            <a:endParaRPr dirty="0"/>
          </a:p>
          <a:p>
            <a:pPr>
              <a:spcAft>
                <a:spcPts val="600"/>
              </a:spcAft>
            </a:pPr>
            <a:r>
              <a:rPr dirty="0"/>
              <a:t>PARTNER CONTEXT: </a:t>
            </a:r>
            <a:r>
              <a:rPr lang="en-US" dirty="0"/>
              <a:t>A</a:t>
            </a:r>
            <a:r>
              <a:rPr dirty="0"/>
              <a:t> customer running a </a:t>
            </a:r>
            <a:r>
              <a:rPr dirty="0" err="1"/>
              <a:t>cron</a:t>
            </a:r>
            <a:r>
              <a:rPr dirty="0"/>
              <a:t> job every five minutes to look for new files is usually describing this pattern without knowing it exists, and the change removes both the delay and the idle cost.</a:t>
            </a:r>
          </a:p>
          <a:p>
            <a:endParaRPr dirty="0"/>
          </a:p>
          <a:p>
            <a:pPr>
              <a:spcAft>
                <a:spcPts val="600"/>
              </a:spcAft>
            </a:pPr>
            <a:r>
              <a:rPr dirty="0"/>
              <a:t>EXAM MAPPING: Domain 1.</a:t>
            </a:r>
          </a:p>
          <a:p>
            <a:endParaRPr dirty="0"/>
          </a:p>
          <a:p>
            <a:pPr>
              <a:spcAft>
                <a:spcPts val="600"/>
              </a:spcAft>
            </a:pPr>
            <a:r>
              <a:rPr lang="en-US" dirty="0"/>
              <a:t>REFERENCE: </a:t>
            </a:r>
            <a:r>
              <a:rPr dirty="0"/>
              <a:t>https://docs.aws.amazon.com/lambda/latest/dg/invocation-eventsourcemapping.html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Amazon DynamoDB is a fully managed, serverless, key-value and document NoSQL database built to run high-performance applications at any scale. AWS runs the infrastructure -- there is nothing to provision, patch, or cluster -- and the service is designed to deliver consistent single-digit millisecond performance as a table grows.</a:t>
            </a:r>
          </a:p>
          <a:p>
            <a:endParaRPr/>
          </a:p>
          <a:p>
            <a:pPr>
              <a:spcAft>
                <a:spcPts val="600"/>
              </a:spcAft>
            </a:pPr>
            <a:r>
              <a:t>EXAM RELEVANCE: Recognize DynamoDB as the default serverless data store for the exam's serverless patterns. When a scenario needs a fast, horizontally scaling store with a flexible schema and no database servers to manage, this is the answer, in contrast to a relational engine on Amazon RDS.</a:t>
            </a:r>
          </a:p>
          <a:p>
            <a:endParaRPr/>
          </a:p>
          <a:p>
            <a:pPr>
              <a:spcAft>
                <a:spcPts val="600"/>
              </a:spcAft>
            </a:pPr>
            <a:r>
              <a:t>PARTNER CONTEXT: For a customer whose access patterns are simple lookups at high volume, DynamoDB removes the capacity-planning and patching work a self-managed database would demand -- often the reason a small team can run a large workload.</a:t>
            </a:r>
          </a:p>
          <a:p>
            <a:endParaRPr/>
          </a:p>
          <a:p>
            <a:pPr>
              <a:spcAft>
                <a:spcPts val="600"/>
              </a:spcAft>
            </a:pPr>
            <a:r>
              <a:t>EXAM MAPPING: Domain 1 (use purpose-built data stores in application development).</a:t>
            </a:r>
          </a:p>
          <a:p>
            <a:endParaRPr/>
          </a:p>
          <a:p>
            <a:pPr>
              <a:spcAft>
                <a:spcPts val="600"/>
              </a:spcAft>
            </a:pPr>
            <a:r>
              <a:t>REFERENCE: https://docs.aws.amazon.com/amazondynamodb/latest/developerguide/Introduction.html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hree levels of containment, drawn by nesting. The outer boundary is a table. Inside it are items. Inside each item are attributes. Nothing on the slide says "contains" -- the geometry says it.</a:t>
            </a:r>
          </a:p>
          <a:p>
            <a:endParaRPr dirty="0"/>
          </a:p>
          <a:p>
            <a:pPr>
              <a:spcAft>
                <a:spcPts val="600"/>
              </a:spcAft>
            </a:pPr>
            <a:r>
              <a:rPr dirty="0"/>
              <a:t>Point at the two items and note they are not required to carry the same attributes. That is the difference from a relational row, and it is the single most useful thing to land here.</a:t>
            </a:r>
          </a:p>
          <a:p>
            <a:endParaRPr dirty="0"/>
          </a:p>
          <a:p>
            <a:pPr>
              <a:spcAft>
                <a:spcPts val="600"/>
              </a:spcAft>
            </a:pPr>
            <a:r>
              <a:rPr dirty="0"/>
              <a:t>The attribute rows are deliberately not filled with realistic data. The structure is the lesson, and realistic values would bury it.</a:t>
            </a:r>
          </a:p>
          <a:p>
            <a:endParaRPr dirty="0"/>
          </a:p>
          <a:p>
            <a:pPr>
              <a:spcAft>
                <a:spcPts val="600"/>
              </a:spcAft>
            </a:pPr>
            <a:r>
              <a:rPr dirty="0"/>
              <a:t>Name the two keys as you point at them: the partition key decides where the item lives, and the sort key orders items that share a partition key.</a:t>
            </a:r>
          </a:p>
          <a:p>
            <a:endParaRPr dirty="0"/>
          </a:p>
          <a:p>
            <a:pPr>
              <a:spcAft>
                <a:spcPts val="600"/>
              </a:spcAft>
            </a:pPr>
            <a:r>
              <a:rPr dirty="0"/>
              <a:t>EXAM RELEVANCE: </a:t>
            </a:r>
            <a:r>
              <a:rPr lang="en-US" dirty="0"/>
              <a:t>T</a:t>
            </a:r>
            <a:r>
              <a:rPr dirty="0"/>
              <a:t>he vocabulary is what gets tested -- table, item, attribute, partition key, sort key. A scenario about retrieving one specific item is a primary-key question.</a:t>
            </a:r>
          </a:p>
          <a:p>
            <a:endParaRPr dirty="0"/>
          </a:p>
          <a:p>
            <a:pPr>
              <a:spcAft>
                <a:spcPts val="600"/>
              </a:spcAft>
            </a:pPr>
            <a:r>
              <a:rPr dirty="0"/>
              <a:t>PARTNER CONTEXT</a:t>
            </a:r>
            <a:r>
              <a:t>: </a:t>
            </a:r>
            <a:r>
              <a:rPr lang="en-US"/>
              <a:t>A</a:t>
            </a:r>
            <a:r>
              <a:t> </a:t>
            </a:r>
            <a:r>
              <a:rPr dirty="0"/>
              <a:t>customer coming from a relational background usually models a DynamoDB table like a table of rows. Seeing that items in one table can differ is what starts the access-pattern conversation.</a:t>
            </a:r>
          </a:p>
          <a:p>
            <a:endParaRPr dirty="0"/>
          </a:p>
          <a:p>
            <a:pPr>
              <a:spcAft>
                <a:spcPts val="600"/>
              </a:spcAft>
            </a:pPr>
            <a:r>
              <a:rPr dirty="0"/>
              <a:t>EXAM MAPPING: Domain 1.</a:t>
            </a:r>
          </a:p>
          <a:p>
            <a:endParaRPr dirty="0"/>
          </a:p>
          <a:p>
            <a:pPr>
              <a:spcAft>
                <a:spcPts val="600"/>
              </a:spcAft>
            </a:pPr>
            <a:r>
              <a:rPr dirty="0"/>
              <a:t>Verified against https://docs.aws.amazon.com/amazondynamodb/latest/developerguide/HowItWorks.CoreComponents.html</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 secondary index lets you query a table by an attribute other than its primary key. A global secondary index (GSI) has a partition key and optional sort key that can differ from the table's, and it spans all the data. A local secondary index (LSI) keeps the table's partition key but adds a different sort key. A GSI is provisioned with its own read and write capacity; an LSI draws on the table's capacity.</a:t>
            </a:r>
          </a:p>
          <a:p>
            <a:endParaRPr dirty="0"/>
          </a:p>
          <a:p>
            <a:pPr>
              <a:spcAft>
                <a:spcPts val="600"/>
              </a:spcAft>
            </a:pPr>
            <a:r>
              <a:rPr dirty="0"/>
              <a:t>EXAM RELEVANCE: Match the index to the query. A need to query by a completely different attribute points at a GSI; a need for an alternate sort order within the same partition points at an LSI. Remember that a GSI has independent throughput -- in provisioned mode you set its capacity separately, and if a global secondary index is under-provisioned its throttling can also affect writes to the base table (see the Global Secondary Indexes guide, docs.aws.amazon.com/</a:t>
            </a:r>
            <a:r>
              <a:rPr dirty="0" err="1"/>
              <a:t>amazondynamodb</a:t>
            </a:r>
            <a:r>
              <a:rPr dirty="0"/>
              <a:t>/latest/</a:t>
            </a:r>
            <a:r>
              <a:rPr dirty="0" err="1"/>
              <a:t>developerguide</a:t>
            </a:r>
            <a:r>
              <a:rPr dirty="0"/>
              <a:t>/GSI.html). That behavior underpins a common troubleshooting scenario.</a:t>
            </a:r>
          </a:p>
          <a:p>
            <a:endParaRPr dirty="0"/>
          </a:p>
          <a:p>
            <a:pPr>
              <a:spcAft>
                <a:spcPts val="600"/>
              </a:spcAft>
            </a:pPr>
            <a:r>
              <a:rPr dirty="0"/>
              <a:t>PARTNER CONTEXT: When a customer reports that adding an index "made writes start failing," an under-provisioned GSI is a frequent cause worth checking, because its capacity is separate from the table's and easy to overlook.</a:t>
            </a:r>
          </a:p>
          <a:p>
            <a:endParaRPr dirty="0"/>
          </a:p>
          <a:p>
            <a:pPr>
              <a:spcAft>
                <a:spcPts val="600"/>
              </a:spcAft>
            </a:pPr>
            <a:r>
              <a:rPr dirty="0"/>
              <a:t>EXAM MAPPING: Domain 1 (design secondary indexes for a data store).</a:t>
            </a:r>
          </a:p>
          <a:p>
            <a:endParaRPr dirty="0"/>
          </a:p>
          <a:p>
            <a:pPr>
              <a:spcAft>
                <a:spcPts val="600"/>
              </a:spcAft>
            </a:pPr>
            <a:r>
              <a:rPr dirty="0"/>
              <a:t>REFERENCE: https://docs.aws.amazon.com/amazondynamodb/latest/developerguide/SecondaryIndexes.html</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stream drawn as what it is -- an ordered sequence. Three change records, numbered, in the order the changes happened, feeding one consumer.</a:t>
            </a:r>
          </a:p>
          <a:p>
            <a:endParaRPr dirty="0"/>
          </a:p>
          <a:p>
            <a:pPr>
              <a:spcAft>
                <a:spcPts val="600"/>
              </a:spcAft>
            </a:pPr>
            <a:r>
              <a:rPr dirty="0"/>
              <a:t>Point at the numbers. That ordering is the guarantee, and it is why a stream is different from simply being told "something changed". A consumer can process the changes in the sequence they occurred.</a:t>
            </a:r>
          </a:p>
          <a:p>
            <a:endParaRPr dirty="0"/>
          </a:p>
          <a:p>
            <a:pPr>
              <a:spcAft>
                <a:spcPts val="600"/>
              </a:spcAft>
            </a:pPr>
            <a:r>
              <a:rPr dirty="0"/>
              <a:t>The stream is drawn dashed because it is not a resource you provision separately -- you enable it on the table and it is managed for you.</a:t>
            </a:r>
          </a:p>
          <a:p>
            <a:endParaRPr dirty="0"/>
          </a:p>
          <a:p>
            <a:pPr>
              <a:spcAft>
                <a:spcPts val="600"/>
              </a:spcAft>
            </a:pPr>
            <a:r>
              <a:rPr dirty="0"/>
              <a:t>Say what the record contains: the item-level change, so a consumer can act on it without going back to read the table.</a:t>
            </a:r>
          </a:p>
          <a:p>
            <a:endParaRPr dirty="0"/>
          </a:p>
          <a:p>
            <a:pPr>
              <a:spcAft>
                <a:spcPts val="600"/>
              </a:spcAft>
            </a:pPr>
            <a:r>
              <a:rPr dirty="0"/>
              <a:t>EXAM RELEVANCE: </a:t>
            </a:r>
            <a:r>
              <a:rPr lang="en-US" dirty="0"/>
              <a:t>A</a:t>
            </a:r>
            <a:r>
              <a:rPr dirty="0"/>
              <a:t> scenario describing work that must happen after a write -- updating an aggregate, sending a notification, keeping a search index current -- is describing a stream plus a function.</a:t>
            </a:r>
          </a:p>
          <a:p>
            <a:endParaRPr dirty="0"/>
          </a:p>
          <a:p>
            <a:pPr>
              <a:spcAft>
                <a:spcPts val="600"/>
              </a:spcAft>
            </a:pPr>
            <a:r>
              <a:rPr dirty="0"/>
              <a:t>PARTNER CONTEXT: </a:t>
            </a:r>
            <a:r>
              <a:rPr lang="en-US" dirty="0"/>
              <a:t>A</a:t>
            </a:r>
            <a:r>
              <a:rPr dirty="0"/>
              <a:t> customer polling a table for changes is spending money on reads that find nothing. A stream turns polling into being told.</a:t>
            </a:r>
          </a:p>
          <a:p>
            <a:endParaRPr dirty="0"/>
          </a:p>
          <a:p>
            <a:pPr>
              <a:spcAft>
                <a:spcPts val="600"/>
              </a:spcAft>
            </a:pPr>
            <a:r>
              <a:rPr dirty="0"/>
              <a:t>EXAM MAPPING: Domain 1.</a:t>
            </a:r>
          </a:p>
          <a:p>
            <a:endParaRPr dirty="0"/>
          </a:p>
          <a:p>
            <a:pPr>
              <a:spcAft>
                <a:spcPts val="600"/>
              </a:spcAft>
            </a:pPr>
            <a:r>
              <a:rPr lang="en-US" dirty="0"/>
              <a:t>REFERENCE: </a:t>
            </a:r>
            <a:r>
              <a:rPr dirty="0"/>
              <a:t>https://docs.aws.amazon.com/amazondynamodb/latest/developerguide/Streams.html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Time to Live (TTL) lets you set a per-item timestamp attribute that marks when an item is no longer needed. Shortly after that time passes, DynamoDB deletes the item automatically, and those TTL deletions do not consume write throughput. You choose which attribute holds the expiry time when you enable TTL on the table.</a:t>
            </a:r>
          </a:p>
          <a:p>
            <a:endParaRPr/>
          </a:p>
          <a:p>
            <a:pPr>
              <a:spcAft>
                <a:spcPts val="600"/>
              </a:spcAft>
            </a:pPr>
            <a:r>
              <a:t>EXAM RELEVANCE: TTL is the built-in answer for data with a natural lifespan -- sessions, tokens, short-lived events. When a scenario asks how to expire records without running a scheduled cleanup or paying for the deletes, TTL is the mechanism. Know that expiry is approximate, not to-the-second.</a:t>
            </a:r>
          </a:p>
          <a:p>
            <a:endParaRPr/>
          </a:p>
          <a:p>
            <a:pPr>
              <a:spcAft>
                <a:spcPts val="600"/>
              </a:spcAft>
            </a:pPr>
            <a:r>
              <a:t>PARTNER CONTEXT: For a customer whose table keeps growing with data they only need briefly, enabling TTL both controls storage cost and removes a batch cleanup job they would otherwise have to build and operate.</a:t>
            </a:r>
          </a:p>
          <a:p>
            <a:endParaRPr/>
          </a:p>
          <a:p>
            <a:pPr>
              <a:spcAft>
                <a:spcPts val="600"/>
              </a:spcAft>
            </a:pPr>
            <a:r>
              <a:t>EXAM MAPPING: Domain 1 (manage the data lifecycle in a data store).</a:t>
            </a:r>
          </a:p>
          <a:p>
            <a:endParaRPr/>
          </a:p>
          <a:p>
            <a:pPr>
              <a:spcAft>
                <a:spcPts val="600"/>
              </a:spcAft>
            </a:pPr>
            <a:r>
              <a:t>REFERENCE: https://docs.aws.amazon.com/amazondynamodb/latest/developerguide/TTL.html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read/write capacity mode controls how you are charged for throughput and how you manage it. On-demand mode charges per request and requires no capacity planning, so it scales up and down with traffic on its own. Provisioned mode has you specify read capacity units and write capacity units; it is more economical for predictable traffic and can be paired with auto scaling to track demand.</a:t>
            </a:r>
          </a:p>
          <a:p>
            <a:endParaRPr/>
          </a:p>
          <a:p>
            <a:pPr>
              <a:spcAft>
                <a:spcPts val="600"/>
              </a:spcAft>
            </a:pPr>
            <a:r>
              <a:t>EXAM RELEVANCE: Match the mode to the traffic shape. Unknown or spiky workloads and brand-new tables point at on-demand; consistent, forecastable traffic points at provisioned, often with auto scaling. A cost-optimization scenario for steady load usually favors provisioned.</a:t>
            </a:r>
          </a:p>
          <a:p>
            <a:endParaRPr/>
          </a:p>
          <a:p>
            <a:pPr>
              <a:spcAft>
                <a:spcPts val="600"/>
              </a:spcAft>
            </a:pPr>
            <a:r>
              <a:t>PARTNER CONTEXT: A customer launching something new rarely knows its traffic, so on-demand avoids both over-provisioning and throttling on day one; once the pattern is clear, moving steady workloads to provisioned can lower the bill.</a:t>
            </a:r>
          </a:p>
          <a:p>
            <a:endParaRPr/>
          </a:p>
          <a:p>
            <a:pPr>
              <a:spcAft>
                <a:spcPts val="600"/>
              </a:spcAft>
            </a:pPr>
            <a:r>
              <a:t>EXAM MAPPING: Domain 1 (choose a throughput mode for a data store).</a:t>
            </a:r>
          </a:p>
          <a:p>
            <a:endParaRPr/>
          </a:p>
          <a:p>
            <a:pPr>
              <a:spcAft>
                <a:spcPts val="600"/>
              </a:spcAft>
            </a:pPr>
            <a:r>
              <a:t>REFERENCE: https://docs.aws.amazon.com/amazondynamodb/latest/developerguide/HowItWorks.ReadWriteCapacityMode.html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DynamoDB limits the size of each item to 400 KB. When an application needs to store more than that -- a large document, an image, a long body of text -- the recommended pattern is to put the large value in Amazon S3 and store only the object key, or a pointer, as an attribute in the DynamoDB item. The item stays small and the heavy data lives in S3.</a:t>
            </a:r>
          </a:p>
          <a:p>
            <a:endParaRPr/>
          </a:p>
          <a:p>
            <a:pPr>
              <a:spcAft>
                <a:spcPts val="600"/>
              </a:spcAft>
            </a:pPr>
            <a:r>
              <a:t>EXAM RELEVANCE: When a scenario describes items that exceed the DynamoDB size limit, the answer is to offload the large attribute to S3 and keep a reference in the table, not to redesign around the limit. Keeping items small also keeps reads cheaper, because you pay for the data you read.</a:t>
            </a:r>
          </a:p>
          <a:p>
            <a:endParaRPr/>
          </a:p>
          <a:p>
            <a:pPr>
              <a:spcAft>
                <a:spcPts val="600"/>
              </a:spcAft>
            </a:pPr>
            <a:r>
              <a:t>PARTNER CONTEXT: For a customer storing rich content alongside structured records, this split keeps the database fast and inexpensive while S3 carries the bulk cheaply -- a pattern that also simplifies serving those large objects directly later.</a:t>
            </a:r>
          </a:p>
          <a:p>
            <a:endParaRPr/>
          </a:p>
          <a:p>
            <a:pPr>
              <a:spcAft>
                <a:spcPts val="600"/>
              </a:spcAft>
            </a:pPr>
            <a:r>
              <a:t>EXAM MAPPING: Domain 1 (use data stores together for large objects).</a:t>
            </a:r>
          </a:p>
          <a:p>
            <a:endParaRPr/>
          </a:p>
          <a:p>
            <a:pPr>
              <a:spcAft>
                <a:spcPts val="600"/>
              </a:spcAft>
            </a:pPr>
            <a:r>
              <a:t>REFERENCE: https://docs.aws.amazon.com/amazondynamodb/latest/developerguide/bp-use-s3-too.html</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A</a:t>
            </a:r>
            <a:r>
              <a:rPr dirty="0"/>
              <a:t> workflow with a real decision in it. The first step validates the order, the diamond asks a question, and the two answers go different ways.</a:t>
            </a:r>
          </a:p>
          <a:p>
            <a:endParaRPr dirty="0"/>
          </a:p>
          <a:p>
            <a:pPr>
              <a:spcAft>
                <a:spcPts val="600"/>
              </a:spcAft>
            </a:pPr>
            <a:r>
              <a:rPr dirty="0"/>
              <a:t>Point at the diamond and note the conditions sit ON the branches, not inside it. The state itself holds the rule set; each branch carries the answer that takes you down it.</a:t>
            </a:r>
          </a:p>
          <a:p>
            <a:endParaRPr dirty="0"/>
          </a:p>
          <a:p>
            <a:pPr>
              <a:spcAft>
                <a:spcPts val="600"/>
              </a:spcAft>
            </a:pPr>
            <a:r>
              <a:rPr dirty="0"/>
              <a:t>The line underneath is the point of the service. Step Functions holds the state between steps, so no step has to remember what the last one did or hand context along by hand.</a:t>
            </a:r>
          </a:p>
          <a:p>
            <a:endParaRPr dirty="0"/>
          </a:p>
          <a:p>
            <a:pPr>
              <a:spcAft>
                <a:spcPts val="600"/>
              </a:spcAft>
            </a:pPr>
            <a:r>
              <a:rPr dirty="0"/>
              <a:t>Contrast that with wiring these functions together yourself, where every step needs to know about the next one and a failure halfway through leaves you guessing where it stopped.</a:t>
            </a:r>
          </a:p>
          <a:p>
            <a:endParaRPr dirty="0"/>
          </a:p>
          <a:p>
            <a:pPr>
              <a:spcAft>
                <a:spcPts val="600"/>
              </a:spcAft>
            </a:pPr>
            <a:r>
              <a:rPr dirty="0"/>
              <a:t>EXAM RELEVANCE: </a:t>
            </a:r>
            <a:r>
              <a:rPr lang="en-US" dirty="0"/>
              <a:t>A</a:t>
            </a:r>
            <a:r>
              <a:rPr dirty="0"/>
              <a:t> scenario describing multiple steps with branching, retries, or a need to see where a process failed is pointing at orchestration rather than at more application code.</a:t>
            </a:r>
          </a:p>
          <a:p>
            <a:endParaRPr dirty="0"/>
          </a:p>
          <a:p>
            <a:pPr>
              <a:spcAft>
                <a:spcPts val="600"/>
              </a:spcAft>
            </a:pPr>
            <a:r>
              <a:rPr dirty="0"/>
              <a:t>PARTNER CONTEXT: </a:t>
            </a:r>
            <a:r>
              <a:rPr lang="en-US" dirty="0"/>
              <a:t>A</a:t>
            </a:r>
            <a:r>
              <a:rPr dirty="0"/>
              <a:t> customer whose multi-step process fails silently in the middle usually has the logic spread across functions with no shared state. Visible state is often the whole value.</a:t>
            </a:r>
          </a:p>
          <a:p>
            <a:endParaRPr dirty="0"/>
          </a:p>
          <a:p>
            <a:pPr>
              <a:spcAft>
                <a:spcPts val="600"/>
              </a:spcAft>
            </a:pPr>
            <a:r>
              <a:rPr dirty="0"/>
              <a:t>EXAM MAPPING: Domain 1.</a:t>
            </a:r>
          </a:p>
          <a:p>
            <a:endParaRPr dirty="0"/>
          </a:p>
          <a:p>
            <a:pPr>
              <a:spcAft>
                <a:spcPts val="600"/>
              </a:spcAft>
            </a:pPr>
            <a:r>
              <a:rPr lang="en-US" dirty="0"/>
              <a:t>REFERENCE: </a:t>
            </a:r>
            <a:r>
              <a:rPr dirty="0"/>
              <a:t>https://docs.aws.amazon.com/step-functions/latest/dg/welcome.html</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ARCHDIAGRAM: </a:t>
            </a:r>
            <a:r>
              <a:rPr lang="en-US" dirty="0"/>
              <a:t>T</a:t>
            </a:r>
            <a:r>
              <a:rPr dirty="0"/>
              <a:t>his slide is an AWS architecture diagram and follows AWS's own icon and type rules rather than the APCR devices -- icons at the fixed size, plain black labels, 2pt connectors. The APCR ramp stays on the chrome.</a:t>
            </a:r>
          </a:p>
          <a:p>
            <a:endParaRPr dirty="0"/>
          </a:p>
          <a:p>
            <a:pPr>
              <a:spcAft>
                <a:spcPts val="600"/>
              </a:spcAft>
            </a:pPr>
            <a:r>
              <a:rPr dirty="0"/>
              <a:t>WHAT'S HERE: </a:t>
            </a:r>
            <a:r>
              <a:rPr lang="en-US" dirty="0"/>
              <a:t>T</a:t>
            </a:r>
            <a:r>
              <a:rPr dirty="0"/>
              <a:t>he section, assembled. Everything taught separately over the last block, drawn as one request path so the room can see the shape they have been building toward.</a:t>
            </a:r>
          </a:p>
          <a:p>
            <a:endParaRPr dirty="0"/>
          </a:p>
          <a:p>
            <a:pPr>
              <a:spcAft>
                <a:spcPts val="600"/>
              </a:spcAft>
            </a:pPr>
            <a:r>
              <a:rPr dirty="0"/>
              <a:t>Walk it once, naming each service and what it owns: the front door, the code, the data, the notification. Then note what is absent from the picture -- there is no server, no operating system, and no capacity decision anywhere in it.</a:t>
            </a:r>
          </a:p>
          <a:p>
            <a:endParaRPr dirty="0"/>
          </a:p>
          <a:p>
            <a:pPr>
              <a:spcAft>
                <a:spcPts val="600"/>
              </a:spcAft>
            </a:pPr>
            <a:r>
              <a:rPr dirty="0"/>
              <a:t>This is the payoff slide for the section. Do not teach anything new here; the value is recognition.</a:t>
            </a:r>
          </a:p>
          <a:p>
            <a:endParaRPr dirty="0"/>
          </a:p>
          <a:p>
            <a:pPr>
              <a:spcAft>
                <a:spcPts val="600"/>
              </a:spcAft>
            </a:pPr>
            <a:r>
              <a:rPr dirty="0"/>
              <a:t>EXAM RELEVANCE: </a:t>
            </a:r>
            <a:r>
              <a:rPr lang="en-US" dirty="0"/>
              <a:t>S</a:t>
            </a:r>
            <a:r>
              <a:rPr dirty="0"/>
              <a:t>cenarios in this domain are usually a fragment of this diagram. Being able to place a question on it -- which box is this asking about -- is most of the work of answering it.</a:t>
            </a:r>
          </a:p>
          <a:p>
            <a:endParaRPr dirty="0"/>
          </a:p>
          <a:p>
            <a:pPr>
              <a:spcAft>
                <a:spcPts val="600"/>
              </a:spcAft>
            </a:pPr>
            <a:r>
              <a:rPr dirty="0"/>
              <a:t>PARTNER CONTEXT: </a:t>
            </a:r>
            <a:r>
              <a:rPr lang="en-US" dirty="0"/>
              <a:t>T</a:t>
            </a:r>
            <a:r>
              <a:rPr dirty="0"/>
              <a:t>his is a shape a </a:t>
            </a:r>
            <a:r>
              <a:rPr lang="en-US" dirty="0"/>
              <a:t>P</a:t>
            </a:r>
            <a:r>
              <a:rPr dirty="0"/>
              <a:t>artner can quote from memory when a customer asks what a small serverless service looks like, and every box in it is managed.</a:t>
            </a:r>
          </a:p>
          <a:p>
            <a:endParaRPr dirty="0"/>
          </a:p>
          <a:p>
            <a:pPr>
              <a:spcAft>
                <a:spcPts val="600"/>
              </a:spcAft>
            </a:pPr>
            <a:r>
              <a:rPr dirty="0"/>
              <a:t>EXAM MAPPING: Domain 1 through 1.4.</a:t>
            </a:r>
          </a:p>
          <a:p>
            <a:endParaRPr dirty="0"/>
          </a:p>
          <a:p>
            <a:pPr>
              <a:spcAft>
                <a:spcPts val="600"/>
              </a:spcAft>
            </a:pPr>
            <a:r>
              <a:rPr lang="en-US" dirty="0"/>
              <a:t>REFERENCE: </a:t>
            </a:r>
            <a:r>
              <a:rPr dirty="0"/>
              <a:t>https://docs.aws.amazon.com/lambda/latest/dg/welcome.html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Put the question to the room -- most applications need a data store, and the right one depends on the shape of the data and how it is queried. This audience already holds Cloud Practitioner, so treat the next two slides as a fast re-grounding: the managed relational and non-relational families first, then how DynamoDB differs from a relational engine.</a:t>
            </a:r>
          </a:p>
          <a:p>
            <a:endParaRPr/>
          </a:p>
          <a:p>
            <a:pPr>
              <a:spcAft>
                <a:spcPts val="600"/>
              </a:spcAft>
            </a:pPr>
            <a:r>
              <a:t>EXAM RELEVANCE: The exam expects a developer to pick a purpose-built data store for the access pattern rather than defaulting to one engine for everything. Knowing which managed service fits relational, document, in-memory, and key-value needs is what this short section checks.</a:t>
            </a:r>
          </a:p>
          <a:p>
            <a:endParaRPr/>
          </a:p>
          <a:p>
            <a:pPr>
              <a:spcAft>
                <a:spcPts val="600"/>
              </a:spcAft>
            </a:pPr>
            <a:r>
              <a:t>PARTNER CONTEXT: For a customer weighing a database choice, the useful move is to start from the access pattern and the data shape, not from a favorite engine -- a managed service then removes the administration work whichever family they land on.</a:t>
            </a:r>
          </a:p>
          <a:p>
            <a:endParaRPr/>
          </a:p>
          <a:p>
            <a:pPr>
              <a:spcAft>
                <a:spcPts val="600"/>
              </a:spcAft>
            </a:pPr>
            <a:r>
              <a:t>EXAM MAPPING: Domain 1 (choose a purpose-built data store for the workload).</a:t>
            </a:r>
          </a:p>
          <a:p>
            <a:endParaRPr/>
          </a:p>
          <a:p>
            <a:pPr>
              <a:spcAft>
                <a:spcPts val="600"/>
              </a:spcAft>
            </a:pPr>
            <a:r>
              <a:t>REFERENCE: https://docs.aws.amazon.com/AmazonRDS/latest/UserGuide/Welcome.html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AWS offers managed databases across two broad families. Relational: Amazon RDS runs common engines -- MySQL, PostgreSQL, MariaDB, Oracle, SQL Server -- and Amazon Aurora is a MySQL- and PostgreSQL-compatible engine built for higher performance and availability. Non-relational: Amazon DynamoDB for key-value and document workloads at scale, Amazon DocumentDB for MongoDB-compatible document data, and Amazon ElastiCache for in-memory caching. In every case AWS handles provisioning, patching, backups, and availability.</a:t>
            </a:r>
          </a:p>
          <a:p>
            <a:endParaRPr/>
          </a:p>
          <a:p>
            <a:pPr>
              <a:spcAft>
                <a:spcPts val="600"/>
              </a:spcAft>
            </a:pPr>
            <a:r>
              <a:t>EXAM RELEVANCE: Match the family to the need. A well-defined schema with joins and ad hoc queries points at RDS or Aurora; a flexible schema with high request rates points at DynamoDB; MongoDB-style documents point at DocumentDB; a cache or session store points at ElastiCache. Aurora is the answer when a scenario wants a relational engine with more throughput and read scaling than standard RDS. AWS states Aurora delivers up to five times the throughput of standard MySQL and three times that of standard PostgreSQL (docs.aws.amazon.com/AmazonRDS/latest/AuroraUserGuide/CHAP_AuroraOverview.html).</a:t>
            </a:r>
          </a:p>
          <a:p>
            <a:endParaRPr/>
          </a:p>
          <a:p>
            <a:pPr>
              <a:spcAft>
                <a:spcPts val="600"/>
              </a:spcAft>
            </a:pPr>
            <a:r>
              <a:t>PARTNER CONTEXT: For a customer self-managing a database on servers, moving to the matching managed service usually lets the same team keep its skills while handing the administration to AWS -- a common first step that frees people for application work.</a:t>
            </a:r>
          </a:p>
          <a:p>
            <a:endParaRPr/>
          </a:p>
          <a:p>
            <a:pPr>
              <a:spcAft>
                <a:spcPts val="600"/>
              </a:spcAft>
            </a:pPr>
            <a:r>
              <a:t>EXAM MAPPING: Domain 1 (select relational and non-relational data stores).</a:t>
            </a:r>
          </a:p>
          <a:p>
            <a:endParaRPr/>
          </a:p>
          <a:p>
            <a:pPr>
              <a:spcAft>
                <a:spcPts val="600"/>
              </a:spcAft>
            </a:pPr>
            <a:r>
              <a:t>REFERENCE: https://docs.aws.amazon.com/AmazonRDS/latest/UserGuide/Welcome.html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table is the fundamental structure in both a relational database and DynamoDB, but the models diverge from there. A relational database uses a well-defined schema with data normalized into tables, rows, and columns and relationships defined across them; it suits ad hoc queries, data warehousing, and online analytical processing. DynamoDB is schemaless -- every table needs a primary key to identify each item, but there are no constraints on the other attributes -- and it is built for web-scale applications such as social networks, gaming, media sharing, and Internet of Things, managing structured or semi-structured data including JSON documents.</a:t>
            </a:r>
          </a:p>
          <a:p>
            <a:endParaRPr/>
          </a:p>
          <a:p>
            <a:pPr>
              <a:spcAft>
                <a:spcPts val="600"/>
              </a:spcAft>
            </a:pPr>
            <a:r>
              <a:t>EXAM RELEVANCE: When a scenario stresses flexible schema, very high request rates, or simple key-based access at scale, the answer leans DynamoDB. When it stresses complex joins, ad hoc reporting, or a normalized schema with strong relationships, it leans relational. Recognizing which model a workload wants is the point of the contrast.</a:t>
            </a:r>
          </a:p>
          <a:p>
            <a:endParaRPr/>
          </a:p>
          <a:p>
            <a:pPr>
              <a:spcAft>
                <a:spcPts val="600"/>
              </a:spcAft>
            </a:pPr>
            <a:r>
              <a:t>PARTNER CONTEXT: For a customer deciding between the two, the honest guide is the access pattern: a known set of lookups at high volume favors DynamoDB, while unpredictable analytical queries across related data favor a relational engine. Choosing by data shape rather than familiarity avoids a costly re-platforming later.</a:t>
            </a:r>
          </a:p>
          <a:p>
            <a:endParaRPr/>
          </a:p>
          <a:p>
            <a:pPr>
              <a:spcAft>
                <a:spcPts val="600"/>
              </a:spcAft>
            </a:pPr>
            <a:r>
              <a:t>EXAM MAPPING: Domain 1 (contrast data models and choose a store).</a:t>
            </a:r>
          </a:p>
          <a:p>
            <a:endParaRPr/>
          </a:p>
          <a:p>
            <a:pPr>
              <a:spcAft>
                <a:spcPts val="600"/>
              </a:spcAft>
            </a:pPr>
            <a:r>
              <a:t>REFERENCE: https://docs.aws.amazon.com/amazondynamodb/latest/developerguide/SQLtoNoSQL.html</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Put the question to the room -- when one component calls another directly, a slow or failed consumer stalls the producer. A message service sits between them so each side runs, scales, and fails on its own. This audience already holds Cloud Practitioner, so treat the next few slides as a fast re-grounding: a queue for point-to-point work with Amazon SQS, then a topic for one-to-many delivery with Amazon SNS, and the fanout pattern that combines them.</a:t>
            </a:r>
          </a:p>
          <a:p>
            <a:endParaRPr/>
          </a:p>
          <a:p>
            <a:pPr>
              <a:spcAft>
                <a:spcPts val="600"/>
              </a:spcAft>
            </a:pPr>
            <a:r>
              <a:t>EXAM RELEVANCE: The exam expects a developer to reach for asynchronous, decoupled designs -- a queue to absorb bursts and retry safely, a topic to notify many subscribers -- rather than tight synchronous calls between services. Recognizing when to decouple, and with which service, is what this section checks.</a:t>
            </a:r>
          </a:p>
          <a:p>
            <a:endParaRPr/>
          </a:p>
          <a:p>
            <a:pPr>
              <a:spcAft>
                <a:spcPts val="600"/>
              </a:spcAft>
            </a:pPr>
            <a:r>
              <a:t>PARTNER CONTEXT: For a customer whose components fail together under load, introducing a queue or a topic is often the cheapest resilience win -- the producer keeps accepting work while consumers catch up, and no single slow step brings down the whole request path.</a:t>
            </a:r>
          </a:p>
          <a:p>
            <a:endParaRPr/>
          </a:p>
          <a:p>
            <a:pPr>
              <a:spcAft>
                <a:spcPts val="600"/>
              </a:spcAft>
            </a:pPr>
            <a:r>
              <a:t>EXAM MAPPING: Domain 1 (develop event-driven and decoupled solutions).</a:t>
            </a:r>
          </a:p>
          <a:p>
            <a:endParaRPr/>
          </a:p>
          <a:p>
            <a:pPr>
              <a:spcAft>
                <a:spcPts val="600"/>
              </a:spcAft>
            </a:pPr>
            <a:r>
              <a:t>REFERENCE: https://docs.aws.amazon.com/AWSSimpleQueueService/latest/SQSDeveloperGuide/welcome.html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A</a:t>
            </a:r>
            <a:r>
              <a:rPr dirty="0"/>
              <a:t> producer, a queue holding messages, and a consumer. The queue is drawn as a container with things waiting in it, because the waiting IS the mechanism.</a:t>
            </a:r>
          </a:p>
          <a:p>
            <a:endParaRPr dirty="0"/>
          </a:p>
          <a:p>
            <a:pPr>
              <a:spcAft>
                <a:spcPts val="600"/>
              </a:spcAft>
            </a:pPr>
            <a:r>
              <a:rPr dirty="0"/>
              <a:t>Say what the producer does after sending: it moves on. It does not wait for the consumer, and it does not need to know whether the consumer is even running right now.</a:t>
            </a:r>
          </a:p>
          <a:p>
            <a:endParaRPr dirty="0"/>
          </a:p>
          <a:p>
            <a:pPr>
              <a:spcAft>
                <a:spcPts val="600"/>
              </a:spcAft>
            </a:pPr>
            <a:r>
              <a:rPr dirty="0"/>
              <a:t>That is what decoupling buys. If the consumer is slow, or restarting, or scaled down to nothing, the messages wait rather than being lost.</a:t>
            </a:r>
          </a:p>
          <a:p>
            <a:endParaRPr dirty="0"/>
          </a:p>
          <a:p>
            <a:pPr>
              <a:spcAft>
                <a:spcPts val="600"/>
              </a:spcAft>
            </a:pPr>
            <a:r>
              <a:rPr dirty="0"/>
              <a:t>Point at the single arrow out of the queue. One worker takes each message -- that is the part that separates a queue from a topic, and the next slides build on it.</a:t>
            </a:r>
          </a:p>
          <a:p>
            <a:endParaRPr dirty="0"/>
          </a:p>
          <a:p>
            <a:pPr>
              <a:spcAft>
                <a:spcPts val="600"/>
              </a:spcAft>
            </a:pPr>
            <a:r>
              <a:rPr dirty="0"/>
              <a:t>EXAM RELEVANCE: </a:t>
            </a:r>
            <a:r>
              <a:rPr lang="en-US" dirty="0"/>
              <a:t>A</a:t>
            </a:r>
            <a:r>
              <a:rPr dirty="0"/>
              <a:t> scenario describing work that must not be lost when a downstream component is unavailable, or traffic that arrives faster than it can be processed, is describing a queue.</a:t>
            </a:r>
          </a:p>
          <a:p>
            <a:endParaRPr dirty="0"/>
          </a:p>
          <a:p>
            <a:pPr>
              <a:spcAft>
                <a:spcPts val="600"/>
              </a:spcAft>
            </a:pPr>
            <a:r>
              <a:rPr dirty="0"/>
              <a:t>PARTNER CONTEXT: </a:t>
            </a:r>
            <a:r>
              <a:rPr lang="en-US" dirty="0"/>
              <a:t>A</a:t>
            </a:r>
            <a:r>
              <a:rPr dirty="0"/>
              <a:t> customer whose checkout fails when a downstream service is down usually has a synchronous call where a queue belongs. The buffer is what turns an outage into a delay.</a:t>
            </a:r>
          </a:p>
          <a:p>
            <a:endParaRPr dirty="0"/>
          </a:p>
          <a:p>
            <a:pPr>
              <a:spcAft>
                <a:spcPts val="600"/>
              </a:spcAft>
            </a:pPr>
            <a:r>
              <a:rPr dirty="0"/>
              <a:t>EXAM MAPPING: Domain 1.</a:t>
            </a:r>
          </a:p>
          <a:p>
            <a:endParaRPr dirty="0"/>
          </a:p>
          <a:p>
            <a:pPr>
              <a:spcAft>
                <a:spcPts val="600"/>
              </a:spcAft>
            </a:pPr>
            <a:r>
              <a:rPr lang="en-US" dirty="0"/>
              <a:t>REFERENCE: </a:t>
            </a:r>
            <a:r>
              <a:rPr dirty="0"/>
              <a:t>https://docs.aws.amazon.com/AWSSimpleQueueService/latest/SQSDeveloperGuide/welcome.html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 published AWS case study, so every figure here </a:t>
            </a:r>
            <a:r>
              <a:rPr lang="en-US" dirty="0"/>
              <a:t>is</a:t>
            </a:r>
            <a:r>
              <a:rPr dirty="0"/>
              <a:t> DoorDash's and AWS's rather than ours. DoorDash is a local commerce platform. Read the rows left to right and you are working backwards from the customer's problem.</a:t>
            </a:r>
          </a:p>
          <a:p>
            <a:endParaRPr dirty="0"/>
          </a:p>
          <a:p>
            <a:pPr>
              <a:spcAft>
                <a:spcPts val="600"/>
              </a:spcAft>
            </a:pPr>
            <a:r>
              <a:rPr dirty="0"/>
              <a:t>THE SETUP: DoorDash ran a national TV ad inviting more than 100 million viewers to enter a sweepstakes by typing a code on a microsite. A sudden, enormous spike of entries was coming, and the site had to stay fast and reliable throughout.</a:t>
            </a:r>
          </a:p>
          <a:p>
            <a:endParaRPr dirty="0"/>
          </a:p>
          <a:p>
            <a:pPr>
              <a:spcAft>
                <a:spcPts val="600"/>
              </a:spcAft>
            </a:pPr>
            <a:r>
              <a:rPr dirty="0"/>
              <a:t>THE DECISION: </a:t>
            </a:r>
            <a:r>
              <a:rPr lang="en-US" dirty="0"/>
              <a:t>W</a:t>
            </a:r>
            <a:r>
              <a:rPr dirty="0"/>
              <a:t>ith its agency Wildlife, DoorDash built an event-driven architecture on serverless services. Amazon API Gateway fronts the intake, Amazon Simple Queue Service decouples submission processing, and AWS Lambda drains the queue behind it, so no servers are sized for peak.</a:t>
            </a:r>
          </a:p>
          <a:p>
            <a:endParaRPr dirty="0"/>
          </a:p>
          <a:p>
            <a:pPr>
              <a:spcAft>
                <a:spcPts val="600"/>
              </a:spcAft>
            </a:pPr>
            <a:r>
              <a:rPr dirty="0"/>
              <a:t>EXAM RELEVANCE: </a:t>
            </a:r>
            <a:r>
              <a:rPr lang="en-US" dirty="0"/>
              <a:t>T</a:t>
            </a:r>
            <a:r>
              <a:rPr dirty="0"/>
              <a:t>his is the messaging and compute material made real. A sudden spike that must not overwhelm the workers behind it points at a queue between the front door and the processing. The queue absorbs the burst and the consumers work at their own pace.</a:t>
            </a:r>
          </a:p>
          <a:p>
            <a:endParaRPr dirty="0"/>
          </a:p>
          <a:p>
            <a:pPr>
              <a:spcAft>
                <a:spcPts val="600"/>
              </a:spcAft>
            </a:pPr>
            <a:r>
              <a:rPr dirty="0"/>
              <a:t>IF THEY ASK ABOUT RESULTS: </a:t>
            </a:r>
            <a:r>
              <a:rPr lang="en-US" dirty="0"/>
              <a:t>T</a:t>
            </a:r>
            <a:r>
              <a:rPr dirty="0"/>
              <a:t>he page reports processing more than 10 million entries in five hours with virtually no downtime, with the API replicated across three Regions for redundancy.</a:t>
            </a:r>
          </a:p>
          <a:p>
            <a:endParaRPr dirty="0"/>
          </a:p>
          <a:p>
            <a:pPr>
              <a:spcAft>
                <a:spcPts val="600"/>
              </a:spcAft>
            </a:pPr>
            <a:r>
              <a:rPr dirty="0"/>
              <a:t>PARTNER CONTEXT: </a:t>
            </a:r>
            <a:r>
              <a:rPr lang="en-US" dirty="0"/>
              <a:t>W</a:t>
            </a:r>
            <a:r>
              <a:rPr dirty="0"/>
              <a:t>hen a customer expects a traffic surge from a campaign or launch, this is the pattern to reach for first -- put a managed queue between intake and processing before anyone proposes a bigger fleet of servers.</a:t>
            </a:r>
          </a:p>
          <a:p>
            <a:endParaRPr dirty="0"/>
          </a:p>
          <a:p>
            <a:pPr>
              <a:spcAft>
                <a:spcPts val="600"/>
              </a:spcAft>
            </a:pPr>
            <a:r>
              <a:rPr dirty="0"/>
              <a:t>EXAM MAPPING: Domain 1 (event-driven architecture, decoupling with Amazon SQS).</a:t>
            </a:r>
          </a:p>
          <a:p>
            <a:endParaRPr dirty="0"/>
          </a:p>
          <a:p>
            <a:pPr>
              <a:spcAft>
                <a:spcPts val="600"/>
              </a:spcAft>
            </a:pPr>
            <a:r>
              <a:rPr dirty="0"/>
              <a:t>ON DELIVERY: </a:t>
            </a:r>
            <a:r>
              <a:rPr lang="en-US" dirty="0"/>
              <a:t>T</a:t>
            </a:r>
            <a:r>
              <a:rPr dirty="0"/>
              <a:t>he SOURCE link is the published case study. Put it on screen and say plainly that this is the customer we are discussing. Tell the room these pages reward their own time afterwards -- not as exam preparation, but to see the services working together for a real customer.</a:t>
            </a:r>
          </a:p>
          <a:p>
            <a:endParaRPr dirty="0"/>
          </a:p>
          <a:p>
            <a:pPr>
              <a:spcAft>
                <a:spcPts val="600"/>
              </a:spcAft>
            </a:pPr>
            <a:r>
              <a:rPr dirty="0"/>
              <a:t>REFERENCE: https://aws.amazon.com/solutions/case-studies/doordash-serverless-case-study/</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Amazon Simple Notification Service (SNS) is a fully managed publish/subscribe messaging service. A publisher sends a message once to a topic, and SNS delivers a copy to every subscriber of that topic. Subscribers fall into two groups: application-to-application endpoints such as Amazon SQS queues, AWS Lambda functions, HTTP/S endpoints, and Amazon Data Firehose delivery streams; and application-to-person endpoints such as SMS text messages, mobile push, and email. Because delivery is push based, subscribers are notified as soon as the message is published.</a:t>
            </a:r>
          </a:p>
          <a:p>
            <a:endParaRPr/>
          </a:p>
          <a:p>
            <a:pPr>
              <a:spcAft>
                <a:spcPts val="600"/>
              </a:spcAft>
            </a:pPr>
            <a:r>
              <a:t>EXAM RELEVANCE: The benefits map to recognizable exam cues. Message filtering means a subscriber receives only the messages that match its filter policy, so you do not fan out everything to everyone. Message batching lets a publisher send up to ten messages in one API request. FIFO topics add strict ordering and deduplication when order matters. Encryption, delivery retries, and a dead-letter queue cover security and durability. When a scenario needs one event to reach several independent consumers, the answer is a topic, not a queue.</a:t>
            </a:r>
          </a:p>
          <a:p>
            <a:endParaRPr/>
          </a:p>
          <a:p>
            <a:pPr>
              <a:spcAft>
                <a:spcPts val="600"/>
              </a:spcAft>
            </a:pPr>
            <a:r>
              <a:t>PARTNER CONTEXT: For a customer wiring up notifications, a topic keeps the publisher unaware of who is listening -- new subscribers are added without touching the code that publishes, which is what lets an event-driven design grow without rework.</a:t>
            </a:r>
          </a:p>
          <a:p>
            <a:endParaRPr/>
          </a:p>
          <a:p>
            <a:pPr>
              <a:spcAft>
                <a:spcPts val="600"/>
              </a:spcAft>
            </a:pPr>
            <a:r>
              <a:t>EXAM MAPPING: Domain 1 (develop code using publish/subscribe messaging).</a:t>
            </a:r>
          </a:p>
          <a:p>
            <a:endParaRPr/>
          </a:p>
          <a:p>
            <a:pPr>
              <a:spcAft>
                <a:spcPts val="600"/>
              </a:spcAft>
            </a:pPr>
            <a:r>
              <a:t>REFERENCE: https://docs.aws.amazon.com/sns/latest/dg/welcome.html</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O</a:t>
            </a:r>
            <a:r>
              <a:rPr dirty="0"/>
              <a:t>ne message published once, arriving at three different places at the same time. The publisher does not know who the subscribers are.</a:t>
            </a:r>
          </a:p>
          <a:p>
            <a:endParaRPr dirty="0"/>
          </a:p>
          <a:p>
            <a:pPr>
              <a:spcAft>
                <a:spcPts val="600"/>
              </a:spcAft>
            </a:pPr>
            <a:r>
              <a:rPr dirty="0"/>
              <a:t>Point at the three arrows leaving the bus. They are parallel on purpose -- no subscriber is first and none waits for another. Each gets its own copy.</a:t>
            </a:r>
          </a:p>
          <a:p>
            <a:endParaRPr dirty="0"/>
          </a:p>
          <a:p>
            <a:pPr>
              <a:spcAft>
                <a:spcPts val="600"/>
              </a:spcAft>
            </a:pPr>
            <a:r>
              <a:rPr dirty="0"/>
              <a:t>Note the subscribers are different kinds of thing: a queue, a function, and a store. The publisher does not care, and adding a fourth changes nothing about the code that publishes.</a:t>
            </a:r>
          </a:p>
          <a:p>
            <a:endParaRPr dirty="0"/>
          </a:p>
          <a:p>
            <a:pPr>
              <a:spcAft>
                <a:spcPts val="600"/>
              </a:spcAft>
            </a:pPr>
            <a:r>
              <a:rPr dirty="0"/>
              <a:t>That is the value. A new consumer is a subscription, not a change to the producer.</a:t>
            </a:r>
          </a:p>
          <a:p>
            <a:endParaRPr dirty="0"/>
          </a:p>
          <a:p>
            <a:pPr>
              <a:spcAft>
                <a:spcPts val="600"/>
              </a:spcAft>
            </a:pPr>
            <a:r>
              <a:rPr dirty="0"/>
              <a:t>EXAM RELEVANCE: </a:t>
            </a:r>
            <a:r>
              <a:rPr lang="en-US" dirty="0"/>
              <a:t>A</a:t>
            </a:r>
            <a:r>
              <a:rPr dirty="0"/>
              <a:t> scenario where one event must reach several independent consumers is pointing at a topic. If it must reach exactly one worker, it is a queue.</a:t>
            </a:r>
          </a:p>
          <a:p>
            <a:endParaRPr dirty="0"/>
          </a:p>
          <a:p>
            <a:pPr>
              <a:spcAft>
                <a:spcPts val="600"/>
              </a:spcAft>
            </a:pPr>
            <a:r>
              <a:rPr dirty="0"/>
              <a:t>PARTNER CONTEXT: </a:t>
            </a:r>
            <a:r>
              <a:rPr lang="en-US" dirty="0"/>
              <a:t>A</a:t>
            </a:r>
            <a:r>
              <a:rPr dirty="0"/>
              <a:t> customer who has to modify their producer every time a new system needs the same event is describing the problem a topic solves.</a:t>
            </a:r>
          </a:p>
          <a:p>
            <a:endParaRPr dirty="0"/>
          </a:p>
          <a:p>
            <a:pPr>
              <a:spcAft>
                <a:spcPts val="600"/>
              </a:spcAft>
            </a:pPr>
            <a:r>
              <a:rPr dirty="0"/>
              <a:t>EXAM MAPPING: Domain 1.</a:t>
            </a:r>
          </a:p>
          <a:p>
            <a:endParaRPr dirty="0"/>
          </a:p>
          <a:p>
            <a:pPr>
              <a:spcAft>
                <a:spcPts val="600"/>
              </a:spcAft>
            </a:pPr>
            <a:r>
              <a:rPr lang="en-US" dirty="0"/>
              <a:t>REFERENCE: </a:t>
            </a:r>
            <a:r>
              <a:rPr dirty="0"/>
              <a:t>https://docs.aws.amazon.com/sns/latest/dg/welcome.html</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distinction that gets confused most often in this section, drawn so the geometry carries it. Both panels are the same size, so the only difference the eye finds is how many arrows leave the middle.</a:t>
            </a:r>
          </a:p>
          <a:p>
            <a:endParaRPr dirty="0"/>
          </a:p>
          <a:p>
            <a:pPr>
              <a:spcAft>
                <a:spcPts val="600"/>
              </a:spcAft>
            </a:pPr>
            <a:r>
              <a:rPr dirty="0"/>
              <a:t>On the left, one worker takes each message. On the right, every subscriber gets its own copy of the same message.</a:t>
            </a:r>
          </a:p>
          <a:p>
            <a:endParaRPr dirty="0"/>
          </a:p>
          <a:p>
            <a:pPr>
              <a:spcAft>
                <a:spcPts val="600"/>
              </a:spcAft>
            </a:pPr>
            <a:r>
              <a:rPr dirty="0"/>
              <a:t>Say the choosing question out loud: does this message need to be handled once, or does it need to reach several places? That question, not the service names, is what a scenario is really asking.</a:t>
            </a:r>
          </a:p>
          <a:p>
            <a:endParaRPr dirty="0"/>
          </a:p>
          <a:p>
            <a:pPr>
              <a:spcAft>
                <a:spcPts val="600"/>
              </a:spcAft>
            </a:pPr>
            <a:r>
              <a:rPr dirty="0"/>
              <a:t>Worth adding that the two combine -- a topic can deliver into queues, which is how you get fan-out and buffering at the same time.</a:t>
            </a:r>
          </a:p>
          <a:p>
            <a:endParaRPr dirty="0"/>
          </a:p>
          <a:p>
            <a:pPr>
              <a:spcAft>
                <a:spcPts val="600"/>
              </a:spcAft>
            </a:pPr>
            <a:r>
              <a:rPr dirty="0"/>
              <a:t>EXAM RELEVANCE: </a:t>
            </a:r>
            <a:r>
              <a:rPr lang="en-US" dirty="0"/>
              <a:t>T</a:t>
            </a:r>
            <a:r>
              <a:rPr dirty="0"/>
              <a:t>he words to hold are one consumer versus many. A scenario mentioning several independent systems reacting to the same event is a topic; one describing work items processed once is a queue.</a:t>
            </a:r>
          </a:p>
          <a:p>
            <a:endParaRPr dirty="0"/>
          </a:p>
          <a:p>
            <a:pPr>
              <a:spcAft>
                <a:spcPts val="600"/>
              </a:spcAft>
            </a:pPr>
            <a:r>
              <a:rPr dirty="0"/>
              <a:t>PARTNER CONTEXT: </a:t>
            </a:r>
            <a:r>
              <a:rPr lang="en-US" dirty="0"/>
              <a:t>A</a:t>
            </a:r>
            <a:r>
              <a:rPr dirty="0"/>
              <a:t> customer who wants both durability and fan-out often ends up with a topic in front of queues, and it helps to name that combination rather than presenting the two as alternatives.</a:t>
            </a:r>
          </a:p>
          <a:p>
            <a:endParaRPr dirty="0"/>
          </a:p>
          <a:p>
            <a:pPr>
              <a:spcAft>
                <a:spcPts val="600"/>
              </a:spcAft>
            </a:pPr>
            <a:r>
              <a:rPr dirty="0"/>
              <a:t>EXAM MAPPING: Domain 1.</a:t>
            </a:r>
          </a:p>
          <a:p>
            <a:endParaRPr dirty="0"/>
          </a:p>
          <a:p>
            <a:pPr>
              <a:spcAft>
                <a:spcPts val="600"/>
              </a:spcAft>
            </a:pPr>
            <a:r>
              <a:rPr lang="en-US" dirty="0"/>
              <a:t>REFERENCE: </a:t>
            </a:r>
            <a:r>
              <a:rPr dirty="0"/>
              <a:t>https://docs.aws.amazon.com/AWSSimpleQueueService/latest/SQSDeveloperGuide/welcome.html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Two AWS building blocks now belong in a developer's kit, for two different jobs. Amazon Bedrock puts a foundation model behind a single managed API so your application can generate text, answer questions, or hold a conversation. Kiro is an agentic development environment that turns your intent into working code. This audience already holds Cloud Practitioner, so treat the next few slides as a fast grounding in what each one is and when to reach for it.</a:t>
            </a:r>
          </a:p>
          <a:p>
            <a:endParaRPr/>
          </a:p>
          <a:p>
            <a:pPr>
              <a:spcAft>
                <a:spcPts val="600"/>
              </a:spcAft>
            </a:pPr>
            <a:r>
              <a:t>EXAM RELEVANCE: The exam now expects a developer to integrate a managed AI service into an application rather than train or host a model, and to recognize AI-assisted development tools. Knowing which service does which job -- inference for your app versus assistance while you build -- is what this short section sets up.</a:t>
            </a:r>
          </a:p>
          <a:p>
            <a:endParaRPr/>
          </a:p>
          <a:p>
            <a:pPr>
              <a:spcAft>
                <a:spcPts val="600"/>
              </a:spcAft>
            </a:pPr>
            <a:r>
              <a:t>PARTNER CONTEXT: For a customer who wants generative AI in a product without standing up model infrastructure, a managed service is the practical route: the model is operated for them, and the team writes application code against an API.</a:t>
            </a:r>
          </a:p>
          <a:p>
            <a:endParaRPr/>
          </a:p>
          <a:p>
            <a:pPr>
              <a:spcAft>
                <a:spcPts val="600"/>
              </a:spcAft>
            </a:pPr>
            <a:r>
              <a:t>EXAM MAPPING: Domain 1 (integrate managed AI services and use AI-assisted development tools).</a:t>
            </a:r>
          </a:p>
          <a:p>
            <a:endParaRPr/>
          </a:p>
          <a:p>
            <a:pPr>
              <a:spcAft>
                <a:spcPts val="600"/>
              </a:spcAft>
            </a:pPr>
            <a:r>
              <a:t>REFERENCE: https://docs.aws.amazon.com/bedrock/latest/userguide/what-is-bedrock.html</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Amazon Bedrock is a fully managed service that provides secure, enterprise-grade access to high-performing foundation models from leading AI companies, so you can build and scale generative AI applications. You do not train, host, or patch a model. You choose one of many available foundation models and call it from your application, and AWS runs the model behind the service. Because it is serverless, there is no inference infrastructure for your team to provision or scale.</a:t>
            </a:r>
          </a:p>
          <a:p>
            <a:endParaRPr/>
          </a:p>
          <a:p>
            <a:pPr>
              <a:spcAft>
                <a:spcPts val="600"/>
              </a:spcAft>
            </a:pPr>
            <a:r>
              <a:t>EXAM RELEVANCE: Recognize Bedrock as the managed path to generative AI inference. Typical developer scenarios are a conversational assistant that answers customer questions, generating or summarizing text, and answering over a company's own documents by supplying that content with the prompt. When a scenario asks how to add generative AI to an application without managing model infrastructure, Bedrock is the answer. Model choice is a configuration decision, not a rebuild, because every model is reached through the same service.</a:t>
            </a:r>
          </a:p>
          <a:p>
            <a:endParaRPr/>
          </a:p>
          <a:p>
            <a:pPr>
              <a:spcAft>
                <a:spcPts val="600"/>
              </a:spcAft>
            </a:pPr>
            <a:r>
              <a:t>PARTNER CONTEXT: For a customer weighing a build-your-own model against a managed service, Bedrock lets the team ship an AI feature in application code and defer the cost and operational burden of hosting a model, which is usually where a first generative AI project stalls.</a:t>
            </a:r>
          </a:p>
          <a:p>
            <a:endParaRPr/>
          </a:p>
          <a:p>
            <a:pPr>
              <a:spcAft>
                <a:spcPts val="600"/>
              </a:spcAft>
            </a:pPr>
            <a:r>
              <a:t>EXAM MAPPING: Domain 1 (integrate a managed AI service into an application).</a:t>
            </a:r>
          </a:p>
          <a:p>
            <a:endParaRPr/>
          </a:p>
          <a:p>
            <a:pPr>
              <a:spcAft>
                <a:spcPts val="600"/>
              </a:spcAft>
            </a:pPr>
            <a:r>
              <a:t>REFERENCE: https://docs.aws.amazon.com/bedrock/latest/userguide/what-is-bedrock.html</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Using Bedrock from code is a single request. Your application calls the bedrock-runtime endpoint through the AWS SDK, passing a model identifier and the prompt, and receives the model's response. Two operations cover most work: Converse, which takes a structured list of messages and is the straightforward choice for a chat-style exchange, and InvokeModel, which sends a model-specific request body when you need finer control. Both are ordinary SDK calls, so the same application code reaches any supported model by changing the model identifier.</a:t>
            </a:r>
          </a:p>
          <a:p>
            <a:endParaRPr/>
          </a:p>
          <a:p>
            <a:pPr>
              <a:spcAft>
                <a:spcPts val="600"/>
              </a:spcAft>
            </a:pPr>
            <a:r>
              <a:t>EXAM RELEVANCE: This is the shape behind the week's Bedrock question. A chatbot is an application that calls Converse on the bedrock-runtime endpoint with the conversation so far and returns the model's reply -- there is no server to stand up and no model to deploy. Expect to recognize that the integration is an SDK call against a managed endpoint, that the model is selected by identifier, and that moving to a different model does not change the surrounding application code.</a:t>
            </a:r>
          </a:p>
          <a:p>
            <a:endParaRPr/>
          </a:p>
          <a:p>
            <a:pPr>
              <a:spcAft>
                <a:spcPts val="600"/>
              </a:spcAft>
            </a:pPr>
            <a:r>
              <a:t>PARTNER CONTEXT: For a customer prototyping a generative AI feature, the one-request pattern means the first working version is a small amount of application code against an existing endpoint, so the team can test a use case before committing to a model or a design.</a:t>
            </a:r>
          </a:p>
          <a:p>
            <a:endParaRPr/>
          </a:p>
          <a:p>
            <a:pPr>
              <a:spcAft>
                <a:spcPts val="600"/>
              </a:spcAft>
            </a:pPr>
            <a:r>
              <a:t>EXAM MAPPING: Domain 1 (invoke a managed AI service using the AWS SDK).</a:t>
            </a:r>
          </a:p>
          <a:p>
            <a:endParaRPr/>
          </a:p>
          <a:p>
            <a:pPr>
              <a:spcAft>
                <a:spcPts val="600"/>
              </a:spcAft>
            </a:pPr>
            <a:r>
              <a:t>REFERENCE: https://docs.aws.amazon.com/bedrock/latest/userguide/inference.html</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 published AWS case study, so the figures are ASAPP's and AWS's rather than ours. ASAPP builds AI for customer service. Read the rows left to right: this is working backwards from the customer's problem.</a:t>
            </a:r>
          </a:p>
          <a:p>
            <a:endParaRPr dirty="0"/>
          </a:p>
          <a:p>
            <a:pPr>
              <a:spcAft>
                <a:spcPts val="600"/>
              </a:spcAft>
            </a:pPr>
            <a:r>
              <a:rPr dirty="0"/>
              <a:t>THE SETUP: ASAPP wanted its </a:t>
            </a:r>
            <a:r>
              <a:rPr dirty="0" err="1"/>
              <a:t>GenerativeAgent</a:t>
            </a:r>
            <a:r>
              <a:rPr dirty="0"/>
              <a:t> platform to hold natural, human-like conversations while protecting customers' personal data. Its own privacy layer slowed responses and limited how good the answers could be.</a:t>
            </a:r>
          </a:p>
          <a:p>
            <a:endParaRPr dirty="0"/>
          </a:p>
          <a:p>
            <a:pPr>
              <a:spcAft>
                <a:spcPts val="600"/>
              </a:spcAft>
            </a:pPr>
            <a:r>
              <a:rPr dirty="0"/>
              <a:t>THE DECISION: ASAPP moved to Amazon Bedrock, a fully managed service that offers a choice of high-performing foundation models through one API. Using </a:t>
            </a:r>
            <a:r>
              <a:rPr dirty="0" err="1"/>
              <a:t>Anthropic's</a:t>
            </a:r>
            <a:r>
              <a:rPr dirty="0"/>
              <a:t> Claude in Amazon Bedrock, it relies on built-in data-privacy controls rather than a homegrown layer.</a:t>
            </a:r>
          </a:p>
          <a:p>
            <a:endParaRPr dirty="0"/>
          </a:p>
          <a:p>
            <a:pPr>
              <a:spcAft>
                <a:spcPts val="600"/>
              </a:spcAft>
            </a:pPr>
            <a:r>
              <a:rPr dirty="0"/>
              <a:t>EXAM RELEVANCE: </a:t>
            </a:r>
            <a:r>
              <a:rPr lang="en-US" dirty="0"/>
              <a:t>T</a:t>
            </a:r>
            <a:r>
              <a:rPr dirty="0"/>
              <a:t>his is the Amazon Bedrock material made real. An application that needs to call a foundation model without running its own model infrastructure points at one managed runtime API. The model choice is a configuration detail, not a rebuild.</a:t>
            </a:r>
          </a:p>
          <a:p>
            <a:endParaRPr dirty="0"/>
          </a:p>
          <a:p>
            <a:pPr>
              <a:spcAft>
                <a:spcPts val="600"/>
              </a:spcAft>
            </a:pPr>
            <a:r>
              <a:rPr dirty="0"/>
              <a:t>IF THEY ASK ABOUT RESULTS: </a:t>
            </a:r>
            <a:r>
              <a:rPr lang="en-US" dirty="0"/>
              <a:t>T</a:t>
            </a:r>
            <a:r>
              <a:rPr dirty="0"/>
              <a:t>he page reports reducing call escalation by up to 40 percent and automating more than 90 percent of contact center interactions over voice or chat.</a:t>
            </a:r>
          </a:p>
          <a:p>
            <a:endParaRPr dirty="0"/>
          </a:p>
          <a:p>
            <a:pPr>
              <a:spcAft>
                <a:spcPts val="600"/>
              </a:spcAft>
            </a:pPr>
            <a:r>
              <a:rPr dirty="0"/>
              <a:t>PARTNER CONTEXT: </a:t>
            </a:r>
            <a:r>
              <a:rPr lang="en-US" dirty="0"/>
              <a:t>W</a:t>
            </a:r>
            <a:r>
              <a:rPr dirty="0"/>
              <a:t>hen a customer wants to add generative AI to an existing application, the first move is usually a managed model service reached through one API, rather than a bespoke model stack the team then has to operate.</a:t>
            </a:r>
          </a:p>
          <a:p>
            <a:endParaRPr dirty="0"/>
          </a:p>
          <a:p>
            <a:pPr>
              <a:spcAft>
                <a:spcPts val="600"/>
              </a:spcAft>
            </a:pPr>
            <a:r>
              <a:rPr dirty="0"/>
              <a:t>EXAM MAPPING: Domain 1 (integrating a managed AI service, Amazon Bedrock).</a:t>
            </a:r>
          </a:p>
          <a:p>
            <a:endParaRPr dirty="0"/>
          </a:p>
          <a:p>
            <a:pPr>
              <a:spcAft>
                <a:spcPts val="600"/>
              </a:spcAft>
            </a:pPr>
            <a:r>
              <a:rPr dirty="0"/>
              <a:t>ON DELIVERY: </a:t>
            </a:r>
            <a:r>
              <a:rPr lang="en-US" dirty="0"/>
              <a:t>T</a:t>
            </a:r>
            <a:r>
              <a:rPr dirty="0"/>
              <a:t>he SOURCE link is the published case study. Put it on screen and say plainly that this is the customer we are discussing. Tell the room these pages reward their own time afterwards -- not as exam preparation, but to see the services working together for a real customer.</a:t>
            </a:r>
          </a:p>
          <a:p>
            <a:endParaRPr dirty="0"/>
          </a:p>
          <a:p>
            <a:pPr>
              <a:spcAft>
                <a:spcPts val="600"/>
              </a:spcAft>
            </a:pPr>
            <a:r>
              <a:rPr dirty="0"/>
              <a:t>REFERENCE: https://aws.amazon.com/solutions/case-studies/asapp-case-study/</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Kiro is one agent, available everywhere you work -- the same agent is reached from an IDE, a command-line interface, and the web. It reads and edits the files in your project, runs tools and shell commands on your behalf, and works through a task rather than only answering a question. The point of an agentic development environment is that it takes an instruction, plans an approach, makes the changes, and shows you the result, so you review and steer the work instead of typing every edit yourself.</a:t>
            </a:r>
          </a:p>
          <a:p>
            <a:endParaRPr/>
          </a:p>
          <a:p>
            <a:pPr>
              <a:spcAft>
                <a:spcPts val="600"/>
              </a:spcAft>
            </a:pPr>
            <a:r>
              <a:t>EXAM RELEVANCE: The exam now recognizes AI-assisted development tools as part of a developer's workflow. Know Kiro as an agent that operates on your actual codebase -- planning, editing files, and running commands -- rather than a chat window that only returns text. That distinction, between an assistant that changes your project and one that merely describes a change, is the useful one to hold. How you direct that agent is the subject of the next slide.</a:t>
            </a:r>
          </a:p>
          <a:p>
            <a:endParaRPr/>
          </a:p>
          <a:p>
            <a:pPr>
              <a:spcAft>
                <a:spcPts val="600"/>
              </a:spcAft>
            </a:pPr>
            <a:r>
              <a:t>PARTNER CONTEXT: For a customer adopting AI-assisted development, the value is a consistent agent across tools: the same project rules and the same behavior whether a developer works in the editor or the terminal, so a team is not learning a different assistant per surface.</a:t>
            </a:r>
          </a:p>
          <a:p>
            <a:endParaRPr/>
          </a:p>
          <a:p>
            <a:pPr>
              <a:spcAft>
                <a:spcPts val="600"/>
              </a:spcAft>
            </a:pPr>
            <a:r>
              <a:t>EXAM MAPPING: Domain 1 (use AI-assisted development tools).</a:t>
            </a:r>
          </a:p>
          <a:p>
            <a:endParaRPr/>
          </a:p>
          <a:p>
            <a:pPr>
              <a:spcAft>
                <a:spcPts val="600"/>
              </a:spcAft>
            </a:pPr>
            <a:r>
              <a:t>REFERENCE: https://kiro.dev/docs/how-kiro-works/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Kiro gives you four distinct ways to direct the agent, and telling them apart is exactly what the week's Kiro question checks. Steering is persistent project context and conventions -- markdown files under .kiro/steering/ that the agent follows in every interaction, so you state a standard once instead of repeating it (kiro.dev/docs/steering/). A spec is a structured workflow for a feature or bug fix that produces three files, requirements then design then tasks, and tracks the work through those phases (kiro.dev/docs/specs/). Chat is the conversational way you build and refine in the moment. Hooks are event-driven automation around the agent loop, running an action when something happens rather than when you ask (kiro.dev/docs/hooks/).</a:t>
            </a:r>
          </a:p>
          <a:p>
            <a:endParaRPr/>
          </a:p>
          <a:p>
            <a:pPr>
              <a:spcAft>
                <a:spcPts val="600"/>
              </a:spcAft>
            </a:pPr>
            <a:r>
              <a:t>EXAM RELEVANCE: Match the mechanism to what a scenario needs. A rule the agent should always follow is steering. A larger piece of work that should be planned into requirements, design, and tracked tasks is a spec. An ad hoc request you make as you go is chat. An action that should fire automatically on an event is a hook. The trap is treating them as interchangeable -- a standing convention is not a chat message, and a planned multi-step feature is a spec rather than a single prompt.</a:t>
            </a:r>
          </a:p>
          <a:p>
            <a:endParaRPr/>
          </a:p>
          <a:p>
            <a:pPr>
              <a:spcAft>
                <a:spcPts val="600"/>
              </a:spcAft>
            </a:pPr>
            <a:r>
              <a:t>PARTNER CONTEXT: For a customer standardizing how a team uses an AI agent, steering committed with the repository gives everyone the same conventions, while specs make larger changes reviewable in phases -- which is what makes agent-assisted work auditable rather than ad hoc.</a:t>
            </a:r>
          </a:p>
          <a:p>
            <a:endParaRPr/>
          </a:p>
          <a:p>
            <a:pPr>
              <a:spcAft>
                <a:spcPts val="600"/>
              </a:spcAft>
            </a:pPr>
            <a:r>
              <a:t>EXAM MAPPING: Domain 1 (use AI-assisted development tools: specs, steering, chat, and hooks).</a:t>
            </a:r>
          </a:p>
          <a:p>
            <a:endParaRPr/>
          </a:p>
          <a:p>
            <a:pPr>
              <a:spcAft>
                <a:spcPts val="600"/>
              </a:spcAft>
            </a:pPr>
            <a:r>
              <a:t>REFERENCE: https://kiro.dev/docs/how-kiro-works/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This marks the shift from teaching to practice. The next questions apply this week's compute, data, and messaging services to exam-style scenarios.</a:t>
            </a:r>
          </a:p>
          <a:p>
            <a:endParaRPr/>
          </a:p>
          <a:p>
            <a:pPr>
              <a:spcAft>
                <a:spcPts val="600"/>
              </a:spcAft>
            </a:pPr>
            <a:r>
              <a:t>Frame it as a low-stakes checkpoint -- the goal is to surface which services still feel unclear, not to score anyone. Encourage the room to read each stem carefully before looking at the choices.</a:t>
            </a:r>
          </a:p>
          <a:p>
            <a:endParaRPr/>
          </a:p>
          <a:p>
            <a:pPr>
              <a:spcAft>
                <a:spcPts val="600"/>
              </a:spcAft>
            </a:pPr>
            <a:r>
              <a:t>Remind everyone that the four-beat rhythm -- read, find the key phrases, reveal, then walk through why -- is a study technique they can reuse on their own practice sets.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1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1: Development with AWS Services.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A customer running flash sales loses orders the moment DynamoDB throttles. Putting a FIFO queue between the API and the function means a spike waits in line instead of erroring, and the message group ID keeps each customer's orders in the sequence they arrived.</a:t>
            </a:r>
          </a:p>
          <a:p>
            <a:endParaRPr dirty="0"/>
          </a:p>
          <a:p>
            <a:pPr>
              <a:spcAft>
                <a:spcPts val="600"/>
              </a:spcAft>
            </a:pPr>
            <a:r>
              <a:rPr dirty="0"/>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“prevents order loss during traffic spikes while maintaining the order of processing”, and it tells you: Buffer a spike AND keep order points to an SQS FIFO queue as the event source.</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1: Development with AWS Services.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A customer running flash sales loses orders the moment DynamoDB throttles. Putting a FIFO queue between the API and the function means a spike waits in line instead of erroring, and the message group ID keeps each customer's orders in the sequence they arrived.</a:t>
            </a:r>
          </a:p>
          <a:p>
            <a:endParaRPr dirty="0"/>
          </a:p>
          <a:p>
            <a:pPr>
              <a:spcAft>
                <a:spcPts val="600"/>
              </a:spcAft>
            </a:pPr>
            <a:r>
              <a:rPr dirty="0"/>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A FIFO queue absorbs the spike and preserves order per group.</a:t>
            </a:r>
          </a:p>
          <a:p>
            <a:endParaRPr dirty="0"/>
          </a:p>
          <a:p>
            <a:pPr>
              <a:spcAft>
                <a:spcPts val="600"/>
              </a:spcAft>
            </a:pPr>
            <a:r>
              <a:rPr dirty="0"/>
              <a:t>A. Configure API Gateway to send orders directly to an Amazon SQS FIFO queue. Configure the Lambda function to use the SQS FIFO queue as an event source. — Correct — A FIFO queue placed between API Gateway and Lambda decouples ingestion from processing. If DynamoDB throttles, messages stay in the queue and are retried instead of being lost. Ordering is guaranteed per message group ID rather than per queue. Every message sent to a FIFO queue carries a group ID, order is preserved only within a group, and Lambda scales its concurrency per group, so the group ID is the design decision that delivers the ordering requirement. FIFO deduplication is bounded by a 5-minute interval, so exactly-once handling applies within that window rather than indefinitely.</a:t>
            </a:r>
          </a:p>
          <a:p>
            <a:endParaRPr dirty="0"/>
          </a:p>
          <a:p>
            <a:pPr>
              <a:spcAft>
                <a:spcPts val="600"/>
              </a:spcAft>
            </a:pPr>
            <a:r>
              <a:rPr dirty="0"/>
              <a:t>B. Enable DynamoDB auto scaling on the table. Increase the maximum write capacity units to handle peak traffic. — Incorrect — DynamoDB auto scaling adjusts capacity based on utilization. However, auto scaling reacts to sustained traffic changes and can take several minutes to scale up. During sudden traffic spikes, throttling can still occur before scaling takes effect. This does not guarantee zero order loss during bursts.</a:t>
            </a:r>
          </a:p>
          <a:p>
            <a:endParaRPr dirty="0"/>
          </a:p>
          <a:p>
            <a:pPr>
              <a:spcAft>
                <a:spcPts val="600"/>
              </a:spcAft>
            </a:pPr>
            <a:r>
              <a:rPr dirty="0"/>
              <a:t>C. Configure the Lambda function with a dead-letter queue. Reprocess failed orders from the dead-letter queue after the traffic spike. — Incorrect — A dead-letter queue captures failed invocations from asynchronous Lambda invocations. API Gateway synchronously invokes Lambda for REST API requests. Failed DynamoDB writes within the function code would need application-level error handling. Additionally, reprocessing after the spike does not maintain order of processing.</a:t>
            </a:r>
          </a:p>
          <a:p>
            <a:endParaRPr dirty="0"/>
          </a:p>
          <a:p>
            <a:pPr>
              <a:spcAft>
                <a:spcPts val="600"/>
              </a:spcAft>
            </a:pPr>
            <a:r>
              <a:rPr dirty="0"/>
              <a:t>D. Switch the DynamoDB table to on-demand capacity mode. Configure the Lambda function with exponential backoff retries. — Incorrect — On-demand capacity mode handles unpredictable traffic. However, on-demand tables still have an initial throughput that ramps up gradually for new tables. Exponential backoff helps but does not guarantee order of processing because concurrent Lambda invocations can complete their retries in different orders.</a:t>
            </a:r>
          </a:p>
          <a:p>
            <a:endParaRPr dirty="0"/>
          </a:p>
          <a:p>
            <a:pPr>
              <a:spcAft>
                <a:spcPts val="600"/>
              </a:spcAft>
            </a:pPr>
            <a:r>
              <a:rPr dirty="0"/>
              <a:t>EXAM RELEVANCE: Domain 1: Development with AWS Services. Difficulty: Medium.</a:t>
            </a:r>
          </a:p>
          <a:p>
            <a:endParaRPr dirty="0"/>
          </a:p>
          <a:p>
            <a:pPr>
              <a:spcAft>
                <a:spcPts val="600"/>
              </a:spcAft>
            </a:pPr>
            <a:r>
              <a:rPr lang="en-US" dirty="0"/>
              <a:t>REFERENCE: </a:t>
            </a:r>
            <a:r>
              <a:rPr dirty="0"/>
              <a:t>https://docs.aws.amazon.com/AWSSimpleQueueService/latest/SQSDeveloperGuide/FIFO-queues.html</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wins because a FIFO queue absorbs the spike and preserves order per group. The other three are ruled out for one reason each: B — Auto scaling still throttles until the extra capacity catches up; C — A dead-letter queue handles failures, it does not keep order; D — On-demand plus retries can still drop and reorder the orders. Read the tell strip aloud -- pairing a phrase with what it signals is the transferable skill, not memorizing the service name.</a:t>
            </a:r>
          </a:p>
          <a:p>
            <a:endParaRPr dirty="0"/>
          </a:p>
          <a:p>
            <a:pPr>
              <a:spcAft>
                <a:spcPts val="600"/>
              </a:spcAft>
            </a:pPr>
            <a:r>
              <a:rPr dirty="0"/>
              <a:t>EXAM RELEVANCE: Domain 1: Development with AWS Services. Difficulty: Medium. The pattern to teach: a scenario question rarely offers three absurd options. It offers one that matches the requirement exactly and others that match a nearby requirement. Here the discriminator is “prevents order loss during traffic spikes while maintaining the order of processing”, which points at Buffer a spike AND keep order points to an SQS FIFO queue as the event source. Encourage the room to name the phrase before naming the service.</a:t>
            </a:r>
          </a:p>
          <a:p>
            <a:endParaRPr dirty="0"/>
          </a:p>
          <a:p>
            <a:pPr>
              <a:spcAft>
                <a:spcPts val="600"/>
              </a:spcAft>
            </a:pPr>
            <a:r>
              <a:rPr dirty="0"/>
              <a:t>PARTNER CONTEXT: A customer running flash sales loses orders the moment DynamoDB throttles. Putting a FIFO queue between the API and the function means a spike waits in line instead of erroring, and the message group ID keeps each customer's orders in the sequence they arrived.</a:t>
            </a:r>
          </a:p>
          <a:p>
            <a:endParaRPr dirty="0"/>
          </a:p>
          <a:p>
            <a:pPr>
              <a:spcAft>
                <a:spcPts val="600"/>
              </a:spcAft>
            </a:pPr>
            <a:r>
              <a:rPr lang="en-US" dirty="0"/>
              <a:t>REFERENCE: </a:t>
            </a:r>
            <a:r>
              <a:rPr dirty="0"/>
              <a:t>https://docs.aws.amazon.com/AWSSimpleQueueService/latest/SQSDeveloperGuide/FIFO-queues.html</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2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1: Development with AWS Services.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A customer wants a support bot grounded in their own product PDFs, not generic answers. A knowledge base points Bedrock straight at the S3 bucket and the </a:t>
            </a:r>
            <a:r>
              <a:rPr dirty="0" err="1"/>
              <a:t>RetrieveAndGenerate</a:t>
            </a:r>
            <a:r>
              <a:rPr dirty="0"/>
              <a:t> call does retrieval and response in one step, so the win you show is how little code sits between their documents and a grounded reply.</a:t>
            </a:r>
          </a:p>
          <a:p>
            <a:endParaRPr dirty="0"/>
          </a:p>
          <a:p>
            <a:pPr>
              <a:spcAft>
                <a:spcPts val="600"/>
              </a:spcAft>
            </a:pPr>
            <a:r>
              <a:rPr dirty="0"/>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“reference this documentation when generating responses ... LEAST custom code”, and it tells you: Least code plus your own documents points to a Bedrock knowledge base.</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1: Development with AWS Services.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A customer wants a support bot grounded in their own product PDFs, not generic answers. A knowledge base points Bedrock straight at the S3 bucket and the </a:t>
            </a:r>
            <a:r>
              <a:rPr dirty="0" err="1"/>
              <a:t>RetrieveAndGenerate</a:t>
            </a:r>
            <a:r>
              <a:rPr dirty="0"/>
              <a:t> call does retrieval and response in one step, so the win you show is how little code sits between their documents and a grounded reply.</a:t>
            </a:r>
          </a:p>
          <a:p>
            <a:endParaRPr dirty="0"/>
          </a:p>
          <a:p>
            <a:pPr>
              <a:spcAft>
                <a:spcPts val="600"/>
              </a:spcAft>
            </a:pPr>
            <a:r>
              <a:rPr dirty="0"/>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A Bedrock </a:t>
            </a:r>
            <a:r>
              <a:rPr lang="en-US" dirty="0"/>
              <a:t>K</a:t>
            </a:r>
            <a:r>
              <a:rPr dirty="0"/>
              <a:t>nowledge </a:t>
            </a:r>
            <a:r>
              <a:rPr lang="en-US" dirty="0"/>
              <a:t>B</a:t>
            </a:r>
            <a:r>
              <a:rPr dirty="0"/>
              <a:t>ase indexes S3 and answers in one API call.</a:t>
            </a:r>
          </a:p>
          <a:p>
            <a:endParaRPr dirty="0"/>
          </a:p>
          <a:p>
            <a:pPr>
              <a:spcAft>
                <a:spcPts val="600"/>
              </a:spcAft>
            </a:pPr>
            <a:r>
              <a:rPr dirty="0"/>
              <a:t>A. Create a knowledge base in Amazon Bedrock. Configure the S3 bucket as a data source. Use the </a:t>
            </a:r>
            <a:r>
              <a:rPr dirty="0" err="1"/>
              <a:t>RetrieveAndGenerate</a:t>
            </a:r>
            <a:r>
              <a:rPr dirty="0"/>
              <a:t> API to query the knowledge base when users ask questions. — Correct — Amazon Bedrock Knowledge Bases connects foundation models to company data sources. Configuring S3 as a data source allows Bedrock to automatically index the documents. The </a:t>
            </a:r>
            <a:r>
              <a:rPr dirty="0" err="1"/>
              <a:t>RetrieveAndGenerate</a:t>
            </a:r>
            <a:r>
              <a:rPr dirty="0"/>
              <a:t> API handles retrieval and response generation in a single call with minimal custom code required.</a:t>
            </a:r>
          </a:p>
          <a:p>
            <a:endParaRPr dirty="0"/>
          </a:p>
          <a:p>
            <a:pPr>
              <a:spcAft>
                <a:spcPts val="600"/>
              </a:spcAft>
            </a:pPr>
            <a:r>
              <a:rPr dirty="0"/>
              <a:t>B. Write a Lambda function that downloads PDFs from S3, extracts text, generates embeddings, and stores them in Amazon OpenSearch Service. Write another Lambda function that queries OpenSearch and passes results to Bedrock. — Incorrect — This approach requires significant custom code to handle document parsing, embedding generation, vector storage, and retrieval orchestration. Amazon Bedrock Knowledge Bases provides this functionality as a managed service, eliminating the need for custom embedding and retrieval code.</a:t>
            </a:r>
          </a:p>
          <a:p>
            <a:endParaRPr dirty="0"/>
          </a:p>
          <a:p>
            <a:pPr>
              <a:spcAft>
                <a:spcPts val="600"/>
              </a:spcAft>
            </a:pPr>
            <a:r>
              <a:rPr dirty="0"/>
              <a:t>C. Include the full text of all product documentation in the system prompt for each Bedrock API call. — Incorrect — Foundation models have context window limits. Including all product documentation in every prompt is impractical for large document sets and would exceed token limits. This approach also increases cost per request and does not scale as documentation grows.</a:t>
            </a:r>
          </a:p>
          <a:p>
            <a:endParaRPr dirty="0"/>
          </a:p>
          <a:p>
            <a:pPr>
              <a:spcAft>
                <a:spcPts val="600"/>
              </a:spcAft>
            </a:pPr>
            <a:r>
              <a:rPr dirty="0"/>
              <a:t>D. Use Amazon Q to index the S3 bucket. Configure the chatbot to call the Amazon Q API for product questions. — Incorrect — Amazon Q is designed for enterprise knowledge search and developer assistance. For building a custom chatbot application that generates responses using company documentation with a foundation model, Amazon Bedrock Knowledge Bases is the appropriate service. Amazon Q does not provide the same level of control over response generation.</a:t>
            </a:r>
          </a:p>
          <a:p>
            <a:endParaRPr dirty="0"/>
          </a:p>
          <a:p>
            <a:pPr>
              <a:spcAft>
                <a:spcPts val="600"/>
              </a:spcAft>
            </a:pPr>
            <a:r>
              <a:rPr dirty="0"/>
              <a:t>EXAM RELEVANCE: Domain 1: Development with AWS Services. Difficulty: Medium.</a:t>
            </a:r>
          </a:p>
          <a:p>
            <a:endParaRPr dirty="0"/>
          </a:p>
          <a:p>
            <a:pPr>
              <a:spcAft>
                <a:spcPts val="600"/>
              </a:spcAft>
            </a:pPr>
            <a:r>
              <a:rPr lang="en-US" dirty="0"/>
              <a:t>REFERENCE: </a:t>
            </a:r>
            <a:r>
              <a:rPr dirty="0"/>
              <a:t>https://docs.aws.amazon.com/bedrock/latest/userguide/knowledge-base.html</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wins because a Bedrock </a:t>
            </a:r>
            <a:r>
              <a:rPr lang="en-US" dirty="0"/>
              <a:t>K</a:t>
            </a:r>
            <a:r>
              <a:rPr dirty="0"/>
              <a:t>nowledge </a:t>
            </a:r>
            <a:r>
              <a:rPr lang="en-US" dirty="0"/>
              <a:t>B</a:t>
            </a:r>
            <a:r>
              <a:rPr dirty="0"/>
              <a:t>ase indexes S3 and answers in one API call. The other three are ruled out for one reason each: B — Hand-built embeddings and a search cluster are the most custom code; C — Putting every document in the prompt does not scale; D — A separate managed assistant adds another service to wire up. Read the tell strip aloud -- pairing a phrase with what it signals is the transferable skill, not memorizing the service name.</a:t>
            </a:r>
          </a:p>
          <a:p>
            <a:endParaRPr dirty="0"/>
          </a:p>
          <a:p>
            <a:pPr>
              <a:spcAft>
                <a:spcPts val="600"/>
              </a:spcAft>
            </a:pPr>
            <a:r>
              <a:rPr dirty="0"/>
              <a:t>EXAM RELEVANCE: Domain 1: Development with AWS Services. Difficulty: Medium. The pattern to teach: a scenario question rarely offers three absurd options. It offers one that matches the requirement exactly and others that match a nearby requirement. Here the discriminator is “reference this documentation when generating responses ... LEAST custom code”, which points at Least code plus your own documents points to a Bedrock knowledge base. Encourage the room to name the phrase before naming the service.</a:t>
            </a:r>
          </a:p>
          <a:p>
            <a:endParaRPr dirty="0"/>
          </a:p>
          <a:p>
            <a:pPr>
              <a:spcAft>
                <a:spcPts val="600"/>
              </a:spcAft>
            </a:pPr>
            <a:r>
              <a:rPr dirty="0"/>
              <a:t>PARTNER CONTEXT: A customer wants a support bot grounded in their own product PDFs, not generic answers. A knowledge base points Bedrock straight at the S3 bucket and the </a:t>
            </a:r>
            <a:r>
              <a:rPr dirty="0" err="1"/>
              <a:t>RetrieveAndGenerate</a:t>
            </a:r>
            <a:r>
              <a:rPr dirty="0"/>
              <a:t> call does retrieval and response in one step, so the win you show is how little code sits between their documents and a grounded reply.</a:t>
            </a:r>
          </a:p>
          <a:p>
            <a:endParaRPr dirty="0"/>
          </a:p>
          <a:p>
            <a:pPr>
              <a:spcAft>
                <a:spcPts val="600"/>
              </a:spcAft>
            </a:pPr>
            <a:r>
              <a:rPr lang="en-US" dirty="0"/>
              <a:t>REFERENCE: </a:t>
            </a:r>
            <a:r>
              <a:rPr dirty="0"/>
              <a:t>https://docs.aws.amazon.com/bedrock/latest/userguide/knowledge-base.html</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3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4: Troubleshooting and Optimization.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A customer's image pipeline is compute-bound and they reach for concurrency out of habit. The value you add is showing that on Lambda the CPU scales with the memory setting, so raising memory is the lever that actually shortens each resize rather than running more of them at once.</a:t>
            </a:r>
          </a:p>
          <a:p>
            <a:endParaRPr dirty="0"/>
          </a:p>
          <a:p>
            <a:pPr>
              <a:spcAft>
                <a:spcPts val="600"/>
              </a:spcAft>
            </a:pPr>
            <a:r>
              <a:rPr dirty="0"/>
              <a:t>EXAM MAPPING: Domain 4: Troubleshooting and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“MOST effectively reduce the Lambda function's processing time”, and it tells you: Faster per-invocation work points to more memory, which is more CPU.</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4: Troubleshooting and Optimization.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A customer's image pipeline is compute-bound and they reach for concurrency out of habit. The value you add is showing that on Lambda the CPU scales with the memory setting, so raising memory is the lever that actually shortens each resize rather than running more of them at once.</a:t>
            </a:r>
          </a:p>
          <a:p>
            <a:endParaRPr dirty="0"/>
          </a:p>
          <a:p>
            <a:pPr>
              <a:spcAft>
                <a:spcPts val="600"/>
              </a:spcAft>
            </a:pPr>
            <a:r>
              <a:rPr dirty="0"/>
              <a:t>EXAM MAPPING: Domain 4: Troubleshooting and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B. More memory gives Lambda more CPU, so each resize finishes sooner.</a:t>
            </a:r>
          </a:p>
          <a:p>
            <a:endParaRPr dirty="0"/>
          </a:p>
          <a:p>
            <a:pPr>
              <a:spcAft>
                <a:spcPts val="600"/>
              </a:spcAft>
            </a:pPr>
            <a:r>
              <a:rPr dirty="0"/>
              <a:t>A. Increase the function's reserved concurrency to allow more simultaneous executions. — Incorrect — Reserved concurrency controls how many instances of the function can run simultaneously. It does not affect the processing time of individual invocations. Each invocation still takes 15 seconds regardless of concurrency settings.</a:t>
            </a:r>
          </a:p>
          <a:p>
            <a:endParaRPr dirty="0"/>
          </a:p>
          <a:p>
            <a:pPr>
              <a:spcAft>
                <a:spcPts val="600"/>
              </a:spcAft>
            </a:pPr>
            <a:r>
              <a:rPr dirty="0"/>
              <a:t>B. Increase the function's memory allocation to provide more CPU power for image processing. — Correct — Lambda allocates CPU power in proportion to the amount of memory configured. Image resizing is CPU-intensive. Increasing memory from 512 MB gives the function more CPU cores and processing power, directly reducing the time required for computation-heavy operations like image processing.</a:t>
            </a:r>
          </a:p>
          <a:p>
            <a:endParaRPr dirty="0"/>
          </a:p>
          <a:p>
            <a:pPr>
              <a:spcAft>
                <a:spcPts val="600"/>
              </a:spcAft>
            </a:pPr>
            <a:r>
              <a:rPr dirty="0"/>
              <a:t>C. Enable provisioned concurrency for the function to eliminate cold starts. — Incorrect — Provisioned concurrency eliminates cold start latency by pre-initializing execution environments. However, the question states the function takes 15 seconds to process each image, which is execution time, not initialization time. Eliminating cold starts would not reduce the 15-second processing duration.</a:t>
            </a:r>
          </a:p>
          <a:p>
            <a:endParaRPr dirty="0"/>
          </a:p>
          <a:p>
            <a:pPr>
              <a:spcAft>
                <a:spcPts val="600"/>
              </a:spcAft>
            </a:pPr>
            <a:r>
              <a:rPr dirty="0"/>
              <a:t>D. Increase the function's timeout value to 60 seconds. — Incorrect — Increasing the timeout prevents the function from being terminated before processing completes but does not reduce processing time. The function still takes 15 seconds per image. Timeout only sets the maximum allowed duration.</a:t>
            </a:r>
          </a:p>
          <a:p>
            <a:endParaRPr dirty="0"/>
          </a:p>
          <a:p>
            <a:pPr>
              <a:spcAft>
                <a:spcPts val="600"/>
              </a:spcAft>
            </a:pPr>
            <a:r>
              <a:rPr dirty="0"/>
              <a:t>EXAM RELEVANCE: Domain 4: Troubleshooting and Optimization. Difficulty: Medium.</a:t>
            </a:r>
          </a:p>
          <a:p>
            <a:endParaRPr dirty="0"/>
          </a:p>
          <a:p>
            <a:pPr>
              <a:spcAft>
                <a:spcPts val="600"/>
              </a:spcAft>
            </a:pPr>
            <a:r>
              <a:rPr lang="en-US" dirty="0"/>
              <a:t>REFERENCE: </a:t>
            </a:r>
            <a:r>
              <a:rPr dirty="0"/>
              <a:t>https://docs.aws.amazon.com/lambda/latest/dg/configuration-memory.html</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B wins because more memory gives Lambda more CPU, so each resize finishes sooner. The other three are ruled out for one reason each: A — Reserved concurrency adds parallel runs, not faster ones; C — Provisioned concurrency removes cold starts, not run time; D — A longer timeout lets it run longer, it does not speed it up. Read the tell strip aloud -- pairing a phrase with what it signals is the transferable skill, not memorizing the service name.</a:t>
            </a:r>
          </a:p>
          <a:p>
            <a:endParaRPr dirty="0"/>
          </a:p>
          <a:p>
            <a:pPr>
              <a:spcAft>
                <a:spcPts val="600"/>
              </a:spcAft>
            </a:pPr>
            <a:r>
              <a:rPr dirty="0"/>
              <a:t>EXAM RELEVANCE: Domain 4: Troubleshooting and Optimization. Difficulty: Medium. The pattern to teach: a scenario question rarely offers three absurd options. It offers one that matches the requirement exactly and others that match a nearby requirement. Here the discriminator is “MOST effectively reduce the Lambda function's processing time”, which points at Faster per-invocation work points to more memory, which is more CPU. Encourage the room to name the phrase before naming the service.</a:t>
            </a:r>
          </a:p>
          <a:p>
            <a:endParaRPr dirty="0"/>
          </a:p>
          <a:p>
            <a:pPr>
              <a:spcAft>
                <a:spcPts val="600"/>
              </a:spcAft>
            </a:pPr>
            <a:r>
              <a:rPr dirty="0"/>
              <a:t>PARTNER CONTEXT: A customer's image pipeline is compute-bound and they reach for concurrency out of habit. The value you add is showing that on Lambda the CPU scales with the memory setting, so raising memory is the lever that actually shortens each resize rather than running more of them at once.</a:t>
            </a:r>
          </a:p>
          <a:p>
            <a:endParaRPr dirty="0"/>
          </a:p>
          <a:p>
            <a:pPr>
              <a:spcAft>
                <a:spcPts val="600"/>
              </a:spcAft>
            </a:pPr>
            <a:r>
              <a:rPr lang="en-US" dirty="0"/>
              <a:t>REFERENCE: </a:t>
            </a:r>
            <a:r>
              <a:rPr dirty="0"/>
              <a:t>https://docs.aws.amazon.com/lambda/latest/dg/configuration-memory.html</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4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1: Development with AWS Services.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A customer needs a new lookup by email without slowing the writes they already depend on. A GSI adds that access pattern with its own capacity -- and the caveat worth raising is to provision the index's write capacity to match the base table, because an under-fed index throttles the very writes it was meant to leave alone.</a:t>
            </a:r>
          </a:p>
          <a:p>
            <a:endParaRPr dirty="0"/>
          </a:p>
          <a:p>
            <a:pPr>
              <a:spcAft>
                <a:spcPts val="600"/>
              </a:spcAft>
            </a:pPr>
            <a:r>
              <a:rPr dirty="0"/>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“query capability with the LEAST impact on the table's existing write performance”, and it tells you: Query a non-key attribute without touching writes points to a global secondary index.</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1: Development with AWS Services.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A customer needs a new lookup by email without slowing the writes they already depend on. A GSI adds that access pattern with its own capacity -- and the caveat worth raising is to provision the index's write capacity to match the base table, because an under-fed index throttles the very writes it was meant to leave alone.</a:t>
            </a:r>
          </a:p>
          <a:p>
            <a:endParaRPr dirty="0"/>
          </a:p>
          <a:p>
            <a:pPr>
              <a:spcAft>
                <a:spcPts val="600"/>
              </a:spcAft>
            </a:pPr>
            <a:r>
              <a:rPr dirty="0"/>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A global secondary index queries email with its own throughput.</a:t>
            </a:r>
          </a:p>
          <a:p>
            <a:endParaRPr dirty="0"/>
          </a:p>
          <a:p>
            <a:pPr>
              <a:spcAft>
                <a:spcPts val="600"/>
              </a:spcAft>
            </a:pPr>
            <a:r>
              <a:rPr dirty="0"/>
              <a:t>A. Create a global secondary index (GSI) with email as the partition key. Query the GSI when searching by email address. — Correct — A global secondary index supports queries on a non-key attribute without changing the base table's primary key. The index maintains its own throughput settings and is updated asynchronously, so reads against the index do not consume base-table capacity. One caveat matters more than the rest: if the index does not have enough write capacity to keep up, writes to the base table are throttled. Provision the index's write capacity to match the base table's write rate, or use on-demand mode for both. A local secondary index cannot solve this, because an LSI must be created with the table and shares the base table's partition key.</a:t>
            </a:r>
          </a:p>
          <a:p>
            <a:endParaRPr dirty="0"/>
          </a:p>
          <a:p>
            <a:pPr>
              <a:spcAft>
                <a:spcPts val="600"/>
              </a:spcAft>
            </a:pPr>
            <a:r>
              <a:rPr dirty="0"/>
              <a:t>B. Create a local secondary index (LSI) with email as the sort key. Query the LSI when searching by email address. — Incorrect — A local secondary index must be created at table creation time and cannot be added to an existing table. LSIs share the base table's provisioned throughput. Additionally, an LSI uses the same partition key as the base table (</a:t>
            </a:r>
            <a:r>
              <a:rPr dirty="0" err="1"/>
              <a:t>user_id</a:t>
            </a:r>
            <a:r>
              <a:rPr dirty="0"/>
              <a:t>), so it cannot enable queries solely by email address.</a:t>
            </a:r>
          </a:p>
          <a:p>
            <a:endParaRPr dirty="0"/>
          </a:p>
          <a:p>
            <a:pPr>
              <a:spcAft>
                <a:spcPts val="600"/>
              </a:spcAft>
            </a:pPr>
            <a:r>
              <a:rPr dirty="0"/>
              <a:t>C. Perform a Scan operation with a filter expression on the email attribute each time a search by email is needed. — Incorrect — A Scan reads every item in the table and then applies the filter expression. This is inefficient for large tables and consumes read capacity units proportional to the table size. Additionally, scans can affect write performance by consuming table capacity during execution.</a:t>
            </a:r>
          </a:p>
          <a:p>
            <a:endParaRPr dirty="0"/>
          </a:p>
          <a:p>
            <a:pPr>
              <a:spcAft>
                <a:spcPts val="600"/>
              </a:spcAft>
            </a:pPr>
            <a:r>
              <a:rPr dirty="0"/>
              <a:t>D. Create a second DynamoDB table with email as the partition key. Write to both tables on each profile update using a DynamoDB transaction. — Incorrect — Using transactions to write to two tables increases write latency and consumes additional write capacity units. Transactions use twice the write capacity because they involve both a prepare and commit phase. This has significant impact on write performance compared to a GSI.</a:t>
            </a:r>
          </a:p>
          <a:p>
            <a:endParaRPr dirty="0"/>
          </a:p>
          <a:p>
            <a:pPr>
              <a:spcAft>
                <a:spcPts val="600"/>
              </a:spcAft>
            </a:pPr>
            <a:r>
              <a:rPr dirty="0"/>
              <a:t>EXAM RELEVANCE: Domain 1: Development with AWS Services. Difficulty: Medium.</a:t>
            </a:r>
          </a:p>
          <a:p>
            <a:endParaRPr dirty="0"/>
          </a:p>
          <a:p>
            <a:pPr>
              <a:spcAft>
                <a:spcPts val="600"/>
              </a:spcAft>
            </a:pPr>
            <a:r>
              <a:rPr lang="en-US" dirty="0"/>
              <a:t>REFERENCE: </a:t>
            </a:r>
            <a:r>
              <a:rPr dirty="0"/>
              <a:t>https://docs.aws.amazon.com/amazondynamodb/latest/developerguide/GSI.html</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wins because a global secondary index queries email with its own throughput. The other three are ruled out for one reason each: B — An LSI shares the base key and must exist at table creation; C — A Scan reads the whole table on every email lookup; D — A second table with transactions doubles every write. Read the tell strip aloud -- pairing a phrase with what it signals is the transferable skill, not memorizing the service name.</a:t>
            </a:r>
          </a:p>
          <a:p>
            <a:endParaRPr dirty="0"/>
          </a:p>
          <a:p>
            <a:pPr>
              <a:spcAft>
                <a:spcPts val="600"/>
              </a:spcAft>
            </a:pPr>
            <a:r>
              <a:rPr dirty="0"/>
              <a:t>EXAM RELEVANCE: Domain 1: Development with AWS Services. Difficulty: Medium. The pattern to teach: a scenario question rarely offers three absurd options. It offers one that matches the requirement exactly and others that match a nearby requirement. Here the discriminator is “query capability with the LEAST impact on the table's existing write performance”, which points at Query a non-key attribute without touching writes points to a global secondary index. Encourage the room to name the phrase before naming the service.</a:t>
            </a:r>
          </a:p>
          <a:p>
            <a:endParaRPr dirty="0"/>
          </a:p>
          <a:p>
            <a:pPr>
              <a:spcAft>
                <a:spcPts val="600"/>
              </a:spcAft>
            </a:pPr>
            <a:r>
              <a:rPr dirty="0"/>
              <a:t>PARTNER CONTEXT: A customer needs a new lookup by email without slowing the writes they already depend on. A GSI adds that access pattern with its own capacity -- and the caveat worth raising is to provision the index's write capacity to match the base table, because an under-fed index throttles the very writes it was meant to leave alone.</a:t>
            </a:r>
          </a:p>
          <a:p>
            <a:endParaRPr dirty="0"/>
          </a:p>
          <a:p>
            <a:pPr>
              <a:spcAft>
                <a:spcPts val="600"/>
              </a:spcAft>
            </a:pPr>
            <a:r>
              <a:rPr lang="en-US" dirty="0"/>
              <a:t>REFERENCE: </a:t>
            </a:r>
            <a:r>
              <a:rPr dirty="0"/>
              <a:t>https://docs.aws.amazon.com/amazondynamodb/latest/developerguide/GSI.html</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5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1: Development with AWS Services.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A customer's team keeps restating the same error-handling and logging standards and still gets inconsistent code. A steering file makes those conventions persistent context the agent reads on every request, so the standards stop depending on someone remembering to paste them into the chat.</a:t>
            </a:r>
          </a:p>
          <a:p>
            <a:endParaRPr dirty="0"/>
          </a:p>
          <a:p>
            <a:pPr>
              <a:spcAft>
                <a:spcPts val="600"/>
              </a:spcAft>
            </a:pPr>
            <a:r>
              <a:rPr dirty="0"/>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“applied automatically whenever the agent generates code”, and it tells you: Persistent, automatic project conventions point to a steering file.</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1: Development with AWS Services.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A customer's team keeps restating the same error-handling and logging standards and still gets inconsistent code. A steering file makes those conventions persistent context the agent reads on every request, so the standards stop depending on someone remembering to paste them into the chat.</a:t>
            </a:r>
          </a:p>
          <a:p>
            <a:endParaRPr dirty="0"/>
          </a:p>
          <a:p>
            <a:pPr>
              <a:spcAft>
                <a:spcPts val="600"/>
              </a:spcAft>
            </a:pPr>
            <a:r>
              <a:rPr dirty="0"/>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C. A steering file records the standards so the agent always applies them.</a:t>
            </a:r>
          </a:p>
          <a:p>
            <a:endParaRPr dirty="0"/>
          </a:p>
          <a:p>
            <a:pPr>
              <a:spcAft>
                <a:spcPts val="600"/>
              </a:spcAft>
            </a:pPr>
            <a:r>
              <a:rPr dirty="0"/>
              <a:t>A. Paste the standards into each chat session before requesting code, and share the session. — Incorrect — Pasting the standards into a session supplies them for that session only. Developers continue to restate the standards in every request, so this does not meet the requirement that the standards apply automatically.</a:t>
            </a:r>
          </a:p>
          <a:p>
            <a:endParaRPr dirty="0"/>
          </a:p>
          <a:p>
            <a:pPr>
              <a:spcAft>
                <a:spcPts val="600"/>
              </a:spcAft>
            </a:pPr>
            <a:r>
              <a:rPr dirty="0"/>
              <a:t>B. Create a spec for each feature that repeats the standards in its requirements section. — Incorrect — A spec captures the requirements, design, and tasks for one feature. Repeating the standards in each spec is the restating that the team needs to remove, and nothing carries the standards to work that starts outside a spec.</a:t>
            </a:r>
          </a:p>
          <a:p>
            <a:endParaRPr dirty="0"/>
          </a:p>
          <a:p>
            <a:pPr>
              <a:spcAft>
                <a:spcPts val="600"/>
              </a:spcAft>
            </a:pPr>
            <a:r>
              <a:rPr dirty="0"/>
              <a:t>C. Create a steering file that records the standards so that the agent applies them automatically. — Correct — Steering files hold project conventions such as error handling, log format, and API response structure, and the agent applies them automatically to the code it generates. The standards are captured one time and take effect on every later request, which removes the restating and the inconsistency between features.</a:t>
            </a:r>
          </a:p>
          <a:p>
            <a:endParaRPr dirty="0"/>
          </a:p>
          <a:p>
            <a:pPr>
              <a:spcAft>
                <a:spcPts val="600"/>
              </a:spcAft>
            </a:pPr>
            <a:r>
              <a:rPr dirty="0"/>
              <a:t>D. Create a hook on file save that rewrites generated code so that the code matches the standards. — Incorrect — A hook runs an agent task in response to an event such as a file save, so it would act after the code was generated rather than informing the generation. This adds a second pass that can conflict with the original output instead of applying the standards during generation.</a:t>
            </a:r>
          </a:p>
          <a:p>
            <a:endParaRPr dirty="0"/>
          </a:p>
          <a:p>
            <a:pPr>
              <a:spcAft>
                <a:spcPts val="600"/>
              </a:spcAft>
            </a:pPr>
            <a:r>
              <a:rPr dirty="0"/>
              <a:t>EXAM RELEVANCE: Domain 1: Development with AWS Services. Difficulty: Medium.</a:t>
            </a:r>
          </a:p>
          <a:p>
            <a:endParaRPr dirty="0"/>
          </a:p>
          <a:p>
            <a:pPr>
              <a:spcAft>
                <a:spcPts val="600"/>
              </a:spcAft>
            </a:pPr>
            <a:r>
              <a:rPr lang="en-US" dirty="0"/>
              <a:t>REFERENCE: </a:t>
            </a:r>
            <a:r>
              <a:rPr dirty="0"/>
              <a:t>https://kiro.dev/docs/steering/</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C wins because a steering file records the standards so the agent always applies them. The other three are ruled out for one reason each: A — Pasting into a session supplies the standards for that session only; B — Repeating standards in every spec is the restating problem again; D — A save hook rewrites after the fact instead of guiding generation. Read the tell strip aloud -- pairing a phrase with what it signals is the transferable skill, not memorizing the service name.</a:t>
            </a:r>
          </a:p>
          <a:p>
            <a:endParaRPr dirty="0"/>
          </a:p>
          <a:p>
            <a:pPr>
              <a:spcAft>
                <a:spcPts val="600"/>
              </a:spcAft>
            </a:pPr>
            <a:r>
              <a:rPr dirty="0"/>
              <a:t>EXAM RELEVANCE: Domain 1: Development with AWS Services. Difficulty: Medium. The pattern to teach: a scenario question rarely offers three absurd options. It offers one that matches the requirement exactly and others that match a nearby requirement. Here the discriminator is “applied automatically whenever the agent generates code”, which points at Persistent, automatic project conventions point to a steering file. Encourage the room to name the phrase before naming the service.</a:t>
            </a:r>
          </a:p>
          <a:p>
            <a:endParaRPr dirty="0"/>
          </a:p>
          <a:p>
            <a:pPr>
              <a:spcAft>
                <a:spcPts val="600"/>
              </a:spcAft>
            </a:pPr>
            <a:r>
              <a:rPr dirty="0"/>
              <a:t>PARTNER CONTEXT: A customer's team keeps restating the same error-handling and logging standards and still gets inconsistent code. A steering file makes those conventions persistent context the agent reads on every request, so the standards stop depending on someone remembering to paste them into the chat.</a:t>
            </a:r>
          </a:p>
          <a:p>
            <a:endParaRPr dirty="0"/>
          </a:p>
          <a:p>
            <a:pPr>
              <a:spcAft>
                <a:spcPts val="600"/>
              </a:spcAft>
            </a:pPr>
            <a:r>
              <a:rPr lang="en-US" dirty="0"/>
              <a:t>REFERENCE: </a:t>
            </a:r>
            <a:r>
              <a:rPr dirty="0"/>
              <a:t>https://kiro.dev/docs/steering/</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6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4: Troubleshooting and Optimization. Difficulty: Hard. Watch the room: if most people have answered by 90 seconds, move on; if they are still reading, give another 20 seconds rather than rushing the discussion that follows.</a:t>
            </a:r>
          </a:p>
          <a:p>
            <a:endParaRPr dirty="0"/>
          </a:p>
          <a:p>
            <a:pPr>
              <a:spcAft>
                <a:spcPts val="600"/>
              </a:spcAft>
            </a:pPr>
            <a:r>
              <a:rPr dirty="0"/>
              <a:t>PARTNER CONTEXT: This looks like the memory question, and that resemblance is the trap. There the work was compute-bound and more memory bought more CPU; here the ask is which lines are slow and how to change them. Memory tunes configuration and identifies no path, so an agent reviewing the source is what answers the question actually asked. Teach the contrast side by side -- same lever, different question.</a:t>
            </a:r>
          </a:p>
          <a:p>
            <a:endParaRPr dirty="0"/>
          </a:p>
          <a:p>
            <a:pPr>
              <a:spcAft>
                <a:spcPts val="600"/>
              </a:spcAft>
            </a:pPr>
            <a:r>
              <a:rPr dirty="0"/>
              <a:t>EXAM MAPPING: Domain 4: Troubleshooting and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“find which parts of the function source code are inefficient”, and it tells you: Pinpoint slow code AND how to fix it points to an agent code review.</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4: Troubleshooting and Optimization. Difficulty: Hard.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This looks like the memory question, and that resemblance is the trap. There the work was compute-bound and more memory bought more CPU; here the ask is which lines are slow and how to change them. Memory tunes configuration and identifies no path, so an agent reviewing the source is what answers the question actually asked. Teach the contrast side by side -- same lever, different question.</a:t>
            </a:r>
          </a:p>
          <a:p>
            <a:endParaRPr dirty="0"/>
          </a:p>
          <a:p>
            <a:pPr>
              <a:spcAft>
                <a:spcPts val="600"/>
              </a:spcAft>
            </a:pPr>
            <a:r>
              <a:rPr dirty="0"/>
              <a:t>EXAM MAPPING: Domain 4: Troubleshooting and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C. The agent reads the code and names the inefficient paths to change.</a:t>
            </a:r>
          </a:p>
          <a:p>
            <a:endParaRPr dirty="0"/>
          </a:p>
          <a:p>
            <a:pPr>
              <a:spcAft>
                <a:spcPts val="600"/>
              </a:spcAft>
            </a:pPr>
            <a:r>
              <a:rPr dirty="0"/>
              <a:t>A. Increase the memory that is allocated to the function so that it receives more CPU. — Incorrect — Lambda allocates CPU in proportion to memory, so this can shorten a duration that is limited by compute. It changes configuration rather than code, and it identifies no inefficient path and produces no recommendation for the source.</a:t>
            </a:r>
          </a:p>
          <a:p>
            <a:endParaRPr dirty="0"/>
          </a:p>
          <a:p>
            <a:pPr>
              <a:spcAft>
                <a:spcPts val="600"/>
              </a:spcAft>
            </a:pPr>
            <a:r>
              <a:rPr dirty="0"/>
              <a:t>B. Configure provisioned concurrency so that initialization completes before invocations arrive. — Incorrect — Provisioned concurrency prepares execution environments in advance and addresses cold start latency. The duration here grows with the codebase during invocation, and this finds no inefficient code and recommends no change.</a:t>
            </a:r>
          </a:p>
          <a:p>
            <a:endParaRPr dirty="0"/>
          </a:p>
          <a:p>
            <a:pPr>
              <a:spcAft>
                <a:spcPts val="600"/>
              </a:spcAft>
            </a:pPr>
            <a:r>
              <a:rPr dirty="0"/>
              <a:t>C. Have the agent review the function source code and recommend changes for the inefficient paths. — Correct — An AI-assisted development tool can read the function source, identify inefficient code paths such as repeated work inside a loop or a call that could be reused, and return specific refactoring recommendations for that code. This is what the requirement asks for, because the subject is the code rather than the function configuration.</a:t>
            </a:r>
          </a:p>
          <a:p>
            <a:endParaRPr dirty="0"/>
          </a:p>
          <a:p>
            <a:pPr>
              <a:spcAft>
                <a:spcPts val="600"/>
              </a:spcAft>
            </a:pPr>
            <a:r>
              <a:rPr dirty="0"/>
              <a:t>D. Enable AWS X-Ray active tracing and review the subsegment timings for the downstream calls. — Incorrect — Subsegment timings show which downstream calls are slow, which helps locate latency between services. They do not attribute time to paths inside the function source or recommend how to change that code.</a:t>
            </a:r>
          </a:p>
          <a:p>
            <a:endParaRPr dirty="0"/>
          </a:p>
          <a:p>
            <a:pPr>
              <a:spcAft>
                <a:spcPts val="600"/>
              </a:spcAft>
            </a:pPr>
            <a:r>
              <a:rPr dirty="0"/>
              <a:t>EXAM RELEVANCE: Domain 4: Troubleshooting and Optimization. Difficulty: Hard.</a:t>
            </a:r>
          </a:p>
          <a:p>
            <a:endParaRPr dirty="0"/>
          </a:p>
          <a:p>
            <a:pPr>
              <a:spcAft>
                <a:spcPts val="600"/>
              </a:spcAft>
            </a:pPr>
            <a:r>
              <a:rPr lang="en-US" dirty="0"/>
              <a:t>REFERENCE: </a:t>
            </a:r>
            <a:r>
              <a:rPr dirty="0"/>
              <a:t>https://kiro.dev/docs/how-kiro-works/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C wins because the agent reads the code and names the inefficient paths to change. The other three are ruled out for one reason each: A — More memory can help compute-bound code but names no path; B — Provisioned concurrency cuts cold starts, not the code's duration; D — X-Ray times downstream calls, not lines of your own code. Read the tell strip aloud -- pairing a phrase with what it signals is the transferable skill, not memorizing the service name.</a:t>
            </a:r>
          </a:p>
          <a:p>
            <a:endParaRPr dirty="0"/>
          </a:p>
          <a:p>
            <a:pPr>
              <a:spcAft>
                <a:spcPts val="600"/>
              </a:spcAft>
            </a:pPr>
            <a:r>
              <a:rPr dirty="0"/>
              <a:t>EXAM RELEVANCE: Domain 4: Troubleshooting and Optimization. Difficulty: Hard. The pattern to teach: a scenario question rarely offers three absurd options. It offers one that matches the requirement exactly and others that match a nearby requirement. Here the discriminator is “find which parts of the function source code are inefficient”, which points at Pinpoint slow code AND how to fix it points to an agent code review. Encourage the room to name the phrase before naming the service.</a:t>
            </a:r>
          </a:p>
          <a:p>
            <a:endParaRPr dirty="0"/>
          </a:p>
          <a:p>
            <a:pPr>
              <a:spcAft>
                <a:spcPts val="600"/>
              </a:spcAft>
            </a:pPr>
            <a:r>
              <a:rPr dirty="0"/>
              <a:t>PARTNER CONTEXT: This looks like the memory question, and that resemblance is the trap. There the work was compute-bound and more memory bought more CPU; here the ask is which lines are slow and how to change them. Memory tunes configuration and identifies no path, so an agent reviewing the source is what answers the question actually asked. Teach the contrast side by side -- same lever, different question.</a:t>
            </a:r>
          </a:p>
          <a:p>
            <a:endParaRPr dirty="0"/>
          </a:p>
          <a:p>
            <a:pPr>
              <a:spcAft>
                <a:spcPts val="600"/>
              </a:spcAft>
            </a:pPr>
            <a:r>
              <a:rPr lang="en-US" dirty="0"/>
              <a:t>REFERENCE: </a:t>
            </a:r>
            <a:r>
              <a:rPr dirty="0"/>
              <a:t>https://kiro.dev/docs/how-kiro-works/</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 preview of next week's training so people can get a head start whenever they are ready. The left card is the free Learning Plan; the right is the optional Exam Prep Plan.</a:t>
            </a:r>
          </a:p>
          <a:p>
            <a:endParaRPr dirty="0"/>
          </a:p>
          <a:p>
            <a:pPr>
              <a:spcAft>
                <a:spcPts val="600"/>
              </a:spcAft>
            </a:pPr>
            <a:r>
              <a:rPr dirty="0"/>
              <a:t>FACILITATOR: Keep this light -- it is a look ahead, not an assignment for today. Note that week three moves into API Gateway for serverless, event-driven architecture, and scaling serverless applications, which builds directly on this week's compute, data, and messaging work.</a:t>
            </a:r>
          </a:p>
          <a:p>
            <a:endParaRPr dirty="0"/>
          </a:p>
          <a:p>
            <a:pPr>
              <a:spcAft>
                <a:spcPts val="600"/>
              </a:spcAft>
            </a:pPr>
            <a:r>
              <a:rPr dirty="0"/>
              <a:t>Encourage anyone who is ahead to start early, and reassure anyone still catching up on week two that the sessions build gradually.</a:t>
            </a:r>
          </a:p>
          <a:p>
            <a:endParaRPr dirty="0"/>
          </a:p>
          <a:p>
            <a:pPr>
              <a:spcAft>
                <a:spcPts val="600"/>
              </a:spcAft>
            </a:pPr>
            <a:r>
              <a:rPr lang="en-US" dirty="0"/>
              <a:t>NOTE: T</a:t>
            </a:r>
            <a:r>
              <a:rPr dirty="0"/>
              <a:t>he "Domain 3" item names are the actual Exam Prep Plan module names in Skill Builder, so learners can locate them; they are navigation, not exam-coverage claims.</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Open the floor. Invite questions on anything from this week's services to study logistics and exam scheduling.</a:t>
            </a:r>
          </a:p>
          <a:p>
            <a:endParaRPr/>
          </a:p>
          <a:p>
            <a:pPr>
              <a:spcAft>
                <a:spcPts val="600"/>
              </a:spcAft>
            </a:pPr>
            <a:r>
              <a:t>If the room is quiet, prime it with a question of your own -- ask which service felt least clear this week, or how people are finding the practice questions.</a:t>
            </a:r>
          </a:p>
          <a:p>
            <a:endParaRPr/>
          </a:p>
          <a:p>
            <a:pPr>
              <a:spcAft>
                <a:spcPts val="600"/>
              </a:spcAft>
            </a:pPr>
            <a:r>
              <a:t>Keep answers short and point to the relevant documentation or the exam prep resources where a deeper follow-up is warranted.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FACILITATOR: Close warmly. Thank the room for their time and their engagement and remind them of the two things that keep momentum: finish this week's training and make a start on next week's preview.</a:t>
            </a:r>
          </a:p>
          <a:p>
            <a:endParaRPr dirty="0"/>
          </a:p>
          <a:p>
            <a:pPr>
              <a:spcAft>
                <a:spcPts val="600"/>
              </a:spcAft>
            </a:pPr>
            <a:r>
              <a:rPr dirty="0"/>
              <a:t>Restate when the next session is and encourage anyone who has not yet scheduled their exam to plan a target date.</a:t>
            </a:r>
          </a:p>
          <a:p>
            <a:endParaRPr dirty="0"/>
          </a:p>
          <a:p>
            <a:pPr>
              <a:spcAft>
                <a:spcPts val="600"/>
              </a:spcAft>
            </a:pPr>
            <a:r>
              <a:rPr dirty="0"/>
              <a:t>End on encouragement -- they are building real, job-relevant skills, and steady weekly progress is what gets them exam-ready.</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APPENDIX: </a:t>
            </a:r>
            <a:r>
              <a:rPr lang="en-US" dirty="0"/>
              <a:t>D</a:t>
            </a:r>
            <a:r>
              <a:rPr dirty="0"/>
              <a:t>ivider. This block is self-study reference for anyone who plans to sit DVA-C02 rather than C03. It is not taught in the session -- point the room at it and move on. The three appendix slides sit together at the end of the deck by design.</a:t>
            </a:r>
          </a:p>
          <a:p>
            <a:endParaRPr dirty="0"/>
          </a:p>
          <a:p>
            <a:pPr>
              <a:spcAft>
                <a:spcPts val="600"/>
              </a:spcAft>
            </a:pPr>
            <a:r>
              <a:rPr dirty="0"/>
              <a:t>WHAT'S HERE: The session decks are built for DVA-C03. This appendix collects what a C02 candidate needs that the C03 body does not spell out: how the exam guide's weightings shifted, what changed for this week's topics, and which main-body slides a C02 candidate can skip.</a:t>
            </a:r>
          </a:p>
          <a:p>
            <a:endParaRPr dirty="0"/>
          </a:p>
          <a:p>
            <a:pPr>
              <a:spcAft>
                <a:spcPts val="600"/>
              </a:spcAft>
            </a:pPr>
            <a:r>
              <a:rPr dirty="0"/>
              <a:t>EXAM RELEVANCE: DVA-C02 is the live exam today; DVA-C03 is the version this course trains toward. Week 2's documented change is a consolidation -- DynamoDB goes from four tested skills to one -- but the underlying services are the same on both exams.</a:t>
            </a:r>
          </a:p>
          <a:p>
            <a:endParaRPr dirty="0"/>
          </a:p>
          <a:p>
            <a:pPr>
              <a:spcAft>
                <a:spcPts val="600"/>
              </a:spcAft>
            </a:pPr>
            <a:r>
              <a:rPr dirty="0"/>
              <a:t>REFERENCE: The C02 figures come from the DVA-C02 exam guide; the C03 figures come from the September 2026 certification updates blog. Both are linked from the delta slides that follow. EXAM MAPPING: DVA-C02 to DVA-C03 comparison.</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APPENDIX: </a:t>
            </a:r>
            <a:r>
              <a:rPr lang="en-US" dirty="0"/>
              <a:t>W</a:t>
            </a:r>
            <a:r>
              <a:rPr dirty="0"/>
              <a:t>eek-2 delta table. Walk the left column first: the four domain weightings barely move. Development eases from 32% to 30%, Security holds at 26%, Testing and Deployment eases from 24% to 22%, and Troubleshooting and Optimization rises from 18% to 22% -- the largest single shift.</a:t>
            </a:r>
          </a:p>
          <a:p>
            <a:endParaRPr dirty="0"/>
          </a:p>
          <a:p>
            <a:pPr>
              <a:spcAft>
                <a:spcPts val="600"/>
              </a:spcAft>
            </a:pPr>
            <a:r>
              <a:rPr dirty="0"/>
              <a:t>WHAT'S HERE: The right column is week 2's documented change. Amazon DynamoDB consolidates -- C02 tested it as four separate skills, and C03 folds those into one comprehensive DynamoDB skill.</a:t>
            </a:r>
          </a:p>
          <a:p>
            <a:endParaRPr dirty="0"/>
          </a:p>
          <a:p>
            <a:pPr>
              <a:spcAft>
                <a:spcPts val="600"/>
              </a:spcAft>
            </a:pPr>
            <a:r>
              <a:rPr dirty="0"/>
              <a:t>Four services taught this week are newly in scope at C03: Amazon Bedrock, Amazon Bedrock AgentCore, Amazon Q, and Kiro.</a:t>
            </a:r>
          </a:p>
          <a:p>
            <a:endParaRPr dirty="0"/>
          </a:p>
          <a:p>
            <a:pPr>
              <a:spcAft>
                <a:spcPts val="600"/>
              </a:spcAft>
            </a:pPr>
            <a:r>
              <a:rPr dirty="0"/>
              <a:t>EXAM RELEVANCE: Nothing leaves the exam here. The services taught this week are examined on both versions, so a C02 candidate studies all of them; what changes at C03 is that DynamoDB is tested as one consolidated skill.</a:t>
            </a:r>
          </a:p>
          <a:p>
            <a:endParaRPr dirty="0"/>
          </a:p>
          <a:p>
            <a:pPr>
              <a:spcAft>
                <a:spcPts val="600"/>
              </a:spcAft>
            </a:pPr>
            <a:r>
              <a:rPr dirty="0"/>
              <a:t>REFERENCE: C02 weightings and domains are from the DVA-C02 exam guide at docs.aws.amazon.com/</a:t>
            </a:r>
            <a:r>
              <a:rPr dirty="0" err="1"/>
              <a:t>aws</a:t>
            </a:r>
            <a:r>
              <a:rPr dirty="0"/>
              <a:t>-certification/latest/developer-associate-02/; the C03 consolidation and the new in-scope services are quoted from the September 2026 certification updates blog, linked on this slide. EXAM MAPPING: Domain 1 through Domain 4, plus the DynamoDB consolidation.</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APPENDIX: C02 reference. </a:t>
            </a:r>
            <a:r>
              <a:rPr dirty="0"/>
              <a:t>For a candidate sitting C02 rather than C03, this slide covers the Session 2 body. The left column names what is built for C03 and can be skipped: the Amazon Bedrock and Kiro section, added at C03 in Domain 1 for managed AI services and AI-assisted development.</a:t>
            </a:r>
          </a:p>
          <a:p>
            <a:endParaRPr dirty="0"/>
          </a:p>
          <a:p>
            <a:pPr>
              <a:spcAft>
                <a:spcPts val="600"/>
              </a:spcAft>
            </a:pPr>
            <a:r>
              <a:rPr dirty="0"/>
              <a:t>Everything else in Session 2 -- API Gateway, Lambda, DynamoDB, Step Functions, SQS and SNS -- serves both exams and should be studied for either.</a:t>
            </a:r>
          </a:p>
          <a:p>
            <a:endParaRPr dirty="0"/>
          </a:p>
          <a:p>
            <a:pPr>
              <a:spcAft>
                <a:spcPts val="600"/>
              </a:spcAft>
            </a:pPr>
            <a:r>
              <a:rPr dirty="0"/>
              <a:t>WHAT'S HERE: The right column is the reassuring one. The core serverless and messaging stack is in scope on both exams, so a C02 candidate studies all of it.</a:t>
            </a:r>
          </a:p>
          <a:p>
            <a:endParaRPr dirty="0"/>
          </a:p>
          <a:p>
            <a:pPr>
              <a:spcAft>
                <a:spcPts val="600"/>
              </a:spcAft>
            </a:pPr>
            <a:r>
              <a:rPr dirty="0"/>
              <a:t>EXAM RELEVANCE: One service a C02 candidate does need, AWS AppSync, is in the published DVA-C02 in-scope list and is taught in Sessions 3 and 5 rather than here.</a:t>
            </a:r>
          </a:p>
          <a:p>
            <a:endParaRPr dirty="0"/>
          </a:p>
          <a:p>
            <a:pPr>
              <a:spcAft>
                <a:spcPts val="600"/>
              </a:spcAft>
            </a:pPr>
            <a:r>
              <a:rPr dirty="0"/>
              <a:t>REFERENCE: Grounded in the public DVA-C02 exam guide and the September 2026 certification updates blog. EXAM MAPPING: DVA-C02 versus DVA-C03 scope for Session 2.</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DECE4897-D006-04E8-2681-7867EB4BFA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1" name="Subtitle 2">
            <a:extLst>
              <a:ext uri="{FF2B5EF4-FFF2-40B4-BE49-F238E27FC236}">
                <a16:creationId xmlns:a16="http://schemas.microsoft.com/office/drawing/2014/main" id="{017B680B-B713-4DE0-ECDB-C55919E29177}"/>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32" name="Title 7">
            <a:extLst>
              <a:ext uri="{FF2B5EF4-FFF2-40B4-BE49-F238E27FC236}">
                <a16:creationId xmlns:a16="http://schemas.microsoft.com/office/drawing/2014/main" id="{726B64B0-D96B-3DF8-6454-63BF2A121926}"/>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33" name="Text Placeholder 11">
            <a:extLst>
              <a:ext uri="{FF2B5EF4-FFF2-40B4-BE49-F238E27FC236}">
                <a16:creationId xmlns:a16="http://schemas.microsoft.com/office/drawing/2014/main" id="{07A5623B-633C-9CC5-4899-4613B3CBE79D}"/>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4" name="Text Placeholder 13">
            <a:extLst>
              <a:ext uri="{FF2B5EF4-FFF2-40B4-BE49-F238E27FC236}">
                <a16:creationId xmlns:a16="http://schemas.microsoft.com/office/drawing/2014/main" id="{1DC750B3-F3E1-D955-C00F-73CB87616E13}"/>
              </a:ext>
            </a:extLst>
          </p:cNvPr>
          <p:cNvSpPr>
            <a:spLocks noGrp="1"/>
          </p:cNvSpPr>
          <p:nvPr>
            <p:ph type="body" sz="quarter" idx="11" hasCustomPrompt="1"/>
          </p:nvPr>
        </p:nvSpPr>
        <p:spPr>
          <a:xfrm>
            <a:off x="444858" y="1873037"/>
            <a:ext cx="3492500" cy="23586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35" name="Text Placeholder 15">
            <a:extLst>
              <a:ext uri="{FF2B5EF4-FFF2-40B4-BE49-F238E27FC236}">
                <a16:creationId xmlns:a16="http://schemas.microsoft.com/office/drawing/2014/main" id="{DBDA1516-F788-DC01-7A21-C9D9451A0D7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6" name="Text Placeholder 11">
            <a:extLst>
              <a:ext uri="{FF2B5EF4-FFF2-40B4-BE49-F238E27FC236}">
                <a16:creationId xmlns:a16="http://schemas.microsoft.com/office/drawing/2014/main" id="{32F75F50-675B-63CD-A721-0046941BC384}"/>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7" name="Text Placeholder 15">
            <a:extLst>
              <a:ext uri="{FF2B5EF4-FFF2-40B4-BE49-F238E27FC236}">
                <a16:creationId xmlns:a16="http://schemas.microsoft.com/office/drawing/2014/main" id="{E627A98F-EE39-F4E2-6584-2735E36FB110}"/>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8" name="Text Placeholder 11">
            <a:extLst>
              <a:ext uri="{FF2B5EF4-FFF2-40B4-BE49-F238E27FC236}">
                <a16:creationId xmlns:a16="http://schemas.microsoft.com/office/drawing/2014/main" id="{7045F368-B0CB-CED2-AE2D-42268048BBE2}"/>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9" name="Text Placeholder 15">
            <a:extLst>
              <a:ext uri="{FF2B5EF4-FFF2-40B4-BE49-F238E27FC236}">
                <a16:creationId xmlns:a16="http://schemas.microsoft.com/office/drawing/2014/main" id="{19D42F3F-E95D-05DF-6564-67D9CFA0A192}"/>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40" name="Picture Placeholder 15">
            <a:extLst>
              <a:ext uri="{FF2B5EF4-FFF2-40B4-BE49-F238E27FC236}">
                <a16:creationId xmlns:a16="http://schemas.microsoft.com/office/drawing/2014/main" id="{F9CFA88C-3221-7272-FD28-9139A4266985}"/>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1" name="Picture Placeholder 15">
            <a:extLst>
              <a:ext uri="{FF2B5EF4-FFF2-40B4-BE49-F238E27FC236}">
                <a16:creationId xmlns:a16="http://schemas.microsoft.com/office/drawing/2014/main" id="{080562CF-55EC-4675-D354-7620EDCBF08E}"/>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2" name="Picture Placeholder 15">
            <a:extLst>
              <a:ext uri="{FF2B5EF4-FFF2-40B4-BE49-F238E27FC236}">
                <a16:creationId xmlns:a16="http://schemas.microsoft.com/office/drawing/2014/main" id="{9AB33088-FC29-9ECC-93A2-DE04E7DF5FB3}"/>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Tree>
    <p:extLst>
      <p:ext uri="{BB962C8B-B14F-4D97-AF65-F5344CB8AC3E}">
        <p14:creationId xmlns:p14="http://schemas.microsoft.com/office/powerpoint/2010/main" val="2329538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289AB8-60F4-E8B7-2CB5-44FCA28311C4}"/>
              </a:ext>
            </a:extLst>
          </p:cNvPr>
          <p:cNvSpPr>
            <a:spLocks noGrp="1"/>
          </p:cNvSpPr>
          <p:nvPr>
            <p:ph type="title" hasCustomPrompt="1"/>
          </p:nvPr>
        </p:nvSpPr>
        <p:spPr>
          <a:xfrm>
            <a:off x="304800" y="304800"/>
            <a:ext cx="11582400" cy="638175"/>
          </a:xfrm>
        </p:spPr>
        <p:txBody>
          <a:bodyPr/>
          <a:lstStyle>
            <a:lvl1pPr>
              <a:defRPr/>
            </a:lvl1pPr>
          </a:lstStyle>
          <a:p>
            <a:r>
              <a:rPr lang="en-US"/>
              <a:t>Title only layout</a:t>
            </a:r>
          </a:p>
        </p:txBody>
      </p:sp>
    </p:spTree>
    <p:extLst>
      <p:ext uri="{BB962C8B-B14F-4D97-AF65-F5344CB8AC3E}">
        <p14:creationId xmlns:p14="http://schemas.microsoft.com/office/powerpoint/2010/main" val="951274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C289-2488-596E-9697-016C13565121}"/>
              </a:ext>
            </a:extLst>
          </p:cNvPr>
          <p:cNvSpPr>
            <a:spLocks noGrp="1"/>
          </p:cNvSpPr>
          <p:nvPr>
            <p:ph type="title" hasCustomPrompt="1"/>
          </p:nvPr>
        </p:nvSpPr>
        <p:spPr>
          <a:xfrm>
            <a:off x="304800" y="304800"/>
            <a:ext cx="11582400" cy="638175"/>
          </a:xfrm>
        </p:spPr>
        <p:txBody>
          <a:bodyPr/>
          <a:lstStyle>
            <a:lvl1pPr>
              <a:defRPr/>
            </a:lvl1pPr>
          </a:lstStyle>
          <a:p>
            <a:r>
              <a:rPr lang="en-US"/>
              <a:t>Title and subtitle layout</a:t>
            </a:r>
          </a:p>
        </p:txBody>
      </p:sp>
      <p:sp>
        <p:nvSpPr>
          <p:cNvPr id="3" name="Text Placeholder 3">
            <a:extLst>
              <a:ext uri="{FF2B5EF4-FFF2-40B4-BE49-F238E27FC236}">
                <a16:creationId xmlns:a16="http://schemas.microsoft.com/office/drawing/2014/main" id="{F4181E47-DCB2-5ADB-B154-CE0C46918C9F}"/>
              </a:ext>
            </a:extLst>
          </p:cNvPr>
          <p:cNvSpPr>
            <a:spLocks noGrp="1"/>
          </p:cNvSpPr>
          <p:nvPr>
            <p:ph type="body" sz="quarter" idx="10" hasCustomPrompt="1"/>
          </p:nvPr>
        </p:nvSpPr>
        <p:spPr>
          <a:xfrm>
            <a:off x="304800" y="1000125"/>
            <a:ext cx="11582400" cy="276999"/>
          </a:xfrm>
        </p:spPr>
        <p:txBody>
          <a:bodyPr/>
          <a:lstStyle>
            <a:lvl1pPr marL="0" indent="0">
              <a:lnSpc>
                <a:spcPct val="100000"/>
              </a:lnSpc>
              <a:spcAft>
                <a:spcPts val="1200"/>
              </a:spcAft>
              <a:buNone/>
              <a:defRPr sz="1200" b="1" cap="all" spc="300" baseline="0">
                <a:solidFill>
                  <a:srgbClr val="232E3D"/>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1348302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0042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9899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1562C6-CADD-976D-3F2B-6564E0678DFC}"/>
              </a:ext>
            </a:extLst>
          </p:cNvPr>
          <p:cNvSpPr/>
          <p:nvPr userDrawn="1"/>
        </p:nvSpPr>
        <p:spPr>
          <a:xfrm>
            <a:off x="0" y="0"/>
            <a:ext cx="12192000" cy="6858000"/>
          </a:xfrm>
          <a:prstGeom prst="rect">
            <a:avLst/>
          </a:prstGeom>
          <a:solidFill>
            <a:srgbClr val="232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solidFill>
                  <a:schemeClr val="bg1"/>
                </a:solidFill>
              </a:defRPr>
            </a:lvl1pPr>
          </a:lstStyle>
          <a:p>
            <a:r>
              <a:rPr lang="en-US" dirty="0"/>
              <a:t>Dark Slide Content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1844608"/>
          </a:xfrm>
        </p:spPr>
        <p:txBody>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685800" indent="0">
              <a:buNone/>
              <a:defRPr>
                <a:solidFill>
                  <a:schemeClr val="bg1"/>
                </a:solidFill>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3">
            <a:extLst>
              <a:ext uri="{FF2B5EF4-FFF2-40B4-BE49-F238E27FC236}">
                <a16:creationId xmlns:a16="http://schemas.microsoft.com/office/drawing/2014/main" id="{CC7AB398-3A72-5A7E-F727-619703EE3678}"/>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6" name="Graphic 5">
            <a:extLst>
              <a:ext uri="{FF2B5EF4-FFF2-40B4-BE49-F238E27FC236}">
                <a16:creationId xmlns:a16="http://schemas.microsoft.com/office/drawing/2014/main" id="{814F634E-2E85-A427-EA08-4854ACA5CC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4801" y="6428661"/>
            <a:ext cx="388818" cy="232516"/>
          </a:xfrm>
          <a:prstGeom prst="rect">
            <a:avLst/>
          </a:prstGeom>
        </p:spPr>
      </p:pic>
    </p:spTree>
    <p:extLst>
      <p:ext uri="{BB962C8B-B14F-4D97-AF65-F5344CB8AC3E}">
        <p14:creationId xmlns:p14="http://schemas.microsoft.com/office/powerpoint/2010/main" val="3191886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3" name="Picture 2">
            <a:extLst>
              <a:ext uri="{FF2B5EF4-FFF2-40B4-BE49-F238E27FC236}">
                <a16:creationId xmlns:a16="http://schemas.microsoft.com/office/drawing/2014/main" id="{7531FA05-2F99-9ACC-9868-10215B36A29D}"/>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5" name="Text Placeholder 13">
            <a:extLst>
              <a:ext uri="{FF2B5EF4-FFF2-40B4-BE49-F238E27FC236}">
                <a16:creationId xmlns:a16="http://schemas.microsoft.com/office/drawing/2014/main" id="{56278F1B-135C-F62D-FAF9-513D324ABC45}"/>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695503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AC7FD113-3CFD-4B62-B18A-92F60583D795}"/>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EE3B1C24-0FBE-4EF4-E1A2-72AA0D9B65FB}"/>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A85E35AF-BFB0-CF57-A2E9-72A6471E9558}"/>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B507C1CA-987D-33F9-519F-917868267F71}"/>
              </a:ext>
            </a:extLst>
          </p:cNvPr>
          <p:cNvSpPr txBox="1"/>
          <p:nvPr userDrawn="1"/>
        </p:nvSpPr>
        <p:spPr>
          <a:xfrm>
            <a:off x="371042" y="2533310"/>
            <a:ext cx="10296959" cy="1015663"/>
          </a:xfrm>
          <a:prstGeom prst="rect">
            <a:avLst/>
          </a:prstGeom>
          <a:noFill/>
        </p:spPr>
        <p:txBody>
          <a:bodyPr wrap="square" rtlCol="0">
            <a:spAutoFit/>
          </a:bodyPr>
          <a:lstStyle/>
          <a:p>
            <a:r>
              <a:rPr lang="en-US" sz="60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Tree>
    <p:extLst>
      <p:ext uri="{BB962C8B-B14F-4D97-AF65-F5344CB8AC3E}">
        <p14:creationId xmlns:p14="http://schemas.microsoft.com/office/powerpoint/2010/main" val="1002199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Quote_1">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40F0A962-F39A-4F7C-AFB8-1D55B110FA1F}"/>
              </a:ext>
            </a:extLst>
          </p:cNvPr>
          <p:cNvSpPr>
            <a:spLocks noGrp="1"/>
          </p:cNvSpPr>
          <p:nvPr>
            <p:ph type="title" hasCustomPrompt="1"/>
          </p:nvPr>
        </p:nvSpPr>
        <p:spPr bwMode="white">
          <a:xfrm>
            <a:off x="269875" y="1854993"/>
            <a:ext cx="8334375" cy="2669382"/>
          </a:xfrm>
        </p:spPr>
        <p:txBody>
          <a:bodyPr lIns="182880" tIns="146304" rIns="182880" bIns="146304"/>
          <a:lstStyle>
            <a:lvl1pPr marL="142869" indent="-142869" algn="l">
              <a:defRPr sz="4500">
                <a:solidFill>
                  <a:schemeClr val="bg1"/>
                </a:solidFill>
              </a:defRPr>
            </a:lvl1pPr>
          </a:lstStyle>
          <a:p>
            <a:r>
              <a:rPr lang="en-US" dirty="0"/>
              <a:t>“Lorem ipsum dolor sit </a:t>
            </a:r>
            <a:r>
              <a:rPr lang="en-US" dirty="0" err="1"/>
              <a:t>amet</a:t>
            </a:r>
            <a:r>
              <a:rPr lang="en-US" dirty="0"/>
              <a:t>, </a:t>
            </a:r>
            <a:r>
              <a:rPr lang="en-US" dirty="0" err="1"/>
              <a:t>consectetuer</a:t>
            </a:r>
            <a:r>
              <a:rPr lang="en-US" dirty="0"/>
              <a:t> adipiscing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p:txBody>
      </p:sp>
      <p:sp>
        <p:nvSpPr>
          <p:cNvPr id="11" name="Text Placeholder 6">
            <a:extLst>
              <a:ext uri="{FF2B5EF4-FFF2-40B4-BE49-F238E27FC236}">
                <a16:creationId xmlns:a16="http://schemas.microsoft.com/office/drawing/2014/main" id="{26FA47B6-AF7F-4583-B619-AA67D7C65CDC}"/>
              </a:ext>
            </a:extLst>
          </p:cNvPr>
          <p:cNvSpPr>
            <a:spLocks noGrp="1"/>
          </p:cNvSpPr>
          <p:nvPr>
            <p:ph type="body" sz="quarter" idx="10" hasCustomPrompt="1"/>
          </p:nvPr>
        </p:nvSpPr>
        <p:spPr bwMode="white">
          <a:xfrm>
            <a:off x="3436143" y="4700537"/>
            <a:ext cx="5168107" cy="618567"/>
          </a:xfrm>
        </p:spPr>
        <p:txBody>
          <a:bodyPr lIns="182880" tIns="146304" rIns="182880" bIns="146304"/>
          <a:lstStyle>
            <a:lvl1pPr marL="190492" indent="0" algn="r">
              <a:buNone/>
              <a:defRPr sz="2333" b="1">
                <a:solidFill>
                  <a:schemeClr val="bg1"/>
                </a:solidFill>
                <a:latin typeface="+mn-lt"/>
                <a:ea typeface="Amazon Ember Heavy" panose="020B0803020204020204" pitchFamily="34" charset="0"/>
                <a:cs typeface="Amazon Ember Heavy" panose="020B0803020204020204" pitchFamily="34" charset="0"/>
              </a:defRPr>
            </a:lvl1pPr>
            <a:lvl2pPr marL="336143" indent="0">
              <a:buNone/>
              <a:defRPr>
                <a:gradFill>
                  <a:gsLst>
                    <a:gs pos="1250">
                      <a:schemeClr val="bg1"/>
                    </a:gs>
                    <a:gs pos="100000">
                      <a:schemeClr val="bg1"/>
                    </a:gs>
                  </a:gsLst>
                  <a:lin ang="5400000" scaled="0"/>
                </a:gradFill>
              </a:defRPr>
            </a:lvl2pPr>
            <a:lvl3pPr marL="560238" indent="0">
              <a:buNone/>
              <a:defRPr>
                <a:gradFill>
                  <a:gsLst>
                    <a:gs pos="1250">
                      <a:schemeClr val="bg1"/>
                    </a:gs>
                    <a:gs pos="100000">
                      <a:schemeClr val="bg1"/>
                    </a:gs>
                  </a:gsLst>
                  <a:lin ang="5400000" scaled="0"/>
                </a:gradFill>
              </a:defRPr>
            </a:lvl3pPr>
            <a:lvl4pPr marL="784334" indent="0">
              <a:buNone/>
              <a:defRPr>
                <a:gradFill>
                  <a:gsLst>
                    <a:gs pos="1250">
                      <a:schemeClr val="bg1"/>
                    </a:gs>
                    <a:gs pos="100000">
                      <a:schemeClr val="bg1"/>
                    </a:gs>
                  </a:gsLst>
                  <a:lin ang="5400000" scaled="0"/>
                </a:gradFill>
              </a:defRPr>
            </a:lvl4pPr>
            <a:lvl5pPr marL="1008429" indent="0">
              <a:buNone/>
              <a:defRPr>
                <a:gradFill>
                  <a:gsLst>
                    <a:gs pos="1250">
                      <a:schemeClr val="bg1"/>
                    </a:gs>
                    <a:gs pos="100000">
                      <a:schemeClr val="bg1"/>
                    </a:gs>
                  </a:gsLst>
                  <a:lin ang="5400000" scaled="0"/>
                </a:gradFill>
              </a:defRPr>
            </a:lvl5pPr>
          </a:lstStyle>
          <a:p>
            <a:pPr lvl="0"/>
            <a:r>
              <a:rPr lang="en-US" dirty="0"/>
              <a:t>Quotation Author</a:t>
            </a:r>
          </a:p>
        </p:txBody>
      </p:sp>
      <p:sp>
        <p:nvSpPr>
          <p:cNvPr id="15" name="Text Placeholder 6">
            <a:extLst>
              <a:ext uri="{FF2B5EF4-FFF2-40B4-BE49-F238E27FC236}">
                <a16:creationId xmlns:a16="http://schemas.microsoft.com/office/drawing/2014/main" id="{F78CCF1D-C382-4338-9CBC-EE540D3CAB4F}"/>
              </a:ext>
            </a:extLst>
          </p:cNvPr>
          <p:cNvSpPr>
            <a:spLocks noGrp="1"/>
          </p:cNvSpPr>
          <p:nvPr>
            <p:ph type="body" sz="quarter" idx="11" hasCustomPrompt="1"/>
          </p:nvPr>
        </p:nvSpPr>
        <p:spPr bwMode="white">
          <a:xfrm>
            <a:off x="3436143" y="5168900"/>
            <a:ext cx="5168107" cy="618567"/>
          </a:xfrm>
        </p:spPr>
        <p:txBody>
          <a:bodyPr lIns="182880" tIns="146304" rIns="182880" bIns="146304"/>
          <a:lstStyle>
            <a:lvl1pPr marL="190492" indent="0" algn="r">
              <a:buNone/>
              <a:defRPr sz="2333" b="0">
                <a:solidFill>
                  <a:schemeClr val="bg1"/>
                </a:solidFill>
                <a:latin typeface="+mn-lt"/>
                <a:ea typeface="Amazon Ember Heavy" panose="020B0803020204020204" pitchFamily="34" charset="0"/>
                <a:cs typeface="Amazon Ember Heavy" panose="020B0803020204020204" pitchFamily="34" charset="0"/>
              </a:defRPr>
            </a:lvl1pPr>
            <a:lvl2pPr marL="336143" indent="0">
              <a:buNone/>
              <a:defRPr>
                <a:gradFill>
                  <a:gsLst>
                    <a:gs pos="1250">
                      <a:schemeClr val="bg1"/>
                    </a:gs>
                    <a:gs pos="100000">
                      <a:schemeClr val="bg1"/>
                    </a:gs>
                  </a:gsLst>
                  <a:lin ang="5400000" scaled="0"/>
                </a:gradFill>
              </a:defRPr>
            </a:lvl2pPr>
            <a:lvl3pPr marL="560238" indent="0">
              <a:buNone/>
              <a:defRPr>
                <a:gradFill>
                  <a:gsLst>
                    <a:gs pos="1250">
                      <a:schemeClr val="bg1"/>
                    </a:gs>
                    <a:gs pos="100000">
                      <a:schemeClr val="bg1"/>
                    </a:gs>
                  </a:gsLst>
                  <a:lin ang="5400000" scaled="0"/>
                </a:gradFill>
              </a:defRPr>
            </a:lvl3pPr>
            <a:lvl4pPr marL="784334" indent="0">
              <a:buNone/>
              <a:defRPr>
                <a:gradFill>
                  <a:gsLst>
                    <a:gs pos="1250">
                      <a:schemeClr val="bg1"/>
                    </a:gs>
                    <a:gs pos="100000">
                      <a:schemeClr val="bg1"/>
                    </a:gs>
                  </a:gsLst>
                  <a:lin ang="5400000" scaled="0"/>
                </a:gradFill>
              </a:defRPr>
            </a:lvl4pPr>
            <a:lvl5pPr marL="1008429" indent="0">
              <a:buNone/>
              <a:defRPr>
                <a:gradFill>
                  <a:gsLst>
                    <a:gs pos="1250">
                      <a:schemeClr val="bg1"/>
                    </a:gs>
                    <a:gs pos="100000">
                      <a:schemeClr val="bg1"/>
                    </a:gs>
                  </a:gsLst>
                  <a:lin ang="5400000" scaled="0"/>
                </a:gradFill>
              </a:defRPr>
            </a:lvl5pPr>
          </a:lstStyle>
          <a:p>
            <a:pPr lvl="0"/>
            <a:r>
              <a:rPr lang="en-US" dirty="0"/>
              <a:t>Title</a:t>
            </a:r>
          </a:p>
        </p:txBody>
      </p:sp>
    </p:spTree>
    <p:extLst>
      <p:ext uri="{BB962C8B-B14F-4D97-AF65-F5344CB8AC3E}">
        <p14:creationId xmlns:p14="http://schemas.microsoft.com/office/powerpoint/2010/main" val="382624041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Sub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670560"/>
          </a:xfrm>
        </p:spPr>
        <p:txBody>
          <a:bodyPr vert="horz" wrap="square" lIns="182880" tIns="146304" rIns="182880" bIns="146304" rtlCol="0" anchor="t">
            <a:noAutofit/>
          </a:bodyPr>
          <a:lstStyle>
            <a:lvl1pPr>
              <a:defRPr lang="en-US" sz="4000" baseline="0"/>
            </a:lvl1pPr>
          </a:lstStyle>
          <a:p>
            <a:pPr lvl="0"/>
            <a:r>
              <a:rPr lang="en-US" dirty="0"/>
              <a:t>Click to edit master title style</a:t>
            </a:r>
          </a:p>
        </p:txBody>
      </p:sp>
      <p:sp>
        <p:nvSpPr>
          <p:cNvPr id="5" name="Text Placeholder 4">
            <a:extLst>
              <a:ext uri="{FF2B5EF4-FFF2-40B4-BE49-F238E27FC236}">
                <a16:creationId xmlns:a16="http://schemas.microsoft.com/office/drawing/2014/main" id="{D7598F06-5E9F-4A11-8610-CF80CCE5BE9F}"/>
              </a:ext>
            </a:extLst>
          </p:cNvPr>
          <p:cNvSpPr>
            <a:spLocks noGrp="1"/>
          </p:cNvSpPr>
          <p:nvPr>
            <p:ph type="body" sz="quarter" idx="10" hasCustomPrompt="1"/>
          </p:nvPr>
        </p:nvSpPr>
        <p:spPr>
          <a:xfrm>
            <a:off x="478221" y="986966"/>
            <a:ext cx="11652250" cy="424732"/>
          </a:xfrm>
        </p:spPr>
        <p:txBody>
          <a:bodyPr/>
          <a:lstStyle>
            <a:lvl1pPr marL="0" indent="0">
              <a:buNone/>
              <a:defRPr sz="2400">
                <a:solidFill>
                  <a:schemeClr val="accent1"/>
                </a:solidFill>
              </a:defRPr>
            </a:lvl1pPr>
          </a:lstStyle>
          <a:p>
            <a:pPr lvl="0"/>
            <a:r>
              <a:rPr lang="en-US" dirty="0"/>
              <a:t>Edit Master text styles</a:t>
            </a:r>
          </a:p>
        </p:txBody>
      </p:sp>
      <p:sp>
        <p:nvSpPr>
          <p:cNvPr id="7" name="Text Placeholder 3">
            <a:extLst>
              <a:ext uri="{FF2B5EF4-FFF2-40B4-BE49-F238E27FC236}">
                <a16:creationId xmlns:a16="http://schemas.microsoft.com/office/drawing/2014/main" id="{4D7A8912-5838-1B46-B696-DA489AB593FE}"/>
              </a:ext>
            </a:extLst>
          </p:cNvPr>
          <p:cNvSpPr>
            <a:spLocks noGrp="1"/>
          </p:cNvSpPr>
          <p:nvPr>
            <p:ph idx="11" hasCustomPrompt="1"/>
          </p:nvPr>
        </p:nvSpPr>
        <p:spPr>
          <a:xfrm>
            <a:off x="269769" y="1586325"/>
            <a:ext cx="11652356" cy="2031325"/>
          </a:xfrm>
          <a:prstGeom prst="rect">
            <a:avLst/>
          </a:prstGeom>
        </p:spPr>
        <p:txBody>
          <a:bodyPr vert="horz" wrap="square" lIns="182880" tIns="146304" rIns="182880" bIns="146304" rtlCol="0">
            <a:spAutoFit/>
          </a:bodyPr>
          <a:lstStyle>
            <a:lvl1pPr>
              <a:spcAft>
                <a:spcPts val="667"/>
              </a:spcAft>
              <a:defRPr b="0" i="0">
                <a:latin typeface="+mn-lt"/>
                <a:ea typeface="Amazon Ember Thin" panose="020B0303020204020204" pitchFamily="34" charset="0"/>
                <a:cs typeface="Amazon Ember Thin" panose="020B0303020204020204" pitchFamily="34" charset="0"/>
              </a:defRPr>
            </a:lvl1pPr>
            <a:lvl2pPr marL="33614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2pPr>
            <a:lvl3pPr marL="560238" indent="0">
              <a:spcAft>
                <a:spcPts val="667"/>
              </a:spcAft>
              <a:buFont typeface="Arial" panose="020B0604020202020204" pitchFamily="34" charset="0"/>
              <a:buNone/>
              <a:defRPr sz="2000" b="0" i="0">
                <a:latin typeface="+mn-lt"/>
                <a:ea typeface="Amazon Ember Light" panose="020B0403020204020204" pitchFamily="34" charset="0"/>
                <a:cs typeface="Amazon Ember Light" panose="020B0403020204020204" pitchFamily="34" charset="0"/>
              </a:defRPr>
            </a:lvl3pPr>
            <a:lvl4pPr marL="78433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4pPr>
            <a:lvl5pPr marL="1008428" marR="0" indent="0" algn="l" defTabSz="914362" rtl="0" eaLnBrk="1" fontAlgn="auto" latinLnBrk="0" hangingPunct="1">
              <a:lnSpc>
                <a:spcPct val="90000"/>
              </a:lnSpc>
              <a:spcBef>
                <a:spcPts val="500"/>
              </a:spcBef>
              <a:spcAft>
                <a:spcPts val="667"/>
              </a:spcAft>
              <a:buClrTx/>
              <a:buSzPct val="90000"/>
              <a:buFont typeface="Arial" panose="020B0604020202020204" pitchFamily="34" charset="0"/>
              <a:buNone/>
              <a:tabLst/>
              <a:defRPr b="0" i="0">
                <a:latin typeface="Amazon Ember" panose="020B0603020204020204" pitchFamily="34" charset="0"/>
                <a:ea typeface="Amazon Ember" panose="020B0603020204020204" pitchFamily="34" charset="0"/>
                <a:cs typeface="Amazon Ember" panose="020B0603020204020204" pitchFamily="34" charset="0"/>
              </a:defRPr>
            </a:lvl5pPr>
            <a:lvl6pPr marL="2228755" indent="0">
              <a:buNone/>
              <a:defRPr/>
            </a:lvl6pPr>
          </a:lstStyle>
          <a:p>
            <a:pPr lvl="0"/>
            <a:r>
              <a:rPr lang="en-US" dirty="0"/>
              <a:t>Click to edit master text styles</a:t>
            </a:r>
          </a:p>
          <a:p>
            <a:pPr lvl="1"/>
            <a:r>
              <a:rPr lang="en-US" dirty="0"/>
              <a:t>Second level</a:t>
            </a:r>
          </a:p>
          <a:p>
            <a:pPr lvl="1"/>
            <a:r>
              <a:rPr lang="en-US" dirty="0"/>
              <a:t>Third  level</a:t>
            </a:r>
          </a:p>
          <a:p>
            <a:pPr lvl="1"/>
            <a:r>
              <a:rPr lang="en-US" dirty="0"/>
              <a:t>Fourth level</a:t>
            </a:r>
          </a:p>
        </p:txBody>
      </p:sp>
    </p:spTree>
    <p:extLst>
      <p:ext uri="{BB962C8B-B14F-4D97-AF65-F5344CB8AC3E}">
        <p14:creationId xmlns:p14="http://schemas.microsoft.com/office/powerpoint/2010/main" val="353001016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899665"/>
          </a:xfrm>
        </p:spPr>
        <p:txBody>
          <a:bodyPr lIns="182880" tIns="146304" rIns="182880" bIns="146304"/>
          <a:lstStyle>
            <a:lvl1pPr>
              <a:defRPr/>
            </a:lvl1pPr>
          </a:lstStyle>
          <a:p>
            <a:r>
              <a:rPr lang="en-US" dirty="0"/>
              <a:t>Click to edit master title style</a:t>
            </a:r>
          </a:p>
        </p:txBody>
      </p:sp>
    </p:spTree>
    <p:extLst>
      <p:ext uri="{BB962C8B-B14F-4D97-AF65-F5344CB8AC3E}">
        <p14:creationId xmlns:p14="http://schemas.microsoft.com/office/powerpoint/2010/main" val="180825962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_2">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7800F99-0876-EC45-94EE-04178712AA3A}"/>
              </a:ext>
            </a:extLst>
          </p:cNvPr>
          <p:cNvSpPr>
            <a:spLocks noGrp="1"/>
          </p:cNvSpPr>
          <p:nvPr>
            <p:ph type="title" hasCustomPrompt="1"/>
          </p:nvPr>
        </p:nvSpPr>
        <p:spPr bwMode="white">
          <a:xfrm>
            <a:off x="269875" y="2870811"/>
            <a:ext cx="10757271" cy="987963"/>
          </a:xfrm>
          <a:noFill/>
        </p:spPr>
        <p:txBody>
          <a:bodyPr wrap="square" lIns="182880" tIns="146304" rIns="182880" bIns="146304" anchor="t" anchorCtr="0">
            <a:spAutoFit/>
          </a:bodyPr>
          <a:lstStyle>
            <a:lvl1pPr>
              <a:defRPr sz="5000" spc="-98" baseline="0">
                <a:solidFill>
                  <a:schemeClr val="bg1"/>
                </a:solidFill>
                <a:latin typeface="+mj-lt"/>
                <a:ea typeface="Amazon Ember Heavy" panose="020B0803020204020204" pitchFamily="34" charset="0"/>
                <a:cs typeface="Amazon Ember Heavy" panose="020B0803020204020204" pitchFamily="34" charset="0"/>
              </a:defRPr>
            </a:lvl1pPr>
          </a:lstStyle>
          <a:p>
            <a:r>
              <a:rPr lang="en-US" dirty="0"/>
              <a:t>Section</a:t>
            </a:r>
          </a:p>
        </p:txBody>
      </p:sp>
      <p:sp>
        <p:nvSpPr>
          <p:cNvPr id="5" name="TextBox 4">
            <a:extLst>
              <a:ext uri="{FF2B5EF4-FFF2-40B4-BE49-F238E27FC236}">
                <a16:creationId xmlns:a16="http://schemas.microsoft.com/office/drawing/2014/main" id="{C291DB98-1487-46F6-8DBF-A9A23B1488D5}"/>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bg1"/>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403875421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_and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671065"/>
          </a:xfrm>
        </p:spPr>
        <p:txBody>
          <a:bodyPr lIns="182880" tIns="146304" rIns="182880" bIns="146304"/>
          <a:lstStyle>
            <a:lvl1pPr>
              <a:defRPr/>
            </a:lvl1pPr>
          </a:lstStyle>
          <a:p>
            <a:r>
              <a:rPr lang="en-US" dirty="0"/>
              <a:t>Click to edit master title style</a:t>
            </a:r>
          </a:p>
        </p:txBody>
      </p:sp>
      <p:sp>
        <p:nvSpPr>
          <p:cNvPr id="4" name="Text Placeholder 3">
            <a:extLst>
              <a:ext uri="{FF2B5EF4-FFF2-40B4-BE49-F238E27FC236}">
                <a16:creationId xmlns:a16="http://schemas.microsoft.com/office/drawing/2014/main" id="{772055D2-C6C9-491F-97FF-B9A772BC8833}"/>
              </a:ext>
            </a:extLst>
          </p:cNvPr>
          <p:cNvSpPr>
            <a:spLocks noGrp="1"/>
          </p:cNvSpPr>
          <p:nvPr>
            <p:ph type="body" sz="quarter" idx="10" hasCustomPrompt="1"/>
          </p:nvPr>
        </p:nvSpPr>
        <p:spPr>
          <a:xfrm>
            <a:off x="269875" y="987468"/>
            <a:ext cx="11652250" cy="424732"/>
          </a:xfrm>
        </p:spPr>
        <p:txBody>
          <a:bodyPr/>
          <a:lstStyle>
            <a:lvl1pPr marL="0" indent="0">
              <a:buNone/>
              <a:defRPr sz="2400">
                <a:solidFill>
                  <a:schemeClr val="accent1"/>
                </a:solidFill>
              </a:defRPr>
            </a:lvl1pPr>
          </a:lstStyle>
          <a:p>
            <a:pPr lvl="0"/>
            <a:r>
              <a:rPr lang="en-US" dirty="0"/>
              <a:t>   Edit Master text styles</a:t>
            </a:r>
          </a:p>
        </p:txBody>
      </p:sp>
    </p:spTree>
    <p:extLst>
      <p:ext uri="{BB962C8B-B14F-4D97-AF65-F5344CB8AC3E}">
        <p14:creationId xmlns:p14="http://schemas.microsoft.com/office/powerpoint/2010/main" val="425310014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_You">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B748DC2-DA40-0C41-98A8-4752FCAE6928}"/>
              </a:ext>
            </a:extLst>
          </p:cNvPr>
          <p:cNvPicPr>
            <a:picLocks noChangeAspect="1"/>
          </p:cNvPicPr>
          <p:nvPr userDrawn="1"/>
        </p:nvPicPr>
        <p:blipFill rotWithShape="1">
          <a:blip r:embed="rId2"/>
          <a:srcRect l="5846"/>
          <a:stretch/>
        </p:blipFill>
        <p:spPr>
          <a:xfrm>
            <a:off x="0" y="0"/>
            <a:ext cx="12192000" cy="6855353"/>
          </a:xfrm>
          <a:prstGeom prst="rect">
            <a:avLst/>
          </a:prstGeom>
        </p:spPr>
      </p:pic>
      <p:sp>
        <p:nvSpPr>
          <p:cNvPr id="11" name="Text Placeholder 2">
            <a:extLst>
              <a:ext uri="{FF2B5EF4-FFF2-40B4-BE49-F238E27FC236}">
                <a16:creationId xmlns:a16="http://schemas.microsoft.com/office/drawing/2014/main" id="{FAAD6B90-3239-487B-90E2-DA3FBBFC9D3B}"/>
              </a:ext>
            </a:extLst>
          </p:cNvPr>
          <p:cNvSpPr>
            <a:spLocks noGrp="1"/>
          </p:cNvSpPr>
          <p:nvPr>
            <p:ph type="body" sz="quarter" idx="14" hasCustomPrompt="1"/>
          </p:nvPr>
        </p:nvSpPr>
        <p:spPr bwMode="white">
          <a:xfrm>
            <a:off x="269875" y="3529327"/>
            <a:ext cx="3652631" cy="445773"/>
          </a:xfrm>
        </p:spPr>
        <p:txBody>
          <a:bodyPr lIns="182880" tIns="146304" rIns="182880" bIns="146304">
            <a:noAutofit/>
          </a:bodyPr>
          <a:lstStyle>
            <a:lvl1pPr marL="0" indent="0">
              <a:spcBef>
                <a:spcPts val="0"/>
              </a:spcBef>
              <a:buNone/>
              <a:defRPr lang="en-US" sz="2333" b="0" kern="1200" spc="0" baseline="0" dirty="0">
                <a:solidFill>
                  <a:schemeClr val="bg1"/>
                </a:solidFill>
                <a:latin typeface="+mn-lt"/>
                <a:ea typeface="Amazon Ember Heavy" panose="020B0803020204020204" pitchFamily="34" charset="0"/>
                <a:cs typeface="Amazon Ember Heavy" panose="020B0803020204020204" pitchFamily="34" charset="0"/>
              </a:defRPr>
            </a:lvl1pPr>
          </a:lstStyle>
          <a:p>
            <a:pPr marL="0" marR="0" lvl="0" indent="0" algn="l" defTabSz="914362" rtl="0" eaLnBrk="1" fontAlgn="auto" latinLnBrk="0" hangingPunct="1">
              <a:lnSpc>
                <a:spcPct val="90000"/>
              </a:lnSpc>
              <a:spcBef>
                <a:spcPct val="20000"/>
              </a:spcBef>
              <a:spcAft>
                <a:spcPts val="0"/>
              </a:spcAft>
              <a:buClrTx/>
              <a:buSzPct val="90000"/>
              <a:buFont typeface="Arial" pitchFamily="34" charset="0"/>
              <a:buNone/>
              <a:tabLst/>
            </a:pPr>
            <a:r>
              <a:rPr lang="en-US" dirty="0"/>
              <a:t>Speaker Name</a:t>
            </a:r>
          </a:p>
        </p:txBody>
      </p:sp>
      <p:sp>
        <p:nvSpPr>
          <p:cNvPr id="16" name="TextBox 15">
            <a:extLst>
              <a:ext uri="{FF2B5EF4-FFF2-40B4-BE49-F238E27FC236}">
                <a16:creationId xmlns:a16="http://schemas.microsoft.com/office/drawing/2014/main" id="{038B4B94-EB11-421A-9F05-9547D4AD928A}"/>
              </a:ext>
            </a:extLst>
          </p:cNvPr>
          <p:cNvSpPr txBox="1"/>
          <p:nvPr userDrawn="1"/>
        </p:nvSpPr>
        <p:spPr bwMode="white">
          <a:xfrm>
            <a:off x="269239" y="1841350"/>
            <a:ext cx="9979661" cy="1587651"/>
          </a:xfrm>
          <a:prstGeom prst="rect">
            <a:avLst/>
          </a:prstGeom>
          <a:noFill/>
        </p:spPr>
        <p:txBody>
          <a:bodyPr vert="horz" wrap="square" lIns="152400" tIns="76200" rIns="121920" bIns="76200" rtlCol="0" anchor="t" anchorCtr="0">
            <a:noAutofit/>
          </a:bodyPr>
          <a:lstStyle>
            <a:lvl1pPr defTabSz="1097278">
              <a:lnSpc>
                <a:spcPct val="90000"/>
              </a:lnSpc>
              <a:spcBef>
                <a:spcPct val="0"/>
              </a:spcBef>
              <a:buNone/>
              <a:defRPr lang="en-US" sz="6600" b="0" cap="none" spc="-118" baseline="0" dirty="0" smtClean="0">
                <a:ln w="3175">
                  <a:noFill/>
                </a:ln>
                <a:solidFill>
                  <a:schemeClr val="bg1"/>
                </a:solidFill>
                <a:effectLst/>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lvl="0"/>
            <a:r>
              <a:rPr lang="en-US" sz="9583" dirty="0">
                <a:solidFill>
                  <a:schemeClr val="bg1"/>
                </a:solidFill>
              </a:rPr>
              <a:t>Thank you!</a:t>
            </a:r>
          </a:p>
        </p:txBody>
      </p:sp>
      <p:sp>
        <p:nvSpPr>
          <p:cNvPr id="13" name="Text Placeholder 2">
            <a:extLst>
              <a:ext uri="{FF2B5EF4-FFF2-40B4-BE49-F238E27FC236}">
                <a16:creationId xmlns:a16="http://schemas.microsoft.com/office/drawing/2014/main" id="{FAF418EF-2579-444C-81E0-00BA1D3B84F9}"/>
              </a:ext>
            </a:extLst>
          </p:cNvPr>
          <p:cNvSpPr>
            <a:spLocks noGrp="1"/>
          </p:cNvSpPr>
          <p:nvPr>
            <p:ph type="body" sz="quarter" idx="15" hasCustomPrompt="1"/>
          </p:nvPr>
        </p:nvSpPr>
        <p:spPr bwMode="white">
          <a:xfrm>
            <a:off x="269875" y="3986534"/>
            <a:ext cx="3652631" cy="445773"/>
          </a:xfrm>
        </p:spPr>
        <p:txBody>
          <a:bodyPr lIns="182880" tIns="146304" rIns="182880" bIns="146304">
            <a:noAutofit/>
          </a:bodyPr>
          <a:lstStyle>
            <a:lvl1pPr marL="0" indent="0">
              <a:spcBef>
                <a:spcPts val="0"/>
              </a:spcBef>
              <a:buNone/>
              <a:defRPr lang="en-US" sz="2333" b="0" i="0" kern="1200" spc="0" baseline="0" dirty="0">
                <a:solidFill>
                  <a:schemeClr val="bg1"/>
                </a:solidFill>
                <a:latin typeface="Amazon Ember Thin" panose="020B0303020204020204" pitchFamily="34" charset="0"/>
                <a:ea typeface="Amazon Ember Thin" panose="020B0303020204020204" pitchFamily="34" charset="0"/>
                <a:cs typeface="Amazon Ember Thin" panose="020B0303020204020204" pitchFamily="34" charset="0"/>
              </a:defRPr>
            </a:lvl1pPr>
          </a:lstStyle>
          <a:p>
            <a:pPr marL="0" marR="0" lvl="0" indent="0" algn="l" defTabSz="914362" rtl="0" eaLnBrk="1" fontAlgn="auto" latinLnBrk="0" hangingPunct="1">
              <a:lnSpc>
                <a:spcPct val="90000"/>
              </a:lnSpc>
              <a:spcBef>
                <a:spcPct val="20000"/>
              </a:spcBef>
              <a:spcAft>
                <a:spcPts val="0"/>
              </a:spcAft>
              <a:buClrTx/>
              <a:buSzPct val="90000"/>
              <a:buFont typeface="Arial" pitchFamily="34" charset="0"/>
              <a:buNone/>
              <a:tabLst/>
            </a:pPr>
            <a:r>
              <a:rPr lang="en-US" dirty="0"/>
              <a:t>Contact information</a:t>
            </a:r>
          </a:p>
        </p:txBody>
      </p:sp>
      <p:sp>
        <p:nvSpPr>
          <p:cNvPr id="10" name="Text Placeholder 2">
            <a:extLst>
              <a:ext uri="{FF2B5EF4-FFF2-40B4-BE49-F238E27FC236}">
                <a16:creationId xmlns:a16="http://schemas.microsoft.com/office/drawing/2014/main" id="{5B48B752-DFCD-44B7-B0E7-3F77FF308FDD}"/>
              </a:ext>
            </a:extLst>
          </p:cNvPr>
          <p:cNvSpPr>
            <a:spLocks noGrp="1"/>
          </p:cNvSpPr>
          <p:nvPr>
            <p:ph type="body" sz="quarter" idx="16" hasCustomPrompt="1"/>
          </p:nvPr>
        </p:nvSpPr>
        <p:spPr bwMode="white">
          <a:xfrm>
            <a:off x="3922506" y="3529327"/>
            <a:ext cx="3649980" cy="445773"/>
          </a:xfrm>
        </p:spPr>
        <p:txBody>
          <a:bodyPr lIns="182880" tIns="146304" rIns="182880" bIns="146304">
            <a:noAutofit/>
          </a:bodyPr>
          <a:lstStyle>
            <a:lvl1pPr marL="0" indent="0">
              <a:spcBef>
                <a:spcPts val="0"/>
              </a:spcBef>
              <a:buNone/>
              <a:defRPr lang="en-US" sz="2333" b="0" kern="1200" spc="0" baseline="0" dirty="0">
                <a:solidFill>
                  <a:schemeClr val="bg1"/>
                </a:solidFill>
                <a:latin typeface="+mn-lt"/>
                <a:ea typeface="Amazon Ember Heavy" panose="020B0803020204020204" pitchFamily="34" charset="0"/>
                <a:cs typeface="Amazon Ember Heavy" panose="020B0803020204020204" pitchFamily="34" charset="0"/>
              </a:defRPr>
            </a:lvl1pPr>
          </a:lstStyle>
          <a:p>
            <a:pPr marL="0" marR="0" lvl="0" indent="0" algn="l" defTabSz="914362" rtl="0" eaLnBrk="1" fontAlgn="auto" latinLnBrk="0" hangingPunct="1">
              <a:lnSpc>
                <a:spcPct val="90000"/>
              </a:lnSpc>
              <a:spcBef>
                <a:spcPct val="20000"/>
              </a:spcBef>
              <a:spcAft>
                <a:spcPts val="0"/>
              </a:spcAft>
              <a:buClrTx/>
              <a:buSzPct val="90000"/>
              <a:buFont typeface="Arial" pitchFamily="34" charset="0"/>
              <a:buNone/>
              <a:tabLst/>
            </a:pPr>
            <a:r>
              <a:rPr lang="en-US" dirty="0"/>
              <a:t>Speaker Name</a:t>
            </a:r>
          </a:p>
        </p:txBody>
      </p:sp>
      <p:sp>
        <p:nvSpPr>
          <p:cNvPr id="14" name="Text Placeholder 2">
            <a:extLst>
              <a:ext uri="{FF2B5EF4-FFF2-40B4-BE49-F238E27FC236}">
                <a16:creationId xmlns:a16="http://schemas.microsoft.com/office/drawing/2014/main" id="{2A5E8B54-D9CE-4024-A153-5A4625CD3EA2}"/>
              </a:ext>
            </a:extLst>
          </p:cNvPr>
          <p:cNvSpPr>
            <a:spLocks noGrp="1"/>
          </p:cNvSpPr>
          <p:nvPr>
            <p:ph type="body" sz="quarter" idx="17" hasCustomPrompt="1"/>
          </p:nvPr>
        </p:nvSpPr>
        <p:spPr bwMode="white">
          <a:xfrm>
            <a:off x="3922506" y="3986534"/>
            <a:ext cx="3649980" cy="445773"/>
          </a:xfrm>
        </p:spPr>
        <p:txBody>
          <a:bodyPr lIns="182880" tIns="146304" rIns="182880" bIns="146304">
            <a:noAutofit/>
          </a:bodyPr>
          <a:lstStyle>
            <a:lvl1pPr marL="0" indent="0">
              <a:spcBef>
                <a:spcPts val="0"/>
              </a:spcBef>
              <a:buNone/>
              <a:defRPr lang="en-US" sz="2333" b="0" i="0" kern="1200" spc="0" baseline="0" dirty="0">
                <a:solidFill>
                  <a:schemeClr val="bg1"/>
                </a:solidFill>
                <a:latin typeface="Amazon Ember Thin" panose="020B0303020204020204" pitchFamily="34" charset="0"/>
                <a:ea typeface="Amazon Ember Thin" panose="020B0303020204020204" pitchFamily="34" charset="0"/>
                <a:cs typeface="Amazon Ember Thin" panose="020B0303020204020204" pitchFamily="34" charset="0"/>
              </a:defRPr>
            </a:lvl1pPr>
          </a:lstStyle>
          <a:p>
            <a:pPr marL="0" marR="0" lvl="0" indent="0" algn="l" defTabSz="914362" rtl="0" eaLnBrk="1" fontAlgn="auto" latinLnBrk="0" hangingPunct="1">
              <a:lnSpc>
                <a:spcPct val="90000"/>
              </a:lnSpc>
              <a:spcBef>
                <a:spcPct val="20000"/>
              </a:spcBef>
              <a:spcAft>
                <a:spcPts val="0"/>
              </a:spcAft>
              <a:buClrTx/>
              <a:buSzPct val="90000"/>
              <a:buFont typeface="Arial" pitchFamily="34" charset="0"/>
              <a:buNone/>
              <a:tabLst/>
            </a:pPr>
            <a:r>
              <a:rPr lang="en-US" dirty="0"/>
              <a:t>Contact information</a:t>
            </a:r>
          </a:p>
        </p:txBody>
      </p:sp>
      <p:pic>
        <p:nvPicPr>
          <p:cNvPr id="17" name="Picture 16">
            <a:extLst>
              <a:ext uri="{FF2B5EF4-FFF2-40B4-BE49-F238E27FC236}">
                <a16:creationId xmlns:a16="http://schemas.microsoft.com/office/drawing/2014/main" id="{59C949F3-F9B9-AF4D-9AC1-37D52A65A59B}"/>
              </a:ext>
            </a:extLst>
          </p:cNvPr>
          <p:cNvPicPr>
            <a:picLocks noChangeAspect="1"/>
          </p:cNvPicPr>
          <p:nvPr userDrawn="1"/>
        </p:nvPicPr>
        <p:blipFill>
          <a:blip r:embed="rId3"/>
          <a:stretch>
            <a:fillRect/>
          </a:stretch>
        </p:blipFill>
        <p:spPr>
          <a:xfrm>
            <a:off x="448471" y="6241274"/>
            <a:ext cx="1223500" cy="293640"/>
          </a:xfrm>
          <a:prstGeom prst="rect">
            <a:avLst/>
          </a:prstGeom>
        </p:spPr>
      </p:pic>
      <p:sp>
        <p:nvSpPr>
          <p:cNvPr id="15" name="TextBox 14">
            <a:extLst>
              <a:ext uri="{FF2B5EF4-FFF2-40B4-BE49-F238E27FC236}">
                <a16:creationId xmlns:a16="http://schemas.microsoft.com/office/drawing/2014/main" id="{1716EBC1-AE15-4F0E-B1D5-306DD1C05157}"/>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bg1"/>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363736276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rgbClr val="232F3E"/>
                </a:solidFill>
              </a:defRPr>
            </a:lvl1pPr>
            <a:lvl2pPr marL="461963" indent="-228600">
              <a:lnSpc>
                <a:spcPct val="100000"/>
              </a:lnSpc>
              <a:spcBef>
                <a:spcPts val="500"/>
              </a:spcBef>
              <a:spcAft>
                <a:spcPts val="600"/>
              </a:spcAft>
              <a:defRPr>
                <a:solidFill>
                  <a:srgbClr val="232F3E"/>
                </a:solidFill>
              </a:defRPr>
            </a:lvl2pPr>
            <a:lvl3pPr marL="682625" indent="-228600">
              <a:lnSpc>
                <a:spcPct val="100000"/>
              </a:lnSpc>
              <a:spcBef>
                <a:spcPts val="500"/>
              </a:spcBef>
              <a:spcAft>
                <a:spcPts val="600"/>
              </a:spcAft>
              <a:defRPr>
                <a:solidFill>
                  <a:srgbClr val="232F3E"/>
                </a:solidFill>
              </a:defRPr>
            </a:lvl3pPr>
            <a:lvl4pPr marL="914400" indent="-228600">
              <a:lnSpc>
                <a:spcPct val="100000"/>
              </a:lnSpc>
              <a:spcBef>
                <a:spcPts val="500"/>
              </a:spcBef>
              <a:spcAft>
                <a:spcPts val="600"/>
              </a:spcAft>
              <a:defRPr>
                <a:solidFill>
                  <a:srgbClr val="232F3E"/>
                </a:solidFill>
              </a:defRPr>
            </a:lvl4pPr>
            <a:lvl5pPr marL="1146175" indent="-228600">
              <a:lnSpc>
                <a:spcPct val="100000"/>
              </a:lnSpc>
              <a:spcBef>
                <a:spcPts val="500"/>
              </a:spcBef>
              <a:spcAft>
                <a:spcPts val="6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398908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custDataLst>
      <p:tags r:id="rId1"/>
    </p:custDataLst>
    <p:extLst>
      <p:ext uri="{BB962C8B-B14F-4D97-AF65-F5344CB8AC3E}">
        <p14:creationId xmlns:p14="http://schemas.microsoft.com/office/powerpoint/2010/main" val="1082761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D1B7856-86B6-C439-5A4E-2716AC2726C5}"/>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dirty="0"/>
              <a:t>Click to edit Master title style</a:t>
            </a:r>
          </a:p>
        </p:txBody>
      </p:sp>
      <p:sp>
        <p:nvSpPr>
          <p:cNvPr id="8" name="Text Placeholder 2">
            <a:extLst>
              <a:ext uri="{FF2B5EF4-FFF2-40B4-BE49-F238E27FC236}">
                <a16:creationId xmlns:a16="http://schemas.microsoft.com/office/drawing/2014/main" id="{293678F1-827C-37CE-9534-B824154D17A1}"/>
              </a:ext>
            </a:extLst>
          </p:cNvPr>
          <p:cNvSpPr>
            <a:spLocks noGrp="1"/>
          </p:cNvSpPr>
          <p:nvPr>
            <p:ph type="body" idx="1"/>
          </p:nvPr>
        </p:nvSpPr>
        <p:spPr>
          <a:xfrm>
            <a:off x="304801" y="1485900"/>
            <a:ext cx="115824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3">
            <a:extLst>
              <a:ext uri="{FF2B5EF4-FFF2-40B4-BE49-F238E27FC236}">
                <a16:creationId xmlns:a16="http://schemas.microsoft.com/office/drawing/2014/main" id="{8F793518-C540-EA36-B2F1-1E52B9AE4377}"/>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A6824A1F-4127-5A43-EFDE-26C5ED2C8C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04801" y="6428661"/>
            <a:ext cx="388818" cy="232516"/>
          </a:xfrm>
          <a:prstGeom prst="rect">
            <a:avLst/>
          </a:prstGeom>
        </p:spPr>
      </p:pic>
      <p:sp>
        <p:nvSpPr>
          <p:cNvPr id="11" name="Rectangle 10">
            <a:extLst>
              <a:ext uri="{FF2B5EF4-FFF2-40B4-BE49-F238E27FC236}">
                <a16:creationId xmlns:a16="http://schemas.microsoft.com/office/drawing/2014/main" id="{3FFEE849-2B68-A88E-BDBD-979547D331AC}"/>
              </a:ext>
            </a:extLst>
          </p:cNvPr>
          <p:cNvSpPr/>
          <p:nvPr userDrawn="1"/>
        </p:nvSpPr>
        <p:spPr>
          <a:xfrm>
            <a:off x="0" y="0"/>
            <a:ext cx="80304" cy="6858000"/>
          </a:xfrm>
          <a:prstGeom prst="rect">
            <a:avLst/>
          </a:prstGeom>
          <a:solidFill>
            <a:srgbClr val="23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568181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skillbuilder.aws/learn" TargetMode="External"/><Relationship Id="rId4" Type="http://schemas.openxmlformats.org/officeDocument/2006/relationships/hyperlink" Target="https://skillbuilder.aws/subscriptions" TargetMode="External"/><Relationship Id="rId5" Type="http://schemas.openxmlformats.org/officeDocument/2006/relationships/hyperlink" Target="https://skillbuilder.aws/learn/5EHN168DQA/aws-cloud-quest-serverless-developer/EHKXGX5TZQ"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https://docs.aws.amazon.com/lambda/latest/dg/welcome.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cs.aws.amazon.com/apigateway/latest/developerguide/welcome.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aws.amazon.com/apigateway/latest/developerguide/welcome.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ocs.aws.amazon.com/apigateway/latest/developerguide/api-gateway-api-endpoint-type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docs.aws.amazon.com/apigateway/latest/developerguide/set-up-stage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docs.aws.amazon.com/lambda/latest/dg/welcome.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hyperlink" Target="https://docs.aws.amazon.com/apigateway/latest/developerguide/welcome.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ocs.aws.amazon.com/lambda/latest/dg/foundation-progmodel.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cs.aws.amazon.com/lambda/latest/dg/python-handler.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ocs.aws.amazon.com/lambda/latest/dg/lambda-invocation.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docs.aws.amazon.com/lambda/latest/dg/invocation-eventsourcemapping.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docs.aws.amazon.com/lambda/latest/dg/configuration-memory.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docs.aws.amazon.com/lambda/latest/dg/best-practices.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hyperlink" Target="https://docs.aws.amazon.com/lambda/latest/dg/invocation-eventsourcemapping.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cs.aws.amazon.com/amazondynamodb/latest/developerguide/Introduction.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hyperlink" Target="https://docs.aws.amazon.com/amazondynamodb/latest/developerguide/HowItWorks.CoreComponent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docs.aws.amazon.com/amazondynamodb/latest/developerguide/SecondaryIndexes.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hyperlink" Target="https://docs.aws.amazon.com/amazondynamodb/latest/developerguide/Streams.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ocs.aws.amazon.com/amazondynamodb/latest/developerguide/TTL.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docs.aws.amazon.com/amazondynamodb/latest/developerguide/HowItWorks.ReadWriteCapacityMode.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docs.aws.amazon.com/amazondynamodb/latest/developerguide/bp-use-s3-too.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https://docs.aws.amazon.com/step-functions/latest/dg/welcome.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hyperlink" Target="https://docs.aws.amazon.com/lambda/latest/dg/welcome.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docs.aws.amazon.com/AmazonRDS/latest/UserGuide/Welcome.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docs.aws.amazon.com/amazondynamodb/latest/developerguide/SQLtoNoSQL.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hyperlink" Target="https://docs.aws.amazon.com/AWSSimpleQueueService/latest/SQSDeveloperGuide/welcome.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aws.amazon.com/solutions/case-studies/doordash-serverless-case-study/"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docs.aws.amazon.com/sns/latest/dg/welcome.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hyperlink" Target="https://docs.aws.amazon.com/sns/latest/dg/welcome.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hyperlink" Target="https://docs.aws.amazon.com/AWSSimpleQueueService/latest/SQSDeveloperGuide/welcome.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s://docs.aws.amazon.com/bedrock/latest/userguide/what-is-bedrock.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s://docs.aws.amazon.com/bedrock/latest/userguide/inference.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hyperlink" Target="https://aws.amazon.com/solutions/case-studies/asapp-case-study/"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kiro.dev/docs/how-kiro-work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kiro.dev/docs/how-kiro-work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docs.aws.amazon.com/AWSSimpleQueueService/latest/SQSDeveloperGuide/FIFO-queues.htm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hyperlink" Target="https://docs.aws.amazon.com/bedrock/latest/userguide/knowledge-base.htm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hyperlink" Target="https://docs.aws.amazon.com/lambda/latest/dg/configuration-memory.htm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hyperlink" Target="https://docs.aws.amazon.com/amazondynamodb/latest/developerguide/GSI.html"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hyperlink" Target="https://kiro.dev/docs/steering/"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hyperlink" Target="https://kiro.dev/docs/how-kiro-works/"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1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hyperlink" Target="https://aws.amazon.com/blogs/training-and-certification/september-2026-new-offerings/"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hyperlink" Target="https://aws.amazon.com/blogs/training-and-certification/september-2026-new-offerings/"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E4E6C1-8483-4665-979C-A11FC16603DD}"/>
              </a:ext>
            </a:extLst>
          </p:cNvPr>
          <p:cNvSpPr txBox="1"/>
          <p:nvPr/>
        </p:nvSpPr>
        <p:spPr>
          <a:xfrm>
            <a:off x="371417" y="1118707"/>
            <a:ext cx="6649493" cy="4801314"/>
          </a:xfrm>
          <a:prstGeom prst="rect">
            <a:avLst/>
          </a:prstGeom>
          <a:noFill/>
        </p:spPr>
        <p:txBody>
          <a:bodyPr wrap="square" rtlCol="0">
            <a:spAutoFit/>
          </a:bodyPr>
          <a:lstStyle/>
          <a:p>
            <a:r>
              <a:rPr lang="en-US" b="1" dirty="0">
                <a:solidFill>
                  <a:schemeClr val="bg1"/>
                </a:solidFill>
              </a:rPr>
              <a:t>Reminders:</a:t>
            </a:r>
          </a:p>
          <a:p>
            <a:pPr marL="342900" indent="-342900">
              <a:buFont typeface="+mj-lt"/>
              <a:buAutoNum type="arabicPeriod"/>
            </a:pPr>
            <a:r>
              <a:rPr lang="en-US" dirty="0">
                <a:solidFill>
                  <a:schemeClr val="bg1"/>
                </a:solidFill>
              </a:rPr>
              <a:t>Content Developed and owned by the AWS Partner Certification Readiness (APCR) team – </a:t>
            </a:r>
            <a:r>
              <a:rPr lang="en-US" b="1" dirty="0">
                <a:solidFill>
                  <a:schemeClr val="bg1"/>
                </a:solidFill>
              </a:rPr>
              <a:t>may not</a:t>
            </a:r>
            <a:r>
              <a:rPr lang="en-US" dirty="0">
                <a:solidFill>
                  <a:schemeClr val="bg1"/>
                </a:solidFill>
              </a:rPr>
              <a:t> be used or delivered outside of an authorized APCR program delivery. </a:t>
            </a:r>
          </a:p>
          <a:p>
            <a:pPr marL="342900" indent="-342900">
              <a:buFont typeface="+mj-lt"/>
              <a:buAutoNum type="arabicPeriod"/>
            </a:pPr>
            <a:r>
              <a:rPr lang="en-US" i="1" dirty="0">
                <a:solidFill>
                  <a:schemeClr val="bg1"/>
                </a:solidFill>
              </a:rPr>
              <a:t>Do not</a:t>
            </a:r>
            <a:r>
              <a:rPr lang="en-US" dirty="0">
                <a:solidFill>
                  <a:schemeClr val="bg1"/>
                </a:solidFill>
              </a:rPr>
              <a:t> suggest with guaranteed certification outcomes, or discuss pass rates with attendees.</a:t>
            </a:r>
          </a:p>
          <a:p>
            <a:pPr marL="342900" indent="-342900">
              <a:buFont typeface="+mj-lt"/>
              <a:buAutoNum type="arabicPeriod"/>
            </a:pPr>
            <a:r>
              <a:rPr lang="en-US" dirty="0">
                <a:solidFill>
                  <a:schemeClr val="bg1"/>
                </a:solidFill>
              </a:rPr>
              <a:t>Minimal content modifications are expected. Please highlight to the APCR team significant tailoring needs, OR any noted inaccuracies in the content. Improvement suggestions always welcome. </a:t>
            </a:r>
          </a:p>
          <a:p>
            <a:pPr marL="342900" indent="-342900">
              <a:buFont typeface="+mj-lt"/>
              <a:buAutoNum type="arabicPeriod"/>
            </a:pPr>
            <a:r>
              <a:rPr lang="en-US" dirty="0">
                <a:solidFill>
                  <a:schemeClr val="bg1"/>
                </a:solidFill>
              </a:rPr>
              <a:t>Have fun – You’re representing AWS. Our core goal is to get these individuals Certified, but your enthusiasm, engagement, and professional experiences are what keep them returning to the live sessions!</a:t>
            </a:r>
          </a:p>
          <a:p>
            <a:pPr marL="342900" indent="-342900">
              <a:buFont typeface="+mj-lt"/>
              <a:buAutoNum type="arabicPeriod"/>
            </a:pPr>
            <a:endParaRPr lang="en-US" dirty="0">
              <a:solidFill>
                <a:schemeClr val="bg1"/>
              </a:solidFill>
            </a:endParaRPr>
          </a:p>
          <a:p>
            <a:pPr marL="342900" indent="-342900">
              <a:buFont typeface="+mj-lt"/>
              <a:buAutoNum type="arabicPeriod"/>
            </a:pPr>
            <a:endParaRPr lang="en-US" i="1" dirty="0">
              <a:solidFill>
                <a:schemeClr val="bg1"/>
              </a:solidFill>
            </a:endParaRPr>
          </a:p>
          <a:p>
            <a:pPr marL="342900" indent="-342900">
              <a:buFont typeface="+mj-lt"/>
              <a:buAutoNum type="arabicPeriod"/>
            </a:pPr>
            <a:endParaRPr lang="en-US" i="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74904" y="1115568"/>
            <a:ext cx="6647688" cy="3025636"/>
          </a:xfrm>
          <a:prstGeom prst="rect">
            <a:avLst/>
          </a:prstGeom>
          <a:noFill/>
        </p:spPr>
        <p:txBody>
          <a:bodyPr wrap="square">
            <a:spAutoFit/>
          </a:bodyPr>
          <a:lstStyle/>
          <a:p>
            <a:pPr algn="l"/>
            <a:r>
              <a:rPr b="1" dirty="0">
                <a:solidFill>
                  <a:schemeClr val="bg1"/>
                </a:solidFill>
              </a:rPr>
              <a:t>INSTRUCTOR GUIDANCE</a:t>
            </a:r>
          </a:p>
          <a:p>
            <a:pPr algn="l"/>
            <a:r>
              <a:rPr b="1" dirty="0">
                <a:solidFill>
                  <a:schemeClr val="bg1"/>
                </a:solidFill>
              </a:rPr>
              <a:t>STOP -- read before presenting the Customer Case slides:</a:t>
            </a:r>
          </a:p>
          <a:p>
            <a:pPr algn="l"/>
            <a:r>
              <a:rPr dirty="0">
                <a:solidFill>
                  <a:schemeClr val="bg1"/>
                </a:solidFill>
              </a:rPr>
              <a:t>These are published AWS customer stories, not promotional claims and not your own</a:t>
            </a:r>
          </a:p>
          <a:p>
            <a:pPr algn="l"/>
            <a:r>
              <a:rPr dirty="0">
                <a:solidFill>
                  <a:schemeClr val="bg1"/>
                </a:solidFill>
              </a:rPr>
              <a:t>engagements. Present each working backwards from the customer's problem.</a:t>
            </a:r>
          </a:p>
          <a:p>
            <a:pPr algn="l"/>
            <a:r>
              <a:rPr dirty="0">
                <a:solidFill>
                  <a:schemeClr val="bg1"/>
                </a:solidFill>
              </a:rPr>
              <a:t>Read the speaker notes on this slide before you show them. This slide is hidden</a:t>
            </a:r>
          </a:p>
          <a:p>
            <a:pPr algn="l"/>
            <a:r>
              <a:rPr dirty="0">
                <a:solidFill>
                  <a:schemeClr val="bg1"/>
                </a:solidFill>
              </a:rPr>
              <a:t>and must stay hidden -- remove it before exporting a PDF.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Content Review — Session 2</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298448"/>
            <a:ext cx="10972800" cy="548640"/>
          </a:xfrm>
          <a:prstGeom prst="rect">
            <a:avLst/>
          </a:prstGeom>
          <a:noFill/>
        </p:spPr>
        <p:txBody>
          <a:bodyPr wrap="square" anchor="t">
            <a:noAutofit/>
          </a:bodyPr>
          <a:lstStyle/>
          <a:p>
            <a:pPr algn="l"/>
            <a:r>
              <a:rPr sz="2800" b="1" i="0">
                <a:solidFill>
                  <a:srgbClr val="8F0072"/>
                </a:solidFill>
                <a:latin typeface="Amazon Ember Display"/>
              </a:rPr>
              <a:t>AWS Certified Developer – Associate</a:t>
            </a:r>
          </a:p>
        </p:txBody>
      </p:sp>
      <p:sp>
        <p:nvSpPr>
          <p:cNvPr id="5" name="TextBox 4"/>
          <p:cNvSpPr txBox="1"/>
          <p:nvPr/>
        </p:nvSpPr>
        <p:spPr>
          <a:xfrm>
            <a:off x="612648" y="1993392"/>
            <a:ext cx="10972800" cy="457200"/>
          </a:xfrm>
          <a:prstGeom prst="rect">
            <a:avLst/>
          </a:prstGeom>
          <a:noFill/>
        </p:spPr>
        <p:txBody>
          <a:bodyPr wrap="square" anchor="t">
            <a:noAutofit/>
          </a:bodyPr>
          <a:lstStyle/>
          <a:p>
            <a:pPr algn="l"/>
            <a:r>
              <a:rPr sz="2200" b="0" i="0">
                <a:solidFill>
                  <a:srgbClr val="5A6B7B"/>
                </a:solidFill>
                <a:latin typeface="Amazon Ember Display"/>
              </a:rPr>
              <a:t>AWS Partner Certification Readiness</a:t>
            </a:r>
          </a:p>
        </p:txBody>
      </p:sp>
      <p:pic>
        <p:nvPicPr>
          <p:cNvPr id="6" name="Picture 5" descr="APCR-Octopus-crop.png"/>
          <p:cNvPicPr>
            <a:picLocks noChangeAspect="1"/>
          </p:cNvPicPr>
          <p:nvPr/>
        </p:nvPicPr>
        <p:blipFill>
          <a:blip r:embed="rId3"/>
          <a:stretch>
            <a:fillRect/>
          </a:stretch>
        </p:blipFill>
        <p:spPr>
          <a:xfrm>
            <a:off x="612648" y="2834640"/>
            <a:ext cx="4480560" cy="2520315"/>
          </a:xfrm>
          <a:prstGeom prst="rect">
            <a:avLst/>
          </a:prstGeom>
        </p:spPr>
      </p:pic>
      <p:sp>
        <p:nvSpPr>
          <p:cNvPr id="7" name="Isosceles Triangle 6"/>
          <p:cNvSpPr/>
          <p:nvPr/>
        </p:nvSpPr>
        <p:spPr>
          <a:xfrm rot="16200000">
            <a:off x="5202936" y="3893515"/>
            <a:ext cx="274320" cy="402336"/>
          </a:xfrm>
          <a:prstGeom prst="triangl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04104" y="3555187"/>
            <a:ext cx="4663440" cy="1078992"/>
          </a:xfrm>
          <a:prstGeom prst="roundRect">
            <a:avLst>
              <a:gd name="adj" fmla="val 3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660136" y="3710635"/>
            <a:ext cx="4151375" cy="329184"/>
          </a:xfrm>
          <a:prstGeom prst="rect">
            <a:avLst/>
          </a:prstGeom>
          <a:noFill/>
        </p:spPr>
        <p:txBody>
          <a:bodyPr wrap="square" anchor="t">
            <a:noAutofit/>
          </a:bodyPr>
          <a:lstStyle/>
          <a:p>
            <a:pPr algn="ctr"/>
            <a:r>
              <a:rPr sz="1900" b="1" i="0">
                <a:solidFill>
                  <a:srgbClr val="232B37"/>
                </a:solidFill>
                <a:latin typeface="Amazon Ember Display"/>
              </a:rPr>
              <a:t>Welcome back for Session 2.</a:t>
            </a:r>
          </a:p>
        </p:txBody>
      </p:sp>
      <p:sp>
        <p:nvSpPr>
          <p:cNvPr id="10" name="TextBox 9"/>
          <p:cNvSpPr txBox="1"/>
          <p:nvPr/>
        </p:nvSpPr>
        <p:spPr>
          <a:xfrm>
            <a:off x="5660136" y="4122115"/>
            <a:ext cx="4151375" cy="329184"/>
          </a:xfrm>
          <a:prstGeom prst="rect">
            <a:avLst/>
          </a:prstGeom>
          <a:noFill/>
        </p:spPr>
        <p:txBody>
          <a:bodyPr wrap="square" anchor="t">
            <a:noAutofit/>
          </a:bodyPr>
          <a:lstStyle/>
          <a:p>
            <a:pPr algn="ctr"/>
            <a:r>
              <a:rPr sz="1900" b="1" i="0">
                <a:solidFill>
                  <a:srgbClr val="232B37"/>
                </a:solidFill>
                <a:latin typeface="Amazon Ember Display"/>
              </a:rPr>
              <a:t>Let's build on week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Event check-in</a:t>
            </a:r>
          </a:p>
        </p:txBody>
      </p:sp>
      <p:sp>
        <p:nvSpPr>
          <p:cNvPr id="3" name="Text Placeholder 2"/>
          <p:cNvSpPr>
            <a:spLocks noGrp="1"/>
          </p:cNvSpPr>
          <p:nvPr>
            <p:ph type="body" sz="quarter" idx="11"/>
          </p:nvPr>
        </p:nvSpPr>
        <p:spPr>
          <a:xfrm>
            <a:off x="322916" y="2434551"/>
            <a:ext cx="3847337" cy="313932"/>
          </a:xfrm>
        </p:spPr>
        <p:txBody>
          <a:bodyPr/>
          <a:lstStyle/>
          <a:p>
            <a:r>
              <a:rPr sz="1800" b="1">
                <a:solidFill>
                  <a:srgbClr val="FF57E9"/>
                </a:solidFill>
                <a:latin typeface="Amazon Ember Display"/>
              </a:rPr>
              <a:t>DEVELOPER – ASSOCIATE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Week 2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1554480"/>
            <a:ext cx="4828031" cy="365760"/>
          </a:xfrm>
          <a:prstGeom prst="rect">
            <a:avLst/>
          </a:prstGeom>
          <a:noFill/>
        </p:spPr>
        <p:txBody>
          <a:bodyPr wrap="square" anchor="t">
            <a:noAutofit/>
          </a:bodyPr>
          <a:lstStyle/>
          <a:p>
            <a:pPr algn="ctr"/>
            <a:r>
              <a:rPr sz="2200" b="1" i="0" dirty="0">
                <a:solidFill>
                  <a:srgbClr val="8F0072"/>
                </a:solidFill>
                <a:latin typeface="Amazon Ember Display"/>
              </a:rPr>
              <a:t>Learning Plan </a:t>
            </a:r>
            <a:r>
              <a:rPr lang="en-US" sz="2200" b="1" dirty="0">
                <a:solidFill>
                  <a:srgbClr val="8F0072"/>
                </a:solidFill>
                <a:latin typeface="Amazon Ember Display"/>
              </a:rPr>
              <a:t>c</a:t>
            </a:r>
            <a:r>
              <a:rPr sz="2200" b="1" i="0" dirty="0">
                <a:solidFill>
                  <a:srgbClr val="8F0072"/>
                </a:solidFill>
                <a:latin typeface="Amazon Ember Display"/>
              </a:rPr>
              <a:t>ourses</a:t>
            </a:r>
          </a:p>
        </p:txBody>
      </p:sp>
      <p:sp>
        <p:nvSpPr>
          <p:cNvPr id="6" name="Rectangle 5"/>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AWS Database Offerings</a:t>
            </a:r>
          </a:p>
        </p:txBody>
      </p:sp>
      <p:sp>
        <p:nvSpPr>
          <p:cNvPr id="9" name="Rounded Rectangle 8"/>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Amazon ElastiCache Getting Started</a:t>
            </a:r>
          </a:p>
        </p:txBody>
      </p:sp>
      <p:sp>
        <p:nvSpPr>
          <p:cNvPr id="11" name="Rounded Rectangle 10"/>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Getting into the Serverless Mindset</a:t>
            </a:r>
          </a:p>
        </p:txBody>
      </p:sp>
      <p:sp>
        <p:nvSpPr>
          <p:cNvPr id="13" name="Rounded Rectangle 12"/>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Amazon DynamoDB for Serverless</a:t>
            </a:r>
          </a:p>
        </p:txBody>
      </p:sp>
      <p:sp>
        <p:nvSpPr>
          <p:cNvPr id="15" name="Rounded Rectangle 14"/>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19672" y="1554480"/>
            <a:ext cx="4828031" cy="365760"/>
          </a:xfrm>
          <a:prstGeom prst="rect">
            <a:avLst/>
          </a:prstGeom>
          <a:noFill/>
        </p:spPr>
        <p:txBody>
          <a:bodyPr wrap="square" anchor="t">
            <a:noAutofit/>
          </a:bodyPr>
          <a:lstStyle/>
          <a:p>
            <a:pPr algn="ctr"/>
            <a:r>
              <a:rPr sz="2200" b="1" i="0" dirty="0">
                <a:solidFill>
                  <a:srgbClr val="8F0072"/>
                </a:solidFill>
                <a:latin typeface="Amazon Ember Display"/>
              </a:rPr>
              <a:t>Optional </a:t>
            </a:r>
            <a:r>
              <a:rPr lang="en-US" sz="2200" b="1" i="0" dirty="0">
                <a:solidFill>
                  <a:srgbClr val="8F0072"/>
                </a:solidFill>
                <a:latin typeface="Amazon Ember Display"/>
              </a:rPr>
              <a:t>a</a:t>
            </a:r>
            <a:r>
              <a:rPr sz="2200" b="1" i="0" dirty="0">
                <a:solidFill>
                  <a:srgbClr val="8F0072"/>
                </a:solidFill>
                <a:latin typeface="Amazon Ember Display"/>
              </a:rPr>
              <a:t>dditional </a:t>
            </a:r>
            <a:r>
              <a:rPr lang="en-US" sz="2200" b="1" dirty="0">
                <a:solidFill>
                  <a:srgbClr val="8F0072"/>
                </a:solidFill>
                <a:latin typeface="Amazon Ember Display"/>
              </a:rPr>
              <a:t>t</a:t>
            </a:r>
            <a:r>
              <a:rPr sz="2200" b="1" i="0" dirty="0">
                <a:solidFill>
                  <a:srgbClr val="8F0072"/>
                </a:solidFill>
                <a:latin typeface="Amazon Ember Display"/>
              </a:rPr>
              <a:t>raining</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Continue: Cloud Quest: Serverless Dev*</a:t>
            </a:r>
          </a:p>
        </p:txBody>
      </p:sp>
      <p:sp>
        <p:nvSpPr>
          <p:cNvPr id="20" name="Rounded Rectangle 19"/>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2 review</a:t>
            </a:r>
          </a:p>
        </p:txBody>
      </p:sp>
      <p:sp>
        <p:nvSpPr>
          <p:cNvPr id="22" name="Rounded Rectangle 21"/>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2 practice*</a:t>
            </a:r>
          </a:p>
        </p:txBody>
      </p:sp>
      <p:sp>
        <p:nvSpPr>
          <p:cNvPr id="24" name="Rounded Rectangle 23"/>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39128" y="4128008"/>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2 practice, SimuLearn*</a:t>
            </a:r>
          </a:p>
        </p:txBody>
      </p:sp>
      <p:sp>
        <p:nvSpPr>
          <p:cNvPr id="26" name="TextBox 25"/>
          <p:cNvSpPr txBox="1"/>
          <p:nvPr/>
        </p:nvSpPr>
        <p:spPr>
          <a:xfrm>
            <a:off x="612648" y="5212080"/>
            <a:ext cx="10972800" cy="274320"/>
          </a:xfrm>
          <a:prstGeom prst="rect">
            <a:avLst/>
          </a:prstGeom>
          <a:noFill/>
        </p:spPr>
        <p:txBody>
          <a:bodyPr wrap="square" anchor="ctr">
            <a:noAutofit/>
          </a:bodyPr>
          <a:lstStyle/>
          <a:p>
            <a:pPr algn="ctr"/>
            <a:r>
              <a:rPr sz="1600" b="0" i="0">
                <a:solidFill>
                  <a:srgbClr val="5A6B7B"/>
                </a:solidFill>
                <a:latin typeface="Amazon Ember Display"/>
              </a:rPr>
              <a:t>* Requires an AWS Skill Builder subscription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solidFill>
                  <a:srgbClr val="232B37"/>
                </a:solidFill>
                <a:latin typeface="Amazon Ember Display"/>
              </a:rPr>
              <a:t>Optional: AWS Skill Builder subscription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p:cNvPr>
          <p:cNvSpPr txBox="1"/>
          <p:nvPr/>
        </p:nvSpPr>
        <p:spPr>
          <a:xfrm>
            <a:off x="850392" y="1554480"/>
            <a:ext cx="4828031" cy="365760"/>
          </a:xfrm>
          <a:prstGeom prst="rect">
            <a:avLst/>
          </a:prstGeom>
          <a:noFill/>
        </p:spPr>
        <p:txBody>
          <a:bodyPr wrap="square" anchor="t">
            <a:noAutofit/>
          </a:bodyPr>
          <a:lstStyle/>
          <a:p>
            <a:pPr algn="ctr"/>
            <a:r>
              <a:rPr sz="2200" b="1" i="0" u="sng">
                <a:solidFill>
                  <a:srgbClr val="0563C1"/>
                </a:solidFill>
                <a:latin typeface="Amazon Ember Display"/>
                <a:hlinkClick r:id="rId3"/>
              </a:rPr>
              <a:t>Free digital training</a:t>
            </a:r>
          </a:p>
        </p:txBody>
      </p:sp>
      <p:sp>
        <p:nvSpPr>
          <p:cNvPr id="6" name="Rectangle 5"/>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600+ digital courses</a:t>
            </a:r>
          </a:p>
        </p:txBody>
      </p:sp>
      <p:sp>
        <p:nvSpPr>
          <p:cNvPr id="9" name="Rounded Rectangle 8"/>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Learning plans</a:t>
            </a:r>
          </a:p>
        </p:txBody>
      </p:sp>
      <p:sp>
        <p:nvSpPr>
          <p:cNvPr id="11" name="Rounded Rectangle 10"/>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10 practice question sets</a:t>
            </a:r>
          </a:p>
        </p:txBody>
      </p:sp>
      <p:sp>
        <p:nvSpPr>
          <p:cNvPr id="13" name="Rounded Rectangle 12"/>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Cloud Quest and SimuLearn (foundational)</a:t>
            </a:r>
          </a:p>
        </p:txBody>
      </p:sp>
      <p:sp>
        <p:nvSpPr>
          <p:cNvPr id="15" name="Rounded Rectangle 14"/>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hlinkClick r:id="rId4"/>
          </p:cNvPr>
          <p:cNvSpPr txBox="1"/>
          <p:nvPr/>
        </p:nvSpPr>
        <p:spPr>
          <a:xfrm>
            <a:off x="6519672" y="1554480"/>
            <a:ext cx="4828031" cy="365760"/>
          </a:xfrm>
          <a:prstGeom prst="rect">
            <a:avLst/>
          </a:prstGeom>
          <a:noFill/>
        </p:spPr>
        <p:txBody>
          <a:bodyPr wrap="square" anchor="t">
            <a:noAutofit/>
          </a:bodyPr>
          <a:lstStyle/>
          <a:p>
            <a:pPr algn="ctr"/>
            <a:r>
              <a:rPr sz="2200" b="1" i="0" u="sng">
                <a:solidFill>
                  <a:srgbClr val="0563C1"/>
                </a:solidFill>
                <a:latin typeface="Amazon Ember Display"/>
                <a:hlinkClick r:id="rId4"/>
              </a:rPr>
              <a:t>Individual subscription</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200+ SimuLearn trainings</a:t>
            </a:r>
          </a:p>
        </p:txBody>
      </p:sp>
      <p:sp>
        <p:nvSpPr>
          <p:cNvPr id="20" name="Rounded Rectangle 19"/>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hlinkClick r:id="rId5"/>
          </p:cNvPr>
          <p:cNvSpPr txBox="1"/>
          <p:nvPr/>
        </p:nvSpPr>
        <p:spPr>
          <a:xfrm>
            <a:off x="6739128" y="2921000"/>
            <a:ext cx="4389119" cy="284479"/>
          </a:xfrm>
          <a:prstGeom prst="rect">
            <a:avLst/>
          </a:prstGeom>
          <a:noFill/>
        </p:spPr>
        <p:txBody>
          <a:bodyPr wrap="square" anchor="t">
            <a:noAutofit/>
          </a:bodyPr>
          <a:lstStyle/>
          <a:p>
            <a:pPr algn="l"/>
            <a:r>
              <a:rPr sz="1600" b="1" i="0" u="sng">
                <a:solidFill>
                  <a:srgbClr val="0563C1"/>
                </a:solidFill>
                <a:latin typeface="Amazon Ember Display"/>
                <a:hlinkClick r:id="rId5"/>
              </a:rPr>
              <a:t>Cloud Quest (intermediate to advanced)</a:t>
            </a:r>
          </a:p>
        </p:txBody>
      </p:sp>
      <p:sp>
        <p:nvSpPr>
          <p:cNvPr id="22" name="Rounded Rectangle 21"/>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Official practice exams</a:t>
            </a:r>
          </a:p>
        </p:txBody>
      </p:sp>
      <p:sp>
        <p:nvSpPr>
          <p:cNvPr id="24" name="Rounded Rectangle 23"/>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39128" y="4128008"/>
            <a:ext cx="4389119" cy="284479"/>
          </a:xfrm>
          <a:prstGeom prst="rect">
            <a:avLst/>
          </a:prstGeom>
          <a:noFill/>
        </p:spPr>
        <p:txBody>
          <a:bodyPr wrap="square" anchor="t">
            <a:noAutofit/>
          </a:bodyPr>
          <a:lstStyle/>
          <a:p>
            <a:pPr algn="l"/>
            <a:r>
              <a:rPr sz="1600" b="1" i="0">
                <a:solidFill>
                  <a:srgbClr val="232B37"/>
                </a:solidFill>
                <a:latin typeface="Amazon Ember Display"/>
              </a:rPr>
              <a:t>1000+ hands-on labs</a:t>
            </a:r>
          </a:p>
        </p:txBody>
      </p:sp>
      <p:sp>
        <p:nvSpPr>
          <p:cNvPr id="26" name="TextBox 25"/>
          <p:cNvSpPr txBox="1"/>
          <p:nvPr/>
        </p:nvSpPr>
        <p:spPr>
          <a:xfrm>
            <a:off x="612648" y="4754880"/>
            <a:ext cx="10972800" cy="384048"/>
          </a:xfrm>
          <a:prstGeom prst="rect">
            <a:avLst/>
          </a:prstGeom>
          <a:noFill/>
        </p:spPr>
        <p:txBody>
          <a:bodyPr wrap="square" anchor="ctr">
            <a:noAutofit/>
          </a:bodyPr>
          <a:lstStyle/>
          <a:p>
            <a:pPr algn="ctr"/>
            <a:r>
              <a:rPr sz="2200" b="1" i="0">
                <a:solidFill>
                  <a:srgbClr val="8F0072"/>
                </a:solidFill>
                <a:latin typeface="Amazon Ember Display"/>
              </a:rPr>
              <a:t>$29 USD per month or $449 USD per year — cancel anytime</a:t>
            </a:r>
          </a:p>
        </p:txBody>
      </p:sp>
      <p:sp>
        <p:nvSpPr>
          <p:cNvPr id="27" name="TextBox 26"/>
          <p:cNvSpPr txBox="1"/>
          <p:nvPr/>
        </p:nvSpPr>
        <p:spPr>
          <a:xfrm>
            <a:off x="612648" y="5212080"/>
            <a:ext cx="10972800" cy="274320"/>
          </a:xfrm>
          <a:prstGeom prst="rect">
            <a:avLst/>
          </a:prstGeom>
          <a:noFill/>
        </p:spPr>
        <p:txBody>
          <a:bodyPr wrap="square" anchor="ctr">
            <a:noAutofit/>
          </a:bodyPr>
          <a:lstStyle/>
          <a:p>
            <a:pPr algn="ctr"/>
            <a:r>
              <a:rPr sz="1600" b="0" i="0">
                <a:solidFill>
                  <a:srgbClr val="5A6B7B"/>
                </a:solidFill>
                <a:latin typeface="Amazon Ember Display"/>
              </a:rPr>
              <a:t>Not required for this event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44" y="201996"/>
            <a:ext cx="11585448" cy="640080"/>
          </a:xfrm>
        </p:spPr>
        <p:txBody>
          <a:bodyPr anchor="t">
            <a:noAutofit/>
          </a:bodyPr>
          <a:lstStyle/>
          <a:p>
            <a:r>
              <a:rPr sz="3600" b="1" dirty="0">
                <a:solidFill>
                  <a:srgbClr val="232B37"/>
                </a:solidFill>
                <a:latin typeface="Amazon Ember Display"/>
              </a:rPr>
              <a:t>Today's focus: Development with AWS Services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81328"/>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1609344"/>
            <a:ext cx="4828031" cy="365760"/>
          </a:xfrm>
          <a:prstGeom prst="rect">
            <a:avLst/>
          </a:prstGeom>
          <a:noFill/>
        </p:spPr>
        <p:txBody>
          <a:bodyPr wrap="square" anchor="t">
            <a:noAutofit/>
          </a:bodyPr>
          <a:lstStyle/>
          <a:p>
            <a:pPr algn="ctr"/>
            <a:r>
              <a:rPr sz="2200" b="1" i="0">
                <a:solidFill>
                  <a:srgbClr val="8F0072"/>
                </a:solidFill>
                <a:latin typeface="Amazon Ember Display"/>
              </a:rPr>
              <a:t>Compute</a:t>
            </a:r>
          </a:p>
        </p:txBody>
      </p:sp>
      <p:sp>
        <p:nvSpPr>
          <p:cNvPr id="6" name="Rectangle 5"/>
          <p:cNvSpPr/>
          <p:nvPr/>
        </p:nvSpPr>
        <p:spPr>
          <a:xfrm>
            <a:off x="850392" y="202996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12140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33272" y="2162048"/>
            <a:ext cx="4462271" cy="284479"/>
          </a:xfrm>
          <a:prstGeom prst="rect">
            <a:avLst/>
          </a:prstGeom>
          <a:noFill/>
        </p:spPr>
        <p:txBody>
          <a:bodyPr wrap="square" anchor="t">
            <a:noAutofit/>
          </a:bodyPr>
          <a:lstStyle/>
          <a:p>
            <a:pPr algn="ctr"/>
            <a:r>
              <a:rPr sz="1600" b="1" i="0">
                <a:solidFill>
                  <a:srgbClr val="232B37"/>
                </a:solidFill>
                <a:latin typeface="Amazon Ember Display"/>
              </a:rPr>
              <a:t>AWS Lambda</a:t>
            </a:r>
          </a:p>
        </p:txBody>
      </p:sp>
      <p:sp>
        <p:nvSpPr>
          <p:cNvPr id="9" name="Rounded Rectangle 8"/>
          <p:cNvSpPr/>
          <p:nvPr/>
        </p:nvSpPr>
        <p:spPr>
          <a:xfrm>
            <a:off x="6281928" y="1481328"/>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519672" y="1609344"/>
            <a:ext cx="4828031" cy="365760"/>
          </a:xfrm>
          <a:prstGeom prst="rect">
            <a:avLst/>
          </a:prstGeom>
          <a:noFill/>
        </p:spPr>
        <p:txBody>
          <a:bodyPr wrap="square" anchor="t">
            <a:noAutofit/>
          </a:bodyPr>
          <a:lstStyle/>
          <a:p>
            <a:pPr algn="ctr"/>
            <a:r>
              <a:rPr sz="2200" b="1" i="0">
                <a:solidFill>
                  <a:srgbClr val="8F0072"/>
                </a:solidFill>
                <a:latin typeface="Amazon Ember Display"/>
              </a:rPr>
              <a:t>Database</a:t>
            </a:r>
          </a:p>
        </p:txBody>
      </p:sp>
      <p:sp>
        <p:nvSpPr>
          <p:cNvPr id="11" name="Rectangle 10"/>
          <p:cNvSpPr/>
          <p:nvPr/>
        </p:nvSpPr>
        <p:spPr>
          <a:xfrm>
            <a:off x="6519672" y="202996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19672" y="212140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02552" y="2162048"/>
            <a:ext cx="4462271" cy="284479"/>
          </a:xfrm>
          <a:prstGeom prst="rect">
            <a:avLst/>
          </a:prstGeom>
          <a:noFill/>
        </p:spPr>
        <p:txBody>
          <a:bodyPr wrap="square" anchor="t">
            <a:noAutofit/>
          </a:bodyPr>
          <a:lstStyle/>
          <a:p>
            <a:pPr algn="ctr"/>
            <a:r>
              <a:rPr sz="1600" b="1" i="0">
                <a:solidFill>
                  <a:srgbClr val="232B37"/>
                </a:solidFill>
                <a:latin typeface="Amazon Ember Display"/>
              </a:rPr>
              <a:t>Amazon DynamoDB</a:t>
            </a:r>
          </a:p>
        </p:txBody>
      </p:sp>
      <p:sp>
        <p:nvSpPr>
          <p:cNvPr id="14" name="Rounded Rectangle 13"/>
          <p:cNvSpPr/>
          <p:nvPr/>
        </p:nvSpPr>
        <p:spPr>
          <a:xfrm>
            <a:off x="6519672" y="252374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702552" y="2564384"/>
            <a:ext cx="4462271" cy="284479"/>
          </a:xfrm>
          <a:prstGeom prst="rect">
            <a:avLst/>
          </a:prstGeom>
          <a:noFill/>
        </p:spPr>
        <p:txBody>
          <a:bodyPr wrap="square" anchor="t">
            <a:noAutofit/>
          </a:bodyPr>
          <a:lstStyle/>
          <a:p>
            <a:pPr algn="ctr"/>
            <a:r>
              <a:rPr sz="1600" b="1" i="0">
                <a:solidFill>
                  <a:srgbClr val="232B37"/>
                </a:solidFill>
                <a:latin typeface="Amazon Ember Display"/>
              </a:rPr>
              <a:t>Amazon RDS</a:t>
            </a:r>
          </a:p>
        </p:txBody>
      </p:sp>
      <p:sp>
        <p:nvSpPr>
          <p:cNvPr id="16" name="Rounded Rectangle 15"/>
          <p:cNvSpPr/>
          <p:nvPr/>
        </p:nvSpPr>
        <p:spPr>
          <a:xfrm>
            <a:off x="612648" y="3675887"/>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50392" y="3803903"/>
            <a:ext cx="4828031" cy="365760"/>
          </a:xfrm>
          <a:prstGeom prst="rect">
            <a:avLst/>
          </a:prstGeom>
          <a:noFill/>
        </p:spPr>
        <p:txBody>
          <a:bodyPr wrap="square" anchor="t">
            <a:noAutofit/>
          </a:bodyPr>
          <a:lstStyle/>
          <a:p>
            <a:pPr algn="ctr"/>
            <a:r>
              <a:rPr sz="2200" b="1" i="0">
                <a:solidFill>
                  <a:srgbClr val="8F0072"/>
                </a:solidFill>
                <a:latin typeface="Amazon Ember Display"/>
              </a:rPr>
              <a:t>Networking and Content Delivery</a:t>
            </a:r>
          </a:p>
        </p:txBody>
      </p:sp>
      <p:sp>
        <p:nvSpPr>
          <p:cNvPr id="18" name="Rectangle 17"/>
          <p:cNvSpPr/>
          <p:nvPr/>
        </p:nvSpPr>
        <p:spPr>
          <a:xfrm>
            <a:off x="850392" y="4224527"/>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50392" y="431596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33272" y="4356608"/>
            <a:ext cx="4462271" cy="284479"/>
          </a:xfrm>
          <a:prstGeom prst="rect">
            <a:avLst/>
          </a:prstGeom>
          <a:noFill/>
        </p:spPr>
        <p:txBody>
          <a:bodyPr wrap="square" anchor="t">
            <a:noAutofit/>
          </a:bodyPr>
          <a:lstStyle/>
          <a:p>
            <a:pPr algn="ctr"/>
            <a:r>
              <a:rPr sz="1600" b="1" i="0">
                <a:solidFill>
                  <a:srgbClr val="232B37"/>
                </a:solidFill>
                <a:latin typeface="Amazon Ember Display"/>
              </a:rPr>
              <a:t>Amazon API Gateway</a:t>
            </a:r>
          </a:p>
        </p:txBody>
      </p:sp>
      <p:sp>
        <p:nvSpPr>
          <p:cNvPr id="21" name="Rounded Rectangle 20"/>
          <p:cNvSpPr/>
          <p:nvPr/>
        </p:nvSpPr>
        <p:spPr>
          <a:xfrm>
            <a:off x="6281928" y="3675887"/>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519672" y="3803903"/>
            <a:ext cx="4828031" cy="365760"/>
          </a:xfrm>
          <a:prstGeom prst="rect">
            <a:avLst/>
          </a:prstGeom>
          <a:noFill/>
        </p:spPr>
        <p:txBody>
          <a:bodyPr wrap="square" anchor="t">
            <a:noAutofit/>
          </a:bodyPr>
          <a:lstStyle/>
          <a:p>
            <a:pPr algn="ctr"/>
            <a:r>
              <a:rPr sz="2200" b="1" i="0">
                <a:solidFill>
                  <a:srgbClr val="8F0072"/>
                </a:solidFill>
                <a:latin typeface="Amazon Ember Display"/>
              </a:rPr>
              <a:t>Application Integration</a:t>
            </a:r>
          </a:p>
        </p:txBody>
      </p:sp>
      <p:sp>
        <p:nvSpPr>
          <p:cNvPr id="23" name="Rectangle 22"/>
          <p:cNvSpPr/>
          <p:nvPr/>
        </p:nvSpPr>
        <p:spPr>
          <a:xfrm>
            <a:off x="6519672" y="4224527"/>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519672" y="431596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02552" y="4356608"/>
            <a:ext cx="4462271" cy="284479"/>
          </a:xfrm>
          <a:prstGeom prst="rect">
            <a:avLst/>
          </a:prstGeom>
          <a:noFill/>
        </p:spPr>
        <p:txBody>
          <a:bodyPr wrap="square" anchor="t">
            <a:noAutofit/>
          </a:bodyPr>
          <a:lstStyle/>
          <a:p>
            <a:pPr algn="ctr"/>
            <a:r>
              <a:rPr sz="1600" b="1" i="0">
                <a:solidFill>
                  <a:srgbClr val="232B37"/>
                </a:solidFill>
                <a:latin typeface="Amazon Ember Display"/>
              </a:rPr>
              <a:t>Amazon SNS</a:t>
            </a:r>
          </a:p>
        </p:txBody>
      </p:sp>
      <p:sp>
        <p:nvSpPr>
          <p:cNvPr id="26" name="Rounded Rectangle 25"/>
          <p:cNvSpPr/>
          <p:nvPr/>
        </p:nvSpPr>
        <p:spPr>
          <a:xfrm>
            <a:off x="6519672" y="471830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702552" y="4758944"/>
            <a:ext cx="4462271" cy="284479"/>
          </a:xfrm>
          <a:prstGeom prst="rect">
            <a:avLst/>
          </a:prstGeom>
          <a:noFill/>
        </p:spPr>
        <p:txBody>
          <a:bodyPr wrap="square" anchor="t">
            <a:noAutofit/>
          </a:bodyPr>
          <a:lstStyle/>
          <a:p>
            <a:pPr algn="ctr"/>
            <a:r>
              <a:rPr sz="1600" b="1" i="0">
                <a:solidFill>
                  <a:srgbClr val="232B37"/>
                </a:solidFill>
                <a:latin typeface="Amazon Ember Display"/>
              </a:rPr>
              <a:t>Amazon SQS</a:t>
            </a:r>
          </a:p>
        </p:txBody>
      </p:sp>
      <p:sp>
        <p:nvSpPr>
          <p:cNvPr id="28" name="Rounded Rectangle 27"/>
          <p:cNvSpPr/>
          <p:nvPr/>
        </p:nvSpPr>
        <p:spPr>
          <a:xfrm>
            <a:off x="6519672" y="512064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702552" y="5161280"/>
            <a:ext cx="4462271" cy="284479"/>
          </a:xfrm>
          <a:prstGeom prst="rect">
            <a:avLst/>
          </a:prstGeom>
          <a:noFill/>
        </p:spPr>
        <p:txBody>
          <a:bodyPr wrap="square" anchor="t">
            <a:noAutofit/>
          </a:bodyPr>
          <a:lstStyle/>
          <a:p>
            <a:pPr algn="ctr"/>
            <a:r>
              <a:rPr sz="1600" b="1" i="0">
                <a:solidFill>
                  <a:srgbClr val="232B37"/>
                </a:solidFill>
                <a:latin typeface="Amazon Ember Display"/>
              </a:rPr>
              <a:t>AWS Step Functions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Your five weeks at a glance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51790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1517904"/>
            <a:ext cx="1325880" cy="731520"/>
          </a:xfrm>
          <a:prstGeom prst="rect">
            <a:avLst/>
          </a:prstGeom>
          <a:noFill/>
        </p:spPr>
        <p:txBody>
          <a:bodyPr wrap="square" anchor="ctr">
            <a:noAutofit/>
          </a:bodyPr>
          <a:lstStyle/>
          <a:p>
            <a:pPr algn="ctr"/>
            <a:r>
              <a:rPr sz="2600" b="1" i="0">
                <a:solidFill>
                  <a:srgbClr val="5A6B7B"/>
                </a:solidFill>
                <a:latin typeface="Amazon Ember Display"/>
              </a:rPr>
              <a:t>01</a:t>
            </a:r>
          </a:p>
        </p:txBody>
      </p:sp>
      <p:sp>
        <p:nvSpPr>
          <p:cNvPr id="6" name="TextBox 5"/>
          <p:cNvSpPr txBox="1"/>
          <p:nvPr/>
        </p:nvSpPr>
        <p:spPr>
          <a:xfrm>
            <a:off x="2167128" y="1609344"/>
            <a:ext cx="9326880" cy="548640"/>
          </a:xfrm>
          <a:prstGeom prst="rect">
            <a:avLst/>
          </a:prstGeom>
          <a:noFill/>
        </p:spPr>
        <p:txBody>
          <a:bodyPr wrap="square" anchor="ctr">
            <a:noAutofit/>
          </a:bodyPr>
          <a:lstStyle/>
          <a:p>
            <a:pPr algn="l"/>
            <a:r>
              <a:rPr sz="1600" b="0" i="0">
                <a:solidFill>
                  <a:srgbClr val="5A6B7B"/>
                </a:solidFill>
                <a:latin typeface="Amazon Ember Display"/>
              </a:rPr>
              <a:t>Regions/AZs · CloudFront · EC2/AMIs/Auto Scaling · ELB · ECS/EKS/Fargate/ECR · VPC · IAM</a:t>
            </a:r>
          </a:p>
        </p:txBody>
      </p:sp>
      <p:sp>
        <p:nvSpPr>
          <p:cNvPr id="7" name="Rounded Rectangle 6"/>
          <p:cNvSpPr/>
          <p:nvPr/>
        </p:nvSpPr>
        <p:spPr>
          <a:xfrm>
            <a:off x="612648" y="2340864"/>
            <a:ext cx="10972800" cy="731520"/>
          </a:xfrm>
          <a:prstGeom prst="roundRect">
            <a:avLst>
              <a:gd name="adj" fmla="val 250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12648" y="2359152"/>
            <a:ext cx="1325880" cy="457200"/>
          </a:xfrm>
          <a:prstGeom prst="rect">
            <a:avLst/>
          </a:prstGeom>
          <a:noFill/>
        </p:spPr>
        <p:txBody>
          <a:bodyPr wrap="square" anchor="ctr">
            <a:noAutofit/>
          </a:bodyPr>
          <a:lstStyle/>
          <a:p>
            <a:pPr algn="ctr"/>
            <a:r>
              <a:rPr sz="3000" b="1" i="0">
                <a:solidFill>
                  <a:srgbClr val="8F0072"/>
                </a:solidFill>
                <a:latin typeface="Amazon Ember Display"/>
              </a:rPr>
              <a:t>02</a:t>
            </a:r>
          </a:p>
        </p:txBody>
      </p:sp>
      <p:sp>
        <p:nvSpPr>
          <p:cNvPr id="9" name="TextBox 8"/>
          <p:cNvSpPr txBox="1"/>
          <p:nvPr/>
        </p:nvSpPr>
        <p:spPr>
          <a:xfrm>
            <a:off x="612648" y="2816352"/>
            <a:ext cx="1325880" cy="256032"/>
          </a:xfrm>
          <a:prstGeom prst="rect">
            <a:avLst/>
          </a:prstGeom>
          <a:noFill/>
        </p:spPr>
        <p:txBody>
          <a:bodyPr wrap="square" anchor="ctr">
            <a:noAutofit/>
          </a:bodyPr>
          <a:lstStyle/>
          <a:p>
            <a:pPr algn="ctr"/>
            <a:r>
              <a:rPr sz="1600" b="1" i="0">
                <a:solidFill>
                  <a:srgbClr val="8F0072"/>
                </a:solidFill>
                <a:latin typeface="Amazon Ember Display"/>
              </a:rPr>
              <a:t>THIS WEEK</a:t>
            </a:r>
          </a:p>
        </p:txBody>
      </p:sp>
      <p:sp>
        <p:nvSpPr>
          <p:cNvPr id="10" name="TextBox 9"/>
          <p:cNvSpPr txBox="1"/>
          <p:nvPr/>
        </p:nvSpPr>
        <p:spPr>
          <a:xfrm>
            <a:off x="2167128" y="2432304"/>
            <a:ext cx="9326880" cy="548640"/>
          </a:xfrm>
          <a:prstGeom prst="rect">
            <a:avLst/>
          </a:prstGeom>
          <a:noFill/>
        </p:spPr>
        <p:txBody>
          <a:bodyPr wrap="square" anchor="ctr">
            <a:noAutofit/>
          </a:bodyPr>
          <a:lstStyle/>
          <a:p>
            <a:pPr algn="l"/>
            <a:r>
              <a:rPr sz="1600" b="1" i="0">
                <a:solidFill>
                  <a:srgbClr val="232B37"/>
                </a:solidFill>
                <a:latin typeface="Amazon Ember Display"/>
              </a:rPr>
              <a:t>API Gateway · Lambda · DynamoDB · Step Functions · SQS · SNS · Amazon Bedrock · Kiro</a:t>
            </a:r>
          </a:p>
        </p:txBody>
      </p:sp>
      <p:sp>
        <p:nvSpPr>
          <p:cNvPr id="11" name="Rounded Rectangle 10"/>
          <p:cNvSpPr/>
          <p:nvPr/>
        </p:nvSpPr>
        <p:spPr>
          <a:xfrm>
            <a:off x="612648" y="316382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3163824"/>
            <a:ext cx="1325880" cy="731520"/>
          </a:xfrm>
          <a:prstGeom prst="rect">
            <a:avLst/>
          </a:prstGeom>
          <a:noFill/>
        </p:spPr>
        <p:txBody>
          <a:bodyPr wrap="square" anchor="ctr">
            <a:noAutofit/>
          </a:bodyPr>
          <a:lstStyle/>
          <a:p>
            <a:pPr algn="ctr"/>
            <a:r>
              <a:rPr sz="2600" b="1" i="0">
                <a:solidFill>
                  <a:srgbClr val="5A6B7B"/>
                </a:solidFill>
                <a:latin typeface="Amazon Ember Display"/>
              </a:rPr>
              <a:t>03</a:t>
            </a:r>
          </a:p>
        </p:txBody>
      </p:sp>
      <p:sp>
        <p:nvSpPr>
          <p:cNvPr id="13" name="TextBox 12"/>
          <p:cNvSpPr txBox="1"/>
          <p:nvPr/>
        </p:nvSpPr>
        <p:spPr>
          <a:xfrm>
            <a:off x="2167128" y="3255264"/>
            <a:ext cx="9326880" cy="548640"/>
          </a:xfrm>
          <a:prstGeom prst="rect">
            <a:avLst/>
          </a:prstGeom>
          <a:noFill/>
        </p:spPr>
        <p:txBody>
          <a:bodyPr wrap="square" anchor="ctr">
            <a:noAutofit/>
          </a:bodyPr>
          <a:lstStyle/>
          <a:p>
            <a:pPr algn="l"/>
            <a:r>
              <a:rPr sz="1600" b="0" i="0">
                <a:solidFill>
                  <a:srgbClr val="5A6B7B"/>
                </a:solidFill>
                <a:latin typeface="Amazon Ember Display"/>
              </a:rPr>
              <a:t>SQS · SNS · EventBridge · ElastiCache · Cognito · CloudWatch · CloudTrail</a:t>
            </a:r>
          </a:p>
        </p:txBody>
      </p:sp>
      <p:sp>
        <p:nvSpPr>
          <p:cNvPr id="14" name="Rounded Rectangle 13"/>
          <p:cNvSpPr/>
          <p:nvPr/>
        </p:nvSpPr>
        <p:spPr>
          <a:xfrm>
            <a:off x="612648" y="398678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12648" y="3986784"/>
            <a:ext cx="1325880" cy="731520"/>
          </a:xfrm>
          <a:prstGeom prst="rect">
            <a:avLst/>
          </a:prstGeom>
          <a:noFill/>
        </p:spPr>
        <p:txBody>
          <a:bodyPr wrap="square" anchor="ctr">
            <a:noAutofit/>
          </a:bodyPr>
          <a:lstStyle/>
          <a:p>
            <a:pPr algn="ctr"/>
            <a:r>
              <a:rPr sz="2600" b="1" i="0">
                <a:solidFill>
                  <a:srgbClr val="5A6B7B"/>
                </a:solidFill>
                <a:latin typeface="Amazon Ember Display"/>
              </a:rPr>
              <a:t>04</a:t>
            </a:r>
          </a:p>
        </p:txBody>
      </p:sp>
      <p:sp>
        <p:nvSpPr>
          <p:cNvPr id="16" name="TextBox 15"/>
          <p:cNvSpPr txBox="1"/>
          <p:nvPr/>
        </p:nvSpPr>
        <p:spPr>
          <a:xfrm>
            <a:off x="2167128" y="4078224"/>
            <a:ext cx="9326880" cy="548640"/>
          </a:xfrm>
          <a:prstGeom prst="rect">
            <a:avLst/>
          </a:prstGeom>
          <a:noFill/>
        </p:spPr>
        <p:txBody>
          <a:bodyPr wrap="square" anchor="ctr">
            <a:noAutofit/>
          </a:bodyPr>
          <a:lstStyle/>
          <a:p>
            <a:pPr algn="l"/>
            <a:r>
              <a:rPr sz="1600" b="0" i="0">
                <a:solidFill>
                  <a:srgbClr val="5A6B7B"/>
                </a:solidFill>
                <a:latin typeface="Amazon Ember Display"/>
              </a:rPr>
              <a:t>CodePipeline · CodeDeploy · Elastic Beanstalk · ECS/EKS deployments · ECR · CloudFormation · CDK · SAM · Deployment strategies · AppConfig</a:t>
            </a:r>
          </a:p>
        </p:txBody>
      </p:sp>
      <p:sp>
        <p:nvSpPr>
          <p:cNvPr id="17" name="Rounded Rectangle 16"/>
          <p:cNvSpPr/>
          <p:nvPr/>
        </p:nvSpPr>
        <p:spPr>
          <a:xfrm>
            <a:off x="612648" y="480974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12648" y="4809744"/>
            <a:ext cx="1325880" cy="731520"/>
          </a:xfrm>
          <a:prstGeom prst="rect">
            <a:avLst/>
          </a:prstGeom>
          <a:noFill/>
        </p:spPr>
        <p:txBody>
          <a:bodyPr wrap="square" anchor="ctr">
            <a:noAutofit/>
          </a:bodyPr>
          <a:lstStyle/>
          <a:p>
            <a:pPr algn="ctr"/>
            <a:r>
              <a:rPr sz="2600" b="1" i="0">
                <a:solidFill>
                  <a:srgbClr val="5A6B7B"/>
                </a:solidFill>
                <a:latin typeface="Amazon Ember Display"/>
              </a:rPr>
              <a:t>05</a:t>
            </a:r>
          </a:p>
        </p:txBody>
      </p:sp>
      <p:sp>
        <p:nvSpPr>
          <p:cNvPr id="19" name="TextBox 18"/>
          <p:cNvSpPr txBox="1"/>
          <p:nvPr/>
        </p:nvSpPr>
        <p:spPr>
          <a:xfrm>
            <a:off x="2167128" y="4901183"/>
            <a:ext cx="9326880" cy="548640"/>
          </a:xfrm>
          <a:prstGeom prst="rect">
            <a:avLst/>
          </a:prstGeom>
          <a:noFill/>
        </p:spPr>
        <p:txBody>
          <a:bodyPr wrap="square" anchor="ctr">
            <a:noAutofit/>
          </a:bodyPr>
          <a:lstStyle/>
          <a:p>
            <a:pPr algn="l"/>
            <a:r>
              <a:rPr sz="1600" b="0" i="0">
                <a:solidFill>
                  <a:srgbClr val="5A6B7B"/>
                </a:solidFill>
                <a:latin typeface="Amazon Ember Display"/>
              </a:rPr>
              <a:t>WAF · Secrets Manager · KMS · PrivateLink · ACM · S3 presigned URLs · OAC · X-Ray · Bedrock Guardrails · AI security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you build on AWS?</a:t>
            </a:r>
          </a:p>
        </p:txBody>
      </p:sp>
      <p:sp>
        <p:nvSpPr>
          <p:cNvPr id="3" name="Text Placeholder 2"/>
          <p:cNvSpPr>
            <a:spLocks noGrp="1"/>
          </p:cNvSpPr>
          <p:nvPr>
            <p:ph type="body" sz="quarter" idx="11"/>
          </p:nvPr>
        </p:nvSpPr>
        <p:spPr>
          <a:xfrm>
            <a:off x="322916" y="2434551"/>
            <a:ext cx="5359831" cy="313932"/>
          </a:xfrm>
        </p:spPr>
        <p:txBody>
          <a:bodyPr/>
          <a:lstStyle/>
          <a:p>
            <a:r>
              <a:rPr sz="1800" b="1">
                <a:solidFill>
                  <a:srgbClr val="FF57E9"/>
                </a:solidFill>
                <a:latin typeface="Amazon Ember Display"/>
              </a:rPr>
              <a:t>DEVELOPMENT WITH AWS SERVICES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Two ways to run your code on AWS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5349240" cy="3246120"/>
          </a:xfrm>
          <a:prstGeom prst="roundRect">
            <a:avLst>
              <a:gd name="adj" fmla="val 4507"/>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8680" y="1911095"/>
            <a:ext cx="4837175" cy="292608"/>
          </a:xfrm>
          <a:prstGeom prst="rect">
            <a:avLst/>
          </a:prstGeom>
          <a:noFill/>
        </p:spPr>
        <p:txBody>
          <a:bodyPr wrap="square" anchor="ctr">
            <a:noAutofit/>
          </a:bodyPr>
          <a:lstStyle/>
          <a:p>
            <a:pPr algn="l"/>
            <a:r>
              <a:rPr sz="1600" b="1" i="0">
                <a:solidFill>
                  <a:srgbClr val="8F0072"/>
                </a:solidFill>
                <a:latin typeface="Amazon Ember Display"/>
              </a:rPr>
              <a:t>SERVER-BASED</a:t>
            </a:r>
          </a:p>
        </p:txBody>
      </p:sp>
      <p:sp>
        <p:nvSpPr>
          <p:cNvPr id="6" name="Rounded Rectangle 5"/>
          <p:cNvSpPr/>
          <p:nvPr/>
        </p:nvSpPr>
        <p:spPr>
          <a:xfrm>
            <a:off x="923544" y="2496312"/>
            <a:ext cx="4727448" cy="1874519"/>
          </a:xfrm>
          <a:prstGeom prst="roundRect">
            <a:avLst>
              <a:gd name="adj" fmla="val 7804"/>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2204821" y="2340864"/>
            <a:ext cx="2164892" cy="310896"/>
          </a:xfrm>
          <a:prstGeom prst="roundRect">
            <a:avLst>
              <a:gd name="adj" fmla="val 3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YOU MANAGE THIS</a:t>
            </a:r>
          </a:p>
        </p:txBody>
      </p:sp>
      <p:pic>
        <p:nvPicPr>
          <p:cNvPr id="8" name="Picture 7" descr="Arch_Amazon-EC2_64.png"/>
          <p:cNvPicPr>
            <a:picLocks noChangeAspect="1"/>
          </p:cNvPicPr>
          <p:nvPr/>
        </p:nvPicPr>
        <p:blipFill>
          <a:blip r:embed="rId3"/>
          <a:stretch>
            <a:fillRect/>
          </a:stretch>
        </p:blipFill>
        <p:spPr>
          <a:xfrm>
            <a:off x="1170432" y="2926080"/>
            <a:ext cx="457200" cy="457200"/>
          </a:xfrm>
          <a:prstGeom prst="rect">
            <a:avLst/>
          </a:prstGeom>
        </p:spPr>
      </p:pic>
      <p:sp>
        <p:nvSpPr>
          <p:cNvPr id="9" name="TextBox 8"/>
          <p:cNvSpPr txBox="1"/>
          <p:nvPr/>
        </p:nvSpPr>
        <p:spPr>
          <a:xfrm>
            <a:off x="1837943" y="2953512"/>
            <a:ext cx="3630168" cy="310896"/>
          </a:xfrm>
          <a:prstGeom prst="rect">
            <a:avLst/>
          </a:prstGeom>
          <a:noFill/>
        </p:spPr>
        <p:txBody>
          <a:bodyPr wrap="square" anchor="ctr">
            <a:noAutofit/>
          </a:bodyPr>
          <a:lstStyle/>
          <a:p>
            <a:pPr algn="l"/>
            <a:r>
              <a:rPr sz="1600" b="0" i="0">
                <a:solidFill>
                  <a:srgbClr val="232B37"/>
                </a:solidFill>
                <a:latin typeface="Amazon Ember Display"/>
              </a:rPr>
              <a:t>You size the instances</a:t>
            </a:r>
          </a:p>
        </p:txBody>
      </p:sp>
      <p:sp>
        <p:nvSpPr>
          <p:cNvPr id="10" name="TextBox 9"/>
          <p:cNvSpPr txBox="1"/>
          <p:nvPr/>
        </p:nvSpPr>
        <p:spPr>
          <a:xfrm>
            <a:off x="1837943" y="3337560"/>
            <a:ext cx="3630168" cy="310896"/>
          </a:xfrm>
          <a:prstGeom prst="rect">
            <a:avLst/>
          </a:prstGeom>
          <a:noFill/>
        </p:spPr>
        <p:txBody>
          <a:bodyPr wrap="square" anchor="ctr">
            <a:noAutofit/>
          </a:bodyPr>
          <a:lstStyle/>
          <a:p>
            <a:pPr algn="l"/>
            <a:r>
              <a:rPr sz="1600" b="0" i="0">
                <a:solidFill>
                  <a:srgbClr val="232B37"/>
                </a:solidFill>
                <a:latin typeface="Amazon Ember Display"/>
              </a:rPr>
              <a:t>You patch the OS</a:t>
            </a:r>
          </a:p>
        </p:txBody>
      </p:sp>
      <p:sp>
        <p:nvSpPr>
          <p:cNvPr id="11" name="TextBox 10"/>
          <p:cNvSpPr txBox="1"/>
          <p:nvPr/>
        </p:nvSpPr>
        <p:spPr>
          <a:xfrm>
            <a:off x="1837943" y="3721608"/>
            <a:ext cx="3630168" cy="310896"/>
          </a:xfrm>
          <a:prstGeom prst="rect">
            <a:avLst/>
          </a:prstGeom>
          <a:noFill/>
        </p:spPr>
        <p:txBody>
          <a:bodyPr wrap="square" anchor="ctr">
            <a:noAutofit/>
          </a:bodyPr>
          <a:lstStyle/>
          <a:p>
            <a:pPr algn="l"/>
            <a:r>
              <a:rPr sz="1600" b="0" i="0">
                <a:solidFill>
                  <a:srgbClr val="232B37"/>
                </a:solidFill>
                <a:latin typeface="Amazon Ember Display"/>
              </a:rPr>
              <a:t>You pay while they run</a:t>
            </a:r>
          </a:p>
        </p:txBody>
      </p:sp>
      <p:sp>
        <p:nvSpPr>
          <p:cNvPr id="12" name="Rounded Rectangle 11"/>
          <p:cNvSpPr/>
          <p:nvPr/>
        </p:nvSpPr>
        <p:spPr>
          <a:xfrm>
            <a:off x="6236208" y="1783080"/>
            <a:ext cx="5349240" cy="3246120"/>
          </a:xfrm>
          <a:prstGeom prst="roundRect">
            <a:avLst>
              <a:gd name="adj" fmla="val 4507"/>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92240" y="1911095"/>
            <a:ext cx="4837175" cy="292608"/>
          </a:xfrm>
          <a:prstGeom prst="rect">
            <a:avLst/>
          </a:prstGeom>
          <a:noFill/>
        </p:spPr>
        <p:txBody>
          <a:bodyPr wrap="square" anchor="ctr">
            <a:noAutofit/>
          </a:bodyPr>
          <a:lstStyle/>
          <a:p>
            <a:pPr algn="l"/>
            <a:r>
              <a:rPr sz="1600" b="1" i="0">
                <a:solidFill>
                  <a:srgbClr val="8F0072"/>
                </a:solidFill>
                <a:latin typeface="Amazon Ember Display"/>
              </a:rPr>
              <a:t>SERVERLESS</a:t>
            </a:r>
          </a:p>
        </p:txBody>
      </p:sp>
      <p:sp>
        <p:nvSpPr>
          <p:cNvPr id="14" name="Rounded Rectangle 13"/>
          <p:cNvSpPr/>
          <p:nvPr/>
        </p:nvSpPr>
        <p:spPr>
          <a:xfrm>
            <a:off x="6547104" y="2496312"/>
            <a:ext cx="4727448" cy="1874519"/>
          </a:xfrm>
          <a:prstGeom prst="roundRect">
            <a:avLst>
              <a:gd name="adj" fmla="val 7804"/>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7763459" y="2340864"/>
            <a:ext cx="2294737" cy="310896"/>
          </a:xfrm>
          <a:prstGeom prst="roundRect">
            <a:avLst>
              <a:gd name="adj" fmla="val 3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AWS MANAGES THIS</a:t>
            </a:r>
          </a:p>
        </p:txBody>
      </p:sp>
      <p:pic>
        <p:nvPicPr>
          <p:cNvPr id="16" name="Picture 15" descr="Arch_AWS-Lambda_64.png"/>
          <p:cNvPicPr>
            <a:picLocks noChangeAspect="1"/>
          </p:cNvPicPr>
          <p:nvPr/>
        </p:nvPicPr>
        <p:blipFill>
          <a:blip r:embed="rId4"/>
          <a:stretch>
            <a:fillRect/>
          </a:stretch>
        </p:blipFill>
        <p:spPr>
          <a:xfrm>
            <a:off x="6793992" y="2926080"/>
            <a:ext cx="457200" cy="457200"/>
          </a:xfrm>
          <a:prstGeom prst="rect">
            <a:avLst/>
          </a:prstGeom>
        </p:spPr>
      </p:pic>
      <p:sp>
        <p:nvSpPr>
          <p:cNvPr id="17" name="TextBox 16"/>
          <p:cNvSpPr txBox="1"/>
          <p:nvPr/>
        </p:nvSpPr>
        <p:spPr>
          <a:xfrm>
            <a:off x="7461504" y="2953512"/>
            <a:ext cx="3630168" cy="310896"/>
          </a:xfrm>
          <a:prstGeom prst="rect">
            <a:avLst/>
          </a:prstGeom>
          <a:noFill/>
        </p:spPr>
        <p:txBody>
          <a:bodyPr wrap="square" anchor="ctr">
            <a:noAutofit/>
          </a:bodyPr>
          <a:lstStyle/>
          <a:p>
            <a:pPr algn="l"/>
            <a:r>
              <a:rPr sz="1600" b="0" i="0">
                <a:solidFill>
                  <a:srgbClr val="232B37"/>
                </a:solidFill>
                <a:latin typeface="Amazon Ember Display"/>
              </a:rPr>
              <a:t>AWS runs the compute</a:t>
            </a:r>
          </a:p>
        </p:txBody>
      </p:sp>
      <p:sp>
        <p:nvSpPr>
          <p:cNvPr id="18" name="TextBox 17"/>
          <p:cNvSpPr txBox="1"/>
          <p:nvPr/>
        </p:nvSpPr>
        <p:spPr>
          <a:xfrm>
            <a:off x="7461504" y="3337560"/>
            <a:ext cx="3630168" cy="310896"/>
          </a:xfrm>
          <a:prstGeom prst="rect">
            <a:avLst/>
          </a:prstGeom>
          <a:noFill/>
        </p:spPr>
        <p:txBody>
          <a:bodyPr wrap="square" anchor="ctr">
            <a:noAutofit/>
          </a:bodyPr>
          <a:lstStyle/>
          <a:p>
            <a:pPr algn="l"/>
            <a:r>
              <a:rPr sz="1600" b="0" i="0">
                <a:solidFill>
                  <a:srgbClr val="232B37"/>
                </a:solidFill>
                <a:latin typeface="Amazon Ember Display"/>
              </a:rPr>
              <a:t>Scales to the request rate</a:t>
            </a:r>
          </a:p>
        </p:txBody>
      </p:sp>
      <p:sp>
        <p:nvSpPr>
          <p:cNvPr id="19" name="TextBox 18"/>
          <p:cNvSpPr txBox="1"/>
          <p:nvPr/>
        </p:nvSpPr>
        <p:spPr>
          <a:xfrm>
            <a:off x="7461504" y="3721608"/>
            <a:ext cx="3630168" cy="310896"/>
          </a:xfrm>
          <a:prstGeom prst="rect">
            <a:avLst/>
          </a:prstGeom>
          <a:noFill/>
        </p:spPr>
        <p:txBody>
          <a:bodyPr wrap="square" anchor="ctr">
            <a:noAutofit/>
          </a:bodyPr>
          <a:lstStyle/>
          <a:p>
            <a:pPr algn="l"/>
            <a:r>
              <a:rPr sz="1600" b="0" i="0">
                <a:solidFill>
                  <a:srgbClr val="232B37"/>
                </a:solidFill>
                <a:latin typeface="Amazon Ember Display"/>
              </a:rPr>
              <a:t>You pay per execution</a:t>
            </a:r>
          </a:p>
        </p:txBody>
      </p:sp>
      <p:sp>
        <p:nvSpPr>
          <p:cNvPr id="20" name="TextBox 19">
            <a:hlinkClick r:id="rId5"/>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What is AWS Lambda?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Customers reach your service through an API</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API Gateway?</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How it works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Client sends an HTTP request</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API Gateway receives it</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Lambda runs the logic</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No web server to manage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Each service scales alone</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Clean contract for callers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API Gateway is the front door for your APIs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API Gateway?</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it does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Publishes REST and HTTP APIs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Also supports WebSocket APIs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Routes each request to a backend</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Handles auth and throttling</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Scales to the traffic</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One managed entry point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The endpoint type decides where your API lives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API endpoint types for REST APIs in API…</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Edge-optimized</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Fronted by CloudFront</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Best for global clients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Requests routed to the edge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Regional / private</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Regional: same-Region callers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Private: reachable inside a VPC</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Choose by who calls the API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Stages let one API serve many environments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2922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Set up a stage for a REST API in API…</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a stage is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 named release of an API</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For example dev, test, prod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Each has its own URL</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Stage variables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Name-value pairs per stage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Point a stage at a backend</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Same API, different targets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Lambda runs your code without servers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AWS Lambda?</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it is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Serverless compute service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Runs code on an event</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No servers to provision</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Scales with the event rate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No idle capacity to pay for</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You maintain only the code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Serverless services combine into a whole app</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874519"/>
            <a:ext cx="2329434" cy="2286000"/>
          </a:xfrm>
          <a:prstGeom prst="roundRect">
            <a:avLst>
              <a:gd name="adj" fmla="val 64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1993391"/>
            <a:ext cx="2329434" cy="292608"/>
          </a:xfrm>
          <a:prstGeom prst="rect">
            <a:avLst/>
          </a:prstGeom>
          <a:noFill/>
        </p:spPr>
        <p:txBody>
          <a:bodyPr wrap="square" anchor="ctr">
            <a:noAutofit/>
          </a:bodyPr>
          <a:lstStyle/>
          <a:p>
            <a:pPr algn="ctr"/>
            <a:r>
              <a:rPr sz="1600" b="1" i="0">
                <a:solidFill>
                  <a:srgbClr val="8F0072"/>
                </a:solidFill>
                <a:latin typeface="Amazon Ember Display"/>
              </a:rPr>
              <a:t>Client</a:t>
            </a:r>
          </a:p>
        </p:txBody>
      </p:sp>
      <p:pic>
        <p:nvPicPr>
          <p:cNvPr id="6" name="Picture 5" descr="Res_Client_48_Light.png"/>
          <p:cNvPicPr>
            <a:picLocks noChangeAspect="1"/>
          </p:cNvPicPr>
          <p:nvPr/>
        </p:nvPicPr>
        <p:blipFill>
          <a:blip r:embed="rId3"/>
          <a:stretch>
            <a:fillRect/>
          </a:stretch>
        </p:blipFill>
        <p:spPr>
          <a:xfrm>
            <a:off x="1320165" y="2560320"/>
            <a:ext cx="914400" cy="914400"/>
          </a:xfrm>
          <a:prstGeom prst="rect">
            <a:avLst/>
          </a:prstGeom>
        </p:spPr>
      </p:pic>
      <p:sp>
        <p:nvSpPr>
          <p:cNvPr id="7" name="TextBox 6"/>
          <p:cNvSpPr txBox="1"/>
          <p:nvPr/>
        </p:nvSpPr>
        <p:spPr>
          <a:xfrm>
            <a:off x="704088" y="3639312"/>
            <a:ext cx="2146554" cy="292608"/>
          </a:xfrm>
          <a:prstGeom prst="rect">
            <a:avLst/>
          </a:prstGeom>
          <a:noFill/>
        </p:spPr>
        <p:txBody>
          <a:bodyPr wrap="square" anchor="ctr">
            <a:noAutofit/>
          </a:bodyPr>
          <a:lstStyle/>
          <a:p>
            <a:pPr algn="ctr"/>
            <a:r>
              <a:rPr sz="1600" b="0" i="0">
                <a:solidFill>
                  <a:srgbClr val="232B37"/>
                </a:solidFill>
                <a:latin typeface="Amazon Ember Display"/>
              </a:rPr>
              <a:t>makes a request</a:t>
            </a:r>
          </a:p>
        </p:txBody>
      </p:sp>
      <p:sp>
        <p:nvSpPr>
          <p:cNvPr id="8" name="Rounded Rectangle 7"/>
          <p:cNvSpPr/>
          <p:nvPr/>
        </p:nvSpPr>
        <p:spPr>
          <a:xfrm>
            <a:off x="3490722" y="1874519"/>
            <a:ext cx="2329434" cy="2286000"/>
          </a:xfrm>
          <a:prstGeom prst="roundRect">
            <a:avLst>
              <a:gd name="adj" fmla="val 64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490722" y="1993391"/>
            <a:ext cx="2329434" cy="292608"/>
          </a:xfrm>
          <a:prstGeom prst="rect">
            <a:avLst/>
          </a:prstGeom>
          <a:noFill/>
        </p:spPr>
        <p:txBody>
          <a:bodyPr wrap="square" anchor="ctr">
            <a:noAutofit/>
          </a:bodyPr>
          <a:lstStyle/>
          <a:p>
            <a:pPr algn="ctr"/>
            <a:r>
              <a:rPr sz="1600" b="1" i="0">
                <a:solidFill>
                  <a:srgbClr val="8F0072"/>
                </a:solidFill>
                <a:latin typeface="Amazon Ember Display"/>
              </a:rPr>
              <a:t>API Gateway</a:t>
            </a:r>
          </a:p>
        </p:txBody>
      </p:sp>
      <p:pic>
        <p:nvPicPr>
          <p:cNvPr id="10" name="Picture 9" descr="Arch_Amazon-API-Gateway_64.png"/>
          <p:cNvPicPr>
            <a:picLocks noChangeAspect="1"/>
          </p:cNvPicPr>
          <p:nvPr/>
        </p:nvPicPr>
        <p:blipFill>
          <a:blip r:embed="rId4"/>
          <a:stretch>
            <a:fillRect/>
          </a:stretch>
        </p:blipFill>
        <p:spPr>
          <a:xfrm>
            <a:off x="4198239" y="2560320"/>
            <a:ext cx="914400" cy="914400"/>
          </a:xfrm>
          <a:prstGeom prst="rect">
            <a:avLst/>
          </a:prstGeom>
        </p:spPr>
      </p:pic>
      <p:sp>
        <p:nvSpPr>
          <p:cNvPr id="11" name="TextBox 10"/>
          <p:cNvSpPr txBox="1"/>
          <p:nvPr/>
        </p:nvSpPr>
        <p:spPr>
          <a:xfrm>
            <a:off x="3582162" y="3639312"/>
            <a:ext cx="2146554" cy="292608"/>
          </a:xfrm>
          <a:prstGeom prst="rect">
            <a:avLst/>
          </a:prstGeom>
          <a:noFill/>
        </p:spPr>
        <p:txBody>
          <a:bodyPr wrap="square" anchor="ctr">
            <a:noAutofit/>
          </a:bodyPr>
          <a:lstStyle/>
          <a:p>
            <a:pPr algn="ctr"/>
            <a:r>
              <a:rPr sz="1600" b="0" i="0">
                <a:solidFill>
                  <a:srgbClr val="232B37"/>
                </a:solidFill>
                <a:latin typeface="Amazon Ember Display"/>
              </a:rPr>
              <a:t>the front door</a:t>
            </a:r>
          </a:p>
        </p:txBody>
      </p:sp>
      <p:sp>
        <p:nvSpPr>
          <p:cNvPr id="12" name="Rounded Rectangle 11"/>
          <p:cNvSpPr/>
          <p:nvPr/>
        </p:nvSpPr>
        <p:spPr>
          <a:xfrm>
            <a:off x="6368796" y="1874519"/>
            <a:ext cx="2329434" cy="2286000"/>
          </a:xfrm>
          <a:prstGeom prst="roundRect">
            <a:avLst>
              <a:gd name="adj" fmla="val 64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368796" y="1993391"/>
            <a:ext cx="2329434" cy="292608"/>
          </a:xfrm>
          <a:prstGeom prst="rect">
            <a:avLst/>
          </a:prstGeom>
          <a:noFill/>
        </p:spPr>
        <p:txBody>
          <a:bodyPr wrap="square" anchor="ctr">
            <a:noAutofit/>
          </a:bodyPr>
          <a:lstStyle/>
          <a:p>
            <a:pPr algn="ctr"/>
            <a:r>
              <a:rPr sz="1600" b="1" i="0">
                <a:solidFill>
                  <a:srgbClr val="8F0072"/>
                </a:solidFill>
                <a:latin typeface="Amazon Ember Display"/>
              </a:rPr>
              <a:t>Lambda</a:t>
            </a:r>
          </a:p>
        </p:txBody>
      </p:sp>
      <p:pic>
        <p:nvPicPr>
          <p:cNvPr id="14" name="Picture 13" descr="Arch_AWS-Lambda_64.png"/>
          <p:cNvPicPr>
            <a:picLocks noChangeAspect="1"/>
          </p:cNvPicPr>
          <p:nvPr/>
        </p:nvPicPr>
        <p:blipFill>
          <a:blip r:embed="rId5"/>
          <a:stretch>
            <a:fillRect/>
          </a:stretch>
        </p:blipFill>
        <p:spPr>
          <a:xfrm>
            <a:off x="7076313" y="2560320"/>
            <a:ext cx="914400" cy="914400"/>
          </a:xfrm>
          <a:prstGeom prst="rect">
            <a:avLst/>
          </a:prstGeom>
        </p:spPr>
      </p:pic>
      <p:sp>
        <p:nvSpPr>
          <p:cNvPr id="15" name="TextBox 14"/>
          <p:cNvSpPr txBox="1"/>
          <p:nvPr/>
        </p:nvSpPr>
        <p:spPr>
          <a:xfrm>
            <a:off x="6460236" y="3639312"/>
            <a:ext cx="2146554" cy="292608"/>
          </a:xfrm>
          <a:prstGeom prst="rect">
            <a:avLst/>
          </a:prstGeom>
          <a:noFill/>
        </p:spPr>
        <p:txBody>
          <a:bodyPr wrap="square" anchor="ctr">
            <a:noAutofit/>
          </a:bodyPr>
          <a:lstStyle/>
          <a:p>
            <a:pPr algn="ctr"/>
            <a:r>
              <a:rPr sz="1600" b="0" i="0">
                <a:solidFill>
                  <a:srgbClr val="232B37"/>
                </a:solidFill>
                <a:latin typeface="Amazon Ember Display"/>
              </a:rPr>
              <a:t>runs your code</a:t>
            </a:r>
          </a:p>
        </p:txBody>
      </p:sp>
      <p:sp>
        <p:nvSpPr>
          <p:cNvPr id="16" name="Rounded Rectangle 15"/>
          <p:cNvSpPr/>
          <p:nvPr/>
        </p:nvSpPr>
        <p:spPr>
          <a:xfrm>
            <a:off x="9246870" y="1874519"/>
            <a:ext cx="2329434" cy="2286000"/>
          </a:xfrm>
          <a:prstGeom prst="roundRect">
            <a:avLst>
              <a:gd name="adj" fmla="val 64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246870" y="1993391"/>
            <a:ext cx="2329434" cy="292608"/>
          </a:xfrm>
          <a:prstGeom prst="rect">
            <a:avLst/>
          </a:prstGeom>
          <a:noFill/>
        </p:spPr>
        <p:txBody>
          <a:bodyPr wrap="square" anchor="ctr">
            <a:noAutofit/>
          </a:bodyPr>
          <a:lstStyle/>
          <a:p>
            <a:pPr algn="ctr"/>
            <a:r>
              <a:rPr sz="1600" b="1" i="0">
                <a:solidFill>
                  <a:srgbClr val="8F0072"/>
                </a:solidFill>
                <a:latin typeface="Amazon Ember Display"/>
              </a:rPr>
              <a:t>DynamoDB</a:t>
            </a:r>
          </a:p>
        </p:txBody>
      </p:sp>
      <p:pic>
        <p:nvPicPr>
          <p:cNvPr id="18" name="Picture 17" descr="Arch_Amazon-DynamoDB_64.png"/>
          <p:cNvPicPr>
            <a:picLocks noChangeAspect="1"/>
          </p:cNvPicPr>
          <p:nvPr/>
        </p:nvPicPr>
        <p:blipFill>
          <a:blip r:embed="rId6"/>
          <a:stretch>
            <a:fillRect/>
          </a:stretch>
        </p:blipFill>
        <p:spPr>
          <a:xfrm>
            <a:off x="9954387" y="2560320"/>
            <a:ext cx="914400" cy="914400"/>
          </a:xfrm>
          <a:prstGeom prst="rect">
            <a:avLst/>
          </a:prstGeom>
        </p:spPr>
      </p:pic>
      <p:sp>
        <p:nvSpPr>
          <p:cNvPr id="19" name="TextBox 18"/>
          <p:cNvSpPr txBox="1"/>
          <p:nvPr/>
        </p:nvSpPr>
        <p:spPr>
          <a:xfrm>
            <a:off x="9338310" y="3639312"/>
            <a:ext cx="2146554" cy="292608"/>
          </a:xfrm>
          <a:prstGeom prst="rect">
            <a:avLst/>
          </a:prstGeom>
          <a:noFill/>
        </p:spPr>
        <p:txBody>
          <a:bodyPr wrap="square" anchor="ctr">
            <a:noAutofit/>
          </a:bodyPr>
          <a:lstStyle/>
          <a:p>
            <a:pPr algn="ctr"/>
            <a:r>
              <a:rPr sz="1600" b="0" i="0">
                <a:solidFill>
                  <a:srgbClr val="232B37"/>
                </a:solidFill>
                <a:latin typeface="Amazon Ember Display"/>
              </a:rPr>
              <a:t>stores the item</a:t>
            </a:r>
          </a:p>
        </p:txBody>
      </p:sp>
      <p:sp>
        <p:nvSpPr>
          <p:cNvPr id="20" name="Freeform 19"/>
          <p:cNvSpPr/>
          <p:nvPr/>
        </p:nvSpPr>
        <p:spPr>
          <a:xfrm>
            <a:off x="2978658" y="3017520"/>
            <a:ext cx="457200" cy="0"/>
          </a:xfrm>
          <a:custGeom>
            <a:avLst/>
            <a:gdLst/>
            <a:ahLst/>
            <a:cxnLst/>
            <a:rect l="l" t="t" r="r" b="b"/>
            <a:pathLst>
              <a:path w="457200">
                <a:moveTo>
                  <a:pt x="0" y="0"/>
                </a:moveTo>
                <a:lnTo>
                  <a:pt x="45720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3262122" y="28986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5856732" y="3017520"/>
            <a:ext cx="457200" cy="0"/>
          </a:xfrm>
          <a:custGeom>
            <a:avLst/>
            <a:gdLst/>
            <a:ahLst/>
            <a:cxnLst/>
            <a:rect l="l" t="t" r="r" b="b"/>
            <a:pathLst>
              <a:path w="457200">
                <a:moveTo>
                  <a:pt x="0" y="0"/>
                </a:moveTo>
                <a:lnTo>
                  <a:pt x="45720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6140196" y="28986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8734806" y="3017520"/>
            <a:ext cx="457200" cy="0"/>
          </a:xfrm>
          <a:custGeom>
            <a:avLst/>
            <a:gdLst/>
            <a:ahLst/>
            <a:cxnLst/>
            <a:rect l="l" t="t" r="r" b="b"/>
            <a:pathLst>
              <a:path w="457200">
                <a:moveTo>
                  <a:pt x="0" y="0"/>
                </a:moveTo>
                <a:lnTo>
                  <a:pt x="45720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9018270" y="28986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612648" y="4443984"/>
            <a:ext cx="10966399" cy="0"/>
          </a:xfrm>
          <a:custGeom>
            <a:avLst/>
            <a:gdLst/>
            <a:ahLst/>
            <a:cxnLst/>
            <a:rect l="l" t="t" r="r" b="b"/>
            <a:pathLst>
              <a:path w="10966399">
                <a:moveTo>
                  <a:pt x="0" y="0"/>
                </a:moveTo>
                <a:lnTo>
                  <a:pt x="10966399" y="0"/>
                </a:lnTo>
              </a:path>
            </a:pathLst>
          </a:custGeom>
          <a:noFill/>
          <a:ln w="1905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2648" y="4535424"/>
            <a:ext cx="3840480" cy="274320"/>
          </a:xfrm>
          <a:prstGeom prst="rect">
            <a:avLst/>
          </a:prstGeom>
          <a:noFill/>
        </p:spPr>
        <p:txBody>
          <a:bodyPr wrap="square" anchor="t">
            <a:noAutofit/>
          </a:bodyPr>
          <a:lstStyle/>
          <a:p>
            <a:pPr algn="l"/>
            <a:r>
              <a:rPr sz="1600" b="0" i="0">
                <a:solidFill>
                  <a:srgbClr val="5A6B7B"/>
                </a:solidFill>
                <a:latin typeface="Amazon Ember Display"/>
              </a:rPr>
              <a:t>the request arrives</a:t>
            </a:r>
          </a:p>
        </p:txBody>
      </p:sp>
      <p:sp>
        <p:nvSpPr>
          <p:cNvPr id="28" name="TextBox 27"/>
          <p:cNvSpPr txBox="1"/>
          <p:nvPr/>
        </p:nvSpPr>
        <p:spPr>
          <a:xfrm>
            <a:off x="7738567" y="4535424"/>
            <a:ext cx="3840480" cy="274320"/>
          </a:xfrm>
          <a:prstGeom prst="rect">
            <a:avLst/>
          </a:prstGeom>
          <a:noFill/>
        </p:spPr>
        <p:txBody>
          <a:bodyPr wrap="square" anchor="t">
            <a:noAutofit/>
          </a:bodyPr>
          <a:lstStyle/>
          <a:p>
            <a:pPr algn="r"/>
            <a:r>
              <a:rPr sz="1600" b="0" i="0">
                <a:solidFill>
                  <a:srgbClr val="5A6B7B"/>
                </a:solidFill>
                <a:latin typeface="Amazon Ember Display"/>
              </a:rPr>
              <a:t>the data is stored</a:t>
            </a:r>
          </a:p>
        </p:txBody>
      </p:sp>
      <p:sp>
        <p:nvSpPr>
          <p:cNvPr id="29" name="TextBox 28">
            <a:hlinkClick r:id="rId7"/>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7"/>
              </a:rPr>
              <a:t>docs.aws.amazon.com · What is Amazon API Gateway?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few concepts describe every Lambda function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Understanding the Lambda programming model</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Function and trigger</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Function: the code you run</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Trigger: what invokes it</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Event: the data it receives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Runtime and layer</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Runtime: the language environment</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Layer: shared code or libraries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Reused across many functions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The handler is where your event arrives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Define Lambda function handler in Python</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The handler</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The entry point Lambda calls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Receives the event and context</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Its return value is the response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Working with data</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Event arrives as a parsed object</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Deserialize input, act on it</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Serialize the value you return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Sync waits for the result; async hands it off</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6579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Understanding Lambda function invocation…</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Synchronous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Caller waits for the response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Errors return to the caller</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Example: API Gateway</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Asynchronous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Lambda queues the event</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Caller returns immediately</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Lambda retries on failure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Three models decide how Lambda is invoked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6579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How Lambda processes records from stream…</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Push models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Synchronous: caller waits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Asynchronous: event queued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Source calls Lambda directly</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Poll-based</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Lambda reads from a source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Streams and queues, in batches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Uses an event source mapping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Memory is the main lever for Lambda performance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8350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Configure Lambda function memory</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memory controls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Sets the memory a function gets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CPU scales with the memory</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More memory, more compute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A CPU-bound task runs faster</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Faster runs can cost the same</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Tune memory, then measure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Timeouts stop a function that runs too long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2007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Best practices for working with AWS…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a timeout is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 maximum run time you set</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Lambda stops the run at it</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Guards against a hang</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Common causes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Waiting on a slow dependency</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Too little memory or CPU</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Retries stacking up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An upload can trigger Lambda in real time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965960"/>
            <a:ext cx="3017520" cy="2286000"/>
          </a:xfrm>
          <a:prstGeom prst="roundRect">
            <a:avLst>
              <a:gd name="adj" fmla="val 64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2084831"/>
            <a:ext cx="3017520" cy="292608"/>
          </a:xfrm>
          <a:prstGeom prst="rect">
            <a:avLst/>
          </a:prstGeom>
          <a:noFill/>
        </p:spPr>
        <p:txBody>
          <a:bodyPr wrap="square" anchor="ctr">
            <a:noAutofit/>
          </a:bodyPr>
          <a:lstStyle/>
          <a:p>
            <a:pPr algn="ctr"/>
            <a:r>
              <a:rPr sz="1600" b="1" i="0">
                <a:solidFill>
                  <a:srgbClr val="8F0072"/>
                </a:solidFill>
                <a:latin typeface="Amazon Ember Display"/>
              </a:rPr>
              <a:t>Amazon S3</a:t>
            </a:r>
          </a:p>
        </p:txBody>
      </p:sp>
      <p:pic>
        <p:nvPicPr>
          <p:cNvPr id="6" name="Picture 5" descr="Arch_Amazon-Simple-Storage-Service_64.png"/>
          <p:cNvPicPr>
            <a:picLocks noChangeAspect="1"/>
          </p:cNvPicPr>
          <p:nvPr/>
        </p:nvPicPr>
        <p:blipFill>
          <a:blip r:embed="rId3"/>
          <a:stretch>
            <a:fillRect/>
          </a:stretch>
        </p:blipFill>
        <p:spPr>
          <a:xfrm>
            <a:off x="1664207" y="2651760"/>
            <a:ext cx="914400" cy="914400"/>
          </a:xfrm>
          <a:prstGeom prst="rect">
            <a:avLst/>
          </a:prstGeom>
        </p:spPr>
      </p:pic>
      <p:sp>
        <p:nvSpPr>
          <p:cNvPr id="7" name="TextBox 6"/>
          <p:cNvSpPr txBox="1"/>
          <p:nvPr/>
        </p:nvSpPr>
        <p:spPr>
          <a:xfrm>
            <a:off x="704088" y="3730752"/>
            <a:ext cx="2834639" cy="292608"/>
          </a:xfrm>
          <a:prstGeom prst="rect">
            <a:avLst/>
          </a:prstGeom>
          <a:noFill/>
        </p:spPr>
        <p:txBody>
          <a:bodyPr wrap="square" anchor="ctr">
            <a:noAutofit/>
          </a:bodyPr>
          <a:lstStyle/>
          <a:p>
            <a:pPr algn="ctr"/>
            <a:r>
              <a:rPr sz="1600" b="0" i="0">
                <a:solidFill>
                  <a:srgbClr val="232B37"/>
                </a:solidFill>
                <a:latin typeface="Amazon Ember Display"/>
              </a:rPr>
              <a:t>an object is uploaded</a:t>
            </a:r>
          </a:p>
        </p:txBody>
      </p:sp>
      <p:sp>
        <p:nvSpPr>
          <p:cNvPr id="8" name="Rounded Rectangle 7"/>
          <p:cNvSpPr/>
          <p:nvPr/>
        </p:nvSpPr>
        <p:spPr>
          <a:xfrm>
            <a:off x="8549640" y="1965960"/>
            <a:ext cx="3017520" cy="2286000"/>
          </a:xfrm>
          <a:prstGeom prst="roundRect">
            <a:avLst>
              <a:gd name="adj" fmla="val 64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549640" y="2084831"/>
            <a:ext cx="3017520" cy="292608"/>
          </a:xfrm>
          <a:prstGeom prst="rect">
            <a:avLst/>
          </a:prstGeom>
          <a:noFill/>
        </p:spPr>
        <p:txBody>
          <a:bodyPr wrap="square" anchor="ctr">
            <a:noAutofit/>
          </a:bodyPr>
          <a:lstStyle/>
          <a:p>
            <a:pPr algn="ctr"/>
            <a:r>
              <a:rPr sz="1600" b="1" i="0">
                <a:solidFill>
                  <a:srgbClr val="8F0072"/>
                </a:solidFill>
                <a:latin typeface="Amazon Ember Display"/>
              </a:rPr>
              <a:t>Lambda</a:t>
            </a:r>
          </a:p>
        </p:txBody>
      </p:sp>
      <p:pic>
        <p:nvPicPr>
          <p:cNvPr id="10" name="Picture 9" descr="Arch_AWS-Lambda_64.png"/>
          <p:cNvPicPr>
            <a:picLocks noChangeAspect="1"/>
          </p:cNvPicPr>
          <p:nvPr/>
        </p:nvPicPr>
        <p:blipFill>
          <a:blip r:embed="rId4"/>
          <a:stretch>
            <a:fillRect/>
          </a:stretch>
        </p:blipFill>
        <p:spPr>
          <a:xfrm>
            <a:off x="9601200" y="2651760"/>
            <a:ext cx="914400" cy="914400"/>
          </a:xfrm>
          <a:prstGeom prst="rect">
            <a:avLst/>
          </a:prstGeom>
        </p:spPr>
      </p:pic>
      <p:sp>
        <p:nvSpPr>
          <p:cNvPr id="11" name="TextBox 10"/>
          <p:cNvSpPr txBox="1"/>
          <p:nvPr/>
        </p:nvSpPr>
        <p:spPr>
          <a:xfrm>
            <a:off x="8641080" y="3730752"/>
            <a:ext cx="2834639" cy="292608"/>
          </a:xfrm>
          <a:prstGeom prst="rect">
            <a:avLst/>
          </a:prstGeom>
          <a:noFill/>
        </p:spPr>
        <p:txBody>
          <a:bodyPr wrap="square" anchor="ctr">
            <a:noAutofit/>
          </a:bodyPr>
          <a:lstStyle/>
          <a:p>
            <a:pPr algn="ctr"/>
            <a:r>
              <a:rPr sz="1600" b="0" i="0">
                <a:solidFill>
                  <a:srgbClr val="232B37"/>
                </a:solidFill>
                <a:latin typeface="Amazon Ember Display"/>
              </a:rPr>
              <a:t>runs once per event</a:t>
            </a:r>
          </a:p>
        </p:txBody>
      </p:sp>
      <p:sp>
        <p:nvSpPr>
          <p:cNvPr id="12" name="Rounded Rectangle 11"/>
          <p:cNvSpPr/>
          <p:nvPr/>
        </p:nvSpPr>
        <p:spPr>
          <a:xfrm>
            <a:off x="5614517" y="2953512"/>
            <a:ext cx="950772" cy="310896"/>
          </a:xfrm>
          <a:prstGeom prst="roundRect">
            <a:avLst>
              <a:gd name="adj" fmla="val 3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EVENT</a:t>
            </a:r>
          </a:p>
        </p:txBody>
      </p:sp>
      <p:sp>
        <p:nvSpPr>
          <p:cNvPr id="13" name="Freeform 12"/>
          <p:cNvSpPr/>
          <p:nvPr/>
        </p:nvSpPr>
        <p:spPr>
          <a:xfrm>
            <a:off x="3666744" y="3108960"/>
            <a:ext cx="1874621" cy="0"/>
          </a:xfrm>
          <a:custGeom>
            <a:avLst/>
            <a:gdLst/>
            <a:ahLst/>
            <a:cxnLst/>
            <a:rect l="l" t="t" r="r" b="b"/>
            <a:pathLst>
              <a:path w="1874621">
                <a:moveTo>
                  <a:pt x="0" y="0"/>
                </a:moveTo>
                <a:lnTo>
                  <a:pt x="1874621"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5367629" y="299008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6620154" y="3108960"/>
            <a:ext cx="1874622" cy="0"/>
          </a:xfrm>
          <a:custGeom>
            <a:avLst/>
            <a:gdLst/>
            <a:ahLst/>
            <a:cxnLst/>
            <a:rect l="l" t="t" r="r" b="b"/>
            <a:pathLst>
              <a:path w="1874622">
                <a:moveTo>
                  <a:pt x="0" y="0"/>
                </a:moveTo>
                <a:lnTo>
                  <a:pt x="1874622"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8321040" y="299008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06240" y="2542032"/>
            <a:ext cx="3767328" cy="274320"/>
          </a:xfrm>
          <a:prstGeom prst="rect">
            <a:avLst/>
          </a:prstGeom>
          <a:noFill/>
        </p:spPr>
        <p:txBody>
          <a:bodyPr wrap="square" anchor="t">
            <a:noAutofit/>
          </a:bodyPr>
          <a:lstStyle/>
          <a:p>
            <a:pPr algn="ctr"/>
            <a:r>
              <a:rPr sz="1600" b="0" i="0">
                <a:solidFill>
                  <a:srgbClr val="5A6B7B"/>
                </a:solidFill>
                <a:latin typeface="Amazon Ember Display"/>
              </a:rPr>
              <a:t>S3 publishes it; you do not poll</a:t>
            </a:r>
          </a:p>
        </p:txBody>
      </p:sp>
      <p:sp>
        <p:nvSpPr>
          <p:cNvPr id="18" name="TextBox 17"/>
          <p:cNvSpPr txBox="1"/>
          <p:nvPr/>
        </p:nvSpPr>
        <p:spPr>
          <a:xfrm>
            <a:off x="4206240" y="3493008"/>
            <a:ext cx="3767328" cy="274320"/>
          </a:xfrm>
          <a:prstGeom prst="rect">
            <a:avLst/>
          </a:prstGeom>
          <a:noFill/>
        </p:spPr>
        <p:txBody>
          <a:bodyPr wrap="square" anchor="t">
            <a:noAutofit/>
          </a:bodyPr>
          <a:lstStyle/>
          <a:p>
            <a:pPr algn="ctr"/>
            <a:r>
              <a:rPr sz="1600" b="0" i="0">
                <a:solidFill>
                  <a:srgbClr val="5A6B7B"/>
                </a:solidFill>
                <a:latin typeface="Amazon Ember Display"/>
              </a:rPr>
              <a:t>no server is waiting in between</a:t>
            </a:r>
          </a:p>
        </p:txBody>
      </p:sp>
      <p:sp>
        <p:nvSpPr>
          <p:cNvPr id="19" name="TextBox 18">
            <a:hlinkClick r:id="rId5"/>
          </p:cNvPr>
          <p:cNvSpPr txBox="1"/>
          <p:nvPr/>
        </p:nvSpPr>
        <p:spPr>
          <a:xfrm>
            <a:off x="612648" y="5943600"/>
            <a:ext cx="66579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How Lambda processes records from stream…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DynamoDB is a serverless NoSQL database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DynamoDB?</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it is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Fully managed NoSQL database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Serverless, no servers to run</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Key-value and document data</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Single-digit millisecond reads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Scales to any request rate</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You model data, not capacity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table holds items, and items hold attributes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10972800" cy="3200400"/>
          </a:xfrm>
          <a:prstGeom prst="roundRect">
            <a:avLst>
              <a:gd name="adj" fmla="val 5714"/>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DynamoDB_64.png"/>
          <p:cNvPicPr>
            <a:picLocks noChangeAspect="1"/>
          </p:cNvPicPr>
          <p:nvPr/>
        </p:nvPicPr>
        <p:blipFill>
          <a:blip r:embed="rId3"/>
          <a:stretch>
            <a:fillRect/>
          </a:stretch>
        </p:blipFill>
        <p:spPr>
          <a:xfrm>
            <a:off x="804672" y="2011680"/>
            <a:ext cx="457200" cy="457200"/>
          </a:xfrm>
          <a:prstGeom prst="rect">
            <a:avLst/>
          </a:prstGeom>
        </p:spPr>
      </p:pic>
      <p:sp>
        <p:nvSpPr>
          <p:cNvPr id="6" name="TextBox 5"/>
          <p:cNvSpPr txBox="1"/>
          <p:nvPr/>
        </p:nvSpPr>
        <p:spPr>
          <a:xfrm>
            <a:off x="1380744" y="1911095"/>
            <a:ext cx="4023360" cy="274320"/>
          </a:xfrm>
          <a:prstGeom prst="rect">
            <a:avLst/>
          </a:prstGeom>
          <a:noFill/>
        </p:spPr>
        <p:txBody>
          <a:bodyPr wrap="square" anchor="ctr">
            <a:noAutofit/>
          </a:bodyPr>
          <a:lstStyle/>
          <a:p>
            <a:pPr algn="l"/>
            <a:r>
              <a:rPr sz="1600" b="1" i="0">
                <a:solidFill>
                  <a:srgbClr val="8F0072"/>
                </a:solidFill>
                <a:latin typeface="Amazon Ember Display"/>
              </a:rPr>
              <a:t>TABLE: Orders</a:t>
            </a:r>
          </a:p>
        </p:txBody>
      </p:sp>
      <p:sp>
        <p:nvSpPr>
          <p:cNvPr id="7" name="TextBox 6"/>
          <p:cNvSpPr txBox="1"/>
          <p:nvPr/>
        </p:nvSpPr>
        <p:spPr>
          <a:xfrm>
            <a:off x="1380744" y="2203704"/>
            <a:ext cx="6400800" cy="274320"/>
          </a:xfrm>
          <a:prstGeom prst="rect">
            <a:avLst/>
          </a:prstGeom>
          <a:noFill/>
        </p:spPr>
        <p:txBody>
          <a:bodyPr wrap="square" anchor="ctr">
            <a:noAutofit/>
          </a:bodyPr>
          <a:lstStyle/>
          <a:p>
            <a:pPr algn="l"/>
            <a:r>
              <a:rPr sz="1600" b="0" i="0">
                <a:solidFill>
                  <a:srgbClr val="232B37"/>
                </a:solidFill>
                <a:latin typeface="Amazon Ember Display"/>
              </a:rPr>
              <a:t>a collection of items</a:t>
            </a:r>
          </a:p>
        </p:txBody>
      </p:sp>
      <p:sp>
        <p:nvSpPr>
          <p:cNvPr id="8" name="Rounded Rectangle 7"/>
          <p:cNvSpPr/>
          <p:nvPr/>
        </p:nvSpPr>
        <p:spPr>
          <a:xfrm>
            <a:off x="886968" y="2615184"/>
            <a:ext cx="5111496" cy="2121408"/>
          </a:xfrm>
          <a:prstGeom prst="roundRect">
            <a:avLst>
              <a:gd name="adj" fmla="val 6896"/>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51560" y="2706624"/>
            <a:ext cx="4782312" cy="274320"/>
          </a:xfrm>
          <a:prstGeom prst="rect">
            <a:avLst/>
          </a:prstGeom>
          <a:noFill/>
        </p:spPr>
        <p:txBody>
          <a:bodyPr wrap="square" anchor="ctr">
            <a:noAutofit/>
          </a:bodyPr>
          <a:lstStyle/>
          <a:p>
            <a:pPr algn="l"/>
            <a:r>
              <a:rPr sz="1600" b="1" i="0">
                <a:solidFill>
                  <a:srgbClr val="8F0072"/>
                </a:solidFill>
                <a:latin typeface="Amazon Ember Display"/>
              </a:rPr>
              <a:t>ITEM  order#1001</a:t>
            </a:r>
          </a:p>
        </p:txBody>
      </p:sp>
      <p:sp>
        <p:nvSpPr>
          <p:cNvPr id="10" name="Rounded Rectangle 9"/>
          <p:cNvSpPr/>
          <p:nvPr/>
        </p:nvSpPr>
        <p:spPr>
          <a:xfrm>
            <a:off x="1143000" y="3072384"/>
            <a:ext cx="4599431" cy="420624"/>
          </a:xfrm>
          <a:prstGeom prst="roundRect">
            <a:avLst>
              <a:gd name="adj" fmla="val 21739"/>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89304" y="3127248"/>
            <a:ext cx="2103120" cy="310896"/>
          </a:xfrm>
          <a:prstGeom prst="rect">
            <a:avLst/>
          </a:prstGeom>
          <a:noFill/>
        </p:spPr>
        <p:txBody>
          <a:bodyPr wrap="square" anchor="ctr">
            <a:noAutofit/>
          </a:bodyPr>
          <a:lstStyle/>
          <a:p>
            <a:pPr algn="l"/>
            <a:r>
              <a:rPr sz="1600" b="1" i="0">
                <a:solidFill>
                  <a:srgbClr val="8F0072"/>
                </a:solidFill>
                <a:latin typeface="Amazon Ember Display"/>
              </a:rPr>
              <a:t>orderId</a:t>
            </a:r>
          </a:p>
        </p:txBody>
      </p:sp>
      <p:sp>
        <p:nvSpPr>
          <p:cNvPr id="12" name="TextBox 11"/>
          <p:cNvSpPr txBox="1"/>
          <p:nvPr/>
        </p:nvSpPr>
        <p:spPr>
          <a:xfrm>
            <a:off x="3447287" y="3127248"/>
            <a:ext cx="2276856" cy="310896"/>
          </a:xfrm>
          <a:prstGeom prst="rect">
            <a:avLst/>
          </a:prstGeom>
          <a:noFill/>
        </p:spPr>
        <p:txBody>
          <a:bodyPr wrap="square" anchor="ctr">
            <a:noAutofit/>
          </a:bodyPr>
          <a:lstStyle/>
          <a:p>
            <a:pPr algn="l"/>
            <a:r>
              <a:rPr sz="1600" b="0" i="0">
                <a:solidFill>
                  <a:srgbClr val="232B37"/>
                </a:solidFill>
                <a:latin typeface="Amazon Ember Display"/>
              </a:rPr>
              <a:t>partition key</a:t>
            </a:r>
          </a:p>
        </p:txBody>
      </p:sp>
      <p:sp>
        <p:nvSpPr>
          <p:cNvPr id="13" name="Rounded Rectangle 12"/>
          <p:cNvSpPr/>
          <p:nvPr/>
        </p:nvSpPr>
        <p:spPr>
          <a:xfrm>
            <a:off x="1143000" y="3584448"/>
            <a:ext cx="4599431" cy="420624"/>
          </a:xfrm>
          <a:prstGeom prst="roundRect">
            <a:avLst>
              <a:gd name="adj" fmla="val 21739"/>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89304" y="3639312"/>
            <a:ext cx="2103120" cy="310896"/>
          </a:xfrm>
          <a:prstGeom prst="rect">
            <a:avLst/>
          </a:prstGeom>
          <a:noFill/>
        </p:spPr>
        <p:txBody>
          <a:bodyPr wrap="square" anchor="ctr">
            <a:noAutofit/>
          </a:bodyPr>
          <a:lstStyle/>
          <a:p>
            <a:pPr algn="l"/>
            <a:r>
              <a:rPr sz="1600" b="1" i="0">
                <a:solidFill>
                  <a:srgbClr val="8F0072"/>
                </a:solidFill>
                <a:latin typeface="Amazon Ember Display"/>
              </a:rPr>
              <a:t>placedAt</a:t>
            </a:r>
          </a:p>
        </p:txBody>
      </p:sp>
      <p:sp>
        <p:nvSpPr>
          <p:cNvPr id="15" name="TextBox 14"/>
          <p:cNvSpPr txBox="1"/>
          <p:nvPr/>
        </p:nvSpPr>
        <p:spPr>
          <a:xfrm>
            <a:off x="3447287" y="3639312"/>
            <a:ext cx="2276856" cy="310896"/>
          </a:xfrm>
          <a:prstGeom prst="rect">
            <a:avLst/>
          </a:prstGeom>
          <a:noFill/>
        </p:spPr>
        <p:txBody>
          <a:bodyPr wrap="square" anchor="ctr">
            <a:noAutofit/>
          </a:bodyPr>
          <a:lstStyle/>
          <a:p>
            <a:pPr algn="l"/>
            <a:r>
              <a:rPr sz="1600" b="0" i="0">
                <a:solidFill>
                  <a:srgbClr val="232B37"/>
                </a:solidFill>
                <a:latin typeface="Amazon Ember Display"/>
              </a:rPr>
              <a:t>sort key</a:t>
            </a:r>
          </a:p>
        </p:txBody>
      </p:sp>
      <p:sp>
        <p:nvSpPr>
          <p:cNvPr id="16" name="Rounded Rectangle 15"/>
          <p:cNvSpPr/>
          <p:nvPr/>
        </p:nvSpPr>
        <p:spPr>
          <a:xfrm>
            <a:off x="1143000" y="4096512"/>
            <a:ext cx="4599431" cy="420624"/>
          </a:xfrm>
          <a:prstGeom prst="roundRect">
            <a:avLst>
              <a:gd name="adj" fmla="val 21739"/>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289304" y="4151376"/>
            <a:ext cx="2103120" cy="310896"/>
          </a:xfrm>
          <a:prstGeom prst="rect">
            <a:avLst/>
          </a:prstGeom>
          <a:noFill/>
        </p:spPr>
        <p:txBody>
          <a:bodyPr wrap="square" anchor="ctr">
            <a:noAutofit/>
          </a:bodyPr>
          <a:lstStyle/>
          <a:p>
            <a:pPr algn="l"/>
            <a:r>
              <a:rPr sz="1600" b="1" i="0">
                <a:solidFill>
                  <a:srgbClr val="8F0072"/>
                </a:solidFill>
                <a:latin typeface="Amazon Ember Display"/>
              </a:rPr>
              <a:t>total</a:t>
            </a:r>
          </a:p>
        </p:txBody>
      </p:sp>
      <p:sp>
        <p:nvSpPr>
          <p:cNvPr id="18" name="TextBox 17"/>
          <p:cNvSpPr txBox="1"/>
          <p:nvPr/>
        </p:nvSpPr>
        <p:spPr>
          <a:xfrm>
            <a:off x="3447287" y="4151376"/>
            <a:ext cx="2276856" cy="310896"/>
          </a:xfrm>
          <a:prstGeom prst="rect">
            <a:avLst/>
          </a:prstGeom>
          <a:noFill/>
        </p:spPr>
        <p:txBody>
          <a:bodyPr wrap="square" anchor="ctr">
            <a:noAutofit/>
          </a:bodyPr>
          <a:lstStyle/>
          <a:p>
            <a:pPr algn="l"/>
            <a:r>
              <a:rPr sz="1600" b="0" i="0">
                <a:solidFill>
                  <a:srgbClr val="232B37"/>
                </a:solidFill>
                <a:latin typeface="Amazon Ember Display"/>
              </a:rPr>
              <a:t>attribute</a:t>
            </a:r>
          </a:p>
        </p:txBody>
      </p:sp>
      <p:sp>
        <p:nvSpPr>
          <p:cNvPr id="19" name="Rounded Rectangle 18"/>
          <p:cNvSpPr/>
          <p:nvPr/>
        </p:nvSpPr>
        <p:spPr>
          <a:xfrm>
            <a:off x="6199632" y="2615184"/>
            <a:ext cx="5111496" cy="2121408"/>
          </a:xfrm>
          <a:prstGeom prst="roundRect">
            <a:avLst>
              <a:gd name="adj" fmla="val 6896"/>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364224" y="2706624"/>
            <a:ext cx="4782312" cy="274320"/>
          </a:xfrm>
          <a:prstGeom prst="rect">
            <a:avLst/>
          </a:prstGeom>
          <a:noFill/>
        </p:spPr>
        <p:txBody>
          <a:bodyPr wrap="square" anchor="ctr">
            <a:noAutofit/>
          </a:bodyPr>
          <a:lstStyle/>
          <a:p>
            <a:pPr algn="l"/>
            <a:r>
              <a:rPr sz="1600" b="1" i="0">
                <a:solidFill>
                  <a:srgbClr val="8F0072"/>
                </a:solidFill>
                <a:latin typeface="Amazon Ember Display"/>
              </a:rPr>
              <a:t>ITEM  order#1002</a:t>
            </a:r>
          </a:p>
        </p:txBody>
      </p:sp>
      <p:sp>
        <p:nvSpPr>
          <p:cNvPr id="21" name="Rounded Rectangle 20"/>
          <p:cNvSpPr/>
          <p:nvPr/>
        </p:nvSpPr>
        <p:spPr>
          <a:xfrm>
            <a:off x="6455664" y="3072384"/>
            <a:ext cx="4599431" cy="420624"/>
          </a:xfrm>
          <a:prstGeom prst="roundRect">
            <a:avLst>
              <a:gd name="adj" fmla="val 21739"/>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601968" y="3127248"/>
            <a:ext cx="2103120" cy="310896"/>
          </a:xfrm>
          <a:prstGeom prst="rect">
            <a:avLst/>
          </a:prstGeom>
          <a:noFill/>
        </p:spPr>
        <p:txBody>
          <a:bodyPr wrap="square" anchor="ctr">
            <a:noAutofit/>
          </a:bodyPr>
          <a:lstStyle/>
          <a:p>
            <a:pPr algn="l"/>
            <a:r>
              <a:rPr sz="1600" b="1" i="0">
                <a:solidFill>
                  <a:srgbClr val="8F0072"/>
                </a:solidFill>
                <a:latin typeface="Amazon Ember Display"/>
              </a:rPr>
              <a:t>orderId</a:t>
            </a:r>
          </a:p>
        </p:txBody>
      </p:sp>
      <p:sp>
        <p:nvSpPr>
          <p:cNvPr id="23" name="TextBox 22"/>
          <p:cNvSpPr txBox="1"/>
          <p:nvPr/>
        </p:nvSpPr>
        <p:spPr>
          <a:xfrm>
            <a:off x="8759952" y="3127248"/>
            <a:ext cx="2276856" cy="310896"/>
          </a:xfrm>
          <a:prstGeom prst="rect">
            <a:avLst/>
          </a:prstGeom>
          <a:noFill/>
        </p:spPr>
        <p:txBody>
          <a:bodyPr wrap="square" anchor="ctr">
            <a:noAutofit/>
          </a:bodyPr>
          <a:lstStyle/>
          <a:p>
            <a:pPr algn="l"/>
            <a:r>
              <a:rPr sz="1600" b="0" i="0">
                <a:solidFill>
                  <a:srgbClr val="232B37"/>
                </a:solidFill>
                <a:latin typeface="Amazon Ember Display"/>
              </a:rPr>
              <a:t>partition key</a:t>
            </a:r>
          </a:p>
        </p:txBody>
      </p:sp>
      <p:sp>
        <p:nvSpPr>
          <p:cNvPr id="24" name="Rounded Rectangle 23"/>
          <p:cNvSpPr/>
          <p:nvPr/>
        </p:nvSpPr>
        <p:spPr>
          <a:xfrm>
            <a:off x="6455664" y="3584448"/>
            <a:ext cx="4599431" cy="420624"/>
          </a:xfrm>
          <a:prstGeom prst="roundRect">
            <a:avLst>
              <a:gd name="adj" fmla="val 21739"/>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601968" y="3639312"/>
            <a:ext cx="2103120" cy="310896"/>
          </a:xfrm>
          <a:prstGeom prst="rect">
            <a:avLst/>
          </a:prstGeom>
          <a:noFill/>
        </p:spPr>
        <p:txBody>
          <a:bodyPr wrap="square" anchor="ctr">
            <a:noAutofit/>
          </a:bodyPr>
          <a:lstStyle/>
          <a:p>
            <a:pPr algn="l"/>
            <a:r>
              <a:rPr sz="1600" b="1" i="0">
                <a:solidFill>
                  <a:srgbClr val="8F0072"/>
                </a:solidFill>
                <a:latin typeface="Amazon Ember Display"/>
              </a:rPr>
              <a:t>placedAt</a:t>
            </a:r>
          </a:p>
        </p:txBody>
      </p:sp>
      <p:sp>
        <p:nvSpPr>
          <p:cNvPr id="26" name="TextBox 25"/>
          <p:cNvSpPr txBox="1"/>
          <p:nvPr/>
        </p:nvSpPr>
        <p:spPr>
          <a:xfrm>
            <a:off x="8759952" y="3639312"/>
            <a:ext cx="2276856" cy="310896"/>
          </a:xfrm>
          <a:prstGeom prst="rect">
            <a:avLst/>
          </a:prstGeom>
          <a:noFill/>
        </p:spPr>
        <p:txBody>
          <a:bodyPr wrap="square" anchor="ctr">
            <a:noAutofit/>
          </a:bodyPr>
          <a:lstStyle/>
          <a:p>
            <a:pPr algn="l"/>
            <a:r>
              <a:rPr sz="1600" b="0" i="0">
                <a:solidFill>
                  <a:srgbClr val="232B37"/>
                </a:solidFill>
                <a:latin typeface="Amazon Ember Display"/>
              </a:rPr>
              <a:t>sort key</a:t>
            </a:r>
          </a:p>
        </p:txBody>
      </p:sp>
      <p:sp>
        <p:nvSpPr>
          <p:cNvPr id="27" name="Rounded Rectangle 26"/>
          <p:cNvSpPr/>
          <p:nvPr/>
        </p:nvSpPr>
        <p:spPr>
          <a:xfrm>
            <a:off x="6455664" y="4096512"/>
            <a:ext cx="4599431" cy="420624"/>
          </a:xfrm>
          <a:prstGeom prst="roundRect">
            <a:avLst>
              <a:gd name="adj" fmla="val 21739"/>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601968" y="4151376"/>
            <a:ext cx="2103120" cy="310896"/>
          </a:xfrm>
          <a:prstGeom prst="rect">
            <a:avLst/>
          </a:prstGeom>
          <a:noFill/>
        </p:spPr>
        <p:txBody>
          <a:bodyPr wrap="square" anchor="ctr">
            <a:noAutofit/>
          </a:bodyPr>
          <a:lstStyle/>
          <a:p>
            <a:pPr algn="l"/>
            <a:r>
              <a:rPr sz="1600" b="1" i="0">
                <a:solidFill>
                  <a:srgbClr val="8F0072"/>
                </a:solidFill>
                <a:latin typeface="Amazon Ember Display"/>
              </a:rPr>
              <a:t>total</a:t>
            </a:r>
          </a:p>
        </p:txBody>
      </p:sp>
      <p:sp>
        <p:nvSpPr>
          <p:cNvPr id="29" name="TextBox 28"/>
          <p:cNvSpPr txBox="1"/>
          <p:nvPr/>
        </p:nvSpPr>
        <p:spPr>
          <a:xfrm>
            <a:off x="8759952" y="4151376"/>
            <a:ext cx="2276856" cy="310896"/>
          </a:xfrm>
          <a:prstGeom prst="rect">
            <a:avLst/>
          </a:prstGeom>
          <a:noFill/>
        </p:spPr>
        <p:txBody>
          <a:bodyPr wrap="square" anchor="ctr">
            <a:noAutofit/>
          </a:bodyPr>
          <a:lstStyle/>
          <a:p>
            <a:pPr algn="l"/>
            <a:r>
              <a:rPr sz="1600" b="0" i="0">
                <a:solidFill>
                  <a:srgbClr val="232B37"/>
                </a:solidFill>
                <a:latin typeface="Amazon Ember Display"/>
              </a:rPr>
              <a:t>attribute</a:t>
            </a:r>
          </a:p>
        </p:txBody>
      </p:sp>
      <p:sp>
        <p:nvSpPr>
          <p:cNvPr id="30" name="TextBox 29">
            <a:hlinkClick r:id="rId4"/>
          </p:cNvPr>
          <p:cNvSpPr txBox="1"/>
          <p:nvPr/>
        </p:nvSpPr>
        <p:spPr>
          <a:xfrm>
            <a:off x="612648" y="5943600"/>
            <a:ext cx="60178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4"/>
              </a:rPr>
              <a:t>docs.aws.amazon.com · Core components of Amazon DynamoDB</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Secondary indexes query beyond the primary key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2922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Improving data access with secondary…</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Global secondary index</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Own partition and sort key</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Query across the whole table</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Carries its own throughput</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Local secondary index</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Same partition key as the table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Adds an alternate sort key</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Shares the table's throughput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Streams capture every change as it happens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103120"/>
            <a:ext cx="2651760" cy="2240280"/>
          </a:xfrm>
          <a:prstGeom prst="roundRect">
            <a:avLst>
              <a:gd name="adj" fmla="val 653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2221991"/>
            <a:ext cx="2651760" cy="292608"/>
          </a:xfrm>
          <a:prstGeom prst="rect">
            <a:avLst/>
          </a:prstGeom>
          <a:noFill/>
        </p:spPr>
        <p:txBody>
          <a:bodyPr wrap="square" anchor="ctr">
            <a:noAutofit/>
          </a:bodyPr>
          <a:lstStyle/>
          <a:p>
            <a:pPr algn="ctr"/>
            <a:r>
              <a:rPr sz="1600" b="1" i="0">
                <a:solidFill>
                  <a:srgbClr val="8F0072"/>
                </a:solidFill>
                <a:latin typeface="Amazon Ember Display"/>
              </a:rPr>
              <a:t>Your table</a:t>
            </a:r>
          </a:p>
        </p:txBody>
      </p:sp>
      <p:pic>
        <p:nvPicPr>
          <p:cNvPr id="6" name="Picture 5" descr="Arch_Amazon-DynamoDB_64.png"/>
          <p:cNvPicPr>
            <a:picLocks noChangeAspect="1"/>
          </p:cNvPicPr>
          <p:nvPr/>
        </p:nvPicPr>
        <p:blipFill>
          <a:blip r:embed="rId3"/>
          <a:stretch>
            <a:fillRect/>
          </a:stretch>
        </p:blipFill>
        <p:spPr>
          <a:xfrm>
            <a:off x="1481328" y="2788920"/>
            <a:ext cx="914400" cy="914400"/>
          </a:xfrm>
          <a:prstGeom prst="rect">
            <a:avLst/>
          </a:prstGeom>
        </p:spPr>
      </p:pic>
      <p:sp>
        <p:nvSpPr>
          <p:cNvPr id="7" name="TextBox 6"/>
          <p:cNvSpPr txBox="1"/>
          <p:nvPr/>
        </p:nvSpPr>
        <p:spPr>
          <a:xfrm>
            <a:off x="704088" y="3867911"/>
            <a:ext cx="2468879" cy="292608"/>
          </a:xfrm>
          <a:prstGeom prst="rect">
            <a:avLst/>
          </a:prstGeom>
          <a:noFill/>
        </p:spPr>
        <p:txBody>
          <a:bodyPr wrap="square" anchor="ctr">
            <a:noAutofit/>
          </a:bodyPr>
          <a:lstStyle/>
          <a:p>
            <a:pPr algn="ctr"/>
            <a:r>
              <a:rPr sz="1600" b="0" i="0">
                <a:solidFill>
                  <a:srgbClr val="232B37"/>
                </a:solidFill>
                <a:latin typeface="Amazon Ember Display"/>
              </a:rPr>
              <a:t>an item changes</a:t>
            </a:r>
          </a:p>
        </p:txBody>
      </p:sp>
      <p:sp>
        <p:nvSpPr>
          <p:cNvPr id="8" name="Rounded Rectangle 7"/>
          <p:cNvSpPr/>
          <p:nvPr/>
        </p:nvSpPr>
        <p:spPr>
          <a:xfrm>
            <a:off x="3931920" y="1874519"/>
            <a:ext cx="4480560" cy="2697480"/>
          </a:xfrm>
          <a:prstGeom prst="roundRect">
            <a:avLst>
              <a:gd name="adj" fmla="val 5423"/>
            </a:avLst>
          </a:prstGeom>
          <a:solidFill>
            <a:srgbClr val="FFFFFF"/>
          </a:solidFill>
          <a:ln w="44450">
            <a:solidFill>
              <a:srgbClr val="D600B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5617972" y="1719072"/>
            <a:ext cx="1108456" cy="310896"/>
          </a:xfrm>
          <a:prstGeom prst="roundRect">
            <a:avLst>
              <a:gd name="adj" fmla="val 3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STREAM</a:t>
            </a:r>
          </a:p>
        </p:txBody>
      </p:sp>
      <p:sp>
        <p:nvSpPr>
          <p:cNvPr id="10" name="Rounded Rectangle 9"/>
          <p:cNvSpPr/>
          <p:nvPr/>
        </p:nvSpPr>
        <p:spPr>
          <a:xfrm>
            <a:off x="4242816" y="2350008"/>
            <a:ext cx="3858768" cy="512064"/>
          </a:xfrm>
          <a:prstGeom prst="roundRect">
            <a:avLst>
              <a:gd name="adj" fmla="val 21428"/>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407408" y="2450591"/>
            <a:ext cx="3529584" cy="310896"/>
          </a:xfrm>
          <a:prstGeom prst="rect">
            <a:avLst/>
          </a:prstGeom>
          <a:noFill/>
        </p:spPr>
        <p:txBody>
          <a:bodyPr wrap="square" anchor="ctr">
            <a:noAutofit/>
          </a:bodyPr>
          <a:lstStyle/>
          <a:p>
            <a:pPr algn="l"/>
            <a:r>
              <a:rPr sz="1600" b="1" i="0">
                <a:solidFill>
                  <a:srgbClr val="8F0072"/>
                </a:solidFill>
                <a:latin typeface="Amazon Ember Display"/>
              </a:rPr>
              <a:t>1  INSERT</a:t>
            </a:r>
          </a:p>
        </p:txBody>
      </p:sp>
      <p:sp>
        <p:nvSpPr>
          <p:cNvPr id="12" name="Rounded Rectangle 11"/>
          <p:cNvSpPr/>
          <p:nvPr/>
        </p:nvSpPr>
        <p:spPr>
          <a:xfrm>
            <a:off x="4242816" y="3008376"/>
            <a:ext cx="3858768" cy="512064"/>
          </a:xfrm>
          <a:prstGeom prst="roundRect">
            <a:avLst>
              <a:gd name="adj" fmla="val 21428"/>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407408" y="3108960"/>
            <a:ext cx="3529584" cy="310896"/>
          </a:xfrm>
          <a:prstGeom prst="rect">
            <a:avLst/>
          </a:prstGeom>
          <a:noFill/>
        </p:spPr>
        <p:txBody>
          <a:bodyPr wrap="square" anchor="ctr">
            <a:noAutofit/>
          </a:bodyPr>
          <a:lstStyle/>
          <a:p>
            <a:pPr algn="l"/>
            <a:r>
              <a:rPr sz="1600" b="1" i="0">
                <a:solidFill>
                  <a:srgbClr val="8F0072"/>
                </a:solidFill>
                <a:latin typeface="Amazon Ember Display"/>
              </a:rPr>
              <a:t>2  MODIFY</a:t>
            </a:r>
          </a:p>
        </p:txBody>
      </p:sp>
      <p:sp>
        <p:nvSpPr>
          <p:cNvPr id="14" name="Rounded Rectangle 13"/>
          <p:cNvSpPr/>
          <p:nvPr/>
        </p:nvSpPr>
        <p:spPr>
          <a:xfrm>
            <a:off x="4242816" y="3666744"/>
            <a:ext cx="3858768" cy="512064"/>
          </a:xfrm>
          <a:prstGeom prst="roundRect">
            <a:avLst>
              <a:gd name="adj" fmla="val 21428"/>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07408" y="3767328"/>
            <a:ext cx="3529584" cy="310896"/>
          </a:xfrm>
          <a:prstGeom prst="rect">
            <a:avLst/>
          </a:prstGeom>
          <a:noFill/>
        </p:spPr>
        <p:txBody>
          <a:bodyPr wrap="square" anchor="ctr">
            <a:noAutofit/>
          </a:bodyPr>
          <a:lstStyle/>
          <a:p>
            <a:pPr algn="l"/>
            <a:r>
              <a:rPr sz="1600" b="1" i="0">
                <a:solidFill>
                  <a:srgbClr val="8F0072"/>
                </a:solidFill>
                <a:latin typeface="Amazon Ember Display"/>
              </a:rPr>
              <a:t>3  REMOVE</a:t>
            </a:r>
          </a:p>
        </p:txBody>
      </p:sp>
      <p:sp>
        <p:nvSpPr>
          <p:cNvPr id="16" name="Freeform 15"/>
          <p:cNvSpPr/>
          <p:nvPr/>
        </p:nvSpPr>
        <p:spPr>
          <a:xfrm>
            <a:off x="3300984" y="3246120"/>
            <a:ext cx="521208" cy="0"/>
          </a:xfrm>
          <a:custGeom>
            <a:avLst/>
            <a:gdLst/>
            <a:ahLst/>
            <a:cxnLst/>
            <a:rect l="l" t="t" r="r" b="b"/>
            <a:pathLst>
              <a:path w="521208">
                <a:moveTo>
                  <a:pt x="0" y="0"/>
                </a:moveTo>
                <a:lnTo>
                  <a:pt x="52120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3648456" y="31272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8467344" y="3246120"/>
            <a:ext cx="612648" cy="0"/>
          </a:xfrm>
          <a:custGeom>
            <a:avLst/>
            <a:gdLst/>
            <a:ahLst/>
            <a:cxnLst/>
            <a:rect l="l" t="t" r="r" b="b"/>
            <a:pathLst>
              <a:path w="612648">
                <a:moveTo>
                  <a:pt x="0" y="0"/>
                </a:moveTo>
                <a:lnTo>
                  <a:pt x="61264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8906255" y="3127248"/>
            <a:ext cx="192025" cy="237743"/>
          </a:xfrm>
          <a:custGeom>
            <a:avLst/>
            <a:gdLst/>
            <a:ahLst/>
            <a:cxnLst/>
            <a:rect l="l" t="t" r="r" b="b"/>
            <a:pathLst>
              <a:path w="192025" h="237743">
                <a:moveTo>
                  <a:pt x="0" y="0"/>
                </a:moveTo>
                <a:lnTo>
                  <a:pt x="192025"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134856" y="2103120"/>
            <a:ext cx="2432304" cy="2240280"/>
          </a:xfrm>
          <a:prstGeom prst="roundRect">
            <a:avLst>
              <a:gd name="adj" fmla="val 653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134856" y="2221991"/>
            <a:ext cx="2432304" cy="292608"/>
          </a:xfrm>
          <a:prstGeom prst="rect">
            <a:avLst/>
          </a:prstGeom>
          <a:noFill/>
        </p:spPr>
        <p:txBody>
          <a:bodyPr wrap="square" anchor="ctr">
            <a:noAutofit/>
          </a:bodyPr>
          <a:lstStyle/>
          <a:p>
            <a:pPr algn="ctr"/>
            <a:r>
              <a:rPr sz="1600" b="1" i="0">
                <a:solidFill>
                  <a:srgbClr val="8F0072"/>
                </a:solidFill>
                <a:latin typeface="Amazon Ember Display"/>
              </a:rPr>
              <a:t>Lambda</a:t>
            </a:r>
          </a:p>
        </p:txBody>
      </p:sp>
      <p:pic>
        <p:nvPicPr>
          <p:cNvPr id="22" name="Picture 21" descr="Arch_AWS-Lambda_64.png"/>
          <p:cNvPicPr>
            <a:picLocks noChangeAspect="1"/>
          </p:cNvPicPr>
          <p:nvPr/>
        </p:nvPicPr>
        <p:blipFill>
          <a:blip r:embed="rId4"/>
          <a:stretch>
            <a:fillRect/>
          </a:stretch>
        </p:blipFill>
        <p:spPr>
          <a:xfrm>
            <a:off x="9893808" y="2788920"/>
            <a:ext cx="914400" cy="914400"/>
          </a:xfrm>
          <a:prstGeom prst="rect">
            <a:avLst/>
          </a:prstGeom>
        </p:spPr>
      </p:pic>
      <p:sp>
        <p:nvSpPr>
          <p:cNvPr id="23" name="TextBox 22"/>
          <p:cNvSpPr txBox="1"/>
          <p:nvPr/>
        </p:nvSpPr>
        <p:spPr>
          <a:xfrm>
            <a:off x="9226296" y="3867911"/>
            <a:ext cx="2249424" cy="292608"/>
          </a:xfrm>
          <a:prstGeom prst="rect">
            <a:avLst/>
          </a:prstGeom>
          <a:noFill/>
        </p:spPr>
        <p:txBody>
          <a:bodyPr wrap="square" anchor="ctr">
            <a:noAutofit/>
          </a:bodyPr>
          <a:lstStyle/>
          <a:p>
            <a:pPr algn="ctr"/>
            <a:r>
              <a:rPr sz="1600" b="0" i="0">
                <a:solidFill>
                  <a:srgbClr val="232B37"/>
                </a:solidFill>
                <a:latin typeface="Amazon Ember Display"/>
              </a:rPr>
              <a:t>reads them in order</a:t>
            </a:r>
          </a:p>
        </p:txBody>
      </p:sp>
      <p:sp>
        <p:nvSpPr>
          <p:cNvPr id="24" name="TextBox 23"/>
          <p:cNvSpPr txBox="1"/>
          <p:nvPr/>
        </p:nvSpPr>
        <p:spPr>
          <a:xfrm>
            <a:off x="3931920" y="4700016"/>
            <a:ext cx="4480560" cy="274320"/>
          </a:xfrm>
          <a:prstGeom prst="rect">
            <a:avLst/>
          </a:prstGeom>
          <a:noFill/>
        </p:spPr>
        <p:txBody>
          <a:bodyPr wrap="square" anchor="t">
            <a:noAutofit/>
          </a:bodyPr>
          <a:lstStyle/>
          <a:p>
            <a:pPr algn="ctr"/>
            <a:r>
              <a:rPr sz="1600" b="0" i="0">
                <a:solidFill>
                  <a:srgbClr val="5A6B7B"/>
                </a:solidFill>
                <a:latin typeface="Amazon Ember Display"/>
              </a:rPr>
              <a:t>in the order the changes happened</a:t>
            </a:r>
          </a:p>
        </p:txBody>
      </p:sp>
      <p:sp>
        <p:nvSpPr>
          <p:cNvPr id="25" name="TextBox 24">
            <a:hlinkClick r:id="rId5"/>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Change data capture for DynamoDB Streams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TTL expires stale items for you</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2007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Using time to live (TTL) in DynamoDB</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How it works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Set a timestamp on the item</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DynamoDB deletes it after that</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No extra write cost to delete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Purge stale data automatically</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Smaller tables cost less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No cleanup job to run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Capacity mode sets how you pay for throughput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DynamoDB throughput capacity</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On-demand</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Pay per request</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No capacity to plan</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Good for spiky or new apps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Provisioned</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Set read and write units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Cheaper for steady traffic</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Can autoscale to demand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Keep large objects in S3, a pointer in DynamoDB</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4750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Best practices for storing large items…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The pattern</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Store the large object in S3</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Keep its key in DynamoDB</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Item stays under the limit</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Item size limit is 400 KB</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S3 holds the heavy data</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Queries stay fast and cheap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Step Functions orchestrates multi-step work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6847" y="2477199"/>
            <a:ext cx="2834640" cy="1005840"/>
          </a:xfrm>
          <a:prstGeom prst="roundRect">
            <a:avLst>
              <a:gd name="adj" fmla="val 12727"/>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Lambda_64.png"/>
          <p:cNvPicPr>
            <a:picLocks noChangeAspect="1"/>
          </p:cNvPicPr>
          <p:nvPr/>
        </p:nvPicPr>
        <p:blipFill>
          <a:blip r:embed="rId3"/>
          <a:stretch>
            <a:fillRect/>
          </a:stretch>
        </p:blipFill>
        <p:spPr>
          <a:xfrm>
            <a:off x="1128870" y="2751519"/>
            <a:ext cx="457200" cy="457200"/>
          </a:xfrm>
          <a:prstGeom prst="rect">
            <a:avLst/>
          </a:prstGeom>
        </p:spPr>
      </p:pic>
      <p:sp>
        <p:nvSpPr>
          <p:cNvPr id="6" name="TextBox 5"/>
          <p:cNvSpPr txBox="1"/>
          <p:nvPr/>
        </p:nvSpPr>
        <p:spPr>
          <a:xfrm>
            <a:off x="1695799" y="2833814"/>
            <a:ext cx="1947672" cy="292608"/>
          </a:xfrm>
          <a:prstGeom prst="rect">
            <a:avLst/>
          </a:prstGeom>
          <a:noFill/>
        </p:spPr>
        <p:txBody>
          <a:bodyPr wrap="square" anchor="ctr">
            <a:noAutofit/>
          </a:bodyPr>
          <a:lstStyle/>
          <a:p>
            <a:pPr algn="l"/>
            <a:r>
              <a:rPr sz="1600" b="1" i="0">
                <a:solidFill>
                  <a:srgbClr val="8F0072"/>
                </a:solidFill>
                <a:latin typeface="Amazon Ember Display"/>
              </a:rPr>
              <a:t>Validate order</a:t>
            </a:r>
          </a:p>
        </p:txBody>
      </p:sp>
      <p:sp>
        <p:nvSpPr>
          <p:cNvPr id="7" name="Diamond 6"/>
          <p:cNvSpPr/>
          <p:nvPr/>
        </p:nvSpPr>
        <p:spPr>
          <a:xfrm>
            <a:off x="4301838" y="2065718"/>
            <a:ext cx="2103120" cy="1828800"/>
          </a:xfrm>
          <a:prstGeom prst="diamond">
            <a:avLst/>
          </a:prstGeom>
          <a:solidFill>
            <a:srgbClr val="FFF5FE"/>
          </a:solidFill>
          <a:ln w="25400">
            <a:solidFill>
              <a:srgbClr val="5A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38999" y="2824671"/>
            <a:ext cx="1828799" cy="310896"/>
          </a:xfrm>
          <a:prstGeom prst="rect">
            <a:avLst/>
          </a:prstGeom>
          <a:noFill/>
        </p:spPr>
        <p:txBody>
          <a:bodyPr wrap="square" anchor="ctr">
            <a:noAutofit/>
          </a:bodyPr>
          <a:lstStyle/>
          <a:p>
            <a:pPr algn="ctr"/>
            <a:r>
              <a:rPr sz="1600" b="1" i="0">
                <a:solidFill>
                  <a:srgbClr val="232B37"/>
                </a:solidFill>
                <a:latin typeface="Amazon Ember Display"/>
              </a:rPr>
              <a:t>In stock?</a:t>
            </a:r>
          </a:p>
        </p:txBody>
      </p:sp>
      <p:sp>
        <p:nvSpPr>
          <p:cNvPr id="9" name="Freeform 8"/>
          <p:cNvSpPr/>
          <p:nvPr/>
        </p:nvSpPr>
        <p:spPr>
          <a:xfrm>
            <a:off x="3808063" y="2980119"/>
            <a:ext cx="420624" cy="0"/>
          </a:xfrm>
          <a:custGeom>
            <a:avLst/>
            <a:gdLst/>
            <a:ahLst/>
            <a:cxnLst/>
            <a:rect l="l" t="t" r="r" b="b"/>
            <a:pathLst>
              <a:path w="420624">
                <a:moveTo>
                  <a:pt x="0" y="0"/>
                </a:moveTo>
                <a:lnTo>
                  <a:pt x="420624"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4054951" y="2861247"/>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685119" y="1498791"/>
            <a:ext cx="329184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Arch_AWS-Lambda_64.png"/>
          <p:cNvPicPr>
            <a:picLocks noChangeAspect="1"/>
          </p:cNvPicPr>
          <p:nvPr/>
        </p:nvPicPr>
        <p:blipFill>
          <a:blip r:embed="rId3"/>
          <a:stretch>
            <a:fillRect/>
          </a:stretch>
        </p:blipFill>
        <p:spPr>
          <a:xfrm>
            <a:off x="7877143" y="1773111"/>
            <a:ext cx="457200" cy="457200"/>
          </a:xfrm>
          <a:prstGeom prst="rect">
            <a:avLst/>
          </a:prstGeom>
        </p:spPr>
      </p:pic>
      <p:sp>
        <p:nvSpPr>
          <p:cNvPr id="13" name="TextBox 12"/>
          <p:cNvSpPr txBox="1"/>
          <p:nvPr/>
        </p:nvSpPr>
        <p:spPr>
          <a:xfrm>
            <a:off x="8444071" y="1855407"/>
            <a:ext cx="2404872" cy="292608"/>
          </a:xfrm>
          <a:prstGeom prst="rect">
            <a:avLst/>
          </a:prstGeom>
          <a:noFill/>
        </p:spPr>
        <p:txBody>
          <a:bodyPr wrap="square" anchor="ctr">
            <a:noAutofit/>
          </a:bodyPr>
          <a:lstStyle/>
          <a:p>
            <a:pPr algn="l"/>
            <a:r>
              <a:rPr sz="1600" b="1" i="0">
                <a:solidFill>
                  <a:srgbClr val="8F0072"/>
                </a:solidFill>
                <a:latin typeface="Amazon Ember Display"/>
              </a:rPr>
              <a:t>Charge the card</a:t>
            </a:r>
          </a:p>
        </p:txBody>
      </p:sp>
      <p:sp>
        <p:nvSpPr>
          <p:cNvPr id="14" name="Freeform 13"/>
          <p:cNvSpPr/>
          <p:nvPr/>
        </p:nvSpPr>
        <p:spPr>
          <a:xfrm>
            <a:off x="6404958" y="2001711"/>
            <a:ext cx="1225297" cy="978408"/>
          </a:xfrm>
          <a:custGeom>
            <a:avLst/>
            <a:gdLst/>
            <a:ahLst/>
            <a:cxnLst/>
            <a:rect l="l" t="t" r="r" b="b"/>
            <a:pathLst>
              <a:path w="1225297" h="978408">
                <a:moveTo>
                  <a:pt x="0" y="978408"/>
                </a:moveTo>
                <a:lnTo>
                  <a:pt x="274321" y="978408"/>
                </a:lnTo>
                <a:lnTo>
                  <a:pt x="274321" y="0"/>
                </a:lnTo>
                <a:lnTo>
                  <a:pt x="1225297"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438231" y="1882839"/>
            <a:ext cx="192024" cy="237744"/>
          </a:xfrm>
          <a:custGeom>
            <a:avLst/>
            <a:gdLst/>
            <a:ahLst/>
            <a:cxnLst/>
            <a:rect l="l" t="t" r="r" b="b"/>
            <a:pathLst>
              <a:path w="192024" h="237744">
                <a:moveTo>
                  <a:pt x="0" y="0"/>
                </a:moveTo>
                <a:lnTo>
                  <a:pt x="192024" y="118872"/>
                </a:lnTo>
                <a:lnTo>
                  <a:pt x="0" y="237744"/>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43287" y="1672527"/>
            <a:ext cx="512064" cy="274320"/>
          </a:xfrm>
          <a:prstGeom prst="rect">
            <a:avLst/>
          </a:prstGeom>
          <a:noFill/>
        </p:spPr>
        <p:txBody>
          <a:bodyPr wrap="square" anchor="t">
            <a:noAutofit/>
          </a:bodyPr>
          <a:lstStyle/>
          <a:p>
            <a:pPr algn="ctr"/>
            <a:r>
              <a:rPr sz="1600" b="1" i="0">
                <a:solidFill>
                  <a:srgbClr val="8F0072"/>
                </a:solidFill>
                <a:latin typeface="Amazon Ember Display"/>
              </a:rPr>
              <a:t>yes</a:t>
            </a:r>
          </a:p>
        </p:txBody>
      </p:sp>
      <p:sp>
        <p:nvSpPr>
          <p:cNvPr id="17" name="Rounded Rectangle 16"/>
          <p:cNvSpPr/>
          <p:nvPr/>
        </p:nvSpPr>
        <p:spPr>
          <a:xfrm>
            <a:off x="7685119" y="3455607"/>
            <a:ext cx="329184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Arch_Amazon-Simple-Notification-Service_64.png"/>
          <p:cNvPicPr>
            <a:picLocks noChangeAspect="1"/>
          </p:cNvPicPr>
          <p:nvPr/>
        </p:nvPicPr>
        <p:blipFill>
          <a:blip r:embed="rId4"/>
          <a:stretch>
            <a:fillRect/>
          </a:stretch>
        </p:blipFill>
        <p:spPr>
          <a:xfrm>
            <a:off x="7877143" y="3729927"/>
            <a:ext cx="457200" cy="457200"/>
          </a:xfrm>
          <a:prstGeom prst="rect">
            <a:avLst/>
          </a:prstGeom>
        </p:spPr>
      </p:pic>
      <p:sp>
        <p:nvSpPr>
          <p:cNvPr id="19" name="TextBox 18"/>
          <p:cNvSpPr txBox="1"/>
          <p:nvPr/>
        </p:nvSpPr>
        <p:spPr>
          <a:xfrm>
            <a:off x="8444071" y="3812223"/>
            <a:ext cx="2404872" cy="292608"/>
          </a:xfrm>
          <a:prstGeom prst="rect">
            <a:avLst/>
          </a:prstGeom>
          <a:noFill/>
        </p:spPr>
        <p:txBody>
          <a:bodyPr wrap="square" anchor="ctr">
            <a:noAutofit/>
          </a:bodyPr>
          <a:lstStyle/>
          <a:p>
            <a:pPr algn="l"/>
            <a:r>
              <a:rPr sz="1600" b="1" i="0">
                <a:solidFill>
                  <a:srgbClr val="8F0072"/>
                </a:solidFill>
                <a:latin typeface="Amazon Ember Display"/>
              </a:rPr>
              <a:t>Notify the customer</a:t>
            </a:r>
          </a:p>
        </p:txBody>
      </p:sp>
      <p:sp>
        <p:nvSpPr>
          <p:cNvPr id="20" name="Freeform 19"/>
          <p:cNvSpPr/>
          <p:nvPr/>
        </p:nvSpPr>
        <p:spPr>
          <a:xfrm>
            <a:off x="6404958" y="2980119"/>
            <a:ext cx="1225297" cy="978408"/>
          </a:xfrm>
          <a:custGeom>
            <a:avLst/>
            <a:gdLst/>
            <a:ahLst/>
            <a:cxnLst/>
            <a:rect l="l" t="t" r="r" b="b"/>
            <a:pathLst>
              <a:path w="1225297" h="978408">
                <a:moveTo>
                  <a:pt x="0" y="0"/>
                </a:moveTo>
                <a:lnTo>
                  <a:pt x="274321" y="0"/>
                </a:lnTo>
                <a:lnTo>
                  <a:pt x="274321" y="978408"/>
                </a:lnTo>
                <a:lnTo>
                  <a:pt x="1225297" y="978408"/>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7438231" y="3839655"/>
            <a:ext cx="192024" cy="237744"/>
          </a:xfrm>
          <a:custGeom>
            <a:avLst/>
            <a:gdLst/>
            <a:ahLst/>
            <a:cxnLst/>
            <a:rect l="l" t="t" r="r" b="b"/>
            <a:pathLst>
              <a:path w="192024" h="237744">
                <a:moveTo>
                  <a:pt x="0" y="0"/>
                </a:moveTo>
                <a:lnTo>
                  <a:pt x="192024" y="118872"/>
                </a:lnTo>
                <a:lnTo>
                  <a:pt x="0" y="237744"/>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43287" y="3629343"/>
            <a:ext cx="512064" cy="274320"/>
          </a:xfrm>
          <a:prstGeom prst="rect">
            <a:avLst/>
          </a:prstGeom>
          <a:noFill/>
        </p:spPr>
        <p:txBody>
          <a:bodyPr wrap="square" anchor="t">
            <a:noAutofit/>
          </a:bodyPr>
          <a:lstStyle/>
          <a:p>
            <a:pPr algn="ctr"/>
            <a:r>
              <a:rPr sz="1600" b="1" i="0">
                <a:solidFill>
                  <a:srgbClr val="8F0072"/>
                </a:solidFill>
                <a:latin typeface="Amazon Ember Display"/>
              </a:rPr>
              <a:t>no</a:t>
            </a:r>
          </a:p>
        </p:txBody>
      </p:sp>
      <p:sp>
        <p:nvSpPr>
          <p:cNvPr id="23" name="TextBox 22"/>
          <p:cNvSpPr txBox="1"/>
          <p:nvPr/>
        </p:nvSpPr>
        <p:spPr>
          <a:xfrm>
            <a:off x="612648" y="4956048"/>
            <a:ext cx="10972800" cy="292608"/>
          </a:xfrm>
          <a:prstGeom prst="rect">
            <a:avLst/>
          </a:prstGeom>
          <a:noFill/>
        </p:spPr>
        <p:txBody>
          <a:bodyPr wrap="square" anchor="t">
            <a:noAutofit/>
          </a:bodyPr>
          <a:lstStyle/>
          <a:p>
            <a:pPr algn="ctr"/>
            <a:r>
              <a:rPr sz="1600" b="0" i="0">
                <a:solidFill>
                  <a:srgbClr val="5A6B7B"/>
                </a:solidFill>
                <a:latin typeface="Amazon Ember Display"/>
              </a:rPr>
              <a:t>Step Functions holds the state between steps, so no step has to remember the last one</a:t>
            </a:r>
          </a:p>
        </p:txBody>
      </p:sp>
      <p:sp>
        <p:nvSpPr>
          <p:cNvPr id="24" name="TextBox 23">
            <a:hlinkClick r:id="rId5"/>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What is Step Functions?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Managed services combine into one serverless app</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58951" y="2468880"/>
            <a:ext cx="2011680" cy="1280160"/>
          </a:xfrm>
          <a:prstGeom prst="roundRect">
            <a:avLst>
              <a:gd name="adj" fmla="val 10000"/>
            </a:avLst>
          </a:prstGeom>
          <a:solidFill>
            <a:srgbClr val="FFFFFF"/>
          </a:solidFill>
          <a:ln w="25400">
            <a:solidFill>
              <a:srgbClr val="232B3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API-Gateway_64.png"/>
          <p:cNvPicPr>
            <a:picLocks noChangeAspect="1"/>
          </p:cNvPicPr>
          <p:nvPr/>
        </p:nvPicPr>
        <p:blipFill>
          <a:blip r:embed="rId3"/>
          <a:stretch>
            <a:fillRect/>
          </a:stretch>
        </p:blipFill>
        <p:spPr>
          <a:xfrm>
            <a:off x="1536192" y="2679191"/>
            <a:ext cx="457200" cy="457200"/>
          </a:xfrm>
          <a:prstGeom prst="rect">
            <a:avLst/>
          </a:prstGeom>
        </p:spPr>
      </p:pic>
      <p:sp>
        <p:nvSpPr>
          <p:cNvPr id="6" name="TextBox 5"/>
          <p:cNvSpPr txBox="1"/>
          <p:nvPr/>
        </p:nvSpPr>
        <p:spPr>
          <a:xfrm>
            <a:off x="850391" y="3310128"/>
            <a:ext cx="1828800" cy="310896"/>
          </a:xfrm>
          <a:prstGeom prst="rect">
            <a:avLst/>
          </a:prstGeom>
          <a:noFill/>
        </p:spPr>
        <p:txBody>
          <a:bodyPr wrap="square" anchor="ctr">
            <a:noAutofit/>
          </a:bodyPr>
          <a:lstStyle/>
          <a:p>
            <a:pPr algn="ctr"/>
            <a:r>
              <a:rPr sz="1600" b="1" i="0">
                <a:solidFill>
                  <a:srgbClr val="232B37"/>
                </a:solidFill>
                <a:latin typeface="Amazon Ember Display"/>
              </a:rPr>
              <a:t>API Gateway</a:t>
            </a:r>
          </a:p>
        </p:txBody>
      </p:sp>
      <p:sp>
        <p:nvSpPr>
          <p:cNvPr id="7" name="Rounded Rectangle 6"/>
          <p:cNvSpPr/>
          <p:nvPr/>
        </p:nvSpPr>
        <p:spPr>
          <a:xfrm>
            <a:off x="3648456" y="2468880"/>
            <a:ext cx="2011680" cy="1280160"/>
          </a:xfrm>
          <a:prstGeom prst="roundRect">
            <a:avLst>
              <a:gd name="adj" fmla="val 10000"/>
            </a:avLst>
          </a:prstGeom>
          <a:solidFill>
            <a:srgbClr val="FFFFFF"/>
          </a:solidFill>
          <a:ln w="25400">
            <a:solidFill>
              <a:srgbClr val="232B3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Arch_AWS-Lambda_64.png"/>
          <p:cNvPicPr>
            <a:picLocks noChangeAspect="1"/>
          </p:cNvPicPr>
          <p:nvPr/>
        </p:nvPicPr>
        <p:blipFill>
          <a:blip r:embed="rId4"/>
          <a:stretch>
            <a:fillRect/>
          </a:stretch>
        </p:blipFill>
        <p:spPr>
          <a:xfrm>
            <a:off x="4425696" y="2679191"/>
            <a:ext cx="457200" cy="457200"/>
          </a:xfrm>
          <a:prstGeom prst="rect">
            <a:avLst/>
          </a:prstGeom>
        </p:spPr>
      </p:pic>
      <p:sp>
        <p:nvSpPr>
          <p:cNvPr id="9" name="TextBox 8"/>
          <p:cNvSpPr txBox="1"/>
          <p:nvPr/>
        </p:nvSpPr>
        <p:spPr>
          <a:xfrm>
            <a:off x="3739896" y="3310128"/>
            <a:ext cx="1828800" cy="310896"/>
          </a:xfrm>
          <a:prstGeom prst="rect">
            <a:avLst/>
          </a:prstGeom>
          <a:noFill/>
        </p:spPr>
        <p:txBody>
          <a:bodyPr wrap="square" anchor="ctr">
            <a:noAutofit/>
          </a:bodyPr>
          <a:lstStyle/>
          <a:p>
            <a:pPr algn="ctr"/>
            <a:r>
              <a:rPr sz="1600" b="1" i="0">
                <a:solidFill>
                  <a:srgbClr val="232B37"/>
                </a:solidFill>
                <a:latin typeface="Amazon Ember Display"/>
              </a:rPr>
              <a:t>Lambda</a:t>
            </a:r>
          </a:p>
        </p:txBody>
      </p:sp>
      <p:sp>
        <p:nvSpPr>
          <p:cNvPr id="10" name="Rounded Rectangle 9"/>
          <p:cNvSpPr/>
          <p:nvPr/>
        </p:nvSpPr>
        <p:spPr>
          <a:xfrm>
            <a:off x="6537960" y="2468880"/>
            <a:ext cx="2011680" cy="1280160"/>
          </a:xfrm>
          <a:prstGeom prst="roundRect">
            <a:avLst>
              <a:gd name="adj" fmla="val 10000"/>
            </a:avLst>
          </a:prstGeom>
          <a:solidFill>
            <a:srgbClr val="FFFFFF"/>
          </a:solidFill>
          <a:ln w="25400">
            <a:solidFill>
              <a:srgbClr val="232B3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rch_Amazon-DynamoDB_64.png"/>
          <p:cNvPicPr>
            <a:picLocks noChangeAspect="1"/>
          </p:cNvPicPr>
          <p:nvPr/>
        </p:nvPicPr>
        <p:blipFill>
          <a:blip r:embed="rId5"/>
          <a:stretch>
            <a:fillRect/>
          </a:stretch>
        </p:blipFill>
        <p:spPr>
          <a:xfrm>
            <a:off x="7315200" y="2679191"/>
            <a:ext cx="457200" cy="457200"/>
          </a:xfrm>
          <a:prstGeom prst="rect">
            <a:avLst/>
          </a:prstGeom>
        </p:spPr>
      </p:pic>
      <p:sp>
        <p:nvSpPr>
          <p:cNvPr id="12" name="TextBox 11"/>
          <p:cNvSpPr txBox="1"/>
          <p:nvPr/>
        </p:nvSpPr>
        <p:spPr>
          <a:xfrm>
            <a:off x="6629400" y="3310128"/>
            <a:ext cx="1828800" cy="310896"/>
          </a:xfrm>
          <a:prstGeom prst="rect">
            <a:avLst/>
          </a:prstGeom>
          <a:noFill/>
        </p:spPr>
        <p:txBody>
          <a:bodyPr wrap="square" anchor="ctr">
            <a:noAutofit/>
          </a:bodyPr>
          <a:lstStyle/>
          <a:p>
            <a:pPr algn="ctr"/>
            <a:r>
              <a:rPr sz="1600" b="1" i="0">
                <a:solidFill>
                  <a:srgbClr val="232B37"/>
                </a:solidFill>
                <a:latin typeface="Amazon Ember Display"/>
              </a:rPr>
              <a:t>DynamoDB</a:t>
            </a:r>
          </a:p>
        </p:txBody>
      </p:sp>
      <p:sp>
        <p:nvSpPr>
          <p:cNvPr id="13" name="Rounded Rectangle 12"/>
          <p:cNvSpPr/>
          <p:nvPr/>
        </p:nvSpPr>
        <p:spPr>
          <a:xfrm>
            <a:off x="9427464" y="2468880"/>
            <a:ext cx="2011680" cy="1280160"/>
          </a:xfrm>
          <a:prstGeom prst="roundRect">
            <a:avLst>
              <a:gd name="adj" fmla="val 10000"/>
            </a:avLst>
          </a:prstGeom>
          <a:solidFill>
            <a:srgbClr val="FFFFFF"/>
          </a:solidFill>
          <a:ln w="25400">
            <a:solidFill>
              <a:srgbClr val="232B3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Arch_Amazon-Simple-Notification-Service_64.png"/>
          <p:cNvPicPr>
            <a:picLocks noChangeAspect="1"/>
          </p:cNvPicPr>
          <p:nvPr/>
        </p:nvPicPr>
        <p:blipFill>
          <a:blip r:embed="rId6"/>
          <a:stretch>
            <a:fillRect/>
          </a:stretch>
        </p:blipFill>
        <p:spPr>
          <a:xfrm>
            <a:off x="10204704" y="2679191"/>
            <a:ext cx="457200" cy="457200"/>
          </a:xfrm>
          <a:prstGeom prst="rect">
            <a:avLst/>
          </a:prstGeom>
        </p:spPr>
      </p:pic>
      <p:sp>
        <p:nvSpPr>
          <p:cNvPr id="15" name="TextBox 14"/>
          <p:cNvSpPr txBox="1"/>
          <p:nvPr/>
        </p:nvSpPr>
        <p:spPr>
          <a:xfrm>
            <a:off x="9518904" y="3310128"/>
            <a:ext cx="1828800" cy="310896"/>
          </a:xfrm>
          <a:prstGeom prst="rect">
            <a:avLst/>
          </a:prstGeom>
          <a:noFill/>
        </p:spPr>
        <p:txBody>
          <a:bodyPr wrap="square" anchor="ctr">
            <a:noAutofit/>
          </a:bodyPr>
          <a:lstStyle/>
          <a:p>
            <a:pPr algn="ctr"/>
            <a:r>
              <a:rPr sz="1600" b="1" i="0">
                <a:solidFill>
                  <a:srgbClr val="232B37"/>
                </a:solidFill>
                <a:latin typeface="Amazon Ember Display"/>
              </a:rPr>
              <a:t>Amazon SNS</a:t>
            </a:r>
          </a:p>
        </p:txBody>
      </p:sp>
      <p:sp>
        <p:nvSpPr>
          <p:cNvPr id="16" name="Freeform 15"/>
          <p:cNvSpPr/>
          <p:nvPr/>
        </p:nvSpPr>
        <p:spPr>
          <a:xfrm>
            <a:off x="2816352" y="3108960"/>
            <a:ext cx="768096" cy="0"/>
          </a:xfrm>
          <a:custGeom>
            <a:avLst/>
            <a:gdLst/>
            <a:ahLst/>
            <a:cxnLst/>
            <a:rect l="l" t="t" r="r" b="b"/>
            <a:pathLst>
              <a:path w="768096">
                <a:moveTo>
                  <a:pt x="0" y="0"/>
                </a:moveTo>
                <a:lnTo>
                  <a:pt x="768096" y="0"/>
                </a:lnTo>
              </a:path>
            </a:pathLst>
          </a:custGeom>
          <a:noFill/>
          <a:ln w="25400" cap="rnd">
            <a:solidFill>
              <a:srgbClr val="232B37"/>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3410712" y="2990088"/>
            <a:ext cx="192024" cy="237744"/>
          </a:xfrm>
          <a:custGeom>
            <a:avLst/>
            <a:gdLst/>
            <a:ahLst/>
            <a:cxnLst/>
            <a:rect l="l" t="t" r="r" b="b"/>
            <a:pathLst>
              <a:path w="192024" h="237744">
                <a:moveTo>
                  <a:pt x="0" y="0"/>
                </a:moveTo>
                <a:lnTo>
                  <a:pt x="192024" y="118872"/>
                </a:lnTo>
                <a:lnTo>
                  <a:pt x="0" y="237744"/>
                </a:lnTo>
              </a:path>
            </a:pathLst>
          </a:custGeom>
          <a:noFill/>
          <a:ln w="25400" cap="rnd">
            <a:solidFill>
              <a:srgbClr val="232B37"/>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5705855" y="3108960"/>
            <a:ext cx="768097" cy="0"/>
          </a:xfrm>
          <a:custGeom>
            <a:avLst/>
            <a:gdLst/>
            <a:ahLst/>
            <a:cxnLst/>
            <a:rect l="l" t="t" r="r" b="b"/>
            <a:pathLst>
              <a:path w="768097">
                <a:moveTo>
                  <a:pt x="0" y="0"/>
                </a:moveTo>
                <a:lnTo>
                  <a:pt x="768097" y="0"/>
                </a:lnTo>
              </a:path>
            </a:pathLst>
          </a:custGeom>
          <a:noFill/>
          <a:ln w="25400" cap="rnd">
            <a:solidFill>
              <a:srgbClr val="232B37"/>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6300216" y="2990088"/>
            <a:ext cx="192024" cy="237744"/>
          </a:xfrm>
          <a:custGeom>
            <a:avLst/>
            <a:gdLst/>
            <a:ahLst/>
            <a:cxnLst/>
            <a:rect l="l" t="t" r="r" b="b"/>
            <a:pathLst>
              <a:path w="192024" h="237744">
                <a:moveTo>
                  <a:pt x="0" y="0"/>
                </a:moveTo>
                <a:lnTo>
                  <a:pt x="192024" y="118872"/>
                </a:lnTo>
                <a:lnTo>
                  <a:pt x="0" y="237744"/>
                </a:lnTo>
              </a:path>
            </a:pathLst>
          </a:custGeom>
          <a:noFill/>
          <a:ln w="25400" cap="rnd">
            <a:solidFill>
              <a:srgbClr val="232B37"/>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8595360" y="3108960"/>
            <a:ext cx="768096" cy="0"/>
          </a:xfrm>
          <a:custGeom>
            <a:avLst/>
            <a:gdLst/>
            <a:ahLst/>
            <a:cxnLst/>
            <a:rect l="l" t="t" r="r" b="b"/>
            <a:pathLst>
              <a:path w="768096">
                <a:moveTo>
                  <a:pt x="0" y="0"/>
                </a:moveTo>
                <a:lnTo>
                  <a:pt x="768096" y="0"/>
                </a:lnTo>
              </a:path>
            </a:pathLst>
          </a:custGeom>
          <a:noFill/>
          <a:ln w="25400" cap="rnd">
            <a:solidFill>
              <a:srgbClr val="232B37"/>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9189719" y="2990088"/>
            <a:ext cx="192025" cy="237744"/>
          </a:xfrm>
          <a:custGeom>
            <a:avLst/>
            <a:gdLst/>
            <a:ahLst/>
            <a:cxnLst/>
            <a:rect l="l" t="t" r="r" b="b"/>
            <a:pathLst>
              <a:path w="192025" h="237744">
                <a:moveTo>
                  <a:pt x="0" y="0"/>
                </a:moveTo>
                <a:lnTo>
                  <a:pt x="192025" y="118872"/>
                </a:lnTo>
                <a:lnTo>
                  <a:pt x="0" y="237744"/>
                </a:lnTo>
              </a:path>
            </a:pathLst>
          </a:custGeom>
          <a:noFill/>
          <a:ln w="25400" cap="rnd">
            <a:solidFill>
              <a:srgbClr val="232B37"/>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2648" y="4663440"/>
            <a:ext cx="10972800" cy="310896"/>
          </a:xfrm>
          <a:prstGeom prst="rect">
            <a:avLst/>
          </a:prstGeom>
          <a:noFill/>
        </p:spPr>
        <p:txBody>
          <a:bodyPr wrap="square" anchor="t">
            <a:noAutofit/>
          </a:bodyPr>
          <a:lstStyle/>
          <a:p>
            <a:pPr algn="ctr"/>
            <a:r>
              <a:rPr sz="1600" b="0" i="0">
                <a:solidFill>
                  <a:srgbClr val="232B37"/>
                </a:solidFill>
                <a:latin typeface="Amazon Ember Display"/>
              </a:rPr>
              <a:t>One request path, four managed services, no server you patch</a:t>
            </a:r>
          </a:p>
        </p:txBody>
      </p:sp>
      <p:sp>
        <p:nvSpPr>
          <p:cNvPr id="23" name="TextBox 22">
            <a:hlinkClick r:id="rId7"/>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7"/>
              </a:rPr>
              <a:t>docs.aws.amazon.com · What is AWS Lambda?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Which database fits the job?</a:t>
            </a:r>
          </a:p>
        </p:txBody>
      </p:sp>
      <p:sp>
        <p:nvSpPr>
          <p:cNvPr id="3" name="Text Placeholder 2"/>
          <p:cNvSpPr>
            <a:spLocks noGrp="1"/>
          </p:cNvSpPr>
          <p:nvPr>
            <p:ph type="body" sz="quarter" idx="11"/>
          </p:nvPr>
        </p:nvSpPr>
        <p:spPr>
          <a:xfrm>
            <a:off x="322916" y="2434551"/>
            <a:ext cx="4144213" cy="313932"/>
          </a:xfrm>
        </p:spPr>
        <p:txBody>
          <a:bodyPr/>
          <a:lstStyle/>
          <a:p>
            <a:r>
              <a:rPr sz="1800" b="1">
                <a:solidFill>
                  <a:srgbClr val="FF57E9"/>
                </a:solidFill>
                <a:latin typeface="Amazon Ember Display"/>
              </a:rPr>
              <a:t>AWS DATABASE OFFERINGS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AWS runs the database so you do not have to</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1093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Relational Database…</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Relational (managed)</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Amazon RDS runs the engine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Amazon Aurora for more scale</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Well-defined schema, SQL</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Non-relational (managed)</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DynamoDB for key-value at scale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DocumentDB for document data</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ElastiCache for in-memory speed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DynamoDB and relational fit different workloads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9264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Learn how to go from SQL to NoSQL</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Relational (RDBMS)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Fixed, normalized schema</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Ad hoc queries and joins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Great for OLAP and reporting</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Amazon DynamoDB</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Schemaless beyond the key</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Built for web-scale traffic</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Structured or JSON items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Why decouple with messaging?</a:t>
            </a:r>
          </a:p>
        </p:txBody>
      </p:sp>
      <p:sp>
        <p:nvSpPr>
          <p:cNvPr id="3" name="Text Placeholder 2"/>
          <p:cNvSpPr>
            <a:spLocks noGrp="1"/>
          </p:cNvSpPr>
          <p:nvPr>
            <p:ph type="body" sz="quarter" idx="11"/>
          </p:nvPr>
        </p:nvSpPr>
        <p:spPr>
          <a:xfrm>
            <a:off x="322916" y="2434551"/>
            <a:ext cx="4555540" cy="313932"/>
          </a:xfrm>
        </p:spPr>
        <p:txBody>
          <a:bodyPr/>
          <a:lstStyle/>
          <a:p>
            <a:r>
              <a:rPr sz="1800" b="1">
                <a:solidFill>
                  <a:srgbClr val="FF57E9"/>
                </a:solidFill>
                <a:latin typeface="Amazon Ember Display"/>
              </a:rPr>
              <a:t>DECOUPLING AND MESSAGING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queue lets producers and consumers run apart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011680"/>
            <a:ext cx="2651760" cy="2240280"/>
          </a:xfrm>
          <a:prstGeom prst="roundRect">
            <a:avLst>
              <a:gd name="adj" fmla="val 653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2130552"/>
            <a:ext cx="2651760" cy="292608"/>
          </a:xfrm>
          <a:prstGeom prst="rect">
            <a:avLst/>
          </a:prstGeom>
          <a:noFill/>
        </p:spPr>
        <p:txBody>
          <a:bodyPr wrap="square" anchor="ctr">
            <a:noAutofit/>
          </a:bodyPr>
          <a:lstStyle/>
          <a:p>
            <a:pPr algn="ctr"/>
            <a:r>
              <a:rPr sz="1600" b="1" i="0">
                <a:solidFill>
                  <a:srgbClr val="8F0072"/>
                </a:solidFill>
                <a:latin typeface="Amazon Ember Display"/>
              </a:rPr>
              <a:t>Producer</a:t>
            </a:r>
          </a:p>
        </p:txBody>
      </p:sp>
      <p:pic>
        <p:nvPicPr>
          <p:cNvPr id="6" name="Picture 5" descr="Arch_AWS-Lambda_64.png"/>
          <p:cNvPicPr>
            <a:picLocks noChangeAspect="1"/>
          </p:cNvPicPr>
          <p:nvPr/>
        </p:nvPicPr>
        <p:blipFill>
          <a:blip r:embed="rId3"/>
          <a:stretch>
            <a:fillRect/>
          </a:stretch>
        </p:blipFill>
        <p:spPr>
          <a:xfrm>
            <a:off x="1709928" y="2926080"/>
            <a:ext cx="457200" cy="457200"/>
          </a:xfrm>
          <a:prstGeom prst="rect">
            <a:avLst/>
          </a:prstGeom>
        </p:spPr>
      </p:pic>
      <p:sp>
        <p:nvSpPr>
          <p:cNvPr id="7" name="TextBox 6"/>
          <p:cNvSpPr txBox="1"/>
          <p:nvPr/>
        </p:nvSpPr>
        <p:spPr>
          <a:xfrm>
            <a:off x="704088" y="3547872"/>
            <a:ext cx="2468879" cy="292608"/>
          </a:xfrm>
          <a:prstGeom prst="rect">
            <a:avLst/>
          </a:prstGeom>
          <a:noFill/>
        </p:spPr>
        <p:txBody>
          <a:bodyPr wrap="square" anchor="ctr">
            <a:noAutofit/>
          </a:bodyPr>
          <a:lstStyle/>
          <a:p>
            <a:pPr algn="ctr"/>
            <a:r>
              <a:rPr sz="1600" b="0" i="0">
                <a:solidFill>
                  <a:srgbClr val="232B37"/>
                </a:solidFill>
                <a:latin typeface="Amazon Ember Display"/>
              </a:rPr>
              <a:t>sends and moves on</a:t>
            </a:r>
          </a:p>
        </p:txBody>
      </p:sp>
      <p:sp>
        <p:nvSpPr>
          <p:cNvPr id="8" name="Rounded Rectangle 7"/>
          <p:cNvSpPr/>
          <p:nvPr/>
        </p:nvSpPr>
        <p:spPr>
          <a:xfrm>
            <a:off x="3931920" y="1874519"/>
            <a:ext cx="4315968" cy="2560320"/>
          </a:xfrm>
          <a:prstGeom prst="roundRect">
            <a:avLst>
              <a:gd name="adj" fmla="val 5714"/>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Amazon-Simple-Queue-Service_64.png"/>
          <p:cNvPicPr>
            <a:picLocks noChangeAspect="1"/>
          </p:cNvPicPr>
          <p:nvPr/>
        </p:nvPicPr>
        <p:blipFill>
          <a:blip r:embed="rId4"/>
          <a:stretch>
            <a:fillRect/>
          </a:stretch>
        </p:blipFill>
        <p:spPr>
          <a:xfrm>
            <a:off x="4123944" y="2103120"/>
            <a:ext cx="457200" cy="457200"/>
          </a:xfrm>
          <a:prstGeom prst="rect">
            <a:avLst/>
          </a:prstGeom>
        </p:spPr>
      </p:pic>
      <p:sp>
        <p:nvSpPr>
          <p:cNvPr id="10" name="TextBox 9"/>
          <p:cNvSpPr txBox="1"/>
          <p:nvPr/>
        </p:nvSpPr>
        <p:spPr>
          <a:xfrm>
            <a:off x="4700016" y="2002536"/>
            <a:ext cx="2926080" cy="274320"/>
          </a:xfrm>
          <a:prstGeom prst="rect">
            <a:avLst/>
          </a:prstGeom>
          <a:noFill/>
        </p:spPr>
        <p:txBody>
          <a:bodyPr wrap="square" anchor="ctr">
            <a:noAutofit/>
          </a:bodyPr>
          <a:lstStyle/>
          <a:p>
            <a:pPr algn="l"/>
            <a:r>
              <a:rPr sz="1600" b="1" i="0">
                <a:solidFill>
                  <a:srgbClr val="8F0072"/>
                </a:solidFill>
                <a:latin typeface="Amazon Ember Display"/>
              </a:rPr>
              <a:t>QUEUE</a:t>
            </a:r>
          </a:p>
        </p:txBody>
      </p:sp>
      <p:sp>
        <p:nvSpPr>
          <p:cNvPr id="11" name="Rounded Rectangle 10"/>
          <p:cNvSpPr/>
          <p:nvPr/>
        </p:nvSpPr>
        <p:spPr>
          <a:xfrm>
            <a:off x="4389120" y="2788920"/>
            <a:ext cx="1005840" cy="1225296"/>
          </a:xfrm>
          <a:prstGeom prst="roundRect">
            <a:avLst>
              <a:gd name="adj" fmla="val 10909"/>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3264408"/>
            <a:ext cx="1005840" cy="274320"/>
          </a:xfrm>
          <a:prstGeom prst="rect">
            <a:avLst/>
          </a:prstGeom>
          <a:noFill/>
        </p:spPr>
        <p:txBody>
          <a:bodyPr wrap="square" anchor="ctr">
            <a:noAutofit/>
          </a:bodyPr>
          <a:lstStyle/>
          <a:p>
            <a:pPr algn="ctr"/>
            <a:r>
              <a:rPr sz="1600" b="0" i="0">
                <a:solidFill>
                  <a:srgbClr val="232B37"/>
                </a:solidFill>
                <a:latin typeface="Amazon Ember Display"/>
              </a:rPr>
              <a:t>msg</a:t>
            </a:r>
          </a:p>
        </p:txBody>
      </p:sp>
      <p:sp>
        <p:nvSpPr>
          <p:cNvPr id="13" name="Rounded Rectangle 12"/>
          <p:cNvSpPr/>
          <p:nvPr/>
        </p:nvSpPr>
        <p:spPr>
          <a:xfrm>
            <a:off x="5559552" y="2788920"/>
            <a:ext cx="1005840" cy="1225296"/>
          </a:xfrm>
          <a:prstGeom prst="roundRect">
            <a:avLst>
              <a:gd name="adj" fmla="val 10909"/>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559552" y="3264408"/>
            <a:ext cx="1005840" cy="274320"/>
          </a:xfrm>
          <a:prstGeom prst="rect">
            <a:avLst/>
          </a:prstGeom>
          <a:noFill/>
        </p:spPr>
        <p:txBody>
          <a:bodyPr wrap="square" anchor="ctr">
            <a:noAutofit/>
          </a:bodyPr>
          <a:lstStyle/>
          <a:p>
            <a:pPr algn="ctr"/>
            <a:r>
              <a:rPr sz="1600" b="0" i="0">
                <a:solidFill>
                  <a:srgbClr val="232B37"/>
                </a:solidFill>
                <a:latin typeface="Amazon Ember Display"/>
              </a:rPr>
              <a:t>msg</a:t>
            </a:r>
          </a:p>
        </p:txBody>
      </p:sp>
      <p:sp>
        <p:nvSpPr>
          <p:cNvPr id="15" name="Rounded Rectangle 14"/>
          <p:cNvSpPr/>
          <p:nvPr/>
        </p:nvSpPr>
        <p:spPr>
          <a:xfrm>
            <a:off x="6729983" y="2788920"/>
            <a:ext cx="1005840" cy="1225296"/>
          </a:xfrm>
          <a:prstGeom prst="roundRect">
            <a:avLst>
              <a:gd name="adj" fmla="val 10909"/>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729983" y="3264408"/>
            <a:ext cx="1005840" cy="274320"/>
          </a:xfrm>
          <a:prstGeom prst="rect">
            <a:avLst/>
          </a:prstGeom>
          <a:noFill/>
        </p:spPr>
        <p:txBody>
          <a:bodyPr wrap="square" anchor="ctr">
            <a:noAutofit/>
          </a:bodyPr>
          <a:lstStyle/>
          <a:p>
            <a:pPr algn="ctr"/>
            <a:r>
              <a:rPr sz="1600" b="0" i="0">
                <a:solidFill>
                  <a:srgbClr val="232B37"/>
                </a:solidFill>
                <a:latin typeface="Amazon Ember Display"/>
              </a:rPr>
              <a:t>msg</a:t>
            </a:r>
          </a:p>
        </p:txBody>
      </p:sp>
      <p:sp>
        <p:nvSpPr>
          <p:cNvPr id="17" name="Freeform 16"/>
          <p:cNvSpPr/>
          <p:nvPr/>
        </p:nvSpPr>
        <p:spPr>
          <a:xfrm>
            <a:off x="3300984" y="3154680"/>
            <a:ext cx="521208" cy="0"/>
          </a:xfrm>
          <a:custGeom>
            <a:avLst/>
            <a:gdLst/>
            <a:ahLst/>
            <a:cxnLst/>
            <a:rect l="l" t="t" r="r" b="b"/>
            <a:pathLst>
              <a:path w="521208">
                <a:moveTo>
                  <a:pt x="0" y="0"/>
                </a:moveTo>
                <a:lnTo>
                  <a:pt x="52120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3648456" y="303580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8302752" y="3154680"/>
            <a:ext cx="594360" cy="0"/>
          </a:xfrm>
          <a:custGeom>
            <a:avLst/>
            <a:gdLst/>
            <a:ahLst/>
            <a:cxnLst/>
            <a:rect l="l" t="t" r="r" b="b"/>
            <a:pathLst>
              <a:path w="594360">
                <a:moveTo>
                  <a:pt x="0" y="0"/>
                </a:moveTo>
                <a:lnTo>
                  <a:pt x="59436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8723376" y="303580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951976" y="2011680"/>
            <a:ext cx="2615184" cy="2240280"/>
          </a:xfrm>
          <a:prstGeom prst="roundRect">
            <a:avLst>
              <a:gd name="adj" fmla="val 653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951976" y="2130552"/>
            <a:ext cx="2615184" cy="292608"/>
          </a:xfrm>
          <a:prstGeom prst="rect">
            <a:avLst/>
          </a:prstGeom>
          <a:noFill/>
        </p:spPr>
        <p:txBody>
          <a:bodyPr wrap="square" anchor="ctr">
            <a:noAutofit/>
          </a:bodyPr>
          <a:lstStyle/>
          <a:p>
            <a:pPr algn="ctr"/>
            <a:r>
              <a:rPr sz="1600" b="1" i="0">
                <a:solidFill>
                  <a:srgbClr val="8F0072"/>
                </a:solidFill>
                <a:latin typeface="Amazon Ember Display"/>
              </a:rPr>
              <a:t>Consumer</a:t>
            </a:r>
          </a:p>
        </p:txBody>
      </p:sp>
      <p:pic>
        <p:nvPicPr>
          <p:cNvPr id="23" name="Picture 22" descr="Arch_AWS-Lambda_64.png"/>
          <p:cNvPicPr>
            <a:picLocks noChangeAspect="1"/>
          </p:cNvPicPr>
          <p:nvPr/>
        </p:nvPicPr>
        <p:blipFill>
          <a:blip r:embed="rId3"/>
          <a:stretch>
            <a:fillRect/>
          </a:stretch>
        </p:blipFill>
        <p:spPr>
          <a:xfrm>
            <a:off x="10030967" y="2926080"/>
            <a:ext cx="457200" cy="457200"/>
          </a:xfrm>
          <a:prstGeom prst="rect">
            <a:avLst/>
          </a:prstGeom>
        </p:spPr>
      </p:pic>
      <p:sp>
        <p:nvSpPr>
          <p:cNvPr id="24" name="TextBox 23"/>
          <p:cNvSpPr txBox="1"/>
          <p:nvPr/>
        </p:nvSpPr>
        <p:spPr>
          <a:xfrm>
            <a:off x="9043415" y="3547872"/>
            <a:ext cx="2432303" cy="292608"/>
          </a:xfrm>
          <a:prstGeom prst="rect">
            <a:avLst/>
          </a:prstGeom>
          <a:noFill/>
        </p:spPr>
        <p:txBody>
          <a:bodyPr wrap="square" anchor="ctr">
            <a:noAutofit/>
          </a:bodyPr>
          <a:lstStyle/>
          <a:p>
            <a:pPr algn="ctr"/>
            <a:r>
              <a:rPr sz="1600" b="0" i="0">
                <a:solidFill>
                  <a:srgbClr val="232B37"/>
                </a:solidFill>
                <a:latin typeface="Amazon Ember Display"/>
              </a:rPr>
              <a:t>reads when ready</a:t>
            </a:r>
          </a:p>
        </p:txBody>
      </p:sp>
      <p:sp>
        <p:nvSpPr>
          <p:cNvPr id="25" name="TextBox 24"/>
          <p:cNvSpPr txBox="1"/>
          <p:nvPr/>
        </p:nvSpPr>
        <p:spPr>
          <a:xfrm>
            <a:off x="3931920" y="4581144"/>
            <a:ext cx="4315968" cy="274320"/>
          </a:xfrm>
          <a:prstGeom prst="rect">
            <a:avLst/>
          </a:prstGeom>
          <a:noFill/>
        </p:spPr>
        <p:txBody>
          <a:bodyPr wrap="square" anchor="t">
            <a:noAutofit/>
          </a:bodyPr>
          <a:lstStyle/>
          <a:p>
            <a:pPr algn="ctr"/>
            <a:r>
              <a:rPr sz="1600" b="0" i="0">
                <a:solidFill>
                  <a:srgbClr val="5A6B7B"/>
                </a:solidFill>
                <a:latin typeface="Amazon Ember Display"/>
              </a:rPr>
              <a:t>messages wait until a worker takes them</a:t>
            </a:r>
          </a:p>
        </p:txBody>
      </p:sp>
      <p:sp>
        <p:nvSpPr>
          <p:cNvPr id="26" name="TextBox 25">
            <a:hlinkClick r:id="rId5"/>
          </p:cNvPr>
          <p:cNvSpPr txBox="1"/>
          <p:nvPr/>
        </p:nvSpPr>
        <p:spPr>
          <a:xfrm>
            <a:off x="612648" y="5943600"/>
            <a:ext cx="62007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What is Amazon Simple Queue Service?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Working backwards: a huge spike was coming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1093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DoorDash Processed More Than 10 Million…</a:t>
            </a:r>
          </a:p>
        </p:txBody>
      </p:sp>
      <p:sp>
        <p:nvSpPr>
          <p:cNvPr id="5" name="Rounded Rectangle 4"/>
          <p:cNvSpPr/>
          <p:nvPr/>
        </p:nvSpPr>
        <p:spPr>
          <a:xfrm>
            <a:off x="731520" y="2386584"/>
            <a:ext cx="5517489"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2386584"/>
            <a:ext cx="5005425" cy="731520"/>
          </a:xfrm>
          <a:prstGeom prst="rect">
            <a:avLst/>
          </a:prstGeom>
          <a:noFill/>
        </p:spPr>
        <p:txBody>
          <a:bodyPr wrap="square" anchor="ctr">
            <a:noAutofit/>
          </a:bodyPr>
          <a:lstStyle/>
          <a:p>
            <a:pPr algn="l"/>
            <a:r>
              <a:rPr sz="1900" b="0" i="0">
                <a:solidFill>
                  <a:srgbClr val="232B37"/>
                </a:solidFill>
                <a:latin typeface="Amazon Ember Display"/>
              </a:rPr>
              <a:t>A TV ad drove a sudden traffic spike</a:t>
            </a:r>
          </a:p>
        </p:txBody>
      </p:sp>
      <p:sp>
        <p:nvSpPr>
          <p:cNvPr id="7" name="Freeform 6"/>
          <p:cNvSpPr/>
          <p:nvPr/>
        </p:nvSpPr>
        <p:spPr>
          <a:xfrm>
            <a:off x="6450177" y="275234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6687921" y="263347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081113" y="2386584"/>
            <a:ext cx="4504334"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00569" y="2418171"/>
            <a:ext cx="4065422" cy="310896"/>
          </a:xfrm>
          <a:prstGeom prst="rect">
            <a:avLst/>
          </a:prstGeom>
          <a:noFill/>
        </p:spPr>
        <p:txBody>
          <a:bodyPr wrap="square" anchor="t">
            <a:noAutofit/>
          </a:bodyPr>
          <a:lstStyle/>
          <a:p>
            <a:pPr algn="l"/>
            <a:r>
              <a:rPr sz="2000" b="1" i="0">
                <a:solidFill>
                  <a:srgbClr val="8F0072"/>
                </a:solidFill>
                <a:latin typeface="Amazon Ember Display"/>
              </a:rPr>
              <a:t>Serverless over servers</a:t>
            </a:r>
          </a:p>
        </p:txBody>
      </p:sp>
      <p:sp>
        <p:nvSpPr>
          <p:cNvPr id="11" name="TextBox 10"/>
          <p:cNvSpPr txBox="1"/>
          <p:nvPr/>
        </p:nvSpPr>
        <p:spPr>
          <a:xfrm>
            <a:off x="7300569" y="2747355"/>
            <a:ext cx="4065422" cy="292608"/>
          </a:xfrm>
          <a:prstGeom prst="rect">
            <a:avLst/>
          </a:prstGeom>
          <a:noFill/>
        </p:spPr>
        <p:txBody>
          <a:bodyPr wrap="square" anchor="t">
            <a:noAutofit/>
          </a:bodyPr>
          <a:lstStyle/>
          <a:p>
            <a:pPr algn="l"/>
            <a:r>
              <a:rPr sz="1800" b="0" i="0">
                <a:solidFill>
                  <a:srgbClr val="232B37"/>
                </a:solidFill>
                <a:latin typeface="Amazon Ember Display"/>
              </a:rPr>
              <a:t>no capacity to pre-provision</a:t>
            </a:r>
          </a:p>
        </p:txBody>
      </p:sp>
      <p:sp>
        <p:nvSpPr>
          <p:cNvPr id="12" name="Rounded Rectangle 11"/>
          <p:cNvSpPr/>
          <p:nvPr/>
        </p:nvSpPr>
        <p:spPr>
          <a:xfrm>
            <a:off x="731520" y="3209544"/>
            <a:ext cx="5517489"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3209544"/>
            <a:ext cx="5005425" cy="731520"/>
          </a:xfrm>
          <a:prstGeom prst="rect">
            <a:avLst/>
          </a:prstGeom>
          <a:noFill/>
        </p:spPr>
        <p:txBody>
          <a:bodyPr wrap="square" anchor="ctr">
            <a:noAutofit/>
          </a:bodyPr>
          <a:lstStyle/>
          <a:p>
            <a:pPr algn="l"/>
            <a:r>
              <a:rPr sz="1900" b="0" i="0">
                <a:solidFill>
                  <a:srgbClr val="232B37"/>
                </a:solidFill>
                <a:latin typeface="Amazon Ember Display"/>
              </a:rPr>
              <a:t>Millions could enter at once</a:t>
            </a:r>
          </a:p>
        </p:txBody>
      </p:sp>
      <p:sp>
        <p:nvSpPr>
          <p:cNvPr id="14" name="Freeform 13"/>
          <p:cNvSpPr/>
          <p:nvPr/>
        </p:nvSpPr>
        <p:spPr>
          <a:xfrm>
            <a:off x="6450177" y="357530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6687921" y="345643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081113" y="3209544"/>
            <a:ext cx="4504334"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300569" y="3241131"/>
            <a:ext cx="4065422" cy="310896"/>
          </a:xfrm>
          <a:prstGeom prst="rect">
            <a:avLst/>
          </a:prstGeom>
          <a:noFill/>
        </p:spPr>
        <p:txBody>
          <a:bodyPr wrap="square" anchor="t">
            <a:noAutofit/>
          </a:bodyPr>
          <a:lstStyle/>
          <a:p>
            <a:pPr algn="l"/>
            <a:r>
              <a:rPr sz="2000" b="1" i="0">
                <a:solidFill>
                  <a:srgbClr val="8F0072"/>
                </a:solidFill>
                <a:latin typeface="Amazon Ember Display"/>
              </a:rPr>
              <a:t>Event-driven architecture</a:t>
            </a:r>
          </a:p>
        </p:txBody>
      </p:sp>
      <p:sp>
        <p:nvSpPr>
          <p:cNvPr id="18" name="TextBox 17"/>
          <p:cNvSpPr txBox="1"/>
          <p:nvPr/>
        </p:nvSpPr>
        <p:spPr>
          <a:xfrm>
            <a:off x="7300569" y="3570315"/>
            <a:ext cx="4065422" cy="292608"/>
          </a:xfrm>
          <a:prstGeom prst="rect">
            <a:avLst/>
          </a:prstGeom>
          <a:noFill/>
        </p:spPr>
        <p:txBody>
          <a:bodyPr wrap="square" anchor="t">
            <a:noAutofit/>
          </a:bodyPr>
          <a:lstStyle/>
          <a:p>
            <a:pPr algn="l"/>
            <a:r>
              <a:rPr sz="1800" b="0" i="0">
                <a:solidFill>
                  <a:srgbClr val="232B37"/>
                </a:solidFill>
                <a:latin typeface="Amazon Ember Display"/>
              </a:rPr>
              <a:t>API Gateway fronts the intake</a:t>
            </a:r>
          </a:p>
        </p:txBody>
      </p:sp>
      <p:sp>
        <p:nvSpPr>
          <p:cNvPr id="19" name="Rounded Rectangle 18"/>
          <p:cNvSpPr/>
          <p:nvPr/>
        </p:nvSpPr>
        <p:spPr>
          <a:xfrm>
            <a:off x="731520" y="4032504"/>
            <a:ext cx="5517489"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4032504"/>
            <a:ext cx="5005425" cy="731520"/>
          </a:xfrm>
          <a:prstGeom prst="rect">
            <a:avLst/>
          </a:prstGeom>
          <a:noFill/>
        </p:spPr>
        <p:txBody>
          <a:bodyPr wrap="square" anchor="ctr">
            <a:noAutofit/>
          </a:bodyPr>
          <a:lstStyle/>
          <a:p>
            <a:pPr algn="l"/>
            <a:r>
              <a:rPr sz="1900" b="0" i="0">
                <a:solidFill>
                  <a:srgbClr val="232B37"/>
                </a:solidFill>
                <a:latin typeface="Amazon Ember Display"/>
              </a:rPr>
              <a:t>Intake must not stall</a:t>
            </a:r>
          </a:p>
        </p:txBody>
      </p:sp>
      <p:sp>
        <p:nvSpPr>
          <p:cNvPr id="21" name="Freeform 20"/>
          <p:cNvSpPr/>
          <p:nvPr/>
        </p:nvSpPr>
        <p:spPr>
          <a:xfrm>
            <a:off x="6450177" y="439826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6687921" y="427939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081113" y="4032504"/>
            <a:ext cx="4504334"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00569" y="4064091"/>
            <a:ext cx="4065422" cy="310896"/>
          </a:xfrm>
          <a:prstGeom prst="rect">
            <a:avLst/>
          </a:prstGeom>
          <a:noFill/>
        </p:spPr>
        <p:txBody>
          <a:bodyPr wrap="square" anchor="t">
            <a:noAutofit/>
          </a:bodyPr>
          <a:lstStyle/>
          <a:p>
            <a:pPr algn="l"/>
            <a:r>
              <a:rPr sz="2000" b="1" i="0">
                <a:solidFill>
                  <a:srgbClr val="8F0072"/>
                </a:solidFill>
                <a:latin typeface="Amazon Ember Display"/>
              </a:rPr>
              <a:t>Decouple with a queue</a:t>
            </a:r>
          </a:p>
        </p:txBody>
      </p:sp>
      <p:sp>
        <p:nvSpPr>
          <p:cNvPr id="25" name="TextBox 24"/>
          <p:cNvSpPr txBox="1"/>
          <p:nvPr/>
        </p:nvSpPr>
        <p:spPr>
          <a:xfrm>
            <a:off x="7300569" y="4393275"/>
            <a:ext cx="4065422" cy="292608"/>
          </a:xfrm>
          <a:prstGeom prst="rect">
            <a:avLst/>
          </a:prstGeom>
          <a:noFill/>
        </p:spPr>
        <p:txBody>
          <a:bodyPr wrap="square" anchor="t">
            <a:noAutofit/>
          </a:bodyPr>
          <a:lstStyle/>
          <a:p>
            <a:pPr algn="l"/>
            <a:r>
              <a:rPr sz="1800" b="0" i="0">
                <a:solidFill>
                  <a:srgbClr val="232B37"/>
                </a:solidFill>
                <a:latin typeface="Amazon Ember Display"/>
              </a:rPr>
              <a:t>Amazon SQS buffers, Lambda drains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topic pushes one message to many subscribers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SNS?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SNS is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Fully managed pub/sub messaging</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Publishers send to a topic</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Subscribers receive each message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Key benefits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Filter so subscribers get only theirs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Fan out one event to many targets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Encryption, retries, and a DLQ</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One publish fans out to many parallel consumers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834640"/>
            <a:ext cx="3108960" cy="1371600"/>
          </a:xfrm>
          <a:prstGeom prst="roundRect">
            <a:avLst>
              <a:gd name="adj" fmla="val 93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Lambda_64.png"/>
          <p:cNvPicPr>
            <a:picLocks noChangeAspect="1"/>
          </p:cNvPicPr>
          <p:nvPr/>
        </p:nvPicPr>
        <p:blipFill>
          <a:blip r:embed="rId3"/>
          <a:stretch>
            <a:fillRect/>
          </a:stretch>
        </p:blipFill>
        <p:spPr>
          <a:xfrm>
            <a:off x="804671" y="3291840"/>
            <a:ext cx="457200" cy="457200"/>
          </a:xfrm>
          <a:prstGeom prst="rect">
            <a:avLst/>
          </a:prstGeom>
        </p:spPr>
      </p:pic>
      <p:sp>
        <p:nvSpPr>
          <p:cNvPr id="6" name="TextBox 5"/>
          <p:cNvSpPr txBox="1"/>
          <p:nvPr/>
        </p:nvSpPr>
        <p:spPr>
          <a:xfrm>
            <a:off x="1371600" y="3209544"/>
            <a:ext cx="2221991" cy="292608"/>
          </a:xfrm>
          <a:prstGeom prst="rect">
            <a:avLst/>
          </a:prstGeom>
          <a:noFill/>
        </p:spPr>
        <p:txBody>
          <a:bodyPr wrap="square" anchor="ctr">
            <a:noAutofit/>
          </a:bodyPr>
          <a:lstStyle/>
          <a:p>
            <a:pPr algn="l"/>
            <a:r>
              <a:rPr sz="1600" b="1" i="0">
                <a:solidFill>
                  <a:srgbClr val="8F0072"/>
                </a:solidFill>
                <a:latin typeface="Amazon Ember Display"/>
              </a:rPr>
              <a:t>Publisher</a:t>
            </a:r>
          </a:p>
        </p:txBody>
      </p:sp>
      <p:sp>
        <p:nvSpPr>
          <p:cNvPr id="7" name="TextBox 6"/>
          <p:cNvSpPr txBox="1"/>
          <p:nvPr/>
        </p:nvSpPr>
        <p:spPr>
          <a:xfrm>
            <a:off x="1371600" y="3529584"/>
            <a:ext cx="2221991" cy="292608"/>
          </a:xfrm>
          <a:prstGeom prst="rect">
            <a:avLst/>
          </a:prstGeom>
          <a:noFill/>
        </p:spPr>
        <p:txBody>
          <a:bodyPr wrap="square" anchor="ctr">
            <a:noAutofit/>
          </a:bodyPr>
          <a:lstStyle/>
          <a:p>
            <a:pPr algn="l"/>
            <a:r>
              <a:rPr sz="1600" b="0" i="0">
                <a:solidFill>
                  <a:srgbClr val="232B37"/>
                </a:solidFill>
                <a:latin typeface="Amazon Ember Display"/>
              </a:rPr>
              <a:t>sends one message</a:t>
            </a:r>
          </a:p>
        </p:txBody>
      </p:sp>
      <p:sp>
        <p:nvSpPr>
          <p:cNvPr id="8" name="Rounded Rectangle 7"/>
          <p:cNvSpPr/>
          <p:nvPr/>
        </p:nvSpPr>
        <p:spPr>
          <a:xfrm>
            <a:off x="4297680" y="2743200"/>
            <a:ext cx="2377440" cy="1554480"/>
          </a:xfrm>
          <a:prstGeom prst="roundRect">
            <a:avLst>
              <a:gd name="adj" fmla="val 9411"/>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Amazon-Simple-Notification-Service_64.png"/>
          <p:cNvPicPr>
            <a:picLocks noChangeAspect="1"/>
          </p:cNvPicPr>
          <p:nvPr/>
        </p:nvPicPr>
        <p:blipFill>
          <a:blip r:embed="rId4"/>
          <a:stretch>
            <a:fillRect/>
          </a:stretch>
        </p:blipFill>
        <p:spPr>
          <a:xfrm>
            <a:off x="5257800" y="3044952"/>
            <a:ext cx="457200" cy="457200"/>
          </a:xfrm>
          <a:prstGeom prst="rect">
            <a:avLst/>
          </a:prstGeom>
        </p:spPr>
      </p:pic>
      <p:sp>
        <p:nvSpPr>
          <p:cNvPr id="10" name="TextBox 9"/>
          <p:cNvSpPr txBox="1"/>
          <p:nvPr/>
        </p:nvSpPr>
        <p:spPr>
          <a:xfrm>
            <a:off x="4297680" y="3657600"/>
            <a:ext cx="2377440" cy="292608"/>
          </a:xfrm>
          <a:prstGeom prst="rect">
            <a:avLst/>
          </a:prstGeom>
          <a:noFill/>
        </p:spPr>
        <p:txBody>
          <a:bodyPr wrap="square" anchor="ctr">
            <a:noAutofit/>
          </a:bodyPr>
          <a:lstStyle/>
          <a:p>
            <a:pPr algn="ctr"/>
            <a:r>
              <a:rPr sz="1600" b="1" i="0">
                <a:solidFill>
                  <a:srgbClr val="8F0072"/>
                </a:solidFill>
                <a:latin typeface="Amazon Ember Display"/>
              </a:rPr>
              <a:t>TOPIC</a:t>
            </a:r>
          </a:p>
        </p:txBody>
      </p:sp>
      <p:sp>
        <p:nvSpPr>
          <p:cNvPr id="11" name="Freeform 10"/>
          <p:cNvSpPr/>
          <p:nvPr/>
        </p:nvSpPr>
        <p:spPr>
          <a:xfrm>
            <a:off x="3758184" y="3520440"/>
            <a:ext cx="448056" cy="0"/>
          </a:xfrm>
          <a:custGeom>
            <a:avLst/>
            <a:gdLst/>
            <a:ahLst/>
            <a:cxnLst/>
            <a:rect l="l" t="t" r="r" b="b"/>
            <a:pathLst>
              <a:path w="448056">
                <a:moveTo>
                  <a:pt x="0" y="0"/>
                </a:moveTo>
                <a:lnTo>
                  <a:pt x="448056"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eeform 11"/>
          <p:cNvSpPr/>
          <p:nvPr/>
        </p:nvSpPr>
        <p:spPr>
          <a:xfrm>
            <a:off x="4032504" y="34015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6675120" y="3520440"/>
            <a:ext cx="731520" cy="0"/>
          </a:xfrm>
          <a:custGeom>
            <a:avLst/>
            <a:gdLst/>
            <a:ahLst/>
            <a:cxnLst/>
            <a:rect l="l" t="t" r="r" b="b"/>
            <a:pathLst>
              <a:path w="731520">
                <a:moveTo>
                  <a:pt x="0" y="0"/>
                </a:moveTo>
                <a:lnTo>
                  <a:pt x="731520"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7406640" y="2286000"/>
            <a:ext cx="0" cy="2468880"/>
          </a:xfrm>
          <a:custGeom>
            <a:avLst/>
            <a:gdLst/>
            <a:ahLst/>
            <a:cxnLst/>
            <a:rect l="l" t="t" r="r" b="b"/>
            <a:pathLst>
              <a:path h="2468880">
                <a:moveTo>
                  <a:pt x="0" y="0"/>
                </a:moveTo>
                <a:lnTo>
                  <a:pt x="0" y="246888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275320" y="1783080"/>
            <a:ext cx="329184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Arch_Amazon-Simple-Queue-Service_64.png"/>
          <p:cNvPicPr>
            <a:picLocks noChangeAspect="1"/>
          </p:cNvPicPr>
          <p:nvPr/>
        </p:nvPicPr>
        <p:blipFill>
          <a:blip r:embed="rId5"/>
          <a:stretch>
            <a:fillRect/>
          </a:stretch>
        </p:blipFill>
        <p:spPr>
          <a:xfrm>
            <a:off x="8467344" y="2057400"/>
            <a:ext cx="457200" cy="457200"/>
          </a:xfrm>
          <a:prstGeom prst="rect">
            <a:avLst/>
          </a:prstGeom>
        </p:spPr>
      </p:pic>
      <p:sp>
        <p:nvSpPr>
          <p:cNvPr id="17" name="TextBox 16"/>
          <p:cNvSpPr txBox="1"/>
          <p:nvPr/>
        </p:nvSpPr>
        <p:spPr>
          <a:xfrm>
            <a:off x="9034272" y="1975104"/>
            <a:ext cx="2404872" cy="292608"/>
          </a:xfrm>
          <a:prstGeom prst="rect">
            <a:avLst/>
          </a:prstGeom>
          <a:noFill/>
        </p:spPr>
        <p:txBody>
          <a:bodyPr wrap="square" anchor="ctr">
            <a:noAutofit/>
          </a:bodyPr>
          <a:lstStyle/>
          <a:p>
            <a:pPr algn="l"/>
            <a:r>
              <a:rPr sz="1600" b="1" i="0">
                <a:solidFill>
                  <a:srgbClr val="8F0072"/>
                </a:solidFill>
                <a:latin typeface="Amazon Ember Display"/>
              </a:rPr>
              <a:t>Queue</a:t>
            </a:r>
          </a:p>
        </p:txBody>
      </p:sp>
      <p:sp>
        <p:nvSpPr>
          <p:cNvPr id="18" name="TextBox 17"/>
          <p:cNvSpPr txBox="1"/>
          <p:nvPr/>
        </p:nvSpPr>
        <p:spPr>
          <a:xfrm>
            <a:off x="9034272" y="2295144"/>
            <a:ext cx="2404872" cy="292608"/>
          </a:xfrm>
          <a:prstGeom prst="rect">
            <a:avLst/>
          </a:prstGeom>
          <a:noFill/>
        </p:spPr>
        <p:txBody>
          <a:bodyPr wrap="square" anchor="ctr">
            <a:noAutofit/>
          </a:bodyPr>
          <a:lstStyle/>
          <a:p>
            <a:pPr algn="l"/>
            <a:r>
              <a:rPr sz="1600" b="0" i="0">
                <a:solidFill>
                  <a:srgbClr val="232B37"/>
                </a:solidFill>
                <a:latin typeface="Amazon Ember Display"/>
              </a:rPr>
              <a:t>for slow work</a:t>
            </a:r>
          </a:p>
        </p:txBody>
      </p:sp>
      <p:sp>
        <p:nvSpPr>
          <p:cNvPr id="19" name="Freeform 18"/>
          <p:cNvSpPr/>
          <p:nvPr/>
        </p:nvSpPr>
        <p:spPr>
          <a:xfrm>
            <a:off x="7406640" y="2286000"/>
            <a:ext cx="704088" cy="0"/>
          </a:xfrm>
          <a:custGeom>
            <a:avLst/>
            <a:gdLst/>
            <a:ahLst/>
            <a:cxnLst/>
            <a:rect l="l" t="t" r="r" b="b"/>
            <a:pathLst>
              <a:path w="704088">
                <a:moveTo>
                  <a:pt x="0" y="0"/>
                </a:moveTo>
                <a:lnTo>
                  <a:pt x="70408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7936992" y="216712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275320" y="3017520"/>
            <a:ext cx="329184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Arch_AWS-Lambda_64.png"/>
          <p:cNvPicPr>
            <a:picLocks noChangeAspect="1"/>
          </p:cNvPicPr>
          <p:nvPr/>
        </p:nvPicPr>
        <p:blipFill>
          <a:blip r:embed="rId3"/>
          <a:stretch>
            <a:fillRect/>
          </a:stretch>
        </p:blipFill>
        <p:spPr>
          <a:xfrm>
            <a:off x="8467344" y="3291839"/>
            <a:ext cx="457200" cy="457200"/>
          </a:xfrm>
          <a:prstGeom prst="rect">
            <a:avLst/>
          </a:prstGeom>
        </p:spPr>
      </p:pic>
      <p:sp>
        <p:nvSpPr>
          <p:cNvPr id="23" name="TextBox 22"/>
          <p:cNvSpPr txBox="1"/>
          <p:nvPr/>
        </p:nvSpPr>
        <p:spPr>
          <a:xfrm>
            <a:off x="9034272" y="3209544"/>
            <a:ext cx="2404872" cy="292608"/>
          </a:xfrm>
          <a:prstGeom prst="rect">
            <a:avLst/>
          </a:prstGeom>
          <a:noFill/>
        </p:spPr>
        <p:txBody>
          <a:bodyPr wrap="square" anchor="ctr">
            <a:noAutofit/>
          </a:bodyPr>
          <a:lstStyle/>
          <a:p>
            <a:pPr algn="l"/>
            <a:r>
              <a:rPr sz="1600" b="1" i="0">
                <a:solidFill>
                  <a:srgbClr val="8F0072"/>
                </a:solidFill>
                <a:latin typeface="Amazon Ember Display"/>
              </a:rPr>
              <a:t>Function</a:t>
            </a:r>
          </a:p>
        </p:txBody>
      </p:sp>
      <p:sp>
        <p:nvSpPr>
          <p:cNvPr id="24" name="TextBox 23"/>
          <p:cNvSpPr txBox="1"/>
          <p:nvPr/>
        </p:nvSpPr>
        <p:spPr>
          <a:xfrm>
            <a:off x="9034272" y="3529583"/>
            <a:ext cx="2404872" cy="292608"/>
          </a:xfrm>
          <a:prstGeom prst="rect">
            <a:avLst/>
          </a:prstGeom>
          <a:noFill/>
        </p:spPr>
        <p:txBody>
          <a:bodyPr wrap="square" anchor="ctr">
            <a:noAutofit/>
          </a:bodyPr>
          <a:lstStyle/>
          <a:p>
            <a:pPr algn="l"/>
            <a:r>
              <a:rPr sz="1600" b="0" i="0">
                <a:solidFill>
                  <a:srgbClr val="232B37"/>
                </a:solidFill>
                <a:latin typeface="Amazon Ember Display"/>
              </a:rPr>
              <a:t>runs at once</a:t>
            </a:r>
          </a:p>
        </p:txBody>
      </p:sp>
      <p:sp>
        <p:nvSpPr>
          <p:cNvPr id="25" name="Freeform 24"/>
          <p:cNvSpPr/>
          <p:nvPr/>
        </p:nvSpPr>
        <p:spPr>
          <a:xfrm>
            <a:off x="7406640" y="3520439"/>
            <a:ext cx="704088" cy="0"/>
          </a:xfrm>
          <a:custGeom>
            <a:avLst/>
            <a:gdLst/>
            <a:ahLst/>
            <a:cxnLst/>
            <a:rect l="l" t="t" r="r" b="b"/>
            <a:pathLst>
              <a:path w="704088">
                <a:moveTo>
                  <a:pt x="0" y="0"/>
                </a:moveTo>
                <a:lnTo>
                  <a:pt x="70408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7936992" y="3401568"/>
            <a:ext cx="192024" cy="237743"/>
          </a:xfrm>
          <a:custGeom>
            <a:avLst/>
            <a:gdLst/>
            <a:ahLst/>
            <a:cxnLst/>
            <a:rect l="l" t="t" r="r" b="b"/>
            <a:pathLst>
              <a:path w="192024" h="237743">
                <a:moveTo>
                  <a:pt x="0" y="0"/>
                </a:moveTo>
                <a:lnTo>
                  <a:pt x="192024" y="118871"/>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275320" y="4251960"/>
            <a:ext cx="3291840"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Arch_Amazon-Simple-Storage-Service_64.png"/>
          <p:cNvPicPr>
            <a:picLocks noChangeAspect="1"/>
          </p:cNvPicPr>
          <p:nvPr/>
        </p:nvPicPr>
        <p:blipFill>
          <a:blip r:embed="rId6"/>
          <a:stretch>
            <a:fillRect/>
          </a:stretch>
        </p:blipFill>
        <p:spPr>
          <a:xfrm>
            <a:off x="8467344" y="4526280"/>
            <a:ext cx="457200" cy="457200"/>
          </a:xfrm>
          <a:prstGeom prst="rect">
            <a:avLst/>
          </a:prstGeom>
        </p:spPr>
      </p:pic>
      <p:sp>
        <p:nvSpPr>
          <p:cNvPr id="29" name="TextBox 28"/>
          <p:cNvSpPr txBox="1"/>
          <p:nvPr/>
        </p:nvSpPr>
        <p:spPr>
          <a:xfrm>
            <a:off x="9034272" y="4443984"/>
            <a:ext cx="2404872" cy="292608"/>
          </a:xfrm>
          <a:prstGeom prst="rect">
            <a:avLst/>
          </a:prstGeom>
          <a:noFill/>
        </p:spPr>
        <p:txBody>
          <a:bodyPr wrap="square" anchor="ctr">
            <a:noAutofit/>
          </a:bodyPr>
          <a:lstStyle/>
          <a:p>
            <a:pPr algn="l"/>
            <a:r>
              <a:rPr sz="1600" b="1" i="0">
                <a:solidFill>
                  <a:srgbClr val="8F0072"/>
                </a:solidFill>
                <a:latin typeface="Amazon Ember Display"/>
              </a:rPr>
              <a:t>Archive</a:t>
            </a:r>
          </a:p>
        </p:txBody>
      </p:sp>
      <p:sp>
        <p:nvSpPr>
          <p:cNvPr id="30" name="TextBox 29"/>
          <p:cNvSpPr txBox="1"/>
          <p:nvPr/>
        </p:nvSpPr>
        <p:spPr>
          <a:xfrm>
            <a:off x="9034272" y="4764024"/>
            <a:ext cx="2404872" cy="292608"/>
          </a:xfrm>
          <a:prstGeom prst="rect">
            <a:avLst/>
          </a:prstGeom>
          <a:noFill/>
        </p:spPr>
        <p:txBody>
          <a:bodyPr wrap="square" anchor="ctr">
            <a:noAutofit/>
          </a:bodyPr>
          <a:lstStyle/>
          <a:p>
            <a:pPr algn="l"/>
            <a:r>
              <a:rPr sz="1600" b="0" i="0">
                <a:solidFill>
                  <a:srgbClr val="232B37"/>
                </a:solidFill>
                <a:latin typeface="Amazon Ember Display"/>
              </a:rPr>
              <a:t>keeps a copy</a:t>
            </a:r>
          </a:p>
        </p:txBody>
      </p:sp>
      <p:sp>
        <p:nvSpPr>
          <p:cNvPr id="31" name="Freeform 30"/>
          <p:cNvSpPr/>
          <p:nvPr/>
        </p:nvSpPr>
        <p:spPr>
          <a:xfrm>
            <a:off x="7406640" y="4754880"/>
            <a:ext cx="704088" cy="0"/>
          </a:xfrm>
          <a:custGeom>
            <a:avLst/>
            <a:gdLst/>
            <a:ahLst/>
            <a:cxnLst/>
            <a:rect l="l" t="t" r="r" b="b"/>
            <a:pathLst>
              <a:path w="704088">
                <a:moveTo>
                  <a:pt x="0" y="0"/>
                </a:moveTo>
                <a:lnTo>
                  <a:pt x="70408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reeform 31"/>
          <p:cNvSpPr/>
          <p:nvPr/>
        </p:nvSpPr>
        <p:spPr>
          <a:xfrm>
            <a:off x="7936992" y="463600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49040" y="4498848"/>
            <a:ext cx="3474720" cy="274320"/>
          </a:xfrm>
          <a:prstGeom prst="rect">
            <a:avLst/>
          </a:prstGeom>
          <a:noFill/>
        </p:spPr>
        <p:txBody>
          <a:bodyPr wrap="square" anchor="t">
            <a:noAutofit/>
          </a:bodyPr>
          <a:lstStyle/>
          <a:p>
            <a:pPr algn="ctr"/>
            <a:r>
              <a:rPr sz="1600" b="0" i="0">
                <a:solidFill>
                  <a:srgbClr val="5A6B7B"/>
                </a:solidFill>
                <a:latin typeface="Amazon Ember Display"/>
              </a:rPr>
              <a:t>every subscriber gets it</a:t>
            </a:r>
          </a:p>
        </p:txBody>
      </p:sp>
      <p:sp>
        <p:nvSpPr>
          <p:cNvPr id="34" name="TextBox 33">
            <a:hlinkClick r:id="rId7"/>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7"/>
              </a:rPr>
              <a:t>docs.aws.amazon.com · What is Amazon SNS?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queue delivers to one worker, a topic to many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874519"/>
            <a:ext cx="5349240" cy="3108960"/>
          </a:xfrm>
          <a:prstGeom prst="roundRect">
            <a:avLst>
              <a:gd name="adj" fmla="val 470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8680" y="2002536"/>
            <a:ext cx="4837175" cy="292608"/>
          </a:xfrm>
          <a:prstGeom prst="rect">
            <a:avLst/>
          </a:prstGeom>
          <a:noFill/>
        </p:spPr>
        <p:txBody>
          <a:bodyPr wrap="square" anchor="ctr">
            <a:noAutofit/>
          </a:bodyPr>
          <a:lstStyle/>
          <a:p>
            <a:pPr algn="l"/>
            <a:r>
              <a:rPr sz="1600" b="1" i="0">
                <a:solidFill>
                  <a:srgbClr val="8F0072"/>
                </a:solidFill>
                <a:latin typeface="Amazon Ember Display"/>
              </a:rPr>
              <a:t>QUEUE</a:t>
            </a:r>
          </a:p>
        </p:txBody>
      </p:sp>
      <p:pic>
        <p:nvPicPr>
          <p:cNvPr id="6" name="Picture 5" descr="Arch_Amazon-Simple-Queue-Service_64.png"/>
          <p:cNvPicPr>
            <a:picLocks noChangeAspect="1"/>
          </p:cNvPicPr>
          <p:nvPr/>
        </p:nvPicPr>
        <p:blipFill>
          <a:blip r:embed="rId3"/>
          <a:stretch>
            <a:fillRect/>
          </a:stretch>
        </p:blipFill>
        <p:spPr>
          <a:xfrm>
            <a:off x="795528" y="2971800"/>
            <a:ext cx="914400" cy="914400"/>
          </a:xfrm>
          <a:prstGeom prst="rect">
            <a:avLst/>
          </a:prstGeom>
        </p:spPr>
      </p:pic>
      <p:sp>
        <p:nvSpPr>
          <p:cNvPr id="7" name="Freeform 6"/>
          <p:cNvSpPr/>
          <p:nvPr/>
        </p:nvSpPr>
        <p:spPr>
          <a:xfrm>
            <a:off x="1709928" y="3429000"/>
            <a:ext cx="640080" cy="0"/>
          </a:xfrm>
          <a:custGeom>
            <a:avLst/>
            <a:gdLst/>
            <a:ahLst/>
            <a:cxnLst/>
            <a:rect l="l" t="t" r="r" b="b"/>
            <a:pathLst>
              <a:path w="640080">
                <a:moveTo>
                  <a:pt x="0" y="0"/>
                </a:moveTo>
                <a:lnTo>
                  <a:pt x="640080"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81528" y="3172968"/>
            <a:ext cx="2624327" cy="512064"/>
          </a:xfrm>
          <a:prstGeom prst="roundRect">
            <a:avLst>
              <a:gd name="adj" fmla="val 250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246120" y="3282696"/>
            <a:ext cx="2331719" cy="292608"/>
          </a:xfrm>
          <a:prstGeom prst="rect">
            <a:avLst/>
          </a:prstGeom>
          <a:noFill/>
        </p:spPr>
        <p:txBody>
          <a:bodyPr wrap="square" anchor="ctr">
            <a:noAutofit/>
          </a:bodyPr>
          <a:lstStyle/>
          <a:p>
            <a:pPr algn="l"/>
            <a:r>
              <a:rPr sz="1600" b="1" i="0">
                <a:solidFill>
                  <a:srgbClr val="8F0072"/>
                </a:solidFill>
                <a:latin typeface="Amazon Ember Display"/>
              </a:rPr>
              <a:t>worker</a:t>
            </a:r>
          </a:p>
        </p:txBody>
      </p:sp>
      <p:sp>
        <p:nvSpPr>
          <p:cNvPr id="10" name="Freeform 9"/>
          <p:cNvSpPr/>
          <p:nvPr/>
        </p:nvSpPr>
        <p:spPr>
          <a:xfrm>
            <a:off x="2350008" y="3429000"/>
            <a:ext cx="566928" cy="0"/>
          </a:xfrm>
          <a:custGeom>
            <a:avLst/>
            <a:gdLst/>
            <a:ahLst/>
            <a:cxnLst/>
            <a:rect l="l" t="t" r="r" b="b"/>
            <a:pathLst>
              <a:path w="566928">
                <a:moveTo>
                  <a:pt x="0" y="0"/>
                </a:moveTo>
                <a:lnTo>
                  <a:pt x="56692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2743200" y="331012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4544567"/>
            <a:ext cx="4837175" cy="292608"/>
          </a:xfrm>
          <a:prstGeom prst="rect">
            <a:avLst/>
          </a:prstGeom>
          <a:noFill/>
        </p:spPr>
        <p:txBody>
          <a:bodyPr wrap="square" anchor="ctr">
            <a:noAutofit/>
          </a:bodyPr>
          <a:lstStyle/>
          <a:p>
            <a:pPr algn="l"/>
            <a:r>
              <a:rPr sz="1600" b="0" i="0">
                <a:solidFill>
                  <a:srgbClr val="232B37"/>
                </a:solidFill>
                <a:latin typeface="Amazon Ember Display"/>
              </a:rPr>
              <a:t>one worker takes it</a:t>
            </a:r>
          </a:p>
        </p:txBody>
      </p:sp>
      <p:sp>
        <p:nvSpPr>
          <p:cNvPr id="13" name="Rounded Rectangle 12"/>
          <p:cNvSpPr/>
          <p:nvPr/>
        </p:nvSpPr>
        <p:spPr>
          <a:xfrm>
            <a:off x="6236208" y="1874519"/>
            <a:ext cx="5349240" cy="3108960"/>
          </a:xfrm>
          <a:prstGeom prst="roundRect">
            <a:avLst>
              <a:gd name="adj" fmla="val 470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92240" y="2002536"/>
            <a:ext cx="4837175" cy="292608"/>
          </a:xfrm>
          <a:prstGeom prst="rect">
            <a:avLst/>
          </a:prstGeom>
          <a:noFill/>
        </p:spPr>
        <p:txBody>
          <a:bodyPr wrap="square" anchor="ctr">
            <a:noAutofit/>
          </a:bodyPr>
          <a:lstStyle/>
          <a:p>
            <a:pPr algn="l"/>
            <a:r>
              <a:rPr sz="1600" b="1" i="0">
                <a:solidFill>
                  <a:srgbClr val="8F0072"/>
                </a:solidFill>
                <a:latin typeface="Amazon Ember Display"/>
              </a:rPr>
              <a:t>TOPIC</a:t>
            </a:r>
          </a:p>
        </p:txBody>
      </p:sp>
      <p:pic>
        <p:nvPicPr>
          <p:cNvPr id="15" name="Picture 14" descr="Arch_Amazon-Simple-Notification-Service_64.png"/>
          <p:cNvPicPr>
            <a:picLocks noChangeAspect="1"/>
          </p:cNvPicPr>
          <p:nvPr/>
        </p:nvPicPr>
        <p:blipFill>
          <a:blip r:embed="rId4"/>
          <a:stretch>
            <a:fillRect/>
          </a:stretch>
        </p:blipFill>
        <p:spPr>
          <a:xfrm>
            <a:off x="6419088" y="2971800"/>
            <a:ext cx="914400" cy="914400"/>
          </a:xfrm>
          <a:prstGeom prst="rect">
            <a:avLst/>
          </a:prstGeom>
        </p:spPr>
      </p:pic>
      <p:sp>
        <p:nvSpPr>
          <p:cNvPr id="16" name="Freeform 15"/>
          <p:cNvSpPr/>
          <p:nvPr/>
        </p:nvSpPr>
        <p:spPr>
          <a:xfrm>
            <a:off x="7333488" y="3429000"/>
            <a:ext cx="640080" cy="0"/>
          </a:xfrm>
          <a:custGeom>
            <a:avLst/>
            <a:gdLst/>
            <a:ahLst/>
            <a:cxnLst/>
            <a:rect l="l" t="t" r="r" b="b"/>
            <a:pathLst>
              <a:path w="640080">
                <a:moveTo>
                  <a:pt x="0" y="0"/>
                </a:moveTo>
                <a:lnTo>
                  <a:pt x="640080"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7973568" y="2679192"/>
            <a:ext cx="0" cy="1499616"/>
          </a:xfrm>
          <a:custGeom>
            <a:avLst/>
            <a:gdLst/>
            <a:ahLst/>
            <a:cxnLst/>
            <a:rect l="l" t="t" r="r" b="b"/>
            <a:pathLst>
              <a:path h="1499616">
                <a:moveTo>
                  <a:pt x="0" y="0"/>
                </a:moveTo>
                <a:lnTo>
                  <a:pt x="0" y="1499616"/>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705088" y="2423160"/>
            <a:ext cx="2624328" cy="512064"/>
          </a:xfrm>
          <a:prstGeom prst="roundRect">
            <a:avLst>
              <a:gd name="adj" fmla="val 250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869680" y="2532888"/>
            <a:ext cx="2331720" cy="292608"/>
          </a:xfrm>
          <a:prstGeom prst="rect">
            <a:avLst/>
          </a:prstGeom>
          <a:noFill/>
        </p:spPr>
        <p:txBody>
          <a:bodyPr wrap="square" anchor="ctr">
            <a:noAutofit/>
          </a:bodyPr>
          <a:lstStyle/>
          <a:p>
            <a:pPr algn="l"/>
            <a:r>
              <a:rPr sz="1600" b="1" i="0">
                <a:solidFill>
                  <a:srgbClr val="8F0072"/>
                </a:solidFill>
                <a:latin typeface="Amazon Ember Display"/>
              </a:rPr>
              <a:t>worker</a:t>
            </a:r>
          </a:p>
        </p:txBody>
      </p:sp>
      <p:sp>
        <p:nvSpPr>
          <p:cNvPr id="20" name="Freeform 19"/>
          <p:cNvSpPr/>
          <p:nvPr/>
        </p:nvSpPr>
        <p:spPr>
          <a:xfrm>
            <a:off x="7973568" y="2679192"/>
            <a:ext cx="566928" cy="0"/>
          </a:xfrm>
          <a:custGeom>
            <a:avLst/>
            <a:gdLst/>
            <a:ahLst/>
            <a:cxnLst/>
            <a:rect l="l" t="t" r="r" b="b"/>
            <a:pathLst>
              <a:path w="566928">
                <a:moveTo>
                  <a:pt x="0" y="0"/>
                </a:moveTo>
                <a:lnTo>
                  <a:pt x="56692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8366759" y="2560320"/>
            <a:ext cx="192025" cy="237744"/>
          </a:xfrm>
          <a:custGeom>
            <a:avLst/>
            <a:gdLst/>
            <a:ahLst/>
            <a:cxnLst/>
            <a:rect l="l" t="t" r="r" b="b"/>
            <a:pathLst>
              <a:path w="192025" h="237744">
                <a:moveTo>
                  <a:pt x="0" y="0"/>
                </a:moveTo>
                <a:lnTo>
                  <a:pt x="192025"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705088" y="3172968"/>
            <a:ext cx="2624328" cy="512064"/>
          </a:xfrm>
          <a:prstGeom prst="roundRect">
            <a:avLst>
              <a:gd name="adj" fmla="val 250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869680" y="3282696"/>
            <a:ext cx="2331720" cy="292608"/>
          </a:xfrm>
          <a:prstGeom prst="rect">
            <a:avLst/>
          </a:prstGeom>
          <a:noFill/>
        </p:spPr>
        <p:txBody>
          <a:bodyPr wrap="square" anchor="ctr">
            <a:noAutofit/>
          </a:bodyPr>
          <a:lstStyle/>
          <a:p>
            <a:pPr algn="l"/>
            <a:r>
              <a:rPr sz="1600" b="1" i="0">
                <a:solidFill>
                  <a:srgbClr val="8F0072"/>
                </a:solidFill>
                <a:latin typeface="Amazon Ember Display"/>
              </a:rPr>
              <a:t>worker</a:t>
            </a:r>
          </a:p>
        </p:txBody>
      </p:sp>
      <p:sp>
        <p:nvSpPr>
          <p:cNvPr id="24" name="Freeform 23"/>
          <p:cNvSpPr/>
          <p:nvPr/>
        </p:nvSpPr>
        <p:spPr>
          <a:xfrm>
            <a:off x="7973568" y="3429000"/>
            <a:ext cx="566928" cy="0"/>
          </a:xfrm>
          <a:custGeom>
            <a:avLst/>
            <a:gdLst/>
            <a:ahLst/>
            <a:cxnLst/>
            <a:rect l="l" t="t" r="r" b="b"/>
            <a:pathLst>
              <a:path w="566928">
                <a:moveTo>
                  <a:pt x="0" y="0"/>
                </a:moveTo>
                <a:lnTo>
                  <a:pt x="56692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8366759" y="3310128"/>
            <a:ext cx="192025" cy="237744"/>
          </a:xfrm>
          <a:custGeom>
            <a:avLst/>
            <a:gdLst/>
            <a:ahLst/>
            <a:cxnLst/>
            <a:rect l="l" t="t" r="r" b="b"/>
            <a:pathLst>
              <a:path w="192025" h="237744">
                <a:moveTo>
                  <a:pt x="0" y="0"/>
                </a:moveTo>
                <a:lnTo>
                  <a:pt x="192025"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705088" y="3922776"/>
            <a:ext cx="2624328" cy="512064"/>
          </a:xfrm>
          <a:prstGeom prst="roundRect">
            <a:avLst>
              <a:gd name="adj" fmla="val 250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869680" y="4032504"/>
            <a:ext cx="2331720" cy="292608"/>
          </a:xfrm>
          <a:prstGeom prst="rect">
            <a:avLst/>
          </a:prstGeom>
          <a:noFill/>
        </p:spPr>
        <p:txBody>
          <a:bodyPr wrap="square" anchor="ctr">
            <a:noAutofit/>
          </a:bodyPr>
          <a:lstStyle/>
          <a:p>
            <a:pPr algn="l"/>
            <a:r>
              <a:rPr sz="1600" b="1" i="0">
                <a:solidFill>
                  <a:srgbClr val="8F0072"/>
                </a:solidFill>
                <a:latin typeface="Amazon Ember Display"/>
              </a:rPr>
              <a:t>worker</a:t>
            </a:r>
          </a:p>
        </p:txBody>
      </p:sp>
      <p:sp>
        <p:nvSpPr>
          <p:cNvPr id="28" name="Freeform 27"/>
          <p:cNvSpPr/>
          <p:nvPr/>
        </p:nvSpPr>
        <p:spPr>
          <a:xfrm>
            <a:off x="7973568" y="4178808"/>
            <a:ext cx="566928" cy="0"/>
          </a:xfrm>
          <a:custGeom>
            <a:avLst/>
            <a:gdLst/>
            <a:ahLst/>
            <a:cxnLst/>
            <a:rect l="l" t="t" r="r" b="b"/>
            <a:pathLst>
              <a:path w="566928">
                <a:moveTo>
                  <a:pt x="0" y="0"/>
                </a:moveTo>
                <a:lnTo>
                  <a:pt x="56692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8366759" y="4059936"/>
            <a:ext cx="192025" cy="237744"/>
          </a:xfrm>
          <a:custGeom>
            <a:avLst/>
            <a:gdLst/>
            <a:ahLst/>
            <a:cxnLst/>
            <a:rect l="l" t="t" r="r" b="b"/>
            <a:pathLst>
              <a:path w="192025" h="237744">
                <a:moveTo>
                  <a:pt x="0" y="0"/>
                </a:moveTo>
                <a:lnTo>
                  <a:pt x="192025"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0" y="4544567"/>
            <a:ext cx="4837175" cy="292608"/>
          </a:xfrm>
          <a:prstGeom prst="rect">
            <a:avLst/>
          </a:prstGeom>
          <a:noFill/>
        </p:spPr>
        <p:txBody>
          <a:bodyPr wrap="square" anchor="ctr">
            <a:noAutofit/>
          </a:bodyPr>
          <a:lstStyle/>
          <a:p>
            <a:pPr algn="l"/>
            <a:r>
              <a:rPr sz="1600" b="0" i="0">
                <a:solidFill>
                  <a:srgbClr val="232B37"/>
                </a:solidFill>
                <a:latin typeface="Amazon Ember Display"/>
              </a:rPr>
              <a:t>all of them get it</a:t>
            </a:r>
          </a:p>
        </p:txBody>
      </p:sp>
      <p:sp>
        <p:nvSpPr>
          <p:cNvPr id="31" name="TextBox 30">
            <a:hlinkClick r:id="rId5"/>
          </p:cNvPr>
          <p:cNvSpPr txBox="1"/>
          <p:nvPr/>
        </p:nvSpPr>
        <p:spPr>
          <a:xfrm>
            <a:off x="612648" y="5943600"/>
            <a:ext cx="62007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What is Amazon Simple Queue Service?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Where does AI fit into your app?</a:t>
            </a:r>
          </a:p>
        </p:txBody>
      </p:sp>
      <p:sp>
        <p:nvSpPr>
          <p:cNvPr id="3" name="Text Placeholder 2"/>
          <p:cNvSpPr>
            <a:spLocks noGrp="1"/>
          </p:cNvSpPr>
          <p:nvPr>
            <p:ph type="body" sz="quarter" idx="11"/>
          </p:nvPr>
        </p:nvSpPr>
        <p:spPr>
          <a:xfrm>
            <a:off x="322916" y="2434551"/>
            <a:ext cx="4340580" cy="313932"/>
          </a:xfrm>
        </p:spPr>
        <p:txBody>
          <a:bodyPr/>
          <a:lstStyle/>
          <a:p>
            <a:r>
              <a:rPr sz="1800" b="1">
                <a:solidFill>
                  <a:srgbClr val="FF57E9"/>
                </a:solidFill>
                <a:latin typeface="Amazon Ember Display"/>
              </a:rPr>
              <a:t>BUILDING WITH AI SERVICES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One API reaches many foundation models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Overview</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Bedrock is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Fully managed generative AI service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Foundation models from many providers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Secure, serverless model access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Bedrock is for</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Conversational assistants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Text generation and summarization</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Answering over your own content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Call a foundation model with one request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Making inference requests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How you call it</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One bedrock-runtime endpoint</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Converse or InvokeModel operation</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Reached with the AWS SDK</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you skip</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No servers to run</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No model to host or patch</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Swap models without a rewrite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Working backwards: scale service, not cost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3836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Elevating Enterprise Customer Interactions…</a:t>
            </a:r>
          </a:p>
        </p:txBody>
      </p:sp>
      <p:sp>
        <p:nvSpPr>
          <p:cNvPr id="5" name="Rounded Rectangle 4"/>
          <p:cNvSpPr/>
          <p:nvPr/>
        </p:nvSpPr>
        <p:spPr>
          <a:xfrm>
            <a:off x="731520" y="2386584"/>
            <a:ext cx="5838190"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2386584"/>
            <a:ext cx="5326126" cy="731520"/>
          </a:xfrm>
          <a:prstGeom prst="rect">
            <a:avLst/>
          </a:prstGeom>
          <a:noFill/>
        </p:spPr>
        <p:txBody>
          <a:bodyPr wrap="square" anchor="ctr">
            <a:noAutofit/>
          </a:bodyPr>
          <a:lstStyle/>
          <a:p>
            <a:pPr algn="l"/>
            <a:r>
              <a:rPr sz="1900" b="0" i="0">
                <a:solidFill>
                  <a:srgbClr val="232B37"/>
                </a:solidFill>
                <a:latin typeface="Amazon Ember Display"/>
              </a:rPr>
              <a:t>Service quality could not scale with cost</a:t>
            </a:r>
          </a:p>
        </p:txBody>
      </p:sp>
      <p:sp>
        <p:nvSpPr>
          <p:cNvPr id="7" name="Freeform 6"/>
          <p:cNvSpPr/>
          <p:nvPr/>
        </p:nvSpPr>
        <p:spPr>
          <a:xfrm>
            <a:off x="6770878" y="275234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7008622" y="263347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401814" y="2386584"/>
            <a:ext cx="4183633"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21270" y="2434797"/>
            <a:ext cx="3744722" cy="310896"/>
          </a:xfrm>
          <a:prstGeom prst="rect">
            <a:avLst/>
          </a:prstGeom>
          <a:noFill/>
        </p:spPr>
        <p:txBody>
          <a:bodyPr wrap="square" anchor="t">
            <a:noAutofit/>
          </a:bodyPr>
          <a:lstStyle/>
          <a:p>
            <a:pPr algn="l"/>
            <a:r>
              <a:rPr sz="2000" b="1" i="0" dirty="0">
                <a:solidFill>
                  <a:srgbClr val="8F0072"/>
                </a:solidFill>
                <a:latin typeface="Amazon Ember Display"/>
              </a:rPr>
              <a:t>Foundation models, not staff</a:t>
            </a:r>
          </a:p>
        </p:txBody>
      </p:sp>
      <p:sp>
        <p:nvSpPr>
          <p:cNvPr id="11" name="TextBox 10"/>
          <p:cNvSpPr txBox="1"/>
          <p:nvPr/>
        </p:nvSpPr>
        <p:spPr>
          <a:xfrm>
            <a:off x="7621270" y="2763981"/>
            <a:ext cx="3744722" cy="292608"/>
          </a:xfrm>
          <a:prstGeom prst="rect">
            <a:avLst/>
          </a:prstGeom>
          <a:noFill/>
        </p:spPr>
        <p:txBody>
          <a:bodyPr wrap="square" anchor="t">
            <a:noAutofit/>
          </a:bodyPr>
          <a:lstStyle/>
          <a:p>
            <a:pPr algn="l"/>
            <a:r>
              <a:rPr sz="1800" b="0" i="0">
                <a:solidFill>
                  <a:srgbClr val="232B37"/>
                </a:solidFill>
                <a:latin typeface="Amazon Ember Display"/>
              </a:rPr>
              <a:t>AI handles the conversation</a:t>
            </a:r>
          </a:p>
        </p:txBody>
      </p:sp>
      <p:sp>
        <p:nvSpPr>
          <p:cNvPr id="12" name="Rounded Rectangle 11"/>
          <p:cNvSpPr/>
          <p:nvPr/>
        </p:nvSpPr>
        <p:spPr>
          <a:xfrm>
            <a:off x="731520" y="3209544"/>
            <a:ext cx="5838190"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3209544"/>
            <a:ext cx="5326126" cy="731520"/>
          </a:xfrm>
          <a:prstGeom prst="rect">
            <a:avLst/>
          </a:prstGeom>
          <a:noFill/>
        </p:spPr>
        <p:txBody>
          <a:bodyPr wrap="square" anchor="ctr">
            <a:noAutofit/>
          </a:bodyPr>
          <a:lstStyle/>
          <a:p>
            <a:pPr algn="l"/>
            <a:r>
              <a:rPr sz="1900" b="0" i="0">
                <a:solidFill>
                  <a:srgbClr val="232B37"/>
                </a:solidFill>
                <a:latin typeface="Amazon Ember Display"/>
              </a:rPr>
              <a:t>Sensitive data had to stay protected</a:t>
            </a:r>
          </a:p>
        </p:txBody>
      </p:sp>
      <p:sp>
        <p:nvSpPr>
          <p:cNvPr id="14" name="Freeform 13"/>
          <p:cNvSpPr/>
          <p:nvPr/>
        </p:nvSpPr>
        <p:spPr>
          <a:xfrm>
            <a:off x="6770878" y="357530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008622" y="345643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401814" y="3209544"/>
            <a:ext cx="4183633"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621270" y="3257757"/>
            <a:ext cx="3744722" cy="310896"/>
          </a:xfrm>
          <a:prstGeom prst="rect">
            <a:avLst/>
          </a:prstGeom>
          <a:noFill/>
        </p:spPr>
        <p:txBody>
          <a:bodyPr wrap="square" anchor="t">
            <a:noAutofit/>
          </a:bodyPr>
          <a:lstStyle/>
          <a:p>
            <a:pPr algn="l"/>
            <a:r>
              <a:rPr sz="2000" b="1" i="0">
                <a:solidFill>
                  <a:srgbClr val="8F0072"/>
                </a:solidFill>
                <a:latin typeface="Amazon Ember Display"/>
              </a:rPr>
              <a:t>A managed model service</a:t>
            </a:r>
          </a:p>
        </p:txBody>
      </p:sp>
      <p:sp>
        <p:nvSpPr>
          <p:cNvPr id="18" name="TextBox 17"/>
          <p:cNvSpPr txBox="1"/>
          <p:nvPr/>
        </p:nvSpPr>
        <p:spPr>
          <a:xfrm>
            <a:off x="7621270" y="3586941"/>
            <a:ext cx="3744722" cy="292608"/>
          </a:xfrm>
          <a:prstGeom prst="rect">
            <a:avLst/>
          </a:prstGeom>
          <a:noFill/>
        </p:spPr>
        <p:txBody>
          <a:bodyPr wrap="square" anchor="t">
            <a:noAutofit/>
          </a:bodyPr>
          <a:lstStyle/>
          <a:p>
            <a:pPr algn="l"/>
            <a:r>
              <a:rPr sz="1800" b="0" i="0">
                <a:solidFill>
                  <a:srgbClr val="232B37"/>
                </a:solidFill>
                <a:latin typeface="Amazon Ember Display"/>
              </a:rPr>
              <a:t>built-in privacy controls</a:t>
            </a:r>
          </a:p>
        </p:txBody>
      </p:sp>
      <p:sp>
        <p:nvSpPr>
          <p:cNvPr id="19" name="Rounded Rectangle 18"/>
          <p:cNvSpPr/>
          <p:nvPr/>
        </p:nvSpPr>
        <p:spPr>
          <a:xfrm>
            <a:off x="731520" y="4032504"/>
            <a:ext cx="5838190"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4032504"/>
            <a:ext cx="5326126" cy="731520"/>
          </a:xfrm>
          <a:prstGeom prst="rect">
            <a:avLst/>
          </a:prstGeom>
          <a:noFill/>
        </p:spPr>
        <p:txBody>
          <a:bodyPr wrap="square" anchor="ctr">
            <a:noAutofit/>
          </a:bodyPr>
          <a:lstStyle/>
          <a:p>
            <a:pPr algn="l"/>
            <a:r>
              <a:rPr sz="1900" b="0" i="0">
                <a:solidFill>
                  <a:srgbClr val="232B37"/>
                </a:solidFill>
                <a:latin typeface="Amazon Ember Display"/>
              </a:rPr>
              <a:t>Answers had to feel human</a:t>
            </a:r>
          </a:p>
        </p:txBody>
      </p:sp>
      <p:sp>
        <p:nvSpPr>
          <p:cNvPr id="21" name="Freeform 20"/>
          <p:cNvSpPr/>
          <p:nvPr/>
        </p:nvSpPr>
        <p:spPr>
          <a:xfrm>
            <a:off x="6770878" y="439826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7008622" y="427939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401814" y="4032504"/>
            <a:ext cx="4183633"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621270" y="4080717"/>
            <a:ext cx="3744722" cy="310896"/>
          </a:xfrm>
          <a:prstGeom prst="rect">
            <a:avLst/>
          </a:prstGeom>
          <a:noFill/>
        </p:spPr>
        <p:txBody>
          <a:bodyPr wrap="square" anchor="t">
            <a:noAutofit/>
          </a:bodyPr>
          <a:lstStyle/>
          <a:p>
            <a:pPr algn="l"/>
            <a:r>
              <a:rPr sz="2000" b="1" i="0">
                <a:solidFill>
                  <a:srgbClr val="8F0072"/>
                </a:solidFill>
                <a:latin typeface="Amazon Ember Display"/>
              </a:rPr>
              <a:t>Top models via one API</a:t>
            </a:r>
          </a:p>
        </p:txBody>
      </p:sp>
      <p:sp>
        <p:nvSpPr>
          <p:cNvPr id="25" name="TextBox 24"/>
          <p:cNvSpPr txBox="1"/>
          <p:nvPr/>
        </p:nvSpPr>
        <p:spPr>
          <a:xfrm>
            <a:off x="7621270" y="4409901"/>
            <a:ext cx="3744722" cy="292608"/>
          </a:xfrm>
          <a:prstGeom prst="rect">
            <a:avLst/>
          </a:prstGeom>
          <a:noFill/>
        </p:spPr>
        <p:txBody>
          <a:bodyPr wrap="square" anchor="t">
            <a:noAutofit/>
          </a:bodyPr>
          <a:lstStyle/>
          <a:p>
            <a:pPr algn="l"/>
            <a:r>
              <a:rPr sz="1800" b="0" i="0">
                <a:solidFill>
                  <a:srgbClr val="232B37"/>
                </a:solidFill>
                <a:latin typeface="Amazon Ember Display"/>
              </a:rPr>
              <a:t>Claude through Amazon Bedrock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Kiro is one agent across your tools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kiro.dev · How Kiro works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Kiro is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One agent in the IDE, CLI, and web</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Reads and edits your codebase</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Runs tools and shell commands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dirty="0">
                <a:solidFill>
                  <a:srgbClr val="8F0072"/>
                </a:solidFill>
                <a:latin typeface="Amazon Ember Display"/>
              </a:rPr>
              <a:t>What </a:t>
            </a:r>
            <a:r>
              <a:rPr lang="en-US" sz="2200" b="1" i="0" dirty="0">
                <a:solidFill>
                  <a:srgbClr val="8F0072"/>
                </a:solidFill>
                <a:latin typeface="Amazon Ember Display"/>
              </a:rPr>
              <a:t>Kiro</a:t>
            </a:r>
            <a:r>
              <a:rPr sz="2200" b="1" i="0" dirty="0">
                <a:solidFill>
                  <a:srgbClr val="8F0072"/>
                </a:solidFill>
                <a:latin typeface="Amazon Ember Display"/>
              </a:rPr>
              <a:t> is for</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Turn intent into working code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Plan the work before writing it</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Keep the changes reviewable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Guide Kiro with specs, steering, and hooks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kiro.dev · How Kiro works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Persistent guidance</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Steering holds project conventions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Specs plan requirements to tasks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Both live with your code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In the moment</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Chat to build and refine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Hooks automate on events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Each has its own job</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dirty="0">
                <a:solidFill>
                  <a:srgbClr val="FFFFFF"/>
                </a:solidFill>
                <a:latin typeface="Amazon Ember Display"/>
              </a:rPr>
              <a:t>Break </a:t>
            </a:r>
            <a:r>
              <a:rPr lang="en-US" sz="3600" b="1" dirty="0">
                <a:solidFill>
                  <a:srgbClr val="FFFFFF"/>
                </a:solidFill>
                <a:latin typeface="Amazon Ember Display"/>
              </a:rPr>
              <a:t>d</a:t>
            </a:r>
            <a:r>
              <a:rPr sz="3600" b="1" dirty="0">
                <a:solidFill>
                  <a:srgbClr val="FFFFFF"/>
                </a:solidFill>
                <a:latin typeface="Amazon Ember Display"/>
              </a:rPr>
              <a:t>own </a:t>
            </a:r>
            <a:r>
              <a:rPr lang="en-US" sz="3600" dirty="0">
                <a:solidFill>
                  <a:srgbClr val="FFFFFF"/>
                </a:solidFill>
                <a:latin typeface="Amazon Ember Display"/>
              </a:rPr>
              <a:t>w</a:t>
            </a:r>
            <a:r>
              <a:rPr sz="3600" b="1" dirty="0">
                <a:solidFill>
                  <a:srgbClr val="FFFFFF"/>
                </a:solidFill>
                <a:latin typeface="Amazon Ember Display"/>
              </a:rPr>
              <a:t>hat </a:t>
            </a:r>
            <a:r>
              <a:rPr lang="en-US" sz="3600" b="1" dirty="0">
                <a:solidFill>
                  <a:srgbClr val="FFFFFF"/>
                </a:solidFill>
                <a:latin typeface="Amazon Ember Display"/>
              </a:rPr>
              <a:t>y</a:t>
            </a:r>
            <a:r>
              <a:rPr sz="3600" b="1" dirty="0">
                <a:solidFill>
                  <a:srgbClr val="FFFFFF"/>
                </a:solidFill>
                <a:latin typeface="Amazon Ember Display"/>
              </a:rPr>
              <a:t>ou've </a:t>
            </a:r>
            <a:r>
              <a:rPr lang="en-US" sz="3600" dirty="0">
                <a:solidFill>
                  <a:srgbClr val="FFFFFF"/>
                </a:solidFill>
                <a:latin typeface="Amazon Ember Display"/>
              </a:rPr>
              <a:t>l</a:t>
            </a:r>
            <a:r>
              <a:rPr sz="3600" b="1" dirty="0">
                <a:solidFill>
                  <a:srgbClr val="FFFFFF"/>
                </a:solidFill>
                <a:latin typeface="Amazon Ember Display"/>
              </a:rPr>
              <a:t>earned</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PRACTICE QUESTIONS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Orders dropped under peak load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dirty="0">
                <a:solidFill>
                  <a:srgbClr val="232B37"/>
                </a:solidFill>
                <a:latin typeface="Amazon Ember Display"/>
              </a:rPr>
              <a:t>A company builds a serverless order processing system. An Amazon API Gateway REST API receives orders and invokes an AWS Lambda function. The Lambda function validates the order and writes it to an Amazon DynamoDB table. During peak sales events, some orders fail with a</a:t>
            </a:r>
            <a:r>
              <a:rPr lang="en-US" sz="1600" b="1" dirty="0">
                <a:solidFill>
                  <a:srgbClr val="232B37"/>
                </a:solidFill>
                <a:latin typeface="Amazon Ember Display"/>
              </a:rPr>
              <a:t> </a:t>
            </a:r>
            <a:r>
              <a:rPr sz="1600" b="1" dirty="0" err="1">
                <a:solidFill>
                  <a:srgbClr val="232B37"/>
                </a:solidFill>
                <a:latin typeface="Amazon Ember Display"/>
              </a:rPr>
              <a:t>ProvisionedThroughputExceededException</a:t>
            </a:r>
            <a:r>
              <a:rPr sz="1600" b="1" dirty="0">
                <a:solidFill>
                  <a:srgbClr val="232B37"/>
                </a:solidFill>
                <a:latin typeface="Amazon Ember Display"/>
              </a:rPr>
              <a:t> error from DynamoDB.</a:t>
            </a:r>
          </a:p>
          <a:p>
            <a:r>
              <a:rPr sz="1600" b="1" dirty="0">
                <a:solidFill>
                  <a:srgbClr val="232B37"/>
                </a:solidFill>
                <a:latin typeface="Amazon Ember Display"/>
              </a:rPr>
              <a:t>The developer must implement a solution that prevents order loss during traffic spikes while maintaining the order of processing.</a:t>
            </a:r>
          </a:p>
          <a:p>
            <a:r>
              <a:rPr sz="1600" b="1" dirty="0">
                <a:solidFill>
                  <a:srgbClr val="232B37"/>
                </a:solidFill>
                <a:latin typeface="Amazon Ember Display"/>
              </a:rPr>
              <a:t>Which solution will meet these requirements?</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Configure API Gateway to send orders directly to an Amazon SQS FIFO queue. Configure the Lambda function to use the SQS FIFO queue as an event source.</a:t>
            </a:r>
          </a:p>
          <a:p>
            <a:pPr marL="342900" indent="-342900">
              <a:spcBef>
                <a:spcPts val="600"/>
              </a:spcBef>
            </a:pPr>
            <a:r>
              <a:rPr sz="1600" b="0" dirty="0">
                <a:solidFill>
                  <a:srgbClr val="232B37"/>
                </a:solidFill>
                <a:latin typeface="Amazon Ember Display"/>
              </a:rPr>
              <a:t>B.  Enable DynamoDB auto scaling on the table. Increase the maximum write capacity units to handle peak traffic.</a:t>
            </a:r>
          </a:p>
          <a:p>
            <a:pPr marL="342900" indent="-342900">
              <a:spcBef>
                <a:spcPts val="600"/>
              </a:spcBef>
            </a:pPr>
            <a:r>
              <a:rPr sz="1600" b="0" dirty="0">
                <a:solidFill>
                  <a:srgbClr val="232B37"/>
                </a:solidFill>
                <a:latin typeface="Amazon Ember Display"/>
              </a:rPr>
              <a:t>C.  Configure the Lambda function with a dead-letter queue. Reprocess failed orders from the dead-letter queue after the traffic spike.</a:t>
            </a:r>
          </a:p>
          <a:p>
            <a:pPr marL="342900" indent="-342900">
              <a:spcBef>
                <a:spcPts val="600"/>
              </a:spcBef>
            </a:pPr>
            <a:r>
              <a:rPr sz="1600" b="0" dirty="0">
                <a:solidFill>
                  <a:srgbClr val="232B37"/>
                </a:solidFill>
                <a:latin typeface="Amazon Ember Display"/>
              </a:rPr>
              <a:t>D.  Switch the DynamoDB table to on-demand capacity mode. Configure the Lambda function with exponential backoff retries.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Orders dropped under peak load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builds a serverless order processing system. An Amazon API Gateway REST API receives orders and invokes an AWS Lambda function. The Lambda function validates the order and writes it to an Amazon DynamoDB table. During peak sales events, some orders fail with a ProvisionedThroughputExceededException error from DynamoDB.</a:t>
            </a:r>
          </a:p>
          <a:p>
            <a:r>
              <a:rPr sz="1600" b="1">
                <a:solidFill>
                  <a:srgbClr val="232B37"/>
                </a:solidFill>
                <a:latin typeface="Amazon Ember Display"/>
              </a:rPr>
              <a:t>The developer must implement a solution that prevents order loss during traffic spikes while maintaining the order of processing.</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Configure API Gateway to send orders directly to an Amazon SQS FIFO queue. Configure the Lambda function to use the SQS FIFO queue as an event source.</a:t>
            </a:r>
          </a:p>
          <a:p>
            <a:pPr marL="342900" indent="-342900">
              <a:spcBef>
                <a:spcPts val="600"/>
              </a:spcBef>
            </a:pPr>
            <a:r>
              <a:rPr sz="1600" b="0">
                <a:solidFill>
                  <a:srgbClr val="232B37"/>
                </a:solidFill>
                <a:latin typeface="Amazon Ember Display"/>
              </a:rPr>
              <a:t>B.  Enable DynamoDB auto scaling on the table. Increase the maximum write capacity units to handle peak traffic.</a:t>
            </a:r>
          </a:p>
          <a:p>
            <a:pPr marL="342900" indent="-342900">
              <a:spcBef>
                <a:spcPts val="600"/>
              </a:spcBef>
            </a:pPr>
            <a:r>
              <a:rPr sz="1600" b="0">
                <a:solidFill>
                  <a:srgbClr val="232B37"/>
                </a:solidFill>
                <a:latin typeface="Amazon Ember Display"/>
              </a:rPr>
              <a:t>C.  Configure the Lambda function with a dead-letter queue. Reprocess failed orders from the dead-letter queue after the traffic spike.</a:t>
            </a:r>
          </a:p>
          <a:p>
            <a:pPr marL="342900" indent="-342900">
              <a:spcBef>
                <a:spcPts val="600"/>
              </a:spcBef>
            </a:pPr>
            <a:r>
              <a:rPr sz="1600" b="0">
                <a:solidFill>
                  <a:srgbClr val="232B37"/>
                </a:solidFill>
                <a:latin typeface="Amazon Ember Display"/>
              </a:rPr>
              <a:t>D.  Switch the DynamoDB table to on-demand capacity mode. Configure the Lambda function with exponential backoff retries.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Orders dropped under peak load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builds a serverless order processing system. An Amazon API Gateway REST API receives orders and invokes an AWS Lambda function. The Lambda function validates the order and writes it to an Amazon DynamoDB table. During peak sales events, some orders fail with a ProvisionedThroughputExceededException error from DynamoDB.</a:t>
            </a:r>
          </a:p>
          <a:p>
            <a:r>
              <a:rPr sz="1600" b="1">
                <a:solidFill>
                  <a:srgbClr val="232B37"/>
                </a:solidFill>
                <a:latin typeface="Amazon Ember Display"/>
              </a:rPr>
              <a:t>The developer must implement a solution that prevents order loss during traffic spikes while maintaining the order of processing.</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Configure API Gateway to send orders directly to an Amazon SQS FIFO queue. Configure the Lambda function to use the SQS FIFO queue as an event source.  [CORRECT]</a:t>
            </a:r>
          </a:p>
          <a:p>
            <a:pPr marL="342900" indent="-342900">
              <a:spcBef>
                <a:spcPts val="600"/>
              </a:spcBef>
            </a:pPr>
            <a:r>
              <a:rPr sz="1600" b="0">
                <a:solidFill>
                  <a:srgbClr val="232B37"/>
                </a:solidFill>
                <a:latin typeface="Amazon Ember Display"/>
              </a:rPr>
              <a:t>B.  Enable DynamoDB auto scaling on the table. Increase the maximum write capacity units to handle peak traffic.</a:t>
            </a:r>
          </a:p>
          <a:p>
            <a:pPr marL="342900" indent="-342900">
              <a:spcBef>
                <a:spcPts val="600"/>
              </a:spcBef>
            </a:pPr>
            <a:r>
              <a:rPr sz="1600" b="0">
                <a:solidFill>
                  <a:srgbClr val="232B37"/>
                </a:solidFill>
                <a:latin typeface="Amazon Ember Display"/>
              </a:rPr>
              <a:t>C.  Configure the Lambda function with a dead-letter queue. Reprocess failed orders from the dead-letter queue after the traffic spike.</a:t>
            </a:r>
          </a:p>
          <a:p>
            <a:pPr marL="342900" indent="-342900">
              <a:spcBef>
                <a:spcPts val="600"/>
              </a:spcBef>
            </a:pPr>
            <a:r>
              <a:rPr sz="1600" b="0">
                <a:solidFill>
                  <a:srgbClr val="232B37"/>
                </a:solidFill>
                <a:latin typeface="Amazon Ember Display"/>
              </a:rPr>
              <a:t>D.  Switch the DynamoDB table to on-demand capacity mode. Configure the Lambda function with exponential backoff retries.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Orders dropped under peak load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Amazon Simple Queue Service</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Configure API Gateway to send orders directly to an Amazon SQS FIFO queue. Configure the Lambda function to use the SQS FIFO queue as an event source.</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A FIFO queue absorbs the spike and preserves order per group</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Auto scaling still throttles until the extra capacity catches up</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A dead-letter queue handles failures, it does not keep order</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On-demand plus retries can still drop and reorder the orders</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“prevents order loss during traffic spikes while maintaining the order of processing”</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Buffer a spike AND keep order points to an SQS FIFO queue as the event source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Ground a chatbot in your own docs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developer is building a customer support chatbot that uses Amazon Bedrock to generate responses. The chatbot must answer questions about the company's products. The company stores product documentation as PDF files in an Amazon S3 bucket. The developer needs the chatbot to reference this documentation when generating responses.</a:t>
            </a:r>
          </a:p>
          <a:p>
            <a:r>
              <a:rPr sz="1600" b="1">
                <a:solidFill>
                  <a:srgbClr val="232B37"/>
                </a:solidFill>
                <a:latin typeface="Amazon Ember Display"/>
              </a:rPr>
              <a:t>The developer must implement this solution with the LEAST custom code.</a:t>
            </a:r>
          </a:p>
          <a:p>
            <a:r>
              <a:rPr sz="1600" b="1">
                <a:solidFill>
                  <a:srgbClr val="232B37"/>
                </a:solidFill>
                <a:latin typeface="Amazon Ember Display"/>
              </a:rPr>
              <a:t>Which approach should the developer take?</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knowledge base in Amazon Bedrock. Configure the S3 bucket as a data source. Use the RetrieveAndGenerate API to query the knowledge base when users ask questions.</a:t>
            </a:r>
          </a:p>
          <a:p>
            <a:pPr marL="342900" indent="-342900">
              <a:spcBef>
                <a:spcPts val="600"/>
              </a:spcBef>
            </a:pPr>
            <a:r>
              <a:rPr sz="1600" b="0">
                <a:solidFill>
                  <a:srgbClr val="232B37"/>
                </a:solidFill>
                <a:latin typeface="Amazon Ember Display"/>
              </a:rPr>
              <a:t>B.  Write a Lambda function that downloads PDFs from S3, extracts text, generates embeddings, and stores them in Amazon OpenSearch Service. Write another Lambda function that queries OpenSearch and passes results to Bedrock.</a:t>
            </a:r>
          </a:p>
          <a:p>
            <a:pPr marL="342900" indent="-342900">
              <a:spcBef>
                <a:spcPts val="600"/>
              </a:spcBef>
            </a:pPr>
            <a:r>
              <a:rPr sz="1600" b="0">
                <a:solidFill>
                  <a:srgbClr val="232B37"/>
                </a:solidFill>
                <a:latin typeface="Amazon Ember Display"/>
              </a:rPr>
              <a:t>C.  Include the full text of all product documentation in the system prompt for each Bedrock API call.</a:t>
            </a:r>
          </a:p>
          <a:p>
            <a:pPr marL="342900" indent="-342900">
              <a:spcBef>
                <a:spcPts val="600"/>
              </a:spcBef>
            </a:pPr>
            <a:r>
              <a:rPr sz="1600" b="0">
                <a:solidFill>
                  <a:srgbClr val="232B37"/>
                </a:solidFill>
                <a:latin typeface="Amazon Ember Display"/>
              </a:rPr>
              <a:t>D.  Use Amazon Q to index the S3 bucket. Configure the chatbot to call the Amazon Q API for product questions.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Ground a chatbot in your own docs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developer is building a customer support chatbot that uses Amazon Bedrock to generate responses. The chatbot must answer questions about the company's products. The company stores product documentation as PDF files in an Amazon S3 bucket. The developer needs the chatbot to reference this documentation when generating responses.</a:t>
            </a:r>
          </a:p>
          <a:p>
            <a:r>
              <a:rPr sz="1600" b="1">
                <a:solidFill>
                  <a:srgbClr val="232B37"/>
                </a:solidFill>
                <a:latin typeface="Amazon Ember Display"/>
              </a:rPr>
              <a:t>The developer must implement this solution with the LEAST custom code.</a:t>
            </a:r>
          </a:p>
          <a:p>
            <a:r>
              <a:rPr sz="1600" b="1">
                <a:solidFill>
                  <a:srgbClr val="232B37"/>
                </a:solidFill>
                <a:latin typeface="Amazon Ember Display"/>
              </a:rPr>
              <a:t>Which approach should the developer take?</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knowledge base in Amazon Bedrock. Configure the S3 bucket as a data source. Use the RetrieveAndGenerate API to query the knowledge base when users ask questions.</a:t>
            </a:r>
          </a:p>
          <a:p>
            <a:pPr marL="342900" indent="-342900">
              <a:spcBef>
                <a:spcPts val="600"/>
              </a:spcBef>
            </a:pPr>
            <a:r>
              <a:rPr sz="1600" b="0">
                <a:solidFill>
                  <a:srgbClr val="232B37"/>
                </a:solidFill>
                <a:latin typeface="Amazon Ember Display"/>
              </a:rPr>
              <a:t>B.  Write a Lambda function that downloads PDFs from S3, extracts text, generates embeddings, and stores them in Amazon OpenSearch Service. Write another Lambda function that queries OpenSearch and passes results to Bedrock.</a:t>
            </a:r>
          </a:p>
          <a:p>
            <a:pPr marL="342900" indent="-342900">
              <a:spcBef>
                <a:spcPts val="600"/>
              </a:spcBef>
            </a:pPr>
            <a:r>
              <a:rPr sz="1600" b="0">
                <a:solidFill>
                  <a:srgbClr val="232B37"/>
                </a:solidFill>
                <a:latin typeface="Amazon Ember Display"/>
              </a:rPr>
              <a:t>C.  Include the full text of all product documentation in the system prompt for each Bedrock API call.</a:t>
            </a:r>
          </a:p>
          <a:p>
            <a:pPr marL="342900" indent="-342900">
              <a:spcBef>
                <a:spcPts val="600"/>
              </a:spcBef>
            </a:pPr>
            <a:r>
              <a:rPr sz="1600" b="0">
                <a:solidFill>
                  <a:srgbClr val="232B37"/>
                </a:solidFill>
                <a:latin typeface="Amazon Ember Display"/>
              </a:rPr>
              <a:t>D.  Use Amazon Q to index the S3 bucket. Configure the chatbot to call the Amazon Q API for product questions.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Ground a chatbot in your own docs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developer is building a customer support chatbot that uses Amazon Bedrock to generate responses. The chatbot must answer questions about the company's products. The company stores product documentation as PDF files in an Amazon S3 bucket. The developer needs the chatbot to reference this documentation when generating responses.</a:t>
            </a:r>
          </a:p>
          <a:p>
            <a:r>
              <a:rPr sz="1600" b="1">
                <a:solidFill>
                  <a:srgbClr val="232B37"/>
                </a:solidFill>
                <a:latin typeface="Amazon Ember Display"/>
              </a:rPr>
              <a:t>The developer must implement this solution with the LEAST custom code.</a:t>
            </a:r>
          </a:p>
          <a:p>
            <a:r>
              <a:rPr sz="1600" b="1">
                <a:solidFill>
                  <a:srgbClr val="232B37"/>
                </a:solidFill>
                <a:latin typeface="Amazon Ember Display"/>
              </a:rPr>
              <a:t>Which approach should the developer take?</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Create a knowledge base in Amazon Bedrock. Configure the S3 bucket as a data source. Use the RetrieveAndGenerate API to query the knowledge base when users ask questions.  [CORRECT]</a:t>
            </a:r>
          </a:p>
          <a:p>
            <a:pPr marL="342900" indent="-342900">
              <a:spcBef>
                <a:spcPts val="600"/>
              </a:spcBef>
            </a:pPr>
            <a:r>
              <a:rPr sz="1600" b="0">
                <a:solidFill>
                  <a:srgbClr val="232B37"/>
                </a:solidFill>
                <a:latin typeface="Amazon Ember Display"/>
              </a:rPr>
              <a:t>B.  Write a Lambda function that downloads PDFs from S3, extracts text, generates embeddings, and stores them in Amazon OpenSearch Service. Write another Lambda function that queries OpenSearch and passes results to Bedrock.</a:t>
            </a:r>
          </a:p>
          <a:p>
            <a:pPr marL="342900" indent="-342900">
              <a:spcBef>
                <a:spcPts val="600"/>
              </a:spcBef>
            </a:pPr>
            <a:r>
              <a:rPr sz="1600" b="0">
                <a:solidFill>
                  <a:srgbClr val="232B37"/>
                </a:solidFill>
                <a:latin typeface="Amazon Ember Display"/>
              </a:rPr>
              <a:t>C.  Include the full text of all product documentation in the system prompt for each Bedrock API call.</a:t>
            </a:r>
          </a:p>
          <a:p>
            <a:pPr marL="342900" indent="-342900">
              <a:spcBef>
                <a:spcPts val="600"/>
              </a:spcBef>
            </a:pPr>
            <a:r>
              <a:rPr sz="1600" b="0">
                <a:solidFill>
                  <a:srgbClr val="232B37"/>
                </a:solidFill>
                <a:latin typeface="Amazon Ember Display"/>
              </a:rPr>
              <a:t>D.  Use Amazon Q to index the S3 bucket. Configure the chatbot to call the Amazon Q API for product questions.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Ground a chatbot in your own docs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Retrieve data and generate AI responses…</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Create a knowledge base in Amazon Bedrock. Configure the S3 bucket as a data source. Use the RetrieveAndGenerate API to query the knowledge base when users ask questions.</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dirty="0">
                <a:solidFill>
                  <a:srgbClr val="8F0072"/>
                </a:solidFill>
                <a:latin typeface="Amazon Ember Display"/>
              </a:rPr>
              <a:t>A Bedrock </a:t>
            </a:r>
            <a:r>
              <a:rPr lang="en-US" sz="1600" b="0" i="0" dirty="0">
                <a:solidFill>
                  <a:srgbClr val="8F0072"/>
                </a:solidFill>
                <a:latin typeface="Amazon Ember Display"/>
              </a:rPr>
              <a:t>K</a:t>
            </a:r>
            <a:r>
              <a:rPr sz="1600" b="0" i="0" dirty="0">
                <a:solidFill>
                  <a:srgbClr val="8F0072"/>
                </a:solidFill>
                <a:latin typeface="Amazon Ember Display"/>
              </a:rPr>
              <a:t>nowledge </a:t>
            </a:r>
            <a:r>
              <a:rPr lang="en-US" sz="1600" dirty="0">
                <a:solidFill>
                  <a:srgbClr val="8F0072"/>
                </a:solidFill>
                <a:latin typeface="Amazon Ember Display"/>
              </a:rPr>
              <a:t>B</a:t>
            </a:r>
            <a:r>
              <a:rPr sz="1600" b="0" i="0" dirty="0">
                <a:solidFill>
                  <a:srgbClr val="8F0072"/>
                </a:solidFill>
                <a:latin typeface="Amazon Ember Display"/>
              </a:rPr>
              <a:t>ase indexes S3 and answers in one API call</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Hand-built embeddings and a search cluster are the most custom code</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Putting every document in the prompt does not scale</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A separate managed assistant adds another service to wire up</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“reference this documentation when generating responses ... LEAST custom code”</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dirty="0">
                <a:solidFill>
                  <a:srgbClr val="232B37"/>
                </a:solidFill>
                <a:latin typeface="Amazon Ember Display"/>
              </a:rPr>
              <a:t>→  Least code plus your own documents points to a Bedrock </a:t>
            </a:r>
            <a:r>
              <a:rPr lang="en-US" sz="1700" b="0" i="0" dirty="0">
                <a:solidFill>
                  <a:srgbClr val="232B37"/>
                </a:solidFill>
                <a:latin typeface="Amazon Ember Display"/>
              </a:rPr>
              <a:t>K</a:t>
            </a:r>
            <a:r>
              <a:rPr sz="1700" b="0" i="0" dirty="0">
                <a:solidFill>
                  <a:srgbClr val="232B37"/>
                </a:solidFill>
                <a:latin typeface="Amazon Ember Display"/>
              </a:rPr>
              <a:t>nowledge </a:t>
            </a:r>
            <a:r>
              <a:rPr lang="en-US" sz="1700" dirty="0">
                <a:solidFill>
                  <a:srgbClr val="232B37"/>
                </a:solidFill>
                <a:latin typeface="Amazon Ember Display"/>
              </a:rPr>
              <a:t>B</a:t>
            </a:r>
            <a:r>
              <a:rPr sz="1700" b="0" i="0" dirty="0">
                <a:solidFill>
                  <a:srgbClr val="232B37"/>
                </a:solidFill>
                <a:latin typeface="Amazon Ember Display"/>
              </a:rPr>
              <a:t>ase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Image resize is too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2846527"/>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572207"/>
          </a:xfrm>
          <a:prstGeom prst="rect">
            <a:avLst/>
          </a:prstGeom>
          <a:noFill/>
        </p:spPr>
        <p:txBody>
          <a:bodyPr wrap="square" anchor="t">
            <a:noAutofit/>
          </a:bodyPr>
          <a:lstStyle/>
          <a:p>
            <a:r>
              <a:rPr sz="1600" b="1">
                <a:solidFill>
                  <a:srgbClr val="232B37"/>
                </a:solidFill>
                <a:latin typeface="Amazon Ember Display"/>
              </a:rPr>
              <a:t>A developer is building a Lambda function that processes images uploaded to an S3 bucket. The function resizes images and stores the results in a different S3 bucket. The function uses 512 MB of memory and currently takes 15 seconds to process each image. The developer needs to reduce the processing time.</a:t>
            </a:r>
          </a:p>
          <a:p>
            <a:r>
              <a:rPr sz="1600" b="1">
                <a:solidFill>
                  <a:srgbClr val="232B37"/>
                </a:solidFill>
                <a:latin typeface="Amazon Ember Display"/>
              </a:rPr>
              <a:t>Which change will MOST effectively reduce the Lambda function's processing time?</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function's reserved concurrency to allow more simultaneous executions.</a:t>
            </a:r>
          </a:p>
          <a:p>
            <a:pPr marL="342900" indent="-342900">
              <a:spcBef>
                <a:spcPts val="600"/>
              </a:spcBef>
            </a:pPr>
            <a:r>
              <a:rPr sz="1600" b="0">
                <a:solidFill>
                  <a:srgbClr val="232B37"/>
                </a:solidFill>
                <a:latin typeface="Amazon Ember Display"/>
              </a:rPr>
              <a:t>B.  Increase the function's memory allocation to provide more CPU power for image processing.</a:t>
            </a:r>
          </a:p>
          <a:p>
            <a:pPr marL="342900" indent="-342900">
              <a:spcBef>
                <a:spcPts val="600"/>
              </a:spcBef>
            </a:pPr>
            <a:r>
              <a:rPr sz="1600" b="0">
                <a:solidFill>
                  <a:srgbClr val="232B37"/>
                </a:solidFill>
                <a:latin typeface="Amazon Ember Display"/>
              </a:rPr>
              <a:t>C.  Enable provisioned concurrency for the function to eliminate cold starts.</a:t>
            </a:r>
          </a:p>
          <a:p>
            <a:pPr marL="342900" indent="-342900">
              <a:spcBef>
                <a:spcPts val="600"/>
              </a:spcBef>
            </a:pPr>
            <a:r>
              <a:rPr sz="1600" b="0">
                <a:solidFill>
                  <a:srgbClr val="232B37"/>
                </a:solidFill>
                <a:latin typeface="Amazon Ember Display"/>
              </a:rPr>
              <a:t>D.  Increase the function's timeout value to 60 seconds.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Image resize is too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2846527"/>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572207"/>
          </a:xfrm>
          <a:prstGeom prst="rect">
            <a:avLst/>
          </a:prstGeom>
          <a:noFill/>
        </p:spPr>
        <p:txBody>
          <a:bodyPr wrap="square" anchor="t">
            <a:noAutofit/>
          </a:bodyPr>
          <a:lstStyle/>
          <a:p>
            <a:r>
              <a:rPr sz="1600" b="1">
                <a:solidFill>
                  <a:srgbClr val="232B37"/>
                </a:solidFill>
                <a:latin typeface="Amazon Ember Display"/>
              </a:rPr>
              <a:t>A developer is building a Lambda function that processes images uploaded to an S3 bucket. The function resizes images and stores the results in a different S3 bucket. The function uses 512 MB of memory and currently takes 15 seconds to process each image. The developer needs to reduce the processing time.</a:t>
            </a:r>
          </a:p>
          <a:p>
            <a:r>
              <a:rPr sz="1600" b="1">
                <a:solidFill>
                  <a:srgbClr val="232B37"/>
                </a:solidFill>
                <a:latin typeface="Amazon Ember Display"/>
              </a:rPr>
              <a:t>Which change will MOST effectively reduce the Lambda function's processing time?</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function's reserved concurrency to allow more simultaneous executions.</a:t>
            </a:r>
          </a:p>
          <a:p>
            <a:pPr marL="342900" indent="-342900">
              <a:spcBef>
                <a:spcPts val="600"/>
              </a:spcBef>
            </a:pPr>
            <a:r>
              <a:rPr sz="1600" b="0">
                <a:solidFill>
                  <a:srgbClr val="232B37"/>
                </a:solidFill>
                <a:latin typeface="Amazon Ember Display"/>
              </a:rPr>
              <a:t>B.  Increase the function's memory allocation to provide more CPU power for image processing.</a:t>
            </a:r>
          </a:p>
          <a:p>
            <a:pPr marL="342900" indent="-342900">
              <a:spcBef>
                <a:spcPts val="600"/>
              </a:spcBef>
            </a:pPr>
            <a:r>
              <a:rPr sz="1600" b="0">
                <a:solidFill>
                  <a:srgbClr val="232B37"/>
                </a:solidFill>
                <a:latin typeface="Amazon Ember Display"/>
              </a:rPr>
              <a:t>C.  Enable provisioned concurrency for the function to eliminate cold starts.</a:t>
            </a:r>
          </a:p>
          <a:p>
            <a:pPr marL="342900" indent="-342900">
              <a:spcBef>
                <a:spcPts val="600"/>
              </a:spcBef>
            </a:pPr>
            <a:r>
              <a:rPr sz="1600" b="0">
                <a:solidFill>
                  <a:srgbClr val="232B37"/>
                </a:solidFill>
                <a:latin typeface="Amazon Ember Display"/>
              </a:rPr>
              <a:t>D.  Increase the function's timeout value to 60 seconds.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Image resize is too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2846527"/>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572207"/>
          </a:xfrm>
          <a:prstGeom prst="rect">
            <a:avLst/>
          </a:prstGeom>
          <a:noFill/>
        </p:spPr>
        <p:txBody>
          <a:bodyPr wrap="square" anchor="t">
            <a:noAutofit/>
          </a:bodyPr>
          <a:lstStyle/>
          <a:p>
            <a:r>
              <a:rPr sz="1600" b="1">
                <a:solidFill>
                  <a:srgbClr val="232B37"/>
                </a:solidFill>
                <a:latin typeface="Amazon Ember Display"/>
              </a:rPr>
              <a:t>A developer is building a Lambda function that processes images uploaded to an S3 bucket. The function resizes images and stores the results in a different S3 bucket. The function uses 512 MB of memory and currently takes 15 seconds to process each image. The developer needs to reduce the processing time.</a:t>
            </a:r>
          </a:p>
          <a:p>
            <a:r>
              <a:rPr sz="1600" b="1">
                <a:solidFill>
                  <a:srgbClr val="232B37"/>
                </a:solidFill>
                <a:latin typeface="Amazon Ember Display"/>
              </a:rPr>
              <a:t>Which change will MOST effectively reduce the Lambda function's processing time?</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function's reserved concurrency to allow more simultaneous executions.</a:t>
            </a:r>
          </a:p>
          <a:p>
            <a:pPr marL="342900" indent="-342900">
              <a:spcBef>
                <a:spcPts val="600"/>
              </a:spcBef>
            </a:pPr>
            <a:r>
              <a:rPr sz="1600" b="1">
                <a:solidFill>
                  <a:srgbClr val="2E7D32"/>
                </a:solidFill>
                <a:latin typeface="Amazon Ember Display"/>
              </a:rPr>
              <a:t>B.  Increase the function's memory allocation to provide more CPU power for image processing.  [CORRECT]</a:t>
            </a:r>
          </a:p>
          <a:p>
            <a:pPr marL="342900" indent="-342900">
              <a:spcBef>
                <a:spcPts val="600"/>
              </a:spcBef>
            </a:pPr>
            <a:r>
              <a:rPr sz="1600" b="0">
                <a:solidFill>
                  <a:srgbClr val="232B37"/>
                </a:solidFill>
                <a:latin typeface="Amazon Ember Display"/>
              </a:rPr>
              <a:t>C.  Enable provisioned concurrency for the function to eliminate cold starts.</a:t>
            </a:r>
          </a:p>
          <a:p>
            <a:pPr marL="342900" indent="-342900">
              <a:spcBef>
                <a:spcPts val="600"/>
              </a:spcBef>
            </a:pPr>
            <a:r>
              <a:rPr sz="1600" b="0">
                <a:solidFill>
                  <a:srgbClr val="232B37"/>
                </a:solidFill>
                <a:latin typeface="Amazon Ember Display"/>
              </a:rPr>
              <a:t>D.  Increase the function's timeout value to 60 seconds.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Image resize is too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8350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Configure Lambda function memory</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B</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B</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Increase the function's memory allocation to provide more CPU power for image processing.</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More memory gives Lambda more CPU, so each resize finishes sooner</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Reserved concurrency adds parallel runs, not faster ones</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Provisioned concurrency removes cold starts, not run time</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dirty="0">
                <a:solidFill>
                  <a:srgbClr val="232B37"/>
                </a:solidFill>
                <a:latin typeface="Amazon Ember Display"/>
              </a:rPr>
              <a:t>A longer timeout lets it run </a:t>
            </a:r>
            <a:r>
              <a:rPr lang="en-US" sz="1700" b="0" i="0" dirty="0">
                <a:solidFill>
                  <a:srgbClr val="232B37"/>
                </a:solidFill>
                <a:latin typeface="Amazon Ember Display"/>
              </a:rPr>
              <a:t>longer;</a:t>
            </a:r>
            <a:r>
              <a:rPr sz="1700" b="0" i="0" dirty="0">
                <a:solidFill>
                  <a:srgbClr val="232B37"/>
                </a:solidFill>
                <a:latin typeface="Amazon Ember Display"/>
              </a:rPr>
              <a:t> it does not speed it up</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“MOST effectively reduce the Lambda function's processing time”</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Faster per-invocation work points to more memory, which is more CPU</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Query by a non-key attribute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uses Amazon DynamoDB to store user profile data. The table uses user_id as the partition key. The application must support a new feature that queries user profiles by email address. The email address is unique for each user but is not part of the table's primary key.</a:t>
            </a:r>
          </a:p>
          <a:p>
            <a:r>
              <a:rPr sz="1600" b="1">
                <a:solidFill>
                  <a:srgbClr val="232B37"/>
                </a:solidFill>
                <a:latin typeface="Amazon Ember Display"/>
              </a:rPr>
              <a:t>The developer must implement this query capability with the LEAST impact on the table's existing write performance.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global secondary index (GSI) with email as the partition key. Query the GSI when searching by email address.</a:t>
            </a:r>
          </a:p>
          <a:p>
            <a:pPr marL="342900" indent="-342900">
              <a:spcBef>
                <a:spcPts val="600"/>
              </a:spcBef>
            </a:pPr>
            <a:r>
              <a:rPr sz="1600" b="0">
                <a:solidFill>
                  <a:srgbClr val="232B37"/>
                </a:solidFill>
                <a:latin typeface="Amazon Ember Display"/>
              </a:rPr>
              <a:t>B.  Create a local secondary index (LSI) with email as the sort key. Query the LSI when searching by email address.</a:t>
            </a:r>
          </a:p>
          <a:p>
            <a:pPr marL="342900" indent="-342900">
              <a:spcBef>
                <a:spcPts val="600"/>
              </a:spcBef>
            </a:pPr>
            <a:r>
              <a:rPr sz="1600" b="0">
                <a:solidFill>
                  <a:srgbClr val="232B37"/>
                </a:solidFill>
                <a:latin typeface="Amazon Ember Display"/>
              </a:rPr>
              <a:t>C.  Perform a Scan operation with a filter expression on the email attribute each time a search by email is needed.</a:t>
            </a:r>
          </a:p>
          <a:p>
            <a:pPr marL="342900" indent="-342900">
              <a:spcBef>
                <a:spcPts val="600"/>
              </a:spcBef>
            </a:pPr>
            <a:r>
              <a:rPr sz="1600" b="0">
                <a:solidFill>
                  <a:srgbClr val="232B37"/>
                </a:solidFill>
                <a:latin typeface="Amazon Ember Display"/>
              </a:rPr>
              <a:t>D.  Create a second DynamoDB table with email as the partition key. Write to both tables on each profile update using a DynamoDB transaction.</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Query by a non-key attribute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uses Amazon DynamoDB to store user profile data. The table uses user_id as the partition key. The application must support a new feature that queries user profiles by email address. The email address is unique for each user but is not part of the table's primary key.</a:t>
            </a:r>
          </a:p>
          <a:p>
            <a:r>
              <a:rPr sz="1600" b="1">
                <a:solidFill>
                  <a:srgbClr val="232B37"/>
                </a:solidFill>
                <a:latin typeface="Amazon Ember Display"/>
              </a:rPr>
              <a:t>The developer must implement this query capability with the LEAST impact on the table's existing write performance.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global secondary index (GSI) with email as the partition key. Query the GSI when searching by email address.</a:t>
            </a:r>
          </a:p>
          <a:p>
            <a:pPr marL="342900" indent="-342900">
              <a:spcBef>
                <a:spcPts val="600"/>
              </a:spcBef>
            </a:pPr>
            <a:r>
              <a:rPr sz="1600" b="0">
                <a:solidFill>
                  <a:srgbClr val="232B37"/>
                </a:solidFill>
                <a:latin typeface="Amazon Ember Display"/>
              </a:rPr>
              <a:t>B.  Create a local secondary index (LSI) with email as the sort key. Query the LSI when searching by email address.</a:t>
            </a:r>
          </a:p>
          <a:p>
            <a:pPr marL="342900" indent="-342900">
              <a:spcBef>
                <a:spcPts val="600"/>
              </a:spcBef>
            </a:pPr>
            <a:r>
              <a:rPr sz="1600" b="0">
                <a:solidFill>
                  <a:srgbClr val="232B37"/>
                </a:solidFill>
                <a:latin typeface="Amazon Ember Display"/>
              </a:rPr>
              <a:t>C.  Perform a Scan operation with a filter expression on the email attribute each time a search by email is needed.</a:t>
            </a:r>
          </a:p>
          <a:p>
            <a:pPr marL="342900" indent="-342900">
              <a:spcBef>
                <a:spcPts val="600"/>
              </a:spcBef>
            </a:pPr>
            <a:r>
              <a:rPr sz="1600" b="0">
                <a:solidFill>
                  <a:srgbClr val="232B37"/>
                </a:solidFill>
                <a:latin typeface="Amazon Ember Display"/>
              </a:rPr>
              <a:t>D.  Create a second DynamoDB table with email as the partition key. Write to both tables on each profile update using a DynamoDB transaction.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Query by a non-key attribute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uses Amazon DynamoDB to store user profile data. The table uses user_id as the partition key. The application must support a new feature that queries user profiles by email address. The email address is unique for each user but is not part of the table's primary key.</a:t>
            </a:r>
          </a:p>
          <a:p>
            <a:r>
              <a:rPr sz="1600" b="1">
                <a:solidFill>
                  <a:srgbClr val="232B37"/>
                </a:solidFill>
                <a:latin typeface="Amazon Ember Display"/>
              </a:rPr>
              <a:t>The developer must implement this query capability with the LEAST impact on the table's existing write performance.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Create a global secondary index (GSI) with email as the partition key. Query the GSI when searching by email address.  [CORRECT]</a:t>
            </a:r>
          </a:p>
          <a:p>
            <a:pPr marL="342900" indent="-342900">
              <a:spcBef>
                <a:spcPts val="600"/>
              </a:spcBef>
            </a:pPr>
            <a:r>
              <a:rPr sz="1600" b="0">
                <a:solidFill>
                  <a:srgbClr val="232B37"/>
                </a:solidFill>
                <a:latin typeface="Amazon Ember Display"/>
              </a:rPr>
              <a:t>B.  Create a local secondary index (LSI) with email as the sort key. Query the LSI when searching by email address.</a:t>
            </a:r>
          </a:p>
          <a:p>
            <a:pPr marL="342900" indent="-342900">
              <a:spcBef>
                <a:spcPts val="600"/>
              </a:spcBef>
            </a:pPr>
            <a:r>
              <a:rPr sz="1600" b="0">
                <a:solidFill>
                  <a:srgbClr val="232B37"/>
                </a:solidFill>
                <a:latin typeface="Amazon Ember Display"/>
              </a:rPr>
              <a:t>C.  Perform a Scan operation with a filter expression on the email attribute each time a search by email is needed.</a:t>
            </a:r>
          </a:p>
          <a:p>
            <a:pPr marL="342900" indent="-342900">
              <a:spcBef>
                <a:spcPts val="600"/>
              </a:spcBef>
            </a:pPr>
            <a:r>
              <a:rPr sz="1600" b="0">
                <a:solidFill>
                  <a:srgbClr val="232B37"/>
                </a:solidFill>
                <a:latin typeface="Amazon Ember Display"/>
              </a:rPr>
              <a:t>D.  Create a second DynamoDB table with email as the partition key. Write to both tables on each profile update using a DynamoDB transaction.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Query by a non-key attribute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Using Global Secondary Indexes in DynamoDB</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Create a global secondary index (GSI) with email as the partition key. Query the GSI when searching by email address.</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A global secondary index queries email with its own throughput</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An LSI shares the base key and must exist at table creation</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A Scan reads the whole table on every email lookup</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A second table with transactions doubles every write</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“query capability with the LEAST impact on the table's existing write performance”</a:t>
            </a:r>
          </a:p>
        </p:txBody>
      </p:sp>
      <p:sp>
        <p:nvSpPr>
          <p:cNvPr id="28" name="TextBox 27"/>
          <p:cNvSpPr txBox="1"/>
          <p:nvPr/>
        </p:nvSpPr>
        <p:spPr>
          <a:xfrm>
            <a:off x="2487168" y="5175504"/>
            <a:ext cx="9107008" cy="292608"/>
          </a:xfrm>
          <a:prstGeom prst="rect">
            <a:avLst/>
          </a:prstGeom>
          <a:noFill/>
        </p:spPr>
        <p:txBody>
          <a:bodyPr wrap="square" anchor="t">
            <a:noAutofit/>
          </a:bodyPr>
          <a:lstStyle/>
          <a:p>
            <a:pPr algn="l"/>
            <a:r>
              <a:rPr sz="1700" b="0" i="0" dirty="0">
                <a:solidFill>
                  <a:srgbClr val="232B37"/>
                </a:solidFill>
                <a:latin typeface="Amazon Ember Display"/>
              </a:rPr>
              <a:t>→  Query a non-key attribute without touching writes points to a global secondary index</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Standards applied on every generation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development team uses Kiro to generate code for a set of new microservices. The team has internal standards for error handling, log format, and API response structure. Developers must restate these standards in every request, and the generated code is still inconsistent between features. The team needs the standards to be applied automatically whenever the agent generates code.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Paste the standards into each chat session before requesting code, and share the session.</a:t>
            </a:r>
          </a:p>
          <a:p>
            <a:pPr marL="342900" indent="-342900">
              <a:spcBef>
                <a:spcPts val="600"/>
              </a:spcBef>
            </a:pPr>
            <a:r>
              <a:rPr sz="1600" b="0">
                <a:solidFill>
                  <a:srgbClr val="232B37"/>
                </a:solidFill>
                <a:latin typeface="Amazon Ember Display"/>
              </a:rPr>
              <a:t>B.  Create a spec for each feature that repeats the standards in its requirements section.</a:t>
            </a:r>
          </a:p>
          <a:p>
            <a:pPr marL="342900" indent="-342900">
              <a:spcBef>
                <a:spcPts val="600"/>
              </a:spcBef>
            </a:pPr>
            <a:r>
              <a:rPr sz="1600" b="0">
                <a:solidFill>
                  <a:srgbClr val="232B37"/>
                </a:solidFill>
                <a:latin typeface="Amazon Ember Display"/>
              </a:rPr>
              <a:t>C.  Create a steering file that records the standards so that the agent applies them automatically.</a:t>
            </a:r>
          </a:p>
          <a:p>
            <a:pPr marL="342900" indent="-342900">
              <a:spcBef>
                <a:spcPts val="600"/>
              </a:spcBef>
            </a:pPr>
            <a:r>
              <a:rPr sz="1600" b="0">
                <a:solidFill>
                  <a:srgbClr val="232B37"/>
                </a:solidFill>
                <a:latin typeface="Amazon Ember Display"/>
              </a:rPr>
              <a:t>D.  Create a hook on file save that rewrites generated code so that the code matches the standards.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Standards applied on every generation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development team uses Kiro to generate code for a set of new microservices. The team has internal standards for error handling, log format, and API response structure. Developers must restate these standards in every request, and the generated code is still inconsistent between features. The team needs the standards to be applied automatically whenever the agent generates code.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Paste the standards into each chat session before requesting code, and share the session.</a:t>
            </a:r>
          </a:p>
          <a:p>
            <a:pPr marL="342900" indent="-342900">
              <a:spcBef>
                <a:spcPts val="600"/>
              </a:spcBef>
            </a:pPr>
            <a:r>
              <a:rPr sz="1600" b="0">
                <a:solidFill>
                  <a:srgbClr val="232B37"/>
                </a:solidFill>
                <a:latin typeface="Amazon Ember Display"/>
              </a:rPr>
              <a:t>B.  Create a spec for each feature that repeats the standards in its requirements section.</a:t>
            </a:r>
          </a:p>
          <a:p>
            <a:pPr marL="342900" indent="-342900">
              <a:spcBef>
                <a:spcPts val="600"/>
              </a:spcBef>
            </a:pPr>
            <a:r>
              <a:rPr sz="1600" b="0">
                <a:solidFill>
                  <a:srgbClr val="232B37"/>
                </a:solidFill>
                <a:latin typeface="Amazon Ember Display"/>
              </a:rPr>
              <a:t>C.  Create a steering file that records the standards so that the agent applies them automatically.</a:t>
            </a:r>
          </a:p>
          <a:p>
            <a:pPr marL="342900" indent="-342900">
              <a:spcBef>
                <a:spcPts val="600"/>
              </a:spcBef>
            </a:pPr>
            <a:r>
              <a:rPr sz="1600" b="0">
                <a:solidFill>
                  <a:srgbClr val="232B37"/>
                </a:solidFill>
                <a:latin typeface="Amazon Ember Display"/>
              </a:rPr>
              <a:t>D.  Create a hook on file save that rewrites generated code so that the code matches the standards.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Standards applied on every generation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94329"/>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39" y="1362456"/>
            <a:ext cx="10669385" cy="2820009"/>
          </a:xfrm>
          <a:prstGeom prst="rect">
            <a:avLst/>
          </a:prstGeom>
          <a:noFill/>
        </p:spPr>
        <p:txBody>
          <a:bodyPr wrap="square" anchor="t">
            <a:noAutofit/>
          </a:bodyPr>
          <a:lstStyle/>
          <a:p>
            <a:r>
              <a:rPr sz="1600" b="1" dirty="0">
                <a:solidFill>
                  <a:srgbClr val="232B37"/>
                </a:solidFill>
                <a:latin typeface="Amazon Ember Display"/>
              </a:rPr>
              <a:t>A development team uses Kiro to generate code for a set of new microservices. The team has internal standards for error handling, log format, and API response structure. Developers must restate these standards in every request, and the generated code is still inconsistent between features. The team needs </a:t>
            </a:r>
            <a:br>
              <a:rPr lang="en-US" sz="1600" b="1" dirty="0">
                <a:solidFill>
                  <a:srgbClr val="232B37"/>
                </a:solidFill>
                <a:latin typeface="Amazon Ember Display"/>
              </a:rPr>
            </a:br>
            <a:r>
              <a:rPr sz="1600" b="1" dirty="0">
                <a:solidFill>
                  <a:srgbClr val="232B37"/>
                </a:solidFill>
                <a:latin typeface="Amazon Ember Display"/>
              </a:rPr>
              <a:t>the standards to be applied automatically whenever the agent generates code.</a:t>
            </a:r>
          </a:p>
          <a:p>
            <a:r>
              <a:rPr sz="1600" b="1" dirty="0">
                <a:solidFill>
                  <a:srgbClr val="232B37"/>
                </a:solidFill>
                <a:latin typeface="Amazon Ember Display"/>
              </a:rPr>
              <a:t>Which solution will meet these requirements?</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Paste the standards into each chat session before requesting code, and share the session.</a:t>
            </a:r>
          </a:p>
          <a:p>
            <a:pPr marL="342900" indent="-342900">
              <a:spcBef>
                <a:spcPts val="600"/>
              </a:spcBef>
            </a:pPr>
            <a:r>
              <a:rPr sz="1600" b="0" dirty="0">
                <a:solidFill>
                  <a:srgbClr val="232B37"/>
                </a:solidFill>
                <a:latin typeface="Amazon Ember Display"/>
              </a:rPr>
              <a:t>B.  Create a spec for each feature that repeats the standards in its requirements section.</a:t>
            </a:r>
          </a:p>
          <a:p>
            <a:pPr marL="342900" indent="-342900">
              <a:spcBef>
                <a:spcPts val="600"/>
              </a:spcBef>
            </a:pPr>
            <a:r>
              <a:rPr sz="1600" b="1" dirty="0">
                <a:solidFill>
                  <a:srgbClr val="2E7D32"/>
                </a:solidFill>
                <a:latin typeface="Amazon Ember Display"/>
              </a:rPr>
              <a:t>C.  Create a steering file that records the standards so that the agent applies them automatically.  [CORRECT]</a:t>
            </a:r>
          </a:p>
          <a:p>
            <a:pPr marL="342900" indent="-342900">
              <a:spcBef>
                <a:spcPts val="600"/>
              </a:spcBef>
            </a:pPr>
            <a:r>
              <a:rPr sz="1600" b="0" dirty="0">
                <a:solidFill>
                  <a:srgbClr val="232B37"/>
                </a:solidFill>
                <a:latin typeface="Amazon Ember Display"/>
              </a:rPr>
              <a:t>D.  Create a hook on file save that rewrites generated code so that the code matches the standards.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Standards applied on every generation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kiro.dev · Steering</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C</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C</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Create a steering file that records the standards so that the agent applies them automatically.</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A steering file records the standards so the agent always applies them</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Pasting into a session supplies the standards for that session only</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Repeating standards in every spec is the restating problem again</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A save hook rewrites after the fact instead of guiding generation</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“applied automatically whenever the agent generates code”</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Persistent, automatic project conventions point to a steering file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Which code paths are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33608"/>
            <a:ext cx="11082528" cy="306324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572207"/>
          </a:xfrm>
          <a:prstGeom prst="rect">
            <a:avLst/>
          </a:prstGeom>
          <a:noFill/>
        </p:spPr>
        <p:txBody>
          <a:bodyPr wrap="square" anchor="t">
            <a:noAutofit/>
          </a:bodyPr>
          <a:lstStyle/>
          <a:p>
            <a:r>
              <a:rPr sz="1600" b="1" dirty="0">
                <a:solidFill>
                  <a:srgbClr val="232B37"/>
                </a:solidFill>
                <a:latin typeface="Amazon Ember Display"/>
              </a:rPr>
              <a:t>A company runs a data processing function on AWS Lambda. The function duration has grown as the codebase has grown, and the company wants to reduce it. A developer must find which parts of the function source code are inefficient and obtain specific recommendations for changing that code.</a:t>
            </a:r>
          </a:p>
          <a:p>
            <a:r>
              <a:rPr sz="1600" b="1" dirty="0">
                <a:solidFill>
                  <a:srgbClr val="232B37"/>
                </a:solidFill>
                <a:latin typeface="Amazon Ember Display"/>
              </a:rPr>
              <a:t>Which solution will meet these requirements?</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Increase the memory that is allocated to the function so that it receives more CPU.</a:t>
            </a:r>
          </a:p>
          <a:p>
            <a:pPr marL="342900" indent="-342900">
              <a:spcBef>
                <a:spcPts val="600"/>
              </a:spcBef>
            </a:pPr>
            <a:r>
              <a:rPr sz="1600" b="0" dirty="0">
                <a:solidFill>
                  <a:srgbClr val="232B37"/>
                </a:solidFill>
                <a:latin typeface="Amazon Ember Display"/>
              </a:rPr>
              <a:t>B.  Configure provisioned concurrency so that initialization completes before invocations arrive.</a:t>
            </a:r>
          </a:p>
          <a:p>
            <a:pPr marL="342900" indent="-342900">
              <a:spcBef>
                <a:spcPts val="600"/>
              </a:spcBef>
            </a:pPr>
            <a:r>
              <a:rPr sz="1600" b="0" dirty="0">
                <a:solidFill>
                  <a:srgbClr val="232B37"/>
                </a:solidFill>
                <a:latin typeface="Amazon Ember Display"/>
              </a:rPr>
              <a:t>C.  Have the agent review the function source code and recommend changes for the inefficient paths.</a:t>
            </a:r>
          </a:p>
          <a:p>
            <a:pPr marL="342900" indent="-342900">
              <a:spcBef>
                <a:spcPts val="600"/>
              </a:spcBef>
            </a:pPr>
            <a:r>
              <a:rPr sz="1600" b="0" dirty="0">
                <a:solidFill>
                  <a:srgbClr val="232B37"/>
                </a:solidFill>
                <a:latin typeface="Amazon Ember Display"/>
              </a:rPr>
              <a:t>D.  Enable AWS X-Ray active tracing and review the subsegment timings for the downstream calls.</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Which code paths are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5"/>
            <a:ext cx="11082528" cy="306324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572207"/>
          </a:xfrm>
          <a:prstGeom prst="rect">
            <a:avLst/>
          </a:prstGeom>
          <a:noFill/>
        </p:spPr>
        <p:txBody>
          <a:bodyPr wrap="square" anchor="t">
            <a:noAutofit/>
          </a:bodyPr>
          <a:lstStyle/>
          <a:p>
            <a:r>
              <a:rPr sz="1600" b="1">
                <a:solidFill>
                  <a:srgbClr val="232B37"/>
                </a:solidFill>
                <a:latin typeface="Amazon Ember Display"/>
              </a:rPr>
              <a:t>A company runs a data processing function on AWS Lambda. The function duration has grown as the codebase has grown, and the company wants to reduce it. A developer must find which parts of the function source code are inefficient and obtain specific recommendations for changing that code.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memory that is allocated to the function so that it receives more CPU.</a:t>
            </a:r>
          </a:p>
          <a:p>
            <a:pPr marL="342900" indent="-342900">
              <a:spcBef>
                <a:spcPts val="600"/>
              </a:spcBef>
            </a:pPr>
            <a:r>
              <a:rPr sz="1600" b="0">
                <a:solidFill>
                  <a:srgbClr val="232B37"/>
                </a:solidFill>
                <a:latin typeface="Amazon Ember Display"/>
              </a:rPr>
              <a:t>B.  Configure provisioned concurrency so that initialization completes before invocations arrive.</a:t>
            </a:r>
          </a:p>
          <a:p>
            <a:pPr marL="342900" indent="-342900">
              <a:spcBef>
                <a:spcPts val="600"/>
              </a:spcBef>
            </a:pPr>
            <a:r>
              <a:rPr sz="1600" b="0">
                <a:solidFill>
                  <a:srgbClr val="232B37"/>
                </a:solidFill>
                <a:latin typeface="Amazon Ember Display"/>
              </a:rPr>
              <a:t>C.  Have the agent review the function source code and recommend changes for the inefficient paths.</a:t>
            </a:r>
          </a:p>
          <a:p>
            <a:pPr marL="342900" indent="-342900">
              <a:spcBef>
                <a:spcPts val="600"/>
              </a:spcBef>
            </a:pPr>
            <a:r>
              <a:rPr sz="1600" b="0">
                <a:solidFill>
                  <a:srgbClr val="232B37"/>
                </a:solidFill>
                <a:latin typeface="Amazon Ember Display"/>
              </a:rPr>
              <a:t>D.  Enable AWS X-Ray active tracing and review the subsegment timings for the downstream calls.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Which code paths are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06324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572207"/>
          </a:xfrm>
          <a:prstGeom prst="rect">
            <a:avLst/>
          </a:prstGeom>
          <a:noFill/>
        </p:spPr>
        <p:txBody>
          <a:bodyPr wrap="square" anchor="t">
            <a:noAutofit/>
          </a:bodyPr>
          <a:lstStyle/>
          <a:p>
            <a:r>
              <a:rPr sz="1600" b="1" dirty="0">
                <a:solidFill>
                  <a:srgbClr val="232B37"/>
                </a:solidFill>
                <a:latin typeface="Amazon Ember Display"/>
              </a:rPr>
              <a:t>A company runs a data processing function on AWS Lambda. The function duration has grown as the codebase has grown, and the company wants to reduce it. A developer must find which parts of the function source code are inefficient and obtain specific recommendations for changing that code.</a:t>
            </a:r>
          </a:p>
          <a:p>
            <a:r>
              <a:rPr sz="1600" b="1" dirty="0">
                <a:solidFill>
                  <a:srgbClr val="232B37"/>
                </a:solidFill>
                <a:latin typeface="Amazon Ember Display"/>
              </a:rPr>
              <a:t>Which solution will meet these requirements?</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Increase the memory that is allocated to the function so that it receives more CPU.</a:t>
            </a:r>
          </a:p>
          <a:p>
            <a:pPr marL="342900" indent="-342900">
              <a:spcBef>
                <a:spcPts val="600"/>
              </a:spcBef>
            </a:pPr>
            <a:r>
              <a:rPr sz="1600" b="0" dirty="0">
                <a:solidFill>
                  <a:srgbClr val="232B37"/>
                </a:solidFill>
                <a:latin typeface="Amazon Ember Display"/>
              </a:rPr>
              <a:t>B.  Configure provisioned concurrency so that initialization completes before invocations arrive.</a:t>
            </a:r>
          </a:p>
          <a:p>
            <a:pPr marL="342900" indent="-342900">
              <a:spcBef>
                <a:spcPts val="600"/>
              </a:spcBef>
            </a:pPr>
            <a:r>
              <a:rPr sz="1600" b="1" dirty="0">
                <a:solidFill>
                  <a:srgbClr val="2E7D32"/>
                </a:solidFill>
                <a:latin typeface="Amazon Ember Display"/>
              </a:rPr>
              <a:t>C.  Have the agent review the function source code and recommend changes for the inefficient paths.</a:t>
            </a:r>
            <a:r>
              <a:rPr lang="en-US" sz="1600" b="1" dirty="0">
                <a:solidFill>
                  <a:srgbClr val="2E7D32"/>
                </a:solidFill>
                <a:latin typeface="Amazon Ember Display"/>
              </a:rPr>
              <a:t> </a:t>
            </a:r>
            <a:r>
              <a:rPr sz="1600" b="1" dirty="0">
                <a:solidFill>
                  <a:srgbClr val="2E7D32"/>
                </a:solidFill>
                <a:latin typeface="Amazon Ember Display"/>
              </a:rPr>
              <a:t>[CORRECT]</a:t>
            </a:r>
          </a:p>
          <a:p>
            <a:pPr marL="342900" indent="-342900">
              <a:spcBef>
                <a:spcPts val="600"/>
              </a:spcBef>
            </a:pPr>
            <a:r>
              <a:rPr sz="1600" b="0" dirty="0">
                <a:solidFill>
                  <a:srgbClr val="232B37"/>
                </a:solidFill>
                <a:latin typeface="Amazon Ember Display"/>
              </a:rPr>
              <a:t>D.  Enable AWS X-Ray active tracing and review the subsegment timings for the downstream calls.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Which code paths are slow?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kiro.dev · How Kiro works</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C</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C</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Have the agent review the function source code and recommend changes for the inefficient paths.</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The agent reads the code and names the inefficient paths to change</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More memory can help compute-bound code but names no path</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Provisioned concurrency cuts cold starts, not the code's duration</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X-Ray times downstream calls, not lines of your own code</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“find which parts of the function source code are inefficient”</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Pinpoint slow code AND how to fix it points to an agent code review</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Coming up: Week 3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17320"/>
            <a:ext cx="5303520" cy="3840480"/>
          </a:xfrm>
          <a:prstGeom prst="roundRect">
            <a:avLst>
              <a:gd name="adj" fmla="val 4761"/>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Learning Plan courses</a:t>
            </a:r>
          </a:p>
        </p:txBody>
      </p:sp>
      <p:sp>
        <p:nvSpPr>
          <p:cNvPr id="6" name="Rectangle 5"/>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Amazon API Gateway for Serverless</a:t>
            </a:r>
          </a:p>
        </p:txBody>
      </p:sp>
      <p:sp>
        <p:nvSpPr>
          <p:cNvPr id="9" name="Rounded Rectangle 8"/>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Designing Event-Driven Architectures</a:t>
            </a:r>
          </a:p>
        </p:txBody>
      </p:sp>
      <p:sp>
        <p:nvSpPr>
          <p:cNvPr id="11" name="Rounded Rectangle 10"/>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Architecting Serverless Applications</a:t>
            </a:r>
          </a:p>
        </p:txBody>
      </p:sp>
      <p:sp>
        <p:nvSpPr>
          <p:cNvPr id="13" name="Rounded Rectangle 12"/>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Scaling Serverless Architectures</a:t>
            </a:r>
          </a:p>
        </p:txBody>
      </p:sp>
      <p:sp>
        <p:nvSpPr>
          <p:cNvPr id="15" name="Rounded Rectangle 14"/>
          <p:cNvSpPr/>
          <p:nvPr/>
        </p:nvSpPr>
        <p:spPr>
          <a:xfrm>
            <a:off x="850392" y="4617720"/>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69848" y="4731512"/>
            <a:ext cx="4389119" cy="284479"/>
          </a:xfrm>
          <a:prstGeom prst="rect">
            <a:avLst/>
          </a:prstGeom>
          <a:noFill/>
        </p:spPr>
        <p:txBody>
          <a:bodyPr wrap="square" anchor="t">
            <a:noAutofit/>
          </a:bodyPr>
          <a:lstStyle/>
          <a:p>
            <a:pPr algn="l"/>
            <a:r>
              <a:rPr sz="1600" b="1" i="0">
                <a:solidFill>
                  <a:srgbClr val="232B37"/>
                </a:solidFill>
                <a:latin typeface="Amazon Ember Display"/>
              </a:rPr>
              <a:t>Getting Started with DevOps on AWS</a:t>
            </a:r>
          </a:p>
        </p:txBody>
      </p:sp>
      <p:sp>
        <p:nvSpPr>
          <p:cNvPr id="17" name="Rounded Rectangle 16"/>
          <p:cNvSpPr/>
          <p:nvPr/>
        </p:nvSpPr>
        <p:spPr>
          <a:xfrm>
            <a:off x="6281928" y="1417320"/>
            <a:ext cx="5303520" cy="3840480"/>
          </a:xfrm>
          <a:prstGeom prst="roundRect">
            <a:avLst>
              <a:gd name="adj" fmla="val 4761"/>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19672" y="1554480"/>
            <a:ext cx="4828031" cy="365760"/>
          </a:xfrm>
          <a:prstGeom prst="rect">
            <a:avLst/>
          </a:prstGeom>
          <a:noFill/>
        </p:spPr>
        <p:txBody>
          <a:bodyPr wrap="square" anchor="t">
            <a:noAutofit/>
          </a:bodyPr>
          <a:lstStyle/>
          <a:p>
            <a:pPr algn="ctr"/>
            <a:r>
              <a:rPr sz="2200" b="1" i="0" dirty="0">
                <a:solidFill>
                  <a:srgbClr val="8F0072"/>
                </a:solidFill>
                <a:latin typeface="Amazon Ember Display"/>
              </a:rPr>
              <a:t>Optional </a:t>
            </a:r>
            <a:r>
              <a:rPr lang="en-US" sz="2200" b="1" i="0" dirty="0">
                <a:solidFill>
                  <a:srgbClr val="8F0072"/>
                </a:solidFill>
                <a:latin typeface="Amazon Ember Display"/>
              </a:rPr>
              <a:t>a</a:t>
            </a:r>
            <a:r>
              <a:rPr sz="2200" b="1" i="0" dirty="0">
                <a:solidFill>
                  <a:srgbClr val="8F0072"/>
                </a:solidFill>
                <a:latin typeface="Amazon Ember Display"/>
              </a:rPr>
              <a:t>dditional </a:t>
            </a:r>
            <a:r>
              <a:rPr lang="en-US" sz="2200" b="1" dirty="0">
                <a:solidFill>
                  <a:srgbClr val="8F0072"/>
                </a:solidFill>
                <a:latin typeface="Amazon Ember Display"/>
              </a:rPr>
              <a:t>t</a:t>
            </a:r>
            <a:r>
              <a:rPr sz="2200" b="1" i="0" dirty="0">
                <a:solidFill>
                  <a:srgbClr val="8F0072"/>
                </a:solidFill>
                <a:latin typeface="Amazon Ember Display"/>
              </a:rPr>
              <a:t>raining</a:t>
            </a:r>
          </a:p>
        </p:txBody>
      </p:sp>
      <p:sp>
        <p:nvSpPr>
          <p:cNvPr id="19" name="Rectangle 18"/>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Continue: Cloud Quest: Serverless Dev*</a:t>
            </a:r>
          </a:p>
        </p:txBody>
      </p:sp>
      <p:sp>
        <p:nvSpPr>
          <p:cNvPr id="22" name="Rounded Rectangle 21"/>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3 review</a:t>
            </a:r>
          </a:p>
        </p:txBody>
      </p:sp>
      <p:sp>
        <p:nvSpPr>
          <p:cNvPr id="24" name="Rounded Rectangle 23"/>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3 practice*</a:t>
            </a:r>
          </a:p>
        </p:txBody>
      </p:sp>
      <p:sp>
        <p:nvSpPr>
          <p:cNvPr id="26" name="TextBox 25"/>
          <p:cNvSpPr txBox="1"/>
          <p:nvPr/>
        </p:nvSpPr>
        <p:spPr>
          <a:xfrm>
            <a:off x="612648" y="5349240"/>
            <a:ext cx="10972800" cy="274320"/>
          </a:xfrm>
          <a:prstGeom prst="rect">
            <a:avLst/>
          </a:prstGeom>
          <a:noFill/>
        </p:spPr>
        <p:txBody>
          <a:bodyPr wrap="square" anchor="ctr">
            <a:noAutofit/>
          </a:bodyPr>
          <a:lstStyle/>
          <a:p>
            <a:pPr algn="ctr"/>
            <a:r>
              <a:rPr sz="1600" b="0" i="0">
                <a:solidFill>
                  <a:srgbClr val="5A6B7B"/>
                </a:solidFill>
                <a:latin typeface="Amazon Ember Display"/>
              </a:rPr>
              <a:t>* Requires an AWS Skill Builder subscription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Q&amp;A time</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QUESTIONS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Thank you for joining!</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SEE YOU NEXT WEEK</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dirty="0">
                <a:solidFill>
                  <a:srgbClr val="FFFFFF"/>
                </a:solidFill>
                <a:latin typeface="Amazon Ember Display"/>
              </a:rPr>
              <a:t>Appendix </a:t>
            </a:r>
            <a:r>
              <a:rPr lang="en-US" sz="3600" b="1" dirty="0">
                <a:solidFill>
                  <a:srgbClr val="FFFFFF"/>
                </a:solidFill>
                <a:latin typeface="Amazon Ember Display"/>
              </a:rPr>
              <a:t>–</a:t>
            </a:r>
            <a:r>
              <a:rPr sz="3600" b="1" dirty="0">
                <a:solidFill>
                  <a:srgbClr val="FFFFFF"/>
                </a:solidFill>
                <a:latin typeface="Amazon Ember Display"/>
              </a:rPr>
              <a:t> DVA-C02 reference</a:t>
            </a:r>
          </a:p>
        </p:txBody>
      </p:sp>
      <p:sp>
        <p:nvSpPr>
          <p:cNvPr id="3" name="Text Placeholder 2"/>
          <p:cNvSpPr>
            <a:spLocks noGrp="1"/>
          </p:cNvSpPr>
          <p:nvPr>
            <p:ph type="body" sz="quarter" idx="11"/>
          </p:nvPr>
        </p:nvSpPr>
        <p:spPr>
          <a:xfrm>
            <a:off x="322916" y="2434551"/>
            <a:ext cx="3695166" cy="313932"/>
          </a:xfrm>
        </p:spPr>
        <p:txBody>
          <a:bodyPr/>
          <a:lstStyle/>
          <a:p>
            <a:r>
              <a:rPr sz="1800" b="1">
                <a:solidFill>
                  <a:srgbClr val="FF57E9"/>
                </a:solidFill>
                <a:latin typeface="Amazon Ember Display"/>
              </a:rPr>
              <a:t>SELF-STUDY REFERENCE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How C02 and C03 differ for this week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Certification updates, September 2026</a:t>
            </a: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Domain weightings: C02 to C03</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Development 32% to 30%</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Security 26%, unchanged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Testing and Deployment 24% to 22%</a:t>
            </a:r>
          </a:p>
        </p:txBody>
      </p:sp>
      <p:sp>
        <p:nvSpPr>
          <p:cNvPr id="14" name="Rounded Rectangle 13"/>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Troubleshooting 18% to 22%</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Consolidated and added</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Amazon DynamoDB: 4 skills to 1</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Bedrock and Kiro newly in scope</a:t>
            </a:r>
          </a:p>
        </p:txBody>
      </p:sp>
      <p:sp>
        <p:nvSpPr>
          <p:cNvPr id="23" name="Rounded Rectangle 22"/>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Bedrock AgentCore and Amazon Q too</a:t>
            </a:r>
          </a:p>
        </p:txBody>
      </p:sp>
      <p:sp>
        <p:nvSpPr>
          <p:cNvPr id="25" name="Rounded Rectangle 24"/>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39128" y="4128008"/>
            <a:ext cx="4389119" cy="284479"/>
          </a:xfrm>
          <a:prstGeom prst="rect">
            <a:avLst/>
          </a:prstGeom>
          <a:noFill/>
        </p:spPr>
        <p:txBody>
          <a:bodyPr wrap="square" anchor="t">
            <a:noAutofit/>
          </a:bodyPr>
          <a:lstStyle/>
          <a:p>
            <a:pPr algn="l"/>
            <a:r>
              <a:rPr sz="1600" b="1" i="0">
                <a:solidFill>
                  <a:srgbClr val="232B37"/>
                </a:solidFill>
                <a:latin typeface="Amazon Ember Display"/>
              </a:rPr>
              <a:t>Nothing else documented this week</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What a DVA-C02 candidate needs here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Certification updates, September 2026</a:t>
            </a: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dirty="0">
                <a:solidFill>
                  <a:srgbClr val="8F0072"/>
                </a:solidFill>
                <a:latin typeface="Amazon Ember Display"/>
              </a:rPr>
              <a:t>C03-only here </a:t>
            </a:r>
            <a:r>
              <a:rPr lang="en-US" sz="2200" b="1" i="0" dirty="0">
                <a:solidFill>
                  <a:srgbClr val="8F0072"/>
                </a:solidFill>
                <a:latin typeface="Amazon Ember Display"/>
              </a:rPr>
              <a:t>–</a:t>
            </a:r>
            <a:r>
              <a:rPr sz="2200" b="1" i="0" dirty="0">
                <a:solidFill>
                  <a:srgbClr val="8F0072"/>
                </a:solidFill>
                <a:latin typeface="Amazon Ember Display"/>
              </a:rPr>
              <a:t> skip for C02</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Amazon Bedrock and Kiro are new</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Added for C03 in Domain 1</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Managed AI services, AI-assisted dev</a:t>
            </a:r>
          </a:p>
        </p:txBody>
      </p:sp>
      <p:sp>
        <p:nvSpPr>
          <p:cNvPr id="14" name="Rounded Rectangle 13"/>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A C02 candidate can skip that section</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Serves both exams</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No C02-only topic this week</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The core services serve both exams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Live">
      <a:dk1>
        <a:srgbClr val="232F3D"/>
      </a:dk1>
      <a:lt1>
        <a:srgbClr val="FFFFFF"/>
      </a:lt1>
      <a:dk2>
        <a:srgbClr val="232F3D"/>
      </a:dk2>
      <a:lt2>
        <a:srgbClr val="FFFFFF"/>
      </a:lt2>
      <a:accent1>
        <a:srgbClr val="FF9400"/>
      </a:accent1>
      <a:accent2>
        <a:srgbClr val="7F52F0"/>
      </a:accent2>
      <a:accent3>
        <a:srgbClr val="216FD8"/>
      </a:accent3>
      <a:accent4>
        <a:srgbClr val="FFCBBE"/>
      </a:accent4>
      <a:accent5>
        <a:srgbClr val="FBD9BD"/>
      </a:accent5>
      <a:accent6>
        <a:srgbClr val="D5FCE4"/>
      </a:accent6>
      <a:hlink>
        <a:srgbClr val="0563C1"/>
      </a:hlink>
      <a:folHlink>
        <a:srgbClr val="FE9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T&amp;C Default 2020 Template_Light</Template>
  <TotalTime>17823</TotalTime>
  <Words>23944</Words>
  <Application>Microsoft Office PowerPoint</Application>
  <PresentationFormat>Widescreen</PresentationFormat>
  <Paragraphs>1484</Paragraphs>
  <Slides>78</Slides>
  <Notes>78</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Amazon Ember</vt:lpstr>
      <vt:lpstr>Amazon Ember Display</vt:lpstr>
      <vt:lpstr>Amazon Ember Display Heavy</vt:lpstr>
      <vt:lpstr>Amazon Ember Mono</vt:lpstr>
      <vt:lpstr>Amazon Ember Thin</vt:lpstr>
      <vt:lpstr>Arial</vt:lpstr>
      <vt:lpstr>Calibri</vt:lpstr>
      <vt:lpstr>Consolas</vt:lpstr>
      <vt:lpstr>Office Theme</vt:lpstr>
      <vt:lpstr>PowerPoint Presentation</vt:lpstr>
      <vt:lpstr>PowerPoint Presentation</vt:lpstr>
      <vt:lpstr>Content Review — Session 2</vt:lpstr>
      <vt:lpstr>Event check-in</vt:lpstr>
      <vt:lpstr>Week 2 digital training</vt:lpstr>
      <vt:lpstr>Optional: AWS Skill Builder subscription</vt:lpstr>
      <vt:lpstr>Today's focus: Development with AWS Services</vt:lpstr>
      <vt:lpstr>Your five weeks at a glance</vt:lpstr>
      <vt:lpstr>How do you build on AWS?</vt:lpstr>
      <vt:lpstr>Two ways to run your code on AWS</vt:lpstr>
      <vt:lpstr>Customers reach your service through an API</vt:lpstr>
      <vt:lpstr>API Gateway is the front door for your APIs</vt:lpstr>
      <vt:lpstr>The endpoint type decides where your API lives</vt:lpstr>
      <vt:lpstr>Stages let one API serve many environments</vt:lpstr>
      <vt:lpstr>Lambda runs your code without servers</vt:lpstr>
      <vt:lpstr>Serverless services combine into a whole app</vt:lpstr>
      <vt:lpstr>A few concepts describe every Lambda function</vt:lpstr>
      <vt:lpstr>The handler is where your event arrives</vt:lpstr>
      <vt:lpstr>Sync waits for the result; async hands it off</vt:lpstr>
      <vt:lpstr>Three models decide how Lambda is invoked</vt:lpstr>
      <vt:lpstr>Memory is the main lever for Lambda performance</vt:lpstr>
      <vt:lpstr>Timeouts stop a function that runs too long</vt:lpstr>
      <vt:lpstr>An upload can trigger Lambda in real time</vt:lpstr>
      <vt:lpstr>DynamoDB is a serverless NoSQL database</vt:lpstr>
      <vt:lpstr>A table holds items, and items hold attributes</vt:lpstr>
      <vt:lpstr>Secondary indexes query beyond the primary key</vt:lpstr>
      <vt:lpstr>Streams capture every change as it happens</vt:lpstr>
      <vt:lpstr>TTL expires stale items for you</vt:lpstr>
      <vt:lpstr>Capacity mode sets how you pay for throughput</vt:lpstr>
      <vt:lpstr>Keep large objects in S3, a pointer in DynamoDB</vt:lpstr>
      <vt:lpstr>Step Functions orchestrates multi-step work</vt:lpstr>
      <vt:lpstr>Managed services combine into one serverless app</vt:lpstr>
      <vt:lpstr>Which database fits the job?</vt:lpstr>
      <vt:lpstr>AWS runs the database so you do not have to</vt:lpstr>
      <vt:lpstr>DynamoDB and relational fit different workloads</vt:lpstr>
      <vt:lpstr>Why decouple with messaging?</vt:lpstr>
      <vt:lpstr>A queue lets producers and consumers run apart</vt:lpstr>
      <vt:lpstr>Working backwards: a huge spike was coming</vt:lpstr>
      <vt:lpstr>A topic pushes one message to many subscribers</vt:lpstr>
      <vt:lpstr>One publish fans out to many parallel consumers</vt:lpstr>
      <vt:lpstr>A queue delivers to one worker, a topic to many</vt:lpstr>
      <vt:lpstr>Where does AI fit into your app?</vt:lpstr>
      <vt:lpstr>One API reaches many foundation models</vt:lpstr>
      <vt:lpstr>Call a foundation model with one request</vt:lpstr>
      <vt:lpstr>Working backwards: scale service, not cost</vt:lpstr>
      <vt:lpstr>Kiro is one agent across your tools</vt:lpstr>
      <vt:lpstr>Guide Kiro with specs, steering, and hooks</vt:lpstr>
      <vt:lpstr>Break down what you've learned</vt:lpstr>
      <vt:lpstr>Question 6: Orders dropped under peak load</vt:lpstr>
      <vt:lpstr>Question 6: Orders dropped under peak load</vt:lpstr>
      <vt:lpstr>Question 6: Orders dropped under peak load</vt:lpstr>
      <vt:lpstr>Question 6: Orders dropped under peak load</vt:lpstr>
      <vt:lpstr>Question 7: Ground a chatbot in your own docs</vt:lpstr>
      <vt:lpstr>Question 7: Ground a chatbot in your own docs</vt:lpstr>
      <vt:lpstr>Question 7: Ground a chatbot in your own docs</vt:lpstr>
      <vt:lpstr>Question 7: Ground a chatbot in your own docs</vt:lpstr>
      <vt:lpstr>Question 8: Image resize is too slow</vt:lpstr>
      <vt:lpstr>Question 8: Image resize is too slow</vt:lpstr>
      <vt:lpstr>Question 8: Image resize is too slow</vt:lpstr>
      <vt:lpstr>Question 8: Image resize is too slow</vt:lpstr>
      <vt:lpstr>Question 10: Query by a non-key attribute</vt:lpstr>
      <vt:lpstr>Question 10: Query by a non-key attribute</vt:lpstr>
      <vt:lpstr>Question 10: Query by a non-key attribute</vt:lpstr>
      <vt:lpstr>Question 10: Query by a non-key attribute</vt:lpstr>
      <vt:lpstr>Question 26: Standards applied on every generation</vt:lpstr>
      <vt:lpstr>Question 26: Standards applied on every generation</vt:lpstr>
      <vt:lpstr>Question 26: Standards applied on every generation</vt:lpstr>
      <vt:lpstr>Question 26: Standards applied on every generation</vt:lpstr>
      <vt:lpstr>Question 30: Which code paths are slow?</vt:lpstr>
      <vt:lpstr>Question 30: Which code paths are slow?</vt:lpstr>
      <vt:lpstr>Question 30: Which code paths are slow?</vt:lpstr>
      <vt:lpstr>Question 30: Which code paths are slow?</vt:lpstr>
      <vt:lpstr>Coming up: Week 3 digital training</vt:lpstr>
      <vt:lpstr>Q&amp;A time</vt:lpstr>
      <vt:lpstr>Thank you for joining!</vt:lpstr>
      <vt:lpstr>Appendix – DVA-C02 reference</vt:lpstr>
      <vt:lpstr>How C02 and C03 differ for this week</vt:lpstr>
      <vt:lpstr>What a DVA-C02 candidate needs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helcreig@amazon.com</dc:creator>
  <cp:lastModifiedBy>Smith, Brady</cp:lastModifiedBy>
  <cp:revision>285</cp:revision>
  <dcterms:created xsi:type="dcterms:W3CDTF">2021-08-17T14:22:37Z</dcterms:created>
  <dcterms:modified xsi:type="dcterms:W3CDTF">2026-09-09T04:19:08Z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2025-06-19T22:49:48Z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880713af-9616-4ce6-9c77-ed685eeed181</vt:lpwstr>
  </property>
  <property fmtid="{D5CDD505-2E9C-101B-9397-08002B2CF9AE}" pid="8" name="MSIP_Label_929eed6f-34eb-4453-9f97-09510b9b219f_ContentBits">
    <vt:lpwstr>0</vt:lpwstr>
  </property>
  <property fmtid="{D5CDD505-2E9C-101B-9397-08002B2CF9AE}" pid="9" name="MSIP_Label_929eed6f-34eb-4453-9f97-09510b9b219f_Tag">
    <vt:lpwstr>10, 3, 0, 1</vt:lpwstr>
  </property>
</Properties>
</file>