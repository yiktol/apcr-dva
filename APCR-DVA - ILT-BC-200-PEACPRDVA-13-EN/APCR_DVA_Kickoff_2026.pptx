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9" r:id="rId2"/>
    <p:sldMasterId id="2147483710" r:id="rId3"/>
  </p:sldMasterIdLst>
  <p:notesMasterIdLst>
    <p:notesMasterId r:id="rId26"/>
  </p:notesMasterIdLst>
  <p:sldIdLst>
    <p:sldId id="3720" r:id="rId4"/>
    <p:sldId id="14818" r:id="rId5"/>
    <p:sldId id="273" r:id="rId6"/>
    <p:sldId id="278" r:id="rId7"/>
    <p:sldId id="2147477596" r:id="rId8"/>
    <p:sldId id="285" r:id="rId9"/>
    <p:sldId id="2147308494" r:id="rId10"/>
    <p:sldId id="3984" r:id="rId11"/>
    <p:sldId id="2147308357" r:id="rId12"/>
    <p:sldId id="399" r:id="rId13"/>
    <p:sldId id="2147308363" r:id="rId14"/>
    <p:sldId id="280" r:id="rId15"/>
    <p:sldId id="2147308493" r:id="rId16"/>
    <p:sldId id="2147308362" r:id="rId17"/>
    <p:sldId id="2147308358" r:id="rId18"/>
    <p:sldId id="2147477593" r:id="rId19"/>
    <p:sldId id="2147308366" r:id="rId20"/>
    <p:sldId id="2147477594" r:id="rId21"/>
    <p:sldId id="2147308349" r:id="rId22"/>
    <p:sldId id="2147308284" r:id="rId23"/>
    <p:sldId id="2147308359" r:id="rId24"/>
    <p:sldId id="214730836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ckoff Deck DVA" id="{EBF0C659-B417-0549-BB8E-209FD8A73B59}">
          <p14:sldIdLst>
            <p14:sldId id="3720"/>
            <p14:sldId id="14818"/>
            <p14:sldId id="273"/>
            <p14:sldId id="278"/>
            <p14:sldId id="2147477596"/>
            <p14:sldId id="285"/>
            <p14:sldId id="2147308494"/>
            <p14:sldId id="3984"/>
            <p14:sldId id="2147308357"/>
            <p14:sldId id="399"/>
            <p14:sldId id="2147308363"/>
            <p14:sldId id="280"/>
            <p14:sldId id="2147308493"/>
            <p14:sldId id="2147308362"/>
            <p14:sldId id="2147308358"/>
            <p14:sldId id="2147477593"/>
            <p14:sldId id="2147308366"/>
            <p14:sldId id="2147477594"/>
            <p14:sldId id="2147308349"/>
            <p14:sldId id="2147308284"/>
            <p14:sldId id="2147308359"/>
            <p14:sldId id="21473083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ACC"/>
    <a:srgbClr val="046F8B"/>
    <a:srgbClr val="FA5E06"/>
    <a:srgbClr val="4A003E"/>
    <a:srgbClr val="FF7351"/>
    <a:srgbClr val="FF9100"/>
    <a:srgbClr val="7857E6"/>
    <a:srgbClr val="3298BB"/>
    <a:srgbClr val="FFCBC0"/>
    <a:srgbClr val="FBD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4D2C58-6571-4FAE-8AEB-006F2F664EA2}" v="1" dt="2026-09-09T04:31:02.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35" autoAdjust="0"/>
    <p:restoredTop sz="84823" autoAdjust="0"/>
  </p:normalViewPr>
  <p:slideViewPr>
    <p:cSldViewPr snapToGrid="0">
      <p:cViewPr varScale="1">
        <p:scale>
          <a:sx n="63" d="100"/>
          <a:sy n="63" d="100"/>
        </p:scale>
        <p:origin x="79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undo custSel addSld delSld modSld modSection">
      <pc:chgData name="Smith, Brady" userId="e76634a4-7138-4bc5-b76d-07c789b36324" providerId="ADAL" clId="{9E9136EE-B768-4B6D-95DA-B300D70FE1B5}" dt="2026-09-09T04:31:27.994" v="38" actId="47"/>
      <pc:docMkLst>
        <pc:docMk/>
      </pc:docMkLst>
      <pc:sldChg chg="add del">
        <pc:chgData name="Smith, Brady" userId="e76634a4-7138-4bc5-b76d-07c789b36324" providerId="ADAL" clId="{9E9136EE-B768-4B6D-95DA-B300D70FE1B5}" dt="2026-09-09T04:31:27.994" v="38" actId="47"/>
        <pc:sldMkLst>
          <pc:docMk/>
          <pc:sldMk cId="3751867904" sldId="3960"/>
        </pc:sldMkLst>
      </pc:sldChg>
      <pc:sldChg chg="modSp mod">
        <pc:chgData name="Smith, Brady" userId="e76634a4-7138-4bc5-b76d-07c789b36324" providerId="ADAL" clId="{9E9136EE-B768-4B6D-95DA-B300D70FE1B5}" dt="2026-09-09T00:07:55.715" v="29" actId="798"/>
        <pc:sldMkLst>
          <pc:docMk/>
          <pc:sldMk cId="1773107283" sldId="2147308362"/>
        </pc:sldMkLst>
        <pc:spChg chg="mod">
          <ac:chgData name="Smith, Brady" userId="e76634a4-7138-4bc5-b76d-07c789b36324" providerId="ADAL" clId="{9E9136EE-B768-4B6D-95DA-B300D70FE1B5}" dt="2026-09-08T23:57:30.313" v="22" actId="20577"/>
          <ac:spMkLst>
            <pc:docMk/>
            <pc:sldMk cId="1773107283" sldId="2147308362"/>
            <ac:spMk id="3" creationId="{81AFD319-B5FE-4DB1-994D-FD421E87A440}"/>
          </ac:spMkLst>
        </pc:spChg>
        <pc:graphicFrameChg chg="modGraphic">
          <ac:chgData name="Smith, Brady" userId="e76634a4-7138-4bc5-b76d-07c789b36324" providerId="ADAL" clId="{9E9136EE-B768-4B6D-95DA-B300D70FE1B5}" dt="2026-09-09T00:07:55.715" v="29" actId="798"/>
          <ac:graphicFrameMkLst>
            <pc:docMk/>
            <pc:sldMk cId="1773107283" sldId="2147308362"/>
            <ac:graphicFrameMk id="6" creationId="{A0350A6B-E563-48AA-A605-8669AFDB6324}"/>
          </ac:graphicFrameMkLst>
        </pc:graphicFrameChg>
      </pc:sldChg>
      <pc:sldChg chg="add del">
        <pc:chgData name="Smith, Brady" userId="e76634a4-7138-4bc5-b76d-07c789b36324" providerId="ADAL" clId="{9E9136EE-B768-4B6D-95DA-B300D70FE1B5}" dt="2026-09-09T04:31:04.010" v="31" actId="47"/>
        <pc:sldMkLst>
          <pc:docMk/>
          <pc:sldMk cId="3835002888" sldId="2147477595"/>
        </pc:sldMkLst>
      </pc:sldChg>
      <pc:sldChg chg="modSp add mod">
        <pc:chgData name="Smith, Brady" userId="e76634a4-7138-4bc5-b76d-07c789b36324" providerId="ADAL" clId="{9E9136EE-B768-4B6D-95DA-B300D70FE1B5}" dt="2026-09-09T04:31:24.448" v="36" actId="1076"/>
        <pc:sldMkLst>
          <pc:docMk/>
          <pc:sldMk cId="3100153221" sldId="2147477596"/>
        </pc:sldMkLst>
        <pc:picChg chg="mod">
          <ac:chgData name="Smith, Brady" userId="e76634a4-7138-4bc5-b76d-07c789b36324" providerId="ADAL" clId="{9E9136EE-B768-4B6D-95DA-B300D70FE1B5}" dt="2026-09-09T04:31:24.448" v="36" actId="1076"/>
          <ac:picMkLst>
            <pc:docMk/>
            <pc:sldMk cId="3100153221" sldId="2147477596"/>
            <ac:picMk id="33" creationId="{00000000-0000-0000-0000-000000000000}"/>
          </ac:picMkLst>
        </pc:picChg>
      </pc:sldChg>
      <pc:sldMasterChg chg="delSldLayout">
        <pc:chgData name="Smith, Brady" userId="e76634a4-7138-4bc5-b76d-07c789b36324" providerId="ADAL" clId="{9E9136EE-B768-4B6D-95DA-B300D70FE1B5}" dt="2026-09-09T04:31:04.010" v="31" actId="47"/>
        <pc:sldMasterMkLst>
          <pc:docMk/>
          <pc:sldMasterMk cId="661563512" sldId="2147483648"/>
        </pc:sldMasterMkLst>
        <pc:sldLayoutChg chg="del">
          <pc:chgData name="Smith, Brady" userId="e76634a4-7138-4bc5-b76d-07c789b36324" providerId="ADAL" clId="{9E9136EE-B768-4B6D-95DA-B300D70FE1B5}" dt="2026-09-09T04:31:04.010" v="31" actId="47"/>
          <pc:sldLayoutMkLst>
            <pc:docMk/>
            <pc:sldMasterMk cId="661563512" sldId="2147483648"/>
            <pc:sldLayoutMk cId="911775761" sldId="214748373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6CDE8-FB5B-4709-A979-60FEBF7FF6DA}"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F262B8-0A8D-49FC-8D6D-E6D86F667E76}" type="slidenum">
              <a:rPr lang="en-US" smtClean="0"/>
              <a:t>‹#›</a:t>
            </a:fld>
            <a:endParaRPr lang="en-US"/>
          </a:p>
        </p:txBody>
      </p:sp>
    </p:spTree>
    <p:extLst>
      <p:ext uri="{BB962C8B-B14F-4D97-AF65-F5344CB8AC3E}">
        <p14:creationId xmlns:p14="http://schemas.microsoft.com/office/powerpoint/2010/main" val="116491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FACILITATOR: Read this before anything else. It is hidden on purpose and it is the one slide that must not reach a partner.</a:t>
            </a:r>
          </a:p>
          <a:p>
            <a:endParaRPr/>
          </a:p>
          <a:p>
            <a:pPr>
              <a:spcAft>
                <a:spcPts val="600"/>
              </a:spcAft>
            </a:pPr>
            <a:r>
              <a:t>Be sure this slide is hidden or removed prior to exporting a PDF for your partner.</a:t>
            </a:r>
          </a:p>
          <a:p>
            <a:endParaRPr/>
          </a:p>
          <a:p>
            <a:pPr>
              <a:spcAft>
                <a:spcPts val="600"/>
              </a:spcAft>
            </a:pPr>
            <a:r>
              <a:t>Two constraints on the way you present: do not suggest a guaranteed certification outcome, and do not discuss pass rates. Both are on the slide and both are firm.</a:t>
            </a:r>
          </a:p>
          <a:p>
            <a:endParaRPr/>
          </a:p>
          <a:p>
            <a:pPr>
              <a:spcAft>
                <a:spcPts val="600"/>
              </a:spcAft>
            </a:pPr>
            <a:r>
              <a:t>Minor tailoring is expected. Anything larger, or anything you believe is inaccurate, goes back to the APCR team rather than being fixed live.</a:t>
            </a:r>
          </a:p>
        </p:txBody>
      </p:sp>
      <p:sp>
        <p:nvSpPr>
          <p:cNvPr id="4" name="Slide Number Placeholder 3"/>
          <p:cNvSpPr>
            <a:spLocks noGrp="1"/>
          </p:cNvSpPr>
          <p:nvPr>
            <p:ph type="sldNum" sz="quarter" idx="5"/>
          </p:nvPr>
        </p:nvSpPr>
        <p:spPr/>
        <p:txBody>
          <a:bodyPr/>
          <a:lstStyle/>
          <a:p>
            <a:fld id="{83EAFF0B-B512-4BFE-9524-C2893ED0596B}" type="slidenum">
              <a:rPr lang="en-US" smtClean="0"/>
              <a:t>1</a:t>
            </a:fld>
            <a:endParaRPr lang="en-US"/>
          </a:p>
        </p:txBody>
      </p:sp>
    </p:spTree>
    <p:extLst>
      <p:ext uri="{BB962C8B-B14F-4D97-AF65-F5344CB8AC3E}">
        <p14:creationId xmlns:p14="http://schemas.microsoft.com/office/powerpoint/2010/main" val="4102417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D842D-546A-10DC-E6AB-419F39D26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147B7-64F7-7C27-B233-613214AF1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9DF19-5F98-1D1C-691E-5A640CE8450F}"/>
              </a:ext>
            </a:extLst>
          </p:cNvPr>
          <p:cNvSpPr>
            <a:spLocks noGrp="1"/>
          </p:cNvSpPr>
          <p:nvPr>
            <p:ph type="body" idx="1"/>
          </p:nvPr>
        </p:nvSpPr>
        <p:spPr/>
        <p:txBody>
          <a:bodyPr/>
          <a:lstStyle/>
          <a:p>
            <a:pPr>
              <a:spcAft>
                <a:spcPts val="600"/>
              </a:spcAft>
            </a:pPr>
            <a:r>
              <a:t>WHAT'S HERE: The title slide. Hold it while people arrive and audio settles.</a:t>
            </a:r>
          </a:p>
          <a:p>
            <a:endParaRPr/>
          </a:p>
          <a:p>
            <a:pPr>
              <a:spcAft>
                <a:spcPts val="600"/>
              </a:spcAft>
            </a:pPr>
            <a:r>
              <a:t>FACILITATOR: Introduce yourself briefly and say what you do at AWS, because your own delivery experience is a large part of why people come back to the live sessions rather than only watching recordings.</a:t>
            </a:r>
          </a:p>
          <a:p>
            <a:endParaRPr/>
          </a:p>
          <a:p>
            <a:pPr>
              <a:spcAft>
                <a:spcPts val="600"/>
              </a:spcAft>
            </a:pPr>
            <a:r>
              <a:t>Set the shape of the hour out loud: what the certification is, how the five weeks run, what the exam is like, and then a walkthrough of account setup at the end.</a:t>
            </a:r>
          </a:p>
          <a:p>
            <a:endParaRPr/>
          </a:p>
          <a:p>
            <a:pPr>
              <a:spcAft>
                <a:spcPts val="600"/>
              </a:spcAft>
            </a:pPr>
            <a:r>
              <a:t>Ask where people are joining from and whether anyone already holds an AWS Certification. It tells you how much of the certification-basics block to linger on.</a:t>
            </a:r>
          </a:p>
        </p:txBody>
      </p:sp>
      <p:sp>
        <p:nvSpPr>
          <p:cNvPr id="4" name="Header Placeholder 3">
            <a:extLst>
              <a:ext uri="{FF2B5EF4-FFF2-40B4-BE49-F238E27FC236}">
                <a16:creationId xmlns:a16="http://schemas.microsoft.com/office/drawing/2014/main" id="{5BB5FE5F-2A8C-E0DC-FB6B-64229609B995}"/>
              </a:ext>
            </a:extLst>
          </p:cNvPr>
          <p:cNvSpPr>
            <a:spLocks noGrp="1"/>
          </p:cNvSpPr>
          <p:nvPr>
            <p:ph type="hdr" sz="quarter" idx="10"/>
          </p:nvPr>
        </p:nvSpPr>
        <p:spPr/>
        <p:txBody>
          <a:bodyPr/>
          <a:lstStyle/>
          <a:p>
            <a:pPr marL="0" marR="0" lvl="0" indent="0" algn="l" defTabSz="109721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36118AB-37DE-0F64-19B3-4EDC4F912B89}"/>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Arial" panose="020B0604020202020204" pitchFamily="34" charset="0"/>
              <a:ea typeface="Segoe UI" pitchFamily="34" charset="0"/>
              <a:cs typeface="+mn-cs"/>
            </a:endParaRPr>
          </a:p>
        </p:txBody>
      </p:sp>
      <p:sp>
        <p:nvSpPr>
          <p:cNvPr id="6" name="Date Placeholder 5">
            <a:extLst>
              <a:ext uri="{FF2B5EF4-FFF2-40B4-BE49-F238E27FC236}">
                <a16:creationId xmlns:a16="http://schemas.microsoft.com/office/drawing/2014/main" id="{B22DBDFF-D388-F8F7-CB8F-D166FEC20CD1}"/>
              </a:ext>
            </a:extLst>
          </p:cNvPr>
          <p:cNvSpPr>
            <a:spLocks noGrp="1"/>
          </p:cNvSpPr>
          <p:nvPr>
            <p:ph type="dt" idx="12"/>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6FFA0764-3C38-4ED8-A054-6845B27C339A}"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12" rtl="0" eaLnBrk="1" fontAlgn="auto" latinLnBrk="0" hangingPunct="1">
                <a:lnSpc>
                  <a:spcPct val="100000"/>
                </a:lnSpc>
                <a:spcBef>
                  <a:spcPts val="0"/>
                </a:spcBef>
                <a:spcAft>
                  <a:spcPts val="0"/>
                </a:spcAft>
                <a:buClrTx/>
                <a:buSzTx/>
                <a:buFontTx/>
                <a:buNone/>
                <a:tabLst/>
                <a:defRPr/>
              </a:pPr>
              <a:t>9/8/2026 9:30 PM</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5BC102A9-A072-A339-1BAF-EA2DBEFD0695}"/>
              </a:ext>
            </a:extLst>
          </p:cNvPr>
          <p:cNvSpPr>
            <a:spLocks noGrp="1"/>
          </p:cNvSpPr>
          <p:nvPr>
            <p:ph type="sldNum" sz="quarter" idx="13"/>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12"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861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four blocks of this session, in the order they run.</a:t>
            </a:r>
          </a:p>
          <a:p>
            <a:endParaRPr/>
          </a:p>
          <a:p>
            <a:pPr>
              <a:spcAft>
                <a:spcPts val="600"/>
              </a:spcAft>
            </a:pPr>
            <a:r>
              <a:t>FACILITATOR: This slide exists so nobody spends the hour wondering when the thing they care about arrives. Name all four, then say which one answers the question most people come in with -- usually the exam block.</a:t>
            </a:r>
          </a:p>
          <a:p>
            <a:endParaRPr/>
          </a:p>
          <a:p>
            <a:pPr>
              <a:spcAft>
                <a:spcPts val="600"/>
              </a:spcAft>
            </a:pPr>
            <a:r>
              <a:t>Flag the last block explicitly: account setup is a live walkthrough and anyone already set up is free to leave at that point. Saying it early stops people sitting through it out of politeness.</a:t>
            </a:r>
          </a:p>
          <a:p>
            <a:endParaRPr/>
          </a:p>
          <a:p>
            <a:pPr>
              <a:spcAft>
                <a:spcPts val="600"/>
              </a:spcAft>
            </a:pPr>
            <a:r>
              <a:t>Keep this short. It is a signpost, not a topic.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Opens the certification block -- what the credential is, and who it is for.</a:t>
            </a:r>
          </a:p>
          <a:p>
            <a:endParaRPr/>
          </a:p>
          <a:p>
            <a:pPr>
              <a:spcAft>
                <a:spcPts val="600"/>
              </a:spcAft>
            </a:pPr>
            <a:r>
              <a:t>FACILITATOR: Two slides follow: the certification portfolio as a whole, then this credential specifically. Frame the pair as answering one question -- is this the right exam for me right now.</a:t>
            </a:r>
          </a:p>
          <a:p>
            <a:endParaRPr/>
          </a:p>
          <a:p>
            <a:pPr>
              <a:spcAft>
                <a:spcPts val="600"/>
              </a:spcAft>
            </a:pPr>
            <a:r>
              <a:t>Ask the room what they are hoping the certification does for them before you show the next slide. The answers split into career pivot and career advancement, which is exactly the split the credential slide uses, so their own words set it up.</a:t>
            </a:r>
          </a:p>
        </p:txBody>
      </p:sp>
      <p:sp>
        <p:nvSpPr>
          <p:cNvPr id="4" name="Slide Number Placeholder 3"/>
          <p:cNvSpPr>
            <a:spLocks noGrp="1"/>
          </p:cNvSpPr>
          <p:nvPr>
            <p:ph type="sldNum" sz="quarter" idx="5"/>
          </p:nvPr>
        </p:nvSpPr>
        <p:spPr/>
        <p:txBody>
          <a:bodyPr/>
          <a:lstStyle/>
          <a:p>
            <a:fld id="{6FF262B8-0A8D-49FC-8D6D-E6D86F667E76}" type="slidenum">
              <a:rPr lang="en-US" smtClean="0"/>
              <a:t>4</a:t>
            </a:fld>
            <a:endParaRPr lang="en-US"/>
          </a:p>
        </p:txBody>
      </p:sp>
    </p:spTree>
    <p:extLst>
      <p:ext uri="{BB962C8B-B14F-4D97-AF65-F5344CB8AC3E}">
        <p14:creationId xmlns:p14="http://schemas.microsoft.com/office/powerpoint/2010/main" val="2671021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a:buClr>
                <a:schemeClr val="tx2"/>
              </a:buClr>
            </a:pPr>
            <a:r>
              <a:rPr lang="en-US" sz="1200" dirty="0">
                <a:solidFill>
                  <a:schemeClr val="tx1"/>
                </a:solidFill>
                <a:latin typeface="Amazon Ember" panose="02000000000000000000" pitchFamily="2" charset="0"/>
                <a:ea typeface="Amazon Ember" panose="02000000000000000000" pitchFamily="2" charset="0"/>
              </a:rPr>
              <a:t>We have </a:t>
            </a:r>
            <a:r>
              <a:rPr lang="en-US" sz="1200" b="1" dirty="0">
                <a:solidFill>
                  <a:schemeClr val="tx1"/>
                </a:solidFill>
                <a:latin typeface="Amazon Ember" panose="02000000000000000000" pitchFamily="2" charset="0"/>
                <a:ea typeface="Amazon Ember" panose="02000000000000000000" pitchFamily="2" charset="0"/>
              </a:rPr>
              <a:t>12</a:t>
            </a:r>
            <a:r>
              <a:rPr lang="en-US" sz="1200" b="1" baseline="0" dirty="0">
                <a:solidFill>
                  <a:schemeClr val="tx1"/>
                </a:solidFill>
                <a:latin typeface="Amazon Ember" panose="02000000000000000000" pitchFamily="2" charset="0"/>
                <a:ea typeface="Amazon Ember" panose="02000000000000000000" pitchFamily="2" charset="0"/>
              </a:rPr>
              <a:t> </a:t>
            </a:r>
            <a:r>
              <a:rPr lang="en-US" sz="1200" b="1" dirty="0">
                <a:solidFill>
                  <a:schemeClr val="tx1"/>
                </a:solidFill>
                <a:latin typeface="Amazon Ember" panose="02000000000000000000" pitchFamily="2" charset="0"/>
                <a:ea typeface="Amazon Ember" panose="02000000000000000000" pitchFamily="2" charset="0"/>
              </a:rPr>
              <a:t>certifications</a:t>
            </a:r>
            <a:r>
              <a:rPr lang="en-US" sz="1200" dirty="0">
                <a:solidFill>
                  <a:schemeClr val="tx1"/>
                </a:solidFill>
                <a:latin typeface="Amazon Ember" panose="02000000000000000000" pitchFamily="2" charset="0"/>
                <a:ea typeface="Amazon Ember" panose="02000000000000000000" pitchFamily="2" charset="0"/>
              </a:rPr>
              <a:t>, including the </a:t>
            </a:r>
            <a:r>
              <a:rPr lang="en-US" sz="1200" b="1" dirty="0">
                <a:solidFill>
                  <a:schemeClr val="tx1"/>
                </a:solidFill>
                <a:latin typeface="Amazon Ember" panose="02000000000000000000" pitchFamily="2" charset="0"/>
                <a:ea typeface="Amazon Ember" panose="02000000000000000000" pitchFamily="2" charset="0"/>
              </a:rPr>
              <a:t>foundational</a:t>
            </a:r>
            <a:r>
              <a:rPr lang="en-US" sz="1200" dirty="0">
                <a:solidFill>
                  <a:schemeClr val="tx1"/>
                </a:solidFill>
                <a:latin typeface="Amazon Ember" panose="02000000000000000000" pitchFamily="2" charset="0"/>
                <a:ea typeface="Amazon Ember" panose="02000000000000000000" pitchFamily="2" charset="0"/>
              </a:rPr>
              <a:t> Cloud Practitioner Certification, </a:t>
            </a:r>
            <a:r>
              <a:rPr lang="en-US" sz="1200" b="1" dirty="0">
                <a:solidFill>
                  <a:schemeClr val="tx1"/>
                </a:solidFill>
                <a:latin typeface="Amazon Ember" panose="02000000000000000000" pitchFamily="2" charset="0"/>
                <a:ea typeface="Amazon Ember" panose="02000000000000000000" pitchFamily="2" charset="0"/>
              </a:rPr>
              <a:t>Associate-Level</a:t>
            </a:r>
            <a:r>
              <a:rPr lang="en-US" sz="1200" dirty="0">
                <a:solidFill>
                  <a:schemeClr val="tx1"/>
                </a:solidFill>
                <a:latin typeface="Amazon Ember" panose="02000000000000000000" pitchFamily="2" charset="0"/>
                <a:ea typeface="Amazon Ember" panose="02000000000000000000" pitchFamily="2" charset="0"/>
              </a:rPr>
              <a:t> Solutions Architect, Developer, and Sysops, the </a:t>
            </a:r>
            <a:r>
              <a:rPr lang="en-US" sz="1200" b="1" dirty="0">
                <a:solidFill>
                  <a:schemeClr val="tx1"/>
                </a:solidFill>
                <a:latin typeface="Amazon Ember" panose="02000000000000000000" pitchFamily="2" charset="0"/>
                <a:ea typeface="Amazon Ember" panose="02000000000000000000" pitchFamily="2" charset="0"/>
              </a:rPr>
              <a:t>Professional Leve</a:t>
            </a:r>
            <a:r>
              <a:rPr lang="en-US" sz="1200" dirty="0">
                <a:solidFill>
                  <a:schemeClr val="tx1"/>
                </a:solidFill>
                <a:latin typeface="Amazon Ember" panose="02000000000000000000" pitchFamily="2" charset="0"/>
                <a:ea typeface="Amazon Ember" panose="02000000000000000000" pitchFamily="2" charset="0"/>
              </a:rPr>
              <a:t>l Solutions Architect and DevOps, and </a:t>
            </a:r>
            <a:r>
              <a:rPr lang="en-US" sz="1200" b="1" dirty="0">
                <a:solidFill>
                  <a:schemeClr val="tx1"/>
                </a:solidFill>
                <a:latin typeface="Amazon Ember" panose="02000000000000000000" pitchFamily="2" charset="0"/>
                <a:ea typeface="Amazon Ember" panose="02000000000000000000" pitchFamily="2" charset="0"/>
              </a:rPr>
              <a:t>specialty certifications</a:t>
            </a:r>
            <a:r>
              <a:rPr lang="en-US" sz="1200" dirty="0">
                <a:solidFill>
                  <a:schemeClr val="tx1"/>
                </a:solidFill>
                <a:latin typeface="Amazon Ember" panose="02000000000000000000" pitchFamily="2" charset="0"/>
                <a:ea typeface="Amazon Ember" panose="02000000000000000000" pitchFamily="2" charset="0"/>
              </a:rPr>
              <a:t> for Advanced Networking, Data Analytics, Security, Machine Learning, Database, and SAP on AWS.</a:t>
            </a:r>
          </a:p>
          <a:p>
            <a:pPr marL="0" marR="0" lvl="0" indent="0" algn="l" defTabSz="1097212" rtl="0" eaLnBrk="1" fontAlgn="auto" latinLnBrk="0" hangingPunct="1">
              <a:lnSpc>
                <a:spcPct val="90000"/>
              </a:lnSpc>
              <a:spcBef>
                <a:spcPts val="0"/>
              </a:spcBef>
              <a:spcAft>
                <a:spcPts val="400"/>
              </a:spcAft>
              <a:buClrTx/>
              <a:buSzTx/>
              <a:buFont typeface="Arial" panose="020B0604020202020204" pitchFamily="34" charset="0"/>
              <a:buNone/>
              <a:tabLst/>
              <a:defRPr/>
            </a:pPr>
            <a:endParaRPr lang="en-US" dirty="0"/>
          </a:p>
          <a:p>
            <a:pPr marL="0" marR="0" lvl="0" indent="0" algn="l" defTabSz="1097212" rtl="0" eaLnBrk="1" fontAlgn="auto" latinLnBrk="0" hangingPunct="1">
              <a:lnSpc>
                <a:spcPct val="90000"/>
              </a:lnSpc>
              <a:spcBef>
                <a:spcPts val="0"/>
              </a:spcBef>
              <a:spcAft>
                <a:spcPts val="400"/>
              </a:spcAft>
              <a:buClrTx/>
              <a:buSzTx/>
              <a:buFont typeface="Arial" panose="020B0604020202020204" pitchFamily="34" charset="0"/>
              <a:buNone/>
              <a:tabLst/>
              <a:defRPr/>
            </a:pPr>
            <a:r>
              <a:rPr lang="en-US" b="1" dirty="0"/>
              <a:t>Visit aws.amazon.com/certification</a:t>
            </a:r>
            <a:r>
              <a:rPr lang="en-US" dirty="0"/>
              <a:t> to learn more about our certification program</a:t>
            </a:r>
          </a:p>
          <a:p>
            <a:pPr marL="0" marR="0" lvl="0" indent="0" algn="l" defTabSz="1097212" rtl="0" eaLnBrk="1" fontAlgn="auto" latinLnBrk="0" hangingPunct="1">
              <a:lnSpc>
                <a:spcPct val="90000"/>
              </a:lnSpc>
              <a:spcBef>
                <a:spcPts val="0"/>
              </a:spcBef>
              <a:spcAft>
                <a:spcPts val="400"/>
              </a:spcAft>
              <a:buClrTx/>
              <a:buSzTx/>
              <a:buFont typeface="Arial" panose="020B0604020202020204" pitchFamily="34" charset="0"/>
              <a:buNone/>
              <a:tabLst/>
              <a:defRPr/>
            </a:pPr>
            <a:endParaRPr lang="en-US" dirty="0"/>
          </a:p>
          <a:p>
            <a:pPr marL="0" marR="0" lvl="0" indent="0" algn="l" defTabSz="1097212" rtl="0" eaLnBrk="1" fontAlgn="auto" latinLnBrk="0" hangingPunct="1">
              <a:lnSpc>
                <a:spcPct val="90000"/>
              </a:lnSpc>
              <a:spcBef>
                <a:spcPts val="0"/>
              </a:spcBef>
              <a:spcAft>
                <a:spcPts val="400"/>
              </a:spcAft>
              <a:buClrTx/>
              <a:buSzTx/>
              <a:buFont typeface="Arial" panose="020B0604020202020204" pitchFamily="34" charset="0"/>
              <a:buNone/>
              <a:tabLst/>
              <a:defRPr/>
            </a:pPr>
            <a:r>
              <a:rPr lang="en-US" dirty="0"/>
              <a:t>Detailed notes:</a:t>
            </a:r>
          </a:p>
          <a:p>
            <a:r>
              <a:rPr lang="en-US" sz="1200" b="0" i="0" kern="1200" dirty="0">
                <a:solidFill>
                  <a:schemeClr val="tx1"/>
                </a:solidFill>
                <a:effectLst/>
                <a:latin typeface="Amazon Ember Light" panose="020B0403020204020204" pitchFamily="34" charset="0"/>
                <a:ea typeface="+mn-ea"/>
                <a:cs typeface="+mn-cs"/>
              </a:rPr>
              <a:t>With our AWS Certifications, we offer both role-based and specialty certifications. </a:t>
            </a:r>
            <a:br>
              <a:rPr lang="en-US" sz="1200" b="0" i="0" kern="1200" dirty="0">
                <a:solidFill>
                  <a:schemeClr val="tx1"/>
                </a:solidFill>
                <a:effectLst/>
                <a:latin typeface="Amazon Ember Light" panose="020B0403020204020204" pitchFamily="34" charset="0"/>
                <a:ea typeface="+mn-ea"/>
                <a:cs typeface="+mn-cs"/>
              </a:rPr>
            </a:br>
            <a:br>
              <a:rPr lang="en-US" sz="1200" b="0" i="0" kern="1200" dirty="0">
                <a:solidFill>
                  <a:schemeClr val="tx1"/>
                </a:solidFill>
                <a:effectLst/>
                <a:latin typeface="Amazon Ember Light" panose="020B0403020204020204" pitchFamily="34" charset="0"/>
                <a:ea typeface="+mn-ea"/>
                <a:cs typeface="+mn-cs"/>
              </a:rPr>
            </a:br>
            <a:r>
              <a:rPr lang="en-US" sz="1200" b="0" i="0" kern="1200" dirty="0">
                <a:solidFill>
                  <a:schemeClr val="tx1"/>
                </a:solidFill>
                <a:effectLst/>
                <a:latin typeface="Amazon Ember Light" panose="020B0403020204020204" pitchFamily="34" charset="0"/>
                <a:ea typeface="+mn-ea"/>
                <a:cs typeface="+mn-cs"/>
              </a:rPr>
              <a:t>With our role-based certifications, we validate the knowledge, experience, and skills someone needs to be successful in roles critical for organizations building with AWS. And at levels ranging from foundational knowledge to associate-level experience and advance to professional-level expertise. </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From a Foundational perspective, many roles require broad cloud fluency and the AWS Certified Cloud Practitioner certification validates foundational AWS Cloud knowledge for the technical and non-technical.</a:t>
            </a:r>
          </a:p>
          <a:p>
            <a:pPr marL="17145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At the associate level — at least one year of hands-on, real world experience with AWS, we offer certifications in the core functions of architecting, operations, and developing. </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Solutions Architect — Associate — architecting and deploying well-architected systems on AWS to meet necessary requirements. </a:t>
            </a:r>
          </a:p>
          <a:p>
            <a:pPr marL="171450" lvl="0" indent="-171450">
              <a:buFont typeface="Arial" panose="020B0604020202020204" pitchFamily="34" charset="0"/>
              <a:buChar char="•"/>
            </a:pPr>
            <a:r>
              <a:rPr lang="en-US" sz="1200" b="0" i="0" kern="1200" dirty="0" err="1">
                <a:solidFill>
                  <a:schemeClr val="tx1"/>
                </a:solidFill>
                <a:effectLst/>
                <a:latin typeface="Amazon Ember Light" panose="020B0403020204020204" pitchFamily="34" charset="0"/>
                <a:ea typeface="+mn-ea"/>
                <a:cs typeface="+mn-cs"/>
              </a:rPr>
              <a:t>SysOps</a:t>
            </a:r>
            <a:r>
              <a:rPr lang="en-US" sz="1200" b="0" i="0" kern="1200" dirty="0">
                <a:solidFill>
                  <a:schemeClr val="tx1"/>
                </a:solidFill>
                <a:effectLst/>
                <a:latin typeface="Amazon Ember Light" panose="020B0403020204020204" pitchFamily="34" charset="0"/>
                <a:ea typeface="+mn-ea"/>
                <a:cs typeface="+mn-cs"/>
              </a:rPr>
              <a:t> Administrator — Associate — deploying, managing, and operating systems on AWS.</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Developer — Associate - writing and deploying cloud-based applications that follow AWS best practices. </a:t>
            </a:r>
          </a:p>
          <a:p>
            <a:br>
              <a:rPr lang="en-US" sz="1200" b="0" i="0" kern="1200" dirty="0">
                <a:solidFill>
                  <a:schemeClr val="tx1"/>
                </a:solidFill>
                <a:effectLst/>
                <a:latin typeface="Amazon Ember Light" panose="020B0403020204020204" pitchFamily="34" charset="0"/>
                <a:ea typeface="+mn-ea"/>
                <a:cs typeface="+mn-cs"/>
              </a:rPr>
            </a:br>
            <a:r>
              <a:rPr lang="en-US" sz="1200" b="0" i="0" kern="1200" dirty="0">
                <a:solidFill>
                  <a:schemeClr val="tx1"/>
                </a:solidFill>
                <a:effectLst/>
                <a:latin typeface="Amazon Ember Light" panose="020B0403020204020204" pitchFamily="34" charset="0"/>
                <a:ea typeface="+mn-ea"/>
                <a:cs typeface="+mn-cs"/>
              </a:rPr>
              <a:t>And for those with significant expertise on AWS - our professional-level role-based certifications  </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Solutions Architect - Professional - validates expertise with the breadth of AWS services and how they work together within diverse, complex requirements.</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DevOps Professional - validates expertise such as continuous delivery systems and automating operational processes.</a:t>
            </a:r>
          </a:p>
          <a:p>
            <a:br>
              <a:rPr lang="en-US" sz="1200" b="0" i="0" kern="1200" dirty="0">
                <a:solidFill>
                  <a:schemeClr val="tx1"/>
                </a:solidFill>
                <a:effectLst/>
                <a:latin typeface="Amazon Ember Light" panose="020B0403020204020204" pitchFamily="34" charset="0"/>
                <a:ea typeface="+mn-ea"/>
                <a:cs typeface="+mn-cs"/>
              </a:rPr>
            </a:br>
            <a:r>
              <a:rPr lang="en-US" sz="1200" b="0" i="0" kern="1200" dirty="0">
                <a:solidFill>
                  <a:schemeClr val="tx1"/>
                </a:solidFill>
                <a:effectLst/>
                <a:latin typeface="Amazon Ember Light" panose="020B0403020204020204" pitchFamily="34" charset="0"/>
                <a:ea typeface="+mn-ea"/>
                <a:cs typeface="+mn-cs"/>
              </a:rPr>
              <a:t>Our Specialty certifications are for those with deep expertise within a specific topic area. For example — </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Security, a critical skill set and expertise for any organization</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Machine learning and Alexa Skill Builder - both launched earlier this year </a:t>
            </a:r>
          </a:p>
          <a:p>
            <a:pPr marL="171450" lvl="0" indent="-171450">
              <a:buFont typeface="Arial" panose="020B0604020202020204" pitchFamily="34" charset="0"/>
              <a:buChar char="•"/>
            </a:pPr>
            <a:r>
              <a:rPr lang="en-US" sz="1200" b="0" i="0" kern="1200" dirty="0">
                <a:solidFill>
                  <a:schemeClr val="tx1"/>
                </a:solidFill>
                <a:effectLst/>
                <a:latin typeface="Amazon Ember Light" panose="020B0403020204020204" pitchFamily="34" charset="0"/>
                <a:ea typeface="+mn-ea"/>
                <a:cs typeface="+mn-cs"/>
              </a:rPr>
              <a:t>AWS Certified Database — Specialty - validates deep expertise with the breadth of AWS database services and using them to fuel transformation.</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6276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What this certification validates, and the two audiences it serves.</a:t>
            </a:r>
          </a:p>
          <a:p>
            <a:endParaRPr/>
          </a:p>
          <a:p>
            <a:pPr>
              <a:spcAft>
                <a:spcPts val="600"/>
              </a:spcAft>
            </a:pPr>
            <a:r>
              <a:t>FACILITATOR: The scope on the slide is AWS's own wording -- developing, optimizing, packaging and deploying applications, CI/CD workflows, and resolving application issues. Read it as a scope statement rather than a syllabus.</a:t>
            </a:r>
          </a:p>
          <a:p>
            <a:endParaRPr/>
          </a:p>
          <a:p>
            <a:pPr>
              <a:spcAft>
                <a:spcPts val="600"/>
              </a:spcAft>
            </a:pPr>
            <a:r>
              <a:t>On audience, AWS recommends one or more years of hands-on experience developing and maintaining applications with AWS services. Anyone with no IT background is usually better served by Cloud Practitioner first, and it is kinder to say so now than at week four.</a:t>
            </a:r>
          </a:p>
          <a:p>
            <a:endParaRPr/>
          </a:p>
          <a:p>
            <a:pPr>
              <a:spcAft>
                <a:spcPts val="600"/>
              </a:spcAft>
            </a:pPr>
            <a:r>
              <a:t>Two useful facts for planning: the certification is valid for three years, and holding any AWS Certification earns a 50% discount on the next one.</a:t>
            </a:r>
          </a:p>
          <a:p>
            <a:endParaRPr/>
          </a:p>
          <a:p>
            <a:pPr>
              <a:spcAft>
                <a:spcPts val="600"/>
              </a:spcAft>
            </a:pPr>
            <a:r>
              <a:t>Verified against aws.amazon.com/certification/certified-developer-associate/</a:t>
            </a:r>
          </a:p>
        </p:txBody>
      </p:sp>
      <p:sp>
        <p:nvSpPr>
          <p:cNvPr id="4" name="Slide Number Placeholder 3"/>
          <p:cNvSpPr>
            <a:spLocks noGrp="1"/>
          </p:cNvSpPr>
          <p:nvPr>
            <p:ph type="sldNum" sz="quarter" idx="5"/>
          </p:nvPr>
        </p:nvSpPr>
        <p:spPr/>
        <p:txBody>
          <a:bodyPr/>
          <a:lstStyle/>
          <a:p>
            <a:fld id="{6FF262B8-0A8D-49FC-8D6D-E6D86F667E76}" type="slidenum">
              <a:rPr lang="en-US" smtClean="0"/>
              <a:t>6</a:t>
            </a:fld>
            <a:endParaRPr lang="en-US"/>
          </a:p>
        </p:txBody>
      </p:sp>
    </p:spTree>
    <p:extLst>
      <p:ext uri="{BB962C8B-B14F-4D97-AF65-F5344CB8AC3E}">
        <p14:creationId xmlns:p14="http://schemas.microsoft.com/office/powerpoint/2010/main" val="4022156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Opens the event-logistics block -- what the five weeks ask of them.</a:t>
            </a:r>
          </a:p>
          <a:p>
            <a:endParaRPr/>
          </a:p>
          <a:p>
            <a:pPr>
              <a:spcAft>
                <a:spcPts val="600"/>
              </a:spcAft>
            </a:pPr>
            <a:r>
              <a:t>FACILITATOR: This is the block where attrition is decided, so be concrete. Three slides follow: the weekly commitment, the optional subscription, and the voucher campaign.</a:t>
            </a:r>
          </a:p>
          <a:p>
            <a:endParaRPr/>
          </a:p>
          <a:p>
            <a:pPr>
              <a:spcAft>
                <a:spcPts val="600"/>
              </a:spcAft>
            </a:pPr>
            <a:r>
              <a:t>Say plainly that the live sessions and the self-paced training are two different commitments and both are needed. People who treat the live hour as the whole course are the ones who fall behind by week three.</a:t>
            </a:r>
          </a:p>
        </p:txBody>
      </p:sp>
      <p:sp>
        <p:nvSpPr>
          <p:cNvPr id="4" name="Slide Number Placeholder 3"/>
          <p:cNvSpPr>
            <a:spLocks noGrp="1"/>
          </p:cNvSpPr>
          <p:nvPr>
            <p:ph type="sldNum" sz="quarter" idx="5"/>
          </p:nvPr>
        </p:nvSpPr>
        <p:spPr/>
        <p:txBody>
          <a:bodyPr/>
          <a:lstStyle/>
          <a:p>
            <a:fld id="{6FF262B8-0A8D-49FC-8D6D-E6D86F667E76}" type="slidenum">
              <a:rPr lang="en-US" smtClean="0"/>
              <a:t>7</a:t>
            </a:fld>
            <a:endParaRPr lang="en-US"/>
          </a:p>
        </p:txBody>
      </p:sp>
    </p:spTree>
    <p:extLst>
      <p:ext uri="{BB962C8B-B14F-4D97-AF65-F5344CB8AC3E}">
        <p14:creationId xmlns:p14="http://schemas.microsoft.com/office/powerpoint/2010/main" val="2260289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The weekly commitment as a table -- what to attend, what to complete, and which parts are self-paced.</a:t>
            </a:r>
          </a:p>
          <a:p>
            <a:endParaRPr/>
          </a:p>
          <a:p>
            <a:pPr>
              <a:spcAft>
                <a:spcPts val="600"/>
              </a:spcAft>
            </a:pPr>
            <a:r>
              <a:t>FACILITATOR: Walk the Modality column rather than reading the descriptions. The point that has to land is that the scheduled session and the self-paced digital training are separate obligations.</a:t>
            </a:r>
          </a:p>
          <a:p>
            <a:endParaRPr/>
          </a:p>
          <a:p>
            <a:pPr>
              <a:spcAft>
                <a:spcPts val="600"/>
              </a:spcAft>
            </a:pPr>
            <a:r>
              <a:t>Name the one optional row as optional, and say what it costs -- the Exam Prep Plan row and Cloud Quest need a Skill Builder subscription, which the next slide covers.</a:t>
            </a:r>
          </a:p>
          <a:p>
            <a:endParaRPr/>
          </a:p>
          <a:p>
            <a:pPr>
              <a:spcAft>
                <a:spcPts val="600"/>
              </a:spcAft>
            </a:pPr>
            <a:r>
              <a:t>Point them at the Event Guide for the week-by-week expectations, so they have a written reference when this recording is behind them.</a:t>
            </a:r>
          </a:p>
          <a:p>
            <a:endParaRPr/>
          </a:p>
          <a:p>
            <a:pPr>
              <a:spcAft>
                <a:spcPts val="600"/>
              </a:spcAft>
            </a:pPr>
            <a:r>
              <a:t>Ask whether anyone cannot make a particular week. Knowing early lets you point them at the recording rather than losing them.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0518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The optional Skill Builder subscription, and what the free tier already covers.</a:t>
            </a:r>
          </a:p>
          <a:p>
            <a:endParaRPr/>
          </a:p>
          <a:p>
            <a:pPr>
              <a:spcAft>
                <a:spcPts val="600"/>
              </a:spcAft>
            </a:pPr>
            <a:r>
              <a:t>FACILITATOR: Lead with the sentence on the slide -- the subscription is NOT required for this event. Some attendees are self-funding and will read any paid row as a barrier.</a:t>
            </a:r>
          </a:p>
          <a:p>
            <a:endParaRPr/>
          </a:p>
          <a:p>
            <a:pPr>
              <a:spcAft>
                <a:spcPts val="600"/>
              </a:spcAft>
            </a:pPr>
            <a:r>
              <a:t>Then be specific about what it unlocks, because two things in this program sit behind it: the official practice exam and Cloud Quest. Everything in the assigned learning plan is reachable without it.</a:t>
            </a:r>
          </a:p>
          <a:p>
            <a:endParaRPr/>
          </a:p>
          <a:p>
            <a:pPr>
              <a:spcAft>
                <a:spcPts val="600"/>
              </a:spcAft>
            </a:pPr>
            <a:r>
              <a:t>If someone asks whether their company already has it, that is worth answering live -- a Team Subscription changes how they sign in, which is the account-setup block at the end.</a:t>
            </a:r>
          </a:p>
          <a:p>
            <a:endParaRPr/>
          </a:p>
          <a:p>
            <a:pPr>
              <a:spcAft>
                <a:spcPts val="600"/>
              </a:spcAft>
            </a:pPr>
            <a:r>
              <a:t>Do not describe the subscription as necessary for certification. It is not, and the program is built so that it is not.</a:t>
            </a:r>
          </a:p>
        </p:txBody>
      </p:sp>
      <p:sp>
        <p:nvSpPr>
          <p:cNvPr id="4" name="Slide Number Placeholder 3"/>
          <p:cNvSpPr>
            <a:spLocks noGrp="1"/>
          </p:cNvSpPr>
          <p:nvPr>
            <p:ph type="sldNum" sz="quarter" idx="5"/>
          </p:nvPr>
        </p:nvSpPr>
        <p:spPr/>
        <p:txBody>
          <a:bodyPr/>
          <a:lstStyle/>
          <a:p>
            <a:fld id="{6FF262B8-0A8D-49FC-8D6D-E6D86F667E76}" type="slidenum">
              <a:rPr lang="en-US" smtClean="0"/>
              <a:t>9</a:t>
            </a:fld>
            <a:endParaRPr lang="en-US"/>
          </a:p>
        </p:txBody>
      </p:sp>
    </p:spTree>
    <p:extLst>
      <p:ext uri="{BB962C8B-B14F-4D97-AF65-F5344CB8AC3E}">
        <p14:creationId xmlns:p14="http://schemas.microsoft.com/office/powerpoint/2010/main" val="2083011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Instructor note</a:t>
            </a:r>
            <a:r>
              <a:rPr lang="en-US" b="0" dirty="0"/>
              <a:t> – Read the Terms and Conditions, these will answer most any question you receive).</a:t>
            </a:r>
          </a:p>
          <a:p>
            <a:endParaRPr lang="en-US" b="1" dirty="0"/>
          </a:p>
          <a:p>
            <a:r>
              <a:rPr lang="en-US" b="1" dirty="0"/>
              <a:t>Unhide this slide if you’re delivering a PUBLIC Event. Hidden for Private deliveries only</a:t>
            </a:r>
            <a:r>
              <a:rPr lang="en-US" b="0" dirty="0"/>
              <a:t>. </a:t>
            </a:r>
            <a:endParaRPr lang="en-US" b="1" dirty="0"/>
          </a:p>
          <a:p>
            <a:endParaRPr lang="en-US" dirty="0"/>
          </a:p>
          <a:p>
            <a:r>
              <a:rPr lang="en-US" dirty="0"/>
              <a:t>Occasionally AWS runs promotional campaigns for individuals to receive exam or service discounts. </a:t>
            </a:r>
          </a:p>
          <a:p>
            <a:endParaRPr lang="en-US" dirty="0"/>
          </a:p>
          <a:p>
            <a:r>
              <a:rPr lang="en-US" dirty="0"/>
              <a:t>Today we’re excited to announce that AWS Partner attendees of the AWS Partner Certification Readiness Events will have an opportunity to receive discounted exam vouchers. To qualify, you will need to complete more than 80% of the assigned self paced digital training in AWS Skill Builder (the free learning plan!). You must also attend at least one live session of the Event. </a:t>
            </a:r>
            <a:br>
              <a:rPr lang="en-US" dirty="0"/>
            </a:br>
            <a:br>
              <a:rPr lang="en-US" dirty="0"/>
            </a:br>
            <a:r>
              <a:rPr lang="en-US" dirty="0"/>
              <a:t>Please see the terms and conditions for full details. Vouchers will be assigned by the APCR Event management team automatically, and you will be notified upon delivery. Please refrain from asking the instructor and filling chat with voucher questions, the APCR Event team is managing this in the background.</a:t>
            </a:r>
          </a:p>
          <a:p>
            <a:endParaRPr lang="en-US" dirty="0"/>
          </a:p>
          <a:p>
            <a:r>
              <a:rPr lang="en-US" dirty="0"/>
              <a:t>Additionally, until September 30, 2026 you can get 50% off of your first 3 months subscription to AWS Skill Builder. Terms and conditions apply, while supplies last. </a:t>
            </a:r>
          </a:p>
        </p:txBody>
      </p:sp>
      <p:sp>
        <p:nvSpPr>
          <p:cNvPr id="4" name="Slide Number Placeholder 3"/>
          <p:cNvSpPr>
            <a:spLocks noGrp="1"/>
          </p:cNvSpPr>
          <p:nvPr>
            <p:ph type="sldNum" sz="quarter" idx="5"/>
          </p:nvPr>
        </p:nvSpPr>
        <p:spPr/>
        <p:txBody>
          <a:bodyPr/>
          <a:lstStyle/>
          <a:p>
            <a:fld id="{50400394-1E5A-42BA-A195-42B49440799E}" type="slidenum">
              <a:rPr lang="en-US" smtClean="0"/>
              <a:t>10</a:t>
            </a:fld>
            <a:endParaRPr lang="en-US"/>
          </a:p>
        </p:txBody>
      </p:sp>
    </p:spTree>
    <p:extLst>
      <p:ext uri="{BB962C8B-B14F-4D97-AF65-F5344CB8AC3E}">
        <p14:creationId xmlns:p14="http://schemas.microsoft.com/office/powerpoint/2010/main" val="2567080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dirty="0"/>
              <a:t>Speaker Notes</a:t>
            </a:r>
            <a:r>
              <a:rPr lang="en-US" b="0" dirty="0"/>
              <a:t>:</a:t>
            </a:r>
          </a:p>
          <a:p>
            <a:r>
              <a:rPr lang="en-US" b="0" dirty="0"/>
              <a:t>Use this slide as a check-in with the audience. See how they’re doing with the material. Relate to them with your own experiences studying for the exam, and discuss any of your own insights about the training modules. Which stood out to you? What key takeaways did you have from some of these trainings? </a:t>
            </a:r>
          </a:p>
          <a:p>
            <a:r>
              <a:rPr lang="en-US" b="0" dirty="0"/>
              <a:t>Note – Expect some people to have fallen behind. Show the empathy and encourage they keep at it!</a:t>
            </a:r>
          </a:p>
          <a:p>
            <a:endParaRPr lang="en-US" b="0" dirty="0"/>
          </a:p>
          <a:p>
            <a:r>
              <a:rPr lang="en-US" b="0" dirty="0"/>
              <a:t>Companion learning plan is the subscription based, partner learning plan aligned to the cert. Remind people of the value in CloudQuest, share what you like about it, benefit of the labs, etc. Check in with the audience to see if they’ve done any of the labs. </a:t>
            </a:r>
            <a:endParaRPr lang="en-US" b="1" dirty="0"/>
          </a:p>
        </p:txBody>
      </p:sp>
      <p:sp>
        <p:nvSpPr>
          <p:cNvPr id="4" name="Slide Number Placeholder 3"/>
          <p:cNvSpPr>
            <a:spLocks noGrp="1"/>
          </p:cNvSpPr>
          <p:nvPr>
            <p:ph type="sldNum" sz="quarter" idx="5"/>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12"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5728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Opens the exam block -- the mechanics, then the domain weightings.</a:t>
            </a:r>
          </a:p>
          <a:p>
            <a:endParaRPr/>
          </a:p>
          <a:p>
            <a:pPr>
              <a:spcAft>
                <a:spcPts val="600"/>
              </a:spcAft>
            </a:pPr>
            <a:r>
              <a:t>FACILITATOR: This is the block most attendees came for, so give it room. Two slides follow: what sitting the exam is actually like, and what it covers.</a:t>
            </a:r>
          </a:p>
          <a:p>
            <a:endParaRPr/>
          </a:p>
          <a:p>
            <a:pPr>
              <a:spcAft>
                <a:spcPts val="600"/>
              </a:spcAft>
            </a:pPr>
            <a:r>
              <a:t>Ask who has already sat an AWS Certification exam. Anyone who has will answer the remote-versus-testing-center question better than you can, and it costs you nothing to let them.</a:t>
            </a:r>
          </a:p>
          <a:p>
            <a:endParaRPr/>
          </a:p>
          <a:p>
            <a:pPr>
              <a:spcAft>
                <a:spcPts val="600"/>
              </a:spcAft>
            </a:pPr>
            <a:r>
              <a:t>Hold the domain percentages until the next slide. People fixate on them, and the mechanics land better before the numbers arrive.</a:t>
            </a:r>
          </a:p>
        </p:txBody>
      </p:sp>
      <p:sp>
        <p:nvSpPr>
          <p:cNvPr id="4" name="Slide Number Placeholder 3"/>
          <p:cNvSpPr>
            <a:spLocks noGrp="1"/>
          </p:cNvSpPr>
          <p:nvPr>
            <p:ph type="sldNum" sz="quarter" idx="5"/>
          </p:nvPr>
        </p:nvSpPr>
        <p:spPr/>
        <p:txBody>
          <a:bodyPr/>
          <a:lstStyle/>
          <a:p>
            <a:fld id="{6FF262B8-0A8D-49FC-8D6D-E6D86F667E76}" type="slidenum">
              <a:rPr lang="en-US" smtClean="0"/>
              <a:t>12</a:t>
            </a:fld>
            <a:endParaRPr lang="en-US"/>
          </a:p>
        </p:txBody>
      </p:sp>
    </p:spTree>
    <p:extLst>
      <p:ext uri="{BB962C8B-B14F-4D97-AF65-F5344CB8AC3E}">
        <p14:creationId xmlns:p14="http://schemas.microsoft.com/office/powerpoint/2010/main" val="2994940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a:spcAft>
                <a:spcPts val="600"/>
              </a:spcAft>
            </a:pPr>
            <a:r>
              <a:t>WHAT'S HERE: The exam mechanics -- duration, format, scoring, and how it is delivered.</a:t>
            </a:r>
          </a:p>
          <a:p>
            <a:endParaRPr/>
          </a:p>
          <a:p>
            <a:pPr>
              <a:spcAft>
                <a:spcPts val="600"/>
              </a:spcAft>
            </a:pPr>
            <a:r>
              <a:t>FACILITATOR: The two numbers people plan around are 130 minutes and 150 USD, so say both clearly. Delivery is either a Pearson VUE testing center or an online proctored exam, and a live proctor is present either way.</a:t>
            </a:r>
          </a:p>
          <a:p>
            <a:endParaRPr/>
          </a:p>
          <a:p>
            <a:pPr>
              <a:spcAft>
                <a:spcPts val="600"/>
              </a:spcAft>
            </a:pPr>
            <a:r>
              <a:t>On format, the exam has 65 questions of which 50 are scored. The other 15 are unscored and are not identified during the exam, which is why a question that feels strange is not worth dwelling on.</a:t>
            </a:r>
          </a:p>
          <a:p>
            <a:endParaRPr/>
          </a:p>
          <a:p>
            <a:pPr>
              <a:spcAft>
                <a:spcPts val="600"/>
              </a:spcAft>
            </a:pPr>
            <a:r>
              <a:t>On scoring, results are a scaled score from 100 to 1,000 with 720 to pass. There is no penalty for guessing, so an unanswered question is simply wrong -- tell them to answer everything.</a:t>
            </a:r>
          </a:p>
          <a:p>
            <a:endParaRPr/>
          </a:p>
          <a:p>
            <a:pPr>
              <a:spcAft>
                <a:spcPts val="600"/>
              </a:spcAft>
            </a:pPr>
            <a:r>
              <a:t>One point worth making out loud: scoring is compensatory, so they do not need to pass each domain individually, only the exam overall.</a:t>
            </a:r>
          </a:p>
          <a:p>
            <a:endParaRPr/>
          </a:p>
          <a:p>
            <a:pPr>
              <a:spcAft>
                <a:spcPts val="600"/>
              </a:spcAft>
            </a:pPr>
            <a:r>
              <a:t>Verified against the September 2026 certification updates blog and aws.amazon.com/certification/certified-developer-associate/</a:t>
            </a:r>
          </a:p>
        </p:txBody>
      </p:sp>
      <p:sp>
        <p:nvSpPr>
          <p:cNvPr id="4" name="Slide Number Placeholder 3"/>
          <p:cNvSpPr>
            <a:spLocks noGrp="1"/>
          </p:cNvSpPr>
          <p:nvPr>
            <p:ph type="sldNum" sz="quarter" idx="10"/>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1ADA6E1F-B7C3-CB4A-8789-7F0039C4938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12"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77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The domain weightings for both versions of the exam, with the dates each one is in use.</a:t>
            </a:r>
          </a:p>
          <a:p>
            <a:endParaRPr/>
          </a:p>
          <a:p>
            <a:pPr>
              <a:spcAft>
                <a:spcPts val="600"/>
              </a:spcAft>
            </a:pPr>
            <a:r>
              <a:t>FACILITATOR: Say which exam they will actually sit before reading any percentage. DVA-C02 is in use until November 30, 2026 and DVA-C03 begins December 1, 2026, so anyone testing in the next few months sits C02.</a:t>
            </a:r>
          </a:p>
          <a:p>
            <a:endParaRPr/>
          </a:p>
          <a:p>
            <a:pPr>
              <a:spcAft>
                <a:spcPts val="600"/>
              </a:spcAft>
            </a:pPr>
            <a:r>
              <a:t>Then say what this program teaches: the five content sessions are built to C03, and each one carries an appendix covering the C02 difference for that week. Nobody is left without a reference for the exam they are booking.</a:t>
            </a:r>
          </a:p>
          <a:p>
            <a:endParaRPr/>
          </a:p>
          <a:p>
            <a:pPr>
              <a:spcAft>
                <a:spcPts val="600"/>
              </a:spcAft>
            </a:pPr>
            <a:r>
              <a:t>The shape of the change is small and worth naming: Security stays at 26%, Development drops slightly, Troubleshooting and Optimization grows, and C03 renames the deployment domain to Testing and Deployment.</a:t>
            </a:r>
          </a:p>
          <a:p>
            <a:endParaRPr/>
          </a:p>
          <a:p>
            <a:pPr>
              <a:spcAft>
                <a:spcPts val="600"/>
              </a:spcAft>
            </a:pPr>
            <a:r>
              <a:t>The one genuinely new thing in C03 is a task on the security of using AI services in application development. Week 5 covers it, so mention it here and move on.</a:t>
            </a:r>
          </a:p>
          <a:p>
            <a:endParaRPr/>
          </a:p>
          <a:p>
            <a:pPr>
              <a:spcAft>
                <a:spcPts val="600"/>
              </a:spcAft>
            </a:pPr>
            <a:r>
              <a:t>Registration for C03 opens October 27, 2026.</a:t>
            </a:r>
          </a:p>
          <a:p>
            <a:endParaRPr/>
          </a:p>
          <a:p>
            <a:pPr>
              <a:spcAft>
                <a:spcPts val="600"/>
              </a:spcAft>
            </a:pPr>
            <a:r>
              <a:t>Send anyone who wants the detail to the exam guide for the version they are sitting -- it lists every task and the in-scope services per domain, which is more useful to them than any percentage on this slide. This slide links the announcement blog; the DVA-C02 exam guide itself is at https://d1.awsstatic.com/training-and-certification/docs-dev-associate/AWS-Certified-Developer-Associate_Exam-Guide.pdf</a:t>
            </a:r>
          </a:p>
          <a:p>
            <a:endParaRPr/>
          </a:p>
          <a:p>
            <a:pPr>
              <a:spcAft>
                <a:spcPts val="600"/>
              </a:spcAft>
            </a:pPr>
            <a:r>
              <a:t>Verified against the September 2026 certification updates blog.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3006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a:t>
            </a:r>
            <a:r>
              <a:rPr lang="en-US" b="0" dirty="0"/>
              <a:t> – Be sure to preface this section by identifying to the audience that many of them may have already set-up their accounts prior to joining. For those who did, they can feel free to drop off the call now. </a:t>
            </a:r>
          </a:p>
          <a:p>
            <a:r>
              <a:rPr lang="en-US" b="0" dirty="0"/>
              <a:t>For everyone who hasn’t, feel free to stay and follow-along. Once you’ve gotten your account set-up and accessed the Learning Plan, then feel free to drop off. </a:t>
            </a:r>
          </a:p>
          <a:p>
            <a:r>
              <a:rPr lang="en-US" b="0" dirty="0"/>
              <a:t>The goal here is to filter down until the attendees remaining are just those encountering the issues with account set-up.</a:t>
            </a:r>
          </a:p>
          <a:p>
            <a:endParaRPr lang="en-US" b="1" dirty="0"/>
          </a:p>
          <a:p>
            <a:r>
              <a:rPr lang="en-US" dirty="0"/>
              <a:t>How to set-up APN Account</a:t>
            </a:r>
          </a:p>
          <a:p>
            <a:r>
              <a:rPr lang="en-US" dirty="0"/>
              <a:t>How to set-up Skill Builder Account</a:t>
            </a:r>
          </a:p>
          <a:p>
            <a:endParaRPr lang="en-US" dirty="0"/>
          </a:p>
          <a:p>
            <a:r>
              <a:rPr lang="en-US" dirty="0"/>
              <a:t>Learning Plans path page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8750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85D54-490C-71FF-0222-E94AB0F67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FE339-C3D8-95CA-7D5B-1D0D99D73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EADD6-57C9-697E-7377-558365600FD9}"/>
              </a:ext>
            </a:extLst>
          </p:cNvPr>
          <p:cNvSpPr>
            <a:spLocks noGrp="1"/>
          </p:cNvSpPr>
          <p:nvPr>
            <p:ph type="body" idx="1"/>
          </p:nvPr>
        </p:nvSpPr>
        <p:spPr/>
        <p:txBody>
          <a:bodyPr/>
          <a:lstStyle/>
          <a:p>
            <a:pPr>
              <a:spcAft>
                <a:spcPts val="600"/>
              </a:spcAft>
            </a:pPr>
            <a:r>
              <a:t>WHAT'S HERE: How to reach the assigned learning plan, and which identity to sign in with.</a:t>
            </a:r>
          </a:p>
          <a:p>
            <a:endParaRPr/>
          </a:p>
          <a:p>
            <a:pPr>
              <a:spcAft>
                <a:spcPts val="600"/>
              </a:spcAft>
            </a:pPr>
            <a:r>
              <a:t>FACILITATOR: This deck is the AWS Builder ID variant. They create an AWS Builder ID with their company email address and sign in with it.</a:t>
            </a:r>
          </a:p>
          <a:p>
            <a:endParaRPr/>
          </a:p>
          <a:p>
            <a:pPr>
              <a:spcAft>
                <a:spcPts val="600"/>
              </a:spcAft>
            </a:pPr>
            <a:r>
              <a:t>If that does not match the room you are in, you are presenting the wrong variant -- stop and switch. The identity they start with is the one their whole training history attaches to.</a:t>
            </a:r>
          </a:p>
          <a:p>
            <a:endParaRPr/>
          </a:p>
          <a:p>
            <a:pPr>
              <a:spcAft>
                <a:spcPts val="600"/>
              </a:spcAft>
            </a:pPr>
            <a:r>
              <a:t>AWS Builder ID is the standard login, unless your company has purchased team subscriptions and has SSO enabled.</a:t>
            </a:r>
          </a:p>
          <a:p>
            <a:endParaRPr/>
          </a:p>
          <a:p>
            <a:pPr>
              <a:spcAft>
                <a:spcPts val="600"/>
              </a:spcAft>
            </a:pPr>
            <a:r>
              <a:t>Share the page on screen rather than reading the link aloud, and have them confirm they can see the assigned learning plan before you move on. A sign-in problem found now costs two minutes; found in week two it costs them a week.</a:t>
            </a:r>
          </a:p>
          <a:p>
            <a:endParaRPr/>
          </a:p>
          <a:p>
            <a:pPr>
              <a:spcAft>
                <a:spcPts val="600"/>
              </a:spcAft>
            </a:pPr>
            <a:r>
              <a:t>The official question sets and labs live in the same place, which is worth pointing at even for anyone not planning to use them yet.</a:t>
            </a:r>
          </a:p>
        </p:txBody>
      </p:sp>
      <p:sp>
        <p:nvSpPr>
          <p:cNvPr id="4" name="Slide Number Placeholder 3">
            <a:extLst>
              <a:ext uri="{FF2B5EF4-FFF2-40B4-BE49-F238E27FC236}">
                <a16:creationId xmlns:a16="http://schemas.microsoft.com/office/drawing/2014/main" id="{56FDB9B7-943C-AB8B-085E-B92DD494663E}"/>
              </a:ext>
            </a:extLst>
          </p:cNvPr>
          <p:cNvSpPr>
            <a:spLocks noGrp="1"/>
          </p:cNvSpPr>
          <p:nvPr>
            <p:ph type="sldNum" sz="quarter" idx="5"/>
          </p:nvPr>
        </p:nvSpPr>
        <p:spPr/>
        <p:txBody>
          <a:bodyPr/>
          <a:lstStyle/>
          <a:p>
            <a:fld id="{83EAFF0B-B512-4BFE-9524-C2893ED0596B}" type="slidenum">
              <a:rPr lang="en-US" smtClean="0"/>
              <a:t>16</a:t>
            </a:fld>
            <a:endParaRPr lang="en-US"/>
          </a:p>
        </p:txBody>
      </p:sp>
    </p:spTree>
    <p:extLst>
      <p:ext uri="{BB962C8B-B14F-4D97-AF65-F5344CB8AC3E}">
        <p14:creationId xmlns:p14="http://schemas.microsoft.com/office/powerpoint/2010/main" val="693679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Setting up the certification account and booking the exam.</a:t>
            </a:r>
          </a:p>
          <a:p>
            <a:endParaRPr/>
          </a:p>
          <a:p>
            <a:pPr>
              <a:spcAft>
                <a:spcPts val="600"/>
              </a:spcAft>
            </a:pPr>
            <a:r>
              <a:t>FACILITATOR: Two separate things happen here and people conflate them. Bookmarking the exam page gives them the resources; CertMetrics is where the account and the booking live, and it is reached through that page.</a:t>
            </a:r>
          </a:p>
          <a:p>
            <a:endParaRPr/>
          </a:p>
          <a:p>
            <a:pPr>
              <a:spcAft>
                <a:spcPts val="600"/>
              </a:spcAft>
            </a:pPr>
            <a:r>
              <a:t>Register with the same AWS Builder ID they use for Skill Builder, so the training history and the exam record sit against one identity.</a:t>
            </a:r>
          </a:p>
          <a:p>
            <a:endParaRPr/>
          </a:p>
          <a:p>
            <a:pPr>
              <a:spcAft>
                <a:spcPts val="600"/>
              </a:spcAft>
            </a:pPr>
            <a:r>
              <a:t>Push the scheduling point harder than it looks on the slide. Booking a date early is the single strongest predictor of finishing, because it converts an intention into a deadline. Ask them to pick a target week before the next session.</a:t>
            </a:r>
          </a:p>
          <a:p>
            <a:endParaRPr/>
          </a:p>
          <a:p>
            <a:pPr>
              <a:spcAft>
                <a:spcPts val="600"/>
              </a:spcAft>
            </a:pPr>
            <a:r>
              <a:t>Registration for the updated DVA-C03 exam opens October 27, 2026, so anyone deliberately waiting for that version should plan around it rather than booking now.</a:t>
            </a:r>
          </a:p>
        </p:txBody>
      </p:sp>
      <p:sp>
        <p:nvSpPr>
          <p:cNvPr id="4" name="Slide Number Placeholder 3"/>
          <p:cNvSpPr>
            <a:spLocks noGrp="1"/>
          </p:cNvSpPr>
          <p:nvPr>
            <p:ph type="sldNum" sz="quarter" idx="5"/>
          </p:nvPr>
        </p:nvSpPr>
        <p:spPr/>
        <p:txBody>
          <a:bodyPr/>
          <a:lstStyle/>
          <a:p>
            <a:fld id="{6FF262B8-0A8D-49FC-8D6D-E6D86F667E76}" type="slidenum">
              <a:rPr lang="en-US" smtClean="0"/>
              <a:t>17</a:t>
            </a:fld>
            <a:endParaRPr lang="en-US" dirty="0"/>
          </a:p>
        </p:txBody>
      </p:sp>
    </p:spTree>
    <p:extLst>
      <p:ext uri="{BB962C8B-B14F-4D97-AF65-F5344CB8AC3E}">
        <p14:creationId xmlns:p14="http://schemas.microsoft.com/office/powerpoint/2010/main" val="451621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46A9-A218-675D-4EBF-6C857E909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3DFB3-867A-2CF0-1562-83845FA86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1C8E4-2A8B-71A6-D5E2-63C9FF21BCE3}"/>
              </a:ext>
            </a:extLst>
          </p:cNvPr>
          <p:cNvSpPr>
            <a:spLocks noGrp="1"/>
          </p:cNvSpPr>
          <p:nvPr>
            <p:ph type="body" idx="1"/>
          </p:nvPr>
        </p:nvSpPr>
        <p:spPr/>
        <p:txBody>
          <a:bodyPr/>
          <a:lstStyle/>
          <a:p>
            <a:pPr>
              <a:spcAft>
                <a:spcPts val="600"/>
              </a:spcAft>
            </a:pPr>
            <a:r>
              <a:t>WHAT'S HERE: Linking the certification to their employer once they pass.</a:t>
            </a:r>
          </a:p>
          <a:p>
            <a:endParaRPr/>
          </a:p>
          <a:p>
            <a:pPr>
              <a:spcAft>
                <a:spcPts val="600"/>
              </a:spcAft>
            </a:pPr>
            <a:r>
              <a:t>FACILITATOR: This slide is easy to skip and it is the one with a direct business consequence -- AWS Partner tiers, benefits and some promotional credits are awarded on the certifications a company's employees hold. A pass that is never linked does not count toward any of it.</a:t>
            </a:r>
          </a:p>
          <a:p>
            <a:endParaRPr/>
          </a:p>
          <a:p>
            <a:pPr>
              <a:spcAft>
                <a:spcPts val="600"/>
              </a:spcAft>
            </a:pPr>
            <a:r>
              <a:t>Walk the actual path on screen: in Skill Builder, open Account at the top right, edit the profile, and add the email address used to sit the exam under the certification badges section.</a:t>
            </a:r>
          </a:p>
          <a:p>
            <a:endParaRPr/>
          </a:p>
          <a:p>
            <a:pPr>
              <a:spcAft>
                <a:spcPts val="600"/>
              </a:spcAft>
            </a:pPr>
            <a:r>
              <a:t>The trap is the email address. It has to be the one on the exam record, which is not always the one they use day to day -- and that is why the identity decision two slides ago matters.</a:t>
            </a:r>
          </a:p>
          <a:p>
            <a:endParaRPr/>
          </a:p>
          <a:p>
            <a:pPr>
              <a:spcAft>
                <a:spcPts val="600"/>
              </a:spcAft>
            </a:pPr>
            <a:r>
              <a:t>Ask them to do it the day they pass rather than adding it to a list.</a:t>
            </a:r>
          </a:p>
        </p:txBody>
      </p:sp>
      <p:sp>
        <p:nvSpPr>
          <p:cNvPr id="4" name="Slide Number Placeholder 3">
            <a:extLst>
              <a:ext uri="{FF2B5EF4-FFF2-40B4-BE49-F238E27FC236}">
                <a16:creationId xmlns:a16="http://schemas.microsoft.com/office/drawing/2014/main" id="{596F7055-B91A-A51B-8DF2-7E8BFED099F1}"/>
              </a:ext>
            </a:extLst>
          </p:cNvPr>
          <p:cNvSpPr>
            <a:spLocks noGrp="1"/>
          </p:cNvSpPr>
          <p:nvPr>
            <p:ph type="sldNum" sz="quarter" idx="5"/>
          </p:nvPr>
        </p:nvSpPr>
        <p:spPr/>
        <p:txBody>
          <a:bodyPr/>
          <a:lstStyle/>
          <a:p>
            <a:fld id="{83EAFF0B-B512-4BFE-9524-C2893ED0596B}" type="slidenum">
              <a:rPr lang="en-US" smtClean="0"/>
              <a:t>18</a:t>
            </a:fld>
            <a:endParaRPr lang="en-US"/>
          </a:p>
        </p:txBody>
      </p:sp>
    </p:spTree>
    <p:extLst>
      <p:ext uri="{BB962C8B-B14F-4D97-AF65-F5344CB8AC3E}">
        <p14:creationId xmlns:p14="http://schemas.microsoft.com/office/powerpoint/2010/main" val="2233601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Open the floor. Expect three kinds of question at a kickoff: logistics about the weekly commitment, cost questions about the subscription and the exam, and sign-in problems from the setup walkthrough.</a:t>
            </a:r>
          </a:p>
          <a:p>
            <a:endParaRPr/>
          </a:p>
          <a:p>
            <a:pPr>
              <a:spcAft>
                <a:spcPts val="600"/>
              </a:spcAft>
            </a:pPr>
            <a:r>
              <a:t>For anything you cannot answer, say so and route it -- the Event Guide covers the weekly expectations and the APCR team takes content questions. Guessing at a policy answer is worse than deferring it.</a:t>
            </a:r>
          </a:p>
          <a:p>
            <a:endParaRPr/>
          </a:p>
          <a:p>
            <a:pPr>
              <a:spcAft>
                <a:spcPts val="600"/>
              </a:spcAft>
            </a:pPr>
            <a:r>
              <a:t>If the room is quiet, ask who has already booked a date. It usually restarts the conversation and it reinforces the point from the registration slide.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Close by naming what happens next rather than only thanking them. The first content session is next week, and the week-one training is available now.</a:t>
            </a:r>
          </a:p>
          <a:p>
            <a:endParaRPr/>
          </a:p>
          <a:p>
            <a:pPr>
              <a:spcAft>
                <a:spcPts val="600"/>
              </a:spcAft>
            </a:pPr>
            <a:r>
              <a:t>Repeat the two actions that matter before then: start the assigned learning plan, and pick a target exam date. Everything else in this session was context for those two.</a:t>
            </a:r>
          </a:p>
          <a:p>
            <a:endParaRPr/>
          </a:p>
          <a:p>
            <a:pPr>
              <a:spcAft>
                <a:spcPts val="600"/>
              </a:spcAft>
            </a:pPr>
            <a:r>
              <a:t>Thank them for the questions specifically. The discussion is what makes the live session worth more than the recording, and saying so makes the next one better attended.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Registering an APN account, for a room of AWS Partner employees.</a:t>
            </a:r>
          </a:p>
          <a:p>
            <a:endParaRPr/>
          </a:p>
          <a:p>
            <a:pPr>
              <a:spcAft>
                <a:spcPts val="600"/>
              </a:spcAft>
            </a:pPr>
            <a:r>
              <a:t>FACILITATOR: This slide is hidden by default. Unhide it only when the audience is AWS Partner employees who need the partner-exclusive training, and present it alongside the certification-linking slide rather than instead of it.</a:t>
            </a:r>
          </a:p>
          <a:p>
            <a:endParaRPr/>
          </a:p>
          <a:p>
            <a:pPr>
              <a:spcAft>
                <a:spcPts val="600"/>
              </a:spcAft>
            </a:pPr>
            <a:r>
              <a:t>Two actions on the slide and both matter: register with the company email address, then link the AWS Certification to that profile. The link is what makes the certification count toward the partner relationship.</a:t>
            </a:r>
          </a:p>
          <a:p>
            <a:endParaRPr/>
          </a:p>
          <a:p>
            <a:pPr>
              <a:spcAft>
                <a:spcPts val="600"/>
              </a:spcAft>
            </a:pPr>
            <a:r>
              <a:t>If you are unsure whether it applies to your room, leave it hidden. Nothing later in the program depends on it.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0230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t>WHAT'S HERE: Reaching training resources with APN credentials -- the partner-specific route to Skill Builder.</a:t>
            </a:r>
          </a:p>
          <a:p>
            <a:endParaRPr/>
          </a:p>
          <a:p>
            <a:pPr>
              <a:spcAft>
                <a:spcPts val="600"/>
              </a:spcAft>
            </a:pPr>
            <a:r>
              <a:t>FACILITATOR: Hidden by default, and it pairs with the APN registration slide before it. Use both or neither.</a:t>
            </a:r>
          </a:p>
          <a:p>
            <a:endParaRPr/>
          </a:p>
          <a:p>
            <a:pPr>
              <a:spcAft>
                <a:spcPts val="600"/>
              </a:spcAft>
            </a:pPr>
            <a:r>
              <a:t>Be explicit that this is a SUPPLEMENT rather than a replacement. The assigned learning plan for this event lives behind the identity on the main access slide; this route adds partner materials on top of it.</a:t>
            </a:r>
          </a:p>
          <a:p>
            <a:endParaRPr/>
          </a:p>
          <a:p>
            <a:pPr>
              <a:spcAft>
                <a:spcPts val="600"/>
              </a:spcAft>
            </a:pPr>
            <a:r>
              <a:t>If someone signs in here expecting to find the event's learning plan, they will not, and that is the confusion this note exists to prevent.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F262B8-0A8D-49FC-8D6D-E6D86F667E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9023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19" name="Subtitle 2">
            <a:extLst>
              <a:ext uri="{FF2B5EF4-FFF2-40B4-BE49-F238E27FC236}">
                <a16:creationId xmlns:a16="http://schemas.microsoft.com/office/drawing/2014/main" id="{9C8DE1B8-26CB-635D-9DC6-B41DE35E1C3C}"/>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0" name="Title 7">
            <a:extLst>
              <a:ext uri="{FF2B5EF4-FFF2-40B4-BE49-F238E27FC236}">
                <a16:creationId xmlns:a16="http://schemas.microsoft.com/office/drawing/2014/main" id="{E2C168F2-487F-6831-8CFB-64880C691375}"/>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1" name="Text Placeholder 11">
            <a:extLst>
              <a:ext uri="{FF2B5EF4-FFF2-40B4-BE49-F238E27FC236}">
                <a16:creationId xmlns:a16="http://schemas.microsoft.com/office/drawing/2014/main" id="{7DEF09B0-23C6-60C3-AD83-045CB240C9BA}"/>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3" name="Text Placeholder 15">
            <a:extLst>
              <a:ext uri="{FF2B5EF4-FFF2-40B4-BE49-F238E27FC236}">
                <a16:creationId xmlns:a16="http://schemas.microsoft.com/office/drawing/2014/main" id="{0329D7E8-2769-775F-DF7D-392DF9FFA560}"/>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4" name="Text Placeholder 11">
            <a:extLst>
              <a:ext uri="{FF2B5EF4-FFF2-40B4-BE49-F238E27FC236}">
                <a16:creationId xmlns:a16="http://schemas.microsoft.com/office/drawing/2014/main" id="{8C66D1CE-C99E-4F3B-4CD1-94CF30F58042}"/>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5" name="Text Placeholder 15">
            <a:extLst>
              <a:ext uri="{FF2B5EF4-FFF2-40B4-BE49-F238E27FC236}">
                <a16:creationId xmlns:a16="http://schemas.microsoft.com/office/drawing/2014/main" id="{DE60B491-8773-6A47-1F74-D4669BC5F329}"/>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6" name="Text Placeholder 11">
            <a:extLst>
              <a:ext uri="{FF2B5EF4-FFF2-40B4-BE49-F238E27FC236}">
                <a16:creationId xmlns:a16="http://schemas.microsoft.com/office/drawing/2014/main" id="{9044BB17-A94A-B6F3-B420-AB488E66E8BE}"/>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8457A251-A948-D386-CDF4-5AAF3AA709EA}"/>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Picture Placeholder 15">
            <a:extLst>
              <a:ext uri="{FF2B5EF4-FFF2-40B4-BE49-F238E27FC236}">
                <a16:creationId xmlns:a16="http://schemas.microsoft.com/office/drawing/2014/main" id="{270EDE57-8B21-1242-B526-458028D90A7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29" name="Picture Placeholder 15">
            <a:extLst>
              <a:ext uri="{FF2B5EF4-FFF2-40B4-BE49-F238E27FC236}">
                <a16:creationId xmlns:a16="http://schemas.microsoft.com/office/drawing/2014/main" id="{D92A1AD0-1D03-DF56-A079-9FF83A9B0DB2}"/>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0" name="Picture Placeholder 15">
            <a:extLst>
              <a:ext uri="{FF2B5EF4-FFF2-40B4-BE49-F238E27FC236}">
                <a16:creationId xmlns:a16="http://schemas.microsoft.com/office/drawing/2014/main" id="{1E77634A-0DB1-85DC-3725-8081E14B6B4A}"/>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1" name="Text Placeholder 13">
            <a:extLst>
              <a:ext uri="{FF2B5EF4-FFF2-40B4-BE49-F238E27FC236}">
                <a16:creationId xmlns:a16="http://schemas.microsoft.com/office/drawing/2014/main" id="{FDA7758B-62AD-D3AB-2E84-234BF1798EC7}"/>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2" name="Graphic 31">
            <a:extLst>
              <a:ext uri="{FF2B5EF4-FFF2-40B4-BE49-F238E27FC236}">
                <a16:creationId xmlns:a16="http://schemas.microsoft.com/office/drawing/2014/main" id="{306B0587-BB55-593B-D67A-C369055846E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1987107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23" name="Subtitle 2">
            <a:extLst>
              <a:ext uri="{FF2B5EF4-FFF2-40B4-BE49-F238E27FC236}">
                <a16:creationId xmlns:a16="http://schemas.microsoft.com/office/drawing/2014/main" id="{9F06929A-8678-B8BD-4429-A68475B91D15}"/>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4" name="Title 7">
            <a:extLst>
              <a:ext uri="{FF2B5EF4-FFF2-40B4-BE49-F238E27FC236}">
                <a16:creationId xmlns:a16="http://schemas.microsoft.com/office/drawing/2014/main" id="{75A8240E-48EE-E42C-C06F-9C2FBACB464A}"/>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5" name="Text Placeholder 11">
            <a:extLst>
              <a:ext uri="{FF2B5EF4-FFF2-40B4-BE49-F238E27FC236}">
                <a16:creationId xmlns:a16="http://schemas.microsoft.com/office/drawing/2014/main" id="{C079114F-14E3-EB39-6DCE-CEF36A8819B6}"/>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3E8F6A6E-E2A7-28FE-80DE-61FB50D1624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Text Placeholder 11">
            <a:extLst>
              <a:ext uri="{FF2B5EF4-FFF2-40B4-BE49-F238E27FC236}">
                <a16:creationId xmlns:a16="http://schemas.microsoft.com/office/drawing/2014/main" id="{2A8E799D-2542-C759-40D5-BCB9C6BB7290}"/>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9" name="Text Placeholder 15">
            <a:extLst>
              <a:ext uri="{FF2B5EF4-FFF2-40B4-BE49-F238E27FC236}">
                <a16:creationId xmlns:a16="http://schemas.microsoft.com/office/drawing/2014/main" id="{51B4957B-950B-F8D8-B030-A68533C1D4DF}"/>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0" name="Text Placeholder 11">
            <a:extLst>
              <a:ext uri="{FF2B5EF4-FFF2-40B4-BE49-F238E27FC236}">
                <a16:creationId xmlns:a16="http://schemas.microsoft.com/office/drawing/2014/main" id="{DCA869FC-4609-2E97-ACE0-87E06C1E59CD}"/>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1" name="Text Placeholder 15">
            <a:extLst>
              <a:ext uri="{FF2B5EF4-FFF2-40B4-BE49-F238E27FC236}">
                <a16:creationId xmlns:a16="http://schemas.microsoft.com/office/drawing/2014/main" id="{1E3F02BF-4045-92E7-C9A9-B0449D806C58}"/>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2" name="Picture Placeholder 15">
            <a:extLst>
              <a:ext uri="{FF2B5EF4-FFF2-40B4-BE49-F238E27FC236}">
                <a16:creationId xmlns:a16="http://schemas.microsoft.com/office/drawing/2014/main" id="{F08BD8E6-4AEB-8C1D-860A-E06626BC1A2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3" name="Picture Placeholder 15">
            <a:extLst>
              <a:ext uri="{FF2B5EF4-FFF2-40B4-BE49-F238E27FC236}">
                <a16:creationId xmlns:a16="http://schemas.microsoft.com/office/drawing/2014/main" id="{28452095-5219-393D-009E-55DB2043C8F8}"/>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4" name="Picture Placeholder 15">
            <a:extLst>
              <a:ext uri="{FF2B5EF4-FFF2-40B4-BE49-F238E27FC236}">
                <a16:creationId xmlns:a16="http://schemas.microsoft.com/office/drawing/2014/main" id="{CC66699B-B2A5-13B3-4F5F-AFDE2E627514}"/>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5" name="Text Placeholder 13">
            <a:extLst>
              <a:ext uri="{FF2B5EF4-FFF2-40B4-BE49-F238E27FC236}">
                <a16:creationId xmlns:a16="http://schemas.microsoft.com/office/drawing/2014/main" id="{A1BF4D9A-C763-3E03-CA87-1294CF80F578}"/>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6" name="Graphic 35">
            <a:extLst>
              <a:ext uri="{FF2B5EF4-FFF2-40B4-BE49-F238E27FC236}">
                <a16:creationId xmlns:a16="http://schemas.microsoft.com/office/drawing/2014/main" id="{57EA59FB-C742-AA27-2B3D-F9F1B20E19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1752480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Tree>
    <p:extLst>
      <p:ext uri="{BB962C8B-B14F-4D97-AF65-F5344CB8AC3E}">
        <p14:creationId xmlns:p14="http://schemas.microsoft.com/office/powerpoint/2010/main" val="740458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428409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567546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4204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92512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2551197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20" name="Picture 19">
            <a:extLst>
              <a:ext uri="{FF2B5EF4-FFF2-40B4-BE49-F238E27FC236}">
                <a16:creationId xmlns:a16="http://schemas.microsoft.com/office/drawing/2014/main" id="{11B90473-F1F6-EF4F-CEAF-A33861C063EE}"/>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21" name="Title 7">
            <a:extLst>
              <a:ext uri="{FF2B5EF4-FFF2-40B4-BE49-F238E27FC236}">
                <a16:creationId xmlns:a16="http://schemas.microsoft.com/office/drawing/2014/main" id="{71B36BD9-0199-FE33-80CA-B88298107161}"/>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22" name="Text Placeholder 13">
            <a:extLst>
              <a:ext uri="{FF2B5EF4-FFF2-40B4-BE49-F238E27FC236}">
                <a16:creationId xmlns:a16="http://schemas.microsoft.com/office/drawing/2014/main" id="{FF134F99-7FAB-C41C-1E0B-BF73C4F87F47}"/>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2668861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pic>
        <p:nvPicPr>
          <p:cNvPr id="14" name="Picture 13">
            <a:extLst>
              <a:ext uri="{FF2B5EF4-FFF2-40B4-BE49-F238E27FC236}">
                <a16:creationId xmlns:a16="http://schemas.microsoft.com/office/drawing/2014/main" id="{8B3C1D7F-9093-BF5D-9376-B03954E23091}"/>
              </a:ext>
            </a:extLst>
          </p:cNvPr>
          <p:cNvPicPr>
            <a:picLocks noChangeAspect="1"/>
          </p:cNvPicPr>
          <p:nvPr userDrawn="1"/>
        </p:nvPicPr>
        <p:blipFill>
          <a:blip r:embed="rId3"/>
          <a:stretch>
            <a:fillRect/>
          </a:stretch>
        </p:blipFill>
        <p:spPr>
          <a:xfrm>
            <a:off x="0" y="2748483"/>
            <a:ext cx="12192001" cy="33528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11" name="Title 7">
            <a:extLst>
              <a:ext uri="{FF2B5EF4-FFF2-40B4-BE49-F238E27FC236}">
                <a16:creationId xmlns:a16="http://schemas.microsoft.com/office/drawing/2014/main" id="{4F3AD4A3-EB0C-E553-536F-464EF9F19CB0}"/>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180947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1224056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9A627669-D27A-C7C0-F961-18F252A4B033}"/>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1CF1FFF4-5E16-06CB-126D-F2CB3A7D54C6}"/>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4EEF00DD-7CF1-3D68-C127-835DC3DDD45A}"/>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893227C3-3EFA-E79C-2B72-E78A5FF442ED}"/>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324AF842-70FE-32D1-87BA-C29B85A57F33}"/>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FBD8BF"/>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203932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5" name="Text Placeholder 4">
            <a:extLst>
              <a:ext uri="{FF2B5EF4-FFF2-40B4-BE49-F238E27FC236}">
                <a16:creationId xmlns:a16="http://schemas.microsoft.com/office/drawing/2014/main" id="{7D099C5B-E64C-717F-C133-869110A4F520}"/>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6" name="Text Placeholder 4">
            <a:extLst>
              <a:ext uri="{FF2B5EF4-FFF2-40B4-BE49-F238E27FC236}">
                <a16:creationId xmlns:a16="http://schemas.microsoft.com/office/drawing/2014/main" id="{729A9337-B0DB-B75D-F9C3-C9E5D9887C0B}"/>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7" name="TextBox 6">
            <a:extLst>
              <a:ext uri="{FF2B5EF4-FFF2-40B4-BE49-F238E27FC236}">
                <a16:creationId xmlns:a16="http://schemas.microsoft.com/office/drawing/2014/main" id="{49BA76BB-104E-5EA6-86E8-E7F90AB72EB6}"/>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AED296E4-16F3-8CBD-9238-9D189C1FBE7B}"/>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D7FDE5"/>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2582528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7" name="TextBox 6">
            <a:extLst>
              <a:ext uri="{FF2B5EF4-FFF2-40B4-BE49-F238E27FC236}">
                <a16:creationId xmlns:a16="http://schemas.microsoft.com/office/drawing/2014/main" id="{E20D7CE8-C1A2-3351-D29D-06A934416904}"/>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FFCBC0"/>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2881399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4147104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19" name="Subtitle 2">
            <a:extLst>
              <a:ext uri="{FF2B5EF4-FFF2-40B4-BE49-F238E27FC236}">
                <a16:creationId xmlns:a16="http://schemas.microsoft.com/office/drawing/2014/main" id="{9C8DE1B8-26CB-635D-9DC6-B41DE35E1C3C}"/>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0" name="Title 7">
            <a:extLst>
              <a:ext uri="{FF2B5EF4-FFF2-40B4-BE49-F238E27FC236}">
                <a16:creationId xmlns:a16="http://schemas.microsoft.com/office/drawing/2014/main" id="{E2C168F2-487F-6831-8CFB-64880C691375}"/>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1" name="Text Placeholder 11">
            <a:extLst>
              <a:ext uri="{FF2B5EF4-FFF2-40B4-BE49-F238E27FC236}">
                <a16:creationId xmlns:a16="http://schemas.microsoft.com/office/drawing/2014/main" id="{7DEF09B0-23C6-60C3-AD83-045CB240C9BA}"/>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3" name="Text Placeholder 15">
            <a:extLst>
              <a:ext uri="{FF2B5EF4-FFF2-40B4-BE49-F238E27FC236}">
                <a16:creationId xmlns:a16="http://schemas.microsoft.com/office/drawing/2014/main" id="{0329D7E8-2769-775F-DF7D-392DF9FFA560}"/>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4" name="Text Placeholder 11">
            <a:extLst>
              <a:ext uri="{FF2B5EF4-FFF2-40B4-BE49-F238E27FC236}">
                <a16:creationId xmlns:a16="http://schemas.microsoft.com/office/drawing/2014/main" id="{8C66D1CE-C99E-4F3B-4CD1-94CF30F58042}"/>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5" name="Text Placeholder 15">
            <a:extLst>
              <a:ext uri="{FF2B5EF4-FFF2-40B4-BE49-F238E27FC236}">
                <a16:creationId xmlns:a16="http://schemas.microsoft.com/office/drawing/2014/main" id="{DE60B491-8773-6A47-1F74-D4669BC5F329}"/>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6" name="Text Placeholder 11">
            <a:extLst>
              <a:ext uri="{FF2B5EF4-FFF2-40B4-BE49-F238E27FC236}">
                <a16:creationId xmlns:a16="http://schemas.microsoft.com/office/drawing/2014/main" id="{9044BB17-A94A-B6F3-B420-AB488E66E8BE}"/>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8457A251-A948-D386-CDF4-5AAF3AA709EA}"/>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Picture Placeholder 15">
            <a:extLst>
              <a:ext uri="{FF2B5EF4-FFF2-40B4-BE49-F238E27FC236}">
                <a16:creationId xmlns:a16="http://schemas.microsoft.com/office/drawing/2014/main" id="{270EDE57-8B21-1242-B526-458028D90A7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29" name="Picture Placeholder 15">
            <a:extLst>
              <a:ext uri="{FF2B5EF4-FFF2-40B4-BE49-F238E27FC236}">
                <a16:creationId xmlns:a16="http://schemas.microsoft.com/office/drawing/2014/main" id="{D92A1AD0-1D03-DF56-A079-9FF83A9B0DB2}"/>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30" name="Picture Placeholder 15">
            <a:extLst>
              <a:ext uri="{FF2B5EF4-FFF2-40B4-BE49-F238E27FC236}">
                <a16:creationId xmlns:a16="http://schemas.microsoft.com/office/drawing/2014/main" id="{1E77634A-0DB1-85DC-3725-8081E14B6B4A}"/>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31" name="Text Placeholder 13">
            <a:extLst>
              <a:ext uri="{FF2B5EF4-FFF2-40B4-BE49-F238E27FC236}">
                <a16:creationId xmlns:a16="http://schemas.microsoft.com/office/drawing/2014/main" id="{FDA7758B-62AD-D3AB-2E84-234BF1798EC7}"/>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2" name="Graphic 31">
            <a:extLst>
              <a:ext uri="{FF2B5EF4-FFF2-40B4-BE49-F238E27FC236}">
                <a16:creationId xmlns:a16="http://schemas.microsoft.com/office/drawing/2014/main" id="{306B0587-BB55-593B-D67A-C369055846E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4209113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23" name="Subtitle 2">
            <a:extLst>
              <a:ext uri="{FF2B5EF4-FFF2-40B4-BE49-F238E27FC236}">
                <a16:creationId xmlns:a16="http://schemas.microsoft.com/office/drawing/2014/main" id="{9F06929A-8678-B8BD-4429-A68475B91D15}"/>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4" name="Title 7">
            <a:extLst>
              <a:ext uri="{FF2B5EF4-FFF2-40B4-BE49-F238E27FC236}">
                <a16:creationId xmlns:a16="http://schemas.microsoft.com/office/drawing/2014/main" id="{75A8240E-48EE-E42C-C06F-9C2FBACB464A}"/>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5" name="Text Placeholder 11">
            <a:extLst>
              <a:ext uri="{FF2B5EF4-FFF2-40B4-BE49-F238E27FC236}">
                <a16:creationId xmlns:a16="http://schemas.microsoft.com/office/drawing/2014/main" id="{C079114F-14E3-EB39-6DCE-CEF36A8819B6}"/>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3E8F6A6E-E2A7-28FE-80DE-61FB50D1624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Text Placeholder 11">
            <a:extLst>
              <a:ext uri="{FF2B5EF4-FFF2-40B4-BE49-F238E27FC236}">
                <a16:creationId xmlns:a16="http://schemas.microsoft.com/office/drawing/2014/main" id="{2A8E799D-2542-C759-40D5-BCB9C6BB7290}"/>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9" name="Text Placeholder 15">
            <a:extLst>
              <a:ext uri="{FF2B5EF4-FFF2-40B4-BE49-F238E27FC236}">
                <a16:creationId xmlns:a16="http://schemas.microsoft.com/office/drawing/2014/main" id="{51B4957B-950B-F8D8-B030-A68533C1D4DF}"/>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0" name="Text Placeholder 11">
            <a:extLst>
              <a:ext uri="{FF2B5EF4-FFF2-40B4-BE49-F238E27FC236}">
                <a16:creationId xmlns:a16="http://schemas.microsoft.com/office/drawing/2014/main" id="{DCA869FC-4609-2E97-ACE0-87E06C1E59CD}"/>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1" name="Text Placeholder 15">
            <a:extLst>
              <a:ext uri="{FF2B5EF4-FFF2-40B4-BE49-F238E27FC236}">
                <a16:creationId xmlns:a16="http://schemas.microsoft.com/office/drawing/2014/main" id="{1E3F02BF-4045-92E7-C9A9-B0449D806C58}"/>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2" name="Picture Placeholder 15">
            <a:extLst>
              <a:ext uri="{FF2B5EF4-FFF2-40B4-BE49-F238E27FC236}">
                <a16:creationId xmlns:a16="http://schemas.microsoft.com/office/drawing/2014/main" id="{F08BD8E6-4AEB-8C1D-860A-E06626BC1A2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33" name="Picture Placeholder 15">
            <a:extLst>
              <a:ext uri="{FF2B5EF4-FFF2-40B4-BE49-F238E27FC236}">
                <a16:creationId xmlns:a16="http://schemas.microsoft.com/office/drawing/2014/main" id="{28452095-5219-393D-009E-55DB2043C8F8}"/>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34" name="Picture Placeholder 15">
            <a:extLst>
              <a:ext uri="{FF2B5EF4-FFF2-40B4-BE49-F238E27FC236}">
                <a16:creationId xmlns:a16="http://schemas.microsoft.com/office/drawing/2014/main" id="{CC66699B-B2A5-13B3-4F5F-AFDE2E627514}"/>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35" name="Text Placeholder 13">
            <a:extLst>
              <a:ext uri="{FF2B5EF4-FFF2-40B4-BE49-F238E27FC236}">
                <a16:creationId xmlns:a16="http://schemas.microsoft.com/office/drawing/2014/main" id="{A1BF4D9A-C763-3E03-CA87-1294CF80F578}"/>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6" name="Graphic 35">
            <a:extLst>
              <a:ext uri="{FF2B5EF4-FFF2-40B4-BE49-F238E27FC236}">
                <a16:creationId xmlns:a16="http://schemas.microsoft.com/office/drawing/2014/main" id="{57EA59FB-C742-AA27-2B3D-F9F1B20E19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3104788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866657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2608569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4087952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81162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092035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230272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20" name="Picture 19">
            <a:extLst>
              <a:ext uri="{FF2B5EF4-FFF2-40B4-BE49-F238E27FC236}">
                <a16:creationId xmlns:a16="http://schemas.microsoft.com/office/drawing/2014/main" id="{11B90473-F1F6-EF4F-CEAF-A33861C063EE}"/>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21" name="Title 7">
            <a:extLst>
              <a:ext uri="{FF2B5EF4-FFF2-40B4-BE49-F238E27FC236}">
                <a16:creationId xmlns:a16="http://schemas.microsoft.com/office/drawing/2014/main" id="{71B36BD9-0199-FE33-80CA-B88298107161}"/>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22" name="Text Placeholder 13">
            <a:extLst>
              <a:ext uri="{FF2B5EF4-FFF2-40B4-BE49-F238E27FC236}">
                <a16:creationId xmlns:a16="http://schemas.microsoft.com/office/drawing/2014/main" id="{FF134F99-7FAB-C41C-1E0B-BF73C4F87F47}"/>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12973550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pic>
        <p:nvPicPr>
          <p:cNvPr id="14" name="Picture 13">
            <a:extLst>
              <a:ext uri="{FF2B5EF4-FFF2-40B4-BE49-F238E27FC236}">
                <a16:creationId xmlns:a16="http://schemas.microsoft.com/office/drawing/2014/main" id="{8B3C1D7F-9093-BF5D-9376-B03954E23091}"/>
              </a:ext>
            </a:extLst>
          </p:cNvPr>
          <p:cNvPicPr>
            <a:picLocks noChangeAspect="1"/>
          </p:cNvPicPr>
          <p:nvPr userDrawn="1"/>
        </p:nvPicPr>
        <p:blipFill>
          <a:blip r:embed="rId3"/>
          <a:stretch>
            <a:fillRect/>
          </a:stretch>
        </p:blipFill>
        <p:spPr>
          <a:xfrm>
            <a:off x="0" y="2748483"/>
            <a:ext cx="12192001" cy="33528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11" name="Title 7">
            <a:extLst>
              <a:ext uri="{FF2B5EF4-FFF2-40B4-BE49-F238E27FC236}">
                <a16:creationId xmlns:a16="http://schemas.microsoft.com/office/drawing/2014/main" id="{4F3AD4A3-EB0C-E553-536F-464EF9F19CB0}"/>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1902556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5054973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Tree>
    <p:extLst>
      <p:ext uri="{BB962C8B-B14F-4D97-AF65-F5344CB8AC3E}">
        <p14:creationId xmlns:p14="http://schemas.microsoft.com/office/powerpoint/2010/main" val="3220302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9A627669-D27A-C7C0-F961-18F252A4B033}"/>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1CF1FFF4-5E16-06CB-126D-F2CB3A7D54C6}"/>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4EEF00DD-7CF1-3D68-C127-835DC3DDD45A}"/>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893227C3-3EFA-E79C-2B72-E78A5FF442ED}"/>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324AF842-70FE-32D1-87BA-C29B85A57F33}"/>
              </a:ext>
            </a:extLst>
          </p:cNvPr>
          <p:cNvSpPr txBox="1"/>
          <p:nvPr userDrawn="1"/>
        </p:nvSpPr>
        <p:spPr>
          <a:xfrm>
            <a:off x="371041" y="4083479"/>
            <a:ext cx="10296959" cy="584775"/>
          </a:xfrm>
          <a:prstGeom prst="rect">
            <a:avLst/>
          </a:prstGeom>
          <a:noFill/>
        </p:spPr>
        <p:txBody>
          <a:bodyPr wrap="square" rtlCol="0">
            <a:spAutoFit/>
          </a:bodyPr>
          <a:lstStyle/>
          <a:p>
            <a:r>
              <a:rPr lang="en-US" sz="3200" b="1" i="0">
                <a:solidFill>
                  <a:srgbClr val="FBD8BF"/>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16830603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2023, Amazon Web Services, Inc. or its affiliates. All rights reserved.</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5" name="Text Placeholder 4">
            <a:extLst>
              <a:ext uri="{FF2B5EF4-FFF2-40B4-BE49-F238E27FC236}">
                <a16:creationId xmlns:a16="http://schemas.microsoft.com/office/drawing/2014/main" id="{7D099C5B-E64C-717F-C133-869110A4F520}"/>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6" name="Text Placeholder 4">
            <a:extLst>
              <a:ext uri="{FF2B5EF4-FFF2-40B4-BE49-F238E27FC236}">
                <a16:creationId xmlns:a16="http://schemas.microsoft.com/office/drawing/2014/main" id="{729A9337-B0DB-B75D-F9C3-C9E5D9887C0B}"/>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7" name="TextBox 6">
            <a:extLst>
              <a:ext uri="{FF2B5EF4-FFF2-40B4-BE49-F238E27FC236}">
                <a16:creationId xmlns:a16="http://schemas.microsoft.com/office/drawing/2014/main" id="{49BA76BB-104E-5EA6-86E8-E7F90AB72EB6}"/>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AED296E4-16F3-8CBD-9238-9D189C1FBE7B}"/>
              </a:ext>
            </a:extLst>
          </p:cNvPr>
          <p:cNvSpPr txBox="1"/>
          <p:nvPr userDrawn="1"/>
        </p:nvSpPr>
        <p:spPr>
          <a:xfrm>
            <a:off x="371041" y="4083479"/>
            <a:ext cx="10296959" cy="584775"/>
          </a:xfrm>
          <a:prstGeom prst="rect">
            <a:avLst/>
          </a:prstGeom>
          <a:noFill/>
        </p:spPr>
        <p:txBody>
          <a:bodyPr wrap="square" rtlCol="0">
            <a:spAutoFit/>
          </a:bodyPr>
          <a:lstStyle/>
          <a:p>
            <a:r>
              <a:rPr lang="en-US" sz="3200" b="1" i="0">
                <a:solidFill>
                  <a:srgbClr val="D7FDE5"/>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30343193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7" name="TextBox 6">
            <a:extLst>
              <a:ext uri="{FF2B5EF4-FFF2-40B4-BE49-F238E27FC236}">
                <a16:creationId xmlns:a16="http://schemas.microsoft.com/office/drawing/2014/main" id="{E20D7CE8-C1A2-3351-D29D-06A934416904}"/>
              </a:ext>
            </a:extLst>
          </p:cNvPr>
          <p:cNvSpPr txBox="1"/>
          <p:nvPr userDrawn="1"/>
        </p:nvSpPr>
        <p:spPr>
          <a:xfrm>
            <a:off x="371041" y="4083479"/>
            <a:ext cx="10296959" cy="584775"/>
          </a:xfrm>
          <a:prstGeom prst="rect">
            <a:avLst/>
          </a:prstGeom>
          <a:noFill/>
        </p:spPr>
        <p:txBody>
          <a:bodyPr wrap="square" rtlCol="0">
            <a:spAutoFit/>
          </a:bodyPr>
          <a:lstStyle/>
          <a:p>
            <a:r>
              <a:rPr lang="en-US" sz="3200" b="1" i="0">
                <a:solidFill>
                  <a:srgbClr val="FFCBC0"/>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20183133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secHead">
  <p:cSld name="Module Outlin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F1F3F3"/>
                </a:solidFill>
                <a:latin typeface="+mn-lt"/>
              </a:defRPr>
            </a:lvl1pPr>
          </a:lstStyle>
          <a:p>
            <a:fld id="{4037B1B0-0345-4E15-985A-6BECCDBE474F}" type="slidenum">
              <a:rPr lang="en-US" smtClean="0"/>
              <a:pPr/>
              <a:t>‹#›</a:t>
            </a:fld>
            <a:endParaRPr lang="en-US"/>
          </a:p>
        </p:txBody>
      </p:sp>
      <p:sp>
        <p:nvSpPr>
          <p:cNvPr id="4" name="Topic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defRPr>
                <a:solidFill>
                  <a:schemeClr val="tx2"/>
                </a:solidFill>
                <a:latin typeface="Amazon Ember Display Heavy"/>
              </a:defRPr>
            </a:lvl1pPr>
          </a:lstStyle>
          <a:p>
            <a:r>
              <a:rPr lang="en-US" dirty="0"/>
              <a:t>Enter topic title – option 2</a:t>
            </a:r>
          </a:p>
        </p:txBody>
      </p:sp>
      <p:sp>
        <p:nvSpPr>
          <p:cNvPr id="2" name="Cours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oAutofit/>
          </a:bodyPr>
          <a:lstStyle>
            <a:lvl1pPr marL="0" indent="0">
              <a:buNone/>
              <a:defRPr sz="2000">
                <a:solidFill>
                  <a:schemeClr val="tx2"/>
                </a:solidFill>
                <a:latin typeface="+mn-lt"/>
              </a:defRPr>
            </a:lvl1pPr>
          </a:lstStyle>
          <a:p>
            <a:pPr lvl="0"/>
            <a:r>
              <a:rPr lang="en-US" dirty="0"/>
              <a:t>Enter module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buNone/>
              <a:defRPr>
                <a:solidFill>
                  <a:schemeClr val="tx2"/>
                </a:solidFill>
              </a:defRPr>
            </a:lvl1pPr>
          </a:lstStyle>
          <a:p>
            <a:pPr lvl="0"/>
            <a:r>
              <a:rPr lang="en-US" dirty="0"/>
              <a:t>Enter topic list</a:t>
            </a:r>
          </a:p>
        </p:txBody>
      </p:sp>
      <p:pic>
        <p:nvPicPr>
          <p:cNvPr id="8" name="Copyright1">
            <a:extLst>
              <a:ext uri="{FF2B5EF4-FFF2-40B4-BE49-F238E27FC236}">
                <a16:creationId xmlns:a16="http://schemas.microsoft.com/office/drawing/2014/main" id="{99BAD4CA-D7B5-43A6-AED8-579BEBFC5B53}"/>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334216" y="6446520"/>
            <a:ext cx="4610100" cy="311150"/>
          </a:xfrm>
          <a:prstGeom prst="rect">
            <a:avLst/>
          </a:prstGeom>
        </p:spPr>
      </p:pic>
    </p:spTree>
    <p:custDataLst>
      <p:tags r:id="rId1"/>
    </p:custDataLst>
    <p:extLst>
      <p:ext uri="{BB962C8B-B14F-4D97-AF65-F5344CB8AC3E}">
        <p14:creationId xmlns:p14="http://schemas.microsoft.com/office/powerpoint/2010/main" val="3804400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p:nvPr>
        </p:nvSpPr>
        <p:spPr>
          <a:xfrm>
            <a:off x="269875" y="986966"/>
            <a:ext cx="11652250" cy="627864"/>
          </a:xfrm>
        </p:spPr>
        <p:txBody>
          <a:bodyPr/>
          <a:lstStyle>
            <a:lvl1pPr>
              <a:defRPr sz="2400">
                <a:solidFill>
                  <a:schemeClr val="accent1"/>
                </a:solidFill>
              </a:defRPr>
            </a:lvl1pPr>
          </a:lstStyle>
          <a:p>
            <a:pPr lvl="0"/>
            <a:r>
              <a:rPr lang="en-US"/>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365724831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3242504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5699808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344B5C68-7AAF-714C-BA5C-79EE2A2BF521}" type="datetime1">
              <a:rPr lang="en-US" smtClean="0"/>
              <a:pPr/>
              <a:t>9/8/2026</a:t>
            </a:fld>
            <a:endParaRPr lang="en-US" dirty="0"/>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413009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9" name="Subtitle 2">
            <a:extLst>
              <a:ext uri="{FF2B5EF4-FFF2-40B4-BE49-F238E27FC236}">
                <a16:creationId xmlns:a16="http://schemas.microsoft.com/office/drawing/2014/main" id="{9C8DE1B8-26CB-635D-9DC6-B41DE35E1C3C}"/>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0" name="Title 7">
            <a:extLst>
              <a:ext uri="{FF2B5EF4-FFF2-40B4-BE49-F238E27FC236}">
                <a16:creationId xmlns:a16="http://schemas.microsoft.com/office/drawing/2014/main" id="{E2C168F2-487F-6831-8CFB-64880C691375}"/>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1" name="Text Placeholder 11">
            <a:extLst>
              <a:ext uri="{FF2B5EF4-FFF2-40B4-BE49-F238E27FC236}">
                <a16:creationId xmlns:a16="http://schemas.microsoft.com/office/drawing/2014/main" id="{7DEF09B0-23C6-60C3-AD83-045CB240C9BA}"/>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3" name="Text Placeholder 15">
            <a:extLst>
              <a:ext uri="{FF2B5EF4-FFF2-40B4-BE49-F238E27FC236}">
                <a16:creationId xmlns:a16="http://schemas.microsoft.com/office/drawing/2014/main" id="{0329D7E8-2769-775F-DF7D-392DF9FFA560}"/>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4" name="Text Placeholder 11">
            <a:extLst>
              <a:ext uri="{FF2B5EF4-FFF2-40B4-BE49-F238E27FC236}">
                <a16:creationId xmlns:a16="http://schemas.microsoft.com/office/drawing/2014/main" id="{8C66D1CE-C99E-4F3B-4CD1-94CF30F58042}"/>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5" name="Text Placeholder 15">
            <a:extLst>
              <a:ext uri="{FF2B5EF4-FFF2-40B4-BE49-F238E27FC236}">
                <a16:creationId xmlns:a16="http://schemas.microsoft.com/office/drawing/2014/main" id="{DE60B491-8773-6A47-1F74-D4669BC5F329}"/>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6" name="Text Placeholder 11">
            <a:extLst>
              <a:ext uri="{FF2B5EF4-FFF2-40B4-BE49-F238E27FC236}">
                <a16:creationId xmlns:a16="http://schemas.microsoft.com/office/drawing/2014/main" id="{9044BB17-A94A-B6F3-B420-AB488E66E8BE}"/>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8457A251-A948-D386-CDF4-5AAF3AA709EA}"/>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Picture Placeholder 15">
            <a:extLst>
              <a:ext uri="{FF2B5EF4-FFF2-40B4-BE49-F238E27FC236}">
                <a16:creationId xmlns:a16="http://schemas.microsoft.com/office/drawing/2014/main" id="{270EDE57-8B21-1242-B526-458028D90A7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29" name="Picture Placeholder 15">
            <a:extLst>
              <a:ext uri="{FF2B5EF4-FFF2-40B4-BE49-F238E27FC236}">
                <a16:creationId xmlns:a16="http://schemas.microsoft.com/office/drawing/2014/main" id="{D92A1AD0-1D03-DF56-A079-9FF83A9B0DB2}"/>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0" name="Picture Placeholder 15">
            <a:extLst>
              <a:ext uri="{FF2B5EF4-FFF2-40B4-BE49-F238E27FC236}">
                <a16:creationId xmlns:a16="http://schemas.microsoft.com/office/drawing/2014/main" id="{1E77634A-0DB1-85DC-3725-8081E14B6B4A}"/>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1" name="Text Placeholder 13">
            <a:extLst>
              <a:ext uri="{FF2B5EF4-FFF2-40B4-BE49-F238E27FC236}">
                <a16:creationId xmlns:a16="http://schemas.microsoft.com/office/drawing/2014/main" id="{FDA7758B-62AD-D3AB-2E84-234BF1798EC7}"/>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2" name="Graphic 31">
            <a:extLst>
              <a:ext uri="{FF2B5EF4-FFF2-40B4-BE49-F238E27FC236}">
                <a16:creationId xmlns:a16="http://schemas.microsoft.com/office/drawing/2014/main" id="{306B0587-BB55-593B-D67A-C369055846E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9002907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23" name="Subtitle 2">
            <a:extLst>
              <a:ext uri="{FF2B5EF4-FFF2-40B4-BE49-F238E27FC236}">
                <a16:creationId xmlns:a16="http://schemas.microsoft.com/office/drawing/2014/main" id="{9F06929A-8678-B8BD-4429-A68475B91D15}"/>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24" name="Title 7">
            <a:extLst>
              <a:ext uri="{FF2B5EF4-FFF2-40B4-BE49-F238E27FC236}">
                <a16:creationId xmlns:a16="http://schemas.microsoft.com/office/drawing/2014/main" id="{75A8240E-48EE-E42C-C06F-9C2FBACB464A}"/>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25" name="Text Placeholder 11">
            <a:extLst>
              <a:ext uri="{FF2B5EF4-FFF2-40B4-BE49-F238E27FC236}">
                <a16:creationId xmlns:a16="http://schemas.microsoft.com/office/drawing/2014/main" id="{C079114F-14E3-EB39-6DCE-CEF36A8819B6}"/>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7" name="Text Placeholder 15">
            <a:extLst>
              <a:ext uri="{FF2B5EF4-FFF2-40B4-BE49-F238E27FC236}">
                <a16:creationId xmlns:a16="http://schemas.microsoft.com/office/drawing/2014/main" id="{3E8F6A6E-E2A7-28FE-80DE-61FB50D1624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28" name="Text Placeholder 11">
            <a:extLst>
              <a:ext uri="{FF2B5EF4-FFF2-40B4-BE49-F238E27FC236}">
                <a16:creationId xmlns:a16="http://schemas.microsoft.com/office/drawing/2014/main" id="{2A8E799D-2542-C759-40D5-BCB9C6BB7290}"/>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29" name="Text Placeholder 15">
            <a:extLst>
              <a:ext uri="{FF2B5EF4-FFF2-40B4-BE49-F238E27FC236}">
                <a16:creationId xmlns:a16="http://schemas.microsoft.com/office/drawing/2014/main" id="{51B4957B-950B-F8D8-B030-A68533C1D4DF}"/>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0" name="Text Placeholder 11">
            <a:extLst>
              <a:ext uri="{FF2B5EF4-FFF2-40B4-BE49-F238E27FC236}">
                <a16:creationId xmlns:a16="http://schemas.microsoft.com/office/drawing/2014/main" id="{DCA869FC-4609-2E97-ACE0-87E06C1E59CD}"/>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1" name="Text Placeholder 15">
            <a:extLst>
              <a:ext uri="{FF2B5EF4-FFF2-40B4-BE49-F238E27FC236}">
                <a16:creationId xmlns:a16="http://schemas.microsoft.com/office/drawing/2014/main" id="{1E3F02BF-4045-92E7-C9A9-B0449D806C58}"/>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2" name="Picture Placeholder 15">
            <a:extLst>
              <a:ext uri="{FF2B5EF4-FFF2-40B4-BE49-F238E27FC236}">
                <a16:creationId xmlns:a16="http://schemas.microsoft.com/office/drawing/2014/main" id="{F08BD8E6-4AEB-8C1D-860A-E06626BC1A24}"/>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3" name="Picture Placeholder 15">
            <a:extLst>
              <a:ext uri="{FF2B5EF4-FFF2-40B4-BE49-F238E27FC236}">
                <a16:creationId xmlns:a16="http://schemas.microsoft.com/office/drawing/2014/main" id="{28452095-5219-393D-009E-55DB2043C8F8}"/>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4" name="Picture Placeholder 15">
            <a:extLst>
              <a:ext uri="{FF2B5EF4-FFF2-40B4-BE49-F238E27FC236}">
                <a16:creationId xmlns:a16="http://schemas.microsoft.com/office/drawing/2014/main" id="{CC66699B-B2A5-13B3-4F5F-AFDE2E627514}"/>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35" name="Text Placeholder 13">
            <a:extLst>
              <a:ext uri="{FF2B5EF4-FFF2-40B4-BE49-F238E27FC236}">
                <a16:creationId xmlns:a16="http://schemas.microsoft.com/office/drawing/2014/main" id="{A1BF4D9A-C763-3E03-CA87-1294CF80F578}"/>
              </a:ext>
            </a:extLst>
          </p:cNvPr>
          <p:cNvSpPr>
            <a:spLocks noGrp="1"/>
          </p:cNvSpPr>
          <p:nvPr>
            <p:ph type="body" sz="quarter" idx="11" hasCustomPrompt="1"/>
          </p:nvPr>
        </p:nvSpPr>
        <p:spPr>
          <a:xfrm>
            <a:off x="444858" y="1873037"/>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36" name="Graphic 35">
            <a:extLst>
              <a:ext uri="{FF2B5EF4-FFF2-40B4-BE49-F238E27FC236}">
                <a16:creationId xmlns:a16="http://schemas.microsoft.com/office/drawing/2014/main" id="{57EA59FB-C742-AA27-2B3D-F9F1B20E19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2054860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dirty="0"/>
          </a:p>
        </p:txBody>
      </p:sp>
    </p:spTree>
    <p:extLst>
      <p:ext uri="{BB962C8B-B14F-4D97-AF65-F5344CB8AC3E}">
        <p14:creationId xmlns:p14="http://schemas.microsoft.com/office/powerpoint/2010/main" val="29751311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10194739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4808686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40304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766030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27147798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20" name="Picture 19">
            <a:extLst>
              <a:ext uri="{FF2B5EF4-FFF2-40B4-BE49-F238E27FC236}">
                <a16:creationId xmlns:a16="http://schemas.microsoft.com/office/drawing/2014/main" id="{11B90473-F1F6-EF4F-CEAF-A33861C063EE}"/>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21" name="Title 7">
            <a:extLst>
              <a:ext uri="{FF2B5EF4-FFF2-40B4-BE49-F238E27FC236}">
                <a16:creationId xmlns:a16="http://schemas.microsoft.com/office/drawing/2014/main" id="{71B36BD9-0199-FE33-80CA-B88298107161}"/>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22" name="Text Placeholder 13">
            <a:extLst>
              <a:ext uri="{FF2B5EF4-FFF2-40B4-BE49-F238E27FC236}">
                <a16:creationId xmlns:a16="http://schemas.microsoft.com/office/drawing/2014/main" id="{FF134F99-7FAB-C41C-1E0B-BF73C4F87F47}"/>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36634124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pic>
        <p:nvPicPr>
          <p:cNvPr id="14" name="Picture 13">
            <a:extLst>
              <a:ext uri="{FF2B5EF4-FFF2-40B4-BE49-F238E27FC236}">
                <a16:creationId xmlns:a16="http://schemas.microsoft.com/office/drawing/2014/main" id="{8B3C1D7F-9093-BF5D-9376-B03954E23091}"/>
              </a:ext>
            </a:extLst>
          </p:cNvPr>
          <p:cNvPicPr>
            <a:picLocks noChangeAspect="1"/>
          </p:cNvPicPr>
          <p:nvPr userDrawn="1"/>
        </p:nvPicPr>
        <p:blipFill>
          <a:blip r:embed="rId3"/>
          <a:stretch>
            <a:fillRect/>
          </a:stretch>
        </p:blipFill>
        <p:spPr>
          <a:xfrm>
            <a:off x="0" y="2748483"/>
            <a:ext cx="12192001" cy="33528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1" name="Title 7">
            <a:extLst>
              <a:ext uri="{FF2B5EF4-FFF2-40B4-BE49-F238E27FC236}">
                <a16:creationId xmlns:a16="http://schemas.microsoft.com/office/drawing/2014/main" id="{4F3AD4A3-EB0C-E553-536F-464EF9F19CB0}"/>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6510" y="473514"/>
            <a:ext cx="963262" cy="576038"/>
          </a:xfrm>
          <a:prstGeom prst="rect">
            <a:avLst/>
          </a:prstGeom>
        </p:spPr>
      </p:pic>
    </p:spTree>
    <p:extLst>
      <p:ext uri="{BB962C8B-B14F-4D97-AF65-F5344CB8AC3E}">
        <p14:creationId xmlns:p14="http://schemas.microsoft.com/office/powerpoint/2010/main" val="13926634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12749417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19" name="Graphic 18">
            <a:extLst>
              <a:ext uri="{FF2B5EF4-FFF2-40B4-BE49-F238E27FC236}">
                <a16:creationId xmlns:a16="http://schemas.microsoft.com/office/drawing/2014/main" id="{1BA2E257-4989-B9FC-D933-E464CE00541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9A627669-D27A-C7C0-F961-18F252A4B033}"/>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BD8BF"/>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1CF1FFF4-5E16-06CB-126D-F2CB3A7D54C6}"/>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4EEF00DD-7CF1-3D68-C127-835DC3DDD45A}"/>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893227C3-3EFA-E79C-2B72-E78A5FF442ED}"/>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324AF842-70FE-32D1-87BA-C29B85A57F33}"/>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FBD8BF"/>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34035080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rc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2" name="Text Placeholder 13">
            <a:extLst>
              <a:ext uri="{FF2B5EF4-FFF2-40B4-BE49-F238E27FC236}">
                <a16:creationId xmlns:a16="http://schemas.microsoft.com/office/drawing/2014/main" id="{77044790-1316-1E39-3DFF-CE1180F4ED0F}"/>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D7FDE5"/>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pic>
        <p:nvPicPr>
          <p:cNvPr id="13" name="Graphic 12">
            <a:extLst>
              <a:ext uri="{FF2B5EF4-FFF2-40B4-BE49-F238E27FC236}">
                <a16:creationId xmlns:a16="http://schemas.microsoft.com/office/drawing/2014/main" id="{0320DFEC-2749-E3A6-8402-899DEF771B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5" name="Text Placeholder 4">
            <a:extLst>
              <a:ext uri="{FF2B5EF4-FFF2-40B4-BE49-F238E27FC236}">
                <a16:creationId xmlns:a16="http://schemas.microsoft.com/office/drawing/2014/main" id="{7D099C5B-E64C-717F-C133-869110A4F520}"/>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6" name="Text Placeholder 4">
            <a:extLst>
              <a:ext uri="{FF2B5EF4-FFF2-40B4-BE49-F238E27FC236}">
                <a16:creationId xmlns:a16="http://schemas.microsoft.com/office/drawing/2014/main" id="{729A9337-B0DB-B75D-F9C3-C9E5D9887C0B}"/>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7" name="TextBox 6">
            <a:extLst>
              <a:ext uri="{FF2B5EF4-FFF2-40B4-BE49-F238E27FC236}">
                <a16:creationId xmlns:a16="http://schemas.microsoft.com/office/drawing/2014/main" id="{49BA76BB-104E-5EA6-86E8-E7F90AB72EB6}"/>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10" name="TextBox 9">
            <a:extLst>
              <a:ext uri="{FF2B5EF4-FFF2-40B4-BE49-F238E27FC236}">
                <a16:creationId xmlns:a16="http://schemas.microsoft.com/office/drawing/2014/main" id="{AED296E4-16F3-8CBD-9238-9D189C1FBE7B}"/>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D7FDE5"/>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12119946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
        <p:nvSpPr>
          <p:cNvPr id="7" name="TextBox 6">
            <a:extLst>
              <a:ext uri="{FF2B5EF4-FFF2-40B4-BE49-F238E27FC236}">
                <a16:creationId xmlns:a16="http://schemas.microsoft.com/office/drawing/2014/main" id="{E20D7CE8-C1A2-3351-D29D-06A934416904}"/>
              </a:ext>
            </a:extLst>
          </p:cNvPr>
          <p:cNvSpPr txBox="1"/>
          <p:nvPr userDrawn="1"/>
        </p:nvSpPr>
        <p:spPr>
          <a:xfrm>
            <a:off x="371041" y="4083479"/>
            <a:ext cx="10296959" cy="584775"/>
          </a:xfrm>
          <a:prstGeom prst="rect">
            <a:avLst/>
          </a:prstGeom>
          <a:noFill/>
        </p:spPr>
        <p:txBody>
          <a:bodyPr wrap="square" rtlCol="0">
            <a:spAutoFit/>
          </a:bodyPr>
          <a:lstStyle/>
          <a:p>
            <a:r>
              <a:rPr lang="en-US" sz="3200" b="1" i="0" dirty="0">
                <a:solidFill>
                  <a:srgbClr val="FFCBC0"/>
                </a:solidFill>
                <a:latin typeface="Amazon Ember Display" panose="020F0603020204020204" pitchFamily="34" charset="0"/>
                <a:ea typeface="Amazon Ember Display" panose="020F0603020204020204" pitchFamily="34" charset="0"/>
                <a:cs typeface="Amazon Ember Display" panose="020F0603020204020204" pitchFamily="34" charset="0"/>
              </a:rPr>
              <a:t>Next Episode:</a:t>
            </a:r>
          </a:p>
        </p:txBody>
      </p:sp>
    </p:spTree>
    <p:extLst>
      <p:ext uri="{BB962C8B-B14F-4D97-AF65-F5344CB8AC3E}">
        <p14:creationId xmlns:p14="http://schemas.microsoft.com/office/powerpoint/2010/main" val="7704515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9181691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258532"/>
          </a:xfrm>
        </p:spPr>
        <p:txBody>
          <a:bodyPr/>
          <a:lstStyle>
            <a:lvl1pPr marL="0" indent="0">
              <a:buNone/>
              <a:defRPr sz="1200" b="1" i="0" cap="all" spc="300" baseline="0"/>
            </a:lvl1pPr>
          </a:lstStyle>
          <a:p>
            <a:pPr lvl="0"/>
            <a:r>
              <a:rPr lang="en-US" dirty="0"/>
              <a:t>Enter subtitle</a:t>
            </a:r>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62862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1903786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theme" Target="../theme/theme2.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image" Target="../media/image1.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theme" Target="../theme/theme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image" Target="../media/image1.svg"/><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1563512"/>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49" r:id="rId3"/>
    <p:sldLayoutId id="2147483650" r:id="rId4"/>
    <p:sldLayoutId id="2147483662" r:id="rId5"/>
    <p:sldLayoutId id="2147483663" r:id="rId6"/>
    <p:sldLayoutId id="2147483664" r:id="rId7"/>
    <p:sldLayoutId id="2147483665" r:id="rId8"/>
    <p:sldLayoutId id="2147483667" r:id="rId9"/>
    <p:sldLayoutId id="2147483668" r:id="rId10"/>
    <p:sldLayoutId id="2147483666" r:id="rId11"/>
    <p:sldLayoutId id="2147483670" r:id="rId12"/>
    <p:sldLayoutId id="2147483671" r:id="rId13"/>
    <p:sldLayoutId id="2147483669" r:id="rId14"/>
    <p:sldLayoutId id="2147483727" r:id="rId15"/>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307876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28" r:id="rId20"/>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816962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9" r:id="rId17"/>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hyperlink" Target="https://aws.amazon.com/certification/certified-ai-practitioner" TargetMode="External"/><Relationship Id="rId18" Type="http://schemas.openxmlformats.org/officeDocument/2006/relationships/image" Target="../media/image20.png"/><Relationship Id="rId26" Type="http://schemas.openxmlformats.org/officeDocument/2006/relationships/image" Target="../media/image25.png"/><Relationship Id="rId3" Type="http://schemas.openxmlformats.org/officeDocument/2006/relationships/hyperlink" Target="https://aws.amazon.com/certification/certified-devops-engineer-professional/?ch=sec&amp;sec=rmg&amp;d=1" TargetMode="External"/><Relationship Id="rId21" Type="http://schemas.openxmlformats.org/officeDocument/2006/relationships/hyperlink" Target="https://aws.amazon.com/certification/certified-data-engineer-associate/?ch=sec&amp;sec=rmg&amp;d=1" TargetMode="External"/><Relationship Id="rId7" Type="http://schemas.openxmlformats.org/officeDocument/2006/relationships/hyperlink" Target="https://aws.amazon.com/certification/certified-security-specialty/" TargetMode="External"/><Relationship Id="rId12" Type="http://schemas.openxmlformats.org/officeDocument/2006/relationships/image" Target="../media/image17.png"/><Relationship Id="rId17" Type="http://schemas.openxmlformats.org/officeDocument/2006/relationships/hyperlink" Target="https://aws.amazon.com/certification/certified-solutions-architect-associate/?ch=sec&amp;sec=rmg&amp;d=1" TargetMode="External"/><Relationship Id="rId25" Type="http://schemas.openxmlformats.org/officeDocument/2006/relationships/image" Target="../media/image24.png"/><Relationship Id="rId2" Type="http://schemas.openxmlformats.org/officeDocument/2006/relationships/notesSlide" Target="../notesSlides/notesSlide5.xml"/><Relationship Id="rId16" Type="http://schemas.openxmlformats.org/officeDocument/2006/relationships/image" Target="../media/image19.png"/><Relationship Id="rId20"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hyperlink" Target="https://aws.amazon.com/certification/certified-cloud-practitioner/?ch=sec&amp;sec=rmg&amp;d=1" TargetMode="External"/><Relationship Id="rId24" Type="http://schemas.openxmlformats.org/officeDocument/2006/relationships/image" Target="../media/image23.png"/><Relationship Id="rId5" Type="http://schemas.openxmlformats.org/officeDocument/2006/relationships/hyperlink" Target="https://aws.amazon.com/certification/certified-solutions-architect-professional/?ch=sec&amp;sec=rmg&amp;d=1" TargetMode="External"/><Relationship Id="rId15" Type="http://schemas.openxmlformats.org/officeDocument/2006/relationships/hyperlink" Target="https://aws.amazon.com/certification/certified-developer-associate/?ch=sec&amp;sec=rmg&amp;d=1" TargetMode="External"/><Relationship Id="rId23" Type="http://schemas.openxmlformats.org/officeDocument/2006/relationships/hyperlink" Target="https://aws.amazon.com/certification/certified-machine-learning-engineer-associate" TargetMode="External"/><Relationship Id="rId10" Type="http://schemas.openxmlformats.org/officeDocument/2006/relationships/image" Target="../media/image16.png"/><Relationship Id="rId19" Type="http://schemas.openxmlformats.org/officeDocument/2006/relationships/hyperlink" Target="https://aws.amazon.com/certification/certified-sysops-admin-associate/?ch=sec&amp;sec=rmg&amp;d=1" TargetMode="External"/><Relationship Id="rId4" Type="http://schemas.openxmlformats.org/officeDocument/2006/relationships/image" Target="../media/image13.png"/><Relationship Id="rId9" Type="http://schemas.openxmlformats.org/officeDocument/2006/relationships/hyperlink" Target="https://aws.amazon.com/certification/certified-advanced-networking-specialty/?ch=sec&amp;sec=rmg&amp;d=1" TargetMode="External"/><Relationship Id="rId14" Type="http://schemas.openxmlformats.org/officeDocument/2006/relationships/image" Target="../media/image18.png"/><Relationship Id="rId22"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hyperlink" Target="https://skillbuilder.aws/learning-plan/Q9U98QN2C9/AWS-Partner-Certification-Readiness---Developer---Associate/QBX3UNMC92" TargetMode="External"/><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hyperlink" Target="https://www.aws.training/certification/?cta=saatopbanner" TargetMode="External"/><Relationship Id="rId5" Type="http://schemas.openxmlformats.org/officeDocument/2006/relationships/hyperlink" Target="https://skillbuilder.aws/learn/5EHN168DQA/aws-cloud-quest-serverless-developer/EHKXGX5TZQ" TargetMode="External"/><Relationship Id="rId4" Type="http://schemas.openxmlformats.org/officeDocument/2006/relationships/hyperlink" Target="https://skillbuilder.aws/learning-plan/ZWHYYQBTUK/exam-prep-plan-aws-certified-developer--associate-dvac02--english/NG34SRVV2G"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skillbuilder.aws/learn/5EHN168DQA/aws-cloud-quest-serverless-developer/EHKXGX5TZQ" TargetMode="External"/><Relationship Id="rId3" Type="http://schemas.openxmlformats.org/officeDocument/2006/relationships/hyperlink" Target="https://skillbuilder.aws/learn" TargetMode="External"/><Relationship Id="rId7" Type="http://schemas.openxmlformats.org/officeDocument/2006/relationships/hyperlink" Target="https://skillbuilder.aws/learning-plan/ZWHYYQBTUK/exam-prep-plan-aws-certified-developer--associate-dvac02--english/NG34SRVV2G" TargetMode="External"/><Relationship Id="rId2" Type="http://schemas.openxmlformats.org/officeDocument/2006/relationships/notesSlide" Target="../notesSlides/notesSlide9.xml"/><Relationship Id="rId1" Type="http://schemas.openxmlformats.org/officeDocument/2006/relationships/slideLayout" Target="../slideLayouts/slideLayout3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skillbuilder.aws/subscription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ages.awscloud.com/GLOBAL_TRAINCERT_LN_Terms-and-conditions-APCR.html" TargetMode="External"/><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blogs/training-and-certification/september-2026-new-offerings/" TargetMode="External"/><Relationship Id="rId2" Type="http://schemas.openxmlformats.org/officeDocument/2006/relationships/notesSlide" Target="../notesSlides/notesSlide14.xml"/><Relationship Id="rId1" Type="http://schemas.openxmlformats.org/officeDocument/2006/relationships/slideLayout" Target="../slideLayouts/slideLayout50.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52.xml"/><Relationship Id="rId5" Type="http://schemas.openxmlformats.org/officeDocument/2006/relationships/image" Target="../media/image30.png"/><Relationship Id="rId4" Type="http://schemas.openxmlformats.org/officeDocument/2006/relationships/hyperlink" Target="https://skillbuilder.aw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certification/certified-developer-associate" TargetMode="External"/><Relationship Id="rId2" Type="http://schemas.openxmlformats.org/officeDocument/2006/relationships/notesSlide" Target="../notesSlides/notesSlide17.xml"/><Relationship Id="rId1" Type="http://schemas.openxmlformats.org/officeDocument/2006/relationships/slideLayout" Target="../slideLayouts/slideLayout40.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50.xml"/><Relationship Id="rId5" Type="http://schemas.openxmlformats.org/officeDocument/2006/relationships/image" Target="../media/image30.png"/><Relationship Id="rId4" Type="http://schemas.openxmlformats.org/officeDocument/2006/relationships/hyperlink" Target="https://partnercentral.awspartner.com/partnercentral2/s/SelfRegister"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50.xml"/><Relationship Id="rId5" Type="http://schemas.openxmlformats.org/officeDocument/2006/relationships/image" Target="../media/image30.png"/><Relationship Id="rId4" Type="http://schemas.openxmlformats.org/officeDocument/2006/relationships/hyperlink" Target="https://skillbuilder.aws/"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4801314"/>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Event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extLst>
      <p:ext uri="{BB962C8B-B14F-4D97-AF65-F5344CB8AC3E}">
        <p14:creationId xmlns:p14="http://schemas.microsoft.com/office/powerpoint/2010/main" val="147470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1F99-23DF-2303-F1F2-79F80EAAB2EE}"/>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C5DE5634-57A6-689C-D386-7DA81BB241D4}"/>
              </a:ext>
            </a:extLst>
          </p:cNvPr>
          <p:cNvSpPr>
            <a:spLocks noGrp="1"/>
          </p:cNvSpPr>
          <p:nvPr>
            <p:ph type="subTitle" idx="1"/>
          </p:nvPr>
        </p:nvSpPr>
        <p:spPr>
          <a:xfrm>
            <a:off x="444858" y="2580462"/>
            <a:ext cx="8274329" cy="258532"/>
          </a:xfrm>
        </p:spPr>
        <p:txBody>
          <a:bodyPr/>
          <a:lstStyle/>
          <a:p>
            <a:r>
              <a:rPr lang="en-US" dirty="0"/>
              <a:t>Developer - Associate</a:t>
            </a:r>
          </a:p>
        </p:txBody>
      </p:sp>
      <p:sp>
        <p:nvSpPr>
          <p:cNvPr id="4" name="Title 3">
            <a:extLst>
              <a:ext uri="{FF2B5EF4-FFF2-40B4-BE49-F238E27FC236}">
                <a16:creationId xmlns:a16="http://schemas.microsoft.com/office/drawing/2014/main" id="{A9302172-08E9-4E03-9140-0A74B77FA37F}"/>
              </a:ext>
            </a:extLst>
          </p:cNvPr>
          <p:cNvSpPr>
            <a:spLocks noGrp="1"/>
          </p:cNvSpPr>
          <p:nvPr>
            <p:ph type="title"/>
          </p:nvPr>
        </p:nvSpPr>
        <p:spPr/>
        <p:txBody>
          <a:bodyPr>
            <a:normAutofit/>
          </a:bodyPr>
          <a:lstStyle/>
          <a:p>
            <a:r>
              <a:rPr lang="en-US" sz="4800" dirty="0">
                <a:latin typeface="Amazon Ember Heavy" panose="020B0603020204020204" pitchFamily="34" charset="0"/>
                <a:ea typeface="Amazon Ember Heavy" panose="020B0603020204020204" pitchFamily="34" charset="0"/>
                <a:cs typeface="Amazon Ember Heavy" panose="020B0603020204020204" pitchFamily="34" charset="0"/>
              </a:rPr>
              <a:t>Event Kick-Off</a:t>
            </a:r>
          </a:p>
        </p:txBody>
      </p:sp>
      <p:sp>
        <p:nvSpPr>
          <p:cNvPr id="7" name="Text Placeholder 6">
            <a:extLst>
              <a:ext uri="{FF2B5EF4-FFF2-40B4-BE49-F238E27FC236}">
                <a16:creationId xmlns:a16="http://schemas.microsoft.com/office/drawing/2014/main" id="{83925E4A-FE5C-65C3-7255-0370E3A5601B}"/>
              </a:ext>
            </a:extLst>
          </p:cNvPr>
          <p:cNvSpPr>
            <a:spLocks noGrp="1"/>
          </p:cNvSpPr>
          <p:nvPr>
            <p:ph type="body" sz="quarter" idx="11"/>
          </p:nvPr>
        </p:nvSpPr>
        <p:spPr>
          <a:xfrm>
            <a:off x="444858" y="1873037"/>
            <a:ext cx="9821886" cy="313932"/>
          </a:xfrm>
        </p:spPr>
        <p:txBody>
          <a:bodyPr/>
          <a:lstStyle/>
          <a:p>
            <a:r>
              <a:rPr lang="en-US" dirty="0"/>
              <a:t>AWS Partner Certification Readiness</a:t>
            </a:r>
          </a:p>
        </p:txBody>
      </p:sp>
    </p:spTree>
    <p:extLst>
      <p:ext uri="{BB962C8B-B14F-4D97-AF65-F5344CB8AC3E}">
        <p14:creationId xmlns:p14="http://schemas.microsoft.com/office/powerpoint/2010/main" val="4270379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514E-6FBB-090E-36DB-B11DE9A5D24E}"/>
              </a:ext>
            </a:extLst>
          </p:cNvPr>
          <p:cNvSpPr>
            <a:spLocks noGrp="1"/>
          </p:cNvSpPr>
          <p:nvPr>
            <p:ph type="title" idx="1"/>
          </p:nvPr>
        </p:nvSpPr>
        <p:spPr/>
        <p:txBody>
          <a:bodyPr/>
          <a:lstStyle/>
          <a:p>
            <a:r>
              <a:rPr lang="en-US" sz="4000" dirty="0"/>
              <a:t>Todays Learning Outcomes</a:t>
            </a:r>
          </a:p>
        </p:txBody>
      </p:sp>
      <p:sp>
        <p:nvSpPr>
          <p:cNvPr id="5" name="Content Placeholder 9">
            <a:extLst>
              <a:ext uri="{FF2B5EF4-FFF2-40B4-BE49-F238E27FC236}">
                <a16:creationId xmlns:a16="http://schemas.microsoft.com/office/drawing/2014/main" id="{2E5BAACF-8975-A2F1-D15D-51A76CBA0A78}"/>
              </a:ext>
            </a:extLst>
          </p:cNvPr>
          <p:cNvSpPr txBox="1">
            <a:spLocks/>
          </p:cNvSpPr>
          <p:nvPr/>
        </p:nvSpPr>
        <p:spPr>
          <a:xfrm>
            <a:off x="304800" y="1356125"/>
            <a:ext cx="11267872" cy="41457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600" dirty="0"/>
              <a:t>Event Overview</a:t>
            </a:r>
          </a:p>
          <a:p>
            <a:pPr marL="342900" indent="-342900"/>
            <a:r>
              <a:rPr lang="en-US" sz="2600" dirty="0"/>
              <a:t>About AWS Certifications</a:t>
            </a:r>
          </a:p>
          <a:p>
            <a:pPr marL="342900" indent="-342900"/>
            <a:r>
              <a:rPr lang="en-US" sz="2600" dirty="0"/>
              <a:t>Exam Experience &amp; Contents</a:t>
            </a:r>
          </a:p>
          <a:p>
            <a:pPr marL="342900" indent="-342900"/>
            <a:r>
              <a:rPr lang="en-US" sz="2600" dirty="0"/>
              <a:t>Training Account Set-up</a:t>
            </a:r>
          </a:p>
          <a:p>
            <a:pPr marL="342900" indent="-342900"/>
            <a:endParaRPr lang="en-US" sz="1800" dirty="0"/>
          </a:p>
          <a:p>
            <a:pPr marL="342900" indent="-342900"/>
            <a:endParaRPr lang="en-US" sz="1800" dirty="0"/>
          </a:p>
        </p:txBody>
      </p:sp>
      <p:pic>
        <p:nvPicPr>
          <p:cNvPr id="6" name="Picture 5" descr="APCR-Octopus-crop.png"/>
          <p:cNvPicPr>
            <a:picLocks noChangeAspect="1"/>
          </p:cNvPicPr>
          <p:nvPr/>
        </p:nvPicPr>
        <p:blipFill>
          <a:blip r:embed="rId3"/>
          <a:stretch>
            <a:fillRect/>
          </a:stretch>
        </p:blipFill>
        <p:spPr>
          <a:xfrm>
            <a:off x="8734245" y="3363810"/>
            <a:ext cx="3152954" cy="1773537"/>
          </a:xfrm>
          <a:prstGeom prst="rect">
            <a:avLst/>
          </a:prstGeom>
        </p:spPr>
      </p:pic>
    </p:spTree>
    <p:extLst>
      <p:ext uri="{BB962C8B-B14F-4D97-AF65-F5344CB8AC3E}">
        <p14:creationId xmlns:p14="http://schemas.microsoft.com/office/powerpoint/2010/main" val="320459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379D-F20D-4AC2-A222-0AB03109A4C1}"/>
              </a:ext>
            </a:extLst>
          </p:cNvPr>
          <p:cNvSpPr>
            <a:spLocks noGrp="1"/>
          </p:cNvSpPr>
          <p:nvPr>
            <p:ph type="title"/>
          </p:nvPr>
        </p:nvSpPr>
        <p:spPr/>
        <p:txBody>
          <a:bodyPr/>
          <a:lstStyle/>
          <a:p>
            <a:r>
              <a:rPr lang="en-US" sz="4800" dirty="0">
                <a:latin typeface="Amazon Ember Heavy" panose="020B0603020204020204" pitchFamily="34" charset="0"/>
                <a:ea typeface="Amazon Ember Heavy" panose="020B0603020204020204" pitchFamily="34" charset="0"/>
                <a:cs typeface="Amazon Ember Heavy" panose="020B0603020204020204" pitchFamily="34" charset="0"/>
              </a:rPr>
              <a:t>About AWS Certifications</a:t>
            </a:r>
          </a:p>
        </p:txBody>
      </p:sp>
      <p:sp>
        <p:nvSpPr>
          <p:cNvPr id="3" name="Text Placeholder 2">
            <a:extLst>
              <a:ext uri="{FF2B5EF4-FFF2-40B4-BE49-F238E27FC236}">
                <a16:creationId xmlns:a16="http://schemas.microsoft.com/office/drawing/2014/main" id="{3A52D9FA-5199-45F0-8BB5-DCEF4E04768F}"/>
              </a:ext>
            </a:extLst>
          </p:cNvPr>
          <p:cNvSpPr>
            <a:spLocks noGrp="1"/>
          </p:cNvSpPr>
          <p:nvPr>
            <p:ph type="body" sz="quarter" idx="11"/>
          </p:nvPr>
        </p:nvSpPr>
        <p:spPr>
          <a:xfrm>
            <a:off x="322915" y="2434551"/>
            <a:ext cx="6715193" cy="663771"/>
          </a:xfrm>
        </p:spPr>
        <p:txBody>
          <a:bodyPr/>
          <a:lstStyle/>
          <a:p>
            <a:r>
              <a:rPr lang="en-US" dirty="0"/>
              <a:t>Developer - associate</a:t>
            </a:r>
          </a:p>
          <a:p>
            <a:endParaRPr lang="en-US" dirty="0"/>
          </a:p>
        </p:txBody>
      </p:sp>
    </p:spTree>
    <p:extLst>
      <p:ext uri="{BB962C8B-B14F-4D97-AF65-F5344CB8AC3E}">
        <p14:creationId xmlns:p14="http://schemas.microsoft.com/office/powerpoint/2010/main" val="434555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757FD86-8113-43D9-99AA-24C4C487EAEB}"/>
              </a:ext>
            </a:extLst>
          </p:cNvPr>
          <p:cNvSpPr>
            <a:spLocks noGrp="1"/>
          </p:cNvSpPr>
          <p:nvPr>
            <p:ph type="title"/>
          </p:nvPr>
        </p:nvSpPr>
        <p:spPr/>
        <p:txBody>
          <a:bodyPr/>
          <a:lstStyle/>
          <a:p>
            <a:r>
              <a:rPr lang="en-US" sz="3200" dirty="0">
                <a:solidFill>
                  <a:schemeClr val="tx1"/>
                </a:solidFill>
              </a:rPr>
              <a:t>AWS Certifications: identify talent, drive business results </a:t>
            </a:r>
          </a:p>
        </p:txBody>
      </p:sp>
      <p:sp>
        <p:nvSpPr>
          <p:cNvPr id="5" name="Slide Number Placeholder 4">
            <a:extLst>
              <a:ext uri="{FF2B5EF4-FFF2-40B4-BE49-F238E27FC236}">
                <a16:creationId xmlns:a16="http://schemas.microsoft.com/office/drawing/2014/main" id="{DCEF59F1-D908-4655-8590-6DDBAB932148}"/>
              </a:ext>
            </a:extLst>
          </p:cNvPr>
          <p:cNvSpPr>
            <a:spLocks noGrp="1"/>
          </p:cNvSpPr>
          <p:nvPr>
            <p:ph type="sldNum" sz="quarter" idx="4294967295"/>
          </p:nvPr>
        </p:nvSpPr>
        <p:spPr>
          <a:xfrm>
            <a:off x="0" y="-512763"/>
            <a:ext cx="0" cy="0"/>
          </a:xfrm>
        </p:spPr>
        <p:txBody>
          <a:bodyPr/>
          <a:lstStyle/>
          <a:p>
            <a:pPr defTabSz="914377">
              <a:defRPr/>
            </a:pPr>
            <a:endParaRPr lang="en-US" dirty="0">
              <a:solidFill>
                <a:srgbClr val="232F3D"/>
              </a:solidFill>
              <a:latin typeface="Calibri" panose="020F0502020204030204"/>
            </a:endParaRPr>
          </a:p>
        </p:txBody>
      </p:sp>
      <p:grpSp>
        <p:nvGrpSpPr>
          <p:cNvPr id="9" name="Group 8">
            <a:extLst>
              <a:ext uri="{FF2B5EF4-FFF2-40B4-BE49-F238E27FC236}">
                <a16:creationId xmlns:a16="http://schemas.microsoft.com/office/drawing/2014/main" id="{665FC093-09D2-41EE-94EA-751C58853804}"/>
              </a:ext>
            </a:extLst>
          </p:cNvPr>
          <p:cNvGrpSpPr/>
          <p:nvPr/>
        </p:nvGrpSpPr>
        <p:grpSpPr>
          <a:xfrm>
            <a:off x="562159" y="942975"/>
            <a:ext cx="4628324" cy="541738"/>
            <a:chOff x="609598" y="1676585"/>
            <a:chExt cx="3695274" cy="541737"/>
          </a:xfrm>
        </p:grpSpPr>
        <p:sp>
          <p:nvSpPr>
            <p:cNvPr id="10" name="TextBox 9">
              <a:extLst>
                <a:ext uri="{FF2B5EF4-FFF2-40B4-BE49-F238E27FC236}">
                  <a16:creationId xmlns:a16="http://schemas.microsoft.com/office/drawing/2014/main" id="{0C7949E3-B6DF-4C3E-A222-F4FB0DDB20A9}"/>
                </a:ext>
              </a:extLst>
            </p:cNvPr>
            <p:cNvSpPr txBox="1"/>
            <p:nvPr/>
          </p:nvSpPr>
          <p:spPr>
            <a:xfrm>
              <a:off x="609598" y="1941323"/>
              <a:ext cx="3695274" cy="276999"/>
            </a:xfrm>
            <a:prstGeom prst="rect">
              <a:avLst/>
            </a:prstGeom>
            <a:noFill/>
          </p:spPr>
          <p:txBody>
            <a:bodyPr wrap="square" lIns="0" rtlCol="0">
              <a:spAutoFit/>
            </a:bodyPr>
            <a:lstStyle/>
            <a:p>
              <a:pPr defTabSz="914377">
                <a:spcAft>
                  <a:spcPts val="1200"/>
                </a:spcAft>
                <a:defRPr/>
              </a:pPr>
              <a:r>
                <a:rPr lang="en-US" sz="1200" dirty="0">
                  <a:solidFill>
                    <a:srgbClr val="232F3D"/>
                  </a:solidFill>
                  <a:latin typeface="Amazon Ember"/>
                </a:rPr>
                <a:t>Six months of fundamental AWS Cloud and industry knowledge</a:t>
              </a:r>
            </a:p>
          </p:txBody>
        </p:sp>
        <p:sp>
          <p:nvSpPr>
            <p:cNvPr id="11" name="TextBox 10">
              <a:extLst>
                <a:ext uri="{FF2B5EF4-FFF2-40B4-BE49-F238E27FC236}">
                  <a16:creationId xmlns:a16="http://schemas.microsoft.com/office/drawing/2014/main" id="{8B9D7AC5-2ACD-4BBC-9A8C-32F89164AE63}"/>
                </a:ext>
              </a:extLst>
            </p:cNvPr>
            <p:cNvSpPr txBox="1"/>
            <p:nvPr/>
          </p:nvSpPr>
          <p:spPr>
            <a:xfrm>
              <a:off x="609598" y="1676585"/>
              <a:ext cx="3048002" cy="307776"/>
            </a:xfrm>
            <a:prstGeom prst="rect">
              <a:avLst/>
            </a:prstGeom>
            <a:noFill/>
          </p:spPr>
          <p:txBody>
            <a:bodyPr wrap="square" lIns="0" rtlCol="0">
              <a:spAutoFit/>
            </a:bodyPr>
            <a:lstStyle/>
            <a:p>
              <a:pPr defTabSz="914377">
                <a:spcAft>
                  <a:spcPts val="1200"/>
                </a:spcAft>
                <a:defRPr/>
              </a:pPr>
              <a:r>
                <a:rPr lang="en-US" sz="1400" spc="200" dirty="0">
                  <a:solidFill>
                    <a:srgbClr val="232F3D"/>
                  </a:solidFill>
                  <a:latin typeface="Amazon Ember Heavy" panose="020B0803020204020204" pitchFamily="34" charset="0"/>
                  <a:ea typeface="Amazon Ember Heavy" panose="020B0803020204020204" pitchFamily="34" charset="0"/>
                  <a:cs typeface="Amazon Ember Heavy" panose="020B0803020204020204" pitchFamily="34" charset="0"/>
                </a:rPr>
                <a:t>FOUNDATIONAL</a:t>
              </a:r>
            </a:p>
          </p:txBody>
        </p:sp>
      </p:grpSp>
      <p:grpSp>
        <p:nvGrpSpPr>
          <p:cNvPr id="12" name="Group 11">
            <a:extLst>
              <a:ext uri="{FF2B5EF4-FFF2-40B4-BE49-F238E27FC236}">
                <a16:creationId xmlns:a16="http://schemas.microsoft.com/office/drawing/2014/main" id="{ADE0FA35-BD00-4385-ABA8-56577CB66148}"/>
              </a:ext>
            </a:extLst>
          </p:cNvPr>
          <p:cNvGrpSpPr/>
          <p:nvPr/>
        </p:nvGrpSpPr>
        <p:grpSpPr>
          <a:xfrm>
            <a:off x="6167051" y="2901990"/>
            <a:ext cx="4949259" cy="686139"/>
            <a:chOff x="7010401" y="3953541"/>
            <a:chExt cx="3951510" cy="686137"/>
          </a:xfrm>
        </p:grpSpPr>
        <p:sp>
          <p:nvSpPr>
            <p:cNvPr id="13" name="TextBox 12">
              <a:extLst>
                <a:ext uri="{FF2B5EF4-FFF2-40B4-BE49-F238E27FC236}">
                  <a16:creationId xmlns:a16="http://schemas.microsoft.com/office/drawing/2014/main" id="{B70995DB-357E-4064-86A2-F4E8A89C2727}"/>
                </a:ext>
              </a:extLst>
            </p:cNvPr>
            <p:cNvSpPr txBox="1"/>
            <p:nvPr/>
          </p:nvSpPr>
          <p:spPr>
            <a:xfrm>
              <a:off x="7010401" y="4178014"/>
              <a:ext cx="3951510" cy="461664"/>
            </a:xfrm>
            <a:prstGeom prst="rect">
              <a:avLst/>
            </a:prstGeom>
            <a:noFill/>
          </p:spPr>
          <p:txBody>
            <a:bodyPr wrap="square" lIns="0" rtlCol="0">
              <a:spAutoFit/>
            </a:bodyPr>
            <a:lstStyle/>
            <a:p>
              <a:pPr defTabSz="914377">
                <a:spcAft>
                  <a:spcPts val="1200"/>
                </a:spcAft>
                <a:defRPr/>
              </a:pPr>
              <a:r>
                <a:rPr lang="en-US" sz="1200" dirty="0">
                  <a:solidFill>
                    <a:srgbClr val="232F3D"/>
                  </a:solidFill>
                  <a:latin typeface="Amazon Ember"/>
                </a:rPr>
                <a:t>Technical AWS Cloud experience in the Specialty domain as specified in the exam guide</a:t>
              </a:r>
            </a:p>
          </p:txBody>
        </p:sp>
        <p:sp>
          <p:nvSpPr>
            <p:cNvPr id="14" name="TextBox 13">
              <a:extLst>
                <a:ext uri="{FF2B5EF4-FFF2-40B4-BE49-F238E27FC236}">
                  <a16:creationId xmlns:a16="http://schemas.microsoft.com/office/drawing/2014/main" id="{ACCC5385-D6AD-46EB-B4A0-B4F69063A9EF}"/>
                </a:ext>
              </a:extLst>
            </p:cNvPr>
            <p:cNvSpPr txBox="1"/>
            <p:nvPr/>
          </p:nvSpPr>
          <p:spPr>
            <a:xfrm>
              <a:off x="7010401" y="3953541"/>
              <a:ext cx="3048001" cy="307776"/>
            </a:xfrm>
            <a:prstGeom prst="rect">
              <a:avLst/>
            </a:prstGeom>
            <a:noFill/>
          </p:spPr>
          <p:txBody>
            <a:bodyPr wrap="square" lIns="0" rtlCol="0">
              <a:spAutoFit/>
            </a:bodyPr>
            <a:lstStyle/>
            <a:p>
              <a:pPr defTabSz="914377">
                <a:spcAft>
                  <a:spcPts val="1200"/>
                </a:spcAft>
                <a:defRPr/>
              </a:pPr>
              <a:r>
                <a:rPr lang="en-US" sz="1400" spc="200" dirty="0">
                  <a:solidFill>
                    <a:srgbClr val="232F3D"/>
                  </a:solidFill>
                  <a:latin typeface="Amazon Ember Heavy" panose="020B0803020204020204" pitchFamily="34" charset="0"/>
                  <a:ea typeface="Amazon Ember Heavy" panose="020B0803020204020204" pitchFamily="34" charset="0"/>
                  <a:cs typeface="Amazon Ember Heavy" panose="020B0803020204020204" pitchFamily="34" charset="0"/>
                </a:rPr>
                <a:t>SPECIALTY</a:t>
              </a:r>
            </a:p>
          </p:txBody>
        </p:sp>
      </p:grpSp>
      <p:grpSp>
        <p:nvGrpSpPr>
          <p:cNvPr id="15" name="Group 14">
            <a:extLst>
              <a:ext uri="{FF2B5EF4-FFF2-40B4-BE49-F238E27FC236}">
                <a16:creationId xmlns:a16="http://schemas.microsoft.com/office/drawing/2014/main" id="{1304EC8F-B06F-4855-B24F-6807964FC6F9}"/>
              </a:ext>
            </a:extLst>
          </p:cNvPr>
          <p:cNvGrpSpPr/>
          <p:nvPr/>
        </p:nvGrpSpPr>
        <p:grpSpPr>
          <a:xfrm>
            <a:off x="6167052" y="907186"/>
            <a:ext cx="4949259" cy="726404"/>
            <a:chOff x="7010401" y="1676585"/>
            <a:chExt cx="3951510" cy="726402"/>
          </a:xfrm>
        </p:grpSpPr>
        <p:sp>
          <p:nvSpPr>
            <p:cNvPr id="16" name="TextBox 15">
              <a:extLst>
                <a:ext uri="{FF2B5EF4-FFF2-40B4-BE49-F238E27FC236}">
                  <a16:creationId xmlns:a16="http://schemas.microsoft.com/office/drawing/2014/main" id="{A0D993F1-0D03-493F-A1DE-4A075AA751FC}"/>
                </a:ext>
              </a:extLst>
            </p:cNvPr>
            <p:cNvSpPr txBox="1"/>
            <p:nvPr/>
          </p:nvSpPr>
          <p:spPr>
            <a:xfrm>
              <a:off x="7010401" y="1941323"/>
              <a:ext cx="3951510" cy="461664"/>
            </a:xfrm>
            <a:prstGeom prst="rect">
              <a:avLst/>
            </a:prstGeom>
            <a:noFill/>
          </p:spPr>
          <p:txBody>
            <a:bodyPr wrap="square" lIns="0" rtlCol="0">
              <a:spAutoFit/>
            </a:bodyPr>
            <a:lstStyle/>
            <a:p>
              <a:pPr defTabSz="914377">
                <a:spcAft>
                  <a:spcPts val="1200"/>
                </a:spcAft>
                <a:defRPr/>
              </a:pPr>
              <a:r>
                <a:rPr lang="en-US" sz="1200" dirty="0">
                  <a:solidFill>
                    <a:srgbClr val="232F3D"/>
                  </a:solidFill>
                  <a:latin typeface="Amazon Ember"/>
                </a:rPr>
                <a:t>Two years of experience designing, operating, and troubleshooting solutions using the AWS Cloud</a:t>
              </a:r>
            </a:p>
          </p:txBody>
        </p:sp>
        <p:sp>
          <p:nvSpPr>
            <p:cNvPr id="17" name="TextBox 16">
              <a:extLst>
                <a:ext uri="{FF2B5EF4-FFF2-40B4-BE49-F238E27FC236}">
                  <a16:creationId xmlns:a16="http://schemas.microsoft.com/office/drawing/2014/main" id="{CD6E70C9-6051-427B-ACDD-32286A53FB95}"/>
                </a:ext>
              </a:extLst>
            </p:cNvPr>
            <p:cNvSpPr txBox="1"/>
            <p:nvPr/>
          </p:nvSpPr>
          <p:spPr>
            <a:xfrm>
              <a:off x="7010401" y="1676585"/>
              <a:ext cx="3048001" cy="307776"/>
            </a:xfrm>
            <a:prstGeom prst="rect">
              <a:avLst/>
            </a:prstGeom>
            <a:noFill/>
          </p:spPr>
          <p:txBody>
            <a:bodyPr wrap="square" lIns="0" rtlCol="0">
              <a:spAutoFit/>
            </a:bodyPr>
            <a:lstStyle/>
            <a:p>
              <a:pPr defTabSz="914377">
                <a:spcAft>
                  <a:spcPts val="1200"/>
                </a:spcAft>
                <a:defRPr/>
              </a:pPr>
              <a:r>
                <a:rPr lang="en-US" sz="1400" spc="200" dirty="0">
                  <a:solidFill>
                    <a:srgbClr val="232F3D"/>
                  </a:solidFill>
                  <a:latin typeface="Amazon Ember Heavy" panose="020B0803020204020204" pitchFamily="34" charset="0"/>
                  <a:ea typeface="Amazon Ember Heavy" panose="020B0803020204020204" pitchFamily="34" charset="0"/>
                  <a:cs typeface="Amazon Ember Heavy" panose="020B0803020204020204" pitchFamily="34" charset="0"/>
                </a:rPr>
                <a:t>PROFESSIONAL</a:t>
              </a:r>
            </a:p>
          </p:txBody>
        </p:sp>
      </p:grpSp>
      <p:grpSp>
        <p:nvGrpSpPr>
          <p:cNvPr id="18" name="Group 17">
            <a:extLst>
              <a:ext uri="{FF2B5EF4-FFF2-40B4-BE49-F238E27FC236}">
                <a16:creationId xmlns:a16="http://schemas.microsoft.com/office/drawing/2014/main" id="{E5B2E4C4-4128-4F73-A6AF-A58001B93A13}"/>
              </a:ext>
            </a:extLst>
          </p:cNvPr>
          <p:cNvGrpSpPr/>
          <p:nvPr/>
        </p:nvGrpSpPr>
        <p:grpSpPr>
          <a:xfrm>
            <a:off x="614608" y="2753012"/>
            <a:ext cx="4628324" cy="684412"/>
            <a:chOff x="609598" y="3955267"/>
            <a:chExt cx="3695274" cy="684413"/>
          </a:xfrm>
        </p:grpSpPr>
        <p:sp>
          <p:nvSpPr>
            <p:cNvPr id="19" name="TextBox 18">
              <a:extLst>
                <a:ext uri="{FF2B5EF4-FFF2-40B4-BE49-F238E27FC236}">
                  <a16:creationId xmlns:a16="http://schemas.microsoft.com/office/drawing/2014/main" id="{88B64BC6-5BD3-437B-A9B0-87EB6D2FB201}"/>
                </a:ext>
              </a:extLst>
            </p:cNvPr>
            <p:cNvSpPr txBox="1"/>
            <p:nvPr/>
          </p:nvSpPr>
          <p:spPr>
            <a:xfrm>
              <a:off x="609598" y="4178014"/>
              <a:ext cx="3695274" cy="461666"/>
            </a:xfrm>
            <a:prstGeom prst="rect">
              <a:avLst/>
            </a:prstGeom>
            <a:noFill/>
          </p:spPr>
          <p:txBody>
            <a:bodyPr wrap="square" lIns="0" rtlCol="0">
              <a:spAutoFit/>
            </a:bodyPr>
            <a:lstStyle/>
            <a:p>
              <a:pPr defTabSz="914377">
                <a:spcAft>
                  <a:spcPts val="1200"/>
                </a:spcAft>
                <a:defRPr/>
              </a:pPr>
              <a:r>
                <a:rPr lang="en-US" sz="1200" dirty="0">
                  <a:solidFill>
                    <a:srgbClr val="232F3D"/>
                  </a:solidFill>
                  <a:latin typeface="Amazon Ember"/>
                </a:rPr>
                <a:t>One year of experience solving problems and implementing solutions using the AWS Cloud</a:t>
              </a:r>
            </a:p>
          </p:txBody>
        </p:sp>
        <p:sp>
          <p:nvSpPr>
            <p:cNvPr id="20" name="TextBox 19">
              <a:extLst>
                <a:ext uri="{FF2B5EF4-FFF2-40B4-BE49-F238E27FC236}">
                  <a16:creationId xmlns:a16="http://schemas.microsoft.com/office/drawing/2014/main" id="{C80479D9-8F60-4C41-9AF9-7C80507E35E4}"/>
                </a:ext>
              </a:extLst>
            </p:cNvPr>
            <p:cNvSpPr txBox="1"/>
            <p:nvPr/>
          </p:nvSpPr>
          <p:spPr>
            <a:xfrm>
              <a:off x="609598" y="3955267"/>
              <a:ext cx="3048002" cy="307777"/>
            </a:xfrm>
            <a:prstGeom prst="rect">
              <a:avLst/>
            </a:prstGeom>
            <a:noFill/>
          </p:spPr>
          <p:txBody>
            <a:bodyPr wrap="square" lIns="0" rtlCol="0">
              <a:spAutoFit/>
            </a:bodyPr>
            <a:lstStyle/>
            <a:p>
              <a:pPr defTabSz="914377">
                <a:spcAft>
                  <a:spcPts val="1200"/>
                </a:spcAft>
                <a:defRPr/>
              </a:pPr>
              <a:r>
                <a:rPr lang="en-US" sz="1400" spc="200" dirty="0">
                  <a:solidFill>
                    <a:srgbClr val="232F3D"/>
                  </a:solidFill>
                  <a:latin typeface="Amazon Ember Heavy" panose="020B0803020204020204" pitchFamily="34" charset="0"/>
                  <a:ea typeface="Amazon Ember Heavy" panose="020B0803020204020204" pitchFamily="34" charset="0"/>
                  <a:cs typeface="Amazon Ember Heavy" panose="020B0803020204020204" pitchFamily="34" charset="0"/>
                </a:rPr>
                <a:t>ASSOCIATE</a:t>
              </a:r>
            </a:p>
          </p:txBody>
        </p:sp>
      </p:grpSp>
      <p:pic>
        <p:nvPicPr>
          <p:cNvPr id="21" name="Picture 20" descr="image.png">
            <a:hlinkClick r:id="rId3"/>
          </p:cNvPr>
          <p:cNvPicPr>
            <a:picLocks noChangeAspect="1"/>
          </p:cNvPicPr>
          <p:nvPr/>
        </p:nvPicPr>
        <p:blipFill>
          <a:blip r:embed="rId4"/>
          <a:stretch>
            <a:fillRect/>
          </a:stretch>
        </p:blipFill>
        <p:spPr>
          <a:xfrm>
            <a:off x="7180916" y="1669611"/>
            <a:ext cx="1143000" cy="1143000"/>
          </a:xfrm>
          <a:prstGeom prst="rect">
            <a:avLst/>
          </a:prstGeom>
        </p:spPr>
      </p:pic>
      <p:pic>
        <p:nvPicPr>
          <p:cNvPr id="22" name="Picture 21" descr="image.png">
            <a:hlinkClick r:id="rId5"/>
          </p:cNvPr>
          <p:cNvPicPr>
            <a:picLocks noChangeAspect="1"/>
          </p:cNvPicPr>
          <p:nvPr/>
        </p:nvPicPr>
        <p:blipFill>
          <a:blip r:embed="rId6"/>
          <a:stretch>
            <a:fillRect/>
          </a:stretch>
        </p:blipFill>
        <p:spPr>
          <a:xfrm>
            <a:off x="6103023" y="1669611"/>
            <a:ext cx="1143000" cy="1143000"/>
          </a:xfrm>
          <a:prstGeom prst="rect">
            <a:avLst/>
          </a:prstGeom>
        </p:spPr>
      </p:pic>
      <p:pic>
        <p:nvPicPr>
          <p:cNvPr id="23" name="Picture 22" descr="image.png">
            <a:hlinkClick r:id="rId7"/>
          </p:cNvPr>
          <p:cNvPicPr>
            <a:picLocks noChangeAspect="1"/>
          </p:cNvPicPr>
          <p:nvPr/>
        </p:nvPicPr>
        <p:blipFill>
          <a:blip r:embed="rId8"/>
          <a:stretch>
            <a:fillRect/>
          </a:stretch>
        </p:blipFill>
        <p:spPr>
          <a:xfrm>
            <a:off x="7265837" y="3648234"/>
            <a:ext cx="1143000" cy="1143000"/>
          </a:xfrm>
          <a:prstGeom prst="rect">
            <a:avLst/>
          </a:prstGeom>
        </p:spPr>
      </p:pic>
      <p:pic>
        <p:nvPicPr>
          <p:cNvPr id="24" name="Picture 23" descr="image.png">
            <a:hlinkClick r:id="rId9"/>
          </p:cNvPr>
          <p:cNvPicPr>
            <a:picLocks noChangeAspect="1"/>
          </p:cNvPicPr>
          <p:nvPr/>
        </p:nvPicPr>
        <p:blipFill>
          <a:blip r:embed="rId10"/>
          <a:stretch>
            <a:fillRect/>
          </a:stretch>
        </p:blipFill>
        <p:spPr>
          <a:xfrm>
            <a:off x="6096000" y="3648234"/>
            <a:ext cx="1143000" cy="1143000"/>
          </a:xfrm>
          <a:prstGeom prst="rect">
            <a:avLst/>
          </a:prstGeom>
        </p:spPr>
      </p:pic>
      <p:pic>
        <p:nvPicPr>
          <p:cNvPr id="25" name="Picture 24" descr="image.png">
            <a:hlinkClick r:id="rId11"/>
          </p:cNvPr>
          <p:cNvPicPr>
            <a:picLocks noChangeAspect="1"/>
          </p:cNvPicPr>
          <p:nvPr/>
        </p:nvPicPr>
        <p:blipFill>
          <a:blip r:embed="rId12"/>
          <a:stretch>
            <a:fillRect/>
          </a:stretch>
        </p:blipFill>
        <p:spPr>
          <a:xfrm>
            <a:off x="538438" y="1610012"/>
            <a:ext cx="1143000" cy="1143000"/>
          </a:xfrm>
          <a:prstGeom prst="rect">
            <a:avLst/>
          </a:prstGeom>
        </p:spPr>
      </p:pic>
      <p:pic>
        <p:nvPicPr>
          <p:cNvPr id="26" name="Picture 25" descr="image.png">
            <a:hlinkClick r:id="rId13"/>
          </p:cNvPr>
          <p:cNvPicPr>
            <a:picLocks noChangeAspect="1"/>
          </p:cNvPicPr>
          <p:nvPr/>
        </p:nvPicPr>
        <p:blipFill>
          <a:blip r:embed="rId14"/>
          <a:stretch>
            <a:fillRect/>
          </a:stretch>
        </p:blipFill>
        <p:spPr>
          <a:xfrm>
            <a:off x="1591177" y="1610012"/>
            <a:ext cx="1143000" cy="1143000"/>
          </a:xfrm>
          <a:prstGeom prst="rect">
            <a:avLst/>
          </a:prstGeom>
        </p:spPr>
      </p:pic>
      <p:pic>
        <p:nvPicPr>
          <p:cNvPr id="27" name="Picture 26" descr="image.png">
            <a:hlinkClick r:id="rId15"/>
          </p:cNvPr>
          <p:cNvPicPr>
            <a:picLocks noChangeAspect="1"/>
          </p:cNvPicPr>
          <p:nvPr/>
        </p:nvPicPr>
        <p:blipFill>
          <a:blip r:embed="rId16"/>
          <a:stretch>
            <a:fillRect/>
          </a:stretch>
        </p:blipFill>
        <p:spPr>
          <a:xfrm>
            <a:off x="2746674" y="3517987"/>
            <a:ext cx="1143000" cy="1143000"/>
          </a:xfrm>
          <a:prstGeom prst="rect">
            <a:avLst/>
          </a:prstGeom>
        </p:spPr>
      </p:pic>
      <p:pic>
        <p:nvPicPr>
          <p:cNvPr id="28" name="Picture 27" descr="image.png">
            <a:hlinkClick r:id="rId17"/>
          </p:cNvPr>
          <p:cNvPicPr>
            <a:picLocks noChangeAspect="1"/>
          </p:cNvPicPr>
          <p:nvPr/>
        </p:nvPicPr>
        <p:blipFill>
          <a:blip r:embed="rId18"/>
          <a:stretch>
            <a:fillRect/>
          </a:stretch>
        </p:blipFill>
        <p:spPr>
          <a:xfrm>
            <a:off x="1668780" y="3517987"/>
            <a:ext cx="1143000" cy="1143000"/>
          </a:xfrm>
          <a:prstGeom prst="rect">
            <a:avLst/>
          </a:prstGeom>
        </p:spPr>
      </p:pic>
      <p:pic>
        <p:nvPicPr>
          <p:cNvPr id="29" name="Picture 28" descr="image.png">
            <a:hlinkClick r:id="rId19"/>
          </p:cNvPr>
          <p:cNvPicPr>
            <a:picLocks noChangeAspect="1"/>
          </p:cNvPicPr>
          <p:nvPr/>
        </p:nvPicPr>
        <p:blipFill>
          <a:blip r:embed="rId20"/>
          <a:stretch>
            <a:fillRect/>
          </a:stretch>
        </p:blipFill>
        <p:spPr>
          <a:xfrm>
            <a:off x="590887" y="3517987"/>
            <a:ext cx="1143000" cy="1143000"/>
          </a:xfrm>
          <a:prstGeom prst="rect">
            <a:avLst/>
          </a:prstGeom>
        </p:spPr>
      </p:pic>
      <p:pic>
        <p:nvPicPr>
          <p:cNvPr id="30" name="Picture 29" descr="image.png">
            <a:hlinkClick r:id="rId21"/>
          </p:cNvPr>
          <p:cNvPicPr>
            <a:picLocks noChangeAspect="1"/>
          </p:cNvPicPr>
          <p:nvPr/>
        </p:nvPicPr>
        <p:blipFill>
          <a:blip r:embed="rId22"/>
          <a:stretch>
            <a:fillRect/>
          </a:stretch>
        </p:blipFill>
        <p:spPr>
          <a:xfrm>
            <a:off x="1127774" y="4408701"/>
            <a:ext cx="1164788" cy="1164788"/>
          </a:xfrm>
          <a:prstGeom prst="rect">
            <a:avLst/>
          </a:prstGeom>
        </p:spPr>
      </p:pic>
      <p:pic>
        <p:nvPicPr>
          <p:cNvPr id="31" name="Picture 30" descr="image.png">
            <a:hlinkClick r:id="rId23"/>
          </p:cNvPr>
          <p:cNvPicPr>
            <a:picLocks noChangeAspect="1"/>
          </p:cNvPicPr>
          <p:nvPr/>
        </p:nvPicPr>
        <p:blipFill>
          <a:blip r:embed="rId24"/>
          <a:stretch>
            <a:fillRect/>
          </a:stretch>
        </p:blipFill>
        <p:spPr>
          <a:xfrm>
            <a:off x="2209786" y="4430489"/>
            <a:ext cx="1143000" cy="1143000"/>
          </a:xfrm>
          <a:prstGeom prst="rect">
            <a:avLst/>
          </a:prstGeom>
        </p:spPr>
      </p:pic>
      <p:pic>
        <p:nvPicPr>
          <p:cNvPr id="32" name="Picture 31" descr="image.png"/>
          <p:cNvPicPr>
            <a:picLocks noChangeAspect="1"/>
          </p:cNvPicPr>
          <p:nvPr/>
        </p:nvPicPr>
        <p:blipFill>
          <a:blip r:embed="rId25"/>
          <a:stretch>
            <a:fillRect/>
          </a:stretch>
        </p:blipFill>
        <p:spPr>
          <a:xfrm>
            <a:off x="8323916" y="1669610"/>
            <a:ext cx="1143001" cy="1143001"/>
          </a:xfrm>
          <a:prstGeom prst="rect">
            <a:avLst/>
          </a:prstGeom>
        </p:spPr>
      </p:pic>
      <p:grpSp>
        <p:nvGrpSpPr>
          <p:cNvPr id="2" name="Group 23">
            <a:extLst>
              <a:ext uri="{FF2B5EF4-FFF2-40B4-BE49-F238E27FC236}">
                <a16:creationId xmlns:a16="http://schemas.microsoft.com/office/drawing/2014/main" id="{5ACE754C-D600-A4C4-647E-E24A15EAADC6}"/>
              </a:ext>
            </a:extLst>
          </p:cNvPr>
          <p:cNvGrpSpPr/>
          <p:nvPr/>
        </p:nvGrpSpPr>
        <p:grpSpPr>
          <a:xfrm>
            <a:off x="6167051" y="5081003"/>
            <a:ext cx="4949259" cy="686138"/>
            <a:chOff x="7010401" y="3953541"/>
            <a:chExt cx="3951510" cy="686136"/>
          </a:xfrm>
        </p:grpSpPr>
        <p:sp>
          <p:nvSpPr>
            <p:cNvPr id="3" name="TextBox 29">
              <a:extLst>
                <a:ext uri="{FF2B5EF4-FFF2-40B4-BE49-F238E27FC236}">
                  <a16:creationId xmlns:a16="http://schemas.microsoft.com/office/drawing/2014/main" id="{C23955E1-17A4-6C83-063B-8A8E6FED859F}"/>
                </a:ext>
              </a:extLst>
            </p:cNvPr>
            <p:cNvSpPr txBox="1"/>
            <p:nvPr/>
          </p:nvSpPr>
          <p:spPr>
            <a:xfrm>
              <a:off x="7010401" y="4178014"/>
              <a:ext cx="3951510" cy="461663"/>
            </a:xfrm>
            <a:prstGeom prst="rect">
              <a:avLst/>
            </a:prstGeom>
            <a:noFill/>
          </p:spPr>
          <p:txBody>
            <a:bodyPr wrap="square" lIns="0" rtlCol="0">
              <a:spAutoFit/>
            </a:bodyPr>
            <a:lstStyle/>
            <a:p>
              <a:r>
                <a:rPr lang="en-US" sz="1200" dirty="0">
                  <a:solidFill>
                    <a:srgbClr val="232B37"/>
                  </a:solidFill>
                  <a:latin typeface="Amazon Ember Display"/>
                </a:rPr>
                <a:t>For professionals who shape the strategy, governance and adoption of technology alongside technical teams.</a:t>
              </a:r>
            </a:p>
          </p:txBody>
        </p:sp>
        <p:sp>
          <p:nvSpPr>
            <p:cNvPr id="4" name="TextBox 30">
              <a:extLst>
                <a:ext uri="{FF2B5EF4-FFF2-40B4-BE49-F238E27FC236}">
                  <a16:creationId xmlns:a16="http://schemas.microsoft.com/office/drawing/2014/main" id="{8D2CB250-CB0E-1650-DDF1-C3CB59E5A40E}"/>
                </a:ext>
              </a:extLst>
            </p:cNvPr>
            <p:cNvSpPr txBox="1"/>
            <p:nvPr/>
          </p:nvSpPr>
          <p:spPr>
            <a:xfrm>
              <a:off x="7010401" y="3953541"/>
              <a:ext cx="3048001" cy="307776"/>
            </a:xfrm>
            <a:prstGeom prst="rect">
              <a:avLst/>
            </a:prstGeom>
            <a:noFill/>
          </p:spPr>
          <p:txBody>
            <a:bodyPr wrap="square" lIns="0" rtlCol="0">
              <a:spAutoFit/>
            </a:bodyPr>
            <a:lstStyle/>
            <a:p>
              <a:pPr defTabSz="914377">
                <a:spcAft>
                  <a:spcPts val="1200"/>
                </a:spcAft>
                <a:defRPr/>
              </a:pPr>
              <a:r>
                <a:rPr lang="en-US" sz="1400" spc="200" dirty="0">
                  <a:solidFill>
                    <a:srgbClr val="232F3D"/>
                  </a:solidFill>
                  <a:latin typeface="Amazon Ember Heavy" panose="020B0803020204020204" pitchFamily="34" charset="0"/>
                  <a:ea typeface="Amazon Ember Heavy" panose="020B0803020204020204" pitchFamily="34" charset="0"/>
                  <a:cs typeface="Amazon Ember Heavy" panose="020B0803020204020204" pitchFamily="34" charset="0"/>
                </a:rPr>
                <a:t>BUSINESS</a:t>
              </a:r>
            </a:p>
          </p:txBody>
        </p:sp>
      </p:grpSp>
      <p:pic>
        <p:nvPicPr>
          <p:cNvPr id="33" name="Picture 32" descr="image.png"/>
          <p:cNvPicPr>
            <a:picLocks noChangeAspect="1"/>
          </p:cNvPicPr>
          <p:nvPr/>
        </p:nvPicPr>
        <p:blipFill>
          <a:blip r:embed="rId26"/>
          <a:stretch>
            <a:fillRect/>
          </a:stretch>
        </p:blipFill>
        <p:spPr>
          <a:xfrm>
            <a:off x="4960023" y="5001989"/>
            <a:ext cx="1143000" cy="1143000"/>
          </a:xfrm>
          <a:prstGeom prst="rect">
            <a:avLst/>
          </a:prstGeom>
        </p:spPr>
      </p:pic>
    </p:spTree>
    <p:extLst>
      <p:ext uri="{BB962C8B-B14F-4D97-AF65-F5344CB8AC3E}">
        <p14:creationId xmlns:p14="http://schemas.microsoft.com/office/powerpoint/2010/main" val="3100153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6928-CCC4-43D8-9505-C32FAAB5DC39}"/>
              </a:ext>
            </a:extLst>
          </p:cNvPr>
          <p:cNvSpPr>
            <a:spLocks noGrp="1"/>
          </p:cNvSpPr>
          <p:nvPr>
            <p:ph type="title" idx="1"/>
          </p:nvPr>
        </p:nvSpPr>
        <p:spPr/>
        <p:txBody>
          <a:bodyPr/>
          <a:lstStyle/>
          <a:p>
            <a:r>
              <a:rPr lang="en-US" sz="4000" dirty="0"/>
              <a:t>AWS Certified Developer - Associate</a:t>
            </a:r>
          </a:p>
        </p:txBody>
      </p:sp>
      <p:sp>
        <p:nvSpPr>
          <p:cNvPr id="3" name="Text Placeholder 2">
            <a:extLst>
              <a:ext uri="{FF2B5EF4-FFF2-40B4-BE49-F238E27FC236}">
                <a16:creationId xmlns:a16="http://schemas.microsoft.com/office/drawing/2014/main" id="{81AFD319-B5FE-4DB1-994D-FD421E87A440}"/>
              </a:ext>
            </a:extLst>
          </p:cNvPr>
          <p:cNvSpPr>
            <a:spLocks noGrp="1"/>
          </p:cNvSpPr>
          <p:nvPr>
            <p:ph idx="2"/>
          </p:nvPr>
        </p:nvSpPr>
        <p:spPr/>
        <p:txBody>
          <a:bodyPr/>
          <a:lstStyle/>
          <a:p>
            <a:pPr marL="0" indent="0">
              <a:buNone/>
            </a:pPr>
            <a:r>
              <a:rPr lang="en-US" sz="2000" dirty="0">
                <a:solidFill>
                  <a:schemeClr val="accent6">
                    <a:lumMod val="25000"/>
                  </a:schemeClr>
                </a:solidFill>
              </a:rPr>
              <a:t>What it entails, and who it is useful for!</a:t>
            </a:r>
          </a:p>
        </p:txBody>
      </p:sp>
      <p:sp>
        <p:nvSpPr>
          <p:cNvPr id="7" name="Content Placeholder 2">
            <a:extLst>
              <a:ext uri="{FF2B5EF4-FFF2-40B4-BE49-F238E27FC236}">
                <a16:creationId xmlns:a16="http://schemas.microsoft.com/office/drawing/2014/main" id="{AB9BAB87-0D9A-41B5-AB8B-4A9E022FF9B1}"/>
              </a:ext>
            </a:extLst>
          </p:cNvPr>
          <p:cNvSpPr txBox="1">
            <a:spLocks/>
          </p:cNvSpPr>
          <p:nvPr/>
        </p:nvSpPr>
        <p:spPr>
          <a:xfrm>
            <a:off x="304800" y="1907286"/>
            <a:ext cx="8330241" cy="4801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t>AWS Certified Developer - Associate showcases skills and knowledge in developing, optimizing, packaging, and deploying applications, using CI/CD workflows, and identifying and resolving application issues.</a:t>
            </a:r>
            <a:endParaRPr lang="en-US" dirty="0"/>
          </a:p>
          <a:p>
            <a:pPr marL="0" indent="0">
              <a:buNone/>
            </a:pPr>
            <a:endParaRPr lang="en-US" dirty="0"/>
          </a:p>
          <a:p>
            <a:pPr marL="0" indent="0">
              <a:buNone/>
            </a:pPr>
            <a:r>
              <a:rPr lang="en-US" sz="2400" dirty="0"/>
              <a:t>Applicable for professionals looking to– </a:t>
            </a:r>
          </a:p>
          <a:p>
            <a:r>
              <a:rPr lang="en-US" sz="2400" b="1" dirty="0"/>
              <a:t>Career Pivot: </a:t>
            </a:r>
            <a:r>
              <a:rPr lang="en-US" sz="2400" dirty="0"/>
              <a:t>Create opportunities to move into a cloud role at your organization</a:t>
            </a:r>
          </a:p>
          <a:p>
            <a:r>
              <a:rPr lang="en-US" sz="2400" b="1" dirty="0"/>
              <a:t>Career Advancement: </a:t>
            </a:r>
            <a:r>
              <a:rPr lang="en-US" sz="2400" dirty="0"/>
              <a:t>Validate your experience with AWS to advance your career</a:t>
            </a:r>
          </a:p>
        </p:txBody>
      </p:sp>
      <p:pic>
        <p:nvPicPr>
          <p:cNvPr id="4" name="Picture 3">
            <a:extLst>
              <a:ext uri="{FF2B5EF4-FFF2-40B4-BE49-F238E27FC236}">
                <a16:creationId xmlns:a16="http://schemas.microsoft.com/office/drawing/2014/main" id="{C00FD28C-7C2F-05DB-D022-B00DB73C8DD3}"/>
              </a:ext>
            </a:extLst>
          </p:cNvPr>
          <p:cNvPicPr>
            <a:picLocks noChangeAspect="1"/>
          </p:cNvPicPr>
          <p:nvPr/>
        </p:nvPicPr>
        <p:blipFill>
          <a:blip r:embed="rId3"/>
          <a:stretch>
            <a:fillRect/>
          </a:stretch>
        </p:blipFill>
        <p:spPr>
          <a:xfrm>
            <a:off x="9539557" y="2366603"/>
            <a:ext cx="2124794" cy="2124794"/>
          </a:xfrm>
          <a:prstGeom prst="rect">
            <a:avLst/>
          </a:prstGeom>
        </p:spPr>
      </p:pic>
    </p:spTree>
    <p:extLst>
      <p:ext uri="{BB962C8B-B14F-4D97-AF65-F5344CB8AC3E}">
        <p14:creationId xmlns:p14="http://schemas.microsoft.com/office/powerpoint/2010/main" val="3295931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379D-F20D-4AC2-A222-0AB03109A4C1}"/>
              </a:ext>
            </a:extLst>
          </p:cNvPr>
          <p:cNvSpPr>
            <a:spLocks noGrp="1"/>
          </p:cNvSpPr>
          <p:nvPr>
            <p:ph type="title"/>
          </p:nvPr>
        </p:nvSpPr>
        <p:spPr/>
        <p:txBody>
          <a:bodyPr/>
          <a:lstStyle/>
          <a:p>
            <a:r>
              <a:rPr lang="en-US" sz="4800" dirty="0"/>
              <a:t>Event Overview</a:t>
            </a:r>
          </a:p>
        </p:txBody>
      </p:sp>
      <p:sp>
        <p:nvSpPr>
          <p:cNvPr id="3" name="Text Placeholder 2">
            <a:extLst>
              <a:ext uri="{FF2B5EF4-FFF2-40B4-BE49-F238E27FC236}">
                <a16:creationId xmlns:a16="http://schemas.microsoft.com/office/drawing/2014/main" id="{3A52D9FA-5199-45F0-8BB5-DCEF4E04768F}"/>
              </a:ext>
            </a:extLst>
          </p:cNvPr>
          <p:cNvSpPr>
            <a:spLocks noGrp="1"/>
          </p:cNvSpPr>
          <p:nvPr>
            <p:ph type="body" sz="quarter" idx="11"/>
          </p:nvPr>
        </p:nvSpPr>
        <p:spPr>
          <a:xfrm>
            <a:off x="322915" y="2434551"/>
            <a:ext cx="6178245" cy="663771"/>
          </a:xfrm>
        </p:spPr>
        <p:txBody>
          <a:bodyPr/>
          <a:lstStyle/>
          <a:p>
            <a:r>
              <a:rPr lang="en-US" dirty="0"/>
              <a:t>Developer - Associate</a:t>
            </a:r>
          </a:p>
          <a:p>
            <a:endParaRPr lang="en-US" dirty="0"/>
          </a:p>
        </p:txBody>
      </p:sp>
    </p:spTree>
    <p:extLst>
      <p:ext uri="{BB962C8B-B14F-4D97-AF65-F5344CB8AC3E}">
        <p14:creationId xmlns:p14="http://schemas.microsoft.com/office/powerpoint/2010/main" val="311034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3419F-9763-4252-B8A7-07DE659F30A7}"/>
              </a:ext>
            </a:extLst>
          </p:cNvPr>
          <p:cNvSpPr>
            <a:spLocks noGrp="1"/>
          </p:cNvSpPr>
          <p:nvPr>
            <p:ph type="title"/>
          </p:nvPr>
        </p:nvSpPr>
        <p:spPr/>
        <p:txBody>
          <a:bodyPr/>
          <a:lstStyle/>
          <a:p>
            <a:r>
              <a:rPr lang="en-US" sz="4000" dirty="0">
                <a:latin typeface="Amazon Ember Heavy" panose="020B0603020204020204" pitchFamily="34" charset="0"/>
                <a:ea typeface="Amazon Ember Heavy" panose="020B0603020204020204" pitchFamily="34" charset="0"/>
                <a:cs typeface="Amazon Ember Heavy" panose="020B0603020204020204" pitchFamily="34" charset="0"/>
              </a:rPr>
              <a:t>Weekly Event Summary</a:t>
            </a:r>
          </a:p>
        </p:txBody>
      </p:sp>
      <p:graphicFrame>
        <p:nvGraphicFramePr>
          <p:cNvPr id="4" name="Content Placeholder 3">
            <a:extLst>
              <a:ext uri="{FF2B5EF4-FFF2-40B4-BE49-F238E27FC236}">
                <a16:creationId xmlns:a16="http://schemas.microsoft.com/office/drawing/2014/main" id="{D76A4230-D9D0-46A4-BB14-3BFBE92787E5}"/>
              </a:ext>
            </a:extLst>
          </p:cNvPr>
          <p:cNvGraphicFramePr>
            <a:graphicFrameLocks noGrp="1"/>
          </p:cNvGraphicFramePr>
          <p:nvPr>
            <p:ph idx="1"/>
            <p:extLst>
              <p:ext uri="{D42A27DB-BD31-4B8C-83A1-F6EECF244321}">
                <p14:modId xmlns:p14="http://schemas.microsoft.com/office/powerpoint/2010/main" val="3147890766"/>
              </p:ext>
            </p:extLst>
          </p:nvPr>
        </p:nvGraphicFramePr>
        <p:xfrm>
          <a:off x="304800" y="942975"/>
          <a:ext cx="11582399" cy="5436147"/>
        </p:xfrm>
        <a:graphic>
          <a:graphicData uri="http://schemas.openxmlformats.org/drawingml/2006/table">
            <a:tbl>
              <a:tblPr firstRow="1" bandRow="1">
                <a:tableStyleId>{5C22544A-7EE6-4342-B048-85BDC9FD1C3A}</a:tableStyleId>
              </a:tblPr>
              <a:tblGrid>
                <a:gridCol w="2962941">
                  <a:extLst>
                    <a:ext uri="{9D8B030D-6E8A-4147-A177-3AD203B41FA5}">
                      <a16:colId xmlns:a16="http://schemas.microsoft.com/office/drawing/2014/main" val="418817304"/>
                    </a:ext>
                  </a:extLst>
                </a:gridCol>
                <a:gridCol w="7102548">
                  <a:extLst>
                    <a:ext uri="{9D8B030D-6E8A-4147-A177-3AD203B41FA5}">
                      <a16:colId xmlns:a16="http://schemas.microsoft.com/office/drawing/2014/main" val="3627643249"/>
                    </a:ext>
                  </a:extLst>
                </a:gridCol>
                <a:gridCol w="1516910">
                  <a:extLst>
                    <a:ext uri="{9D8B030D-6E8A-4147-A177-3AD203B41FA5}">
                      <a16:colId xmlns:a16="http://schemas.microsoft.com/office/drawing/2014/main" val="2364771704"/>
                    </a:ext>
                  </a:extLst>
                </a:gridCol>
              </a:tblGrid>
              <a:tr h="408440">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Event Task</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Task Description</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Modality</a:t>
                      </a:r>
                    </a:p>
                  </a:txBody>
                  <a:tcPr/>
                </a:tc>
                <a:extLst>
                  <a:ext uri="{0D108BD9-81ED-4DB2-BD59-A6C34878D82A}">
                    <a16:rowId xmlns:a16="http://schemas.microsoft.com/office/drawing/2014/main" val="2254579238"/>
                  </a:ext>
                </a:extLst>
              </a:tr>
              <a:tr h="625637">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Attend Kickoff Session</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We will cover Event basics and summarize your next 5 weeks of learning.</a:t>
                      </a:r>
                    </a:p>
                  </a:txBody>
                  <a:tcPr/>
                </a:tc>
                <a:tc>
                  <a:txBody>
                    <a:bodyPr/>
                    <a:lstStyle/>
                    <a:p>
                      <a:r>
                        <a:rPr lang="en-US" b="0" i="0" dirty="0">
                          <a:latin typeface="Amazon Ember" panose="020B0603020204020204" pitchFamily="34" charset="0"/>
                          <a:ea typeface="Amazon Ember" panose="020B0603020204020204" pitchFamily="34" charset="0"/>
                          <a:cs typeface="Amazon Ember" panose="020B0603020204020204" pitchFamily="34" charset="0"/>
                        </a:rPr>
                        <a:t>Scheduled Session</a:t>
                      </a:r>
                    </a:p>
                  </a:txBody>
                  <a:tcPr anchor="ctr"/>
                </a:tc>
                <a:extLst>
                  <a:ext uri="{0D108BD9-81ED-4DB2-BD59-A6C34878D82A}">
                    <a16:rowId xmlns:a16="http://schemas.microsoft.com/office/drawing/2014/main" val="1421399687"/>
                  </a:ext>
                </a:extLst>
              </a:tr>
              <a:tr h="1021097">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Complete Weekly Digital Training</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Complete the </a:t>
                      </a:r>
                      <a:r>
                        <a:rPr lang="en-US" b="1" dirty="0">
                          <a:latin typeface="Amazon Ember" panose="020B0603020204020204" pitchFamily="34" charset="0"/>
                          <a:ea typeface="Amazon Ember" panose="020B0603020204020204" pitchFamily="34" charset="0"/>
                          <a:cs typeface="Amazon Ember" panose="020B0603020204020204" pitchFamily="34" charset="0"/>
                          <a:hlinkClick r:id="rId3"/>
                        </a:rPr>
                        <a:t>Developer Associate Learning Plan </a:t>
                      </a:r>
                      <a:r>
                        <a:rPr lang="en-US" dirty="0">
                          <a:latin typeface="Amazon Ember" panose="020B0603020204020204" pitchFamily="34" charset="0"/>
                          <a:ea typeface="Amazon Ember" panose="020B0603020204020204" pitchFamily="34" charset="0"/>
                          <a:cs typeface="Amazon Ember" panose="020B0603020204020204" pitchFamily="34" charset="0"/>
                        </a:rPr>
                        <a:t>throughout the course of this Event. Weekly expectations are reviewed in the live sessions and cataloged in your Event Guide.</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Self-Paced Digital</a:t>
                      </a:r>
                    </a:p>
                  </a:txBody>
                  <a:tcPr anchor="ctr"/>
                </a:tc>
                <a:extLst>
                  <a:ext uri="{0D108BD9-81ED-4DB2-BD59-A6C34878D82A}">
                    <a16:rowId xmlns:a16="http://schemas.microsoft.com/office/drawing/2014/main" val="3883855984"/>
                  </a:ext>
                </a:extLst>
              </a:tr>
              <a:tr h="625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Complete Exam Prep Plan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(Optional)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Complete the </a:t>
                      </a:r>
                      <a:r>
                        <a:rPr lang="en-US" b="0" i="0" dirty="0">
                          <a:latin typeface="Amazon Ember" panose="020B0603020204020204" pitchFamily="34" charset="0"/>
                          <a:ea typeface="Amazon Ember" panose="020B0603020204020204" pitchFamily="34" charset="0"/>
                          <a:cs typeface="Amazon Ember" panose="020B0603020204020204" pitchFamily="34" charset="0"/>
                          <a:hlinkClick r:id="rId4"/>
                        </a:rPr>
                        <a:t>Exam Prep Plan: AWS Certified Developer </a:t>
                      </a:r>
                      <a:r>
                        <a:rPr lang="en-US" b="0" i="0" dirty="0">
                          <a:latin typeface="Amazon Ember" panose="020B0603020204020204" pitchFamily="34" charset="0"/>
                          <a:ea typeface="Amazon Ember" panose="020B0603020204020204" pitchFamily="34" charset="0"/>
                          <a:cs typeface="Amazon Ember" panose="020B0603020204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Associate for domain based review and practice tests. Utilize </a:t>
                      </a:r>
                      <a:r>
                        <a:rPr lang="en-US" b="0" i="0" dirty="0">
                          <a:latin typeface="Amazon Ember" panose="020B0603020204020204" pitchFamily="34" charset="0"/>
                          <a:ea typeface="Amazon Ember" panose="020B0603020204020204" pitchFamily="34" charset="0"/>
                          <a:cs typeface="Amazon Ember" panose="020B0603020204020204" pitchFamily="34" charset="0"/>
                          <a:hlinkClick r:id="rId5"/>
                        </a:rPr>
                        <a:t>AWS Cloud Quest: </a:t>
                      </a:r>
                      <a:r>
                        <a:rPr lang="en-US" b="0" i="0" dirty="0" err="1">
                          <a:latin typeface="Amazon Ember" panose="020B0603020204020204" pitchFamily="34" charset="0"/>
                          <a:ea typeface="Amazon Ember" panose="020B0603020204020204" pitchFamily="34" charset="0"/>
                          <a:cs typeface="Amazon Ember" panose="020B0603020204020204" pitchFamily="34" charset="0"/>
                          <a:hlinkClick r:id="rId5"/>
                        </a:rPr>
                        <a:t>Severless</a:t>
                      </a:r>
                      <a:r>
                        <a:rPr lang="en-US" b="0" i="0" dirty="0">
                          <a:latin typeface="Amazon Ember" panose="020B0603020204020204" pitchFamily="34" charset="0"/>
                          <a:ea typeface="Amazon Ember" panose="020B0603020204020204" pitchFamily="34" charset="0"/>
                          <a:cs typeface="Amazon Ember" panose="020B0603020204020204" pitchFamily="34" charset="0"/>
                          <a:hlinkClick r:id="rId5"/>
                        </a:rPr>
                        <a:t> Developer </a:t>
                      </a:r>
                      <a:r>
                        <a:rPr lang="en-US" b="0" i="0" dirty="0">
                          <a:latin typeface="Amazon Ember" panose="020B0603020204020204" pitchFamily="34" charset="0"/>
                          <a:ea typeface="Amazon Ember" panose="020B0603020204020204" pitchFamily="34" charset="0"/>
                          <a:cs typeface="Amazon Ember" panose="020B0603020204020204" pitchFamily="34" charset="0"/>
                        </a:rPr>
                        <a:t> throughout for hands-on, lab based challenges. </a:t>
                      </a:r>
                      <a:r>
                        <a:rPr lang="en-US" b="1" i="0" dirty="0">
                          <a:latin typeface="Amazon Ember" panose="020B0603020204020204" pitchFamily="34" charset="0"/>
                          <a:ea typeface="Amazon Ember" panose="020B0603020204020204" pitchFamily="34" charset="0"/>
                          <a:cs typeface="Amazon Ember" panose="020B0603020204020204" pitchFamily="34" charset="0"/>
                        </a:rPr>
                        <a:t>Requires AWS Skill Builder Subscription.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mazon Ember" panose="020B0603020204020204" pitchFamily="34" charset="0"/>
                          <a:ea typeface="Amazon Ember" panose="020B0603020204020204" pitchFamily="34" charset="0"/>
                          <a:cs typeface="Amazon Ember" panose="020B0603020204020204" pitchFamily="34" charset="0"/>
                        </a:rPr>
                        <a:t>Self-Paced Digital</a:t>
                      </a:r>
                    </a:p>
                  </a:txBody>
                  <a:tcPr anchor="ctr"/>
                </a:tc>
                <a:extLst>
                  <a:ext uri="{0D108BD9-81ED-4DB2-BD59-A6C34878D82A}">
                    <a16:rowId xmlns:a16="http://schemas.microsoft.com/office/drawing/2014/main" val="1643843642"/>
                  </a:ext>
                </a:extLst>
              </a:tr>
              <a:tr h="625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Attend Weekly Content Review &amp; Exam Strategy Sessions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Experts from AWS will guide you through a review of key AWS services and concepts related to your digital training assignments. Sample, exam-like questions will be reviewed live with attendees, with the instructor sharing best practices for selecting correct answers.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mazon Ember" panose="020B0603020204020204" pitchFamily="34" charset="0"/>
                          <a:ea typeface="Amazon Ember" panose="020B0603020204020204" pitchFamily="34" charset="0"/>
                          <a:cs typeface="Amazon Ember" panose="020B0603020204020204" pitchFamily="34" charset="0"/>
                        </a:rPr>
                        <a:t>Scheduled Sessions</a:t>
                      </a:r>
                    </a:p>
                  </a:txBody>
                  <a:tcPr anchor="ctr"/>
                </a:tc>
                <a:extLst>
                  <a:ext uri="{0D108BD9-81ED-4DB2-BD59-A6C34878D82A}">
                    <a16:rowId xmlns:a16="http://schemas.microsoft.com/office/drawing/2014/main" val="1160061747"/>
                  </a:ext>
                </a:extLst>
              </a:tr>
              <a:tr h="714770">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Schedule Exam</a:t>
                      </a: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It’s a pleasure supporting you on your AWS Certification journey! Best of luck on your exam! </a:t>
                      </a:r>
                      <a:r>
                        <a:rPr lang="en-US" b="1" dirty="0">
                          <a:latin typeface="Amazon Ember" panose="020B0603020204020204" pitchFamily="34" charset="0"/>
                          <a:ea typeface="Amazon Ember" panose="020B0603020204020204" pitchFamily="34" charset="0"/>
                          <a:cs typeface="Amazon Ember" panose="020B0603020204020204" pitchFamily="34" charset="0"/>
                          <a:hlinkClick r:id="rId6"/>
                        </a:rPr>
                        <a:t>Schedule here.</a:t>
                      </a:r>
                      <a:endParaRPr lang="en-US" b="1"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Proctored Exam</a:t>
                      </a:r>
                    </a:p>
                  </a:txBody>
                  <a:tcPr anchor="ctr"/>
                </a:tc>
                <a:extLst>
                  <a:ext uri="{0D108BD9-81ED-4DB2-BD59-A6C34878D82A}">
                    <a16:rowId xmlns:a16="http://schemas.microsoft.com/office/drawing/2014/main" val="473919182"/>
                  </a:ext>
                </a:extLst>
              </a:tr>
            </a:tbl>
          </a:graphicData>
        </a:graphic>
      </p:graphicFrame>
    </p:spTree>
    <p:extLst>
      <p:ext uri="{BB962C8B-B14F-4D97-AF65-F5344CB8AC3E}">
        <p14:creationId xmlns:p14="http://schemas.microsoft.com/office/powerpoint/2010/main" val="4167375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893582-818F-47D5-9379-FDB9CB2ED7B3}"/>
              </a:ext>
            </a:extLst>
          </p:cNvPr>
          <p:cNvSpPr>
            <a:spLocks noGrp="1"/>
          </p:cNvSpPr>
          <p:nvPr>
            <p:ph type="title" idx="1"/>
          </p:nvPr>
        </p:nvSpPr>
        <p:spPr/>
        <p:txBody>
          <a:bodyPr/>
          <a:lstStyle/>
          <a:p>
            <a:r>
              <a:rPr lang="en-US" altLang="en-US" sz="4000" b="1" i="1" dirty="0"/>
              <a:t>OPTIONAL</a:t>
            </a:r>
            <a:r>
              <a:rPr lang="en-US" altLang="en-US" sz="4000" dirty="0"/>
              <a:t> AWS Skill Builder Subscription</a:t>
            </a:r>
            <a:endParaRPr lang="en-US" sz="4000" dirty="0"/>
          </a:p>
        </p:txBody>
      </p:sp>
      <p:sp>
        <p:nvSpPr>
          <p:cNvPr id="5" name="Content Placeholder 4">
            <a:extLst>
              <a:ext uri="{FF2B5EF4-FFF2-40B4-BE49-F238E27FC236}">
                <a16:creationId xmlns:a16="http://schemas.microsoft.com/office/drawing/2014/main" id="{FA6C4012-8CE9-44D5-9FBC-2777F6C9D673}"/>
              </a:ext>
            </a:extLst>
          </p:cNvPr>
          <p:cNvSpPr>
            <a:spLocks noGrp="1"/>
          </p:cNvSpPr>
          <p:nvPr>
            <p:ph idx="2"/>
          </p:nvPr>
        </p:nvSpPr>
        <p:spPr/>
        <p:txBody>
          <a:bodyPr/>
          <a:lstStyle/>
          <a:p>
            <a:pPr marL="0" indent="0">
              <a:buNone/>
            </a:pPr>
            <a:r>
              <a:rPr lang="en-US" sz="1600" dirty="0">
                <a:solidFill>
                  <a:srgbClr val="197956"/>
                </a:solidFill>
                <a:latin typeface="Amazon Ember" panose="020B0603020204020204" pitchFamily="34" charset="0"/>
                <a:ea typeface="Amazon Ember" panose="020B0603020204020204" pitchFamily="34" charset="0"/>
                <a:cs typeface="Amazon Ember" panose="020B0603020204020204" pitchFamily="34" charset="0"/>
              </a:rPr>
              <a:t>The Skill Builder subscription provides access to official AWS Certification practice exams, self-paced digital training content including open-ended challenges, self-paced labs, and game-based learning. </a:t>
            </a:r>
            <a:r>
              <a:rPr lang="en-US" sz="1600" b="1" i="1" dirty="0">
                <a:solidFill>
                  <a:srgbClr val="197956"/>
                </a:solidFill>
                <a:latin typeface="Amazon Ember" panose="020B0603020204020204" pitchFamily="34" charset="0"/>
                <a:ea typeface="Amazon Ember" panose="020B0603020204020204" pitchFamily="34" charset="0"/>
                <a:cs typeface="Amazon Ember" panose="020B0603020204020204" pitchFamily="34" charset="0"/>
              </a:rPr>
              <a:t>Please note, the Skill Builder subscription is not required for this Accelerator Event. </a:t>
            </a:r>
          </a:p>
          <a:p>
            <a:pPr marL="0" indent="0">
              <a:buNone/>
            </a:pPr>
            <a:endParaRPr lang="en-US" sz="1600" dirty="0">
              <a:solidFill>
                <a:srgbClr val="197956"/>
              </a:solidFill>
            </a:endParaRPr>
          </a:p>
        </p:txBody>
      </p:sp>
      <p:sp>
        <p:nvSpPr>
          <p:cNvPr id="15" name="Shape">
            <a:extLst>
              <a:ext uri="{FF2B5EF4-FFF2-40B4-BE49-F238E27FC236}">
                <a16:creationId xmlns:a16="http://schemas.microsoft.com/office/drawing/2014/main" id="{5852FB79-8C71-426D-9E72-1F7AFE1247B6}"/>
              </a:ext>
            </a:extLst>
          </p:cNvPr>
          <p:cNvSpPr/>
          <p:nvPr/>
        </p:nvSpPr>
        <p:spPr>
          <a:xfrm>
            <a:off x="4229221" y="2143385"/>
            <a:ext cx="3657225" cy="3613479"/>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vert="horz" lIns="182880" tIns="146051" rIns="182880" bIns="146051" numCol="1" spcCol="0" anchor="t">
            <a:noAutofit/>
          </a:bodyPr>
          <a:lstStyle/>
          <a:p>
            <a:pPr marL="0" marR="0" lvl="0" indent="0" algn="ctr" defTabSz="932134" rtl="0" eaLnBrk="1" fontAlgn="base" latinLnBrk="0" hangingPunct="1">
              <a:lnSpc>
                <a:spcPct val="9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gradFill rotWithShape="1">
                <a:gsLst>
                  <a:gs pos="0">
                    <a:srgbClr val="FFFFFF"/>
                  </a:gs>
                  <a:gs pos="100000">
                    <a:srgbClr val="FFFFFF"/>
                  </a:gs>
                </a:gsLst>
                <a:lin ang="5400000" scaled="0"/>
              </a:gradFill>
              <a:effectLst/>
              <a:uLnTx/>
              <a:uFillTx/>
              <a:latin typeface="Amazon Ember"/>
              <a:ea typeface="Segoe UI"/>
              <a:cs typeface="Segoe UI"/>
            </a:endParaRPr>
          </a:p>
        </p:txBody>
      </p:sp>
      <p:sp>
        <p:nvSpPr>
          <p:cNvPr id="16" name="Shape">
            <a:extLst>
              <a:ext uri="{FF2B5EF4-FFF2-40B4-BE49-F238E27FC236}">
                <a16:creationId xmlns:a16="http://schemas.microsoft.com/office/drawing/2014/main" id="{0F5EAA04-B30F-4B3C-ACB9-7F63817A7C5D}"/>
              </a:ext>
            </a:extLst>
          </p:cNvPr>
          <p:cNvSpPr/>
          <p:nvPr/>
        </p:nvSpPr>
        <p:spPr>
          <a:xfrm>
            <a:off x="314596" y="2143383"/>
            <a:ext cx="3539693" cy="3613479"/>
          </a:xfrm>
          <a:prstGeom prst="rect">
            <a:avLst/>
          </a:prstGeom>
          <a:solidFill>
            <a:schemeClr val="bg1"/>
          </a:solid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vert="horz" lIns="182880" tIns="146051" rIns="182880" bIns="146051" numCol="1" spcCol="0" anchor="t">
            <a:noAutofit/>
          </a:bodyPr>
          <a:lstStyle/>
          <a:p>
            <a:pPr marL="0" marR="0" lvl="0" indent="0" algn="ctr" defTabSz="932134" rtl="0" eaLnBrk="1" fontAlgn="base" latinLnBrk="0" hangingPunct="1">
              <a:lnSpc>
                <a:spcPct val="9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gradFill rotWithShape="1">
                <a:gsLst>
                  <a:gs pos="0">
                    <a:srgbClr val="FFFFFF"/>
                  </a:gs>
                  <a:gs pos="100000">
                    <a:srgbClr val="FFFFFF"/>
                  </a:gs>
                </a:gsLst>
                <a:lin ang="5400000" scaled="0"/>
              </a:gradFill>
              <a:effectLst/>
              <a:uLnTx/>
              <a:uFillTx/>
              <a:latin typeface="Amazon Ember"/>
              <a:ea typeface="Segoe UI"/>
              <a:cs typeface="Segoe UI"/>
            </a:endParaRPr>
          </a:p>
        </p:txBody>
      </p:sp>
      <p:sp>
        <p:nvSpPr>
          <p:cNvPr id="17" name="Shape">
            <a:extLst>
              <a:ext uri="{FF2B5EF4-FFF2-40B4-BE49-F238E27FC236}">
                <a16:creationId xmlns:a16="http://schemas.microsoft.com/office/drawing/2014/main" id="{240F2F5A-9DDB-4BCD-9DE7-712F52027951}"/>
              </a:ext>
            </a:extLst>
          </p:cNvPr>
          <p:cNvSpPr/>
          <p:nvPr/>
        </p:nvSpPr>
        <p:spPr>
          <a:xfrm>
            <a:off x="653703" y="3560377"/>
            <a:ext cx="2957861" cy="1776513"/>
          </a:xfrm>
          <a:prstGeom prst="rect">
            <a:avLst/>
          </a:prstGeom>
          <a:noFill/>
          <a:ln>
            <a:noFill/>
          </a:ln>
          <a:effectLst/>
        </p:spPr>
        <p:txBody>
          <a:bodyPr vert="horz" lIns="91440" tIns="95251" rIns="91440" bIns="45720" numCol="1" anchor="ctr">
            <a:spAutoFit/>
          </a:bodyPr>
          <a:lstStyle/>
          <a:p>
            <a:pPr marL="0" marR="0" lvl="0" indent="0" algn="l" defTabSz="914354" rtl="0" eaLnBrk="0" fontAlgn="base" latinLnBrk="0" hangingPunct="0">
              <a:lnSpc>
                <a:spcPct val="150000"/>
              </a:lnSpc>
              <a:spcBef>
                <a:spcPct val="0"/>
              </a:spcBef>
              <a:spcAft>
                <a:spcPts val="0"/>
              </a:spcAft>
              <a:buClrTx/>
              <a:buSzTx/>
              <a:buFontTx/>
              <a:buNone/>
              <a:tabLst/>
              <a:defRPr/>
            </a:pPr>
            <a:r>
              <a:rPr kumimoji="0" lang="en-US" altLang="en-US" sz="1200" b="1" i="0" u="none" strike="noStrike" kern="1200" cap="none" spc="0" normalizeH="0" baseline="0" noProof="0" dirty="0">
                <a:ln w="0">
                  <a:noFill/>
                </a:ln>
                <a:solidFill>
                  <a:srgbClr val="232F3D"/>
                </a:solidFill>
                <a:effectLst>
                  <a:outerShdw blurRad="38100" dist="19050" dir="2700000" algn="tl" rotWithShape="0">
                    <a:srgbClr val="FFFFFF">
                      <a:alpha val="40000"/>
                    </a:srgbClr>
                  </a:outerShdw>
                </a:effectLst>
                <a:uLnTx/>
                <a:uFillTx/>
                <a:latin typeface="Amazon Ember"/>
                <a:ea typeface="+mn-ea"/>
                <a:cs typeface="+mn-cs"/>
              </a:rPr>
              <a:t>Special features include:</a:t>
            </a:r>
            <a:endParaRPr kumimoji="0" lang="en-US" altLang="en-US" sz="2119" b="0" i="0" u="none" strike="noStrike" kern="1200" cap="none" spc="0" normalizeH="0" baseline="0" noProof="0" dirty="0">
              <a:ln>
                <a:noFill/>
              </a:ln>
              <a:solidFill>
                <a:srgbClr val="232F3D"/>
              </a:solidFill>
              <a:effectLst/>
              <a:uLnTx/>
              <a:uFillTx/>
              <a:latin typeface="Amazon Ember"/>
              <a:ea typeface="+mn-ea"/>
              <a:cs typeface="+mn-cs"/>
            </a:endParaRPr>
          </a:p>
          <a:p>
            <a:pPr marL="171442" marR="0" lvl="0" indent="-171442" algn="l" defTabSz="914354" rtl="0" eaLnBrk="0" fontAlgn="base" latinLnBrk="0" hangingPunct="0">
              <a:lnSpc>
                <a:spcPct val="150000"/>
              </a:lnSpc>
              <a:spcBef>
                <a:spcPct val="0"/>
              </a:spcBef>
              <a:spcAft>
                <a:spcPts val="0"/>
              </a:spcAft>
              <a:buClrTx/>
              <a:buSzTx/>
              <a:buFont typeface="Arial"/>
              <a:buChar char="•"/>
              <a:tabLst/>
              <a:defRPr/>
            </a:pPr>
            <a:r>
              <a:rPr kumimoji="0" lang="en-US" altLang="en-US" sz="1200" b="0" i="0" u="none" strike="noStrike" kern="1200" cap="none" spc="0" normalizeH="0" baseline="0" noProof="0" dirty="0">
                <a:ln w="0">
                  <a:noFill/>
                </a:ln>
                <a:solidFill>
                  <a:srgbClr val="232F3D"/>
                </a:solidFill>
                <a:effectLst>
                  <a:outerShdw blurRad="38100" dist="19050" dir="2700000" algn="tl" rotWithShape="0">
                    <a:srgbClr val="FFFFFF">
                      <a:alpha val="40000"/>
                    </a:srgbClr>
                  </a:outerShdw>
                </a:effectLst>
                <a:uLnTx/>
                <a:uFillTx/>
                <a:latin typeface="Amazon Ember"/>
                <a:ea typeface="+mn-ea"/>
                <a:cs typeface="+mn-cs"/>
              </a:rPr>
              <a:t>600+ digital courses</a:t>
            </a:r>
            <a:endParaRPr kumimoji="0" lang="en-US" altLang="en-US" sz="2119" b="0" i="0" u="none" strike="noStrike" kern="1200" cap="none" spc="0" normalizeH="0" baseline="0" noProof="0" dirty="0">
              <a:ln>
                <a:noFill/>
              </a:ln>
              <a:solidFill>
                <a:srgbClr val="232F3D"/>
              </a:solidFill>
              <a:effectLst/>
              <a:uLnTx/>
              <a:uFillTx/>
              <a:latin typeface="Amazon Ember"/>
              <a:ea typeface="+mn-ea"/>
              <a:cs typeface="+mn-cs"/>
            </a:endParaRPr>
          </a:p>
          <a:p>
            <a:pPr marL="171442" marR="0" lvl="0" indent="-171442" algn="l" defTabSz="914354" rtl="0" eaLnBrk="0" fontAlgn="base" latinLnBrk="0" hangingPunct="0">
              <a:lnSpc>
                <a:spcPct val="150000"/>
              </a:lnSpc>
              <a:spcBef>
                <a:spcPct val="0"/>
              </a:spcBef>
              <a:spcAft>
                <a:spcPts val="0"/>
              </a:spcAft>
              <a:buClrTx/>
              <a:buSzTx/>
              <a:buFont typeface="Arial"/>
              <a:buChar char="•"/>
              <a:tabLst/>
              <a:defRPr/>
            </a:pPr>
            <a:r>
              <a:rPr kumimoji="0" lang="en-US" altLang="en-US" sz="1200" b="0" i="0" u="none" strike="noStrike" kern="1200" cap="none" spc="0" normalizeH="0" baseline="0" noProof="0" dirty="0">
                <a:ln w="0">
                  <a:noFill/>
                </a:ln>
                <a:solidFill>
                  <a:srgbClr val="232F3D"/>
                </a:solidFill>
                <a:effectLst>
                  <a:outerShdw blurRad="38100" dist="19050" dir="2700000" algn="tl" rotWithShape="0">
                    <a:srgbClr val="FFFFFF">
                      <a:alpha val="40000"/>
                    </a:srgbClr>
                  </a:outerShdw>
                </a:effectLst>
                <a:uLnTx/>
                <a:uFillTx/>
                <a:latin typeface="Amazon Ember"/>
                <a:ea typeface="+mn-ea"/>
                <a:cs typeface="+mn-cs"/>
              </a:rPr>
              <a:t>Learning plans</a:t>
            </a:r>
            <a:endParaRPr kumimoji="0" lang="en-US" altLang="en-US" sz="2119" b="0" i="0" u="none" strike="noStrike" kern="1200" cap="none" spc="0" normalizeH="0" baseline="0" noProof="0" dirty="0">
              <a:ln>
                <a:noFill/>
              </a:ln>
              <a:solidFill>
                <a:srgbClr val="232F3D"/>
              </a:solidFill>
              <a:effectLst/>
              <a:uLnTx/>
              <a:uFillTx/>
              <a:latin typeface="Amazon Ember"/>
              <a:ea typeface="+mn-ea"/>
              <a:cs typeface="+mn-cs"/>
            </a:endParaRPr>
          </a:p>
          <a:p>
            <a:pPr marL="171442" marR="0" lvl="0" indent="-171442" algn="l" defTabSz="914354" rtl="0" eaLnBrk="0" fontAlgn="base" latinLnBrk="0" hangingPunct="0">
              <a:lnSpc>
                <a:spcPct val="150000"/>
              </a:lnSpc>
              <a:spcBef>
                <a:spcPct val="0"/>
              </a:spcBef>
              <a:spcAft>
                <a:spcPts val="0"/>
              </a:spcAft>
              <a:buClrTx/>
              <a:buSzTx/>
              <a:buFont typeface="Arial"/>
              <a:buChar char="•"/>
              <a:tabLst/>
              <a:defRPr/>
            </a:pPr>
            <a:r>
              <a:rPr kumimoji="0" lang="en-US" altLang="en-US" sz="1200" b="0" i="0" u="none" strike="noStrike" kern="1200" cap="none" spc="0" normalizeH="0" baseline="0" noProof="0" dirty="0">
                <a:ln w="0">
                  <a:noFill/>
                </a:ln>
                <a:solidFill>
                  <a:srgbClr val="232F3D"/>
                </a:solidFill>
                <a:effectLst>
                  <a:outerShdw blurRad="38100" dist="19050" dir="2700000" algn="tl" rotWithShape="0">
                    <a:srgbClr val="FFFFFF">
                      <a:alpha val="40000"/>
                    </a:srgbClr>
                  </a:outerShdw>
                </a:effectLst>
                <a:uLnTx/>
                <a:uFillTx/>
                <a:latin typeface="Amazon Ember"/>
                <a:ea typeface="+mn-ea"/>
                <a:cs typeface="+mn-cs"/>
              </a:rPr>
              <a:t>10 Practice Question Sets</a:t>
            </a:r>
            <a:endParaRPr kumimoji="0" lang="en-US" altLang="en-US" sz="2119" b="0" i="0" u="none" strike="noStrike" kern="1200" cap="none" spc="0" normalizeH="0" baseline="0" noProof="0" dirty="0">
              <a:ln>
                <a:noFill/>
              </a:ln>
              <a:solidFill>
                <a:srgbClr val="232F3D"/>
              </a:solidFill>
              <a:effectLst/>
              <a:uLnTx/>
              <a:uFillTx/>
              <a:latin typeface="Amazon Ember"/>
              <a:ea typeface="+mn-ea"/>
              <a:cs typeface="+mn-cs"/>
            </a:endParaRPr>
          </a:p>
          <a:p>
            <a:pPr marL="171442" marR="0" lvl="0" indent="-171442" algn="l" defTabSz="914354" rtl="0" eaLnBrk="0" fontAlgn="base" latinLnBrk="0" hangingPunct="0">
              <a:lnSpc>
                <a:spcPct val="150000"/>
              </a:lnSpc>
              <a:spcBef>
                <a:spcPct val="0"/>
              </a:spcBef>
              <a:spcAft>
                <a:spcPts val="0"/>
              </a:spcAft>
              <a:buClrTx/>
              <a:buSzTx/>
              <a:buFont typeface="Arial"/>
              <a:buChar char="•"/>
              <a:tabLst/>
              <a:defRPr/>
            </a:pPr>
            <a:r>
              <a:rPr kumimoji="0" lang="en-US" altLang="en-US" sz="1200" b="0" i="1" u="none" strike="noStrike" kern="1200" cap="none" spc="0" normalizeH="0" baseline="0" noProof="0" dirty="0">
                <a:ln w="0">
                  <a:noFill/>
                </a:ln>
                <a:solidFill>
                  <a:srgbClr val="232F3D"/>
                </a:solidFill>
                <a:effectLst>
                  <a:outerShdw blurRad="38100" dist="19050" dir="2700000" algn="tl" rotWithShape="0">
                    <a:srgbClr val="FFFFFF">
                      <a:alpha val="40000"/>
                    </a:srgbClr>
                  </a:outerShdw>
                </a:effectLst>
                <a:uLnTx/>
                <a:uFillTx/>
                <a:latin typeface="Amazon Ember"/>
                <a:ea typeface="+mn-ea"/>
                <a:cs typeface="+mn-cs"/>
              </a:rPr>
              <a:t>AWS Cloud Quest (Foundational)</a:t>
            </a:r>
          </a:p>
          <a:p>
            <a:pPr marL="171442" indent="-171442" defTabSz="914354" eaLnBrk="0" fontAlgn="base" hangingPunct="0">
              <a:lnSpc>
                <a:spcPct val="150000"/>
              </a:lnSpc>
              <a:spcBef>
                <a:spcPct val="0"/>
              </a:spcBef>
              <a:buFont typeface="Arial"/>
              <a:buChar char="•"/>
              <a:defRPr/>
            </a:pPr>
            <a:r>
              <a:rPr lang="en-US" altLang="en-US" sz="1200" i="1" dirty="0">
                <a:ln w="0">
                  <a:noFill/>
                </a:ln>
                <a:solidFill>
                  <a:srgbClr val="232F3D"/>
                </a:solidFill>
                <a:effectLst>
                  <a:outerShdw blurRad="38100" dist="19050" dir="2700000" algn="tl" rotWithShape="0">
                    <a:srgbClr val="FFFFFF">
                      <a:alpha val="40000"/>
                    </a:srgbClr>
                  </a:outerShdw>
                </a:effectLst>
                <a:latin typeface="Amazon Ember"/>
              </a:rPr>
              <a:t>AWS </a:t>
            </a:r>
            <a:r>
              <a:rPr lang="en-US" altLang="en-US" sz="1200" i="1" dirty="0" err="1">
                <a:ln w="0">
                  <a:noFill/>
                </a:ln>
                <a:solidFill>
                  <a:srgbClr val="232F3D"/>
                </a:solidFill>
                <a:effectLst>
                  <a:outerShdw blurRad="38100" dist="19050" dir="2700000" algn="tl" rotWithShape="0">
                    <a:srgbClr val="FFFFFF">
                      <a:alpha val="40000"/>
                    </a:srgbClr>
                  </a:outerShdw>
                </a:effectLst>
                <a:latin typeface="Amazon Ember"/>
              </a:rPr>
              <a:t>SimuLearn</a:t>
            </a:r>
            <a:r>
              <a:rPr lang="en-US" altLang="en-US" sz="1200" i="1" dirty="0">
                <a:ln w="0">
                  <a:noFill/>
                </a:ln>
                <a:solidFill>
                  <a:srgbClr val="232F3D"/>
                </a:solidFill>
                <a:effectLst>
                  <a:outerShdw blurRad="38100" dist="19050" dir="2700000" algn="tl" rotWithShape="0">
                    <a:srgbClr val="FFFFFF">
                      <a:alpha val="40000"/>
                    </a:srgbClr>
                  </a:outerShdw>
                </a:effectLst>
                <a:latin typeface="Amazon Ember"/>
              </a:rPr>
              <a:t> (Cloud Practitioner)</a:t>
            </a:r>
          </a:p>
        </p:txBody>
      </p:sp>
      <p:sp>
        <p:nvSpPr>
          <p:cNvPr id="18" name="Shape">
            <a:hlinkClick r:id="rId3"/>
            <a:extLst>
              <a:ext uri="{FF2B5EF4-FFF2-40B4-BE49-F238E27FC236}">
                <a16:creationId xmlns:a16="http://schemas.microsoft.com/office/drawing/2014/main" id="{D88A8F2F-8B2C-4E06-A8B9-454EF32C094E}"/>
              </a:ext>
            </a:extLst>
          </p:cNvPr>
          <p:cNvSpPr/>
          <p:nvPr/>
        </p:nvSpPr>
        <p:spPr>
          <a:xfrm>
            <a:off x="653703" y="3084736"/>
            <a:ext cx="2600392" cy="644215"/>
          </a:xfrm>
          <a:prstGeom prst="rect">
            <a:avLst/>
          </a:prstGeom>
          <a:noFill/>
          <a:ln>
            <a:noFill/>
          </a:ln>
        </p:spPr>
        <p:txBody>
          <a:bodyPr wrap="none" anchor="t">
            <a:spAutoFit/>
          </a:bodyPr>
          <a:lstStyle/>
          <a:p>
            <a:pPr marL="0" marR="0" lvl="0" indent="0" algn="l" defTabSz="1097226" rtl="0" eaLnBrk="1" fontAlgn="auto" latinLnBrk="0" hangingPunct="1">
              <a:lnSpc>
                <a:spcPct val="100000"/>
              </a:lnSpc>
              <a:spcBef>
                <a:spcPts val="0"/>
              </a:spcBef>
              <a:spcAft>
                <a:spcPts val="0"/>
              </a:spcAft>
              <a:buClrTx/>
              <a:buSzTx/>
              <a:buFontTx/>
              <a:buNone/>
              <a:tabLst/>
              <a:defRPr/>
            </a:pPr>
            <a:r>
              <a:rPr kumimoji="0" lang="en-US" altLang="en-US" sz="2119" b="0" i="0" u="none" strike="noStrike" kern="1200" cap="none" spc="0" normalizeH="0" baseline="0" noProof="0" dirty="0">
                <a:ln>
                  <a:noFill/>
                </a:ln>
                <a:solidFill>
                  <a:srgbClr val="36C2B3"/>
                </a:solidFill>
                <a:effectLst/>
                <a:uLnTx/>
                <a:uFillTx/>
                <a:latin typeface="Amazon Ember"/>
                <a:ea typeface="+mn-ea"/>
                <a:cs typeface="+mn-cs"/>
              </a:rPr>
              <a:t>Free digital training</a:t>
            </a:r>
          </a:p>
          <a:p>
            <a:pPr marL="0" marR="0" lvl="0" indent="0" algn="ctr" defTabSz="1097226" rtl="0" eaLnBrk="1" fontAlgn="auto" latinLnBrk="0" hangingPunct="1">
              <a:lnSpc>
                <a:spcPct val="100000"/>
              </a:lnSpc>
              <a:spcBef>
                <a:spcPts val="0"/>
              </a:spcBef>
              <a:spcAft>
                <a:spcPts val="0"/>
              </a:spcAft>
              <a:buClrTx/>
              <a:buSzTx/>
              <a:buFontTx/>
              <a:buNone/>
              <a:tabLst/>
              <a:defRPr/>
            </a:pPr>
            <a:r>
              <a:rPr kumimoji="0" lang="en-US" altLang="en-US" sz="1467" b="0" i="1" u="none" strike="noStrike" kern="1200" cap="none" spc="0" normalizeH="0" baseline="0" noProof="0" dirty="0">
                <a:ln>
                  <a:noFill/>
                </a:ln>
                <a:solidFill>
                  <a:srgbClr val="36C2B3"/>
                </a:solidFill>
                <a:effectLst/>
                <a:uLnTx/>
                <a:uFillTx/>
                <a:latin typeface="Amazon Ember"/>
                <a:ea typeface="+mn-ea"/>
                <a:cs typeface="+mn-cs"/>
                <a:hlinkClick r:id="rId3"/>
              </a:rPr>
              <a:t>skillbuilder.aws/learn</a:t>
            </a:r>
            <a:endParaRPr kumimoji="0" lang="en-US" altLang="en-US" sz="2133" b="0" i="1" u="none" strike="noStrike" kern="1200" cap="none" spc="0" normalizeH="0" baseline="0" noProof="0" dirty="0">
              <a:ln>
                <a:noFill/>
              </a:ln>
              <a:solidFill>
                <a:srgbClr val="36C2B3"/>
              </a:solidFill>
              <a:effectLst/>
              <a:uLnTx/>
              <a:uFillTx/>
              <a:latin typeface="Amazon Ember"/>
              <a:ea typeface="+mn-ea"/>
              <a:cs typeface="+mn-cs"/>
            </a:endParaRPr>
          </a:p>
        </p:txBody>
      </p:sp>
      <p:sp>
        <p:nvSpPr>
          <p:cNvPr id="19" name="Shape">
            <a:hlinkClick r:id="rId4"/>
            <a:extLst>
              <a:ext uri="{FF2B5EF4-FFF2-40B4-BE49-F238E27FC236}">
                <a16:creationId xmlns:a16="http://schemas.microsoft.com/office/drawing/2014/main" id="{032575CE-52F6-4E5D-BC36-08600B027305}"/>
              </a:ext>
            </a:extLst>
          </p:cNvPr>
          <p:cNvSpPr/>
          <p:nvPr/>
        </p:nvSpPr>
        <p:spPr>
          <a:xfrm>
            <a:off x="4545497" y="3085044"/>
            <a:ext cx="2957861" cy="644215"/>
          </a:xfrm>
          <a:prstGeom prst="rect">
            <a:avLst/>
          </a:prstGeom>
          <a:noFill/>
          <a:ln>
            <a:noFill/>
          </a:ln>
        </p:spPr>
        <p:txBody>
          <a:bodyPr wrap="none" anchor="t">
            <a:spAutoFit/>
          </a:bodyPr>
          <a:lstStyle/>
          <a:p>
            <a:pPr marL="0" marR="0" lvl="0" indent="0" algn="l" defTabSz="1097226" rtl="0" eaLnBrk="1" fontAlgn="auto" latinLnBrk="0" hangingPunct="1">
              <a:lnSpc>
                <a:spcPct val="100000"/>
              </a:lnSpc>
              <a:spcBef>
                <a:spcPts val="0"/>
              </a:spcBef>
              <a:spcAft>
                <a:spcPts val="0"/>
              </a:spcAft>
              <a:buClrTx/>
              <a:buSzTx/>
              <a:buFontTx/>
              <a:buNone/>
              <a:tabLst/>
              <a:defRPr/>
            </a:pPr>
            <a:r>
              <a:rPr kumimoji="0" lang="en-US" altLang="en-US" sz="2119" b="0" i="0" u="none" strike="noStrike" kern="1200" cap="none" spc="0" normalizeH="0" baseline="0" noProof="0" dirty="0">
                <a:ln>
                  <a:noFill/>
                </a:ln>
                <a:solidFill>
                  <a:srgbClr val="36C2B3"/>
                </a:solidFill>
                <a:effectLst/>
                <a:uLnTx/>
                <a:uFillTx/>
                <a:latin typeface="Amazon Ember"/>
                <a:ea typeface="+mn-ea"/>
                <a:cs typeface="+mn-cs"/>
              </a:rPr>
              <a:t>Individual subscription</a:t>
            </a:r>
          </a:p>
          <a:p>
            <a:pPr marL="0" marR="0" lvl="0" indent="0" algn="ctr" defTabSz="1097226" rtl="0" eaLnBrk="1" fontAlgn="auto" latinLnBrk="0" hangingPunct="1">
              <a:lnSpc>
                <a:spcPct val="100000"/>
              </a:lnSpc>
              <a:spcBef>
                <a:spcPts val="0"/>
              </a:spcBef>
              <a:spcAft>
                <a:spcPts val="0"/>
              </a:spcAft>
              <a:buClrTx/>
              <a:buSzTx/>
              <a:buFontTx/>
              <a:buNone/>
              <a:tabLst/>
              <a:defRPr/>
            </a:pPr>
            <a:r>
              <a:rPr kumimoji="0" lang="en-US" altLang="en-US" sz="1467" b="0" i="1" u="none" strike="noStrike" kern="1200" cap="none" spc="0" normalizeH="0" baseline="0" noProof="0" dirty="0">
                <a:ln>
                  <a:noFill/>
                </a:ln>
                <a:solidFill>
                  <a:srgbClr val="36C2B3"/>
                </a:solidFill>
                <a:effectLst/>
                <a:uLnTx/>
                <a:uFillTx/>
                <a:latin typeface="Amazon Ember"/>
                <a:ea typeface="+mn-ea"/>
                <a:cs typeface="+mn-cs"/>
                <a:hlinkClick r:id="rId4"/>
              </a:rPr>
              <a:t>skillbuilder.aws/subscriptions</a:t>
            </a:r>
            <a:endParaRPr kumimoji="0" lang="en-US" altLang="en-US" sz="2119" b="0" i="1" u="none" strike="noStrike" kern="1200" cap="none" spc="0" normalizeH="0" baseline="0" noProof="0" dirty="0">
              <a:ln>
                <a:noFill/>
              </a:ln>
              <a:solidFill>
                <a:srgbClr val="36C2B3"/>
              </a:solidFill>
              <a:effectLst/>
              <a:uLnTx/>
              <a:uFillTx/>
              <a:latin typeface="Amazon Ember"/>
              <a:ea typeface="+mn-ea"/>
              <a:cs typeface="+mn-cs"/>
            </a:endParaRPr>
          </a:p>
        </p:txBody>
      </p:sp>
      <p:sp>
        <p:nvSpPr>
          <p:cNvPr id="21" name="Shape">
            <a:extLst>
              <a:ext uri="{FF2B5EF4-FFF2-40B4-BE49-F238E27FC236}">
                <a16:creationId xmlns:a16="http://schemas.microsoft.com/office/drawing/2014/main" id="{A838B3E7-8668-4D08-81FB-8AD3BFACA115}"/>
              </a:ext>
            </a:extLst>
          </p:cNvPr>
          <p:cNvSpPr/>
          <p:nvPr/>
        </p:nvSpPr>
        <p:spPr>
          <a:xfrm>
            <a:off x="4419605" y="3737924"/>
            <a:ext cx="3715881" cy="2003497"/>
          </a:xfrm>
          <a:prstGeom prst="rect">
            <a:avLst/>
          </a:prstGeom>
          <a:noFill/>
          <a:ln>
            <a:noFill/>
          </a:ln>
        </p:spPr>
        <p:txBody>
          <a:bodyPr wrap="square" anchor="t">
            <a:spAutoFit/>
          </a:bodyPr>
          <a:lstStyle/>
          <a:p>
            <a:pPr marL="0" marR="0" lvl="0" indent="0" algn="l" defTabSz="1097226" rtl="0" eaLnBrk="1" fontAlgn="auto" latinLnBrk="0" hangingPunct="1">
              <a:lnSpc>
                <a:spcPct val="15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232F3D"/>
                </a:solidFill>
                <a:effectLst/>
                <a:uLnTx/>
                <a:uFillTx/>
                <a:latin typeface="Amazon Ember"/>
                <a:ea typeface="+mn-ea"/>
                <a:cs typeface="+mn-cs"/>
              </a:rPr>
              <a:t>Everything in free digital training, plus:</a:t>
            </a:r>
          </a:p>
          <a:p>
            <a:pPr marL="171442" lvl="0" indent="-171442" defTabSz="1097226">
              <a:lnSpc>
                <a:spcPct val="150000"/>
              </a:lnSpc>
              <a:buFont typeface="Arial"/>
              <a:buChar char="•"/>
              <a:defRPr/>
            </a:pPr>
            <a:r>
              <a:rPr lang="en-US" altLang="en-US" sz="1200" dirty="0">
                <a:solidFill>
                  <a:srgbClr val="232F3D"/>
                </a:solidFill>
                <a:latin typeface="Amazon Ember"/>
              </a:rPr>
              <a:t>AWS </a:t>
            </a:r>
            <a:r>
              <a:rPr lang="en-US" altLang="en-US" sz="1200" dirty="0" err="1">
                <a:solidFill>
                  <a:srgbClr val="232F3D"/>
                </a:solidFill>
                <a:latin typeface="Amazon Ember"/>
              </a:rPr>
              <a:t>SimuLearn</a:t>
            </a:r>
            <a:r>
              <a:rPr lang="en-US" altLang="en-US" sz="1200" dirty="0">
                <a:solidFill>
                  <a:srgbClr val="232F3D"/>
                </a:solidFill>
                <a:latin typeface="Amazon Ember"/>
              </a:rPr>
              <a:t> (200+ trainings)</a:t>
            </a:r>
          </a:p>
          <a:p>
            <a:pPr marL="171442" lvl="0" indent="-171442" defTabSz="1097226">
              <a:lnSpc>
                <a:spcPct val="150000"/>
              </a:lnSpc>
              <a:buFont typeface="Arial"/>
              <a:buChar char="•"/>
              <a:defRPr/>
            </a:pPr>
            <a:r>
              <a:rPr lang="en-US" altLang="en-US" sz="1200" dirty="0">
                <a:solidFill>
                  <a:srgbClr val="232F3D"/>
                </a:solidFill>
                <a:latin typeface="Amazon Ember"/>
              </a:rPr>
              <a:t>AWS Cloud Quest (Intermediate – Advanced)</a:t>
            </a:r>
          </a:p>
          <a:p>
            <a:pPr marL="171442" lvl="0" indent="-171442" defTabSz="1097226">
              <a:lnSpc>
                <a:spcPct val="150000"/>
              </a:lnSpc>
              <a:buFont typeface="Arial"/>
              <a:buChar char="•"/>
              <a:defRPr/>
            </a:pPr>
            <a:r>
              <a:rPr lang="en-US" altLang="en-US" sz="1200" dirty="0">
                <a:solidFill>
                  <a:srgbClr val="232F3D"/>
                </a:solidFill>
                <a:latin typeface="Amazon Ember"/>
              </a:rPr>
              <a:t>Official Practice Exams; Enhanced Exam Prep</a:t>
            </a:r>
          </a:p>
          <a:p>
            <a:pPr marL="171442" marR="0" lvl="0" indent="-171442" algn="l" defTabSz="1097226" rtl="0" eaLnBrk="1" fontAlgn="auto" latinLnBrk="0" hangingPunct="1">
              <a:lnSpc>
                <a:spcPct val="150000"/>
              </a:lnSpc>
              <a:spcBef>
                <a:spcPts val="0"/>
              </a:spcBef>
              <a:spcAft>
                <a:spcPts val="0"/>
              </a:spcAft>
              <a:buClrTx/>
              <a:buSzTx/>
              <a:buFont typeface="Arial"/>
              <a:buChar char="•"/>
              <a:tabLst/>
              <a:defRPr/>
            </a:pPr>
            <a:r>
              <a:rPr kumimoji="0" lang="en-US" altLang="en-US" sz="1200" b="0" i="0" u="none" strike="noStrike" kern="1200" cap="none" spc="0" normalizeH="0" baseline="0" noProof="0" dirty="0">
                <a:ln>
                  <a:noFill/>
                </a:ln>
                <a:solidFill>
                  <a:srgbClr val="232F3D"/>
                </a:solidFill>
                <a:effectLst/>
                <a:uLnTx/>
                <a:uFillTx/>
                <a:latin typeface="Amazon Ember"/>
                <a:ea typeface="+mn-ea"/>
                <a:cs typeface="+mn-cs"/>
              </a:rPr>
              <a:t>Unlimited access to 1000+ hands-on labs</a:t>
            </a:r>
          </a:p>
          <a:p>
            <a:pPr marL="171442" marR="0" lvl="0" indent="-171442" algn="l" defTabSz="1097226" rtl="0" eaLnBrk="1" fontAlgn="auto" latinLnBrk="0" hangingPunct="1">
              <a:lnSpc>
                <a:spcPct val="150000"/>
              </a:lnSpc>
              <a:spcBef>
                <a:spcPts val="0"/>
              </a:spcBef>
              <a:spcAft>
                <a:spcPts val="0"/>
              </a:spcAft>
              <a:buClrTx/>
              <a:buSzTx/>
              <a:buFont typeface="Arial"/>
              <a:buChar char="•"/>
              <a:tabLst/>
              <a:defRPr/>
            </a:pPr>
            <a:r>
              <a:rPr kumimoji="0" lang="en-US" altLang="en-US" sz="1200" b="0" i="0" u="none" strike="noStrike" kern="1200" cap="none" spc="0" normalizeH="0" baseline="0" noProof="0" dirty="0">
                <a:ln>
                  <a:noFill/>
                </a:ln>
                <a:solidFill>
                  <a:srgbClr val="232F3D"/>
                </a:solidFill>
                <a:effectLst/>
                <a:uLnTx/>
                <a:uFillTx/>
                <a:latin typeface="Amazon Ember"/>
                <a:ea typeface="+mn-ea"/>
                <a:cs typeface="+mn-cs"/>
              </a:rPr>
              <a:t>AWS Jam Journeys (lab-based challenges)</a:t>
            </a:r>
          </a:p>
          <a:p>
            <a:pPr marL="171442" marR="0" lvl="0" indent="-171442" algn="l" defTabSz="1097226" rtl="0" eaLnBrk="1" fontAlgn="auto" latinLnBrk="0" hangingPunct="1">
              <a:lnSpc>
                <a:spcPct val="150000"/>
              </a:lnSpc>
              <a:spcBef>
                <a:spcPts val="0"/>
              </a:spcBef>
              <a:spcAft>
                <a:spcPts val="0"/>
              </a:spcAft>
              <a:buClrTx/>
              <a:buSzTx/>
              <a:buFont typeface="Arial"/>
              <a:buChar char="•"/>
              <a:tabLst/>
              <a:defRPr/>
            </a:pPr>
            <a:r>
              <a:rPr kumimoji="0" lang="en-US" altLang="en-US" sz="1200" b="0" i="0" u="none" strike="noStrike" kern="1200" cap="none" spc="0" normalizeH="0" baseline="0" noProof="0" dirty="0">
                <a:ln>
                  <a:noFill/>
                </a:ln>
                <a:solidFill>
                  <a:srgbClr val="232F3D"/>
                </a:solidFill>
                <a:effectLst/>
                <a:uLnTx/>
                <a:uFillTx/>
                <a:latin typeface="Amazon Ember"/>
                <a:ea typeface="+mn-ea"/>
                <a:cs typeface="+mn-cs"/>
              </a:rPr>
              <a:t>AWS Digital Classroom (Annual only)</a:t>
            </a:r>
          </a:p>
        </p:txBody>
      </p:sp>
      <p:pic>
        <p:nvPicPr>
          <p:cNvPr id="23" name="Picture">
            <a:extLst>
              <a:ext uri="{FF2B5EF4-FFF2-40B4-BE49-F238E27FC236}">
                <a16:creationId xmlns:a16="http://schemas.microsoft.com/office/drawing/2014/main" id="{F9A8C9FA-320B-402A-9EDB-FF18DD547160}"/>
              </a:ext>
            </a:extLst>
          </p:cNvPr>
          <p:cNvPicPr>
            <a:picLocks noChangeAspect="1"/>
          </p:cNvPicPr>
          <p:nvPr/>
        </p:nvPicPr>
        <p:blipFill>
          <a:blip r:embed="rId5"/>
          <a:stretch>
            <a:fillRect/>
          </a:stretch>
        </p:blipFill>
        <p:spPr>
          <a:xfrm>
            <a:off x="1587635" y="2209795"/>
            <a:ext cx="952500" cy="952500"/>
          </a:xfrm>
          <a:prstGeom prst="rect">
            <a:avLst/>
          </a:prstGeom>
        </p:spPr>
      </p:pic>
      <p:pic>
        <p:nvPicPr>
          <p:cNvPr id="24" name="Picture">
            <a:extLst>
              <a:ext uri="{FF2B5EF4-FFF2-40B4-BE49-F238E27FC236}">
                <a16:creationId xmlns:a16="http://schemas.microsoft.com/office/drawing/2014/main" id="{8128D559-83D7-49A2-A28D-974EBCA532CF}"/>
              </a:ext>
            </a:extLst>
          </p:cNvPr>
          <p:cNvPicPr>
            <a:picLocks noChangeAspect="1"/>
          </p:cNvPicPr>
          <p:nvPr/>
        </p:nvPicPr>
        <p:blipFill>
          <a:blip r:embed="rId6"/>
          <a:stretch>
            <a:fillRect/>
          </a:stretch>
        </p:blipFill>
        <p:spPr>
          <a:xfrm>
            <a:off x="5619699" y="2209795"/>
            <a:ext cx="952500" cy="952500"/>
          </a:xfrm>
          <a:prstGeom prst="rect">
            <a:avLst/>
          </a:prstGeom>
        </p:spPr>
      </p:pic>
      <p:sp>
        <p:nvSpPr>
          <p:cNvPr id="27" name="Rectangle 26">
            <a:extLst>
              <a:ext uri="{FF2B5EF4-FFF2-40B4-BE49-F238E27FC236}">
                <a16:creationId xmlns:a16="http://schemas.microsoft.com/office/drawing/2014/main" id="{37D6BF35-9196-4485-971C-104B8B623707}"/>
              </a:ext>
            </a:extLst>
          </p:cNvPr>
          <p:cNvSpPr/>
          <p:nvPr/>
        </p:nvSpPr>
        <p:spPr>
          <a:xfrm>
            <a:off x="3980180" y="5756863"/>
            <a:ext cx="4135117" cy="461665"/>
          </a:xfrm>
          <a:prstGeom prst="rect">
            <a:avLst/>
          </a:prstGeom>
        </p:spPr>
        <p:txBody>
          <a:bodyPr wrap="square">
            <a:spAutoFit/>
          </a:bodyPr>
          <a:lstStyle/>
          <a:p>
            <a:pPr marL="0" marR="0" lvl="0" indent="0" algn="ctr" defTabSz="1097226"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232F3D"/>
                </a:solidFill>
                <a:effectLst/>
                <a:uLnTx/>
                <a:uFillTx/>
                <a:latin typeface="Amazon Ember Light"/>
                <a:ea typeface="+mn-ea"/>
                <a:cs typeface="+mn-cs"/>
              </a:rPr>
              <a:t>Individual subscriptions are priced </a:t>
            </a:r>
            <a:r>
              <a:rPr kumimoji="0" lang="en-US" altLang="en-US" sz="1200" b="1" i="0" u="none" strike="noStrike" kern="1200" cap="none" spc="0" normalizeH="0" baseline="0" noProof="0" dirty="0">
                <a:ln>
                  <a:noFill/>
                </a:ln>
                <a:solidFill>
                  <a:srgbClr val="232F3D"/>
                </a:solidFill>
                <a:effectLst/>
                <a:uLnTx/>
                <a:uFillTx/>
                <a:latin typeface="Amazon Ember Light"/>
                <a:ea typeface="+mn-ea"/>
                <a:cs typeface="+mn-cs"/>
              </a:rPr>
              <a:t>at $29 USD per month </a:t>
            </a:r>
            <a:r>
              <a:rPr kumimoji="0" lang="en-US" altLang="en-US" sz="1200" b="0" i="0" u="none" strike="noStrike" kern="1200" cap="none" spc="0" normalizeH="0" baseline="0" noProof="0" dirty="0">
                <a:ln>
                  <a:noFill/>
                </a:ln>
                <a:solidFill>
                  <a:srgbClr val="232F3D"/>
                </a:solidFill>
                <a:effectLst/>
                <a:uLnTx/>
                <a:uFillTx/>
                <a:latin typeface="Amazon Ember Light"/>
                <a:ea typeface="+mn-ea"/>
                <a:cs typeface="+mn-cs"/>
              </a:rPr>
              <a:t>(</a:t>
            </a:r>
            <a:r>
              <a:rPr kumimoji="0" lang="en-US" altLang="en-US" sz="1200" b="0" i="1" u="none" strike="noStrike" kern="1200" cap="none" spc="0" normalizeH="0" baseline="0" noProof="0" dirty="0">
                <a:ln>
                  <a:noFill/>
                </a:ln>
                <a:solidFill>
                  <a:srgbClr val="232F3D"/>
                </a:solidFill>
                <a:effectLst/>
                <a:uLnTx/>
                <a:uFillTx/>
                <a:latin typeface="Amazon Ember Light"/>
                <a:ea typeface="+mn-ea"/>
                <a:cs typeface="+mn-cs"/>
              </a:rPr>
              <a:t>Flexibility to cancel anytime</a:t>
            </a:r>
            <a:r>
              <a:rPr kumimoji="0" lang="en-US" altLang="en-US" sz="1200" b="0" i="0" u="none" strike="noStrike" kern="1200" cap="none" spc="0" normalizeH="0" baseline="0" noProof="0" dirty="0">
                <a:ln>
                  <a:noFill/>
                </a:ln>
                <a:solidFill>
                  <a:srgbClr val="232F3D"/>
                </a:solidFill>
                <a:effectLst/>
                <a:uLnTx/>
                <a:uFillTx/>
                <a:latin typeface="Amazon Ember Light"/>
                <a:ea typeface="+mn-ea"/>
                <a:cs typeface="+mn-cs"/>
              </a:rPr>
              <a:t>)</a:t>
            </a:r>
            <a:r>
              <a:rPr kumimoji="0" lang="en-US" altLang="en-US" sz="1200" b="1" i="0" u="none" strike="noStrike" kern="1200" cap="none" spc="0" normalizeH="0" baseline="0" noProof="0" dirty="0">
                <a:ln>
                  <a:noFill/>
                </a:ln>
                <a:solidFill>
                  <a:srgbClr val="232F3D"/>
                </a:solidFill>
                <a:effectLst/>
                <a:uLnTx/>
                <a:uFillTx/>
                <a:latin typeface="Amazon Ember Light"/>
                <a:ea typeface="+mn-ea"/>
                <a:cs typeface="+mn-cs"/>
              </a:rPr>
              <a:t> or $449 USD per year.</a:t>
            </a:r>
          </a:p>
        </p:txBody>
      </p:sp>
      <p:sp>
        <p:nvSpPr>
          <p:cNvPr id="28" name="Rectangle 27">
            <a:hlinkClick r:id="rId7"/>
            <a:extLst>
              <a:ext uri="{FF2B5EF4-FFF2-40B4-BE49-F238E27FC236}">
                <a16:creationId xmlns:a16="http://schemas.microsoft.com/office/drawing/2014/main" id="{D4C9202F-D720-45D4-8D0E-BD077C832D34}"/>
              </a:ext>
            </a:extLst>
          </p:cNvPr>
          <p:cNvSpPr/>
          <p:nvPr/>
        </p:nvSpPr>
        <p:spPr bwMode="auto">
          <a:xfrm>
            <a:off x="8642146" y="2143353"/>
            <a:ext cx="3027854" cy="2151308"/>
          </a:xfrm>
          <a:prstGeom prst="rect">
            <a:avLst/>
          </a:prstGeom>
          <a:solidFill>
            <a:schemeClr val="accent1">
              <a:lumMod val="20000"/>
              <a:lumOff val="80000"/>
            </a:schemeClr>
          </a:soli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195072" rIns="243840" bIns="195072" numCol="1" spcCol="0" rtlCol="0" fromWordArt="0" anchor="ctr" anchorCtr="0" forceAA="0" compatLnSpc="1">
            <a:prstTxWarp prst="textNoShape">
              <a:avLst/>
            </a:prstTxWarp>
            <a:noAutofit/>
          </a:bodyPr>
          <a:lstStyle/>
          <a:p>
            <a:pPr lvl="0" algn="ctr" defTabSz="1243234" fontAlgn="base">
              <a:lnSpc>
                <a:spcPct val="90000"/>
              </a:lnSpc>
              <a:spcBef>
                <a:spcPct val="0"/>
              </a:spcBef>
              <a:defRPr/>
            </a:pPr>
            <a:r>
              <a:rPr lang="en-US" sz="2133" dirty="0">
                <a:solidFill>
                  <a:srgbClr val="232F3E"/>
                </a:solidFill>
                <a:latin typeface="Arial"/>
                <a:ea typeface="Segoe UI" pitchFamily="34" charset="0"/>
                <a:cs typeface="Segoe UI" pitchFamily="34" charset="0"/>
              </a:rPr>
              <a:t>Access the </a:t>
            </a:r>
          </a:p>
          <a:p>
            <a:pPr lvl="0" algn="ctr" defTabSz="1243234" fontAlgn="base">
              <a:lnSpc>
                <a:spcPct val="90000"/>
              </a:lnSpc>
              <a:spcBef>
                <a:spcPct val="0"/>
              </a:spcBef>
              <a:defRPr/>
            </a:pPr>
            <a:r>
              <a:rPr lang="en-US" sz="2133" dirty="0">
                <a:solidFill>
                  <a:srgbClr val="232F3E"/>
                </a:solidFill>
                <a:latin typeface="Arial"/>
                <a:ea typeface="Segoe UI" pitchFamily="34" charset="0"/>
                <a:cs typeface="Segoe UI" pitchFamily="34" charset="0"/>
                <a:hlinkClick r:id="rId7"/>
              </a:rPr>
              <a:t>Developer Associate Exam</a:t>
            </a:r>
          </a:p>
          <a:p>
            <a:pPr lvl="0" algn="ctr" defTabSz="1243234" fontAlgn="base">
              <a:lnSpc>
                <a:spcPct val="90000"/>
              </a:lnSpc>
              <a:spcBef>
                <a:spcPct val="0"/>
              </a:spcBef>
              <a:defRPr/>
            </a:pPr>
            <a:r>
              <a:rPr lang="en-US" sz="2133" dirty="0">
                <a:solidFill>
                  <a:srgbClr val="232F3E"/>
                </a:solidFill>
                <a:latin typeface="Arial"/>
                <a:ea typeface="Segoe UI" pitchFamily="34" charset="0"/>
                <a:cs typeface="Segoe UI" pitchFamily="34" charset="0"/>
                <a:hlinkClick r:id="rId7"/>
              </a:rPr>
              <a:t>Prep Plan</a:t>
            </a:r>
            <a:endParaRPr lang="en-US" sz="2133" dirty="0">
              <a:solidFill>
                <a:srgbClr val="232F3E"/>
              </a:solidFill>
              <a:latin typeface="Arial"/>
              <a:ea typeface="Segoe UI" pitchFamily="34" charset="0"/>
              <a:cs typeface="Segoe UI" pitchFamily="34" charset="0"/>
            </a:endParaRPr>
          </a:p>
          <a:p>
            <a:pPr lvl="0" algn="ctr" defTabSz="1243234" fontAlgn="base">
              <a:lnSpc>
                <a:spcPct val="90000"/>
              </a:lnSpc>
              <a:spcBef>
                <a:spcPct val="0"/>
              </a:spcBef>
              <a:defRPr/>
            </a:pPr>
            <a:r>
              <a:rPr lang="en-US" sz="2133" dirty="0">
                <a:solidFill>
                  <a:srgbClr val="232F3E"/>
                </a:solidFill>
                <a:latin typeface="Arial"/>
                <a:ea typeface="Segoe UI" pitchFamily="34" charset="0"/>
                <a:cs typeface="Segoe UI" pitchFamily="34" charset="0"/>
              </a:rPr>
              <a:t>during this event.</a:t>
            </a:r>
          </a:p>
        </p:txBody>
      </p:sp>
      <p:sp>
        <p:nvSpPr>
          <p:cNvPr id="29" name="Rectangle 29">
            <a:hlinkClick r:id="rId8"/>
            <a:extLst>
              <a:ext uri="{FF2B5EF4-FFF2-40B4-BE49-F238E27FC236}">
                <a16:creationId xmlns:a16="http://schemas.microsoft.com/office/drawing/2014/main" id="{D4C9202F-D720-45D4-8D0E-BD077C832D34}"/>
              </a:ext>
            </a:extLst>
          </p:cNvPr>
          <p:cNvSpPr/>
          <p:nvPr/>
        </p:nvSpPr>
        <p:spPr bwMode="auto">
          <a:xfrm>
            <a:off x="8642177" y="4294662"/>
            <a:ext cx="3027852" cy="1446763"/>
          </a:xfrm>
          <a:prstGeom prst="rect">
            <a:avLst/>
          </a:prstGeom>
          <a:solidFill>
            <a:schemeClr val="accent1">
              <a:lumMod val="20000"/>
              <a:lumOff val="80000"/>
            </a:schemeClr>
          </a:soli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195072" rIns="243840" bIns="195072" numCol="1" spcCol="0" rtlCol="0" fromWordArt="0" anchor="ctr" anchorCtr="0" forceAA="0" compatLnSpc="1">
            <a:prstTxWarp prst="textNoShape">
              <a:avLst/>
            </a:prstTxWarp>
            <a:noAutofit/>
          </a:bodyPr>
          <a:lstStyle/>
          <a:p>
            <a:pPr marL="0" marR="0" lvl="0" indent="0" algn="ctr" defTabSz="1243234" rtl="0" eaLnBrk="1" fontAlgn="base" latinLnBrk="0" hangingPunct="1">
              <a:lnSpc>
                <a:spcPct val="90000"/>
              </a:lnSpc>
              <a:spcBef>
                <a:spcPct val="0"/>
              </a:spcBef>
              <a:spcAft>
                <a:spcPts val="0"/>
              </a:spcAft>
              <a:buClrTx/>
              <a:buSzTx/>
              <a:buFontTx/>
              <a:buNone/>
              <a:tabLst/>
              <a:defRPr/>
            </a:pPr>
            <a:r>
              <a:rPr kumimoji="0" lang="en-US" sz="2133" b="1" u="none" strike="noStrike" kern="1200" cap="none" spc="0" normalizeH="0" baseline="0" noProof="0" dirty="0">
                <a:ln>
                  <a:noFill/>
                </a:ln>
                <a:solidFill>
                  <a:srgbClr val="232F3E"/>
                </a:solidFill>
                <a:effectLst/>
                <a:uLnTx/>
                <a:uFillTx/>
                <a:latin typeface="Arial"/>
                <a:ea typeface="Segoe UI" pitchFamily="34" charset="0"/>
                <a:cs typeface="Segoe UI" pitchFamily="34" charset="0"/>
                <a:hlinkClick r:id="rId8"/>
              </a:rPr>
              <a:t>AWS Cloud Quest</a:t>
            </a:r>
            <a:endParaRPr kumimoji="0" lang="en-US" sz="2133" b="1" u="none" strike="noStrike" kern="1200" cap="none" spc="0" normalizeH="0" baseline="0" noProof="0" dirty="0">
              <a:ln>
                <a:noFill/>
              </a:ln>
              <a:solidFill>
                <a:srgbClr val="232F3E"/>
              </a:solidFill>
              <a:effectLst/>
              <a:uLnTx/>
              <a:uFillTx/>
              <a:latin typeface="Arial"/>
              <a:ea typeface="Segoe UI" pitchFamily="34" charset="0"/>
              <a:cs typeface="Segoe UI" pitchFamily="34" charset="0"/>
            </a:endParaRPr>
          </a:p>
          <a:p>
            <a:pPr marL="0" marR="0" lvl="0" indent="0" algn="ctr" defTabSz="1243234" rtl="0" eaLnBrk="1" fontAlgn="base" latinLnBrk="0" hangingPunct="1">
              <a:lnSpc>
                <a:spcPct val="90000"/>
              </a:lnSpc>
              <a:spcBef>
                <a:spcPct val="0"/>
              </a:spcBef>
              <a:spcAft>
                <a:spcPts val="0"/>
              </a:spcAft>
              <a:buClrTx/>
              <a:buSzTx/>
              <a:buFontTx/>
              <a:buNone/>
              <a:tabLst/>
              <a:defRPr/>
            </a:pPr>
            <a:r>
              <a:rPr lang="en-US" sz="2133" dirty="0">
                <a:solidFill>
                  <a:srgbClr val="232F3E"/>
                </a:solidFill>
                <a:latin typeface="Arial"/>
                <a:ea typeface="Segoe UI" pitchFamily="34" charset="0"/>
                <a:cs typeface="Segoe UI" pitchFamily="34" charset="0"/>
              </a:rPr>
              <a:t>Recommended for additional lab work</a:t>
            </a:r>
            <a:r>
              <a:rPr kumimoji="0" lang="en-US" sz="2133" u="none" strike="noStrike" kern="1200" cap="none" spc="0" normalizeH="0" baseline="0" noProof="0" dirty="0">
                <a:ln>
                  <a:noFill/>
                </a:ln>
                <a:solidFill>
                  <a:srgbClr val="232F3E"/>
                </a:solidFill>
                <a:effectLst/>
                <a:uLnTx/>
                <a:uFillTx/>
                <a:latin typeface="Arial"/>
                <a:ea typeface="Segoe UI" pitchFamily="34" charset="0"/>
                <a:cs typeface="Segoe UI" pitchFamily="34" charset="0"/>
              </a:rPr>
              <a:t> </a:t>
            </a:r>
          </a:p>
        </p:txBody>
      </p:sp>
      <p:sp>
        <p:nvSpPr>
          <p:cNvPr id="2" name="Arrow: Chevron 1">
            <a:extLst>
              <a:ext uri="{FF2B5EF4-FFF2-40B4-BE49-F238E27FC236}">
                <a16:creationId xmlns:a16="http://schemas.microsoft.com/office/drawing/2014/main" id="{1A83E296-3EBB-4568-8551-D4B32FCAC7F2}"/>
              </a:ext>
            </a:extLst>
          </p:cNvPr>
          <p:cNvSpPr/>
          <p:nvPr/>
        </p:nvSpPr>
        <p:spPr>
          <a:xfrm>
            <a:off x="8076830" y="3084736"/>
            <a:ext cx="374932" cy="1837993"/>
          </a:xfrm>
          <a:prstGeom prst="chevron">
            <a:avLst/>
          </a:prstGeom>
          <a:solidFill>
            <a:srgbClr val="FFEA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51793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52FBA-4EA2-CBFF-E04F-81597109FFCC}"/>
              </a:ext>
            </a:extLst>
          </p:cNvPr>
          <p:cNvSpPr>
            <a:spLocks noGrp="1"/>
          </p:cNvSpPr>
          <p:nvPr>
            <p:ph type="title"/>
          </p:nvPr>
        </p:nvSpPr>
        <p:spPr/>
        <p:txBody>
          <a:bodyPr>
            <a:normAutofit fontScale="90000"/>
          </a:bodyPr>
          <a:lstStyle/>
          <a:p>
            <a:r>
              <a:rPr lang="en-US" sz="3600" dirty="0"/>
              <a:t>Promotional Campaigns available to YOU</a:t>
            </a:r>
          </a:p>
        </p:txBody>
      </p:sp>
      <p:sp>
        <p:nvSpPr>
          <p:cNvPr id="3" name="Content Placeholder 2">
            <a:hlinkClick r:id="rId3"/>
            <a:extLst>
              <a:ext uri="{FF2B5EF4-FFF2-40B4-BE49-F238E27FC236}">
                <a16:creationId xmlns:a16="http://schemas.microsoft.com/office/drawing/2014/main" id="{979B2B33-628A-BA8D-44EE-3C241A8F09E9}"/>
              </a:ext>
            </a:extLst>
          </p:cNvPr>
          <p:cNvSpPr>
            <a:spLocks noGrp="1"/>
          </p:cNvSpPr>
          <p:nvPr>
            <p:ph sz="half" idx="1"/>
          </p:nvPr>
        </p:nvSpPr>
        <p:spPr/>
        <p:txBody>
          <a:bodyPr>
            <a:normAutofit fontScale="62500" lnSpcReduction="20000"/>
          </a:bodyPr>
          <a:lstStyle/>
          <a:p>
            <a:r>
              <a:rPr lang="en-US" sz="3500" b="1" dirty="0"/>
              <a:t>Opportunity to receive exam voucher</a:t>
            </a:r>
          </a:p>
          <a:p>
            <a:pPr>
              <a:spcBef>
                <a:spcPts val="0"/>
              </a:spcBef>
              <a:spcAft>
                <a:spcPts val="0"/>
              </a:spcAft>
            </a:pPr>
            <a:r>
              <a:rPr lang="en-US" dirty="0"/>
              <a:t>Event attendees may receive an exam voucher* if they:</a:t>
            </a:r>
          </a:p>
          <a:p>
            <a:pPr>
              <a:spcBef>
                <a:spcPts val="0"/>
              </a:spcBef>
              <a:spcAft>
                <a:spcPts val="0"/>
              </a:spcAft>
            </a:pPr>
            <a:endParaRPr lang="en-US" dirty="0"/>
          </a:p>
          <a:p>
            <a:pPr marL="342900" lvl="0" indent="-342900">
              <a:spcBef>
                <a:spcPts val="600"/>
              </a:spcBef>
              <a:spcAft>
                <a:spcPts val="600"/>
              </a:spcAft>
              <a:buFont typeface="Arial" panose="020B0604020202020204" pitchFamily="34" charset="0"/>
              <a:buChar char="•"/>
            </a:pPr>
            <a:r>
              <a:rPr lang="en-US" dirty="0"/>
              <a:t>Complete more than 50% of the assigned self-paced digital learning plan by the final week of the Event</a:t>
            </a:r>
          </a:p>
          <a:p>
            <a:pPr marL="342900" lvl="0" indent="-342900">
              <a:spcBef>
                <a:spcPts val="600"/>
              </a:spcBef>
              <a:spcAft>
                <a:spcPts val="600"/>
              </a:spcAft>
              <a:buFont typeface="Arial" panose="020B0604020202020204" pitchFamily="34" charset="0"/>
              <a:buChar char="•"/>
            </a:pPr>
            <a:r>
              <a:rPr lang="en-US" dirty="0"/>
              <a:t>Attend more than one (1) live session of the Event.</a:t>
            </a:r>
          </a:p>
          <a:p>
            <a:pPr marL="342900" lvl="0" indent="-342900">
              <a:spcBef>
                <a:spcPts val="0"/>
              </a:spcBef>
              <a:spcAft>
                <a:spcPts val="0"/>
              </a:spcAft>
              <a:buFont typeface="Arial" panose="020B0604020202020204" pitchFamily="34" charset="0"/>
              <a:buChar char="•"/>
            </a:pPr>
            <a:endParaRPr lang="en-US" dirty="0"/>
          </a:p>
          <a:p>
            <a:pPr>
              <a:spcBef>
                <a:spcPts val="0"/>
              </a:spcBef>
              <a:spcAft>
                <a:spcPts val="0"/>
              </a:spcAft>
            </a:pPr>
            <a:r>
              <a:rPr lang="en-US" dirty="0"/>
              <a:t>*</a:t>
            </a:r>
            <a:r>
              <a:rPr lang="en-US" u="sng" dirty="0">
                <a:hlinkClick r:id="rId3"/>
              </a:rPr>
              <a:t>Terms and conditions</a:t>
            </a:r>
            <a:r>
              <a:rPr lang="en-US" dirty="0"/>
              <a:t> apply, while supplies last.</a:t>
            </a:r>
          </a:p>
          <a:p>
            <a:endParaRPr lang="en-US" dirty="0"/>
          </a:p>
        </p:txBody>
      </p:sp>
      <p:sp>
        <p:nvSpPr>
          <p:cNvPr id="5" name="Text Placeholder 4">
            <a:extLst>
              <a:ext uri="{FF2B5EF4-FFF2-40B4-BE49-F238E27FC236}">
                <a16:creationId xmlns:a16="http://schemas.microsoft.com/office/drawing/2014/main" id="{02ECB1C4-B452-AEAF-A940-BED2CFF65A69}"/>
              </a:ext>
            </a:extLst>
          </p:cNvPr>
          <p:cNvSpPr>
            <a:spLocks noGrp="1"/>
          </p:cNvSpPr>
          <p:nvPr>
            <p:ph type="body" sz="quarter" idx="10"/>
          </p:nvPr>
        </p:nvSpPr>
        <p:spPr>
          <a:xfrm>
            <a:off x="609600" y="1490691"/>
            <a:ext cx="5248274" cy="341632"/>
          </a:xfrm>
        </p:spPr>
        <p:txBody>
          <a:bodyPr/>
          <a:lstStyle/>
          <a:p>
            <a:r>
              <a:rPr lang="en-US" dirty="0"/>
              <a:t>Exam Vouchers</a:t>
            </a:r>
          </a:p>
        </p:txBody>
      </p:sp>
      <p:sp>
        <p:nvSpPr>
          <p:cNvPr id="6" name="Slide Number Placeholder 5">
            <a:extLst>
              <a:ext uri="{FF2B5EF4-FFF2-40B4-BE49-F238E27FC236}">
                <a16:creationId xmlns:a16="http://schemas.microsoft.com/office/drawing/2014/main" id="{5654A696-54E7-B4F3-4C34-94C895E455CF}"/>
              </a:ext>
            </a:extLst>
          </p:cNvPr>
          <p:cNvSpPr>
            <a:spLocks noGrp="1"/>
          </p:cNvSpPr>
          <p:nvPr>
            <p:ph type="sldNum" sz="quarter" idx="13"/>
          </p:nvPr>
        </p:nvSpPr>
        <p:spPr/>
        <p:txBody>
          <a:bodyPr/>
          <a:lstStyle/>
          <a:p>
            <a:fld id="{EB4B8DE2-A4E8-46E4-8BBF-D75455EFF32C}" type="slidenum">
              <a:rPr lang="en-US" smtClean="0"/>
              <a:pPr/>
              <a:t>10</a:t>
            </a:fld>
            <a:endParaRPr lang="en-US" dirty="0"/>
          </a:p>
        </p:txBody>
      </p:sp>
    </p:spTree>
    <p:extLst>
      <p:ext uri="{BB962C8B-B14F-4D97-AF65-F5344CB8AC3E}">
        <p14:creationId xmlns:p14="http://schemas.microsoft.com/office/powerpoint/2010/main" val="572867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893582-818F-47D5-9379-FDB9CB2ED7B3}"/>
              </a:ext>
            </a:extLst>
          </p:cNvPr>
          <p:cNvSpPr>
            <a:spLocks noGrp="1"/>
          </p:cNvSpPr>
          <p:nvPr>
            <p:ph type="title" idx="1"/>
          </p:nvPr>
        </p:nvSpPr>
        <p:spPr/>
        <p:txBody>
          <a:bodyPr/>
          <a:lstStyle/>
          <a:p>
            <a:r>
              <a:rPr lang="en-US" altLang="en-US" sz="4000" b="1" dirty="0"/>
              <a:t>Week 1 Digital Training Curriculum</a:t>
            </a:r>
            <a:endParaRPr lang="en-US" sz="4000" dirty="0"/>
          </a:p>
        </p:txBody>
      </p:sp>
      <p:sp>
        <p:nvSpPr>
          <p:cNvPr id="5" name="Content Placeholder 4">
            <a:extLst>
              <a:ext uri="{FF2B5EF4-FFF2-40B4-BE49-F238E27FC236}">
                <a16:creationId xmlns:a16="http://schemas.microsoft.com/office/drawing/2014/main" id="{FA6C4012-8CE9-44D5-9FBC-2777F6C9D673}"/>
              </a:ext>
            </a:extLst>
          </p:cNvPr>
          <p:cNvSpPr>
            <a:spLocks noGrp="1"/>
          </p:cNvSpPr>
          <p:nvPr>
            <p:ph idx="2"/>
          </p:nvPr>
        </p:nvSpPr>
        <p:spPr/>
        <p:txBody>
          <a:bodyPr/>
          <a:lstStyle/>
          <a:p>
            <a:pPr marL="0" indent="0">
              <a:buNone/>
            </a:pPr>
            <a:r>
              <a:rPr lang="en-US" sz="2000" dirty="0">
                <a:solidFill>
                  <a:srgbClr val="197956"/>
                </a:solidFill>
                <a:latin typeface="Amazon Ember" panose="020B0603020204020204" pitchFamily="34" charset="0"/>
                <a:ea typeface="Amazon Ember" panose="020B0603020204020204" pitchFamily="34" charset="0"/>
                <a:cs typeface="Amazon Ember" panose="020B0603020204020204" pitchFamily="34" charset="0"/>
              </a:rPr>
              <a:t>Progress check and reminder! Do your best to complete this week’s training content</a:t>
            </a:r>
            <a:endParaRPr lang="en-US" sz="2000" b="1" i="1" dirty="0">
              <a:solidFill>
                <a:srgbClr val="197956"/>
              </a:solidFill>
              <a:latin typeface="Amazon Ember" panose="020B0603020204020204" pitchFamily="34" charset="0"/>
              <a:ea typeface="Amazon Ember" panose="020B0603020204020204" pitchFamily="34" charset="0"/>
              <a:cs typeface="Amazon Ember" panose="020B0603020204020204" pitchFamily="34" charset="0"/>
            </a:endParaRPr>
          </a:p>
          <a:p>
            <a:pPr marL="0" indent="0">
              <a:buNone/>
            </a:pPr>
            <a:endParaRPr lang="en-US" sz="2000" dirty="0">
              <a:solidFill>
                <a:srgbClr val="197956"/>
              </a:solidFill>
            </a:endParaRPr>
          </a:p>
        </p:txBody>
      </p:sp>
      <p:graphicFrame>
        <p:nvGraphicFramePr>
          <p:cNvPr id="2" name="Table 1">
            <a:extLst>
              <a:ext uri="{FF2B5EF4-FFF2-40B4-BE49-F238E27FC236}">
                <a16:creationId xmlns:a16="http://schemas.microsoft.com/office/drawing/2014/main" id="{81F41246-E168-A5DE-9B51-2500A6F58F90}"/>
              </a:ext>
            </a:extLst>
          </p:cNvPr>
          <p:cNvGraphicFramePr>
            <a:graphicFrameLocks noGrp="1"/>
          </p:cNvGraphicFramePr>
          <p:nvPr>
            <p:extLst>
              <p:ext uri="{D42A27DB-BD31-4B8C-83A1-F6EECF244321}">
                <p14:modId xmlns:p14="http://schemas.microsoft.com/office/powerpoint/2010/main" val="4046227927"/>
              </p:ext>
            </p:extLst>
          </p:nvPr>
        </p:nvGraphicFramePr>
        <p:xfrm>
          <a:off x="385683" y="1725144"/>
          <a:ext cx="4918973" cy="1781949"/>
        </p:xfrm>
        <a:graphic>
          <a:graphicData uri="http://schemas.openxmlformats.org/drawingml/2006/table">
            <a:tbl>
              <a:tblPr firstRow="1" bandRow="1">
                <a:tableStyleId>{69012ECD-51FC-41F1-AA8D-1B2483CD663E}</a:tableStyleId>
              </a:tblPr>
              <a:tblGrid>
                <a:gridCol w="4918973">
                  <a:extLst>
                    <a:ext uri="{9D8B030D-6E8A-4147-A177-3AD203B41FA5}">
                      <a16:colId xmlns:a16="http://schemas.microsoft.com/office/drawing/2014/main" val="132485867"/>
                    </a:ext>
                  </a:extLst>
                </a:gridCol>
              </a:tblGrid>
              <a:tr h="410349">
                <a:tc>
                  <a:txBody>
                    <a:bodyPr/>
                    <a:lstStyle/>
                    <a:p>
                      <a:pPr marL="0" marR="0" algn="l">
                        <a:lnSpc>
                          <a:spcPct val="107000"/>
                        </a:lnSpc>
                        <a:spcBef>
                          <a:spcPts val="0"/>
                        </a:spcBef>
                        <a:spcAft>
                          <a:spcPts val="0"/>
                        </a:spcAft>
                      </a:pPr>
                      <a:r>
                        <a:rPr lang="en-US" sz="1600" dirty="0">
                          <a:effectLst/>
                          <a:latin typeface="Amazon Ember" panose="020B0603020204020204" pitchFamily="34" charset="0"/>
                          <a:ea typeface="Amazon Ember" panose="020B0603020204020204" pitchFamily="34" charset="0"/>
                          <a:cs typeface="Amazon Ember" panose="020B0603020204020204" pitchFamily="34" charset="0"/>
                        </a:rPr>
                        <a:t>AWS Skill Builder Learning Plan Courses</a:t>
                      </a:r>
                      <a:endParaRPr lang="en-US" sz="16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lnL w="6350" cap="flat" cmpd="sng" algn="ctr">
                      <a:noFill/>
                      <a:prstDash val="solid"/>
                      <a:miter lim="800000"/>
                    </a:lnL>
                    <a:lnR w="12700" cap="flat" cmpd="sng" algn="ctr">
                      <a:solidFill>
                        <a:schemeClr val="bg1"/>
                      </a:solidFill>
                      <a:prstDash val="solid"/>
                      <a:round/>
                      <a:headEnd type="none" w="med" len="med"/>
                      <a:tailEnd type="none" w="med" len="med"/>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80385000"/>
                  </a:ext>
                </a:extLst>
              </a:tr>
              <a:tr h="457200">
                <a:tc>
                  <a:txBody>
                    <a:bodyPr/>
                    <a:lstStyle/>
                    <a:p>
                      <a:pPr algn="l"/>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AWS Technical Essentials</a:t>
                      </a:r>
                    </a:p>
                  </a:txBody>
                  <a:tcPr anchor="ctr">
                    <a:lnL w="6350" cap="flat" cmpd="sng" algn="ctr">
                      <a:noFill/>
                      <a:prstDash val="solid"/>
                      <a:miter lim="800000"/>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65484683"/>
                  </a:ext>
                </a:extLst>
              </a:tr>
              <a:tr h="457200">
                <a:tc>
                  <a:txBody>
                    <a:bodyPr/>
                    <a:lstStyle/>
                    <a:p>
                      <a:pPr algn="l"/>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AWS Compute Services Overview</a:t>
                      </a:r>
                    </a:p>
                  </a:txBody>
                  <a:tcPr anchor="ctr">
                    <a:lnL w="6350" cap="flat" cmpd="sng" algn="ctr">
                      <a:noFill/>
                      <a:prstDash val="solid"/>
                      <a:miter lim="800000"/>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503672984"/>
                  </a:ext>
                </a:extLst>
              </a:tr>
              <a:tr h="457200">
                <a:tc>
                  <a:txBody>
                    <a:bodyPr/>
                    <a:lstStyle/>
                    <a:p>
                      <a:pPr algn="l"/>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Build with Amazon EC2</a:t>
                      </a:r>
                    </a:p>
                  </a:txBody>
                  <a:tcPr anchor="ctr">
                    <a:lnL w="6350" cap="flat" cmpd="sng" algn="ctr">
                      <a:noFill/>
                      <a:prstDash val="solid"/>
                      <a:miter lim="800000"/>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141789639"/>
                  </a:ext>
                </a:extLst>
              </a:tr>
            </a:tbl>
          </a:graphicData>
        </a:graphic>
      </p:graphicFrame>
      <p:graphicFrame>
        <p:nvGraphicFramePr>
          <p:cNvPr id="4" name="Table 3">
            <a:extLst>
              <a:ext uri="{FF2B5EF4-FFF2-40B4-BE49-F238E27FC236}">
                <a16:creationId xmlns:a16="http://schemas.microsoft.com/office/drawing/2014/main" id="{59F20176-416D-F746-4CA9-120077E07E52}"/>
              </a:ext>
            </a:extLst>
          </p:cNvPr>
          <p:cNvGraphicFramePr>
            <a:graphicFrameLocks noGrp="1"/>
          </p:cNvGraphicFramePr>
          <p:nvPr>
            <p:extLst>
              <p:ext uri="{D42A27DB-BD31-4B8C-83A1-F6EECF244321}">
                <p14:modId xmlns:p14="http://schemas.microsoft.com/office/powerpoint/2010/main" val="415555144"/>
              </p:ext>
            </p:extLst>
          </p:nvPr>
        </p:nvGraphicFramePr>
        <p:xfrm>
          <a:off x="5838529" y="1725144"/>
          <a:ext cx="5987711" cy="2506476"/>
        </p:xfrm>
        <a:graphic>
          <a:graphicData uri="http://schemas.openxmlformats.org/drawingml/2006/table">
            <a:tbl>
              <a:tblPr firstRow="1" firstCol="1" bandRow="1">
                <a:tableStyleId>{69012ECD-51FC-41F1-AA8D-1B2483CD663E}</a:tableStyleId>
              </a:tblPr>
              <a:tblGrid>
                <a:gridCol w="5987711">
                  <a:extLst>
                    <a:ext uri="{9D8B030D-6E8A-4147-A177-3AD203B41FA5}">
                      <a16:colId xmlns:a16="http://schemas.microsoft.com/office/drawing/2014/main" val="3731948901"/>
                    </a:ext>
                  </a:extLst>
                </a:gridCol>
              </a:tblGrid>
              <a:tr h="417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Exam Prep Plan (Optional)</a:t>
                      </a:r>
                      <a:endParaRPr lang="en-US" sz="16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343449024"/>
                  </a:ext>
                </a:extLst>
              </a:tr>
              <a:tr h="417746">
                <a:tc>
                  <a:txBody>
                    <a:bodyPr/>
                    <a:lstStyle/>
                    <a:p>
                      <a:pPr algn="l"/>
                      <a:r>
                        <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Start: </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AWS Cloud Quest: Serverless Developer*</a:t>
                      </a:r>
                    </a:p>
                  </a:txBody>
                  <a:tcPr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307264502"/>
                  </a:ext>
                </a:extLst>
              </a:tr>
              <a:tr h="417746">
                <a:tc>
                  <a:txBody>
                    <a:bodyPr/>
                    <a:lstStyle/>
                    <a:p>
                      <a:pPr algn="l"/>
                      <a:r>
                        <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Review: </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Exam Prep </a:t>
                      </a:r>
                      <a:r>
                        <a:rPr lang="en-US" sz="1600" b="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Plan Overview</a:t>
                      </a:r>
                      <a:endPar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748349021"/>
                  </a:ext>
                </a:extLst>
              </a:tr>
              <a:tr h="417746">
                <a:tc>
                  <a:txBody>
                    <a:bodyPr/>
                    <a:lstStyle/>
                    <a:p>
                      <a:pPr algn="l"/>
                      <a:r>
                        <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Complete: </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Domain 1 Review</a:t>
                      </a:r>
                    </a:p>
                  </a:txBody>
                  <a:tcPr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11387598"/>
                  </a:ext>
                </a:extLst>
              </a:tr>
              <a:tr h="417746">
                <a:tc>
                  <a:txBody>
                    <a:bodyPr/>
                    <a:lstStyle/>
                    <a:p>
                      <a:pPr algn="l"/>
                      <a:r>
                        <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Complete: </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Domain 1 Practice*</a:t>
                      </a:r>
                    </a:p>
                  </a:txBody>
                  <a:tcPr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07752265"/>
                  </a:ext>
                </a:extLst>
              </a:tr>
              <a:tr h="417746">
                <a:tc>
                  <a:txBody>
                    <a:bodyPr/>
                    <a:lstStyle/>
                    <a:p>
                      <a:pPr algn="l"/>
                      <a:r>
                        <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Complete:</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Domain 1 Practice: AWS </a:t>
                      </a:r>
                      <a:r>
                        <a:rPr lang="en-US" sz="1600" b="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Simulearn</a:t>
                      </a:r>
                      <a:r>
                        <a:rPr lang="en-US" sz="1600" b="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endParaRPr lang="en-US" sz="1600" b="1"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18021457"/>
                  </a:ext>
                </a:extLst>
              </a:tr>
            </a:tbl>
          </a:graphicData>
        </a:graphic>
      </p:graphicFrame>
      <p:sp>
        <p:nvSpPr>
          <p:cNvPr id="7" name="TextBox 6">
            <a:extLst>
              <a:ext uri="{FF2B5EF4-FFF2-40B4-BE49-F238E27FC236}">
                <a16:creationId xmlns:a16="http://schemas.microsoft.com/office/drawing/2014/main" id="{2A13AA8D-F164-BCC8-FF56-950DC8E6D917}"/>
              </a:ext>
            </a:extLst>
          </p:cNvPr>
          <p:cNvSpPr txBox="1"/>
          <p:nvPr/>
        </p:nvSpPr>
        <p:spPr>
          <a:xfrm>
            <a:off x="5989689" y="5854799"/>
            <a:ext cx="5836551" cy="369332"/>
          </a:xfrm>
          <a:prstGeom prst="rect">
            <a:avLst/>
          </a:prstGeom>
          <a:solidFill>
            <a:schemeClr val="accent5">
              <a:lumMod val="90000"/>
            </a:schemeClr>
          </a:solidFill>
        </p:spPr>
        <p:txBody>
          <a:bodyPr wrap="square">
            <a:spAutoFit/>
          </a:bodyPr>
          <a:lstStyle/>
          <a:p>
            <a:r>
              <a:rPr lang="en-US" dirty="0"/>
              <a:t>* Requires AWS Skill Builder Subscription</a:t>
            </a:r>
          </a:p>
        </p:txBody>
      </p:sp>
    </p:spTree>
    <p:extLst>
      <p:ext uri="{BB962C8B-B14F-4D97-AF65-F5344CB8AC3E}">
        <p14:creationId xmlns:p14="http://schemas.microsoft.com/office/powerpoint/2010/main" val="316258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379D-F20D-4AC2-A222-0AB03109A4C1}"/>
              </a:ext>
            </a:extLst>
          </p:cNvPr>
          <p:cNvSpPr>
            <a:spLocks noGrp="1"/>
          </p:cNvSpPr>
          <p:nvPr>
            <p:ph type="title"/>
          </p:nvPr>
        </p:nvSpPr>
        <p:spPr/>
        <p:txBody>
          <a:bodyPr/>
          <a:lstStyle/>
          <a:p>
            <a:r>
              <a:rPr lang="en-US" sz="4800" dirty="0">
                <a:latin typeface="Amazon Ember Heavy" panose="020B0603020204020204" pitchFamily="34" charset="0"/>
                <a:ea typeface="Amazon Ember Heavy" panose="020B0603020204020204" pitchFamily="34" charset="0"/>
                <a:cs typeface="Amazon Ember Heavy" panose="020B0603020204020204" pitchFamily="34" charset="0"/>
              </a:rPr>
              <a:t>Exam Experience &amp; Contents</a:t>
            </a:r>
          </a:p>
        </p:txBody>
      </p:sp>
      <p:sp>
        <p:nvSpPr>
          <p:cNvPr id="3" name="Text Placeholder 2">
            <a:extLst>
              <a:ext uri="{FF2B5EF4-FFF2-40B4-BE49-F238E27FC236}">
                <a16:creationId xmlns:a16="http://schemas.microsoft.com/office/drawing/2014/main" id="{3A52D9FA-5199-45F0-8BB5-DCEF4E04768F}"/>
              </a:ext>
            </a:extLst>
          </p:cNvPr>
          <p:cNvSpPr>
            <a:spLocks noGrp="1"/>
          </p:cNvSpPr>
          <p:nvPr>
            <p:ph type="body" sz="quarter" idx="11"/>
          </p:nvPr>
        </p:nvSpPr>
        <p:spPr>
          <a:xfrm>
            <a:off x="322915" y="2434551"/>
            <a:ext cx="6354975" cy="663771"/>
          </a:xfrm>
        </p:spPr>
        <p:txBody>
          <a:bodyPr/>
          <a:lstStyle/>
          <a:p>
            <a:r>
              <a:rPr lang="en-US" dirty="0"/>
              <a:t>Developer - associate</a:t>
            </a:r>
          </a:p>
          <a:p>
            <a:endParaRPr lang="en-US" dirty="0"/>
          </a:p>
        </p:txBody>
      </p:sp>
    </p:spTree>
    <p:extLst>
      <p:ext uri="{BB962C8B-B14F-4D97-AF65-F5344CB8AC3E}">
        <p14:creationId xmlns:p14="http://schemas.microsoft.com/office/powerpoint/2010/main" val="266180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256579A-A274-45B1-83BA-26AB421E596B}"/>
              </a:ext>
            </a:extLst>
          </p:cNvPr>
          <p:cNvSpPr txBox="1">
            <a:spLocks/>
          </p:cNvSpPr>
          <p:nvPr/>
        </p:nvSpPr>
        <p:spPr>
          <a:xfrm>
            <a:off x="304801" y="364524"/>
            <a:ext cx="11582400" cy="638175"/>
          </a:xfrm>
          <a:prstGeom prst="rect">
            <a:avLst/>
          </a:prstGeom>
        </p:spPr>
        <p:txBody>
          <a:bodyPr/>
          <a:lst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4000" dirty="0">
                <a:latin typeface="Amazon Ember Heavy" panose="020B0603020204020204" pitchFamily="34" charset="0"/>
                <a:ea typeface="Amazon Ember Heavy" panose="020B0603020204020204" pitchFamily="34" charset="0"/>
                <a:cs typeface="Amazon Ember Heavy" panose="020B0603020204020204" pitchFamily="34" charset="0"/>
              </a:rPr>
              <a:t>Taking the exam</a:t>
            </a:r>
          </a:p>
        </p:txBody>
      </p:sp>
      <p:sp>
        <p:nvSpPr>
          <p:cNvPr id="13" name="Content Placeholder 2">
            <a:extLst>
              <a:ext uri="{FF2B5EF4-FFF2-40B4-BE49-F238E27FC236}">
                <a16:creationId xmlns:a16="http://schemas.microsoft.com/office/drawing/2014/main" id="{D13EA45C-DD3A-40FF-A41E-2686E7AD1D54}"/>
              </a:ext>
            </a:extLst>
          </p:cNvPr>
          <p:cNvSpPr txBox="1">
            <a:spLocks/>
          </p:cNvSpPr>
          <p:nvPr/>
        </p:nvSpPr>
        <p:spPr>
          <a:xfrm>
            <a:off x="304801" y="1300838"/>
            <a:ext cx="7289179" cy="4729843"/>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400" b="1" i="0" kern="1200">
                <a:solidFill>
                  <a:srgbClr val="232F3E"/>
                </a:solidFill>
                <a:latin typeface="Amazon Ember Display Heavy"/>
                <a:ea typeface="Amazon Ember Display" panose="020F0603020204020204" pitchFamily="34" charset="0"/>
                <a:cs typeface="Amazon Ember Display" panose="020F0603020204020204" pitchFamily="34" charset="0"/>
              </a:defRPr>
            </a:lvl1pPr>
          </a:lstStyle>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130 minutes in duration</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65 Questions (50 Scored questions)</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Scored from 100 to 1,000 (720+ to Pass)</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Multiple choice: one correct response of four</a:t>
            </a:r>
          </a:p>
          <a:p>
            <a:pPr marL="685800" lvl="1" indent="-457200">
              <a:lnSpc>
                <a:spcPct val="120000"/>
              </a:lnSpc>
              <a:buFont typeface="Arial" panose="020B0604020202020204" pitchFamily="34" charset="0"/>
              <a:buChar char="•"/>
            </a:pPr>
            <a:r>
              <a:rPr lang="en-US" sz="2400"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Multiple response: two or more correct of five or more</a:t>
            </a:r>
          </a:p>
          <a:p>
            <a:pPr marL="685800" lvl="1" indent="-457200">
              <a:lnSpc>
                <a:spcPct val="120000"/>
              </a:lnSpc>
              <a:buFont typeface="Arial" panose="020B0604020202020204" pitchFamily="34" charset="0"/>
              <a:buChar char="•"/>
            </a:pPr>
            <a:r>
              <a:rPr lang="en-US" sz="2400"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No </a:t>
            </a:r>
            <a:r>
              <a:rPr lang="en-US" sz="2400" b="1"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Negative</a:t>
            </a:r>
            <a:r>
              <a:rPr lang="en-US" sz="2400"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 points or </a:t>
            </a:r>
            <a:r>
              <a:rPr lang="en-US" sz="2400" b="1"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Partial </a:t>
            </a:r>
            <a:r>
              <a:rPr lang="en-US" sz="2400" kern="0" dirty="0">
                <a:solidFill>
                  <a:sysClr val="windowText" lastClr="000000"/>
                </a:solidFill>
                <a:latin typeface="Amazon Ember Display" panose="020F0603020204020204" pitchFamily="34" charset="0"/>
                <a:ea typeface="Amazon Ember Display" panose="020F0603020204020204" pitchFamily="34" charset="0"/>
                <a:cs typeface="Amazon Ember Display" panose="020F0603020204020204" pitchFamily="34" charset="0"/>
              </a:rPr>
              <a:t>credit</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In-Person and Remote options available</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Live proctor during exam</a:t>
            </a:r>
          </a:p>
          <a:p>
            <a:pPr marL="457200" indent="-457200">
              <a:lnSpc>
                <a:spcPct val="120000"/>
              </a:lnSpc>
              <a:buFont typeface="Arial" panose="020B0604020202020204" pitchFamily="34" charset="0"/>
              <a:buChar char="•"/>
            </a:pPr>
            <a:r>
              <a:rPr lang="en-US" sz="2400" b="0" dirty="0">
                <a:latin typeface="Amazon Ember Display" panose="020F0603020204020204" pitchFamily="34" charset="0"/>
              </a:rPr>
              <a:t>$150 USD</a:t>
            </a:r>
          </a:p>
        </p:txBody>
      </p:sp>
      <p:pic>
        <p:nvPicPr>
          <p:cNvPr id="14" name="Picture 13" descr="APCR-Octopus-crop.png"/>
          <p:cNvPicPr>
            <a:picLocks noChangeAspect="1"/>
          </p:cNvPicPr>
          <p:nvPr/>
        </p:nvPicPr>
        <p:blipFill>
          <a:blip r:embed="rId3"/>
          <a:stretch>
            <a:fillRect/>
          </a:stretch>
        </p:blipFill>
        <p:spPr>
          <a:xfrm>
            <a:off x="8157117" y="2425267"/>
            <a:ext cx="3730081" cy="2098171"/>
          </a:xfrm>
          <a:prstGeom prst="rect">
            <a:avLst/>
          </a:prstGeom>
        </p:spPr>
      </p:pic>
    </p:spTree>
    <p:extLst>
      <p:ext uri="{BB962C8B-B14F-4D97-AF65-F5344CB8AC3E}">
        <p14:creationId xmlns:p14="http://schemas.microsoft.com/office/powerpoint/2010/main" val="420159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6928-CCC4-43D8-9505-C32FAAB5DC39}"/>
              </a:ext>
            </a:extLst>
          </p:cNvPr>
          <p:cNvSpPr>
            <a:spLocks noGrp="1"/>
          </p:cNvSpPr>
          <p:nvPr>
            <p:ph type="title" idx="1"/>
          </p:nvPr>
        </p:nvSpPr>
        <p:spPr/>
        <p:txBody>
          <a:bodyPr/>
          <a:lstStyle/>
          <a:p>
            <a:r>
              <a:rPr lang="en-US" sz="4000" dirty="0"/>
              <a:t>AWS Certified - Associate Exam Domains</a:t>
            </a:r>
          </a:p>
        </p:txBody>
      </p:sp>
      <p:sp>
        <p:nvSpPr>
          <p:cNvPr id="3" name="Text Placeholder 2">
            <a:hlinkClick r:id="rId3"/>
            <a:extLst>
              <a:ext uri="{FF2B5EF4-FFF2-40B4-BE49-F238E27FC236}">
                <a16:creationId xmlns:a16="http://schemas.microsoft.com/office/drawing/2014/main" id="{81AFD319-B5FE-4DB1-994D-FD421E87A440}"/>
              </a:ext>
            </a:extLst>
          </p:cNvPr>
          <p:cNvSpPr>
            <a:spLocks noGrp="1"/>
          </p:cNvSpPr>
          <p:nvPr>
            <p:ph idx="2"/>
          </p:nvPr>
        </p:nvSpPr>
        <p:spPr/>
        <p:txBody>
          <a:bodyPr/>
          <a:lstStyle/>
          <a:p>
            <a:pPr marL="0" indent="0">
              <a:buNone/>
            </a:pPr>
            <a:r>
              <a:rPr lang="en-US" sz="2000" dirty="0">
                <a:solidFill>
                  <a:schemeClr val="accent6">
                    <a:lumMod val="25000"/>
                  </a:schemeClr>
                </a:solidFill>
              </a:rPr>
              <a:t>DVA-C02 is in use until November 30, 2026  ·  DVA-C03 begins December 1, 2026</a:t>
            </a:r>
          </a:p>
        </p:txBody>
      </p:sp>
      <p:pic>
        <p:nvPicPr>
          <p:cNvPr id="7" name="Picture 6" descr="APCR-Octopus-crop.png"/>
          <p:cNvPicPr>
            <a:picLocks noChangeAspect="1"/>
          </p:cNvPicPr>
          <p:nvPr/>
        </p:nvPicPr>
        <p:blipFill>
          <a:blip r:embed="rId4"/>
          <a:stretch>
            <a:fillRect/>
          </a:stretch>
        </p:blipFill>
        <p:spPr>
          <a:xfrm>
            <a:off x="9154437" y="4123148"/>
            <a:ext cx="2732762" cy="1537179"/>
          </a:xfrm>
          <a:prstGeom prst="rect">
            <a:avLst/>
          </a:prstGeom>
        </p:spPr>
      </p:pic>
      <p:sp>
        <p:nvSpPr>
          <p:cNvPr id="8" name="Rectangle 7"/>
          <p:cNvSpPr/>
          <p:nvPr/>
        </p:nvSpPr>
        <p:spPr>
          <a:xfrm>
            <a:off x="410565" y="1780336"/>
            <a:ext cx="8503920" cy="56692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6325" y="1780336"/>
            <a:ext cx="5486400" cy="566928"/>
          </a:xfrm>
          <a:prstGeom prst="rect">
            <a:avLst/>
          </a:prstGeom>
          <a:noFill/>
        </p:spPr>
        <p:txBody>
          <a:bodyPr wrap="none" anchor="ctr">
            <a:noAutofit/>
          </a:bodyPr>
          <a:lstStyle/>
          <a:p>
            <a:pPr algn="l"/>
            <a:r>
              <a:rPr sz="1800" b="1">
                <a:solidFill>
                  <a:srgbClr val="FFFFFF"/>
                </a:solidFill>
                <a:latin typeface="Amazon Ember"/>
              </a:rPr>
              <a:t>DOMAIN</a:t>
            </a:r>
          </a:p>
        </p:txBody>
      </p:sp>
      <p:sp>
        <p:nvSpPr>
          <p:cNvPr id="10" name="TextBox 9"/>
          <p:cNvSpPr txBox="1"/>
          <p:nvPr/>
        </p:nvSpPr>
        <p:spPr>
          <a:xfrm>
            <a:off x="6262725" y="1780336"/>
            <a:ext cx="1325880" cy="566928"/>
          </a:xfrm>
          <a:prstGeom prst="rect">
            <a:avLst/>
          </a:prstGeom>
          <a:noFill/>
        </p:spPr>
        <p:txBody>
          <a:bodyPr wrap="none" anchor="ctr">
            <a:noAutofit/>
          </a:bodyPr>
          <a:lstStyle/>
          <a:p>
            <a:pPr algn="ctr"/>
            <a:r>
              <a:rPr sz="1800" b="1">
                <a:solidFill>
                  <a:srgbClr val="FFFFFF"/>
                </a:solidFill>
                <a:latin typeface="Amazon Ember"/>
              </a:rPr>
              <a:t>DVA-C02</a:t>
            </a:r>
          </a:p>
        </p:txBody>
      </p:sp>
      <p:sp>
        <p:nvSpPr>
          <p:cNvPr id="11" name="TextBox 10"/>
          <p:cNvSpPr txBox="1"/>
          <p:nvPr/>
        </p:nvSpPr>
        <p:spPr>
          <a:xfrm>
            <a:off x="7588605" y="1780336"/>
            <a:ext cx="1325880" cy="566928"/>
          </a:xfrm>
          <a:prstGeom prst="rect">
            <a:avLst/>
          </a:prstGeom>
          <a:noFill/>
        </p:spPr>
        <p:txBody>
          <a:bodyPr wrap="none" anchor="ctr">
            <a:noAutofit/>
          </a:bodyPr>
          <a:lstStyle/>
          <a:p>
            <a:pPr algn="ctr"/>
            <a:r>
              <a:rPr sz="1800" b="1">
                <a:solidFill>
                  <a:srgbClr val="FFFFFF"/>
                </a:solidFill>
                <a:latin typeface="Amazon Ember"/>
              </a:rPr>
              <a:t>DVA-C03</a:t>
            </a:r>
          </a:p>
        </p:txBody>
      </p:sp>
      <p:sp>
        <p:nvSpPr>
          <p:cNvPr id="12" name="Rectangle 11"/>
          <p:cNvSpPr/>
          <p:nvPr/>
        </p:nvSpPr>
        <p:spPr>
          <a:xfrm>
            <a:off x="410565" y="2347264"/>
            <a:ext cx="8503920" cy="648081"/>
          </a:xfrm>
          <a:prstGeom prst="rect">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0565" y="2347264"/>
            <a:ext cx="365760" cy="648081"/>
          </a:xfrm>
          <a:prstGeom prst="rect">
            <a:avLst/>
          </a:prstGeom>
          <a:noFill/>
        </p:spPr>
        <p:txBody>
          <a:bodyPr wrap="none" anchor="ctr">
            <a:noAutofit/>
          </a:bodyPr>
          <a:lstStyle/>
          <a:p>
            <a:pPr algn="ctr"/>
            <a:r>
              <a:rPr sz="2000" b="1">
                <a:solidFill>
                  <a:srgbClr val="232B37"/>
                </a:solidFill>
                <a:latin typeface="Amazon Ember"/>
              </a:rPr>
              <a:t>1</a:t>
            </a:r>
          </a:p>
        </p:txBody>
      </p:sp>
      <p:sp>
        <p:nvSpPr>
          <p:cNvPr id="14" name="TextBox 13"/>
          <p:cNvSpPr txBox="1"/>
          <p:nvPr/>
        </p:nvSpPr>
        <p:spPr>
          <a:xfrm>
            <a:off x="776325" y="2347264"/>
            <a:ext cx="5486400" cy="648081"/>
          </a:xfrm>
          <a:prstGeom prst="rect">
            <a:avLst/>
          </a:prstGeom>
          <a:noFill/>
        </p:spPr>
        <p:txBody>
          <a:bodyPr wrap="none" anchor="ctr">
            <a:noAutofit/>
          </a:bodyPr>
          <a:lstStyle/>
          <a:p>
            <a:pPr algn="l"/>
            <a:r>
              <a:rPr sz="2000" b="0">
                <a:solidFill>
                  <a:srgbClr val="232B37"/>
                </a:solidFill>
                <a:latin typeface="Amazon Ember"/>
              </a:rPr>
              <a:t>Development with AWS Services</a:t>
            </a:r>
          </a:p>
        </p:txBody>
      </p:sp>
      <p:sp>
        <p:nvSpPr>
          <p:cNvPr id="15" name="TextBox 14"/>
          <p:cNvSpPr txBox="1"/>
          <p:nvPr/>
        </p:nvSpPr>
        <p:spPr>
          <a:xfrm>
            <a:off x="6262725" y="2347264"/>
            <a:ext cx="1325880" cy="648081"/>
          </a:xfrm>
          <a:prstGeom prst="rect">
            <a:avLst/>
          </a:prstGeom>
          <a:noFill/>
        </p:spPr>
        <p:txBody>
          <a:bodyPr wrap="none" anchor="ctr">
            <a:noAutofit/>
          </a:bodyPr>
          <a:lstStyle/>
          <a:p>
            <a:pPr algn="ctr"/>
            <a:r>
              <a:rPr sz="2000" b="1">
                <a:solidFill>
                  <a:srgbClr val="232B37"/>
                </a:solidFill>
                <a:latin typeface="Amazon Ember"/>
              </a:rPr>
              <a:t>32%</a:t>
            </a:r>
          </a:p>
        </p:txBody>
      </p:sp>
      <p:sp>
        <p:nvSpPr>
          <p:cNvPr id="16" name="TextBox 15"/>
          <p:cNvSpPr txBox="1"/>
          <p:nvPr/>
        </p:nvSpPr>
        <p:spPr>
          <a:xfrm>
            <a:off x="7588605" y="2347264"/>
            <a:ext cx="1325880" cy="648081"/>
          </a:xfrm>
          <a:prstGeom prst="rect">
            <a:avLst/>
          </a:prstGeom>
          <a:noFill/>
        </p:spPr>
        <p:txBody>
          <a:bodyPr wrap="none" anchor="ctr">
            <a:noAutofit/>
          </a:bodyPr>
          <a:lstStyle/>
          <a:p>
            <a:pPr algn="ctr"/>
            <a:r>
              <a:rPr sz="2000" b="1">
                <a:solidFill>
                  <a:srgbClr val="8F0072"/>
                </a:solidFill>
                <a:latin typeface="Amazon Ember"/>
              </a:rPr>
              <a:t>30%</a:t>
            </a:r>
          </a:p>
        </p:txBody>
      </p:sp>
      <p:sp>
        <p:nvSpPr>
          <p:cNvPr id="17" name="Rectangle 16"/>
          <p:cNvSpPr/>
          <p:nvPr/>
        </p:nvSpPr>
        <p:spPr>
          <a:xfrm>
            <a:off x="410565" y="2995345"/>
            <a:ext cx="8503920" cy="6480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10565" y="2995345"/>
            <a:ext cx="365760" cy="648081"/>
          </a:xfrm>
          <a:prstGeom prst="rect">
            <a:avLst/>
          </a:prstGeom>
          <a:noFill/>
        </p:spPr>
        <p:txBody>
          <a:bodyPr wrap="none" anchor="ctr">
            <a:noAutofit/>
          </a:bodyPr>
          <a:lstStyle/>
          <a:p>
            <a:pPr algn="ctr"/>
            <a:r>
              <a:rPr sz="2000" b="1">
                <a:solidFill>
                  <a:srgbClr val="232B37"/>
                </a:solidFill>
                <a:latin typeface="Amazon Ember"/>
              </a:rPr>
              <a:t>2</a:t>
            </a:r>
          </a:p>
        </p:txBody>
      </p:sp>
      <p:sp>
        <p:nvSpPr>
          <p:cNvPr id="19" name="TextBox 18"/>
          <p:cNvSpPr txBox="1"/>
          <p:nvPr/>
        </p:nvSpPr>
        <p:spPr>
          <a:xfrm>
            <a:off x="776325" y="2995345"/>
            <a:ext cx="5486400" cy="648081"/>
          </a:xfrm>
          <a:prstGeom prst="rect">
            <a:avLst/>
          </a:prstGeom>
          <a:noFill/>
        </p:spPr>
        <p:txBody>
          <a:bodyPr wrap="none" anchor="ctr">
            <a:noAutofit/>
          </a:bodyPr>
          <a:lstStyle/>
          <a:p>
            <a:pPr algn="l"/>
            <a:r>
              <a:rPr sz="2000" b="0">
                <a:solidFill>
                  <a:srgbClr val="232B37"/>
                </a:solidFill>
                <a:latin typeface="Amazon Ember"/>
              </a:rPr>
              <a:t>Security</a:t>
            </a:r>
          </a:p>
        </p:txBody>
      </p:sp>
      <p:sp>
        <p:nvSpPr>
          <p:cNvPr id="20" name="TextBox 19"/>
          <p:cNvSpPr txBox="1"/>
          <p:nvPr/>
        </p:nvSpPr>
        <p:spPr>
          <a:xfrm>
            <a:off x="6262725" y="2995345"/>
            <a:ext cx="1325880" cy="648081"/>
          </a:xfrm>
          <a:prstGeom prst="rect">
            <a:avLst/>
          </a:prstGeom>
          <a:noFill/>
        </p:spPr>
        <p:txBody>
          <a:bodyPr wrap="none" anchor="ctr">
            <a:noAutofit/>
          </a:bodyPr>
          <a:lstStyle/>
          <a:p>
            <a:pPr algn="ctr"/>
            <a:r>
              <a:rPr sz="2000" b="1">
                <a:solidFill>
                  <a:srgbClr val="232B37"/>
                </a:solidFill>
                <a:latin typeface="Amazon Ember"/>
              </a:rPr>
              <a:t>26%</a:t>
            </a:r>
          </a:p>
        </p:txBody>
      </p:sp>
      <p:sp>
        <p:nvSpPr>
          <p:cNvPr id="21" name="TextBox 20"/>
          <p:cNvSpPr txBox="1"/>
          <p:nvPr/>
        </p:nvSpPr>
        <p:spPr>
          <a:xfrm>
            <a:off x="7588605" y="2995345"/>
            <a:ext cx="1325880" cy="648081"/>
          </a:xfrm>
          <a:prstGeom prst="rect">
            <a:avLst/>
          </a:prstGeom>
          <a:noFill/>
        </p:spPr>
        <p:txBody>
          <a:bodyPr wrap="none" anchor="ctr">
            <a:noAutofit/>
          </a:bodyPr>
          <a:lstStyle/>
          <a:p>
            <a:pPr algn="ctr"/>
            <a:r>
              <a:rPr sz="2000" b="1">
                <a:solidFill>
                  <a:srgbClr val="232B37"/>
                </a:solidFill>
                <a:latin typeface="Amazon Ember"/>
              </a:rPr>
              <a:t>26%</a:t>
            </a:r>
          </a:p>
        </p:txBody>
      </p:sp>
      <p:sp>
        <p:nvSpPr>
          <p:cNvPr id="22" name="Rectangle 21"/>
          <p:cNvSpPr/>
          <p:nvPr/>
        </p:nvSpPr>
        <p:spPr>
          <a:xfrm>
            <a:off x="410565" y="3643426"/>
            <a:ext cx="8503920" cy="648081"/>
          </a:xfrm>
          <a:prstGeom prst="rect">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10565" y="3643426"/>
            <a:ext cx="365760" cy="648081"/>
          </a:xfrm>
          <a:prstGeom prst="rect">
            <a:avLst/>
          </a:prstGeom>
          <a:noFill/>
        </p:spPr>
        <p:txBody>
          <a:bodyPr wrap="none" anchor="ctr">
            <a:noAutofit/>
          </a:bodyPr>
          <a:lstStyle/>
          <a:p>
            <a:pPr algn="ctr"/>
            <a:r>
              <a:rPr sz="2000" b="1">
                <a:solidFill>
                  <a:srgbClr val="232B37"/>
                </a:solidFill>
                <a:latin typeface="Amazon Ember"/>
              </a:rPr>
              <a:t>3</a:t>
            </a:r>
          </a:p>
        </p:txBody>
      </p:sp>
      <p:sp>
        <p:nvSpPr>
          <p:cNvPr id="24" name="TextBox 23"/>
          <p:cNvSpPr txBox="1"/>
          <p:nvPr/>
        </p:nvSpPr>
        <p:spPr>
          <a:xfrm>
            <a:off x="776325" y="3643426"/>
            <a:ext cx="5486400" cy="648081"/>
          </a:xfrm>
          <a:prstGeom prst="rect">
            <a:avLst/>
          </a:prstGeom>
          <a:noFill/>
        </p:spPr>
        <p:txBody>
          <a:bodyPr wrap="none" anchor="ctr">
            <a:noAutofit/>
          </a:bodyPr>
          <a:lstStyle/>
          <a:p>
            <a:pPr algn="l"/>
            <a:r>
              <a:rPr sz="2000" b="0">
                <a:solidFill>
                  <a:srgbClr val="232B37"/>
                </a:solidFill>
                <a:latin typeface="Amazon Ember"/>
              </a:rPr>
              <a:t>Deployment  ·  </a:t>
            </a:r>
            <a:r>
              <a:rPr sz="2000" b="0">
                <a:solidFill>
                  <a:srgbClr val="8F0072"/>
                </a:solidFill>
                <a:latin typeface="Amazon Ember"/>
              </a:rPr>
              <a:t>Testing and Deployment</a:t>
            </a:r>
          </a:p>
        </p:txBody>
      </p:sp>
      <p:sp>
        <p:nvSpPr>
          <p:cNvPr id="25" name="TextBox 24"/>
          <p:cNvSpPr txBox="1"/>
          <p:nvPr/>
        </p:nvSpPr>
        <p:spPr>
          <a:xfrm>
            <a:off x="6262725" y="3643426"/>
            <a:ext cx="1325880" cy="648081"/>
          </a:xfrm>
          <a:prstGeom prst="rect">
            <a:avLst/>
          </a:prstGeom>
          <a:noFill/>
        </p:spPr>
        <p:txBody>
          <a:bodyPr wrap="none" anchor="ctr">
            <a:noAutofit/>
          </a:bodyPr>
          <a:lstStyle/>
          <a:p>
            <a:pPr algn="ctr"/>
            <a:r>
              <a:rPr sz="2000" b="1">
                <a:solidFill>
                  <a:srgbClr val="232B37"/>
                </a:solidFill>
                <a:latin typeface="Amazon Ember"/>
              </a:rPr>
              <a:t>24%</a:t>
            </a:r>
          </a:p>
        </p:txBody>
      </p:sp>
      <p:sp>
        <p:nvSpPr>
          <p:cNvPr id="26" name="TextBox 25"/>
          <p:cNvSpPr txBox="1"/>
          <p:nvPr/>
        </p:nvSpPr>
        <p:spPr>
          <a:xfrm>
            <a:off x="7588605" y="3643426"/>
            <a:ext cx="1325880" cy="648081"/>
          </a:xfrm>
          <a:prstGeom prst="rect">
            <a:avLst/>
          </a:prstGeom>
          <a:noFill/>
        </p:spPr>
        <p:txBody>
          <a:bodyPr wrap="none" anchor="ctr">
            <a:noAutofit/>
          </a:bodyPr>
          <a:lstStyle/>
          <a:p>
            <a:pPr algn="ctr"/>
            <a:r>
              <a:rPr sz="2000" b="1">
                <a:solidFill>
                  <a:srgbClr val="8F0072"/>
                </a:solidFill>
                <a:latin typeface="Amazon Ember"/>
              </a:rPr>
              <a:t>22%</a:t>
            </a:r>
          </a:p>
        </p:txBody>
      </p:sp>
      <p:sp>
        <p:nvSpPr>
          <p:cNvPr id="27" name="Rectangle 26"/>
          <p:cNvSpPr/>
          <p:nvPr/>
        </p:nvSpPr>
        <p:spPr>
          <a:xfrm>
            <a:off x="410565" y="4291507"/>
            <a:ext cx="8503920" cy="6480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10565" y="4291507"/>
            <a:ext cx="365760" cy="648081"/>
          </a:xfrm>
          <a:prstGeom prst="rect">
            <a:avLst/>
          </a:prstGeom>
          <a:noFill/>
        </p:spPr>
        <p:txBody>
          <a:bodyPr wrap="none" anchor="ctr">
            <a:noAutofit/>
          </a:bodyPr>
          <a:lstStyle/>
          <a:p>
            <a:pPr algn="ctr"/>
            <a:r>
              <a:rPr sz="2000" b="1">
                <a:solidFill>
                  <a:srgbClr val="232B37"/>
                </a:solidFill>
                <a:latin typeface="Amazon Ember"/>
              </a:rPr>
              <a:t>4</a:t>
            </a:r>
          </a:p>
        </p:txBody>
      </p:sp>
      <p:sp>
        <p:nvSpPr>
          <p:cNvPr id="29" name="TextBox 28"/>
          <p:cNvSpPr txBox="1"/>
          <p:nvPr/>
        </p:nvSpPr>
        <p:spPr>
          <a:xfrm>
            <a:off x="776325" y="4291507"/>
            <a:ext cx="5486400" cy="648081"/>
          </a:xfrm>
          <a:prstGeom prst="rect">
            <a:avLst/>
          </a:prstGeom>
          <a:noFill/>
        </p:spPr>
        <p:txBody>
          <a:bodyPr wrap="none" anchor="ctr">
            <a:noAutofit/>
          </a:bodyPr>
          <a:lstStyle/>
          <a:p>
            <a:pPr algn="l"/>
            <a:r>
              <a:rPr sz="2000" b="0">
                <a:solidFill>
                  <a:srgbClr val="232B37"/>
                </a:solidFill>
                <a:latin typeface="Amazon Ember"/>
              </a:rPr>
              <a:t>Troubleshooting and Optimization</a:t>
            </a:r>
          </a:p>
        </p:txBody>
      </p:sp>
      <p:sp>
        <p:nvSpPr>
          <p:cNvPr id="30" name="TextBox 29"/>
          <p:cNvSpPr txBox="1"/>
          <p:nvPr/>
        </p:nvSpPr>
        <p:spPr>
          <a:xfrm>
            <a:off x="6262725" y="4291507"/>
            <a:ext cx="1325880" cy="648081"/>
          </a:xfrm>
          <a:prstGeom prst="rect">
            <a:avLst/>
          </a:prstGeom>
          <a:noFill/>
        </p:spPr>
        <p:txBody>
          <a:bodyPr wrap="none" anchor="ctr">
            <a:noAutofit/>
          </a:bodyPr>
          <a:lstStyle/>
          <a:p>
            <a:pPr algn="ctr"/>
            <a:r>
              <a:rPr sz="2000" b="1">
                <a:solidFill>
                  <a:srgbClr val="232B37"/>
                </a:solidFill>
                <a:latin typeface="Amazon Ember"/>
              </a:rPr>
              <a:t>18%</a:t>
            </a:r>
          </a:p>
        </p:txBody>
      </p:sp>
      <p:sp>
        <p:nvSpPr>
          <p:cNvPr id="31" name="TextBox 30"/>
          <p:cNvSpPr txBox="1"/>
          <p:nvPr/>
        </p:nvSpPr>
        <p:spPr>
          <a:xfrm>
            <a:off x="7588605" y="4291507"/>
            <a:ext cx="1325880" cy="648081"/>
          </a:xfrm>
          <a:prstGeom prst="rect">
            <a:avLst/>
          </a:prstGeom>
          <a:noFill/>
        </p:spPr>
        <p:txBody>
          <a:bodyPr wrap="none" anchor="ctr">
            <a:noAutofit/>
          </a:bodyPr>
          <a:lstStyle/>
          <a:p>
            <a:pPr algn="ctr"/>
            <a:r>
              <a:rPr sz="2000" b="1">
                <a:solidFill>
                  <a:srgbClr val="8F0072"/>
                </a:solidFill>
                <a:latin typeface="Amazon Ember"/>
              </a:rPr>
              <a:t>22%</a:t>
            </a:r>
          </a:p>
        </p:txBody>
      </p:sp>
    </p:spTree>
    <p:extLst>
      <p:ext uri="{BB962C8B-B14F-4D97-AF65-F5344CB8AC3E}">
        <p14:creationId xmlns:p14="http://schemas.microsoft.com/office/powerpoint/2010/main" val="1773107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379D-F20D-4AC2-A222-0AB03109A4C1}"/>
              </a:ext>
            </a:extLst>
          </p:cNvPr>
          <p:cNvSpPr>
            <a:spLocks noGrp="1"/>
          </p:cNvSpPr>
          <p:nvPr>
            <p:ph type="title"/>
          </p:nvPr>
        </p:nvSpPr>
        <p:spPr/>
        <p:txBody>
          <a:bodyPr/>
          <a:lstStyle/>
          <a:p>
            <a:r>
              <a:rPr lang="en-US" sz="2400" dirty="0">
                <a:latin typeface="Amazon Ember Heavy" panose="020B0603020204020204" pitchFamily="34" charset="0"/>
                <a:ea typeface="Amazon Ember Heavy" panose="020B0603020204020204" pitchFamily="34" charset="0"/>
                <a:cs typeface="Amazon Ember Heavy" panose="020B0603020204020204" pitchFamily="34" charset="0"/>
              </a:rPr>
              <a:t>Account Set-up Demo</a:t>
            </a:r>
            <a:br>
              <a:rPr lang="en-US" dirty="0">
                <a:latin typeface="Amazon Ember Heavy" panose="020B0603020204020204" pitchFamily="34" charset="0"/>
                <a:ea typeface="Amazon Ember Heavy" panose="020B0603020204020204" pitchFamily="34" charset="0"/>
                <a:cs typeface="Amazon Ember Heavy" panose="020B0603020204020204" pitchFamily="34" charset="0"/>
              </a:rPr>
            </a:br>
            <a:r>
              <a:rPr lang="en-US" sz="2400" dirty="0"/>
              <a:t>(Feel free to drop off if you’re already set-up!)</a:t>
            </a:r>
          </a:p>
        </p:txBody>
      </p:sp>
      <p:sp>
        <p:nvSpPr>
          <p:cNvPr id="6" name="Text Placeholder 2">
            <a:extLst>
              <a:ext uri="{FF2B5EF4-FFF2-40B4-BE49-F238E27FC236}">
                <a16:creationId xmlns:a16="http://schemas.microsoft.com/office/drawing/2014/main" id="{7D9D858C-3672-4DFB-9649-113DE0870631}"/>
              </a:ext>
            </a:extLst>
          </p:cNvPr>
          <p:cNvSpPr>
            <a:spLocks noGrp="1"/>
          </p:cNvSpPr>
          <p:nvPr>
            <p:ph type="body" sz="quarter" idx="11"/>
          </p:nvPr>
        </p:nvSpPr>
        <p:spPr>
          <a:xfrm>
            <a:off x="322916" y="2434551"/>
            <a:ext cx="7304518" cy="663771"/>
          </a:xfrm>
        </p:spPr>
        <p:txBody>
          <a:bodyPr/>
          <a:lstStyle/>
          <a:p>
            <a:r>
              <a:rPr lang="en-US" dirty="0"/>
              <a:t>Developer - Associate</a:t>
            </a:r>
          </a:p>
          <a:p>
            <a:endParaRPr lang="en-US" dirty="0"/>
          </a:p>
        </p:txBody>
      </p:sp>
    </p:spTree>
    <p:extLst>
      <p:ext uri="{BB962C8B-B14F-4D97-AF65-F5344CB8AC3E}">
        <p14:creationId xmlns:p14="http://schemas.microsoft.com/office/powerpoint/2010/main" val="1630897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40C5A-8CDE-5369-4611-F9FAA2423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94029-0281-7EA4-B9B1-43EA09708B69}"/>
              </a:ext>
            </a:extLst>
          </p:cNvPr>
          <p:cNvSpPr>
            <a:spLocks noGrp="1"/>
          </p:cNvSpPr>
          <p:nvPr>
            <p:ph type="title" idx="1"/>
          </p:nvPr>
        </p:nvSpPr>
        <p:spPr/>
        <p:txBody>
          <a:bodyPr/>
          <a:lstStyle/>
          <a:p>
            <a:r>
              <a:rPr lang="en-US" dirty="0"/>
              <a:t>AWS Skill Builder Access </a:t>
            </a:r>
          </a:p>
        </p:txBody>
      </p:sp>
      <p:sp>
        <p:nvSpPr>
          <p:cNvPr id="3" name="Text Placeholder 2">
            <a:extLst>
              <a:ext uri="{FF2B5EF4-FFF2-40B4-BE49-F238E27FC236}">
                <a16:creationId xmlns:a16="http://schemas.microsoft.com/office/drawing/2014/main" id="{E71238DB-B46B-8B3C-1DB2-75244E3A5CE9}"/>
              </a:ext>
            </a:extLst>
          </p:cNvPr>
          <p:cNvSpPr>
            <a:spLocks noGrp="1"/>
          </p:cNvSpPr>
          <p:nvPr>
            <p:ph type="body" idx="12"/>
          </p:nvPr>
        </p:nvSpPr>
        <p:spPr/>
        <p:txBody>
          <a:bodyPr/>
          <a:lstStyle/>
          <a:p>
            <a:r>
              <a:rPr lang="en-US" dirty="0"/>
              <a:t>Access digital training and official practice question sets</a:t>
            </a:r>
          </a:p>
        </p:txBody>
      </p:sp>
      <p:pic>
        <p:nvPicPr>
          <p:cNvPr id="9" name="Picture Placeholder 8">
            <a:extLst>
              <a:ext uri="{FF2B5EF4-FFF2-40B4-BE49-F238E27FC236}">
                <a16:creationId xmlns:a16="http://schemas.microsoft.com/office/drawing/2014/main" id="{3260D573-BC23-9981-6D14-FFD066F407D2}"/>
              </a:ext>
            </a:extLst>
          </p:cNvPr>
          <p:cNvPicPr>
            <a:picLocks noGrp="1" noChangeAspect="1"/>
          </p:cNvPicPr>
          <p:nvPr>
            <p:ph type="pic" idx="22"/>
          </p:nvPr>
        </p:nvPicPr>
        <p:blipFill>
          <a:blip r:embed="rId3">
            <a:extLst>
              <a:ext uri="{28A0092B-C50C-407E-A947-70E740481C1C}">
                <a14:useLocalDpi xmlns:a14="http://schemas.microsoft.com/office/drawing/2010/main" val="0"/>
              </a:ext>
            </a:extLst>
          </a:blip>
          <a:srcRect t="1174" r="-800" b="38711"/>
          <a:stretch>
            <a:fillRect/>
          </a:stretch>
        </p:blipFill>
        <p:spPr>
          <a:xfrm>
            <a:off x="7071360" y="2677795"/>
            <a:ext cx="4754880" cy="2651760"/>
          </a:xfrm>
          <a:prstGeom prst="rect">
            <a:avLst/>
          </a:prstGeom>
          <a:ln>
            <a:solidFill>
              <a:schemeClr val="accent1"/>
            </a:solidFill>
          </a:ln>
        </p:spPr>
      </p:pic>
      <p:sp>
        <p:nvSpPr>
          <p:cNvPr id="11" name="Rectangle 10">
            <a:hlinkClick r:id="rId4"/>
            <a:extLst>
              <a:ext uri="{FF2B5EF4-FFF2-40B4-BE49-F238E27FC236}">
                <a16:creationId xmlns:a16="http://schemas.microsoft.com/office/drawing/2014/main" id="{B02F5830-3CC8-306F-B982-B153007924F2}"/>
              </a:ext>
            </a:extLst>
          </p:cNvPr>
          <p:cNvSpPr/>
          <p:nvPr/>
        </p:nvSpPr>
        <p:spPr>
          <a:xfrm>
            <a:off x="2725947" y="5193102"/>
            <a:ext cx="2794959" cy="664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t>Click here!</a:t>
            </a:r>
          </a:p>
        </p:txBody>
      </p:sp>
      <p:pic>
        <p:nvPicPr>
          <p:cNvPr id="12" name="Picture 11">
            <a:extLst>
              <a:ext uri="{FF2B5EF4-FFF2-40B4-BE49-F238E27FC236}">
                <a16:creationId xmlns:a16="http://schemas.microsoft.com/office/drawing/2014/main" id="{72D569E1-AABF-535A-9406-641BB22AFF57}"/>
              </a:ext>
            </a:extLst>
          </p:cNvPr>
          <p:cNvPicPr>
            <a:picLocks noChangeAspect="1"/>
          </p:cNvPicPr>
          <p:nvPr/>
        </p:nvPicPr>
        <p:blipFill>
          <a:blip r:embed="rId5"/>
          <a:stretch>
            <a:fillRect/>
          </a:stretch>
        </p:blipFill>
        <p:spPr>
          <a:xfrm>
            <a:off x="1526875" y="4926000"/>
            <a:ext cx="1061050" cy="1158605"/>
          </a:xfrm>
          <a:prstGeom prst="rect">
            <a:avLst/>
          </a:prstGeom>
        </p:spPr>
      </p:pic>
      <p:sp>
        <p:nvSpPr>
          <p:cNvPr id="14" name="Content Placeholder 2">
            <a:extLst>
              <a:ext uri="{FF2B5EF4-FFF2-40B4-BE49-F238E27FC236}">
                <a16:creationId xmlns:a16="http://schemas.microsoft.com/office/drawing/2014/main" id="{74C3BC68-FFCD-0F31-006A-A34F8DA880B6}"/>
              </a:ext>
            </a:extLst>
          </p:cNvPr>
          <p:cNvSpPr txBox="1">
            <a:spLocks noGrp="1"/>
          </p:cNvSpPr>
          <p:nvPr>
            <p:ph idx="2"/>
          </p:nvPr>
        </p:nvSpPr>
        <p:spPr>
          <a:xfrm>
            <a:off x="365125" y="1563688"/>
            <a:ext cx="6635750" cy="4879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Utilize for digital training resources.</a:t>
            </a:r>
          </a:p>
          <a:p>
            <a:pPr marL="0" indent="0">
              <a:buNone/>
            </a:pPr>
            <a:endParaRPr lang="en-US" sz="2400" dirty="0"/>
          </a:p>
          <a:p>
            <a:r>
              <a:rPr lang="en-US" sz="2400" dirty="0"/>
              <a:t>Login as </a:t>
            </a:r>
            <a:r>
              <a:rPr lang="en-US" sz="2400" b="1" dirty="0"/>
              <a:t>AWS Builder ID </a:t>
            </a:r>
            <a:r>
              <a:rPr lang="en-US" sz="2400" dirty="0"/>
              <a:t>using account created with </a:t>
            </a:r>
            <a:r>
              <a:rPr lang="en-US" sz="2400" b="1" dirty="0"/>
              <a:t>company email</a:t>
            </a:r>
            <a:endParaRPr lang="en-US" sz="2400" dirty="0"/>
          </a:p>
          <a:p>
            <a:r>
              <a:rPr lang="en-US" sz="2400" dirty="0"/>
              <a:t>Utilize for assigned digital learning plan</a:t>
            </a:r>
          </a:p>
          <a:p>
            <a:r>
              <a:rPr lang="en-US" sz="2400" dirty="0"/>
              <a:t>Utilize for official question sets and labs</a:t>
            </a:r>
          </a:p>
          <a:p>
            <a:r>
              <a:rPr lang="en-US" sz="2400" dirty="0"/>
              <a:t>Explore and learn!</a:t>
            </a:r>
          </a:p>
        </p:txBody>
      </p:sp>
      <p:sp>
        <p:nvSpPr>
          <p:cNvPr id="5" name="Rectangle 4">
            <a:extLst>
              <a:ext uri="{FF2B5EF4-FFF2-40B4-BE49-F238E27FC236}">
                <a16:creationId xmlns:a16="http://schemas.microsoft.com/office/drawing/2014/main" id="{857CF548-F44E-3E81-1176-D278FF429E66}"/>
              </a:ext>
            </a:extLst>
          </p:cNvPr>
          <p:cNvSpPr/>
          <p:nvPr/>
        </p:nvSpPr>
        <p:spPr>
          <a:xfrm>
            <a:off x="7212868" y="2776590"/>
            <a:ext cx="4471864" cy="12270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575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6928-CCC4-43D8-9505-C32FAAB5DC39}"/>
              </a:ext>
            </a:extLst>
          </p:cNvPr>
          <p:cNvSpPr>
            <a:spLocks noGrp="1"/>
          </p:cNvSpPr>
          <p:nvPr>
            <p:ph type="title"/>
          </p:nvPr>
        </p:nvSpPr>
        <p:spPr/>
        <p:txBody>
          <a:bodyPr/>
          <a:lstStyle/>
          <a:p>
            <a:r>
              <a:rPr lang="en-US" sz="4400" dirty="0"/>
              <a:t>Exam Registration</a:t>
            </a:r>
          </a:p>
        </p:txBody>
      </p:sp>
      <p:sp>
        <p:nvSpPr>
          <p:cNvPr id="3" name="Text Placeholder 2">
            <a:extLst>
              <a:ext uri="{FF2B5EF4-FFF2-40B4-BE49-F238E27FC236}">
                <a16:creationId xmlns:a16="http://schemas.microsoft.com/office/drawing/2014/main" id="{81AFD319-B5FE-4DB1-994D-FD421E87A440}"/>
              </a:ext>
            </a:extLst>
          </p:cNvPr>
          <p:cNvSpPr>
            <a:spLocks noGrp="1"/>
          </p:cNvSpPr>
          <p:nvPr>
            <p:ph type="body" sz="quarter" idx="10"/>
          </p:nvPr>
        </p:nvSpPr>
        <p:spPr/>
        <p:txBody>
          <a:bodyPr/>
          <a:lstStyle/>
          <a:p>
            <a:r>
              <a:rPr lang="en-US" dirty="0"/>
              <a:t>Set-up your AWS Certification account and register early!</a:t>
            </a:r>
          </a:p>
        </p:txBody>
      </p:sp>
      <p:sp>
        <p:nvSpPr>
          <p:cNvPr id="7" name="Content Placeholder 2">
            <a:extLst>
              <a:ext uri="{FF2B5EF4-FFF2-40B4-BE49-F238E27FC236}">
                <a16:creationId xmlns:a16="http://schemas.microsoft.com/office/drawing/2014/main" id="{AB9BAB87-0D9A-41B5-AB8B-4A9E022FF9B1}"/>
              </a:ext>
            </a:extLst>
          </p:cNvPr>
          <p:cNvSpPr txBox="1">
            <a:spLocks/>
          </p:cNvSpPr>
          <p:nvPr/>
        </p:nvSpPr>
        <p:spPr>
          <a:xfrm>
            <a:off x="304801" y="1485900"/>
            <a:ext cx="7020909" cy="4801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Bookmark the exam page – lots of resources!</a:t>
            </a:r>
          </a:p>
          <a:p>
            <a:r>
              <a:rPr lang="en-US" dirty="0"/>
              <a:t>Access </a:t>
            </a:r>
            <a:r>
              <a:rPr lang="en-US" dirty="0" err="1"/>
              <a:t>CertMetrics</a:t>
            </a:r>
            <a:r>
              <a:rPr lang="en-US" dirty="0"/>
              <a:t> through the exam page</a:t>
            </a:r>
          </a:p>
          <a:p>
            <a:r>
              <a:rPr lang="en-US" b="1" dirty="0"/>
              <a:t>Recommended </a:t>
            </a:r>
            <a:r>
              <a:rPr lang="en-US" dirty="0"/>
              <a:t>to register with your company </a:t>
            </a:r>
            <a:r>
              <a:rPr lang="en-US" b="1" dirty="0"/>
              <a:t>AWS Builder ID</a:t>
            </a:r>
          </a:p>
          <a:p>
            <a:r>
              <a:rPr lang="en-US" dirty="0"/>
              <a:t>Schedule early and give yourself a deadline</a:t>
            </a:r>
          </a:p>
        </p:txBody>
      </p:sp>
      <p:sp>
        <p:nvSpPr>
          <p:cNvPr id="8" name="Rectangle 7">
            <a:hlinkClick r:id="rId3"/>
            <a:extLst>
              <a:ext uri="{FF2B5EF4-FFF2-40B4-BE49-F238E27FC236}">
                <a16:creationId xmlns:a16="http://schemas.microsoft.com/office/drawing/2014/main" id="{9B982965-71FA-4255-A61C-2A8D6E47FF52}"/>
              </a:ext>
            </a:extLst>
          </p:cNvPr>
          <p:cNvSpPr/>
          <p:nvPr/>
        </p:nvSpPr>
        <p:spPr>
          <a:xfrm>
            <a:off x="3514223" y="5193102"/>
            <a:ext cx="2794959" cy="664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t>Click here!</a:t>
            </a:r>
          </a:p>
        </p:txBody>
      </p:sp>
      <p:pic>
        <p:nvPicPr>
          <p:cNvPr id="9" name="Picture 8">
            <a:extLst>
              <a:ext uri="{FF2B5EF4-FFF2-40B4-BE49-F238E27FC236}">
                <a16:creationId xmlns:a16="http://schemas.microsoft.com/office/drawing/2014/main" id="{FE63F354-4CA4-492B-88A0-789869B5910E}"/>
              </a:ext>
            </a:extLst>
          </p:cNvPr>
          <p:cNvPicPr>
            <a:picLocks noChangeAspect="1"/>
          </p:cNvPicPr>
          <p:nvPr/>
        </p:nvPicPr>
        <p:blipFill>
          <a:blip r:embed="rId4"/>
          <a:stretch>
            <a:fillRect/>
          </a:stretch>
        </p:blipFill>
        <p:spPr>
          <a:xfrm>
            <a:off x="2315151" y="4926000"/>
            <a:ext cx="1061050" cy="1158605"/>
          </a:xfrm>
          <a:prstGeom prst="rect">
            <a:avLst/>
          </a:prstGeom>
        </p:spPr>
      </p:pic>
      <p:pic>
        <p:nvPicPr>
          <p:cNvPr id="6" name="Picture 5">
            <a:extLst>
              <a:ext uri="{FF2B5EF4-FFF2-40B4-BE49-F238E27FC236}">
                <a16:creationId xmlns:a16="http://schemas.microsoft.com/office/drawing/2014/main" id="{C9DBD1E1-A4C3-4216-8F40-D1804DFCF8CE}"/>
              </a:ext>
            </a:extLst>
          </p:cNvPr>
          <p:cNvPicPr>
            <a:picLocks noChangeAspect="1"/>
          </p:cNvPicPr>
          <p:nvPr/>
        </p:nvPicPr>
        <p:blipFill>
          <a:blip r:embed="rId5"/>
          <a:stretch>
            <a:fillRect/>
          </a:stretch>
        </p:blipFill>
        <p:spPr>
          <a:xfrm>
            <a:off x="6916802" y="2034100"/>
            <a:ext cx="4930332" cy="2055121"/>
          </a:xfrm>
          <a:prstGeom prst="rect">
            <a:avLst/>
          </a:prstGeom>
          <a:ln>
            <a:solidFill>
              <a:schemeClr val="accent1"/>
            </a:solidFill>
          </a:ln>
        </p:spPr>
      </p:pic>
    </p:spTree>
    <p:extLst>
      <p:ext uri="{BB962C8B-B14F-4D97-AF65-F5344CB8AC3E}">
        <p14:creationId xmlns:p14="http://schemas.microsoft.com/office/powerpoint/2010/main" val="454911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DC3F8-26C1-A963-2853-99DD0EB54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CC7CC-232B-6BB5-D773-9A7552C38DC5}"/>
              </a:ext>
            </a:extLst>
          </p:cNvPr>
          <p:cNvSpPr>
            <a:spLocks noGrp="1"/>
          </p:cNvSpPr>
          <p:nvPr>
            <p:ph type="title" idx="1"/>
          </p:nvPr>
        </p:nvSpPr>
        <p:spPr/>
        <p:txBody>
          <a:bodyPr/>
          <a:lstStyle/>
          <a:p>
            <a:r>
              <a:rPr lang="en-US" dirty="0"/>
              <a:t>Connecting your Certification</a:t>
            </a:r>
          </a:p>
        </p:txBody>
      </p:sp>
      <p:sp>
        <p:nvSpPr>
          <p:cNvPr id="3" name="Text Placeholder 2">
            <a:extLst>
              <a:ext uri="{FF2B5EF4-FFF2-40B4-BE49-F238E27FC236}">
                <a16:creationId xmlns:a16="http://schemas.microsoft.com/office/drawing/2014/main" id="{86A49C56-D33A-9B0D-BD02-2EA5ECE3F1CA}"/>
              </a:ext>
            </a:extLst>
          </p:cNvPr>
          <p:cNvSpPr>
            <a:spLocks noGrp="1"/>
          </p:cNvSpPr>
          <p:nvPr>
            <p:ph type="body" idx="12"/>
          </p:nvPr>
        </p:nvSpPr>
        <p:spPr/>
        <p:txBody>
          <a:bodyPr/>
          <a:lstStyle/>
          <a:p>
            <a:r>
              <a:rPr lang="en-US" dirty="0"/>
              <a:t>Be sure to SHARE your certification with your employer</a:t>
            </a:r>
          </a:p>
        </p:txBody>
      </p:sp>
      <p:sp>
        <p:nvSpPr>
          <p:cNvPr id="14" name="Content Placeholder 2">
            <a:extLst>
              <a:ext uri="{FF2B5EF4-FFF2-40B4-BE49-F238E27FC236}">
                <a16:creationId xmlns:a16="http://schemas.microsoft.com/office/drawing/2014/main" id="{E447A0C5-92AB-AFEF-7BCE-D836BC3DE79C}"/>
              </a:ext>
            </a:extLst>
          </p:cNvPr>
          <p:cNvSpPr txBox="1">
            <a:spLocks noGrp="1"/>
          </p:cNvSpPr>
          <p:nvPr>
            <p:ph idx="2"/>
          </p:nvPr>
        </p:nvSpPr>
        <p:spPr>
          <a:xfrm>
            <a:off x="365125" y="1563689"/>
            <a:ext cx="6082567" cy="31688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AWS Partner tiers, benefits, and some promotional credits are awarded based on AWS Certifications attained by employees.</a:t>
            </a:r>
          </a:p>
          <a:p>
            <a:r>
              <a:rPr lang="en-US" sz="2400" dirty="0"/>
              <a:t>In your AWS Skill Builder account, access the Profile (top right, “Account”)</a:t>
            </a:r>
          </a:p>
          <a:p>
            <a:r>
              <a:rPr lang="en-US" sz="2400" b="1" dirty="0"/>
              <a:t>EDIT</a:t>
            </a:r>
            <a:r>
              <a:rPr lang="en-US" sz="2400" dirty="0"/>
              <a:t> the profile and add the email used to sit for your exam under the “AWS Training and Certification badges” section</a:t>
            </a:r>
          </a:p>
          <a:p>
            <a:r>
              <a:rPr lang="en-US" sz="2400" dirty="0"/>
              <a:t>Email address needs to be verified, and can be changed as needed</a:t>
            </a:r>
          </a:p>
        </p:txBody>
      </p:sp>
      <p:pic>
        <p:nvPicPr>
          <p:cNvPr id="5" name="Picture 4">
            <a:extLst>
              <a:ext uri="{FF2B5EF4-FFF2-40B4-BE49-F238E27FC236}">
                <a16:creationId xmlns:a16="http://schemas.microsoft.com/office/drawing/2014/main" id="{2050ECFD-4EFA-A35D-F1D6-37CCB3D27800}"/>
              </a:ext>
            </a:extLst>
          </p:cNvPr>
          <p:cNvPicPr>
            <a:picLocks noChangeAspect="1"/>
          </p:cNvPicPr>
          <p:nvPr/>
        </p:nvPicPr>
        <p:blipFill>
          <a:blip r:embed="rId3"/>
          <a:stretch>
            <a:fillRect/>
          </a:stretch>
        </p:blipFill>
        <p:spPr>
          <a:xfrm>
            <a:off x="6723662" y="2243374"/>
            <a:ext cx="5102578" cy="3019778"/>
          </a:xfrm>
          <a:prstGeom prst="rect">
            <a:avLst/>
          </a:prstGeom>
          <a:ln>
            <a:solidFill>
              <a:schemeClr val="accent1"/>
            </a:solidFill>
          </a:ln>
        </p:spPr>
      </p:pic>
    </p:spTree>
    <p:extLst>
      <p:ext uri="{BB962C8B-B14F-4D97-AF65-F5344CB8AC3E}">
        <p14:creationId xmlns:p14="http://schemas.microsoft.com/office/powerpoint/2010/main" val="2077294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B4277-2A42-46AE-9587-FA6AB579D70A}"/>
              </a:ext>
            </a:extLst>
          </p:cNvPr>
          <p:cNvSpPr>
            <a:spLocks noGrp="1"/>
          </p:cNvSpPr>
          <p:nvPr>
            <p:ph type="title"/>
          </p:nvPr>
        </p:nvSpPr>
        <p:spPr/>
        <p:txBody>
          <a:bodyPr/>
          <a:lstStyle/>
          <a:p>
            <a:r>
              <a:rPr lang="en-US" sz="4800" dirty="0">
                <a:latin typeface="Amazon Ember Heavy" panose="020B0603020204020204" pitchFamily="34" charset="0"/>
                <a:ea typeface="Amazon Ember Heavy" panose="020B0603020204020204" pitchFamily="34" charset="0"/>
                <a:cs typeface="Amazon Ember Heavy" panose="020B0603020204020204" pitchFamily="34" charset="0"/>
              </a:rPr>
              <a:t>Q&amp;A Time!</a:t>
            </a:r>
          </a:p>
        </p:txBody>
      </p:sp>
      <p:sp>
        <p:nvSpPr>
          <p:cNvPr id="4" name="Text Placeholder 2">
            <a:extLst>
              <a:ext uri="{FF2B5EF4-FFF2-40B4-BE49-F238E27FC236}">
                <a16:creationId xmlns:a16="http://schemas.microsoft.com/office/drawing/2014/main" id="{85499912-3A21-4D49-B35E-D3E33E0988FE}"/>
              </a:ext>
            </a:extLst>
          </p:cNvPr>
          <p:cNvSpPr>
            <a:spLocks noGrp="1"/>
          </p:cNvSpPr>
          <p:nvPr>
            <p:ph type="body" sz="quarter" idx="11"/>
          </p:nvPr>
        </p:nvSpPr>
        <p:spPr>
          <a:xfrm>
            <a:off x="322263" y="2435225"/>
            <a:ext cx="6749746" cy="312738"/>
          </a:xfrm>
        </p:spPr>
        <p:txBody>
          <a:bodyPr/>
          <a:lstStyle/>
          <a:p>
            <a:r>
              <a:rPr lang="en-US" dirty="0"/>
              <a:t>AWS Partner Certification readiness</a:t>
            </a:r>
          </a:p>
        </p:txBody>
      </p:sp>
    </p:spTree>
    <p:extLst>
      <p:ext uri="{BB962C8B-B14F-4D97-AF65-F5344CB8AC3E}">
        <p14:creationId xmlns:p14="http://schemas.microsoft.com/office/powerpoint/2010/main" val="488782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5447-118A-7A29-83A8-C1592F68DFED}"/>
              </a:ext>
            </a:extLst>
          </p:cNvPr>
          <p:cNvSpPr>
            <a:spLocks noGrp="1"/>
          </p:cNvSpPr>
          <p:nvPr>
            <p:ph type="title"/>
          </p:nvPr>
        </p:nvSpPr>
        <p:spPr>
          <a:xfrm>
            <a:off x="322916" y="2748484"/>
            <a:ext cx="10223164" cy="1130202"/>
          </a:xfrm>
        </p:spPr>
        <p:txBody>
          <a:bodyPr/>
          <a:lstStyle/>
          <a:p>
            <a:r>
              <a:rPr lang="en-US" sz="4800" dirty="0">
                <a:latin typeface="Amazon Ember Heavy" panose="020B0603020204020204" pitchFamily="34" charset="0"/>
                <a:ea typeface="Amazon Ember Heavy" panose="020B0603020204020204" pitchFamily="34" charset="0"/>
                <a:cs typeface="Amazon Ember Heavy" panose="020B0603020204020204" pitchFamily="34" charset="0"/>
              </a:rPr>
              <a:t>Thanks for joining!</a:t>
            </a:r>
          </a:p>
        </p:txBody>
      </p:sp>
      <p:sp>
        <p:nvSpPr>
          <p:cNvPr id="3" name="Text Placeholder 2">
            <a:extLst>
              <a:ext uri="{FF2B5EF4-FFF2-40B4-BE49-F238E27FC236}">
                <a16:creationId xmlns:a16="http://schemas.microsoft.com/office/drawing/2014/main" id="{A65CE6E6-76DE-95E9-B988-679D3C7E65AC}"/>
              </a:ext>
            </a:extLst>
          </p:cNvPr>
          <p:cNvSpPr>
            <a:spLocks noGrp="1"/>
          </p:cNvSpPr>
          <p:nvPr>
            <p:ph type="body" sz="quarter" idx="11"/>
          </p:nvPr>
        </p:nvSpPr>
        <p:spPr>
          <a:xfrm>
            <a:off x="322916" y="2434551"/>
            <a:ext cx="7111554" cy="757130"/>
          </a:xfrm>
        </p:spPr>
        <p:txBody>
          <a:bodyPr/>
          <a:lstStyle/>
          <a:p>
            <a:r>
              <a:rPr lang="en-US" dirty="0"/>
              <a:t>AWS Partner Certification readiness</a:t>
            </a:r>
          </a:p>
        </p:txBody>
      </p:sp>
    </p:spTree>
    <p:extLst>
      <p:ext uri="{BB962C8B-B14F-4D97-AF65-F5344CB8AC3E}">
        <p14:creationId xmlns:p14="http://schemas.microsoft.com/office/powerpoint/2010/main" val="1682840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6928-CCC4-43D8-9505-C32FAAB5DC39}"/>
              </a:ext>
            </a:extLst>
          </p:cNvPr>
          <p:cNvSpPr>
            <a:spLocks noGrp="1"/>
          </p:cNvSpPr>
          <p:nvPr>
            <p:ph type="title" idx="1"/>
          </p:nvPr>
        </p:nvSpPr>
        <p:spPr/>
        <p:txBody>
          <a:bodyPr/>
          <a:lstStyle/>
          <a:p>
            <a:r>
              <a:rPr lang="en-US" sz="4000" dirty="0"/>
              <a:t>AWS Partner Network (APN) Account</a:t>
            </a:r>
          </a:p>
        </p:txBody>
      </p:sp>
      <p:sp>
        <p:nvSpPr>
          <p:cNvPr id="3" name="Text Placeholder 2">
            <a:extLst>
              <a:ext uri="{FF2B5EF4-FFF2-40B4-BE49-F238E27FC236}">
                <a16:creationId xmlns:a16="http://schemas.microsoft.com/office/drawing/2014/main" id="{81AFD319-B5FE-4DB1-994D-FD421E87A440}"/>
              </a:ext>
            </a:extLst>
          </p:cNvPr>
          <p:cNvSpPr>
            <a:spLocks noGrp="1"/>
          </p:cNvSpPr>
          <p:nvPr>
            <p:ph idx="2"/>
          </p:nvPr>
        </p:nvSpPr>
        <p:spPr/>
        <p:txBody>
          <a:bodyPr/>
          <a:lstStyle/>
          <a:p>
            <a:pPr marL="0" indent="0">
              <a:buNone/>
            </a:pPr>
            <a:r>
              <a:rPr lang="en-US" sz="2000" dirty="0">
                <a:solidFill>
                  <a:schemeClr val="accent6">
                    <a:lumMod val="25000"/>
                  </a:schemeClr>
                </a:solidFill>
              </a:rPr>
              <a:t>Access AWS Partner exclusive training &amp; Link your certification</a:t>
            </a:r>
          </a:p>
        </p:txBody>
      </p:sp>
      <p:sp>
        <p:nvSpPr>
          <p:cNvPr id="7" name="Content Placeholder 2">
            <a:extLst>
              <a:ext uri="{FF2B5EF4-FFF2-40B4-BE49-F238E27FC236}">
                <a16:creationId xmlns:a16="http://schemas.microsoft.com/office/drawing/2014/main" id="{AB9BAB87-0D9A-41B5-AB8B-4A9E022FF9B1}"/>
              </a:ext>
            </a:extLst>
          </p:cNvPr>
          <p:cNvSpPr txBox="1">
            <a:spLocks/>
          </p:cNvSpPr>
          <p:nvPr/>
        </p:nvSpPr>
        <p:spPr>
          <a:xfrm>
            <a:off x="304801" y="1675468"/>
            <a:ext cx="7208807" cy="4801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This Event is designed for AWS Partners.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Register to APN with your company email.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Link your AWS Certification to this profile.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Use your APN credentials to access exclusive AWS Partner Training resources</a:t>
            </a:r>
          </a:p>
        </p:txBody>
      </p:sp>
      <p:pic>
        <p:nvPicPr>
          <p:cNvPr id="4" name="Picture 3">
            <a:extLst>
              <a:ext uri="{FF2B5EF4-FFF2-40B4-BE49-F238E27FC236}">
                <a16:creationId xmlns:a16="http://schemas.microsoft.com/office/drawing/2014/main" id="{DFA9314F-093E-446F-A1BB-1A45F420A5F7}"/>
              </a:ext>
            </a:extLst>
          </p:cNvPr>
          <p:cNvPicPr>
            <a:picLocks noChangeAspect="1"/>
          </p:cNvPicPr>
          <p:nvPr/>
        </p:nvPicPr>
        <p:blipFill>
          <a:blip r:embed="rId3"/>
          <a:stretch>
            <a:fillRect/>
          </a:stretch>
        </p:blipFill>
        <p:spPr>
          <a:xfrm>
            <a:off x="8089342" y="1747954"/>
            <a:ext cx="3797857" cy="3835772"/>
          </a:xfrm>
          <a:prstGeom prst="rect">
            <a:avLst/>
          </a:prstGeom>
          <a:ln>
            <a:solidFill>
              <a:srgbClr val="FF7351"/>
            </a:solidFill>
          </a:ln>
        </p:spPr>
      </p:pic>
      <p:sp>
        <p:nvSpPr>
          <p:cNvPr id="6" name="Rectangle 5">
            <a:hlinkClick r:id="rId4"/>
            <a:extLst>
              <a:ext uri="{FF2B5EF4-FFF2-40B4-BE49-F238E27FC236}">
                <a16:creationId xmlns:a16="http://schemas.microsoft.com/office/drawing/2014/main" id="{A75F8FF9-3A24-456B-9DCE-28597472C49E}"/>
              </a:ext>
            </a:extLst>
          </p:cNvPr>
          <p:cNvSpPr/>
          <p:nvPr/>
        </p:nvSpPr>
        <p:spPr>
          <a:xfrm>
            <a:off x="2725947" y="5193102"/>
            <a:ext cx="2794959" cy="664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anose="020F0502020204030204"/>
                <a:ea typeface="+mn-ea"/>
                <a:cs typeface="+mn-cs"/>
              </a:rPr>
              <a:t>Click here!</a:t>
            </a:r>
          </a:p>
        </p:txBody>
      </p:sp>
      <p:pic>
        <p:nvPicPr>
          <p:cNvPr id="8" name="Picture 7">
            <a:extLst>
              <a:ext uri="{FF2B5EF4-FFF2-40B4-BE49-F238E27FC236}">
                <a16:creationId xmlns:a16="http://schemas.microsoft.com/office/drawing/2014/main" id="{572B996A-6C25-4350-BA8E-ABC0B0BCC33C}"/>
              </a:ext>
            </a:extLst>
          </p:cNvPr>
          <p:cNvPicPr>
            <a:picLocks noChangeAspect="1"/>
          </p:cNvPicPr>
          <p:nvPr/>
        </p:nvPicPr>
        <p:blipFill>
          <a:blip r:embed="rId5"/>
          <a:stretch>
            <a:fillRect/>
          </a:stretch>
        </p:blipFill>
        <p:spPr>
          <a:xfrm>
            <a:off x="1526875" y="4926000"/>
            <a:ext cx="1061050" cy="1158605"/>
          </a:xfrm>
          <a:prstGeom prst="rect">
            <a:avLst/>
          </a:prstGeom>
        </p:spPr>
      </p:pic>
    </p:spTree>
    <p:extLst>
      <p:ext uri="{BB962C8B-B14F-4D97-AF65-F5344CB8AC3E}">
        <p14:creationId xmlns:p14="http://schemas.microsoft.com/office/powerpoint/2010/main" val="2520313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6928-CCC4-43D8-9505-C32FAAB5DC39}"/>
              </a:ext>
            </a:extLst>
          </p:cNvPr>
          <p:cNvSpPr>
            <a:spLocks noGrp="1"/>
          </p:cNvSpPr>
          <p:nvPr>
            <p:ph type="title" idx="1"/>
          </p:nvPr>
        </p:nvSpPr>
        <p:spPr/>
        <p:txBody>
          <a:bodyPr/>
          <a:lstStyle/>
          <a:p>
            <a:r>
              <a:rPr lang="en-US" sz="4000" dirty="0"/>
              <a:t>AWS Skill Builder Access</a:t>
            </a:r>
          </a:p>
        </p:txBody>
      </p:sp>
      <p:sp>
        <p:nvSpPr>
          <p:cNvPr id="3" name="Text Placeholder 2">
            <a:extLst>
              <a:ext uri="{FF2B5EF4-FFF2-40B4-BE49-F238E27FC236}">
                <a16:creationId xmlns:a16="http://schemas.microsoft.com/office/drawing/2014/main" id="{81AFD319-B5FE-4DB1-994D-FD421E87A440}"/>
              </a:ext>
            </a:extLst>
          </p:cNvPr>
          <p:cNvSpPr>
            <a:spLocks noGrp="1"/>
          </p:cNvSpPr>
          <p:nvPr>
            <p:ph idx="2"/>
          </p:nvPr>
        </p:nvSpPr>
        <p:spPr/>
        <p:txBody>
          <a:bodyPr/>
          <a:lstStyle/>
          <a:p>
            <a:pPr marL="0" indent="0">
              <a:buNone/>
            </a:pPr>
            <a:r>
              <a:rPr lang="en-US" sz="2000" dirty="0">
                <a:solidFill>
                  <a:schemeClr val="accent6">
                    <a:lumMod val="25000"/>
                  </a:schemeClr>
                </a:solidFill>
              </a:rPr>
              <a:t>Access digital training and official practice question sets</a:t>
            </a:r>
          </a:p>
        </p:txBody>
      </p:sp>
      <p:sp>
        <p:nvSpPr>
          <p:cNvPr id="7" name="Content Placeholder 2">
            <a:extLst>
              <a:ext uri="{FF2B5EF4-FFF2-40B4-BE49-F238E27FC236}">
                <a16:creationId xmlns:a16="http://schemas.microsoft.com/office/drawing/2014/main" id="{AB9BAB87-0D9A-41B5-AB8B-4A9E022FF9B1}"/>
              </a:ext>
            </a:extLst>
          </p:cNvPr>
          <p:cNvSpPr txBox="1">
            <a:spLocks/>
          </p:cNvSpPr>
          <p:nvPr/>
        </p:nvSpPr>
        <p:spPr>
          <a:xfrm>
            <a:off x="304801" y="1725654"/>
            <a:ext cx="7208807" cy="4801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Utilize for additional training resources.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Login as </a:t>
            </a:r>
            <a:r>
              <a:rPr kumimoji="0" lang="en-US" sz="2800" b="1"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AWS Partner</a:t>
            </a: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using APN credentials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Utilize for supplemental materials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Utilize for official practice question sets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E3D"/>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Explore and learn!</a:t>
            </a:r>
          </a:p>
        </p:txBody>
      </p:sp>
      <p:pic>
        <p:nvPicPr>
          <p:cNvPr id="4" name="Picture 3">
            <a:extLst>
              <a:ext uri="{FF2B5EF4-FFF2-40B4-BE49-F238E27FC236}">
                <a16:creationId xmlns:a16="http://schemas.microsoft.com/office/drawing/2014/main" id="{DFA9314F-093E-446F-A1BB-1A45F420A5F7}"/>
              </a:ext>
            </a:extLst>
          </p:cNvPr>
          <p:cNvPicPr>
            <a:picLocks noChangeAspect="1"/>
          </p:cNvPicPr>
          <p:nvPr/>
        </p:nvPicPr>
        <p:blipFill>
          <a:blip r:embed="rId3"/>
          <a:stretch>
            <a:fillRect/>
          </a:stretch>
        </p:blipFill>
        <p:spPr>
          <a:xfrm>
            <a:off x="7615919" y="1770320"/>
            <a:ext cx="4190620" cy="4136039"/>
          </a:xfrm>
          <a:prstGeom prst="rect">
            <a:avLst/>
          </a:prstGeom>
          <a:ln>
            <a:solidFill>
              <a:srgbClr val="FF7351"/>
            </a:solidFill>
          </a:ln>
        </p:spPr>
      </p:pic>
      <p:sp>
        <p:nvSpPr>
          <p:cNvPr id="5" name="Rectangle 4">
            <a:extLst>
              <a:ext uri="{FF2B5EF4-FFF2-40B4-BE49-F238E27FC236}">
                <a16:creationId xmlns:a16="http://schemas.microsoft.com/office/drawing/2014/main" id="{7CC03B1D-55B2-454A-97C7-DEB3DF6BEEF9}"/>
              </a:ext>
            </a:extLst>
          </p:cNvPr>
          <p:cNvSpPr/>
          <p:nvPr/>
        </p:nvSpPr>
        <p:spPr>
          <a:xfrm>
            <a:off x="7718527" y="4456094"/>
            <a:ext cx="3985404" cy="55209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Rectangle 7">
            <a:hlinkClick r:id="rId4"/>
            <a:extLst>
              <a:ext uri="{FF2B5EF4-FFF2-40B4-BE49-F238E27FC236}">
                <a16:creationId xmlns:a16="http://schemas.microsoft.com/office/drawing/2014/main" id="{9B982965-71FA-4255-A61C-2A8D6E47FF52}"/>
              </a:ext>
            </a:extLst>
          </p:cNvPr>
          <p:cNvSpPr/>
          <p:nvPr/>
        </p:nvSpPr>
        <p:spPr>
          <a:xfrm>
            <a:off x="2725947" y="5321346"/>
            <a:ext cx="2794959" cy="664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anose="020F0502020204030204"/>
                <a:ea typeface="+mn-ea"/>
                <a:cs typeface="+mn-cs"/>
              </a:rPr>
              <a:t>Click here!</a:t>
            </a:r>
          </a:p>
        </p:txBody>
      </p:sp>
      <p:pic>
        <p:nvPicPr>
          <p:cNvPr id="9" name="Picture 8">
            <a:extLst>
              <a:ext uri="{FF2B5EF4-FFF2-40B4-BE49-F238E27FC236}">
                <a16:creationId xmlns:a16="http://schemas.microsoft.com/office/drawing/2014/main" id="{FE63F354-4CA4-492B-88A0-789869B5910E}"/>
              </a:ext>
            </a:extLst>
          </p:cNvPr>
          <p:cNvPicPr>
            <a:picLocks noChangeAspect="1"/>
          </p:cNvPicPr>
          <p:nvPr/>
        </p:nvPicPr>
        <p:blipFill>
          <a:blip r:embed="rId5"/>
          <a:stretch>
            <a:fillRect/>
          </a:stretch>
        </p:blipFill>
        <p:spPr>
          <a:xfrm>
            <a:off x="1526875" y="5121148"/>
            <a:ext cx="1061050" cy="1158605"/>
          </a:xfrm>
          <a:prstGeom prst="rect">
            <a:avLst/>
          </a:prstGeom>
        </p:spPr>
      </p:pic>
    </p:spTree>
    <p:extLst>
      <p:ext uri="{BB962C8B-B14F-4D97-AF65-F5344CB8AC3E}">
        <p14:creationId xmlns:p14="http://schemas.microsoft.com/office/powerpoint/2010/main" val="2387265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FE9900"/>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FE9900"/>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FE9900"/>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2701</TotalTime>
  <Words>4508</Words>
  <Application>Microsoft Office PowerPoint</Application>
  <PresentationFormat>Widescreen</PresentationFormat>
  <Paragraphs>388</Paragraphs>
  <Slides>22</Slides>
  <Notes>22</Notes>
  <HiddenSlides>3</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22</vt:i4>
      </vt:variant>
    </vt:vector>
  </HeadingPairs>
  <TitlesOfParts>
    <vt:vector size="33" baseType="lpstr">
      <vt:lpstr>Amazon Ember</vt:lpstr>
      <vt:lpstr>Amazon Ember Display</vt:lpstr>
      <vt:lpstr>Amazon Ember Display Heavy</vt:lpstr>
      <vt:lpstr>Amazon Ember Heavy</vt:lpstr>
      <vt:lpstr>Amazon Ember Light</vt:lpstr>
      <vt:lpstr>Amazon Ember Mono</vt:lpstr>
      <vt:lpstr>Arial</vt:lpstr>
      <vt:lpstr>Calibri</vt:lpstr>
      <vt:lpstr>Office Theme</vt:lpstr>
      <vt:lpstr>2_Office Theme</vt:lpstr>
      <vt:lpstr>1_Office Theme</vt:lpstr>
      <vt:lpstr>PowerPoint Presentation</vt:lpstr>
      <vt:lpstr>Event Kick-Off</vt:lpstr>
      <vt:lpstr>Todays Learning Outcomes</vt:lpstr>
      <vt:lpstr>About AWS Certifications</vt:lpstr>
      <vt:lpstr>AWS Certifications: identify talent, drive business results </vt:lpstr>
      <vt:lpstr>AWS Certified Developer - Associate</vt:lpstr>
      <vt:lpstr>Event Overview</vt:lpstr>
      <vt:lpstr>Weekly Event Summary</vt:lpstr>
      <vt:lpstr>OPTIONAL AWS Skill Builder Subscription</vt:lpstr>
      <vt:lpstr>Promotional Campaigns available to YOU</vt:lpstr>
      <vt:lpstr>Week 1 Digital Training Curriculum</vt:lpstr>
      <vt:lpstr>Exam Experience &amp; Contents</vt:lpstr>
      <vt:lpstr>PowerPoint Presentation</vt:lpstr>
      <vt:lpstr>AWS Certified - Associate Exam Domains</vt:lpstr>
      <vt:lpstr>Account Set-up Demo (Feel free to drop off if you’re already set-up!)</vt:lpstr>
      <vt:lpstr>AWS Skill Builder Access </vt:lpstr>
      <vt:lpstr>Exam Registration</vt:lpstr>
      <vt:lpstr>Connecting your Certification</vt:lpstr>
      <vt:lpstr>Q&amp;A Time!</vt:lpstr>
      <vt:lpstr>Thanks for joining!</vt:lpstr>
      <vt:lpstr>AWS Partner Network (APN) Account</vt:lpstr>
      <vt:lpstr>AWS Skill Builder Access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APCR DVA Kick Off</dc:title>
  <dc:subject>Cloud Practitioner Sprint</dc:subject>
  <dc:creator>AWS Partner Training</dc:creator>
  <cp:lastModifiedBy>Smith, Brady</cp:lastModifiedBy>
  <cp:revision>99</cp:revision>
  <dcterms:created xsi:type="dcterms:W3CDTF">2023-09-28T13:18:13Z</dcterms:created>
  <dcterms:modified xsi:type="dcterms:W3CDTF">2026-09-09T04:31:31Z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2025-06-19T21:55:45Z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c6077c6b-5d9b-4f72-9cd6-030954a9b5cd</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