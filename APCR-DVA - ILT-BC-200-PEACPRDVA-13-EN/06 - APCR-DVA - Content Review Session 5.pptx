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6" r:id="rId63"/>
    <p:sldId id="318" r:id="rId64"/>
    <p:sldId id="319" r:id="rId65"/>
    <p:sldId id="320" r:id="rId66"/>
    <p:sldId id="321" r:id="rId67"/>
  </p:sldIdLst>
  <p:sldSz cx="12192000" cy="6858000"/>
  <p:notesSz cx="6858000" cy="9144000"/>
  <p:defaultTextStyle>
    <a:defPPr>
      <a:defRPr lang="en-US"/>
    </a:defPPr>
    <a:lvl1pPr marL="0" algn="l" defTabSz="1097212" rtl="0" eaLnBrk="1" latinLnBrk="0" hangingPunct="1">
      <a:defRPr sz="2118" kern="1200">
        <a:solidFill>
          <a:schemeClr val="tx1"/>
        </a:solidFill>
        <a:latin typeface="+mn-lt"/>
        <a:ea typeface="+mn-ea"/>
        <a:cs typeface="+mn-cs"/>
      </a:defRPr>
    </a:lvl1pPr>
    <a:lvl2pPr marL="548606" algn="l" defTabSz="1097212" rtl="0" eaLnBrk="1" latinLnBrk="0" hangingPunct="1">
      <a:defRPr sz="2118" kern="1200">
        <a:solidFill>
          <a:schemeClr val="tx1"/>
        </a:solidFill>
        <a:latin typeface="+mn-lt"/>
        <a:ea typeface="+mn-ea"/>
        <a:cs typeface="+mn-cs"/>
      </a:defRPr>
    </a:lvl2pPr>
    <a:lvl3pPr marL="1097212" algn="l" defTabSz="1097212" rtl="0" eaLnBrk="1" latinLnBrk="0" hangingPunct="1">
      <a:defRPr sz="2118" kern="1200">
        <a:solidFill>
          <a:schemeClr val="tx1"/>
        </a:solidFill>
        <a:latin typeface="+mn-lt"/>
        <a:ea typeface="+mn-ea"/>
        <a:cs typeface="+mn-cs"/>
      </a:defRPr>
    </a:lvl3pPr>
    <a:lvl4pPr marL="1645818" algn="l" defTabSz="1097212" rtl="0" eaLnBrk="1" latinLnBrk="0" hangingPunct="1">
      <a:defRPr sz="2118" kern="1200">
        <a:solidFill>
          <a:schemeClr val="tx1"/>
        </a:solidFill>
        <a:latin typeface="+mn-lt"/>
        <a:ea typeface="+mn-ea"/>
        <a:cs typeface="+mn-cs"/>
      </a:defRPr>
    </a:lvl4pPr>
    <a:lvl5pPr marL="2194424" algn="l" defTabSz="1097212" rtl="0" eaLnBrk="1" latinLnBrk="0" hangingPunct="1">
      <a:defRPr sz="2118" kern="1200">
        <a:solidFill>
          <a:schemeClr val="tx1"/>
        </a:solidFill>
        <a:latin typeface="+mn-lt"/>
        <a:ea typeface="+mn-ea"/>
        <a:cs typeface="+mn-cs"/>
      </a:defRPr>
    </a:lvl5pPr>
    <a:lvl6pPr marL="2743031" algn="l" defTabSz="1097212" rtl="0" eaLnBrk="1" latinLnBrk="0" hangingPunct="1">
      <a:defRPr sz="2118" kern="1200">
        <a:solidFill>
          <a:schemeClr val="tx1"/>
        </a:solidFill>
        <a:latin typeface="+mn-lt"/>
        <a:ea typeface="+mn-ea"/>
        <a:cs typeface="+mn-cs"/>
      </a:defRPr>
    </a:lvl6pPr>
    <a:lvl7pPr marL="3291635" algn="l" defTabSz="1097212" rtl="0" eaLnBrk="1" latinLnBrk="0" hangingPunct="1">
      <a:defRPr sz="2118" kern="1200">
        <a:solidFill>
          <a:schemeClr val="tx1"/>
        </a:solidFill>
        <a:latin typeface="+mn-lt"/>
        <a:ea typeface="+mn-ea"/>
        <a:cs typeface="+mn-cs"/>
      </a:defRPr>
    </a:lvl7pPr>
    <a:lvl8pPr marL="3840241" algn="l" defTabSz="1097212" rtl="0" eaLnBrk="1" latinLnBrk="0" hangingPunct="1">
      <a:defRPr sz="2118" kern="1200">
        <a:solidFill>
          <a:schemeClr val="tx1"/>
        </a:solidFill>
        <a:latin typeface="+mn-lt"/>
        <a:ea typeface="+mn-ea"/>
        <a:cs typeface="+mn-cs"/>
      </a:defRPr>
    </a:lvl8pPr>
    <a:lvl9pPr marL="4388848" algn="l" defTabSz="1097212" rtl="0" eaLnBrk="1" latinLnBrk="0" hangingPunct="1">
      <a:defRPr sz="211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DCFE45-2F63-4114-A142-01ABA68FB7C2}" v="9" dt="2026-09-09T00:25:12.6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00" autoAdjust="0"/>
    <p:restoredTop sz="61719" autoAdjust="0"/>
  </p:normalViewPr>
  <p:slideViewPr>
    <p:cSldViewPr snapToGrid="0" snapToObjects="1">
      <p:cViewPr varScale="1">
        <p:scale>
          <a:sx n="99" d="100"/>
          <a:sy n="99" d="100"/>
        </p:scale>
        <p:origin x="21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microsoft.com/office/2016/11/relationships/changesInfo" Target="changesInfos/changesInfo1.xml"/><Relationship Id="rId7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Brady" userId="e76634a4-7138-4bc5-b76d-07c789b36324" providerId="ADAL" clId="{9E9136EE-B768-4B6D-95DA-B300D70FE1B5}"/>
    <pc:docChg chg="undo custSel addSld delSld modSld sldOrd modMainMaster">
      <pc:chgData name="Smith, Brady" userId="e76634a4-7138-4bc5-b76d-07c789b36324" providerId="ADAL" clId="{9E9136EE-B768-4B6D-95DA-B300D70FE1B5}" dt="2026-09-09T00:26:53.254" v="539"/>
      <pc:docMkLst>
        <pc:docMk/>
      </pc:docMkLst>
      <pc:sldChg chg="modSp mod">
        <pc:chgData name="Smith, Brady" userId="e76634a4-7138-4bc5-b76d-07c789b36324" providerId="ADAL" clId="{9E9136EE-B768-4B6D-95DA-B300D70FE1B5}" dt="2026-09-09T00:26:34.029" v="537" actId="1076"/>
        <pc:sldMkLst>
          <pc:docMk/>
          <pc:sldMk cId="0" sldId="307"/>
        </pc:sldMkLst>
        <pc:spChg chg="mod">
          <ac:chgData name="Smith, Brady" userId="e76634a4-7138-4bc5-b76d-07c789b36324" providerId="ADAL" clId="{9E9136EE-B768-4B6D-95DA-B300D70FE1B5}" dt="2026-09-09T00:26:32.059" v="536" actId="1076"/>
          <ac:spMkLst>
            <pc:docMk/>
            <pc:sldMk cId="0" sldId="307"/>
            <ac:spMk id="5" creationId="{00000000-0000-0000-0000-000000000000}"/>
          </ac:spMkLst>
        </pc:spChg>
        <pc:spChg chg="mod">
          <ac:chgData name="Smith, Brady" userId="e76634a4-7138-4bc5-b76d-07c789b36324" providerId="ADAL" clId="{9E9136EE-B768-4B6D-95DA-B300D70FE1B5}" dt="2026-09-09T00:26:34.029" v="537" actId="1076"/>
          <ac:spMkLst>
            <pc:docMk/>
            <pc:sldMk cId="0" sldId="307"/>
            <ac:spMk id="6" creationId="{00000000-0000-0000-0000-000000000000}"/>
          </ac:spMkLst>
        </pc:spChg>
        <pc:spChg chg="mod">
          <ac:chgData name="Smith, Brady" userId="e76634a4-7138-4bc5-b76d-07c789b36324" providerId="ADAL" clId="{9E9136EE-B768-4B6D-95DA-B300D70FE1B5}" dt="2026-09-09T00:26:24.718" v="534" actId="1076"/>
          <ac:spMkLst>
            <pc:docMk/>
            <pc:sldMk cId="0" sldId="307"/>
            <ac:spMk id="7" creationId="{00000000-0000-0000-0000-000000000000}"/>
          </ac:spMkLst>
        </pc:spChg>
        <pc:spChg chg="mod">
          <ac:chgData name="Smith, Brady" userId="e76634a4-7138-4bc5-b76d-07c789b36324" providerId="ADAL" clId="{9E9136EE-B768-4B6D-95DA-B300D70FE1B5}" dt="2026-09-09T00:26:24.718" v="534" actId="1076"/>
          <ac:spMkLst>
            <pc:docMk/>
            <pc:sldMk cId="0" sldId="307"/>
            <ac:spMk id="9" creationId="{00000000-0000-0000-0000-000000000000}"/>
          </ac:spMkLst>
        </pc:spChg>
        <pc:spChg chg="mod">
          <ac:chgData name="Smith, Brady" userId="e76634a4-7138-4bc5-b76d-07c789b36324" providerId="ADAL" clId="{9E9136EE-B768-4B6D-95DA-B300D70FE1B5}" dt="2026-09-09T00:26:24.718" v="534" actId="1076"/>
          <ac:spMkLst>
            <pc:docMk/>
            <pc:sldMk cId="0" sldId="307"/>
            <ac:spMk id="17" creationId="{00000000-0000-0000-0000-000000000000}"/>
          </ac:spMkLst>
        </pc:spChg>
        <pc:spChg chg="mod">
          <ac:chgData name="Smith, Brady" userId="e76634a4-7138-4bc5-b76d-07c789b36324" providerId="ADAL" clId="{9E9136EE-B768-4B6D-95DA-B300D70FE1B5}" dt="2026-09-09T00:26:24.718" v="534" actId="1076"/>
          <ac:spMkLst>
            <pc:docMk/>
            <pc:sldMk cId="0" sldId="307"/>
            <ac:spMk id="18" creationId="{00000000-0000-0000-0000-000000000000}"/>
          </ac:spMkLst>
        </pc:spChg>
        <pc:spChg chg="mod">
          <ac:chgData name="Smith, Brady" userId="e76634a4-7138-4bc5-b76d-07c789b36324" providerId="ADAL" clId="{9E9136EE-B768-4B6D-95DA-B300D70FE1B5}" dt="2026-09-09T00:26:24.718" v="534" actId="1076"/>
          <ac:spMkLst>
            <pc:docMk/>
            <pc:sldMk cId="0" sldId="307"/>
            <ac:spMk id="19" creationId="{00000000-0000-0000-0000-000000000000}"/>
          </ac:spMkLst>
        </pc:spChg>
        <pc:spChg chg="mod">
          <ac:chgData name="Smith, Brady" userId="e76634a4-7138-4bc5-b76d-07c789b36324" providerId="ADAL" clId="{9E9136EE-B768-4B6D-95DA-B300D70FE1B5}" dt="2026-09-09T00:26:24.718" v="534" actId="1076"/>
          <ac:spMkLst>
            <pc:docMk/>
            <pc:sldMk cId="0" sldId="307"/>
            <ac:spMk id="21" creationId="{00000000-0000-0000-0000-000000000000}"/>
          </ac:spMkLst>
        </pc:spChg>
        <pc:spChg chg="mod">
          <ac:chgData name="Smith, Brady" userId="e76634a4-7138-4bc5-b76d-07c789b36324" providerId="ADAL" clId="{9E9136EE-B768-4B6D-95DA-B300D70FE1B5}" dt="2026-09-09T00:26:24.718" v="534" actId="1076"/>
          <ac:spMkLst>
            <pc:docMk/>
            <pc:sldMk cId="0" sldId="307"/>
            <ac:spMk id="22" creationId="{00000000-0000-0000-0000-000000000000}"/>
          </ac:spMkLst>
        </pc:spChg>
        <pc:spChg chg="mod">
          <ac:chgData name="Smith, Brady" userId="e76634a4-7138-4bc5-b76d-07c789b36324" providerId="ADAL" clId="{9E9136EE-B768-4B6D-95DA-B300D70FE1B5}" dt="2026-09-09T00:26:24.718" v="534" actId="1076"/>
          <ac:spMkLst>
            <pc:docMk/>
            <pc:sldMk cId="0" sldId="307"/>
            <ac:spMk id="24" creationId="{00000000-0000-0000-0000-000000000000}"/>
          </ac:spMkLst>
        </pc:spChg>
        <pc:spChg chg="mod">
          <ac:chgData name="Smith, Brady" userId="e76634a4-7138-4bc5-b76d-07c789b36324" providerId="ADAL" clId="{9E9136EE-B768-4B6D-95DA-B300D70FE1B5}" dt="2026-09-09T00:26:24.718" v="534" actId="1076"/>
          <ac:spMkLst>
            <pc:docMk/>
            <pc:sldMk cId="0" sldId="307"/>
            <ac:spMk id="26" creationId="{00000000-0000-0000-0000-000000000000}"/>
          </ac:spMkLst>
        </pc:spChg>
        <pc:spChg chg="mod">
          <ac:chgData name="Smith, Brady" userId="e76634a4-7138-4bc5-b76d-07c789b36324" providerId="ADAL" clId="{9E9136EE-B768-4B6D-95DA-B300D70FE1B5}" dt="2026-09-09T00:26:24.718" v="534" actId="1076"/>
          <ac:spMkLst>
            <pc:docMk/>
            <pc:sldMk cId="0" sldId="307"/>
            <ac:spMk id="31" creationId="{00000000-0000-0000-0000-000000000000}"/>
          </ac:spMkLst>
        </pc:spChg>
      </pc:sldChg>
      <pc:sldChg chg="modSp mod ord">
        <pc:chgData name="Smith, Brady" userId="e76634a4-7138-4bc5-b76d-07c789b36324" providerId="ADAL" clId="{9E9136EE-B768-4B6D-95DA-B300D70FE1B5}" dt="2026-09-09T00:26:53.254" v="539"/>
        <pc:sldMkLst>
          <pc:docMk/>
          <pc:sldMk cId="0" sldId="316"/>
        </pc:sldMkLst>
        <pc:picChg chg="mod">
          <ac:chgData name="Smith, Brady" userId="e76634a4-7138-4bc5-b76d-07c789b36324" providerId="ADAL" clId="{9E9136EE-B768-4B6D-95DA-B300D70FE1B5}" dt="2026-09-08T22:17:29.360" v="530" actId="1076"/>
          <ac:picMkLst>
            <pc:docMk/>
            <pc:sldMk cId="0" sldId="316"/>
            <ac:picMk id="4" creationId="{00000000-0000-0000-0000-000000000000}"/>
          </ac:picMkLst>
        </pc:picChg>
      </pc:sldChg>
      <pc:sldChg chg="addSp delSp modSp add del mod modNotesTx">
        <pc:chgData name="Smith, Brady" userId="e76634a4-7138-4bc5-b76d-07c789b36324" providerId="ADAL" clId="{9E9136EE-B768-4B6D-95DA-B300D70FE1B5}" dt="2026-09-08T22:17:20.900" v="528" actId="47"/>
        <pc:sldMkLst>
          <pc:docMk/>
          <pc:sldMk cId="3434568632" sldId="322"/>
        </pc:sldMkLst>
        <pc:spChg chg="mod">
          <ac:chgData name="Smith, Brady" userId="e76634a4-7138-4bc5-b76d-07c789b36324" providerId="ADAL" clId="{9E9136EE-B768-4B6D-95DA-B300D70FE1B5}" dt="2026-09-08T22:11:02.666" v="39" actId="20577"/>
          <ac:spMkLst>
            <pc:docMk/>
            <pc:sldMk cId="3434568632" sldId="322"/>
            <ac:spMk id="2" creationId="{A3249257-1424-91F3-51FB-A84FF6F4665B}"/>
          </ac:spMkLst>
        </pc:spChg>
        <pc:spChg chg="mod">
          <ac:chgData name="Smith, Brady" userId="e76634a4-7138-4bc5-b76d-07c789b36324" providerId="ADAL" clId="{9E9136EE-B768-4B6D-95DA-B300D70FE1B5}" dt="2026-09-08T22:11:46.109" v="47" actId="20577"/>
          <ac:spMkLst>
            <pc:docMk/>
            <pc:sldMk cId="3434568632" sldId="322"/>
            <ac:spMk id="4" creationId="{D5142FD4-F37C-8521-C202-0C9FEF054079}"/>
          </ac:spMkLst>
        </pc:spChg>
        <pc:spChg chg="mod">
          <ac:chgData name="Smith, Brady" userId="e76634a4-7138-4bc5-b76d-07c789b36324" providerId="ADAL" clId="{9E9136EE-B768-4B6D-95DA-B300D70FE1B5}" dt="2026-09-08T22:14:38.849" v="351" actId="14100"/>
          <ac:spMkLst>
            <pc:docMk/>
            <pc:sldMk cId="3434568632" sldId="322"/>
            <ac:spMk id="5" creationId="{4A5CF967-6B6E-40DF-3115-903DB664E90C}"/>
          </ac:spMkLst>
        </pc:spChg>
        <pc:spChg chg="mod">
          <ac:chgData name="Smith, Brady" userId="e76634a4-7138-4bc5-b76d-07c789b36324" providerId="ADAL" clId="{9E9136EE-B768-4B6D-95DA-B300D70FE1B5}" dt="2026-09-08T22:12:34.232" v="67" actId="20577"/>
          <ac:spMkLst>
            <pc:docMk/>
            <pc:sldMk cId="3434568632" sldId="322"/>
            <ac:spMk id="6" creationId="{DAEB6BF9-0BCE-B7DC-2FBD-6A88EDD2C438}"/>
          </ac:spMkLst>
        </pc:spChg>
        <pc:spChg chg="mod">
          <ac:chgData name="Smith, Brady" userId="e76634a4-7138-4bc5-b76d-07c789b36324" providerId="ADAL" clId="{9E9136EE-B768-4B6D-95DA-B300D70FE1B5}" dt="2026-09-08T22:13:10.273" v="114" actId="20577"/>
          <ac:spMkLst>
            <pc:docMk/>
            <pc:sldMk cId="3434568632" sldId="322"/>
            <ac:spMk id="8" creationId="{270241B5-2CC6-8021-1BC1-00B53A117BAD}"/>
          </ac:spMkLst>
        </pc:spChg>
        <pc:spChg chg="mod">
          <ac:chgData name="Smith, Brady" userId="e76634a4-7138-4bc5-b76d-07c789b36324" providerId="ADAL" clId="{9E9136EE-B768-4B6D-95DA-B300D70FE1B5}" dt="2026-09-08T22:13:23.648" v="136" actId="20577"/>
          <ac:spMkLst>
            <pc:docMk/>
            <pc:sldMk cId="3434568632" sldId="322"/>
            <ac:spMk id="10" creationId="{012FF115-ED95-7CE6-3584-7AB13426E2E0}"/>
          </ac:spMkLst>
        </pc:spChg>
        <pc:spChg chg="mod">
          <ac:chgData name="Smith, Brady" userId="e76634a4-7138-4bc5-b76d-07c789b36324" providerId="ADAL" clId="{9E9136EE-B768-4B6D-95DA-B300D70FE1B5}" dt="2026-09-08T22:13:38.510" v="176" actId="20577"/>
          <ac:spMkLst>
            <pc:docMk/>
            <pc:sldMk cId="3434568632" sldId="322"/>
            <ac:spMk id="12" creationId="{4FC94A85-402D-014A-D7BD-78AFC1F17563}"/>
          </ac:spMkLst>
        </pc:spChg>
        <pc:spChg chg="mod">
          <ac:chgData name="Smith, Brady" userId="e76634a4-7138-4bc5-b76d-07c789b36324" providerId="ADAL" clId="{9E9136EE-B768-4B6D-95DA-B300D70FE1B5}" dt="2026-09-08T22:15:10.310" v="386" actId="20577"/>
          <ac:spMkLst>
            <pc:docMk/>
            <pc:sldMk cId="3434568632" sldId="322"/>
            <ac:spMk id="14" creationId="{8A1F078A-F5B4-8F2B-97F6-3DF182B8C221}"/>
          </ac:spMkLst>
        </pc:spChg>
        <pc:spChg chg="del">
          <ac:chgData name="Smith, Brady" userId="e76634a4-7138-4bc5-b76d-07c789b36324" providerId="ADAL" clId="{9E9136EE-B768-4B6D-95DA-B300D70FE1B5}" dt="2026-09-08T22:11:32.943" v="41" actId="478"/>
          <ac:spMkLst>
            <pc:docMk/>
            <pc:sldMk cId="3434568632" sldId="322"/>
            <ac:spMk id="15" creationId="{0DB19372-EABA-5C0E-61EF-2A5CD5FD7B19}"/>
          </ac:spMkLst>
        </pc:spChg>
        <pc:spChg chg="del">
          <ac:chgData name="Smith, Brady" userId="e76634a4-7138-4bc5-b76d-07c789b36324" providerId="ADAL" clId="{9E9136EE-B768-4B6D-95DA-B300D70FE1B5}" dt="2026-09-08T22:11:32.943" v="41" actId="478"/>
          <ac:spMkLst>
            <pc:docMk/>
            <pc:sldMk cId="3434568632" sldId="322"/>
            <ac:spMk id="16" creationId="{642E85E5-ECEC-6A12-1647-35EE88728CD6}"/>
          </ac:spMkLst>
        </pc:spChg>
        <pc:spChg chg="del">
          <ac:chgData name="Smith, Brady" userId="e76634a4-7138-4bc5-b76d-07c789b36324" providerId="ADAL" clId="{9E9136EE-B768-4B6D-95DA-B300D70FE1B5}" dt="2026-09-08T22:11:32.943" v="41" actId="478"/>
          <ac:spMkLst>
            <pc:docMk/>
            <pc:sldMk cId="3434568632" sldId="322"/>
            <ac:spMk id="17" creationId="{C8E5C717-3111-0695-CFC4-C4FD55825FC4}"/>
          </ac:spMkLst>
        </pc:spChg>
        <pc:spChg chg="del">
          <ac:chgData name="Smith, Brady" userId="e76634a4-7138-4bc5-b76d-07c789b36324" providerId="ADAL" clId="{9E9136EE-B768-4B6D-95DA-B300D70FE1B5}" dt="2026-09-08T22:11:32.943" v="41" actId="478"/>
          <ac:spMkLst>
            <pc:docMk/>
            <pc:sldMk cId="3434568632" sldId="322"/>
            <ac:spMk id="18" creationId="{4D392736-89E5-CBBE-954C-ECFFD33D3638}"/>
          </ac:spMkLst>
        </pc:spChg>
        <pc:spChg chg="del">
          <ac:chgData name="Smith, Brady" userId="e76634a4-7138-4bc5-b76d-07c789b36324" providerId="ADAL" clId="{9E9136EE-B768-4B6D-95DA-B300D70FE1B5}" dt="2026-09-08T22:11:32.943" v="41" actId="478"/>
          <ac:spMkLst>
            <pc:docMk/>
            <pc:sldMk cId="3434568632" sldId="322"/>
            <ac:spMk id="19" creationId="{15141506-0F59-31A2-759C-2162D4823F5A}"/>
          </ac:spMkLst>
        </pc:spChg>
        <pc:spChg chg="del">
          <ac:chgData name="Smith, Brady" userId="e76634a4-7138-4bc5-b76d-07c789b36324" providerId="ADAL" clId="{9E9136EE-B768-4B6D-95DA-B300D70FE1B5}" dt="2026-09-08T22:11:32.943" v="41" actId="478"/>
          <ac:spMkLst>
            <pc:docMk/>
            <pc:sldMk cId="3434568632" sldId="322"/>
            <ac:spMk id="20" creationId="{8865DF5A-A6EC-B6EA-75ED-F0A0AD93BCF2}"/>
          </ac:spMkLst>
        </pc:spChg>
        <pc:spChg chg="del">
          <ac:chgData name="Smith, Brady" userId="e76634a4-7138-4bc5-b76d-07c789b36324" providerId="ADAL" clId="{9E9136EE-B768-4B6D-95DA-B300D70FE1B5}" dt="2026-09-08T22:11:32.943" v="41" actId="478"/>
          <ac:spMkLst>
            <pc:docMk/>
            <pc:sldMk cId="3434568632" sldId="322"/>
            <ac:spMk id="21" creationId="{EE2A0CC3-6DC9-3690-5D3B-04A0324F035A}"/>
          </ac:spMkLst>
        </pc:spChg>
        <pc:spChg chg="del">
          <ac:chgData name="Smith, Brady" userId="e76634a4-7138-4bc5-b76d-07c789b36324" providerId="ADAL" clId="{9E9136EE-B768-4B6D-95DA-B300D70FE1B5}" dt="2026-09-08T22:11:32.943" v="41" actId="478"/>
          <ac:spMkLst>
            <pc:docMk/>
            <pc:sldMk cId="3434568632" sldId="322"/>
            <ac:spMk id="22" creationId="{C7E8CEE2-3112-3548-9449-89402878DDF5}"/>
          </ac:spMkLst>
        </pc:spChg>
        <pc:spChg chg="del">
          <ac:chgData name="Smith, Brady" userId="e76634a4-7138-4bc5-b76d-07c789b36324" providerId="ADAL" clId="{9E9136EE-B768-4B6D-95DA-B300D70FE1B5}" dt="2026-09-08T22:11:32.943" v="41" actId="478"/>
          <ac:spMkLst>
            <pc:docMk/>
            <pc:sldMk cId="3434568632" sldId="322"/>
            <ac:spMk id="23" creationId="{8A62BCB8-FBF9-3BF1-0EF9-D05AF9D26AD6}"/>
          </ac:spMkLst>
        </pc:spChg>
        <pc:spChg chg="del">
          <ac:chgData name="Smith, Brady" userId="e76634a4-7138-4bc5-b76d-07c789b36324" providerId="ADAL" clId="{9E9136EE-B768-4B6D-95DA-B300D70FE1B5}" dt="2026-09-08T22:11:32.943" v="41" actId="478"/>
          <ac:spMkLst>
            <pc:docMk/>
            <pc:sldMk cId="3434568632" sldId="322"/>
            <ac:spMk id="24" creationId="{94938809-977F-AD44-BC46-1409DA8DA51F}"/>
          </ac:spMkLst>
        </pc:spChg>
        <pc:spChg chg="mod">
          <ac:chgData name="Smith, Brady" userId="e76634a4-7138-4bc5-b76d-07c789b36324" providerId="ADAL" clId="{9E9136EE-B768-4B6D-95DA-B300D70FE1B5}" dt="2026-09-08T22:16:54.738" v="527" actId="14100"/>
          <ac:spMkLst>
            <pc:docMk/>
            <pc:sldMk cId="3434568632" sldId="322"/>
            <ac:spMk id="25" creationId="{8FDBE66D-31A6-2999-6C4E-C15B16BADB84}"/>
          </ac:spMkLst>
        </pc:spChg>
        <pc:spChg chg="add del">
          <ac:chgData name="Smith, Brady" userId="e76634a4-7138-4bc5-b76d-07c789b36324" providerId="ADAL" clId="{9E9136EE-B768-4B6D-95DA-B300D70FE1B5}" dt="2026-09-08T22:14:28.922" v="348" actId="22"/>
          <ac:spMkLst>
            <pc:docMk/>
            <pc:sldMk cId="3434568632" sldId="322"/>
            <ac:spMk id="29" creationId="{9ECED02D-9C6B-3329-7393-E24D89A7A347}"/>
          </ac:spMkLst>
        </pc:spChg>
        <pc:spChg chg="add mod">
          <ac:chgData name="Smith, Brady" userId="e76634a4-7138-4bc5-b76d-07c789b36324" providerId="ADAL" clId="{9E9136EE-B768-4B6D-95DA-B300D70FE1B5}" dt="2026-09-08T22:14:34.088" v="350" actId="1076"/>
          <ac:spMkLst>
            <pc:docMk/>
            <pc:sldMk cId="3434568632" sldId="322"/>
            <ac:spMk id="31" creationId="{74801D85-2B1B-C568-0484-44AD50F0EDBF}"/>
          </ac:spMkLst>
        </pc:spChg>
        <pc:spChg chg="add mod">
          <ac:chgData name="Smith, Brady" userId="e76634a4-7138-4bc5-b76d-07c789b36324" providerId="ADAL" clId="{9E9136EE-B768-4B6D-95DA-B300D70FE1B5}" dt="2026-09-08T22:16:00.320" v="438" actId="20577"/>
          <ac:spMkLst>
            <pc:docMk/>
            <pc:sldMk cId="3434568632" sldId="322"/>
            <ac:spMk id="33" creationId="{8E83990A-F4FE-181E-D9D2-97AE3F73DC4E}"/>
          </ac:spMkLst>
        </pc:spChg>
        <pc:picChg chg="add mod">
          <ac:chgData name="Smith, Brady" userId="e76634a4-7138-4bc5-b76d-07c789b36324" providerId="ADAL" clId="{9E9136EE-B768-4B6D-95DA-B300D70FE1B5}" dt="2026-09-08T22:11:39.060" v="45" actId="1076"/>
          <ac:picMkLst>
            <pc:docMk/>
            <pc:sldMk cId="3434568632" sldId="322"/>
            <ac:picMk id="27" creationId="{337E4A39-7482-2006-1DD4-6898B3502A8E}"/>
          </ac:picMkLst>
        </pc:picChg>
      </pc:sldChg>
      <pc:sldMasterChg chg="modSldLayout">
        <pc:chgData name="Smith, Brady" userId="e76634a4-7138-4bc5-b76d-07c789b36324" providerId="ADAL" clId="{9E9136EE-B768-4B6D-95DA-B300D70FE1B5}" dt="2026-09-09T00:25:12.697" v="533" actId="478"/>
        <pc:sldMasterMkLst>
          <pc:docMk/>
          <pc:sldMasterMk cId="2453282270" sldId="2147483719"/>
        </pc:sldMasterMkLst>
        <pc:sldLayoutChg chg="delSp">
          <pc:chgData name="Smith, Brady" userId="e76634a4-7138-4bc5-b76d-07c789b36324" providerId="ADAL" clId="{9E9136EE-B768-4B6D-95DA-B300D70FE1B5}" dt="2026-09-09T00:24:59.743" v="531" actId="478"/>
          <pc:sldLayoutMkLst>
            <pc:docMk/>
            <pc:sldMasterMk cId="2453282270" sldId="2147483719"/>
            <pc:sldLayoutMk cId="3466869745" sldId="2147483732"/>
          </pc:sldLayoutMkLst>
          <pc:spChg chg="del">
            <ac:chgData name="Smith, Brady" userId="e76634a4-7138-4bc5-b76d-07c789b36324" providerId="ADAL" clId="{9E9136EE-B768-4B6D-95DA-B300D70FE1B5}" dt="2026-09-09T00:24:59.743" v="531" actId="478"/>
            <ac:spMkLst>
              <pc:docMk/>
              <pc:sldMasterMk cId="2453282270" sldId="2147483719"/>
              <pc:sldLayoutMk cId="3466869745" sldId="2147483732"/>
              <ac:spMk id="9" creationId="{4B72D103-F60B-BA4F-B273-5267FBD41466}"/>
            </ac:spMkLst>
          </pc:spChg>
        </pc:sldLayoutChg>
        <pc:sldLayoutChg chg="delSp">
          <pc:chgData name="Smith, Brady" userId="e76634a4-7138-4bc5-b76d-07c789b36324" providerId="ADAL" clId="{9E9136EE-B768-4B6D-95DA-B300D70FE1B5}" dt="2026-09-09T00:25:04.391" v="532" actId="478"/>
          <pc:sldLayoutMkLst>
            <pc:docMk/>
            <pc:sldMasterMk cId="2453282270" sldId="2147483719"/>
            <pc:sldLayoutMk cId="331205351" sldId="2147483734"/>
          </pc:sldLayoutMkLst>
          <pc:spChg chg="del">
            <ac:chgData name="Smith, Brady" userId="e76634a4-7138-4bc5-b76d-07c789b36324" providerId="ADAL" clId="{9E9136EE-B768-4B6D-95DA-B300D70FE1B5}" dt="2026-09-09T00:25:04.391" v="532" actId="478"/>
            <ac:spMkLst>
              <pc:docMk/>
              <pc:sldMasterMk cId="2453282270" sldId="2147483719"/>
              <pc:sldLayoutMk cId="331205351" sldId="2147483734"/>
              <ac:spMk id="5" creationId="{10A17714-160B-4DD5-AD17-87D1FAA64762}"/>
            </ac:spMkLst>
          </pc:spChg>
        </pc:sldLayoutChg>
        <pc:sldLayoutChg chg="delSp">
          <pc:chgData name="Smith, Brady" userId="e76634a4-7138-4bc5-b76d-07c789b36324" providerId="ADAL" clId="{9E9136EE-B768-4B6D-95DA-B300D70FE1B5}" dt="2026-09-09T00:25:12.697" v="533" actId="478"/>
          <pc:sldLayoutMkLst>
            <pc:docMk/>
            <pc:sldMasterMk cId="2453282270" sldId="2147483719"/>
            <pc:sldLayoutMk cId="1498525648" sldId="2147483735"/>
          </pc:sldLayoutMkLst>
          <pc:spChg chg="del">
            <ac:chgData name="Smith, Brady" userId="e76634a4-7138-4bc5-b76d-07c789b36324" providerId="ADAL" clId="{9E9136EE-B768-4B6D-95DA-B300D70FE1B5}" dt="2026-09-09T00:25:12.697" v="533" actId="478"/>
            <ac:spMkLst>
              <pc:docMk/>
              <pc:sldMasterMk cId="2453282270" sldId="2147483719"/>
              <pc:sldLayoutMk cId="1498525648" sldId="2147483735"/>
              <ac:spMk id="5" creationId="{22E16A87-F70F-40B2-8EE4-FCB74B67DBC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C9830B-90A4-EA47-B8ED-2BCF3026A73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A6E1F-B7C3-CB4A-8789-7F0039C49383}" type="slidenum">
              <a:rPr lang="en-US" smtClean="0"/>
              <a:t>‹#›</a:t>
            </a:fld>
            <a:endParaRPr lang="en-US"/>
          </a:p>
        </p:txBody>
      </p:sp>
    </p:spTree>
    <p:extLst>
      <p:ext uri="{BB962C8B-B14F-4D97-AF65-F5344CB8AC3E}">
        <p14:creationId xmlns:p14="http://schemas.microsoft.com/office/powerpoint/2010/main" val="350957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This slide is hidden on purpose. Confirm it stays hidden, or delete it, before you export a PDF or share the deck with a partner.</a:t>
            </a:r>
          </a:p>
          <a:p>
            <a:endParaRPr/>
          </a:p>
          <a:p>
            <a:pPr>
              <a:spcAft>
                <a:spcPts val="600"/>
              </a:spcAft>
            </a:pPr>
            <a:r>
              <a:t>The content is APCR-team owned and is licensed only for delivery inside an authorized event. If a partner asks for the deck, point them to the official event materials rather than forwarding this file.</a:t>
            </a:r>
          </a:p>
          <a:p>
            <a:endParaRPr/>
          </a:p>
          <a:p>
            <a:pPr>
              <a:spcAft>
                <a:spcPts val="600"/>
              </a:spcAft>
            </a:pPr>
            <a:r>
              <a:t>Nothing here is presented to the room. Advance straight past it into the title slide.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DUAL-LENS TALK TRACKS -- READ THIS FIRST. This deck is written from a systems-integrator, advisory point of view by default: the partner is advising someone else who owns the decision. That is the voice of the ADVISORY track.</a:t>
            </a:r>
          </a:p>
          <a:p>
            <a:endParaRPr/>
          </a:p>
          <a:p>
            <a:pPr>
              <a:spcAft>
                <a:spcPts val="600"/>
              </a:spcAft>
            </a:pPr>
            <a:r>
              <a:t>Remind the room early that the customer and an internal stakeholder are interchangeable. A consulting partner advises a client; a technology partner or ISV is often advising their own product team, security reviewer or account owner. The advice does not change when the other party sits inside your own company.</a:t>
            </a:r>
          </a:p>
          <a:p>
            <a:endParaRPr/>
          </a:p>
          <a:p>
            <a:pPr>
              <a:spcAft>
                <a:spcPts val="600"/>
              </a:spcAft>
            </a:pPr>
            <a:r>
              <a:t>SO EVERY TEACHING SLIDE AND EVERY QUESTION EXPLAINER CARRIES TWO PARTNER PARAGRAPHS, and you use exactly one of them.</a:t>
            </a:r>
          </a:p>
          <a:p>
            <a:endParaRPr/>
          </a:p>
          <a:p>
            <a:pPr>
              <a:spcAft>
                <a:spcPts val="600"/>
              </a:spcAft>
            </a:pPr>
            <a:r>
              <a:t>Use PARTNER CONTEXT · ADVISORY for a public delivery or any mixed room -- it frames the partner as guiding a customer's decision. Use PARTNER CONTEXT · OPERATOR for a private delivery where you know the whole room runs the system themselves.</a:t>
            </a:r>
          </a:p>
          <a:p>
            <a:endParaRPr/>
          </a:p>
          <a:p>
            <a:pPr>
              <a:spcAft>
                <a:spcPts val="600"/>
              </a:spcAft>
            </a:pPr>
            <a:r>
              <a:t>If you are unsure which room you are in, use ADVISORY. It is the default, it is the voice the rest of the program is written in, and it still lands with an operator because the reminder above tells them the other party can be internal.</a:t>
            </a:r>
          </a:p>
          <a:p>
            <a:endParaRPr/>
          </a:p>
          <a:p>
            <a:pPr>
              <a:spcAft>
                <a:spcPts val="600"/>
              </a:spcAft>
            </a:pPr>
            <a:r>
              <a:t>WHY THIS SLIDE EXISTS: this session teaches toward the DVA-C03 version of the Developer Associate exam. The three appendix slides cover DVA-C02, the version live today, so anyone choosing to sit the current exam still has a reference. They are not this week's teaching content.</a:t>
            </a:r>
          </a:p>
          <a:p>
            <a:endParaRPr/>
          </a:p>
          <a:p>
            <a:pPr>
              <a:spcAft>
                <a:spcPts val="600"/>
              </a:spcAft>
            </a:pPr>
            <a:r>
              <a:t>THE APPENDIX PRINTS DOMAIN AND TASK NUMBERS, AND THAT IS DELIBERATE. Nowhere else in the program do those numbers appear on screen. The appendix compares one exam version against another, so the identifiers are its subject -- a candidate needs them to find the matching rows in their own exam guide.</a:t>
            </a:r>
          </a:p>
          <a:p>
            <a:endParaRPr/>
          </a:p>
          <a:p>
            <a:pPr>
              <a:spcAft>
                <a:spcPts val="600"/>
              </a:spcAft>
            </a:pPr>
            <a:r>
              <a:t>⚠ THE ONE TRAP UNIQUE TO THIS WEEK: the task number 2.3 exists on both exams and means two different things. On DVA-C02 it is sensitive data. On DVA-C03 it is a brand-new task for the security of using and integrating AI services.</a:t>
            </a:r>
          </a:p>
          <a:p>
            <a:endParaRPr/>
          </a:p>
          <a:p>
            <a:pPr>
              <a:spcAft>
                <a:spcPts val="600"/>
              </a:spcAft>
            </a:pPr>
            <a:r>
              <a:t>If anyone in the room is sitting C02 and taking notes by task number, say that out loud -- nothing about the number itself warns them.</a:t>
            </a:r>
          </a:p>
          <a:p>
            <a:endParaRPr/>
          </a:p>
          <a:p>
            <a:pPr>
              <a:spcAft>
                <a:spcPts val="600"/>
              </a:spcAft>
            </a:pPr>
            <a:r>
              <a:t>⚠ AWS APPSYNC IS ABSENT FROM THIS DECK ON PURPOSE. It is in the published DVA-C02 in-scope list, and this deck targets C03, so a C02 candidate needs to study it separately.</a:t>
            </a:r>
          </a:p>
          <a:p>
            <a:endParaRPr/>
          </a:p>
          <a:p>
            <a:pPr>
              <a:spcAft>
                <a:spcPts val="600"/>
              </a:spcAft>
            </a:pPr>
            <a:r>
              <a:t>The body targets C03, so AppSync is not taught. The appendix names it so a C02 candidate does not conclude it has been dropped from their exam too.</a:t>
            </a:r>
          </a:p>
          <a:p>
            <a:endParaRPr/>
          </a:p>
          <a:p>
            <a:pPr>
              <a:spcAft>
                <a:spcPts val="600"/>
              </a:spcAft>
            </a:pPr>
            <a:r>
              <a:t>THE COURSE NAMES ON THE WEEK-5 TRAINING SLIDE ARE VERBATIM FROM SKILL BUILDER. Two are missing a space before a dash, and the practice-question set names DVA-C02 because that is the actual course title. Do not tidy them up out loud -- an attendee types these to search the catalog.</a:t>
            </a:r>
          </a:p>
          <a:p>
            <a:endParaRPr/>
          </a:p>
          <a:p>
            <a:pPr>
              <a:spcAft>
                <a:spcPts val="600"/>
              </a:spcAft>
            </a:pPr>
            <a:r>
              <a:t>⚠ BEFORE THE QUESTION BLOCK: one question's keyed answer does not match what this deck teaches about Bedrock model access. The deck teaches the current documented behavior, which is that access is enabled by default with the right Marketplace permissions.</a:t>
            </a:r>
          </a:p>
          <a:p>
            <a:endParaRPr/>
          </a:p>
          <a:p>
            <a:pPr>
              <a:spcAft>
                <a:spcPts val="600"/>
              </a:spcAft>
            </a:pPr>
            <a:r>
              <a:t>The keyed answer describes requesting access per Region instead. That question's own explainer notes carry the full detail -- read them before you reveal it, and present the answer as the best of the four offered rather than reconciling it live.</a:t>
            </a:r>
          </a:p>
          <a:p>
            <a:endParaRPr/>
          </a:p>
          <a:p>
            <a:pPr>
              <a:spcAft>
                <a:spcPts val="600"/>
              </a:spcAft>
            </a:pPr>
            <a:r>
              <a:t>IF SOMEONE ASKS WHICH EXAM TO SIT: show them the appendix and let them decide. Say what each version covers and leave the choice with them rather than recommending one.</a:t>
            </a:r>
          </a:p>
          <a:p>
            <a:endParaRPr/>
          </a:p>
          <a:p>
            <a:pPr>
              <a:spcAft>
                <a:spcPts val="600"/>
              </a:spcAft>
            </a:pPr>
            <a:r>
              <a:t>This slide is hidden on purpose and must stay hidden. Confirm it is still hidden, or delete it, before you export a PDF or share this file with a partner.</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Open by naming where the room is. This is the last content review, and the shape of the hour is different from the previous four.</a:t>
            </a:r>
          </a:p>
          <a:p>
            <a:endParaRPr/>
          </a:p>
          <a:p>
            <a:pPr>
              <a:spcAft>
                <a:spcPts val="600"/>
              </a:spcAft>
            </a:pPr>
            <a:r>
              <a:t>The first four sessions built things. This one protects what was built and then makes it observable, which is why the agenda runs security first and tracing last.</a:t>
            </a:r>
          </a:p>
          <a:p>
            <a:endParaRPr/>
          </a:p>
          <a:p>
            <a:pPr>
              <a:spcAft>
                <a:spcPts val="600"/>
              </a:spcAft>
            </a:pPr>
            <a:r>
              <a:t>Say plainly that exam registration comes up today rather than being deferred. Several people will not have booked, and the end of this session is the last scheduled moment the group is together.</a:t>
            </a:r>
          </a:p>
          <a:p>
            <a:endParaRPr/>
          </a:p>
          <a:p>
            <a:pPr>
              <a:spcAft>
                <a:spcPts val="600"/>
              </a:spcAft>
            </a:pPr>
            <a:r>
              <a:t>Keep the welcome short. The security content is dense and the room's attention is better spent there.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Use the check-in to find out who has booked an exam and who has not, because that changes what the closing slides need to do.</a:t>
            </a:r>
          </a:p>
          <a:p>
            <a:endParaRPr/>
          </a:p>
          <a:p>
            <a:pPr>
              <a:spcAft>
                <a:spcPts val="600"/>
              </a:spcAft>
            </a:pPr>
            <a:r>
              <a:t>Ask two questions and wait for the answers. Who has worked through this week's troubleshooting courses, and who has a date booked. The second matters more.</a:t>
            </a:r>
          </a:p>
          <a:p>
            <a:endParaRPr/>
          </a:p>
          <a:p>
            <a:pPr>
              <a:spcAft>
                <a:spcPts val="600"/>
              </a:spcAft>
            </a:pPr>
            <a:r>
              <a:t>If most of the room has not booked, plan to spend the closing minutes on registration mechanics rather than on the demonstration slide.</a:t>
            </a:r>
          </a:p>
          <a:p>
            <a:endParaRPr/>
          </a:p>
          <a:p>
            <a:pPr>
              <a:spcAft>
                <a:spcPts val="600"/>
              </a:spcAft>
            </a:pPr>
            <a:r>
              <a:t>Keep it to a few minutes. This is a temperature check, not a status meeting.</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Point out that this week's courses look like they belong to a different session than today's agenda, then explain why they do not.</a:t>
            </a:r>
          </a:p>
          <a:p>
            <a:endParaRPr/>
          </a:p>
          <a:p>
            <a:pPr>
              <a:spcAft>
                <a:spcPts val="600"/>
              </a:spcAft>
            </a:pPr>
            <a:r>
              <a:t>The four troubleshooting courses are the week's own practice, and attendees work through those independently. Today's live hour covers security, which the two security courses on this list support directly.</a:t>
            </a:r>
          </a:p>
          <a:p>
            <a:endParaRPr/>
          </a:p>
          <a:p>
            <a:pPr>
              <a:spcAft>
                <a:spcPts val="600"/>
              </a:spcAft>
            </a:pPr>
            <a:r>
              <a:t>So the two halves divide the week rather than repeat it. Say that out loud, because a room that spots the apparent mismatch will otherwise assume the schedule is wrong.</a:t>
            </a:r>
          </a:p>
          <a:p>
            <a:endParaRPr/>
          </a:p>
          <a:p>
            <a:pPr>
              <a:spcAft>
                <a:spcPts val="600"/>
              </a:spcAft>
            </a:pPr>
            <a:r>
              <a:t>The practice question set and the official practice exam are the two items worth pushing hardest. Anyone within a fortnight of their exam gains more from timed questions than from another course.</a:t>
            </a:r>
          </a:p>
          <a:p>
            <a:endParaRPr/>
          </a:p>
          <a:p>
            <a:pPr>
              <a:spcAft>
                <a:spcPts val="600"/>
              </a:spcAft>
            </a:pPr>
            <a:r>
              <a:t>Note that the practice question set names the C02 exam. That is the course's real title and C02 is the currently live exam, so it is correct as written.</a:t>
            </a:r>
          </a:p>
          <a:p>
            <a:endParaRPr/>
          </a:p>
          <a:p>
            <a:pPr>
              <a:spcAft>
                <a:spcPts val="600"/>
              </a:spcAft>
            </a:pPr>
            <a:r>
              <a:t>Verified against the week-5 learning plan as published in the program's own curriculum.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Use this as the map for the hour, and point at the last two groups first, because they are the ones people do not expect.</a:t>
            </a:r>
          </a:p>
          <a:p>
            <a:endParaRPr/>
          </a:p>
          <a:p>
            <a:pPr>
              <a:spcAft>
                <a:spcPts val="600"/>
              </a:spcAft>
            </a:pPr>
            <a:r>
              <a:t>Identity and data protection are the bulk of the session. Most of the room has met IAM already, so today goes to reading a policy rather than to what IAM is.</a:t>
            </a:r>
          </a:p>
          <a:p>
            <a:endParaRPr/>
          </a:p>
          <a:p>
            <a:pPr>
              <a:spcAft>
                <a:spcPts val="600"/>
              </a:spcAft>
            </a:pPr>
            <a:r>
              <a:t>Network and content access are the two places where a misconfiguration is silently public rather than loudly broken, which is why they get their own slides.</a:t>
            </a:r>
          </a:p>
          <a:p>
            <a:endParaRPr/>
          </a:p>
          <a:p>
            <a:pPr>
              <a:spcAft>
                <a:spcPts val="600"/>
              </a:spcAft>
            </a:pPr>
            <a:r>
              <a:t>AI security is new. Guardrails and model access are week-5 topics in their own right and nothing in the previous four sessions covers them.</a:t>
            </a:r>
          </a:p>
          <a:p>
            <a:endParaRPr/>
          </a:p>
          <a:p>
            <a:pPr>
              <a:spcAft>
                <a:spcPts val="600"/>
              </a:spcAft>
            </a:pPr>
            <a:r>
              <a:t>Observability closes the hour. X-Ray is the one service here that answers a question rather than preventing a problem, which is why it comes last.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A map of the whole five-week event, one row per week, with this week highlighted. Use it near the top of the session so the room can see where week 5 sits in the arc and what is still to come.</a:t>
            </a:r>
          </a:p>
          <a:p>
            <a:endParaRPr/>
          </a:p>
          <a:p>
            <a:pPr>
              <a:spcAft>
                <a:spcPts val="600"/>
              </a:spcAft>
            </a:pPr>
            <a:r>
              <a:t>FACILITATOR: Point at the highlighted row. Week 5 is the security and troubleshooting week -- protecting data in transit and at rest, private connectivity, tracing, and guardrails for generative AI. It closes the arc the earlier weeks opened.</a:t>
            </a:r>
          </a:p>
          <a:p>
            <a:endParaRPr/>
          </a:p>
          <a:p>
            <a:pPr>
              <a:spcAft>
                <a:spcPts val="600"/>
              </a:spcAft>
            </a:pPr>
            <a:r>
              <a:t>Keep it brief -- this is orientation, not content. The same map appears in every session with the current week moving, so returning attendees will recognize it at a glance. Then move into today's focus.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first security block of week 5 -- what sits in front of the application, and what protects the data behind it. WAF, KMS envelope encryption, VPC interface endpoints, presigned URLs, CloudFront origin access control and ACM.</a:t>
            </a:r>
          </a:p>
          <a:p>
            <a:endParaRPr/>
          </a:p>
          <a:p>
            <a:pPr>
              <a:spcAft>
                <a:spcPts val="600"/>
              </a:spcAft>
            </a:pPr>
            <a:r>
              <a:t>FACILITATOR: These six are usually met one at a time and never compared, so the block is sequenced from the edge inward: filter the request, then keep the traffic private, then protect the object, then place the certificate.</a:t>
            </a:r>
          </a:p>
          <a:p>
            <a:endParaRPr/>
          </a:p>
          <a:p>
            <a:pPr>
              <a:spcAft>
                <a:spcPts val="600"/>
              </a:spcAft>
            </a:pPr>
            <a:r>
              <a:t>Ask the room where they would put a control to stop a bad request, before you show the first slide. Most answers name the application, and the point of the block is that the useful controls sit earlier than that.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Walk the row left to right and stop on the middle card, because that is where the decision happens.</a:t>
            </a:r>
          </a:p>
          <a:p>
            <a:endParaRPr dirty="0"/>
          </a:p>
          <a:p>
            <a:pPr>
              <a:spcAft>
                <a:spcPts val="600"/>
              </a:spcAft>
            </a:pPr>
            <a:r>
              <a:rPr dirty="0"/>
              <a:t>A request reaches the web ACL before it reaches anything you wrote. The rules are evaluated in order and the first one that matches decides the outcome, so rule order is part of the configuration rather than a detail.</a:t>
            </a:r>
          </a:p>
          <a:p>
            <a:endParaRPr dirty="0"/>
          </a:p>
          <a:p>
            <a:pPr>
              <a:spcAft>
                <a:spcPts val="600"/>
              </a:spcAft>
            </a:pPr>
            <a:r>
              <a:rPr dirty="0"/>
              <a:t>The three outcomes worth naming are allow, block and count. Count is the one people forget, and it is how you test a rule against real traffic without breaking anyone.</a:t>
            </a:r>
          </a:p>
          <a:p>
            <a:endParaRPr dirty="0"/>
          </a:p>
          <a:p>
            <a:pPr>
              <a:spcAft>
                <a:spcPts val="600"/>
              </a:spcAft>
            </a:pPr>
            <a:r>
              <a:rPr dirty="0"/>
              <a:t>The point to land is that this is not application code. Nothing in the function changes to add or remove a rule, which is exactly why it can be updated during an incident.</a:t>
            </a:r>
          </a:p>
          <a:p>
            <a:endParaRPr dirty="0"/>
          </a:p>
          <a:p>
            <a:pPr>
              <a:spcAft>
                <a:spcPts val="600"/>
              </a:spcAft>
            </a:pPr>
            <a:r>
              <a:rPr dirty="0"/>
              <a:t>Ask the room where they would put a rate limit for a login endpoint, before you say anything. Naming the endpoint rather than the whole site is the answer worth drawing out.</a:t>
            </a:r>
          </a:p>
          <a:p>
            <a:endParaRPr dirty="0"/>
          </a:p>
          <a:p>
            <a:pPr>
              <a:spcAft>
                <a:spcPts val="600"/>
              </a:spcAft>
            </a:pPr>
            <a:r>
              <a:rPr dirty="0"/>
              <a:t>PARTNER CONTEXT · ADVISORY: A customer who has just been scraped or credential-stuffed asks what to put in front of the application. Proposing a managed rule group plus a rate-based rule on the login path is a first iteration you can stand up in a day.</a:t>
            </a:r>
          </a:p>
          <a:p>
            <a:endParaRPr dirty="0"/>
          </a:p>
          <a:p>
            <a:pPr>
              <a:spcAft>
                <a:spcPts val="600"/>
              </a:spcAft>
            </a:pPr>
            <a:r>
              <a:rPr dirty="0"/>
              <a:t>PARTNER CONTEXT · OPERATOR: A </a:t>
            </a:r>
            <a:r>
              <a:rPr lang="en-US" dirty="0"/>
              <a:t>p</a:t>
            </a:r>
            <a:r>
              <a:rPr dirty="0"/>
              <a:t>artner protecting a customer-facing form gets a managed rule group on day one and a rate-based rule for the login path, which is usually the whole of a first iteration.</a:t>
            </a:r>
          </a:p>
          <a:p>
            <a:endParaRPr dirty="0"/>
          </a:p>
          <a:p>
            <a:pPr>
              <a:spcAft>
                <a:spcPts val="600"/>
              </a:spcAft>
            </a:pPr>
            <a:r>
              <a:rPr lang="en-US" dirty="0"/>
              <a:t>REFERENCE: </a:t>
            </a:r>
            <a:r>
              <a:rPr dirty="0"/>
              <a:t>docs.aws.amazon.com How AWS WAF works.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 published AWS case study, so every figure on this slide is OLX's and AWS's rather than ours. OLX runs online classifieds across nine countries, and its login service handles 11 million customers a month across 13 platforms.</a:t>
            </a:r>
          </a:p>
          <a:p>
            <a:endParaRPr dirty="0"/>
          </a:p>
          <a:p>
            <a:pPr>
              <a:spcAft>
                <a:spcPts val="600"/>
              </a:spcAft>
            </a:pPr>
            <a:r>
              <a:rPr dirty="0"/>
              <a:t>Read the rows left to right and you are working backwards from their problem. It was not a breach: bots flooding registration with random emails and phone numbers stopped legitimate people signing in at all, and it cost real money in messaging fees for the fake sign-ups.</a:t>
            </a:r>
          </a:p>
          <a:p>
            <a:endParaRPr dirty="0"/>
          </a:p>
          <a:p>
            <a:pPr>
              <a:spcAft>
                <a:spcPts val="600"/>
              </a:spcAft>
            </a:pPr>
            <a:r>
              <a:rPr dirty="0"/>
              <a:t>⚠ THE ROW WORTH SLOWING DOWN ON is the middle one, because it is the beat the previous slide says people forget.</a:t>
            </a:r>
          </a:p>
          <a:p>
            <a:endParaRPr dirty="0"/>
          </a:p>
          <a:p>
            <a:pPr>
              <a:spcAft>
                <a:spcPts val="600"/>
              </a:spcAft>
            </a:pPr>
            <a:r>
              <a:rPr dirty="0"/>
              <a:t>OLX ran AWS WAF Bot Control in AUDIT mode first. Two real bot events happened while they were still only watching, and only then did they switch to BLOCK. That is exactly what count mode is for -- you find out what a rule would have done before it can turn a customer away.</a:t>
            </a:r>
          </a:p>
          <a:p>
            <a:endParaRPr dirty="0"/>
          </a:p>
          <a:p>
            <a:pPr>
              <a:spcAft>
                <a:spcPts val="600"/>
              </a:spcAft>
            </a:pPr>
            <a:r>
              <a:rPr dirty="0"/>
              <a:t>The numbers make the scale concrete: on an ordinary day they process about 2 million requests and reject around 13,000. During the second event they processed 2.1 million and rejected 250,000.</a:t>
            </a:r>
          </a:p>
          <a:p>
            <a:endParaRPr dirty="0"/>
          </a:p>
          <a:p>
            <a:pPr>
              <a:spcAft>
                <a:spcPts val="600"/>
              </a:spcAft>
            </a:pPr>
            <a:r>
              <a:rPr dirty="0"/>
              <a:t>Ask the room what they would have set the rate limit to before you show the numbers, then read out the 13,000-a-day baseline. The gap is the point.</a:t>
            </a:r>
          </a:p>
          <a:p>
            <a:endParaRPr dirty="0"/>
          </a:p>
          <a:p>
            <a:pPr>
              <a:spcAft>
                <a:spcPts val="600"/>
              </a:spcAft>
            </a:pPr>
            <a:r>
              <a:rPr dirty="0"/>
              <a:t>Point out that the implementation took two weeks, because that is the number a partner will be asked for.</a:t>
            </a:r>
          </a:p>
          <a:p>
            <a:endParaRPr dirty="0"/>
          </a:p>
          <a:p>
            <a:pPr>
              <a:spcAft>
                <a:spcPts val="600"/>
              </a:spcAft>
            </a:pPr>
            <a:r>
              <a:rPr dirty="0"/>
              <a:t>PARTNER CONTEXT · ADVISORY: A customer who has just been credential-stuffed usually asks for the strongest setting immediately. This story is the argument for starting in count mode instead -- it costs nothing and it is far easier to defend than an outage caused by your own rule.</a:t>
            </a:r>
          </a:p>
          <a:p>
            <a:endParaRPr dirty="0"/>
          </a:p>
          <a:p>
            <a:pPr>
              <a:spcAft>
                <a:spcPts val="600"/>
              </a:spcAft>
            </a:pPr>
            <a:r>
              <a:rPr dirty="0"/>
              <a:t>PARTNER CONTEXT · OPERATOR: A partner protecting their own sign-up flow gets the whole sequence here: managed rules plus a rate-based rule on the login path, run in count mode until the data says the thresholds are right.</a:t>
            </a:r>
          </a:p>
          <a:p>
            <a:endParaRPr lang="en-US" dirty="0"/>
          </a:p>
          <a:p>
            <a:r>
              <a:rPr lang="en-US" dirty="0"/>
              <a:t>REFERENCE: </a:t>
            </a:r>
            <a:r>
              <a:rPr dirty="0"/>
              <a:t>aws.amazon.com Enhancing Security Using AWS WAF Bot Control with OLX.</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slide that makes the rest of KMS make sense, so spend time on it rather than on key policies.</a:t>
            </a:r>
          </a:p>
          <a:p>
            <a:endParaRPr dirty="0"/>
          </a:p>
          <a:p>
            <a:pPr>
              <a:spcAft>
                <a:spcPts val="600"/>
              </a:spcAft>
            </a:pPr>
            <a:r>
              <a:rPr dirty="0"/>
              <a:t>Two keys are in play and only one of them ever leaves KMS. The data key encrypts your object, and the KMS key encrypts the data key.</a:t>
            </a:r>
          </a:p>
          <a:p>
            <a:endParaRPr dirty="0"/>
          </a:p>
          <a:p>
            <a:pPr>
              <a:spcAft>
                <a:spcPts val="600"/>
              </a:spcAft>
            </a:pPr>
            <a:r>
              <a:rPr dirty="0"/>
              <a:t>That is why a large object does not have to travel to KMS. Only the small data key is sent for encryption, and the encrypted copy is stored next to the ciphertext.</a:t>
            </a:r>
          </a:p>
          <a:p>
            <a:endParaRPr dirty="0"/>
          </a:p>
          <a:p>
            <a:pPr>
              <a:spcAft>
                <a:spcPts val="600"/>
              </a:spcAft>
            </a:pPr>
            <a:r>
              <a:rPr dirty="0"/>
              <a:t>So a decrypt is two steps: ask KMS to decrypt the data key, then use the plaintext data key locally. Every audited call in CloudTrail is about the data key, never about your object.</a:t>
            </a:r>
          </a:p>
          <a:p>
            <a:endParaRPr dirty="0"/>
          </a:p>
          <a:p>
            <a:pPr>
              <a:spcAft>
                <a:spcPts val="600"/>
              </a:spcAft>
            </a:pPr>
            <a:r>
              <a:rPr dirty="0"/>
              <a:t>Ask the room what an attacker who copies the encrypted object and the encrypted data key still needs. Permission to call KMS decrypt is the answer, and it reframes the whole model as an access-control problem.</a:t>
            </a:r>
          </a:p>
          <a:p>
            <a:endParaRPr dirty="0"/>
          </a:p>
          <a:p>
            <a:pPr>
              <a:spcAft>
                <a:spcPts val="600"/>
              </a:spcAft>
            </a:pPr>
            <a:r>
              <a:rPr dirty="0"/>
              <a:t>PARTNER CONTEXT · ADVISORY: A customer asking how their documents are encrypted at rest gets the same answer whichever store you are discussing, which is what makes this the one diagram worth drawing on a whiteboard in front of them.</a:t>
            </a:r>
          </a:p>
          <a:p>
            <a:endParaRPr dirty="0"/>
          </a:p>
          <a:p>
            <a:pPr>
              <a:spcAft>
                <a:spcPts val="600"/>
              </a:spcAft>
            </a:pPr>
            <a:r>
              <a:rPr dirty="0"/>
              <a:t>PARTNER CONTEXT · OPERATOR: A partner storing customer documents gets the same picture whether the store is S3, EBS or a database, which is worth saying because the diagram transfers.</a:t>
            </a:r>
          </a:p>
          <a:p>
            <a:endParaRPr dirty="0"/>
          </a:p>
          <a:p>
            <a:pPr>
              <a:spcAft>
                <a:spcPts val="600"/>
              </a:spcAft>
            </a:pPr>
            <a:r>
              <a:rPr lang="en-US" dirty="0"/>
              <a:t>REFERENCE: </a:t>
            </a:r>
            <a:r>
              <a:rPr dirty="0"/>
              <a:t>docs.aws.amazon.com AWS KMS keys.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The subject of this slide is the PATH, so point at the two lines rather than at the boxes.</a:t>
            </a:r>
          </a:p>
          <a:p>
            <a:endParaRPr dirty="0"/>
          </a:p>
          <a:p>
            <a:pPr>
              <a:spcAft>
                <a:spcPts val="600"/>
              </a:spcAft>
            </a:pPr>
            <a:r>
              <a:rPr dirty="0"/>
              <a:t>Without an endpoint, a call from a private subnet to an AWS service leaves through a NAT gateway and traverses the public network to reach a public service endpoint.</a:t>
            </a:r>
          </a:p>
          <a:p>
            <a:endParaRPr dirty="0"/>
          </a:p>
          <a:p>
            <a:pPr>
              <a:spcAft>
                <a:spcPts val="600"/>
              </a:spcAft>
            </a:pPr>
            <a:r>
              <a:rPr dirty="0"/>
              <a:t>With an interface endpoint, the service gets an address inside your subnet. The call resolves to that private address and the traffic stays on the AWS network.</a:t>
            </a:r>
          </a:p>
          <a:p>
            <a:endParaRPr dirty="0"/>
          </a:p>
          <a:p>
            <a:pPr>
              <a:spcAft>
                <a:spcPts val="600"/>
              </a:spcAft>
            </a:pPr>
            <a:r>
              <a:rPr dirty="0"/>
              <a:t>So this is not primarily a performance feature. It is how you reach a service without granting the subnet a route to the internet at all, which is the requirement that usually drives it.</a:t>
            </a:r>
          </a:p>
          <a:p>
            <a:endParaRPr dirty="0"/>
          </a:p>
          <a:p>
            <a:pPr>
              <a:spcAft>
                <a:spcPts val="600"/>
              </a:spcAft>
            </a:pPr>
            <a:r>
              <a:rPr dirty="0"/>
              <a:t>Ask the room what has to change in the application code to use the endpoint. Nothing is the answer, and it is the reason this is an infrastructure decision rather than a development one.</a:t>
            </a:r>
          </a:p>
          <a:p>
            <a:endParaRPr dirty="0"/>
          </a:p>
          <a:p>
            <a:pPr>
              <a:spcAft>
                <a:spcPts val="600"/>
              </a:spcAft>
            </a:pPr>
            <a:r>
              <a:rPr dirty="0"/>
              <a:t>PARTNER CONTEXT · ADVISORY: When a customer's security team writes no internet egress from the data tier into a requirements document, they have already chosen this. Your job is to price it and confirm which services need endpoints, not to reopen the requirement.</a:t>
            </a:r>
          </a:p>
          <a:p>
            <a:endParaRPr dirty="0"/>
          </a:p>
          <a:p>
            <a:pPr>
              <a:spcAft>
                <a:spcPts val="600"/>
              </a:spcAft>
            </a:pPr>
            <a:r>
              <a:rPr dirty="0"/>
              <a:t>PARTNER CONTEXT · OPERATOR: A partner whose customer forbids internet egress from the data tier gets this configuration as a hard requirement, not an optimization.</a:t>
            </a:r>
          </a:p>
          <a:p>
            <a:endParaRPr dirty="0"/>
          </a:p>
          <a:p>
            <a:pPr>
              <a:spcAft>
                <a:spcPts val="600"/>
              </a:spcAft>
            </a:pPr>
            <a:r>
              <a:rPr lang="en-US" dirty="0"/>
              <a:t>REFERENCE: </a:t>
            </a:r>
            <a:r>
              <a:rPr dirty="0"/>
              <a:t>docs.aws.amazon.com Access AWS services through AWS </a:t>
            </a:r>
            <a:r>
              <a:rPr dirty="0" err="1"/>
              <a:t>PrivateLink</a:t>
            </a:r>
            <a:r>
              <a:rPr dirty="0"/>
              <a:t>.</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The room has met </a:t>
            </a:r>
            <a:r>
              <a:rPr dirty="0" err="1"/>
              <a:t>presigned</a:t>
            </a:r>
            <a:r>
              <a:rPr dirty="0"/>
              <a:t> URLs already, so skip the definition and go straight to the part that is commonly got</a:t>
            </a:r>
            <a:r>
              <a:rPr lang="en-US" dirty="0"/>
              <a:t>ten</a:t>
            </a:r>
            <a:r>
              <a:rPr dirty="0"/>
              <a:t> wrong.</a:t>
            </a:r>
          </a:p>
          <a:p>
            <a:endParaRPr dirty="0"/>
          </a:p>
          <a:p>
            <a:pPr>
              <a:spcAft>
                <a:spcPts val="600"/>
              </a:spcAft>
            </a:pPr>
            <a:r>
              <a:rPr dirty="0"/>
              <a:t>The link does not carry the recipient's permissions. It carries the permissions of whoever signed it, which means the same URL grants exactly what the signer could have done.</a:t>
            </a:r>
          </a:p>
          <a:p>
            <a:endParaRPr dirty="0"/>
          </a:p>
          <a:p>
            <a:pPr>
              <a:spcAft>
                <a:spcPts val="600"/>
              </a:spcAft>
            </a:pPr>
            <a:r>
              <a:rPr dirty="0"/>
              <a:t>So a URL signed by an over-privileged role is an over-privileged URL. Reviewing what the signing principal can do matters more than reviewing who received the link.</a:t>
            </a:r>
          </a:p>
          <a:p>
            <a:endParaRPr dirty="0"/>
          </a:p>
          <a:p>
            <a:pPr>
              <a:spcAft>
                <a:spcPts val="600"/>
              </a:spcAft>
            </a:pPr>
            <a:r>
              <a:rPr dirty="0"/>
              <a:t>Expiry is the second half. The link stops working when it expires, and it keeps working until then even if the recipient was never supposed to have it.</a:t>
            </a:r>
          </a:p>
          <a:p>
            <a:endParaRPr dirty="0"/>
          </a:p>
          <a:p>
            <a:pPr>
              <a:spcAft>
                <a:spcPts val="600"/>
              </a:spcAft>
            </a:pPr>
            <a:r>
              <a:rPr dirty="0"/>
              <a:t>Ask the room how you revoke a </a:t>
            </a:r>
            <a:r>
              <a:rPr dirty="0" err="1"/>
              <a:t>presigned</a:t>
            </a:r>
            <a:r>
              <a:rPr dirty="0"/>
              <a:t> URL that has leaked, before you answer. There is no revoke button, which is why short expiry times and a narrowly-scoped signer are the actual controls.</a:t>
            </a:r>
          </a:p>
          <a:p>
            <a:endParaRPr dirty="0"/>
          </a:p>
          <a:p>
            <a:pPr>
              <a:spcAft>
                <a:spcPts val="600"/>
              </a:spcAft>
            </a:pPr>
            <a:r>
              <a:rPr dirty="0"/>
              <a:t>PARTNER CONTEXT · ADVISORY: A customer who wants download links has usually not considered whose permissions the link carries. Raising that before implementation is worth more than any review afterwards, because a leaked link reaches whatever the signing role reaches.</a:t>
            </a:r>
          </a:p>
          <a:p>
            <a:endParaRPr dirty="0"/>
          </a:p>
          <a:p>
            <a:pPr>
              <a:spcAft>
                <a:spcPts val="600"/>
              </a:spcAft>
            </a:pPr>
            <a:r>
              <a:rPr dirty="0"/>
              <a:t>PARTNER CONTEXT · OPERATOR: A partner generating download links from a shared service role should sign with a role scoped to the one prefix, because the blast radius of a leaked link is whatever that role can reach.</a:t>
            </a:r>
          </a:p>
          <a:p>
            <a:endParaRPr dirty="0"/>
          </a:p>
          <a:p>
            <a:pPr>
              <a:spcAft>
                <a:spcPts val="600"/>
              </a:spcAft>
            </a:pPr>
            <a:r>
              <a:rPr lang="en-US" dirty="0"/>
              <a:t>REFERENCE: </a:t>
            </a:r>
            <a:r>
              <a:rPr dirty="0"/>
              <a:t>docs.aws.amazon.com Download and upload objects with </a:t>
            </a:r>
            <a:r>
              <a:rPr dirty="0" err="1"/>
              <a:t>presigned</a:t>
            </a:r>
            <a:r>
              <a:rPr dirty="0"/>
              <a:t> URLs.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other half of the private-content story, and the two are worth contrasting explicitly.</a:t>
            </a:r>
          </a:p>
          <a:p>
            <a:endParaRPr dirty="0"/>
          </a:p>
          <a:p>
            <a:pPr>
              <a:spcAft>
                <a:spcPts val="600"/>
              </a:spcAft>
            </a:pPr>
            <a:r>
              <a:rPr dirty="0"/>
              <a:t>A </a:t>
            </a:r>
            <a:r>
              <a:rPr dirty="0" err="1"/>
              <a:t>presigned</a:t>
            </a:r>
            <a:r>
              <a:rPr dirty="0"/>
              <a:t> URL grants a person time-limited access to one object. Origin access control grants a SERVICE permanent access to a whole origin, and denies everyone else.</a:t>
            </a:r>
          </a:p>
          <a:p>
            <a:endParaRPr dirty="0"/>
          </a:p>
          <a:p>
            <a:pPr>
              <a:spcAft>
                <a:spcPts val="600"/>
              </a:spcAft>
            </a:pPr>
            <a:r>
              <a:rPr dirty="0"/>
              <a:t>The bucket has no public access. Its policy names the distribution, so a request that arrives directly at the bucket URL is refused while the same object served through CloudFront succeeds.</a:t>
            </a:r>
          </a:p>
          <a:p>
            <a:endParaRPr dirty="0"/>
          </a:p>
          <a:p>
            <a:pPr>
              <a:spcAft>
                <a:spcPts val="600"/>
              </a:spcAft>
            </a:pPr>
            <a:r>
              <a:rPr dirty="0"/>
              <a:t>That is what makes the edge the only front door. Caching, WAF and the certificate all attach at CloudFront, and none of them can be bypassed by going straight to the origin.</a:t>
            </a:r>
          </a:p>
          <a:p>
            <a:endParaRPr dirty="0"/>
          </a:p>
          <a:p>
            <a:pPr>
              <a:spcAft>
                <a:spcPts val="600"/>
              </a:spcAft>
            </a:pPr>
            <a:r>
              <a:rPr dirty="0"/>
              <a:t>Ask the room what happens if someone finds the bucket name, before you tell them. Nothing happens, and that is the whole point of the arrangement.</a:t>
            </a:r>
          </a:p>
          <a:p>
            <a:endParaRPr dirty="0"/>
          </a:p>
          <a:p>
            <a:pPr>
              <a:spcAft>
                <a:spcPts val="600"/>
              </a:spcAft>
            </a:pPr>
            <a:r>
              <a:rPr dirty="0"/>
              <a:t>PARTNER CONTEXT · ADVISORY: A customer serving media asks whether the bucket has to be public. It never does, and being able to say that in one sentence with a picture is the kind of answer that settles a security review early.</a:t>
            </a:r>
          </a:p>
          <a:p>
            <a:endParaRPr dirty="0"/>
          </a:p>
          <a:p>
            <a:pPr>
              <a:spcAft>
                <a:spcPts val="600"/>
              </a:spcAft>
            </a:pPr>
            <a:r>
              <a:rPr dirty="0"/>
              <a:t>PARTNER CONTEXT · OPERATOR: A partner serving customer media gets this by default: private bucket, one distribution, a policy that names it, and no object ever public.</a:t>
            </a:r>
          </a:p>
          <a:p>
            <a:endParaRPr dirty="0"/>
          </a:p>
          <a:p>
            <a:pPr>
              <a:spcAft>
                <a:spcPts val="600"/>
              </a:spcAft>
            </a:pPr>
            <a:r>
              <a:rPr lang="en-US" dirty="0"/>
              <a:t>REFERENCE: </a:t>
            </a:r>
            <a:r>
              <a:rPr dirty="0"/>
              <a:t>docs.aws.amazon.com Restrict access to an Amazon S3 origin.</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Start by naming what ACM actually does, because most people describe it as a place to keep certificates and that is the smaller half.</a:t>
            </a:r>
          </a:p>
          <a:p>
            <a:endParaRPr dirty="0"/>
          </a:p>
          <a:p>
            <a:pPr>
              <a:spcAft>
                <a:spcPts val="600"/>
              </a:spcAft>
            </a:pPr>
            <a:r>
              <a:rPr dirty="0"/>
              <a:t>ACM issues the certificate and then deploys it onto the service that terminates TLS. Elastic Load Balancing, CloudFront, API Gateway, Elastic Beanstalk and App Runner are all on that list, and ACM renews the certificate in place.</a:t>
            </a:r>
          </a:p>
          <a:p>
            <a:endParaRPr dirty="0"/>
          </a:p>
          <a:p>
            <a:pPr>
              <a:spcAft>
                <a:spcPts val="600"/>
              </a:spcAft>
            </a:pPr>
            <a:r>
              <a:rPr dirty="0"/>
              <a:t>So for anything in that column nobody handles a certificate file. That is the whole value: no copying, no expiry surprise, no restart to pick up a renewal.</a:t>
            </a:r>
          </a:p>
          <a:p>
            <a:endParaRPr dirty="0"/>
          </a:p>
          <a:p>
            <a:pPr>
              <a:spcAft>
                <a:spcPts val="600"/>
              </a:spcAft>
            </a:pPr>
            <a:r>
              <a:rPr dirty="0"/>
              <a:t>The right column is the newer half and it changes an old assumption. For workloads outside those services, EC2 among them, you can use the ACME protocol or exportable certificates. The old belief that ACM only ever works with the integrated services is out of date.</a:t>
            </a:r>
          </a:p>
          <a:p>
            <a:endParaRPr dirty="0"/>
          </a:p>
          <a:p>
            <a:pPr>
              <a:spcAft>
                <a:spcPts val="600"/>
              </a:spcAft>
            </a:pPr>
            <a:r>
              <a:rPr dirty="0"/>
              <a:t>But the two paths do not mix. A certificate whose key pair origin is ACME cannot be used with the integrated services, so choosing the path is a real decision rather than a preference.</a:t>
            </a:r>
          </a:p>
          <a:p>
            <a:endParaRPr dirty="0"/>
          </a:p>
          <a:p>
            <a:pPr>
              <a:spcAft>
                <a:spcPts val="600"/>
              </a:spcAft>
            </a:pPr>
            <a:r>
              <a:rPr dirty="0"/>
              <a:t>Then the constraint worth memorizing, and read it out loud: to use an ACM certificate with CloudFront you must request or import it in the US East, North Virginia Region. A certificate in any other Region simply will not attach.</a:t>
            </a:r>
          </a:p>
          <a:p>
            <a:endParaRPr dirty="0"/>
          </a:p>
          <a:p>
            <a:pPr>
              <a:spcAft>
                <a:spcPts val="600"/>
              </a:spcAft>
            </a:pPr>
            <a:r>
              <a:rPr dirty="0"/>
              <a:t>Ask the room why a distribution in Sydney still needs its certificate in North Virginia, before you answer. CloudFront is global and its control plane lives in that Region, so the certificate follows the service rather than the traffic.</a:t>
            </a:r>
          </a:p>
          <a:p>
            <a:endParaRPr dirty="0"/>
          </a:p>
          <a:p>
            <a:pPr>
              <a:spcAft>
                <a:spcPts val="600"/>
              </a:spcAft>
            </a:pPr>
            <a:r>
              <a:rPr dirty="0"/>
              <a:t>PARTNER CONTEXT · ADVISORY: A customer planning an edge-cached site needs the Region rule before they request anything, because discovering it after the certificate exists means requesting a second one. A short conversation that saves a rework cycle.</a:t>
            </a:r>
          </a:p>
          <a:p>
            <a:endParaRPr dirty="0"/>
          </a:p>
          <a:p>
            <a:pPr>
              <a:spcAft>
                <a:spcPts val="600"/>
              </a:spcAft>
            </a:pPr>
            <a:r>
              <a:rPr dirty="0"/>
              <a:t>PARTNER CONTEXT · OPERATOR: A partner running an edge-cached site gets one certificate in North Virginia and never thinks about it again, provided somebody knew the rule on day one.</a:t>
            </a:r>
          </a:p>
          <a:p>
            <a:endParaRPr dirty="0"/>
          </a:p>
          <a:p>
            <a:pPr>
              <a:spcAft>
                <a:spcPts val="600"/>
              </a:spcAft>
            </a:pPr>
            <a:r>
              <a:rPr lang="en-US" dirty="0"/>
              <a:t>REFERENCE: </a:t>
            </a:r>
            <a:r>
              <a:rPr dirty="0"/>
              <a:t>docs.aws.amazon.com Managed automation with integrated services.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Reading IAM, rather than writing it. Policy evaluation order, a bucket policy that requires TLS, a policy that requires matching tags on both sides, and the split between identity policies and resource policies.</a:t>
            </a:r>
          </a:p>
          <a:p>
            <a:endParaRPr/>
          </a:p>
          <a:p>
            <a:pPr>
              <a:spcAft>
                <a:spcPts val="600"/>
              </a:spcAft>
            </a:pPr>
            <a:r>
              <a:t>FACILITATOR: This block is the one where the exam rewards slow reading, so the two policy slides are on screen as real JSON with the key lines numbered and explained beside them. Work them line by line and resist summarizing.</a:t>
            </a:r>
          </a:p>
          <a:p>
            <a:endParaRPr/>
          </a:p>
          <a:p>
            <a:pPr>
              <a:spcAft>
                <a:spcPts val="600"/>
              </a:spcAft>
            </a:pPr>
            <a:r>
              <a:t>Ask whether an Allow can ever beat a Deny before the first slide answers it. The confident wrong answer is common enough to be worth surfacing out loud.</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Build this from the bottom up, because that is the order the evaluation actually happens in.</a:t>
            </a:r>
          </a:p>
          <a:p>
            <a:endParaRPr dirty="0"/>
          </a:p>
          <a:p>
            <a:pPr>
              <a:spcAft>
                <a:spcPts val="600"/>
              </a:spcAft>
            </a:pPr>
            <a:r>
              <a:rPr dirty="0"/>
              <a:t>Start at the bottom band. With no policy at all, a request is denied. Nothing is granted by default, so every permission that exists had to be written by somebody.</a:t>
            </a:r>
          </a:p>
          <a:p>
            <a:endParaRPr dirty="0"/>
          </a:p>
          <a:p>
            <a:pPr>
              <a:spcAft>
                <a:spcPts val="600"/>
              </a:spcAft>
            </a:pPr>
            <a:r>
              <a:rPr dirty="0"/>
              <a:t>An Allow lifts a request out of that default. This is the band most people picture when they think about permissions, and it is the only one that grants anything.</a:t>
            </a:r>
          </a:p>
          <a:p>
            <a:endParaRPr dirty="0"/>
          </a:p>
          <a:p>
            <a:pPr>
              <a:spcAft>
                <a:spcPts val="600"/>
              </a:spcAft>
            </a:pPr>
            <a:r>
              <a:rPr dirty="0"/>
              <a:t>Then the top band, which is the one that decides arguments. An explicit Deny beats any Allow, no matter how specific the Allow is or which policy it came from.</a:t>
            </a:r>
          </a:p>
          <a:p>
            <a:endParaRPr dirty="0"/>
          </a:p>
          <a:p>
            <a:pPr>
              <a:spcAft>
                <a:spcPts val="600"/>
              </a:spcAft>
            </a:pPr>
            <a:r>
              <a:rPr dirty="0"/>
              <a:t>Ask the room whether a more specific Allow can override a broad Deny, before you answer. It cannot, and getting that wrong is what makes people rewrite a policy that was never going to work.</a:t>
            </a:r>
          </a:p>
          <a:p>
            <a:endParaRPr dirty="0"/>
          </a:p>
          <a:p>
            <a:pPr>
              <a:spcAft>
                <a:spcPts val="600"/>
              </a:spcAft>
            </a:pPr>
            <a:r>
              <a:rPr dirty="0"/>
              <a:t>PARTNER CONTEXT · ADVISORY: A customer insisting their policy is correct is usually right about the Allow and unaware of a Deny above it. Asking for the service control policies and the bucket policy first will save you both an afternoon.</a:t>
            </a:r>
          </a:p>
          <a:p>
            <a:endParaRPr dirty="0"/>
          </a:p>
          <a:p>
            <a:pPr>
              <a:spcAft>
                <a:spcPts val="600"/>
              </a:spcAft>
            </a:pPr>
            <a:r>
              <a:rPr dirty="0"/>
              <a:t>PARTNER CONTEXT · OPERATOR: A partner troubleshooting a permission that looks correct should read for a Deny before re-reading the Allow, because the Allow is usually fine.</a:t>
            </a:r>
          </a:p>
          <a:p>
            <a:endParaRPr dirty="0"/>
          </a:p>
          <a:p>
            <a:pPr>
              <a:spcAft>
                <a:spcPts val="600"/>
              </a:spcAft>
            </a:pPr>
            <a:r>
              <a:rPr lang="en-US" dirty="0"/>
              <a:t>REFERENCE: </a:t>
            </a:r>
            <a:r>
              <a:rPr dirty="0"/>
              <a:t>docs.aws.amazon.com Policy evaluation logic.</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Read the Sid aloud, then read the Effect, and let the room notice the mismatch before you name it.</a:t>
            </a:r>
          </a:p>
          <a:p>
            <a:endParaRPr dirty="0"/>
          </a:p>
          <a:p>
            <a:pPr>
              <a:spcAft>
                <a:spcPts val="600"/>
              </a:spcAft>
            </a:pPr>
            <a:r>
              <a:rPr dirty="0"/>
              <a:t>The statement is called </a:t>
            </a:r>
            <a:r>
              <a:rPr dirty="0" err="1"/>
              <a:t>AllowSSLRequestsOnly</a:t>
            </a:r>
            <a:r>
              <a:rPr dirty="0"/>
              <a:t> and its Effect is Deny. That is AWS's own naming in AWS's own example, and it is the clearest possible demonstration that a Sid is a label rather than behavior.</a:t>
            </a:r>
          </a:p>
          <a:p>
            <a:endParaRPr dirty="0"/>
          </a:p>
          <a:p>
            <a:pPr>
              <a:spcAft>
                <a:spcPts val="600"/>
              </a:spcAft>
            </a:pPr>
            <a:r>
              <a:rPr dirty="0"/>
              <a:t>What the policy actually does is refuse everything when the connection is not encrypted. The condition is the whole statement: without it this would deny all access to the bucket permanently.</a:t>
            </a:r>
          </a:p>
          <a:p>
            <a:endParaRPr dirty="0"/>
          </a:p>
          <a:p>
            <a:pPr>
              <a:spcAft>
                <a:spcPts val="600"/>
              </a:spcAft>
            </a:pPr>
            <a:r>
              <a:rPr dirty="0"/>
              <a:t>Both resource lines matter. The bucket ARN covers operations on the bucket itself and the slash-star ARN covers the objects inside it, and a policy with only one of them leaves a gap.</a:t>
            </a:r>
          </a:p>
          <a:p>
            <a:endParaRPr dirty="0"/>
          </a:p>
          <a:p>
            <a:pPr>
              <a:spcAft>
                <a:spcPts val="600"/>
              </a:spcAft>
            </a:pPr>
            <a:r>
              <a:rPr dirty="0"/>
              <a:t>Ask the room what happens to a plain HTTP request here, and then what happens to an HTTPS request. Nothing in the policy allows the second one, which is the point worth landing: this statement removes access rather than granting it.</a:t>
            </a:r>
          </a:p>
          <a:p>
            <a:endParaRPr dirty="0"/>
          </a:p>
          <a:p>
            <a:pPr>
              <a:spcAft>
                <a:spcPts val="600"/>
              </a:spcAft>
            </a:pPr>
            <a:r>
              <a:rPr dirty="0"/>
              <a:t>PARTNER CONTEXT · ADVISORY: A customer handed an encryption-in-transit requirement often tries to satisfy it with a setting rather than a policy. Showing them the statement, and that it grants nothing on its own, prevents the follow-up outage.</a:t>
            </a:r>
          </a:p>
          <a:p>
            <a:endParaRPr dirty="0"/>
          </a:p>
          <a:p>
            <a:pPr>
              <a:spcAft>
                <a:spcPts val="600"/>
              </a:spcAft>
            </a:pPr>
            <a:r>
              <a:rPr dirty="0"/>
              <a:t>PARTNER CONTEXT · OPERATOR: A partner meeting an encryption-in-transit requirement gets exactly this statement, paired with a separate policy that grants the access they actually want.</a:t>
            </a:r>
          </a:p>
          <a:p>
            <a:endParaRPr dirty="0"/>
          </a:p>
          <a:p>
            <a:pPr>
              <a:spcAft>
                <a:spcPts val="600"/>
              </a:spcAft>
            </a:pPr>
            <a:r>
              <a:rPr dirty="0"/>
              <a:t>The Id and Version keys are omitted here so the statement fits at the deck's code size. Nothing else was changed.</a:t>
            </a:r>
          </a:p>
          <a:p>
            <a:endParaRPr dirty="0"/>
          </a:p>
          <a:p>
            <a:pPr>
              <a:spcAft>
                <a:spcPts val="600"/>
              </a:spcAft>
            </a:pPr>
            <a:r>
              <a:rPr lang="en-US" dirty="0"/>
              <a:t>REFERENCE: </a:t>
            </a:r>
            <a:r>
              <a:rPr dirty="0"/>
              <a:t>docs.aws.amazon.com Security best practices for Amazon S3.</a:t>
            </a:r>
          </a:p>
          <a:p>
            <a:endParaRPr dirty="0"/>
          </a:p>
          <a:p>
            <a:pPr>
              <a:spcAft>
                <a:spcPts val="600"/>
              </a:spcAft>
            </a:pPr>
            <a:r>
              <a:rPr dirty="0"/>
              <a:t>EXAM MAPPING: Domain 2.</a:t>
            </a:r>
          </a:p>
          <a:p>
            <a:endParaRPr dirty="0"/>
          </a:p>
          <a:p>
            <a:pPr>
              <a:spcAft>
                <a:spcPts val="600"/>
              </a:spcAft>
            </a:pPr>
            <a:r>
              <a:rPr dirty="0"/>
              <a:t>Verified against: https://docs.aws.amazon.com/AmazonS3/latest/userguide/security-best-practices.html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same reading exercise one level harder, and the thing to slow down on is the condition block.</a:t>
            </a:r>
          </a:p>
          <a:p>
            <a:endParaRPr dirty="0"/>
          </a:p>
          <a:p>
            <a:pPr>
              <a:spcAft>
                <a:spcPts val="600"/>
              </a:spcAft>
            </a:pPr>
            <a:r>
              <a:rPr dirty="0"/>
              <a:t>Two keys sit inside one </a:t>
            </a:r>
            <a:r>
              <a:rPr dirty="0" err="1"/>
              <a:t>StringEquals</a:t>
            </a:r>
            <a:r>
              <a:rPr dirty="0"/>
              <a:t>, and that means AND rather than OR. Both have to be true, so a request that satisfies only one of them is not allowed.</a:t>
            </a:r>
          </a:p>
          <a:p>
            <a:endParaRPr dirty="0"/>
          </a:p>
          <a:p>
            <a:pPr>
              <a:spcAft>
                <a:spcPts val="600"/>
              </a:spcAft>
            </a:pPr>
            <a:r>
              <a:rPr dirty="0"/>
              <a:t>The two keys look alike and describe opposite sides. </a:t>
            </a:r>
            <a:r>
              <a:rPr dirty="0" err="1"/>
              <a:t>ResourceTag</a:t>
            </a:r>
            <a:r>
              <a:rPr dirty="0"/>
              <a:t> is a tag on the instance being acted upon; </a:t>
            </a:r>
            <a:r>
              <a:rPr dirty="0" err="1"/>
              <a:t>PrincipalTag</a:t>
            </a:r>
            <a:r>
              <a:rPr dirty="0"/>
              <a:t> is a tag on the user or role making the call.</a:t>
            </a:r>
          </a:p>
          <a:p>
            <a:endParaRPr dirty="0"/>
          </a:p>
          <a:p>
            <a:pPr>
              <a:spcAft>
                <a:spcPts val="600"/>
              </a:spcAft>
            </a:pPr>
            <a:r>
              <a:rPr dirty="0"/>
              <a:t>So permission depends on the pair matching, which is what attribute-based access control means in practice. Nobody is named in this policy, and it keeps working as instances and people are added, provided the tags are right.</a:t>
            </a:r>
          </a:p>
          <a:p>
            <a:endParaRPr dirty="0"/>
          </a:p>
          <a:p>
            <a:pPr>
              <a:spcAft>
                <a:spcPts val="600"/>
              </a:spcAft>
            </a:pPr>
            <a:r>
              <a:rPr dirty="0"/>
              <a:t>Ask the room what happens when an instance loses its Project tag. The permission disappears for everyone, which is the operational cost of this approach and worth saying out loud.</a:t>
            </a:r>
          </a:p>
          <a:p>
            <a:endParaRPr dirty="0"/>
          </a:p>
          <a:p>
            <a:pPr>
              <a:spcAft>
                <a:spcPts val="600"/>
              </a:spcAft>
            </a:pPr>
            <a:r>
              <a:rPr dirty="0"/>
              <a:t>PARTNER CONTEXT · ADVISORY: A customer with several project teams in one account wants fewer policies, and this is how they get there. Be explicit that the cost is tag governance, or you have sold them a maintenance problem.</a:t>
            </a:r>
          </a:p>
          <a:p>
            <a:endParaRPr dirty="0"/>
          </a:p>
          <a:p>
            <a:pPr>
              <a:spcAft>
                <a:spcPts val="600"/>
              </a:spcAft>
            </a:pPr>
            <a:r>
              <a:rPr dirty="0"/>
              <a:t>PARTNER CONTEXT · OPERATOR: A partner running one account for several project teams gets one policy instead of one per team, and pays for it by having to govern tagging.</a:t>
            </a:r>
          </a:p>
          <a:p>
            <a:endParaRPr dirty="0"/>
          </a:p>
          <a:p>
            <a:pPr>
              <a:spcAft>
                <a:spcPts val="600"/>
              </a:spcAft>
            </a:pPr>
            <a:r>
              <a:rPr lang="en-US" dirty="0"/>
              <a:t>REFERENCE: </a:t>
            </a:r>
            <a:r>
              <a:rPr dirty="0"/>
              <a:t>docs.aws.amazon.com ABAC authorization.</a:t>
            </a:r>
          </a:p>
          <a:p>
            <a:endParaRPr dirty="0"/>
          </a:p>
          <a:p>
            <a:pPr>
              <a:spcAft>
                <a:spcPts val="600"/>
              </a:spcAft>
            </a:pPr>
            <a:r>
              <a:rPr dirty="0"/>
              <a:t>EXAM MAPPING: Domain 2.</a:t>
            </a:r>
          </a:p>
          <a:p>
            <a:endParaRPr dirty="0"/>
          </a:p>
          <a:p>
            <a:pPr>
              <a:spcAft>
                <a:spcPts val="600"/>
              </a:spcAft>
            </a:pPr>
            <a:r>
              <a:rPr dirty="0"/>
              <a:t>Verified against: https://docs.aws.amazon.com/IAM/latest/UserGuide/introduction_attribute-based-access-control.html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The source covers this in prose and it is worth a slide, because the two policy types answer different questions and questions exploit that.</a:t>
            </a:r>
          </a:p>
          <a:p>
            <a:endParaRPr dirty="0"/>
          </a:p>
          <a:p>
            <a:pPr>
              <a:spcAft>
                <a:spcPts val="600"/>
              </a:spcAft>
            </a:pPr>
            <a:r>
              <a:rPr dirty="0"/>
              <a:t>An identity policy is attached to a principal and answers what this user or role may do. A resource policy is attached to the thing itself and answers who may touch this resource.</a:t>
            </a:r>
          </a:p>
          <a:p>
            <a:endParaRPr dirty="0"/>
          </a:p>
          <a:p>
            <a:pPr>
              <a:spcAft>
                <a:spcPts val="600"/>
              </a:spcAft>
            </a:pPr>
            <a:r>
              <a:rPr dirty="0"/>
              <a:t>The consequence that matters is cross-account. A resource policy can name a principal in another account, which an identity policy in your account cannot do on its own.</a:t>
            </a:r>
          </a:p>
          <a:p>
            <a:endParaRPr dirty="0"/>
          </a:p>
          <a:p>
            <a:pPr>
              <a:spcAft>
                <a:spcPts val="600"/>
              </a:spcAft>
            </a:pPr>
            <a:r>
              <a:rPr dirty="0"/>
              <a:t>Both are evaluated for the same request. For a call inside one account an Allow in either is enough; across accounts you need an Allow on both sides.</a:t>
            </a:r>
          </a:p>
          <a:p>
            <a:endParaRPr dirty="0"/>
          </a:p>
          <a:p>
            <a:pPr>
              <a:spcAft>
                <a:spcPts val="600"/>
              </a:spcAft>
            </a:pPr>
            <a:r>
              <a:rPr dirty="0"/>
              <a:t>Ask the room which type an S3 bucket policy is, and then which type a role's permissions are. Naming them correctly is most of what a question on this needs.</a:t>
            </a:r>
          </a:p>
          <a:p>
            <a:endParaRPr dirty="0"/>
          </a:p>
          <a:p>
            <a:pPr>
              <a:spcAft>
                <a:spcPts val="600"/>
              </a:spcAft>
            </a:pPr>
            <a:r>
              <a:rPr dirty="0"/>
              <a:t>PARTNER CONTEXT · ADVISORY: A customer asking you to grant another account access to one bucket is asking for a resource policy, whether or not they use that phrase. Naming the distinction stops the request being routed to the wrong team.</a:t>
            </a:r>
          </a:p>
          <a:p>
            <a:endParaRPr dirty="0"/>
          </a:p>
          <a:p>
            <a:pPr>
              <a:spcAft>
                <a:spcPts val="600"/>
              </a:spcAft>
            </a:pPr>
            <a:r>
              <a:rPr dirty="0"/>
              <a:t>PARTNER CONTEXT · OPERATOR: A partner granting a client's account read access to one bucket writes a resource policy, because there is no identity in their own account to attach anything to.</a:t>
            </a:r>
          </a:p>
          <a:p>
            <a:endParaRPr dirty="0"/>
          </a:p>
          <a:p>
            <a:pPr>
              <a:spcAft>
                <a:spcPts val="600"/>
              </a:spcAft>
            </a:pPr>
            <a:r>
              <a:rPr lang="en-US" dirty="0"/>
              <a:t>REFERENCE: </a:t>
            </a:r>
            <a:r>
              <a:rPr dirty="0"/>
              <a:t>docs.aws.amazon.com Policies and permissions in AWS Identity and Access Management.</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Securing a generative AI application. Guardrails on both the prompt and the response, blocking versus masking sensitive data, the filter's documented blind spot around tool calls, model access in a new account, and invocation logging.</a:t>
            </a:r>
          </a:p>
          <a:p>
            <a:endParaRPr/>
          </a:p>
          <a:p>
            <a:pPr>
              <a:spcAft>
                <a:spcPts val="600"/>
              </a:spcAft>
            </a:pPr>
            <a:r>
              <a:t>FACILITATOR: This is the newest material on the exam and the block most likely to be unfamiliar, so it is paced slower than the others and each slide names the specific control rather than the general idea.</a:t>
            </a:r>
          </a:p>
          <a:p>
            <a:endParaRPr/>
          </a:p>
          <a:p>
            <a:pPr>
              <a:spcAft>
                <a:spcPts val="600"/>
              </a:spcAft>
            </a:pPr>
            <a:r>
              <a:t>Ask the room what they think a guardrail actually inspects. Answers usually name the prompt only, and the response half is where the surprises live.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Point at the two checks rather than at the model, because the model is not what changed.</a:t>
            </a:r>
          </a:p>
          <a:p>
            <a:endParaRPr dirty="0"/>
          </a:p>
          <a:p>
            <a:pPr>
              <a:spcAft>
                <a:spcPts val="600"/>
              </a:spcAft>
            </a:pPr>
            <a:r>
              <a:rPr dirty="0"/>
              <a:t>A guardrail evaluates the input prompt on the way in and the model's response on the way out. Both directions, independently, against the same configured policy.</a:t>
            </a:r>
          </a:p>
          <a:p>
            <a:endParaRPr dirty="0"/>
          </a:p>
          <a:p>
            <a:pPr>
              <a:spcAft>
                <a:spcPts val="600"/>
              </a:spcAft>
            </a:pPr>
            <a:r>
              <a:rPr dirty="0"/>
              <a:t>That is why it is a safeguard rather than a prompt technique. Nothing in the prompt can talk the guardrail out of the outbound check, because the outbound check happens after the model has finished.</a:t>
            </a:r>
          </a:p>
          <a:p>
            <a:endParaRPr dirty="0"/>
          </a:p>
          <a:p>
            <a:pPr>
              <a:spcAft>
                <a:spcPts val="600"/>
              </a:spcAft>
            </a:pPr>
            <a:r>
              <a:rPr dirty="0"/>
              <a:t>The same guardrail can be attached to different models, which is what makes the behavior consistent when a team changes model.</a:t>
            </a:r>
          </a:p>
          <a:p>
            <a:endParaRPr dirty="0"/>
          </a:p>
          <a:p>
            <a:pPr>
              <a:spcAft>
                <a:spcPts val="600"/>
              </a:spcAft>
            </a:pPr>
            <a:r>
              <a:rPr dirty="0"/>
              <a:t>Ask the room which side catches a model that produces something harmful from a perfectly innocent question. The response side, and it is the half people forget when they think of this as input validation.</a:t>
            </a:r>
          </a:p>
          <a:p>
            <a:endParaRPr dirty="0"/>
          </a:p>
          <a:p>
            <a:pPr>
              <a:spcAft>
                <a:spcPts val="600"/>
              </a:spcAft>
            </a:pPr>
            <a:r>
              <a:rPr dirty="0"/>
              <a:t>PARTNER CONTEXT · ADVISORY: A customer who asks whether you can stop it saying something embarrassing is describing the outbound check only. Pointing out that the inbound check is a separate configuration is usually new information, and it changes their design.</a:t>
            </a:r>
          </a:p>
          <a:p>
            <a:endParaRPr dirty="0"/>
          </a:p>
          <a:p>
            <a:pPr>
              <a:spcAft>
                <a:spcPts val="600"/>
              </a:spcAft>
            </a:pPr>
            <a:r>
              <a:rPr dirty="0"/>
              <a:t>PARTNER CONTEXT · OPERATOR: A partner running a customer-facing assistant needs both: the inbound check for what users type, the outbound check for what the model says back on their behalf.</a:t>
            </a:r>
          </a:p>
          <a:p>
            <a:endParaRPr dirty="0"/>
          </a:p>
          <a:p>
            <a:pPr>
              <a:spcAft>
                <a:spcPts val="600"/>
              </a:spcAft>
            </a:pPr>
            <a:r>
              <a:rPr dirty="0"/>
              <a:t>One documented exclusion is worth knowing: reasoning content blocks are not evaluated.</a:t>
            </a:r>
          </a:p>
          <a:p>
            <a:endParaRPr dirty="0"/>
          </a:p>
          <a:p>
            <a:pPr>
              <a:spcAft>
                <a:spcPts val="600"/>
              </a:spcAft>
            </a:pPr>
            <a:r>
              <a:rPr lang="en-US" dirty="0"/>
              <a:t>REFERENCE: </a:t>
            </a:r>
            <a:r>
              <a:rPr dirty="0"/>
              <a:t>docs.aws.amazon.com Detect and filter harmful content by using Amazon Bedrock Guardrails.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 published AWS case study, so the framing here is Clariant's own. Clariant is a Swiss specialty chemicals company whose technology sits in hundreds of everyday products, and it built an internal generative AI assistant called Clarita on Amazon Bedrock.</a:t>
            </a:r>
          </a:p>
          <a:p>
            <a:endParaRPr dirty="0"/>
          </a:p>
          <a:p>
            <a:pPr>
              <a:spcAft>
                <a:spcPts val="600"/>
              </a:spcAft>
            </a:pPr>
            <a:r>
              <a:rPr dirty="0"/>
              <a:t>⚠ THE SENTENCE THIS SLIDE EXISTS FOR, and it is theirs: the first hurdle was data protection. Not model quality, not cost, not skills. They wanted to give employees generative AI and they had to be sure intellectual property stayed in a secure environment first.</a:t>
            </a:r>
          </a:p>
          <a:p>
            <a:endParaRPr dirty="0"/>
          </a:p>
          <a:p>
            <a:pPr>
              <a:spcAft>
                <a:spcPts val="600"/>
              </a:spcAft>
            </a:pPr>
            <a:r>
              <a:rPr dirty="0"/>
              <a:t>Their head of IT put it as wanting to run generative AI in an environment that keeps their data in their hands and confidential. That is the business reason the whole security block you have just worked through exists.</a:t>
            </a:r>
          </a:p>
          <a:p>
            <a:endParaRPr dirty="0"/>
          </a:p>
          <a:p>
            <a:pPr>
              <a:spcAft>
                <a:spcPts val="600"/>
              </a:spcAft>
            </a:pPr>
            <a:r>
              <a:rPr dirty="0"/>
              <a:t>The third row is the payoff and it is worth naming: once the security question was settled, employees found the uses themselves -- summarizing documents, synthesizing patents, toxicology work. The controls did not slow adoption down, they were what allowed it to start.</a:t>
            </a:r>
          </a:p>
          <a:p>
            <a:endParaRPr dirty="0"/>
          </a:p>
          <a:p>
            <a:pPr>
              <a:spcAft>
                <a:spcPts val="600"/>
              </a:spcAft>
            </a:pPr>
            <a:r>
              <a:rPr dirty="0"/>
              <a:t>Ask the room which of the controls from this session they would have needed to answer that first hurdle, before you move on.</a:t>
            </a:r>
          </a:p>
          <a:p>
            <a:endParaRPr dirty="0"/>
          </a:p>
          <a:p>
            <a:pPr>
              <a:spcAft>
                <a:spcPts val="600"/>
              </a:spcAft>
            </a:pPr>
            <a:r>
              <a:rPr dirty="0"/>
              <a:t>PARTNER CONTEXT · ADVISORY: A customer whose legal or R&amp;D function has blocked a generative AI pilot is almost always asking Clariant's question rather than a technical one. Being able to name a company in a patent-heavy industry that resolved it, and how, moves the conversation faster than a feature list.</a:t>
            </a:r>
          </a:p>
          <a:p>
            <a:endParaRPr dirty="0"/>
          </a:p>
          <a:p>
            <a:pPr>
              <a:spcAft>
                <a:spcPts val="600"/>
              </a:spcAft>
            </a:pPr>
            <a:r>
              <a:rPr dirty="0"/>
              <a:t>PARTNER CONTEXT · OPERATOR: A partner running an internal assistant on their own corporate data faces this in the same order -- settle where the data lives and what leaves the account, then let the use cases arrive.</a:t>
            </a:r>
          </a:p>
          <a:p>
            <a:endParaRPr dirty="0"/>
          </a:p>
          <a:p>
            <a:pPr>
              <a:spcAft>
                <a:spcPts val="600"/>
              </a:spcAft>
            </a:pPr>
            <a:r>
              <a:rPr lang="en-US" dirty="0"/>
              <a:t>REFERENCE: </a:t>
            </a:r>
            <a:r>
              <a:rPr dirty="0"/>
              <a:t>aws.amazon.com Clariant Employees Embrace Generative AI Using Amazon Bedrock.</a:t>
            </a:r>
          </a:p>
          <a:p>
            <a:endParaRPr dirty="0"/>
          </a:p>
          <a:p>
            <a:pPr>
              <a:spcAft>
                <a:spcPts val="600"/>
              </a:spcAft>
            </a:pPr>
            <a:r>
              <a:rPr dirty="0"/>
              <a:t>EXAM MAPPING: Domain 2, task 2.3.</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Two modes, and the choice between them is a product decision rather than a security one.</a:t>
            </a:r>
          </a:p>
          <a:p>
            <a:endParaRPr dirty="0"/>
          </a:p>
          <a:p>
            <a:pPr>
              <a:spcAft>
                <a:spcPts val="600"/>
              </a:spcAft>
            </a:pPr>
            <a:r>
              <a:rPr dirty="0"/>
              <a:t>Block refuses the whole thing. If sensitive information is detected the guardrail blocks all the content and returns a message you configure, so the user gets your wording rather than a model response.</a:t>
            </a:r>
          </a:p>
          <a:p>
            <a:endParaRPr dirty="0"/>
          </a:p>
          <a:p>
            <a:pPr>
              <a:spcAft>
                <a:spcPts val="600"/>
              </a:spcAft>
            </a:pPr>
            <a:r>
              <a:rPr dirty="0"/>
              <a:t>Mask lets the exchange continue with the sensitive part removed. The guardrail replaces the detected value with its type, so the text comes back reading brace NAME or brace EMAIL.</a:t>
            </a:r>
          </a:p>
          <a:p>
            <a:endParaRPr dirty="0"/>
          </a:p>
          <a:p>
            <a:pPr>
              <a:spcAft>
                <a:spcPts val="600"/>
              </a:spcAft>
            </a:pPr>
            <a:r>
              <a:rPr dirty="0"/>
              <a:t>That difference decides which one suits an application. A public question-and-answer tool wants block; a tool summarizing support conversations wants mask, because the summary is still useful without the customer's name in it.</a:t>
            </a:r>
          </a:p>
          <a:p>
            <a:endParaRPr dirty="0"/>
          </a:p>
          <a:p>
            <a:pPr>
              <a:spcAft>
                <a:spcPts val="600"/>
              </a:spcAft>
            </a:pPr>
            <a:r>
              <a:rPr dirty="0"/>
              <a:t>Ask the room which mode a call-center summarizer needs, and make them say why. Wanting the summary is the reason, and it is a better route to the answer than remembering a list.</a:t>
            </a:r>
          </a:p>
          <a:p>
            <a:endParaRPr dirty="0"/>
          </a:p>
          <a:p>
            <a:pPr>
              <a:spcAft>
                <a:spcPts val="600"/>
              </a:spcAft>
            </a:pPr>
            <a:r>
              <a:rPr dirty="0"/>
              <a:t>PARTNER CONTEXT · ADVISORY: A customer in a regulated industry rarely arrives knowing these are two different actions. Walking them through block on the way in and mask on the way out gives them a decision they can take to their compliance reviewer.</a:t>
            </a:r>
          </a:p>
          <a:p>
            <a:endParaRPr dirty="0"/>
          </a:p>
          <a:p>
            <a:pPr>
              <a:spcAft>
                <a:spcPts val="600"/>
              </a:spcAft>
            </a:pPr>
            <a:r>
              <a:rPr dirty="0"/>
              <a:t>PARTNER CONTEXT · OPERATOR: A partner handling regulated data usually wants block on the inbound side and mask on the outbound, and there is no rule against configuring them differently.</a:t>
            </a:r>
          </a:p>
          <a:p>
            <a:endParaRPr dirty="0"/>
          </a:p>
          <a:p>
            <a:pPr>
              <a:spcAft>
                <a:spcPts val="600"/>
              </a:spcAft>
            </a:pPr>
            <a:r>
              <a:rPr dirty="0"/>
              <a:t>Detection is a machine learning solution and context-dependent, so it is not a guarantee. Custom regular expressions are available where a pattern is known exactly.</a:t>
            </a:r>
          </a:p>
          <a:p>
            <a:endParaRPr dirty="0"/>
          </a:p>
          <a:p>
            <a:pPr>
              <a:spcAft>
                <a:spcPts val="600"/>
              </a:spcAft>
            </a:pPr>
            <a:r>
              <a:rPr lang="en-US" dirty="0"/>
              <a:t>REFERENCE: </a:t>
            </a:r>
            <a:r>
              <a:rPr dirty="0"/>
              <a:t>docs.aws.amazon.com Remove PII from conversations by using sensitive information filters.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slide to slow down on, because it is a documented limitation rather than a configuration mistake and almost nobody expects it.</a:t>
            </a:r>
          </a:p>
          <a:p>
            <a:endParaRPr dirty="0"/>
          </a:p>
          <a:p>
            <a:pPr>
              <a:spcAft>
                <a:spcPts val="600"/>
              </a:spcAft>
            </a:pPr>
            <a:r>
              <a:rPr dirty="0"/>
              <a:t>The sensitive information filter evaluates text content only. In tool use workloads it does not evaluate what the model writes into tool call arguments, what your application returns in tool results, or the tool definitions you supply.</a:t>
            </a:r>
          </a:p>
          <a:p>
            <a:endParaRPr dirty="0"/>
          </a:p>
          <a:p>
            <a:pPr>
              <a:spcAft>
                <a:spcPts val="600"/>
              </a:spcAft>
            </a:pPr>
            <a:r>
              <a:rPr dirty="0"/>
              <a:t>So the documented example is worth reading out: if the model passes a customer's email address to a tool that writes a file, that address is not masked.</a:t>
            </a:r>
          </a:p>
          <a:p>
            <a:endParaRPr dirty="0"/>
          </a:p>
          <a:p>
            <a:pPr>
              <a:spcAft>
                <a:spcPts val="600"/>
              </a:spcAft>
            </a:pPr>
            <a:r>
              <a:rPr dirty="0"/>
              <a:t>That matters because the tool path is exactly where data leaves the conversation and reaches something durable. The guardrail protects what the user sees, not what the tool receives.</a:t>
            </a:r>
          </a:p>
          <a:p>
            <a:endParaRPr dirty="0"/>
          </a:p>
          <a:p>
            <a:pPr>
              <a:spcAft>
                <a:spcPts val="600"/>
              </a:spcAft>
            </a:pPr>
            <a:r>
              <a:rPr dirty="0"/>
              <a:t>Ask the room where they would put the check instead, before you answer. Inside the tool, on the way in, is the answer worth landing, because the tool is the last place you control.</a:t>
            </a:r>
          </a:p>
          <a:p>
            <a:endParaRPr dirty="0"/>
          </a:p>
          <a:p>
            <a:pPr>
              <a:spcAft>
                <a:spcPts val="600"/>
              </a:spcAft>
            </a:pPr>
            <a:r>
              <a:rPr dirty="0"/>
              <a:t>PARTNER CONTEXT · ADVISORY: A customer who has attached a guardrail believes the problem is solved. Telling them the filter does not read tool-call arguments is the most valuable thing on this slide, and it is far better said in design than in an incident.</a:t>
            </a:r>
          </a:p>
          <a:p>
            <a:endParaRPr dirty="0"/>
          </a:p>
          <a:p>
            <a:pPr>
              <a:spcAft>
                <a:spcPts val="600"/>
              </a:spcAft>
            </a:pPr>
            <a:r>
              <a:rPr dirty="0"/>
              <a:t>PARTNER CONTEXT · OPERATOR: A partner building an agent that writes to a ticketing system has to validate in its own handler. Attaching a guardrail is necessary and it is not sufficient.</a:t>
            </a:r>
          </a:p>
          <a:p>
            <a:endParaRPr dirty="0"/>
          </a:p>
          <a:p>
            <a:pPr>
              <a:spcAft>
                <a:spcPts val="600"/>
              </a:spcAft>
            </a:pPr>
            <a:r>
              <a:rPr dirty="0"/>
              <a:t>Detection does work across code as well as prose, including comments, string literals and variable names, so this gap is specifically about the tool fields rather than about code in general.</a:t>
            </a:r>
          </a:p>
          <a:p>
            <a:endParaRPr dirty="0"/>
          </a:p>
          <a:p>
            <a:pPr>
              <a:spcAft>
                <a:spcPts val="600"/>
              </a:spcAft>
            </a:pPr>
            <a:r>
              <a:rPr lang="en-US" dirty="0"/>
              <a:t>REFERENCE: </a:t>
            </a:r>
            <a:r>
              <a:rPr dirty="0"/>
              <a:t>docs.aws.amazon.com Remove PII from conversations by using sensitive information filters.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Correct an assumption before you explain anything, because most of the room will hold it.</a:t>
            </a:r>
          </a:p>
          <a:p>
            <a:endParaRPr dirty="0"/>
          </a:p>
          <a:p>
            <a:pPr>
              <a:spcAft>
                <a:spcPts val="600"/>
              </a:spcAft>
            </a:pPr>
            <a:r>
              <a:rPr dirty="0"/>
              <a:t>Access to the foundation models is enabled by default, provided the account has the right AWS Marketplace permissions. There is no per-model request step to work through first.</a:t>
            </a:r>
          </a:p>
          <a:p>
            <a:endParaRPr dirty="0"/>
          </a:p>
          <a:p>
            <a:pPr>
              <a:spcAft>
                <a:spcPts val="600"/>
              </a:spcAft>
            </a:pPr>
            <a:r>
              <a:rPr dirty="0"/>
              <a:t>What happens instead is that the first invocation starts a subscription in the background. While that completes, calls can return an access denied error, and if a prerequisite is missing they keep returning it.</a:t>
            </a:r>
          </a:p>
          <a:p>
            <a:endParaRPr dirty="0"/>
          </a:p>
          <a:p>
            <a:pPr>
              <a:spcAft>
                <a:spcPts val="600"/>
              </a:spcAft>
            </a:pPr>
            <a:r>
              <a:rPr dirty="0"/>
              <a:t>So three prerequisites are the actual answer to a new account failing. Marketplace permissions on the calling role, a valid payment method on the account, and for Anthropic models a first-time-use form submitted once.</a:t>
            </a:r>
          </a:p>
          <a:p>
            <a:endParaRPr dirty="0"/>
          </a:p>
          <a:p>
            <a:pPr>
              <a:spcAft>
                <a:spcPts val="600"/>
              </a:spcAft>
            </a:pPr>
            <a:r>
              <a:rPr dirty="0"/>
              <a:t>Ask the room what they would check first when a brand new account gets access denied, before you list these. Reaching for the model rather than the account is the common instinct and it is the wrong one.</a:t>
            </a:r>
          </a:p>
          <a:p>
            <a:endParaRPr dirty="0"/>
          </a:p>
          <a:p>
            <a:pPr>
              <a:spcAft>
                <a:spcPts val="600"/>
              </a:spcAft>
            </a:pPr>
            <a:r>
              <a:rPr dirty="0"/>
              <a:t>PARTNER CONTEXT · ADVISORY: A customer whose first model call fails will report it as your policy being wrong. Knowing the three prerequisites lets you rule that out in one message rather than a day of back-and-forth.</a:t>
            </a:r>
          </a:p>
          <a:p>
            <a:endParaRPr dirty="0"/>
          </a:p>
          <a:p>
            <a:pPr>
              <a:spcAft>
                <a:spcPts val="600"/>
              </a:spcAft>
            </a:pPr>
            <a:r>
              <a:rPr dirty="0"/>
              <a:t>PARTNER CONTEXT · OPERATOR: A partner standing up a fresh account for a customer should verify all three before the first production call, because the error looks identical to a permissions bug in their own policy.</a:t>
            </a:r>
          </a:p>
          <a:p>
            <a:endParaRPr dirty="0"/>
          </a:p>
          <a:p>
            <a:pPr>
              <a:spcAft>
                <a:spcPts val="600"/>
              </a:spcAft>
            </a:pPr>
            <a:r>
              <a:rPr dirty="0"/>
              <a:t>The form submitted at an organization's management account is inherited by other accounts in that organization.</a:t>
            </a:r>
          </a:p>
          <a:p>
            <a:endParaRPr dirty="0"/>
          </a:p>
          <a:p>
            <a:pPr>
              <a:spcAft>
                <a:spcPts val="600"/>
              </a:spcAft>
            </a:pPr>
            <a:r>
              <a:rPr lang="en-US" dirty="0"/>
              <a:t>REFERENCE: </a:t>
            </a:r>
            <a:r>
              <a:rPr dirty="0"/>
              <a:t>docs.aws.amazon.com Request access to models.</a:t>
            </a:r>
          </a:p>
          <a:p>
            <a:endParaRPr dirty="0"/>
          </a:p>
          <a:p>
            <a:pPr>
              <a:spcAft>
                <a:spcPts val="600"/>
              </a:spcAft>
            </a:pPr>
            <a:r>
              <a:rPr dirty="0"/>
              <a:t>EXAM MAPPING: Domain 2.</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slide that connects an AI feature to an ordinary compliance question, so keep it concrete.</a:t>
            </a:r>
          </a:p>
          <a:p>
            <a:endParaRPr dirty="0"/>
          </a:p>
          <a:p>
            <a:pPr>
              <a:spcAft>
                <a:spcPts val="600"/>
              </a:spcAft>
            </a:pPr>
            <a:r>
              <a:rPr dirty="0"/>
              <a:t>Model invocation logging collects the invocation logs, the model input data and the model output data for calls in your account in a Region. The prompt is in there, which is the part that matters.</a:t>
            </a:r>
          </a:p>
          <a:p>
            <a:endParaRPr dirty="0"/>
          </a:p>
          <a:p>
            <a:pPr>
              <a:spcAft>
                <a:spcPts val="600"/>
              </a:spcAft>
            </a:pPr>
            <a:r>
              <a:rPr dirty="0"/>
              <a:t>It is disabled by default. Nothing is being recorded until somebody enables it, and once enabled the logs are kept until the logging configuration is deleted.</a:t>
            </a:r>
          </a:p>
          <a:p>
            <a:endParaRPr dirty="0"/>
          </a:p>
          <a:p>
            <a:pPr>
              <a:spcAft>
                <a:spcPts val="600"/>
              </a:spcAft>
            </a:pPr>
            <a:r>
              <a:rPr dirty="0"/>
              <a:t>The destination is either CloudWatch Logs or Amazon S3, and only destinations in the same account and Region are supported. So a central logging account is not something this feature does on its own.</a:t>
            </a:r>
          </a:p>
          <a:p>
            <a:endParaRPr dirty="0"/>
          </a:p>
          <a:p>
            <a:pPr>
              <a:spcAft>
                <a:spcPts val="600"/>
              </a:spcAft>
            </a:pPr>
            <a:r>
              <a:rPr dirty="0"/>
              <a:t>Ask the room what the privacy implication is for an application whose users type sensitive information, before you say it. The prompt is stored where the log lands, which turns a model feature into a data-retention decision.</a:t>
            </a:r>
          </a:p>
          <a:p>
            <a:endParaRPr dirty="0"/>
          </a:p>
          <a:p>
            <a:pPr>
              <a:spcAft>
                <a:spcPts val="600"/>
              </a:spcAft>
            </a:pPr>
            <a:r>
              <a:rPr dirty="0"/>
              <a:t>PARTNER CONTEXT · ADVISORY: A customer asking for an audit trail of prompts is usually also asking for PII to be masked, and those two requests conflict unless the masking runs first. Surface the ordering while it is still a design conversation.</a:t>
            </a:r>
          </a:p>
          <a:p>
            <a:endParaRPr dirty="0"/>
          </a:p>
          <a:p>
            <a:pPr>
              <a:spcAft>
                <a:spcPts val="600"/>
              </a:spcAft>
            </a:pPr>
            <a:r>
              <a:rPr dirty="0"/>
              <a:t>PARTNER CONTEXT · OPERATOR: A partner in a regulated industry usually needs this on for auditability and needs a guardrail masking the prompt on the way in, and those two requirements pull in opposite directions unless the masking happens first.</a:t>
            </a:r>
          </a:p>
          <a:p>
            <a:endParaRPr dirty="0"/>
          </a:p>
          <a:p>
            <a:pPr>
              <a:spcAft>
                <a:spcPts val="600"/>
              </a:spcAft>
            </a:pPr>
            <a:r>
              <a:rPr lang="en-US" dirty="0"/>
              <a:t>REFERENCE: </a:t>
            </a:r>
            <a:r>
              <a:rPr dirty="0"/>
              <a:t>docs.aws.amazon.com Monitor model invocation using CloudWatch Logs and Amazon S3.</a:t>
            </a:r>
          </a:p>
          <a:p>
            <a:endParaRPr dirty="0"/>
          </a:p>
          <a:p>
            <a:pPr>
              <a:spcAft>
                <a:spcPts val="600"/>
              </a:spcAft>
            </a:pPr>
            <a:r>
              <a:rPr dirty="0"/>
              <a:t>EXAM MAPPING: Domain 4.</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Reading a trace. Segments, traces and the service graph, how X-Ray classifies an error against a fault against a throttle, and what a subsegment really measures.</a:t>
            </a:r>
          </a:p>
          <a:p>
            <a:endParaRPr dirty="0"/>
          </a:p>
          <a:p>
            <a:pPr>
              <a:spcAft>
                <a:spcPts val="600"/>
              </a:spcAft>
            </a:pPr>
            <a:r>
              <a:rPr dirty="0"/>
              <a:t>FACILITATOR: Keep the block concrete -- every slide here answers a question someone asks during an incident rather than defining a term. The last slide is the one worth the most time.</a:t>
            </a:r>
          </a:p>
          <a:p>
            <a:endParaRPr dirty="0"/>
          </a:p>
          <a:p>
            <a:pPr>
              <a:spcAft>
                <a:spcPts val="600"/>
              </a:spcAft>
            </a:pPr>
            <a:r>
              <a:rPr dirty="0"/>
              <a:t>Ask what a wide bar on a downstream service tells you. The answer most rooms give is "that service is slow", and correcting it is the whole point of the block.</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Three words get used interchangeably and they are three different things. Build the row left to right.</a:t>
            </a:r>
          </a:p>
          <a:p>
            <a:endParaRPr dirty="0"/>
          </a:p>
          <a:p>
            <a:pPr>
              <a:spcAft>
                <a:spcPts val="600"/>
              </a:spcAft>
            </a:pPr>
            <a:r>
              <a:rPr dirty="0"/>
              <a:t>A segment is what one compute resource sends about the work it did. It carries the resource name, the request details, start and end times, and any errors.</a:t>
            </a:r>
          </a:p>
          <a:p>
            <a:endParaRPr dirty="0"/>
          </a:p>
          <a:p>
            <a:pPr>
              <a:spcAft>
                <a:spcPts val="600"/>
              </a:spcAft>
            </a:pPr>
            <a:r>
              <a:rPr dirty="0"/>
              <a:t>A trace is every segment that shares one request. So a single user action produces one trace containing as many segments as there were services involved.</a:t>
            </a:r>
          </a:p>
          <a:p>
            <a:endParaRPr dirty="0"/>
          </a:p>
          <a:p>
            <a:pPr>
              <a:spcAft>
                <a:spcPts val="600"/>
              </a:spcAft>
            </a:pPr>
            <a:r>
              <a:rPr dirty="0"/>
              <a:t>The service graph is generated from those traces. Each resource that sends data appears as a service, and edges connect the services that work together to serve requests.</a:t>
            </a:r>
          </a:p>
          <a:p>
            <a:endParaRPr dirty="0"/>
          </a:p>
          <a:p>
            <a:pPr>
              <a:spcAft>
                <a:spcPts val="600"/>
              </a:spcAft>
            </a:pPr>
            <a:r>
              <a:rPr dirty="0"/>
              <a:t>Ask the room how many traces a single user action produces, before you answer. One is the answer, and hearing people guess several is the fastest way to find out the word has not landed.</a:t>
            </a:r>
          </a:p>
          <a:p>
            <a:endParaRPr dirty="0"/>
          </a:p>
          <a:p>
            <a:pPr>
              <a:spcAft>
                <a:spcPts val="600"/>
              </a:spcAft>
            </a:pPr>
            <a:r>
              <a:rPr dirty="0"/>
              <a:t>PARTNER CONTEXT · ADVISORY: A customer reporting that something is intermittently slow cannot usually tell you which service is at fault. This is the vocabulary you need so that the answer comes from a trace rather than from a guess.</a:t>
            </a:r>
          </a:p>
          <a:p>
            <a:endParaRPr dirty="0"/>
          </a:p>
          <a:p>
            <a:pPr>
              <a:spcAft>
                <a:spcPts val="600"/>
              </a:spcAft>
            </a:pPr>
            <a:r>
              <a:rPr dirty="0"/>
              <a:t>PARTNER CONTEXT · OPERATOR: A partner debugging an intermittent failure searches traces to find the one bad request, then reads its segments to find which service was responsible.</a:t>
            </a:r>
          </a:p>
          <a:p>
            <a:endParaRPr dirty="0"/>
          </a:p>
          <a:p>
            <a:pPr>
              <a:spcAft>
                <a:spcPts val="600"/>
              </a:spcAft>
            </a:pPr>
            <a:r>
              <a:rPr dirty="0"/>
              <a:t>The console renders the service graph as a service map, so the two names describe the same thing.</a:t>
            </a:r>
          </a:p>
          <a:p>
            <a:endParaRPr dirty="0"/>
          </a:p>
          <a:p>
            <a:pPr>
              <a:spcAft>
                <a:spcPts val="600"/>
              </a:spcAft>
            </a:pPr>
            <a:r>
              <a:rPr lang="en-US" dirty="0"/>
              <a:t>REFERENCE: </a:t>
            </a:r>
            <a:r>
              <a:rPr dirty="0"/>
              <a:t>docs.aws.amazon.com AWS X-Ray concepts.</a:t>
            </a:r>
          </a:p>
          <a:p>
            <a:endParaRPr dirty="0"/>
          </a:p>
          <a:p>
            <a:pPr>
              <a:spcAft>
                <a:spcPts val="600"/>
              </a:spcAft>
            </a:pPr>
            <a:r>
              <a:rPr dirty="0"/>
              <a:t>EXAM MAPPING: Domain 4.</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Three categories, and the third one is why this needs a slide rather than a bullet.</a:t>
            </a:r>
          </a:p>
          <a:p>
            <a:endParaRPr dirty="0"/>
          </a:p>
          <a:p>
            <a:pPr>
              <a:spcAft>
                <a:spcPts val="600"/>
              </a:spcAft>
            </a:pPr>
            <a:r>
              <a:rPr dirty="0"/>
              <a:t>Error means a client error, the 400 series. Fault means a server fault, the 500 series. Throttle means specifically a 429, too many requests.</a:t>
            </a:r>
          </a:p>
          <a:p>
            <a:endParaRPr dirty="0"/>
          </a:p>
          <a:p>
            <a:pPr>
              <a:spcAft>
                <a:spcPts val="600"/>
              </a:spcAft>
            </a:pPr>
            <a:r>
              <a:rPr dirty="0"/>
              <a:t>Notice the overlap. A 429 is arithmetically a 400-series response, and X-Ray still counts it as a throttle rather than an error, so the two numbers are not the same thing.</a:t>
            </a:r>
          </a:p>
          <a:p>
            <a:endParaRPr dirty="0"/>
          </a:p>
          <a:p>
            <a:pPr>
              <a:spcAft>
                <a:spcPts val="600"/>
              </a:spcAft>
            </a:pPr>
            <a:r>
              <a:rPr dirty="0"/>
              <a:t>That matters when reading a service map. A node showing throttles is being rate limited, which is a capacity or quota conversation. A node showing errors is being sent bad requests, which is a caller conversation.</a:t>
            </a:r>
          </a:p>
          <a:p>
            <a:endParaRPr dirty="0"/>
          </a:p>
          <a:p>
            <a:pPr>
              <a:spcAft>
                <a:spcPts val="600"/>
              </a:spcAft>
            </a:pPr>
            <a:r>
              <a:rPr dirty="0"/>
              <a:t>Ask the room which category a 404 falls into and then which a 429 falls into, before you confirm. Getting the second one right is the whole point of the slide.</a:t>
            </a:r>
          </a:p>
          <a:p>
            <a:endParaRPr dirty="0"/>
          </a:p>
          <a:p>
            <a:pPr>
              <a:spcAft>
                <a:spcPts val="600"/>
              </a:spcAft>
            </a:pPr>
            <a:r>
              <a:rPr dirty="0"/>
              <a:t>PARTNER CONTEXT · ADVISORY: A customer says we are seeing errors and means all three of these at once. Separating them before you promise a fix is what stops a capacity problem being investigated as a code problem.</a:t>
            </a:r>
          </a:p>
          <a:p>
            <a:endParaRPr dirty="0"/>
          </a:p>
          <a:p>
            <a:pPr>
              <a:spcAft>
                <a:spcPts val="600"/>
              </a:spcAft>
            </a:pPr>
            <a:r>
              <a:rPr dirty="0"/>
              <a:t>PARTNER CONTEXT · OPERATOR: A partner investigating a spike should read the categories separately, because a rise in throttles and a rise in faults lead to completely different fixes.</a:t>
            </a:r>
          </a:p>
          <a:p>
            <a:endParaRPr dirty="0"/>
          </a:p>
          <a:p>
            <a:pPr>
              <a:spcAft>
                <a:spcPts val="600"/>
              </a:spcAft>
            </a:pPr>
            <a:r>
              <a:rPr dirty="0"/>
              <a:t>Exceptions are recorded separately again, with the stack trace where one is available, and are visible under segment details.</a:t>
            </a:r>
          </a:p>
          <a:p>
            <a:endParaRPr dirty="0"/>
          </a:p>
          <a:p>
            <a:pPr>
              <a:spcAft>
                <a:spcPts val="600"/>
              </a:spcAft>
            </a:pPr>
            <a:r>
              <a:rPr lang="en-US" dirty="0"/>
              <a:t>REFERENCE: </a:t>
            </a:r>
            <a:r>
              <a:rPr dirty="0"/>
              <a:t>docs.aws.amazon.com AWS X-Ray concepts.</a:t>
            </a:r>
          </a:p>
          <a:p>
            <a:endParaRPr dirty="0"/>
          </a:p>
          <a:p>
            <a:pPr>
              <a:spcAft>
                <a:spcPts val="600"/>
              </a:spcAft>
            </a:pPr>
            <a:r>
              <a:rPr dirty="0"/>
              <a:t>EXAM MAPPING: Domain 4.</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This is the slide that makes a latency investigation honest, so give it the most time.</a:t>
            </a:r>
          </a:p>
          <a:p>
            <a:endParaRPr dirty="0"/>
          </a:p>
          <a:p>
            <a:pPr>
              <a:spcAft>
                <a:spcPts val="600"/>
              </a:spcAft>
            </a:pPr>
            <a:r>
              <a:rPr dirty="0"/>
              <a:t>A subsegment is your application's view of a downstream call, as the client. It carries the more granular timing for that call, and you can add your own around any function you want to measure.</a:t>
            </a:r>
          </a:p>
          <a:p>
            <a:endParaRPr dirty="0"/>
          </a:p>
          <a:p>
            <a:pPr>
              <a:spcAft>
                <a:spcPts val="600"/>
              </a:spcAft>
            </a:pPr>
            <a:r>
              <a:rPr dirty="0"/>
              <a:t>Now the part that changes how you read a trace. Services that do not send their own segments, DynamoDB among them, get an inferred segment that X-Ray generates from your subsegment.</a:t>
            </a:r>
          </a:p>
          <a:p>
            <a:endParaRPr dirty="0"/>
          </a:p>
          <a:p>
            <a:pPr>
              <a:spcAft>
                <a:spcPts val="600"/>
              </a:spcAft>
            </a:pPr>
            <a:r>
              <a:rPr dirty="0"/>
              <a:t>So the DynamoDB bar in a trace was measured by your own SDK client. It includes the network round trip and any client-side retry, which means it is your view of DynamoDB rather than DynamoDB's report of itself.</a:t>
            </a:r>
          </a:p>
          <a:p>
            <a:endParaRPr dirty="0"/>
          </a:p>
          <a:p>
            <a:pPr>
              <a:spcAft>
                <a:spcPts val="600"/>
              </a:spcAft>
            </a:pPr>
            <a:r>
              <a:rPr dirty="0"/>
              <a:t>When the downstream service IS instrumented, its own segment replaces the inferred one, and the node then carries that service's timing while the edge still carries yours.</a:t>
            </a:r>
          </a:p>
          <a:p>
            <a:endParaRPr dirty="0"/>
          </a:p>
          <a:p>
            <a:pPr>
              <a:spcAft>
                <a:spcPts val="600"/>
              </a:spcAft>
            </a:pPr>
            <a:r>
              <a:rPr dirty="0"/>
              <a:t>Ask the room what a wide DynamoDB bar could mean other than a slow table, before you answer. A retry inside the SDK client is the answer worth landing.</a:t>
            </a:r>
          </a:p>
          <a:p>
            <a:endParaRPr dirty="0"/>
          </a:p>
          <a:p>
            <a:pPr>
              <a:spcAft>
                <a:spcPts val="600"/>
              </a:spcAft>
            </a:pPr>
            <a:r>
              <a:rPr dirty="0"/>
              <a:t>PARTNER CONTEXT · ADVISORY: A customer pointing at a DynamoDB bar and concluding the database is slow has misread the trace. Correcting that is genuinely useful advice, and it changes where they spend the next week.</a:t>
            </a:r>
          </a:p>
          <a:p>
            <a:endParaRPr dirty="0"/>
          </a:p>
          <a:p>
            <a:pPr>
              <a:spcAft>
                <a:spcPts val="600"/>
              </a:spcAft>
            </a:pPr>
            <a:r>
              <a:rPr dirty="0"/>
              <a:t>PARTNER CONTEXT · OPERATOR: A partner chasing latency in an API Gateway to Lambda to DynamoDB path should read the subsegment as an upper bound on the database's own time, never as its exact cost.</a:t>
            </a:r>
          </a:p>
          <a:p>
            <a:endParaRPr dirty="0"/>
          </a:p>
          <a:p>
            <a:pPr>
              <a:spcAft>
                <a:spcPts val="600"/>
              </a:spcAft>
            </a:pPr>
            <a:r>
              <a:rPr lang="en-US" dirty="0"/>
              <a:t>REFERENCE: </a:t>
            </a:r>
            <a:r>
              <a:rPr dirty="0"/>
              <a:t>docs.aws.amazon.com AWS X-Ray concepts.</a:t>
            </a:r>
          </a:p>
          <a:p>
            <a:endParaRPr dirty="0"/>
          </a:p>
          <a:p>
            <a:pPr>
              <a:spcAft>
                <a:spcPts val="600"/>
              </a:spcAft>
            </a:pPr>
            <a:r>
              <a:rPr dirty="0"/>
              <a:t>EXAM MAPPING: Domain 4.</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WHAT'S HERE: The practice block for week 5. Seven questions, each in four beats -- read the stem, name the key phrase, reveal the answer, then the explainer.</a:t>
            </a:r>
          </a:p>
          <a:p>
            <a:endParaRPr/>
          </a:p>
          <a:p>
            <a:pPr>
              <a:spcAft>
                <a:spcPts val="600"/>
              </a:spcAft>
            </a:pPr>
            <a:r>
              <a:t>FACILITATOR: Tell the room the rhythm before the first question so nobody is waiting for a discussion during the read beat. They read silently, commit to an answer, then you reveal.</a:t>
            </a:r>
          </a:p>
          <a:p>
            <a:endParaRPr/>
          </a:p>
          <a:p>
            <a:pPr>
              <a:spcAft>
                <a:spcPts val="600"/>
              </a:spcAft>
            </a:pPr>
            <a:r>
              <a:t>Six of the seven key on A. That is an artifact of the question set rather than a pattern worth learning, so if someone notices it out loud, say so plainly -- otherwise they will start answering the letter instead of the question.</a:t>
            </a:r>
          </a:p>
          <a:p>
            <a:endParaRPr/>
          </a:p>
          <a:p>
            <a:pPr>
              <a:spcAft>
                <a:spcPts val="600"/>
              </a:spcAft>
            </a:pPr>
            <a:r>
              <a:t>⚠ Question 6's keyed answer and what this deck teaches about Bedrock model access do not agree. Its explainer notes carry the detail. Read them before you reveal it.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1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2: Security.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wanting to share documents with people who have no AWS account usually proposes making the bucket public and keeping the URL quiet. Redirecting that to a </a:t>
            </a:r>
            <a:r>
              <a:rPr dirty="0" err="1"/>
              <a:t>presigned</a:t>
            </a:r>
            <a:r>
              <a:rPr dirty="0"/>
              <a:t> URL is a straightforward win, but tell them the expiry IS the security control and that a link cannot be recalled early.</a:t>
            </a:r>
          </a:p>
          <a:p>
            <a:endParaRPr dirty="0"/>
          </a:p>
          <a:p>
            <a:pPr>
              <a:spcAft>
                <a:spcPts val="600"/>
              </a:spcAft>
            </a:pPr>
            <a:r>
              <a:rPr dirty="0"/>
              <a:t>PARTNER CONTEXT · OPERATOR: A partner is sharing private documents with people who will never have an AWS account, and the instinct is to open the bucket and guard the URL instead. A </a:t>
            </a:r>
            <a:r>
              <a:rPr dirty="0" err="1"/>
              <a:t>presigned</a:t>
            </a:r>
            <a:r>
              <a:rPr dirty="0"/>
              <a:t> URL inverts that: the object stays private and the link carries a signature plus an expiry. The point worth making is the one this deck taught earlier -- the link inherits the SIGNER's permissions, so whichever role generates it decides what the link can do, and it cannot be revoked before it expires. Fifteen minutes is a security decision, not a convenience one.</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“without requiring users to have AWS credentials”, and it tells you: Time-limited access for someone with no AWS identity is a </a:t>
            </a:r>
            <a:r>
              <a:rPr dirty="0" err="1"/>
              <a:t>presigned</a:t>
            </a:r>
            <a:r>
              <a:rPr dirty="0"/>
              <a:t> URL.</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2: Security.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wanting to share documents with people who have no AWS account usually proposes making the bucket public and keeping the URL quiet. Redirecting that to a </a:t>
            </a:r>
            <a:r>
              <a:rPr dirty="0" err="1"/>
              <a:t>presigned</a:t>
            </a:r>
            <a:r>
              <a:rPr dirty="0"/>
              <a:t> URL is a straightforward win, but tell them the expiry IS the security control and that a link cannot be recalled early.</a:t>
            </a:r>
          </a:p>
          <a:p>
            <a:endParaRPr dirty="0"/>
          </a:p>
          <a:p>
            <a:pPr>
              <a:spcAft>
                <a:spcPts val="600"/>
              </a:spcAft>
            </a:pPr>
            <a:r>
              <a:rPr dirty="0"/>
              <a:t>PARTNER CONTEXT · OPERATOR: A partner is sharing private documents with people who will never have an AWS account, and the instinct is to open the bucket and guard the URL instead. A </a:t>
            </a:r>
            <a:r>
              <a:rPr dirty="0" err="1"/>
              <a:t>presigned</a:t>
            </a:r>
            <a:r>
              <a:rPr dirty="0"/>
              <a:t> URL inverts that: the object stays private and the link carries a signature plus an expiry. The point worth making is the one this deck taught earlier -- the link inherits the SIGNER's permissions, so whichever role generates it decides what the link can do, and it cannot be revoked before it expires. Fifteen minutes is a security decision, not a convenience one.</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The signature carries the access, so the recipient needs no identity.</a:t>
            </a:r>
          </a:p>
          <a:p>
            <a:endParaRPr dirty="0"/>
          </a:p>
          <a:p>
            <a:pPr>
              <a:spcAft>
                <a:spcPts val="600"/>
              </a:spcAft>
            </a:pPr>
            <a:r>
              <a:rPr dirty="0"/>
              <a:t>A. Generate an S3 </a:t>
            </a:r>
            <a:r>
              <a:rPr dirty="0" err="1"/>
              <a:t>presigned</a:t>
            </a:r>
            <a:r>
              <a:rPr dirty="0"/>
              <a:t> URL for the object using the AWS SDK. Set the expiration to 15 minutes. Provide the </a:t>
            </a:r>
            <a:r>
              <a:rPr dirty="0" err="1"/>
              <a:t>presigned</a:t>
            </a:r>
            <a:r>
              <a:rPr dirty="0"/>
              <a:t> URL to the user. — Correct — S3 </a:t>
            </a:r>
            <a:r>
              <a:rPr dirty="0" err="1"/>
              <a:t>presigned</a:t>
            </a:r>
            <a:r>
              <a:rPr dirty="0"/>
              <a:t> URLs grant temporary access to private objects without requiring the requester to have AWS credentials. The URL includes a signature and expiration time. After expiration the URL is no longer valid. The SDK generates the URL using the credentials of the IAM principal making the request.</a:t>
            </a:r>
          </a:p>
          <a:p>
            <a:endParaRPr dirty="0"/>
          </a:p>
          <a:p>
            <a:pPr>
              <a:spcAft>
                <a:spcPts val="600"/>
              </a:spcAft>
            </a:pPr>
            <a:r>
              <a:rPr dirty="0"/>
              <a:t>B. Configure the S3 bucket policy to allow public read access. Generate a URL with a custom expiration parameter. Validate the parameter in a </a:t>
            </a:r>
            <a:r>
              <a:rPr dirty="0" err="1"/>
              <a:t>Lambda@Edge</a:t>
            </a:r>
            <a:r>
              <a:rPr dirty="0"/>
              <a:t> function. — Incorrect — Making the bucket publicly readable exposes all documents to anyone with the URL, regardless of expiration. Custom expiration parameters in URLs are not natively enforced by S3. A </a:t>
            </a:r>
            <a:r>
              <a:rPr dirty="0" err="1"/>
              <a:t>Lambda@Edge</a:t>
            </a:r>
            <a:r>
              <a:rPr dirty="0"/>
              <a:t> function adds complexity and does not provide the same security as built-in </a:t>
            </a:r>
            <a:r>
              <a:rPr dirty="0" err="1"/>
              <a:t>presigned</a:t>
            </a:r>
            <a:r>
              <a:rPr dirty="0"/>
              <a:t> URL enforcement.</a:t>
            </a:r>
          </a:p>
          <a:p>
            <a:endParaRPr dirty="0"/>
          </a:p>
          <a:p>
            <a:pPr>
              <a:spcAft>
                <a:spcPts val="600"/>
              </a:spcAft>
            </a:pPr>
            <a:r>
              <a:rPr dirty="0"/>
              <a:t>C. Create temporary IAM credentials using AWS STS for each download request. Provide the credentials to the user to access S3 directly. — Incorrect — Issuing temporary IAM credentials to end users requires them to make authenticated AWS API calls. This adds complexity to the client application and requires the user to understand AWS authentication. </a:t>
            </a:r>
            <a:r>
              <a:rPr dirty="0" err="1"/>
              <a:t>Presigned</a:t>
            </a:r>
            <a:r>
              <a:rPr dirty="0"/>
              <a:t> URLs are simpler because they work as standard HTTP GET requests.</a:t>
            </a:r>
          </a:p>
          <a:p>
            <a:endParaRPr dirty="0"/>
          </a:p>
          <a:p>
            <a:pPr>
              <a:spcAft>
                <a:spcPts val="600"/>
              </a:spcAft>
            </a:pPr>
            <a:r>
              <a:rPr dirty="0"/>
              <a:t>D. Configure S3 Object Lock with a 15-minute retention period. Generate a standard S3 URL for the object. — Incorrect — S3 Object Lock prevents objects from being deleted or overwritten for a specified retention period. It does not control read access or provide time-limited download links. Object Lock is a data protection feature, not an access control mechanism for temporary sharing.</a:t>
            </a:r>
          </a:p>
          <a:p>
            <a:endParaRPr dirty="0"/>
          </a:p>
          <a:p>
            <a:pPr>
              <a:spcAft>
                <a:spcPts val="600"/>
              </a:spcAft>
            </a:pPr>
            <a:r>
              <a:rPr dirty="0"/>
              <a:t>EXAM RELEVANCE: Domain 2: Security. Difficulty: Medium.</a:t>
            </a:r>
          </a:p>
          <a:p>
            <a:endParaRPr dirty="0"/>
          </a:p>
          <a:p>
            <a:pPr>
              <a:spcAft>
                <a:spcPts val="600"/>
              </a:spcAft>
            </a:pPr>
            <a:r>
              <a:rPr lang="en-US" dirty="0"/>
              <a:t>REFERENCE: </a:t>
            </a:r>
            <a:r>
              <a:rPr dirty="0"/>
              <a:t>https://docs.aws.amazon.com/AmazonS3/latest/userguide/using-presigned-url.html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 because the signature carries the access, so the recipient needs no identity. The others are ruled out for one reason each: B — Public read exposes every document, expiry parameter or not; C — STS credentials make the user authenticate to AWS themselves; D — Object Lock stops deletion; it never controls read access. Read the tell strip aloud -- pairing a phrase with what it signals is the transferable skill, not memorizing the service name.</a:t>
            </a:r>
          </a:p>
          <a:p>
            <a:endParaRPr dirty="0"/>
          </a:p>
          <a:p>
            <a:pPr>
              <a:spcAft>
                <a:spcPts val="600"/>
              </a:spcAft>
            </a:pPr>
            <a:r>
              <a:rPr dirty="0"/>
              <a:t>EXAM RELEVANCE: Domain 2: Security. Difficulty: Medium. The pattern to teach: a scenario question rarely offers three absurd options. It offers ones that match a nearby requirement and one (or two) that match the requirement exactly. Here the discriminator is “without requiring users to have AWS credentials”, which points at Time-limited access for someone with no AWS identity is a </a:t>
            </a:r>
            <a:r>
              <a:rPr dirty="0" err="1"/>
              <a:t>presigned</a:t>
            </a:r>
            <a:r>
              <a:rPr dirty="0"/>
              <a:t> URL. Encourage the room to name the phrase before naming the service.</a:t>
            </a:r>
          </a:p>
          <a:p>
            <a:endParaRPr dirty="0"/>
          </a:p>
          <a:p>
            <a:pPr>
              <a:spcAft>
                <a:spcPts val="600"/>
              </a:spcAft>
            </a:pPr>
            <a:r>
              <a:rPr dirty="0"/>
              <a:t>PARTNER CONTEXT · ADVISORY: A customer wanting to share documents with people who have no AWS account usually proposes making the bucket public and keeping the URL quiet. Redirecting that to a </a:t>
            </a:r>
            <a:r>
              <a:rPr dirty="0" err="1"/>
              <a:t>presigned</a:t>
            </a:r>
            <a:r>
              <a:rPr dirty="0"/>
              <a:t> URL is a straightforward win, but tell them the expiry IS the security control and that a link cannot be recalled early.</a:t>
            </a:r>
          </a:p>
          <a:p>
            <a:endParaRPr dirty="0"/>
          </a:p>
          <a:p>
            <a:pPr>
              <a:spcAft>
                <a:spcPts val="600"/>
              </a:spcAft>
            </a:pPr>
            <a:r>
              <a:rPr dirty="0"/>
              <a:t>PARTNER CONTEXT · OPERATOR: A partner is sharing private documents with people who will never have an AWS account, and the instinct is to open the bucket and guard the URL instead. A </a:t>
            </a:r>
            <a:r>
              <a:rPr dirty="0" err="1"/>
              <a:t>presigned</a:t>
            </a:r>
            <a:r>
              <a:rPr dirty="0"/>
              <a:t> URL inverts that: the object stays private and the link carries a signature plus an expiry. The point worth making is the one this deck taught earlier -- the link inherits the SIGNER's permissions, so whichever role generates it decides what the link can do, and it cannot be revoked before it expires. Fifteen minutes is a security decision, not a convenience one.</a:t>
            </a:r>
          </a:p>
          <a:p>
            <a:endParaRPr dirty="0"/>
          </a:p>
          <a:p>
            <a:pPr>
              <a:spcAft>
                <a:spcPts val="600"/>
              </a:spcAft>
            </a:pPr>
            <a:r>
              <a:rPr lang="en-US" dirty="0"/>
              <a:t>REFERENCE: </a:t>
            </a:r>
            <a:r>
              <a:rPr dirty="0"/>
              <a:t>https://docs.aws.amazon.com/AmazonS3/latest/userguide/using-presigned-url.html</a:t>
            </a:r>
          </a:p>
          <a:p>
            <a:endParaRPr dirty="0"/>
          </a:p>
          <a:p>
            <a:pPr>
              <a:spcAft>
                <a:spcPts val="600"/>
              </a:spcAft>
            </a:pPr>
            <a:r>
              <a:rPr lang="en-US" dirty="0"/>
              <a:t>REFERENCE: </a:t>
            </a:r>
            <a:r>
              <a:rPr dirty="0"/>
              <a:t>https://docs.aws.amazon.com/sdk-for-java/latest/developer-guide/examples-s3-presign.html  -- the CSV supplies a second verified page for this question.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2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2: Security.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planning to scrub responses with their own code is volunteering to maintain a pattern library forever. Recommending a guardrail is the easy half; the part they need from you is the tool-call gap, because that decides whether their design is actually complete.</a:t>
            </a:r>
          </a:p>
          <a:p>
            <a:endParaRPr dirty="0"/>
          </a:p>
          <a:p>
            <a:pPr>
              <a:spcAft>
                <a:spcPts val="600"/>
              </a:spcAft>
            </a:pPr>
            <a:r>
              <a:rPr dirty="0"/>
              <a:t>PARTNER CONTEXT · OPERATOR: A partner's chatbot handles financial data, and the tempting build is a Lambda that regex-scrubs responses on the way out. That is a pattern library somebody then maintains forever, and it only sees the output. A guardrail is configured rather than coded, and it evaluates the prompt AND the response. Worth naming the limit this deck taught: the sensitive-information filter evaluates text, so PII the model writes into a TOOL CALL is not masked. That is the gap to design around, not a reason to hand-roll the filter.</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“with the LEAST custom code”, and it tells you: Least custom code over a model's input and output points at a guardrail.</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2: Security.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planning to scrub responses with their own code is volunteering to maintain a pattern library forever. Recommending a guardrail is the easy half; the part they need from you is the tool-call gap, because that decides whether their design is actually complete.</a:t>
            </a:r>
          </a:p>
          <a:p>
            <a:endParaRPr dirty="0"/>
          </a:p>
          <a:p>
            <a:pPr>
              <a:spcAft>
                <a:spcPts val="600"/>
              </a:spcAft>
            </a:pPr>
            <a:r>
              <a:rPr dirty="0"/>
              <a:t>PARTNER CONTEXT · OPERATOR: A partner's chatbot handles financial data, and the tempting build is a Lambda that regex-scrubs responses on the way out. That is a pattern library somebody then maintains forever, and it only sees the output. A guardrail is configured rather than coded, and it evaluates the prompt AND the response. Worth naming the limit this deck taught: the sensitive-information filter evaluates text, so PII the model writes into a TOOL CALL is not masked. That is the gap to design around, not a reason to hand-roll the filter.</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One guardrail covers both the PII filter and the content categories.</a:t>
            </a:r>
          </a:p>
          <a:p>
            <a:endParaRPr dirty="0"/>
          </a:p>
          <a:p>
            <a:pPr>
              <a:spcAft>
                <a:spcPts val="600"/>
              </a:spcAft>
            </a:pPr>
            <a:r>
              <a:rPr dirty="0"/>
              <a:t>A. Create a Bedrock guardrail with sensitive information filters configured to redact PII entities such as account numbers and social security numbers. Add content filters with HIGH strength for the Hate and Violence categories. Apply the guardrail to the Bedrock API calls. — Correct — Amazon Bedrock Guardrails provides built-in sensitive information filters that detect and redact PII in both inputs and outputs. Content filters evaluate text against predefined categories including Hate and Violence with configurable strength levels. A single guardrail configuration handles both requirements without custom code.</a:t>
            </a:r>
          </a:p>
          <a:p>
            <a:endParaRPr dirty="0"/>
          </a:p>
          <a:p>
            <a:pPr>
              <a:spcAft>
                <a:spcPts val="600"/>
              </a:spcAft>
            </a:pPr>
            <a:r>
              <a:rPr dirty="0"/>
              <a:t>B. Write a Lambda function that processes all Bedrock responses. Use regular expressions to detect and redact PII patterns. Add keyword matching for harmful content categories. — Incorrect — Writing custom regex patterns for PII detection requires maintaining complex pattern libraries and handling edge cases. Regex-based content filtering for hate speech and violence is unreliable compared to ML-based classifiers. Amazon Bedrock Guardrails provides these capabilities as a managed service without custom code.</a:t>
            </a:r>
          </a:p>
          <a:p>
            <a:endParaRPr dirty="0"/>
          </a:p>
          <a:p>
            <a:pPr>
              <a:spcAft>
                <a:spcPts val="600"/>
              </a:spcAft>
            </a:pPr>
            <a:r>
              <a:rPr dirty="0"/>
              <a:t>C. Add instructions in the system prompt directing the model to avoid outputting PII or responding to harmful content. — Incorrect — System prompt instructions are not a reliable security control. Models can be manipulated through prompt injection to ignore system prompt restrictions. PII may still appear in responses despite instructions. Bedrock Guardrails provides deterministic enforcement that cannot be bypassed by prompt manipulation.</a:t>
            </a:r>
          </a:p>
          <a:p>
            <a:endParaRPr dirty="0"/>
          </a:p>
          <a:p>
            <a:pPr>
              <a:spcAft>
                <a:spcPts val="600"/>
              </a:spcAft>
            </a:pPr>
            <a:r>
              <a:rPr dirty="0"/>
              <a:t>D. Configure an AWS WAF rule to inspect Bedrock API request and response payloads. Create custom rules to block PII patterns and harmful content. — Incorrect — AWS WAF inspects HTTP request and response headers and bodies for web applications. WAF is designed for web application protection at the edge and is not integrated with Amazon Bedrock API calls. WAF cannot inspect the content of Bedrock model invocations or filter LLM responses.</a:t>
            </a:r>
          </a:p>
          <a:p>
            <a:endParaRPr dirty="0"/>
          </a:p>
          <a:p>
            <a:pPr>
              <a:spcAft>
                <a:spcPts val="600"/>
              </a:spcAft>
            </a:pPr>
            <a:r>
              <a:rPr dirty="0"/>
              <a:t>EXAM RELEVANCE: Domain 2: Security. Difficulty: Medium.</a:t>
            </a:r>
          </a:p>
          <a:p>
            <a:endParaRPr dirty="0"/>
          </a:p>
          <a:p>
            <a:pPr>
              <a:spcAft>
                <a:spcPts val="600"/>
              </a:spcAft>
            </a:pPr>
            <a:r>
              <a:rPr lang="en-US" dirty="0"/>
              <a:t>REFERENCE: </a:t>
            </a:r>
            <a:r>
              <a:rPr dirty="0"/>
              <a:t>https://docs.aws.amazon.com/bedrock/latest/userguide/guardrails-sensitive-filters.html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 because one guardrail covers both the PII filter and the content categories. The others are ruled out for one reason each: B — Hand-written regex is a pattern library the customer then owns; C — A system prompt is guidance, and prompt injection overrides it; D — WAF protects web applications; it does not see Bedrock calls. Read the tell strip aloud -- pairing a phrase with what it signals is the transferable skill, not memorizing the service name.</a:t>
            </a:r>
          </a:p>
          <a:p>
            <a:endParaRPr dirty="0"/>
          </a:p>
          <a:p>
            <a:pPr>
              <a:spcAft>
                <a:spcPts val="600"/>
              </a:spcAft>
            </a:pPr>
            <a:r>
              <a:rPr dirty="0"/>
              <a:t>EXAM RELEVANCE: Domain 2: Security. Difficulty: Medium. The pattern to teach: a scenario question rarely offers three absurd options. It offers ones that match a nearby requirement and one (or two) that match the requirement exactly. Here the discriminator is “with the LEAST custom code”, which points at Least custom code over a model's input and output points at a guardrail. Encourage the room to name the phrase before naming the service.</a:t>
            </a:r>
          </a:p>
          <a:p>
            <a:endParaRPr dirty="0"/>
          </a:p>
          <a:p>
            <a:pPr>
              <a:spcAft>
                <a:spcPts val="600"/>
              </a:spcAft>
            </a:pPr>
            <a:r>
              <a:rPr dirty="0"/>
              <a:t>PARTNER CONTEXT · ADVISORY: A customer planning to scrub responses with their own code is volunteering to maintain a pattern library forever. Recommending a guardrail is the easy half; the part they need from you is the tool-call gap, because that decides whether their design is actually complete.</a:t>
            </a:r>
          </a:p>
          <a:p>
            <a:endParaRPr dirty="0"/>
          </a:p>
          <a:p>
            <a:pPr>
              <a:spcAft>
                <a:spcPts val="600"/>
              </a:spcAft>
            </a:pPr>
            <a:r>
              <a:rPr dirty="0"/>
              <a:t>PARTNER CONTEXT · OPERATOR: A partner's chatbot handles financial data, and the tempting build is a Lambda that regex-scrubs responses on the way out. That is a pattern library somebody then maintains forever, and it only sees the output. A guardrail is configured rather than coded, and it evaluates the prompt AND the response. Worth naming the limit this deck taught: the sensitive-information filter evaluates text, so PII the model writes into a TOOL CALL is not masked. That is the gap to design around, not a reason to hand-roll the filter.</a:t>
            </a:r>
          </a:p>
          <a:p>
            <a:endParaRPr dirty="0"/>
          </a:p>
          <a:p>
            <a:pPr>
              <a:spcAft>
                <a:spcPts val="600"/>
              </a:spcAft>
            </a:pPr>
            <a:r>
              <a:rPr lang="en-US" dirty="0"/>
              <a:t>REFERENCE: </a:t>
            </a:r>
            <a:r>
              <a:rPr dirty="0"/>
              <a:t>https://docs.aws.amazon.com/bedrock/latest/userguide/guardrails-sensitive-filters.html</a:t>
            </a:r>
          </a:p>
          <a:p>
            <a:endParaRPr dirty="0"/>
          </a:p>
          <a:p>
            <a:pPr>
              <a:spcAft>
                <a:spcPts val="600"/>
              </a:spcAft>
            </a:pPr>
            <a:r>
              <a:rPr lang="en-US" dirty="0"/>
              <a:t>REFERENCE: </a:t>
            </a:r>
            <a:r>
              <a:rPr dirty="0"/>
              <a:t>https://docs.aws.amazon.com/bedrock/latest/userguide/guardrails.html  -- the CSV supplies a second verified page for this question.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3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2: Security.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who says the workload is in a private subnet often believes that settles egress. Separating private subnet from private path is one of the more valuable corrections you can make in a design review, and the endpoint policy is the follow-on their security team will ask for.</a:t>
            </a:r>
          </a:p>
          <a:p>
            <a:endParaRPr dirty="0"/>
          </a:p>
          <a:p>
            <a:pPr>
              <a:spcAft>
                <a:spcPts val="600"/>
              </a:spcAft>
            </a:pPr>
            <a:r>
              <a:rPr dirty="0"/>
              <a:t>PARTNER CONTEXT · OPERATOR: A partner whose customer has mandated no internet egress from the data tier meets this exact question in a design review. This is the question that separates private SUBNET from private PATH. A partner hears 'private subnet with a NAT gateway' and reads it as private, but the NAT gateway's whole job is to reach the internet -- the traffic leaves. An interface endpoint gives the service an address inside the VPC, so the request never leaves the AWS network. The endpoint POLICY is the part worth showing: it constrains which Bedrock actions may pass, which is a second control the security team usually wants once they understand the first.</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“must not traverse the public internet”, and it tells you: Private reach to an AWS API means an interface endpoint over </a:t>
            </a:r>
            <a:r>
              <a:rPr dirty="0" err="1"/>
              <a:t>PrivateLink</a:t>
            </a:r>
            <a:r>
              <a:rPr dirty="0"/>
              <a:t>.</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2: Security.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who says the workload is in a private subnet often believes that settles egress. Separating private subnet from private path is one of the more valuable corrections you can make in a design review, and the endpoint policy is the follow-on their security team will ask for.</a:t>
            </a:r>
          </a:p>
          <a:p>
            <a:endParaRPr dirty="0"/>
          </a:p>
          <a:p>
            <a:pPr>
              <a:spcAft>
                <a:spcPts val="600"/>
              </a:spcAft>
            </a:pPr>
            <a:r>
              <a:rPr dirty="0"/>
              <a:t>PARTNER CONTEXT · OPERATOR: A partner whose customer has mandated no internet egress from the data tier meets this exact question in a design review. This is the question that separates private SUBNET from private PATH. A partner hears 'private subnet with a NAT gateway' and reads it as private, but the NAT gateway's whole job is to reach the internet -- the traffic leaves. An interface endpoint gives the service an address inside the VPC, so the request never leaves the AWS network. The endpoint POLICY is the part worth showing: it constrains which Bedrock actions may pass, which is a second control the security team usually wants once they understand the first.</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An interface endpoint puts the Bedrock API inside the VPC itself.</a:t>
            </a:r>
          </a:p>
          <a:p>
            <a:endParaRPr dirty="0"/>
          </a:p>
          <a:p>
            <a:pPr>
              <a:spcAft>
                <a:spcPts val="600"/>
              </a:spcAft>
            </a:pPr>
            <a:r>
              <a:rPr dirty="0"/>
              <a:t>A. Create an interface VPC endpoint for Amazon Bedrock in the VPC. Configure the endpoint with a VPC endpoint policy that allows the required Bedrock API actions. Update the application's security group to allow outbound traffic to the endpoint. — Correct — An interface VPC endpoint powered by AWS </a:t>
            </a:r>
            <a:r>
              <a:rPr dirty="0" err="1"/>
              <a:t>PrivateLink</a:t>
            </a:r>
            <a:r>
              <a:rPr dirty="0"/>
              <a:t> creates a private connection between the VPC and Amazon Bedrock. Traffic between the VPC and Bedrock stays within the AWS network and does not traverse the public internet. A VPC endpoint policy controls which Bedrock actions are permitted through the endpoint.</a:t>
            </a:r>
          </a:p>
          <a:p>
            <a:endParaRPr dirty="0"/>
          </a:p>
          <a:p>
            <a:pPr>
              <a:spcAft>
                <a:spcPts val="600"/>
              </a:spcAft>
            </a:pPr>
            <a:r>
              <a:rPr dirty="0"/>
              <a:t>B. Deploy the application in a private subnet with a NAT gateway. Configure the NAT gateway to route Bedrock API traffic through the VPC. — Incorrect — A NAT gateway allows resources in private subnets to access the internet for outbound connections. Traffic through a NAT gateway still traverses the public internet to reach AWS service endpoints. This does not meet the requirement for traffic to remain within the VPC.</a:t>
            </a:r>
          </a:p>
          <a:p>
            <a:endParaRPr dirty="0"/>
          </a:p>
          <a:p>
            <a:pPr>
              <a:spcAft>
                <a:spcPts val="600"/>
              </a:spcAft>
            </a:pPr>
            <a:r>
              <a:rPr dirty="0"/>
              <a:t>C. Configure an S3 gateway endpoint in the VPC. Store Bedrock model artifacts in S3 and invoke models through the S3 endpoint. — Incorrect — S3 gateway endpoints provide private access to Amazon S3 only. Amazon Bedrock is a separate service with its own API endpoints. You cannot invoke Bedrock models through an S3 endpoint. Bedrock requires an interface VPC endpoint (</a:t>
            </a:r>
            <a:r>
              <a:rPr dirty="0" err="1"/>
              <a:t>PrivateLink</a:t>
            </a:r>
            <a:r>
              <a:rPr dirty="0"/>
              <a:t>) for private connectivity.</a:t>
            </a:r>
          </a:p>
          <a:p>
            <a:endParaRPr dirty="0"/>
          </a:p>
          <a:p>
            <a:pPr>
              <a:spcAft>
                <a:spcPts val="600"/>
              </a:spcAft>
            </a:pPr>
            <a:r>
              <a:rPr dirty="0"/>
              <a:t>D. Enable VPC peering between the application VPC and the Amazon Bedrock service VPC. Route traffic through the peering connection. — Incorrect — VPC peering connects two VPCs directly but is used between customer VPCs or between accounts. Amazon Bedrock does not expose a customer-</a:t>
            </a:r>
            <a:r>
              <a:rPr dirty="0" err="1"/>
              <a:t>peerable</a:t>
            </a:r>
            <a:r>
              <a:rPr dirty="0"/>
              <a:t> VPC. AWS </a:t>
            </a:r>
            <a:r>
              <a:rPr dirty="0" err="1"/>
              <a:t>PrivateLink</a:t>
            </a:r>
            <a:r>
              <a:rPr dirty="0"/>
              <a:t> (interface VPC endpoints) is the mechanism for private connectivity to AWS managed services like Bedrock.</a:t>
            </a:r>
          </a:p>
          <a:p>
            <a:endParaRPr dirty="0"/>
          </a:p>
          <a:p>
            <a:pPr>
              <a:spcAft>
                <a:spcPts val="600"/>
              </a:spcAft>
            </a:pPr>
            <a:r>
              <a:rPr dirty="0"/>
              <a:t>EXAM RELEVANCE: Domain 2: Security. Difficulty: Medium.</a:t>
            </a:r>
          </a:p>
          <a:p>
            <a:endParaRPr dirty="0"/>
          </a:p>
          <a:p>
            <a:pPr>
              <a:spcAft>
                <a:spcPts val="600"/>
              </a:spcAft>
            </a:pPr>
            <a:r>
              <a:rPr lang="en-US" dirty="0"/>
              <a:t>REFERENCE: </a:t>
            </a:r>
            <a:r>
              <a:rPr dirty="0"/>
              <a:t>https://docs.aws.amazon.com/bedrock/latest/userguide/vpc-interface-endpoints.html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 because an interface endpoint puts the Bedrock API inside the VPC itself. The others are ruled out for one reason each: B — A NAT gateway still reaches the service over the public internet; C — A gateway endpoint serves S3 only, and Bedrock is not S3; D — There is no customer-</a:t>
            </a:r>
            <a:r>
              <a:rPr dirty="0" err="1"/>
              <a:t>peerable</a:t>
            </a:r>
            <a:r>
              <a:rPr dirty="0"/>
              <a:t> Bedrock VPC on the other side. Read the tell strip aloud -- pairing a phrase with what it signals is the transferable skill, not memorizing the service name.</a:t>
            </a:r>
          </a:p>
          <a:p>
            <a:endParaRPr dirty="0"/>
          </a:p>
          <a:p>
            <a:pPr>
              <a:spcAft>
                <a:spcPts val="600"/>
              </a:spcAft>
            </a:pPr>
            <a:r>
              <a:rPr dirty="0"/>
              <a:t>EXAM RELEVANCE: Domain 2: Security. Difficulty: Medium. The pattern to teach: a scenario question rarely offers three absurd options. It offers ones that match a nearby requirement and one (or two) that match the requirement exactly. Here the discriminator is “must not traverse the public internet”, which points at Private reach to an AWS API means an interface endpoint over </a:t>
            </a:r>
            <a:r>
              <a:rPr dirty="0" err="1"/>
              <a:t>PrivateLink</a:t>
            </a:r>
            <a:r>
              <a:rPr dirty="0"/>
              <a:t>. Encourage the room to name the phrase before naming the service.</a:t>
            </a:r>
          </a:p>
          <a:p>
            <a:endParaRPr dirty="0"/>
          </a:p>
          <a:p>
            <a:pPr>
              <a:spcAft>
                <a:spcPts val="600"/>
              </a:spcAft>
            </a:pPr>
            <a:r>
              <a:rPr dirty="0"/>
              <a:t>PARTNER CONTEXT · ADVISORY: A customer who says the workload is in a private subnet often believes that settles egress. Separating private subnet from private path is one of the more valuable corrections you can make in a design review, and the endpoint policy is the follow-on their security team will ask for.</a:t>
            </a:r>
          </a:p>
          <a:p>
            <a:endParaRPr dirty="0"/>
          </a:p>
          <a:p>
            <a:pPr>
              <a:spcAft>
                <a:spcPts val="600"/>
              </a:spcAft>
            </a:pPr>
            <a:r>
              <a:rPr dirty="0"/>
              <a:t>PARTNER CONTEXT · OPERATOR: A partner whose customer has mandated no internet egress from the data tier meets this exact question in a design review. This is the question that separates private SUBNET from private PATH. A partner hears 'private subnet with a NAT gateway' and reads it as private, but the NAT gateway's whole job is to reach the internet -- the traffic leaves. An interface endpoint gives the service an address inside the VPC, so the request never leaves the AWS network. The endpoint POLICY is the part worth showing: it constrains which Bedrock actions may pass, which is a second control the security team usually wants once they understand the first.</a:t>
            </a:r>
          </a:p>
          <a:p>
            <a:endParaRPr dirty="0"/>
          </a:p>
          <a:p>
            <a:pPr>
              <a:spcAft>
                <a:spcPts val="600"/>
              </a:spcAft>
            </a:pPr>
            <a:r>
              <a:rPr lang="en-US" dirty="0"/>
              <a:t>REFERENCE: </a:t>
            </a:r>
            <a:r>
              <a:rPr dirty="0"/>
              <a:t>https://docs.aws.amazon.com/bedrock/latest/userguide/vpc-interface-endpoints.html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4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4: Troubleshooting and Optimization.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with a dashboard showing a bad p99 has aggregate data and wants a cause. Explaining that a trace answers which call, and that the DynamoDB bar is an upper bound rather than the table's own time, keeps them from optimizing the wrong component.</a:t>
            </a:r>
          </a:p>
          <a:p>
            <a:endParaRPr dirty="0"/>
          </a:p>
          <a:p>
            <a:pPr>
              <a:spcAft>
                <a:spcPts val="600"/>
              </a:spcAft>
            </a:pPr>
            <a:r>
              <a:rPr dirty="0"/>
              <a:t>PARTNER CONTEXT · OPERATOR: A partner chasing an intermittent latency complaint across three services is the case this question models. The distinction to hold onto is aggregate versus individual. CloudWatch will tell a partner that this endpoint's p99 is bad; only a trace tells them WHICH call inside a specific slow request took the time. The caveat this deck taught belongs here too: DynamoDB does not send its own segments, so the DynamoDB bar is an INFERRED segment measured by the Lambda function's own SDK client. It includes the round trip and any client-side retry, which makes it an upper bound on the table's time rather than the table's own number.</a:t>
            </a:r>
          </a:p>
          <a:p>
            <a:endParaRPr dirty="0"/>
          </a:p>
          <a:p>
            <a:pPr>
              <a:spcAft>
                <a:spcPts val="600"/>
              </a:spcAft>
            </a:pPr>
            <a:r>
              <a:rPr dirty="0"/>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“which component introduces the most latency”, and it tells you: Per-request attribution across services is distributed tracing, so X-Ray.</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4: Troubleshooting and Optimization.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with a dashboard showing a bad p99 has aggregate data and wants a cause. Explaining that a trace answers which call, and that the DynamoDB bar is an upper bound rather than the table's own time, keeps them from optimizing the wrong component.</a:t>
            </a:r>
          </a:p>
          <a:p>
            <a:endParaRPr dirty="0"/>
          </a:p>
          <a:p>
            <a:pPr>
              <a:spcAft>
                <a:spcPts val="600"/>
              </a:spcAft>
            </a:pPr>
            <a:r>
              <a:rPr dirty="0"/>
              <a:t>PARTNER CONTEXT · OPERATOR: A partner chasing an intermittent latency complaint across three services is the case this question models. The distinction to hold onto is aggregate versus individual. CloudWatch will tell a partner that this endpoint's p99 is bad; only a trace tells them WHICH call inside a specific slow request took the time. The caveat this deck taught belongs here too: DynamoDB does not send its own segments, so the DynamoDB bar is an INFERRED segment measured by the Lambda function's own SDK client. It includes the round trip and any client-side retry, which makes it an upper bound on the table's time rather than the table's own number.</a:t>
            </a:r>
          </a:p>
          <a:p>
            <a:endParaRPr dirty="0"/>
          </a:p>
          <a:p>
            <a:pPr>
              <a:spcAft>
                <a:spcPts val="600"/>
              </a:spcAft>
            </a:pPr>
            <a:r>
              <a:rPr dirty="0"/>
              <a:t>EXAM MAPPING: Domain 4: Troubleshooting and Optimization.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A trace attributes time hop by hop for one request, not per service.</a:t>
            </a:r>
          </a:p>
          <a:p>
            <a:endParaRPr dirty="0"/>
          </a:p>
          <a:p>
            <a:pPr>
              <a:spcAft>
                <a:spcPts val="600"/>
              </a:spcAft>
            </a:pPr>
            <a:r>
              <a:rPr dirty="0"/>
              <a:t>A. Enable AWS X-Ray tracing on API Gateway and the Lambda function. Use the X-Ray SDK in the Lambda function code to instrument downstream DynamoDB calls. View the service map and traces in the X-Ray console. — Correct — X-Ray provides end-to-end tracing across API Gateway, Lambda, and DynamoDB. Enabling X-Ray on API Gateway and Lambda captures the time spent at each service. Instrumenting DynamoDB calls with the X-Ray SDK creates subsegments showing individual call latency. The service map visualizes the request flow and identifies bottlenecks.</a:t>
            </a:r>
          </a:p>
          <a:p>
            <a:endParaRPr dirty="0"/>
          </a:p>
          <a:p>
            <a:pPr>
              <a:spcAft>
                <a:spcPts val="600"/>
              </a:spcAft>
            </a:pPr>
            <a:r>
              <a:rPr dirty="0"/>
              <a:t>B. Enable CloudWatch detailed monitoring for all services. Create a CloudWatch dashboard with latency metrics for API Gateway, Lambda, and DynamoDB. — Incorrect — CloudWatch metrics show aggregate latency per service but do not trace individual requests through the system. A dashboard shows averages and percentiles but cannot correlate a single slow API request to a specific slow DynamoDB call within that request. Distributed tracing requires X-Ray.</a:t>
            </a:r>
          </a:p>
          <a:p>
            <a:endParaRPr dirty="0"/>
          </a:p>
          <a:p>
            <a:pPr>
              <a:spcAft>
                <a:spcPts val="600"/>
              </a:spcAft>
            </a:pPr>
            <a:r>
              <a:rPr dirty="0"/>
              <a:t>C. Enable API Gateway access logging and Lambda function logging. Use CloudWatch Logs Insights to query timestamps across log groups and calculate durations. — Incorrect — Access logs and function logs record timestamps that can be correlated manually. However, this requires writing complex queries and manually calculating durations between components. This approach does not provide a visual service map or automatic trace correlation. X-Ray provides this functionality natively with minimal effort.</a:t>
            </a:r>
          </a:p>
          <a:p>
            <a:endParaRPr dirty="0"/>
          </a:p>
          <a:p>
            <a:pPr>
              <a:spcAft>
                <a:spcPts val="600"/>
              </a:spcAft>
            </a:pPr>
            <a:r>
              <a:rPr dirty="0"/>
              <a:t>D. Enable DynamoDB Streams on the table. Create a Lambda function that calculates read latency from the stream records and publishes metrics to CloudWatch. — Incorrect — DynamoDB Streams capture data modification events (inserts, updates, deletes). They do not record read operations or their latency. Streams cannot help identify which DynamoDB reads are slow. Additionally, this approach only monitors DynamoDB and does not provide end-to-end request tracing.</a:t>
            </a:r>
          </a:p>
          <a:p>
            <a:endParaRPr dirty="0"/>
          </a:p>
          <a:p>
            <a:pPr>
              <a:spcAft>
                <a:spcPts val="600"/>
              </a:spcAft>
            </a:pPr>
            <a:r>
              <a:rPr dirty="0"/>
              <a:t>EXAM RELEVANCE: Domain 4: Troubleshooting and Optimization. Difficulty: Medium.</a:t>
            </a:r>
          </a:p>
          <a:p>
            <a:endParaRPr dirty="0"/>
          </a:p>
          <a:p>
            <a:pPr>
              <a:spcAft>
                <a:spcPts val="600"/>
              </a:spcAft>
            </a:pPr>
            <a:r>
              <a:rPr lang="en-US" dirty="0"/>
              <a:t>REFERENCE: </a:t>
            </a:r>
            <a:r>
              <a:rPr dirty="0"/>
              <a:t>https://docs.aws.amazon.com/xray/latest/devguide/aws-xray.html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 because a trace attributes time hop by hop for one request, not per service. The others are ruled out for one reason each: B — Dashboards aggregate, so they cannot follow one slow request; C — Correlating log timestamps by hand yields no service map; D — Streams record writes, so they never observe a slow read. Read the tell strip aloud -- pairing a phrase with what it signals is the transferable skill, not memorizing the service name.</a:t>
            </a:r>
          </a:p>
          <a:p>
            <a:endParaRPr dirty="0"/>
          </a:p>
          <a:p>
            <a:pPr>
              <a:spcAft>
                <a:spcPts val="600"/>
              </a:spcAft>
            </a:pPr>
            <a:r>
              <a:rPr dirty="0"/>
              <a:t>EXAM RELEVANCE: Domain 4: Troubleshooting and Optimization. Difficulty: Medium. The pattern to teach: a scenario question rarely offers three absurd options. It offers ones that match a nearby requirement and one (or two) that match the requirement exactly. Here the discriminator is “which component introduces the most latency”, which points at Per-request attribution across services is distributed tracing, so X-Ray. Encourage the room to name the phrase before naming the service.</a:t>
            </a:r>
          </a:p>
          <a:p>
            <a:endParaRPr dirty="0"/>
          </a:p>
          <a:p>
            <a:pPr>
              <a:spcAft>
                <a:spcPts val="600"/>
              </a:spcAft>
            </a:pPr>
            <a:r>
              <a:rPr dirty="0"/>
              <a:t>PARTNER CONTEXT · ADVISORY: A customer with a dashboard showing a bad p99 has aggregate data and wants a cause. Explaining that a trace answers which call, and that the DynamoDB bar is an upper bound rather than the table's own time, keeps them from optimizing the wrong component.</a:t>
            </a:r>
          </a:p>
          <a:p>
            <a:endParaRPr dirty="0"/>
          </a:p>
          <a:p>
            <a:pPr>
              <a:spcAft>
                <a:spcPts val="600"/>
              </a:spcAft>
            </a:pPr>
            <a:r>
              <a:rPr dirty="0"/>
              <a:t>PARTNER CONTEXT · OPERATOR: A partner chasing an intermittent latency complaint across three services is the case this question models. The distinction to hold onto is aggregate versus individual. CloudWatch will tell a partner that this endpoint's p99 is bad; only a trace tells them WHICH call inside a specific slow request took the time. The caveat this deck taught belongs here too: DynamoDB does not send its own segments, so the DynamoDB bar is an INFERRED segment measured by the Lambda function's own SDK client. It includes the round trip and any client-side retry, which makes it an upper bound on the table's time rather than the table's own number.</a:t>
            </a:r>
          </a:p>
          <a:p>
            <a:endParaRPr dirty="0"/>
          </a:p>
          <a:p>
            <a:pPr>
              <a:spcAft>
                <a:spcPts val="600"/>
              </a:spcAft>
            </a:pPr>
            <a:r>
              <a:rPr lang="en-US" dirty="0"/>
              <a:t>REFERENCE: </a:t>
            </a:r>
            <a:r>
              <a:rPr dirty="0"/>
              <a:t>https://docs.aws.amazon.com/xray/latest/devguide/aws-xray.html</a:t>
            </a:r>
          </a:p>
          <a:p>
            <a:endParaRPr dirty="0"/>
          </a:p>
          <a:p>
            <a:pPr>
              <a:spcAft>
                <a:spcPts val="600"/>
              </a:spcAft>
            </a:pPr>
            <a:r>
              <a:rPr lang="en-US" dirty="0"/>
              <a:t>REFERENCE: </a:t>
            </a:r>
            <a:r>
              <a:rPr dirty="0"/>
              <a:t>https://docs.aws.amazon.com/lambda/latest/dg/services-xray.html  -- the CSV supplies a second verified page for this question.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5 on screen and give the room about 90 seconds to read it in silence and commit to an answer before anyone speaks aloud. Note this is a select-two question, so tell the room to expect more than one answer.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2: Security. Difficulty: Hard.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asking how to stop an agent taking an action it should not will reach for rate limits and alarms first. Naming user confirmation, and framing it as prompt injection defense, moves the conversation from volume control to authorization.</a:t>
            </a:r>
          </a:p>
          <a:p>
            <a:endParaRPr dirty="0"/>
          </a:p>
          <a:p>
            <a:pPr>
              <a:spcAft>
                <a:spcPts val="600"/>
              </a:spcAft>
            </a:pPr>
            <a:r>
              <a:rPr dirty="0"/>
              <a:t>PARTNER CONTEXT · OPERATOR: A partner adding an agent that can move money is the situation this question is really about. This is the strongest security question in the set because three of the five choices are real controls that do not meet the requirement. Rate limiting and alarms are both defensible engineering; they simply act on volume and after the fact. The documented feature is user confirmation, and AWS frames it as a defense against PROMPT INJECTION -- the agent may be told by returned data to call something it should not, so the human sits between the decision and the transaction. That framing is also why choice C loses: the attack being defended against is precisely an instruction the model chooses to follow.</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“must receive human approval before execution”, and it tells you: Approval before an action needs a preventive control, not a detective one.</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2: Security. Difficulty: Hard.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asking how to stop an agent taking an action it should not will reach for rate limits and alarms first. Naming user confirmation, and framing it as prompt injection defense, moves the conversation from volume control to authorization.</a:t>
            </a:r>
          </a:p>
          <a:p>
            <a:endParaRPr dirty="0"/>
          </a:p>
          <a:p>
            <a:pPr>
              <a:spcAft>
                <a:spcPts val="600"/>
              </a:spcAft>
            </a:pPr>
            <a:r>
              <a:rPr dirty="0"/>
              <a:t>PARTNER CONTEXT · OPERATOR: A partner adding an agent that can move money is the situation this question is really about. This is the strongest security question in the set because three of the five choices are real controls that do not meet the requirement. Rate limiting and alarms are both defensible engineering; they simply act on volume and after the fact. The documented feature is user confirmation, and AWS frames it as a defense against PROMPT INJECTION -- the agent may be told by returned data to call something it should not, so the human sits between the decision and the transaction. That framing is also why choice C loses: the attack being defended against is precisely an instruction the model chooses to follow.</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and B. One control narrows what the agent may call, the other gates when it fires.</a:t>
            </a:r>
          </a:p>
          <a:p>
            <a:endParaRPr dirty="0"/>
          </a:p>
          <a:p>
            <a:pPr>
              <a:spcAft>
                <a:spcPts val="600"/>
              </a:spcAft>
            </a:pPr>
            <a:r>
              <a:rPr dirty="0"/>
              <a:t>A. Configure action group permissions in the agent definition to restrict which tools the agent can invoke based on the user's permissions and context. — Correct — Action group permissions controls which tools an agent can call and under what conditions. By restricting tool access based on user permissions, the developer ensures the agent cannot perform unauthorized actions. This enforces least privilege at the agent-tool boundary.</a:t>
            </a:r>
          </a:p>
          <a:p>
            <a:endParaRPr dirty="0"/>
          </a:p>
          <a:p>
            <a:pPr>
              <a:spcAft>
                <a:spcPts val="600"/>
              </a:spcAft>
            </a:pPr>
            <a:r>
              <a:rPr dirty="0"/>
              <a:t>B. Implement a human-in-the-loop approval flow that pauses agent execution and requires explicit confirmation before the refund tool executes. — Correct — A human-in-the-loop approval flow intercepts sensitive actions before they execute. When the agent attempts to call the refund tool, execution pauses until a human reviewer approves or rejects the action. This meets the requirement for human approval on financial transactions.</a:t>
            </a:r>
          </a:p>
          <a:p>
            <a:endParaRPr dirty="0"/>
          </a:p>
          <a:p>
            <a:pPr>
              <a:spcAft>
                <a:spcPts val="600"/>
              </a:spcAft>
            </a:pPr>
            <a:r>
              <a:rPr dirty="0"/>
              <a:t>C. Add a system prompt instruction directing the agent to request user confirmation before initiating refund transactions. — Incorrect — System prompt instructions can be overridden through prompt injection or manipulation. Relying on prompt instructions for security controls is not reliable because the model may not consistently follow them. Deterministic approval flows provide stronger security guarantees than prompt-based controls.</a:t>
            </a:r>
          </a:p>
          <a:p>
            <a:endParaRPr dirty="0"/>
          </a:p>
          <a:p>
            <a:pPr>
              <a:spcAft>
                <a:spcPts val="600"/>
              </a:spcAft>
            </a:pPr>
            <a:r>
              <a:rPr dirty="0"/>
              <a:t>D. Deploy the agent behind an API Gateway with a usage plan that limits the number of refund API calls per minute. — Incorrect — Rate limiting through API Gateway usage plans controls the volume of requests but does not provide human approval for individual transactions. A rate limit of one refund per minute still allows unauthorized refunds to execute without human review. Rate limiting is a throttling control, not an authorization control.</a:t>
            </a:r>
          </a:p>
          <a:p>
            <a:endParaRPr dirty="0"/>
          </a:p>
          <a:p>
            <a:pPr>
              <a:spcAft>
                <a:spcPts val="600"/>
              </a:spcAft>
            </a:pPr>
            <a:r>
              <a:rPr dirty="0"/>
              <a:t>E. Configure Amazon CloudWatch alarms to notify the security team when the agent invokes the refund tool more than five times per hour. — Incorrect — CloudWatch alarms provide monitoring and alerting after actions have already occurred. They do not prevent or require approval before an action executes. By the time the alarm triggers, the unauthorized refund has already been processed. This is a detective control, not a preventive control.</a:t>
            </a:r>
          </a:p>
          <a:p>
            <a:endParaRPr dirty="0"/>
          </a:p>
          <a:p>
            <a:pPr>
              <a:spcAft>
                <a:spcPts val="600"/>
              </a:spcAft>
            </a:pPr>
            <a:r>
              <a:rPr dirty="0"/>
              <a:t>EXAM RELEVANCE: Domain 2: Security. Difficulty: Hard.</a:t>
            </a:r>
          </a:p>
          <a:p>
            <a:endParaRPr dirty="0"/>
          </a:p>
          <a:p>
            <a:pPr>
              <a:spcAft>
                <a:spcPts val="600"/>
              </a:spcAft>
            </a:pPr>
            <a:r>
              <a:rPr lang="en-US" dirty="0"/>
              <a:t>REFERENCE: </a:t>
            </a:r>
            <a:r>
              <a:rPr dirty="0"/>
              <a:t>https://docs.aws.amazon.com/bedrock/latest/userguide/agents-userconfirmation.html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and B are both required: one control narrows what the agent may call, the other gates when it fires. The others are ruled out for one reason each: C — A prompt instruction is not a control; injection overrides it; D — A rate limit throttles volume, it never asks a human anything; E — An alarm fires after the refund has already been paid out. Read the tell strip aloud -- pairing a phrase with what it signals is the transferable skill, not memorizing the service name.</a:t>
            </a:r>
          </a:p>
          <a:p>
            <a:endParaRPr dirty="0"/>
          </a:p>
          <a:p>
            <a:pPr>
              <a:spcAft>
                <a:spcPts val="600"/>
              </a:spcAft>
            </a:pPr>
            <a:r>
              <a:rPr dirty="0"/>
              <a:t>EXAM RELEVANCE: Domain 2: Security. Difficulty: Hard. The pattern to teach: a scenario question rarely offers three absurd options. It offers ones that match a nearby requirement and one (or two) that match the requirement exactly. Here the discriminator is “must receive human approval before execution”, which points at Approval before an action needs a preventive control, not a detective one. Encourage the room to name the phrase before naming the service.</a:t>
            </a:r>
          </a:p>
          <a:p>
            <a:endParaRPr dirty="0"/>
          </a:p>
          <a:p>
            <a:pPr>
              <a:spcAft>
                <a:spcPts val="600"/>
              </a:spcAft>
            </a:pPr>
            <a:r>
              <a:rPr dirty="0"/>
              <a:t>PARTNER CONTEXT · ADVISORY: A customer asking how to stop an agent taking an action it should not will reach for rate limits and alarms first. Naming user confirmation, and framing it as prompt injection defense, moves the conversation from volume control to authorization.</a:t>
            </a:r>
          </a:p>
          <a:p>
            <a:endParaRPr dirty="0"/>
          </a:p>
          <a:p>
            <a:pPr>
              <a:spcAft>
                <a:spcPts val="600"/>
              </a:spcAft>
            </a:pPr>
            <a:r>
              <a:rPr dirty="0"/>
              <a:t>PARTNER CONTEXT · OPERATOR: A partner adding an agent that can move money is the situation this question is really about. This is the strongest security question in the set because three of the five choices are real controls that do not meet the requirement. Rate limiting and alarms are both defensible engineering; they simply act on volume and after the fact. The documented feature is user confirmation, and AWS frames it as a defense against PROMPT INJECTION -- the agent may be told by returned data to call something it should not, so the human sits between the decision and the transaction. That framing is also why choice C loses: the attack being defended against is precisely an instruction the model chooses to follow.</a:t>
            </a:r>
          </a:p>
          <a:p>
            <a:endParaRPr dirty="0"/>
          </a:p>
          <a:p>
            <a:pPr>
              <a:spcAft>
                <a:spcPts val="600"/>
              </a:spcAft>
            </a:pPr>
            <a:r>
              <a:rPr lang="en-US" dirty="0"/>
              <a:t>REFERENCE: </a:t>
            </a:r>
            <a:r>
              <a:rPr dirty="0"/>
              <a:t>https://docs.aws.amazon.com/bedrock/latest/userguide/agents-userconfirmation.html</a:t>
            </a:r>
          </a:p>
          <a:p>
            <a:endParaRPr dirty="0"/>
          </a:p>
          <a:p>
            <a:pPr>
              <a:spcAft>
                <a:spcPts val="600"/>
              </a:spcAft>
            </a:pPr>
            <a:r>
              <a:rPr lang="en-US" dirty="0"/>
              <a:t>REFERENCE: </a:t>
            </a:r>
            <a:r>
              <a:rPr dirty="0"/>
              <a:t>https://docs.aws.amazon.com/bedrock/latest/userguide/action-handle.html  -- this question needs two commands, so it has two carrying pages; the slide cites the one holding the tell.</a:t>
            </a:r>
          </a:p>
          <a:p>
            <a:endParaRPr dirty="0"/>
          </a:p>
          <a:p>
            <a:pPr>
              <a:spcAft>
                <a:spcPts val="600"/>
              </a:spcAft>
            </a:pPr>
            <a:r>
              <a:rPr dirty="0"/>
              <a:t>⚠ BEFORE YOU PRESENT THIS ONE: Q25 is answerable as written, but its subject sits on Amazon Bedrock Agents, and the action-group pages now open with 'Amazon Bedrock Agents (now Amazon Bedrock Agents Classic) is no longer open to new customers', directing new work to Amazon Bedrock </a:t>
            </a:r>
            <a:r>
              <a:rPr dirty="0" err="1"/>
              <a:t>AgentCore</a:t>
            </a:r>
            <a:r>
              <a:rPr dirty="0"/>
              <a:t> -- which is the service the DVA-C03 guide lists in scope. The two controls the question turns on are real and documented, so nothing on the slide is wrong; the question-set review may still want the stem pointed at </a:t>
            </a:r>
            <a:r>
              <a:rPr dirty="0" err="1"/>
              <a:t>AgentCore</a:t>
            </a:r>
            <a:r>
              <a:rPr dirty="0"/>
              <a: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6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2: Security. Difficulty: Easy.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whose first Bedrock call fails will ask you to fix their IAM policy. Being able to say the grant is not in IAM, and to name the account-level prerequisites, saves a support cycle and lands better than a per-Region request step.</a:t>
            </a:r>
          </a:p>
          <a:p>
            <a:endParaRPr dirty="0"/>
          </a:p>
          <a:p>
            <a:pPr>
              <a:spcAft>
                <a:spcPts val="600"/>
              </a:spcAft>
            </a:pPr>
            <a:r>
              <a:rPr dirty="0"/>
              <a:t>PARTNER CONTEXT · OPERATOR: A partner whose developer is stuck on an access-denied error on their first Bedrock call hits this on day one. The teaching point survives the wording problem noted below: an IAM policy that allows </a:t>
            </a:r>
            <a:r>
              <a:rPr dirty="0" err="1"/>
              <a:t>bedrock:InvokeModel</a:t>
            </a:r>
            <a:r>
              <a:rPr dirty="0"/>
              <a:t> is necessary and not sufficient, so a developer reading only the IAM error goes looking in the wrong place. Access to a model is settled at the ACCOUNT level, and the documented prerequisites are AWS Marketplace permissions on the calling role, a valid payment method, and for Anthropic models a first-time-use form. Present it as 'the grant is not in IAM' rather than as a per-model request step, which is what the slide taught and what the page now says.</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“allows the </a:t>
            </a:r>
            <a:r>
              <a:rPr dirty="0" err="1"/>
              <a:t>bedrock:InvokeModel</a:t>
            </a:r>
            <a:r>
              <a:rPr dirty="0"/>
              <a:t> action for that model”, and it tells you: IAM allowing the call and the call still failing points outside IAM.</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2: Security. Difficulty: Easy.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whose first Bedrock call fails will ask you to fix their IAM policy. Being able to say the grant is not in IAM, and to name the account-level prerequisites, saves a support cycle and lands better than a per-Region request step.</a:t>
            </a:r>
          </a:p>
          <a:p>
            <a:endParaRPr dirty="0"/>
          </a:p>
          <a:p>
            <a:pPr>
              <a:spcAft>
                <a:spcPts val="600"/>
              </a:spcAft>
            </a:pPr>
            <a:r>
              <a:rPr dirty="0"/>
              <a:t>PARTNER CONTEXT · OPERATOR: A partner whose developer is stuck on an access-denied error on their first Bedrock call hits this on day one. The teaching point survives the wording problem noted below: an IAM policy that allows </a:t>
            </a:r>
            <a:r>
              <a:rPr dirty="0" err="1"/>
              <a:t>bedrock:InvokeModel</a:t>
            </a:r>
            <a:r>
              <a:rPr dirty="0"/>
              <a:t> is necessary and not sufficient, so a developer reading only the IAM error goes looking in the wrong place. Access to a model is settled at the ACCOUNT level, and the documented prerequisites are AWS Marketplace permissions on the calling role, a valid payment method, and for Anthropic models a first-time-use form. Present it as 'the grant is not in IAM' rather than as a per-model request step, which is what the slide taught and what the page now says.</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B. Model access is an account-level grant, separate from the IAM action.</a:t>
            </a:r>
          </a:p>
          <a:p>
            <a:endParaRPr dirty="0"/>
          </a:p>
          <a:p>
            <a:pPr>
              <a:spcAft>
                <a:spcPts val="600"/>
              </a:spcAft>
            </a:pPr>
            <a:r>
              <a:rPr dirty="0"/>
              <a:t>A. Attach a resource-based policy to the foundation model that grants the role permission to call it. — Incorrect — Foundation models in Amazon Bedrock do not take resource-based policies, so there is nothing to attach. Access is controlled by the model access grant together with IAM identity-based permissions.</a:t>
            </a:r>
          </a:p>
          <a:p>
            <a:endParaRPr dirty="0"/>
          </a:p>
          <a:p>
            <a:pPr>
              <a:spcAft>
                <a:spcPts val="600"/>
              </a:spcAft>
            </a:pPr>
            <a:r>
              <a:rPr dirty="0"/>
              <a:t>B. Request access to the foundation model in Amazon Bedrock for the Region that the application uses. — Correct — Access to a foundation model must be requested in Amazon Bedrock before the model can be invoked, and the grant applies per account and per Region. IAM permission alone is not sufficient, which is why the calls fail while the role allows the action.</a:t>
            </a:r>
          </a:p>
          <a:p>
            <a:endParaRPr dirty="0"/>
          </a:p>
          <a:p>
            <a:pPr>
              <a:spcAft>
                <a:spcPts val="600"/>
              </a:spcAft>
            </a:pPr>
            <a:r>
              <a:rPr dirty="0"/>
              <a:t>C. Purchase provisioned throughput for the foundation model so that the application can call it. — Incorrect — Provisioned throughput reserves capacity for a model to support a required request rate. It is a capacity option for a model the account can already use, and it does not grant access.</a:t>
            </a:r>
          </a:p>
          <a:p>
            <a:endParaRPr dirty="0"/>
          </a:p>
          <a:p>
            <a:pPr>
              <a:spcAft>
                <a:spcPts val="600"/>
              </a:spcAft>
            </a:pPr>
            <a:r>
              <a:rPr dirty="0"/>
              <a:t>D. Add the </a:t>
            </a:r>
            <a:r>
              <a:rPr dirty="0" err="1"/>
              <a:t>bedrock:ListFoundationModels</a:t>
            </a:r>
            <a:r>
              <a:rPr dirty="0"/>
              <a:t> action to the role so that the role can call the model. — Incorrect — The </a:t>
            </a:r>
            <a:r>
              <a:rPr dirty="0" err="1"/>
              <a:t>bedrock:ListFoundationModels</a:t>
            </a:r>
            <a:r>
              <a:rPr dirty="0"/>
              <a:t> action permits listing the available models. It does not permit invoking one, and the role already allows </a:t>
            </a:r>
            <a:r>
              <a:rPr dirty="0" err="1"/>
              <a:t>bedrock:InvokeModel</a:t>
            </a:r>
            <a:r>
              <a:rPr dirty="0"/>
              <a:t>, so this changes nothing.</a:t>
            </a:r>
          </a:p>
          <a:p>
            <a:endParaRPr dirty="0"/>
          </a:p>
          <a:p>
            <a:pPr>
              <a:spcAft>
                <a:spcPts val="600"/>
              </a:spcAft>
            </a:pPr>
            <a:r>
              <a:rPr dirty="0"/>
              <a:t>EXAM RELEVANCE: Domain 2: Security. Difficulty: Easy.</a:t>
            </a:r>
          </a:p>
          <a:p>
            <a:endParaRPr dirty="0"/>
          </a:p>
          <a:p>
            <a:pPr>
              <a:spcAft>
                <a:spcPts val="600"/>
              </a:spcAft>
            </a:pPr>
            <a:r>
              <a:rPr lang="en-US" dirty="0"/>
              <a:t>REFERENCE: </a:t>
            </a:r>
            <a:r>
              <a:rPr dirty="0"/>
              <a:t>https://docs.aws.amazon.com/bedrock/latest/userguide/model-access.html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B win because model access is an account-level grant, separate from the IAM action. The others are ruled out for one reason each: A — A foundation model takes no resource-based policy to attach; C — Provisioned throughput buys capacity for a model you can use; D — Listing models is not invoking one, and </a:t>
            </a:r>
            <a:r>
              <a:rPr dirty="0" err="1"/>
              <a:t>InvokeModel</a:t>
            </a:r>
            <a:r>
              <a:rPr dirty="0"/>
              <a:t> is allowed. Read the tell strip aloud -- pairing a phrase with what it signals is the transferable skill, not memorizing the service name.</a:t>
            </a:r>
          </a:p>
          <a:p>
            <a:endParaRPr dirty="0"/>
          </a:p>
          <a:p>
            <a:pPr>
              <a:spcAft>
                <a:spcPts val="600"/>
              </a:spcAft>
            </a:pPr>
            <a:r>
              <a:rPr dirty="0"/>
              <a:t>EXAM RELEVANCE: Domain 2: Security. Difficulty: Easy. The pattern to teach: a scenario question rarely offers three absurd options. It offers ones that match a nearby requirement and one (or two) that match the requirement exactly. Here the discriminator is “allows the </a:t>
            </a:r>
            <a:r>
              <a:rPr dirty="0" err="1"/>
              <a:t>bedrock:InvokeModel</a:t>
            </a:r>
            <a:r>
              <a:rPr dirty="0"/>
              <a:t> action for that model”, which points at IAM allowing the call and the call still failing points outside IAM. Encourage the room to name the phrase before naming the service.</a:t>
            </a:r>
          </a:p>
          <a:p>
            <a:endParaRPr dirty="0"/>
          </a:p>
          <a:p>
            <a:pPr>
              <a:spcAft>
                <a:spcPts val="600"/>
              </a:spcAft>
            </a:pPr>
            <a:r>
              <a:rPr dirty="0"/>
              <a:t>PARTNER CONTEXT · ADVISORY: A customer whose first Bedrock call fails will ask you to fix their IAM policy. Being able to say the grant is not in IAM, and to name the account-level prerequisites, saves a support cycle and lands better than a per-Region request step.</a:t>
            </a:r>
          </a:p>
          <a:p>
            <a:endParaRPr dirty="0"/>
          </a:p>
          <a:p>
            <a:pPr>
              <a:spcAft>
                <a:spcPts val="600"/>
              </a:spcAft>
            </a:pPr>
            <a:r>
              <a:rPr dirty="0"/>
              <a:t>PARTNER CONTEXT · OPERATOR: A partner whose developer is stuck on an access-denied error on their first Bedrock call hits this on day one. The teaching point survives the wording problem noted below: an IAM policy that allows </a:t>
            </a:r>
            <a:r>
              <a:rPr dirty="0" err="1"/>
              <a:t>bedrock:InvokeModel</a:t>
            </a:r>
            <a:r>
              <a:rPr dirty="0"/>
              <a:t> is necessary and not sufficient, so a developer reading only the IAM error goes looking in the wrong place. Access to a model is settled at the ACCOUNT level, and the documented prerequisites are AWS Marketplace permissions on the calling role, a valid payment method, and for Anthropic models a first-time-use form. Present it as 'the grant is not in IAM' rather than as a per-model request step, which is what the slide taught and what the page now says.</a:t>
            </a:r>
          </a:p>
          <a:p>
            <a:endParaRPr dirty="0"/>
          </a:p>
          <a:p>
            <a:pPr>
              <a:spcAft>
                <a:spcPts val="600"/>
              </a:spcAft>
            </a:pPr>
            <a:r>
              <a:rPr lang="en-US" dirty="0"/>
              <a:t>REFERENCE: </a:t>
            </a:r>
            <a:r>
              <a:rPr dirty="0"/>
              <a:t>https://docs.aws.amazon.com/bedrock/latest/userguide/model-access.html</a:t>
            </a:r>
          </a:p>
          <a:p>
            <a:endParaRPr dirty="0"/>
          </a:p>
          <a:p>
            <a:pPr>
              <a:spcAft>
                <a:spcPts val="600"/>
              </a:spcAft>
            </a:pPr>
            <a:r>
              <a:rPr dirty="0"/>
              <a:t>⚠ BEFORE YOU PRESENT THIS ONE: Q31's keyed answer B reads 'Request access to the foundation model in Amazon Bedrock for the Region that the application uses', and its explanation adds that 'the grant applies per account and per Region'. The current page says the opposite twice over: 'Access to all Amazon Bedrock foundation models is enabled by default with the correct AWS Marketplace permissions in all commercial AWS Regions', and 'If an identity has already subscribed to a model in one AWS Region, the model becomes available for the identity to request access in all AWS Regions in which the model is available'. B remains the best of the four -- A, C and D are each definitively wrong -- and the underlying idea is right: the grant is not in IAM. But the per-Region request framing is out of date, and THIS DECK TEACHES THE CURRENT BEHAVIOR at the model-access slide, so a presenter who teaches the slide and then reveals B contradicts themselves inside the same hour.</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P</a:t>
            </a:r>
            <a:r>
              <a:rPr dirty="0"/>
              <a:t>ut question 7 on screen and give the room about 90 seconds to read it in silence and commit to an answer before anyone speaks aloud. That is close to the pace the exam demands, so this rehearses timing as much as content.</a:t>
            </a:r>
          </a:p>
          <a:p>
            <a:endParaRPr dirty="0"/>
          </a:p>
          <a:p>
            <a:pPr>
              <a:spcAft>
                <a:spcPts val="600"/>
              </a:spcAft>
            </a:pPr>
            <a:r>
              <a:rPr dirty="0"/>
              <a:t>Do not reveal or hint at the answer on this beat. The silent read is what makes the key-phrases beat and the reveal land -- if you talk through it now, both lose their effect.</a:t>
            </a:r>
          </a:p>
          <a:p>
            <a:endParaRPr dirty="0"/>
          </a:p>
          <a:p>
            <a:pPr>
              <a:spcAft>
                <a:spcPts val="600"/>
              </a:spcAft>
            </a:pPr>
            <a:r>
              <a:rPr dirty="0"/>
              <a:t>EXAM RELEVANCE: Domain 2: Security. Difficulty: Medium. Watch the room: if most people have answered by 90 seconds, move on; if they are still reading, give another 20 seconds rather than rushing the discussion that follows.</a:t>
            </a:r>
          </a:p>
          <a:p>
            <a:endParaRPr dirty="0"/>
          </a:p>
          <a:p>
            <a:pPr>
              <a:spcAft>
                <a:spcPts val="600"/>
              </a:spcAft>
            </a:pPr>
            <a:r>
              <a:rPr dirty="0"/>
              <a:t>PARTNER CONTEXT · ADVISORY: A customer who wants prompt logging for audit AND personal data kept out of the logs is asking for two things that pull against each other. Surfacing that trade-off, and that the only fix sits upstream of the call, is advice worth giving before they build.</a:t>
            </a:r>
          </a:p>
          <a:p>
            <a:endParaRPr dirty="0"/>
          </a:p>
          <a:p>
            <a:pPr>
              <a:spcAft>
                <a:spcPts val="600"/>
              </a:spcAft>
            </a:pPr>
            <a:r>
              <a:rPr dirty="0"/>
              <a:t>PARTNER CONTEXT · OPERATOR: A partner turning on invocation logging for auditability runs into this trade-off immediately. Three of the four choices are things a security team would genuinely ask for, and none of them satisfies the requirement as written. Encrypting the destination, moving it, and restricting who reads it all protect data that is still recorded. Invocation logging captures the request and response as sent, so the only place to stop personal data reaching the log is BEFORE the call. The wider lesson for a partner is that observability and data minimization pull against each other, and logging the prompt is exactly where that shows up.</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KEY PHRASES: </a:t>
            </a:r>
            <a:r>
              <a:rPr lang="en-US" dirty="0"/>
              <a:t>W</a:t>
            </a:r>
            <a:r>
              <a:rPr dirty="0"/>
              <a:t>alk the question, do not answer it yet. The phrase that decides it is “invocation logging must remain enabled”, and it tells you: Data that must not be stored has to be removed before it is sent.</a:t>
            </a:r>
          </a:p>
          <a:p>
            <a:endParaRPr dirty="0"/>
          </a:p>
          <a:p>
            <a:pPr>
              <a:spcAft>
                <a:spcPts val="600"/>
              </a:spcAft>
            </a:pPr>
            <a:r>
              <a:rPr dirty="0"/>
              <a:t>WHAT'S HERE: </a:t>
            </a:r>
            <a:r>
              <a:rPr lang="en-US" dirty="0"/>
              <a:t>T</a:t>
            </a:r>
            <a:r>
              <a:rPr dirty="0"/>
              <a:t>he same question with the timer removed. This beat teaches HOW to read a scenario question -- find the requirement, then find the words that separate options that all look plausible on a first pass.</a:t>
            </a:r>
          </a:p>
          <a:p>
            <a:endParaRPr dirty="0"/>
          </a:p>
          <a:p>
            <a:pPr>
              <a:spcAft>
                <a:spcPts val="600"/>
              </a:spcAft>
            </a:pPr>
            <a:r>
              <a:rPr dirty="0"/>
              <a:t>EXAM RELEVANCE: Domain 2: Security. Difficulty: Medium. Ask the room which words they underlined before you show them the tell, so they </a:t>
            </a:r>
            <a:r>
              <a:rPr dirty="0" err="1"/>
              <a:t>practise</a:t>
            </a:r>
            <a:r>
              <a:rPr dirty="0"/>
              <a:t> finding it rather than being handed it.</a:t>
            </a:r>
          </a:p>
          <a:p>
            <a:endParaRPr dirty="0"/>
          </a:p>
          <a:p>
            <a:pPr>
              <a:spcAft>
                <a:spcPts val="600"/>
              </a:spcAft>
            </a:pPr>
            <a:r>
              <a:rPr dirty="0"/>
              <a:t>PARTNER CONTEXT · ADVISORY: A customer who wants prompt logging for audit AND personal data kept out of the logs is asking for two things that pull against each other. Surfacing that trade-off, and that the only fix sits upstream of the call, is advice worth giving before they build.</a:t>
            </a:r>
          </a:p>
          <a:p>
            <a:endParaRPr dirty="0"/>
          </a:p>
          <a:p>
            <a:pPr>
              <a:spcAft>
                <a:spcPts val="600"/>
              </a:spcAft>
            </a:pPr>
            <a:r>
              <a:rPr dirty="0"/>
              <a:t>PARTNER CONTEXT · OPERATOR: A partner turning on invocation logging for auditability runs into this trade-off immediately. Three of the four choices are things a security team would genuinely ask for, and none of them satisfies the requirement as written. Encrypting the destination, moving it, and restricting who reads it all protect data that is still recorded. Invocation logging captures the request and response as sent, so the only place to stop personal data reaching the log is BEFORE the call. The wider lesson for a partner is that observability and data minimization pull against each other, and logging the prompt is exactly where that shows up.</a:t>
            </a:r>
          </a:p>
          <a:p>
            <a:endParaRPr dirty="0"/>
          </a:p>
          <a:p>
            <a:pPr>
              <a:spcAft>
                <a:spcPts val="600"/>
              </a:spcAft>
            </a:pPr>
            <a:r>
              <a:rPr dirty="0"/>
              <a:t>EXAM MAPPING: Domain 2: Security.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ANSWER OVERVIEW: </a:t>
            </a:r>
            <a:r>
              <a:rPr lang="en-US" dirty="0"/>
              <a:t>T</a:t>
            </a:r>
            <a:r>
              <a:rPr dirty="0"/>
              <a:t>he answer is A. Only the prompt never containing the data keeps it out of the log.</a:t>
            </a:r>
          </a:p>
          <a:p>
            <a:endParaRPr dirty="0"/>
          </a:p>
          <a:p>
            <a:pPr>
              <a:spcAft>
                <a:spcPts val="600"/>
              </a:spcAft>
            </a:pPr>
            <a:r>
              <a:rPr dirty="0"/>
              <a:t>A. Remove the personal data from the prompt in the application before the prompt is sent to the model. — Correct — Model invocation logging records the request and response data that passes through the service, so any personal data in a prompt is captured. Removing or masking the data in the application before the call means it is never sent and therefore never written to the logs, and logging stays enabled.</a:t>
            </a:r>
          </a:p>
          <a:p>
            <a:endParaRPr dirty="0"/>
          </a:p>
          <a:p>
            <a:pPr>
              <a:spcAft>
                <a:spcPts val="600"/>
              </a:spcAft>
            </a:pPr>
            <a:r>
              <a:rPr dirty="0"/>
              <a:t>B. Encrypt the log destination with an AWS KMS customer managed key and restrict access to the key. — Incorrect — Encrypting the destination protects the logs at rest and limits who can read them. The personal data is still recorded in the log content, so the requirement that it not be stored is not met.</a:t>
            </a:r>
          </a:p>
          <a:p>
            <a:endParaRPr dirty="0"/>
          </a:p>
          <a:p>
            <a:pPr>
              <a:spcAft>
                <a:spcPts val="600"/>
              </a:spcAft>
            </a:pPr>
            <a:r>
              <a:rPr dirty="0"/>
              <a:t>C. Change the invocation logging destination from Amazon CloudWatch Logs to an Amazon S3 bucket. — Incorrect — The destination determines where the log data is delivered, not what the log data contains. The same prompt content, including the personal data, is written to either destination.</a:t>
            </a:r>
          </a:p>
          <a:p>
            <a:endParaRPr dirty="0"/>
          </a:p>
          <a:p>
            <a:pPr>
              <a:spcAft>
                <a:spcPts val="600"/>
              </a:spcAft>
            </a:pPr>
            <a:r>
              <a:rPr dirty="0"/>
              <a:t>D. Apply a policy to the log destination that grants read access only to the compliance team role. — Incorrect — Restricting read access controls who can view the logs. The personal data remains stored in them, so this addresses access rather than the requirement that the data not be stored.</a:t>
            </a:r>
          </a:p>
          <a:p>
            <a:endParaRPr dirty="0"/>
          </a:p>
          <a:p>
            <a:pPr>
              <a:spcAft>
                <a:spcPts val="600"/>
              </a:spcAft>
            </a:pPr>
            <a:r>
              <a:rPr dirty="0"/>
              <a:t>EXAM RELEVANCE: Domain 2: Security. Difficulty: Medium.</a:t>
            </a:r>
          </a:p>
          <a:p>
            <a:endParaRPr dirty="0"/>
          </a:p>
          <a:p>
            <a:pPr>
              <a:spcAft>
                <a:spcPts val="600"/>
              </a:spcAft>
            </a:pPr>
            <a:r>
              <a:rPr lang="en-US" dirty="0"/>
              <a:t>REFERENCE: </a:t>
            </a:r>
            <a:r>
              <a:rPr dirty="0"/>
              <a:t>https://docs.aws.amazon.com/bedrock/latest/userguide/model-invocation-logging.html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a:t>
            </a:r>
            <a:r>
              <a:rPr lang="en-US" dirty="0"/>
              <a:t>T</a:t>
            </a:r>
            <a:r>
              <a:rPr dirty="0"/>
              <a:t>he elimination, made visible. A win because only the prompt never containing the data keeps it out of the log. The others are ruled out for one reason each: B — Encryption protects the log; the personal data is still in it; C — The destination changes where it lands, not what it contains; D — Restricting readers is access control, not removal. Read the tell strip aloud -- pairing a phrase with what it signals is the transferable skill, not memorizing the service name.</a:t>
            </a:r>
          </a:p>
          <a:p>
            <a:endParaRPr dirty="0"/>
          </a:p>
          <a:p>
            <a:pPr>
              <a:spcAft>
                <a:spcPts val="600"/>
              </a:spcAft>
            </a:pPr>
            <a:r>
              <a:rPr dirty="0"/>
              <a:t>EXAM RELEVANCE: Domain 2: Security. Difficulty: Medium. The pattern to teach: a scenario question rarely offers three absurd options. It offers ones that match a nearby requirement and one (or two) that match the requirement exactly. Here the discriminator is “invocation logging must remain enabled”, which points at Data that must not be stored has to be removed before it is sent. Encourage the room to name the phrase before naming the service.</a:t>
            </a:r>
          </a:p>
          <a:p>
            <a:endParaRPr dirty="0"/>
          </a:p>
          <a:p>
            <a:pPr>
              <a:spcAft>
                <a:spcPts val="600"/>
              </a:spcAft>
            </a:pPr>
            <a:r>
              <a:rPr dirty="0"/>
              <a:t>PARTNER CONTEXT · ADVISORY: A customer who wants prompt logging for audit AND personal data kept out of the logs is asking for two things that pull against each other. Surfacing that trade-off, and that the only fix sits upstream of the call, is advice worth giving before they build.</a:t>
            </a:r>
          </a:p>
          <a:p>
            <a:endParaRPr dirty="0"/>
          </a:p>
          <a:p>
            <a:pPr>
              <a:spcAft>
                <a:spcPts val="600"/>
              </a:spcAft>
            </a:pPr>
            <a:r>
              <a:rPr dirty="0"/>
              <a:t>PARTNER CONTEXT · OPERATOR: A partner turning on invocation logging for auditability runs into this trade-off immediately. Three of the four choices are things a security team would genuinely ask for, and none of them satisfies the requirement as written. Encrypting the destination, moving it, and restricting who reads it all protect data that is still recorded. Invocation logging captures the request and response as sent, so the only place to stop personal data reaching the log is BEFORE the call. The wider lesson for a partner is that observability and data minimization pull against each other, and logging the prompt is exactly where that shows up.</a:t>
            </a:r>
          </a:p>
          <a:p>
            <a:endParaRPr dirty="0"/>
          </a:p>
          <a:p>
            <a:pPr>
              <a:spcAft>
                <a:spcPts val="600"/>
              </a:spcAft>
            </a:pPr>
            <a:r>
              <a:rPr lang="en-US" dirty="0"/>
              <a:t>REFERENCE: </a:t>
            </a:r>
            <a:r>
              <a:rPr dirty="0"/>
              <a:t>https://docs.aws.amazon.com/bedrock/latest/userguide/model-invocation-logging.html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Open the floor. This is the last live session, so expect two kinds of question: the security specifics from today, and logistics about sitting the exam.</a:t>
            </a:r>
          </a:p>
          <a:p>
            <a:endParaRPr/>
          </a:p>
          <a:p>
            <a:pPr>
              <a:spcAft>
                <a:spcPts val="600"/>
              </a:spcAft>
            </a:pPr>
            <a:r>
              <a:t>The security questions worth drawing out are the ones where two controls both sound right. Private subnet versus private path is the strongest of those, and the interface endpoint slide is the fastest way back to it.</a:t>
            </a:r>
          </a:p>
          <a:p>
            <a:endParaRPr/>
          </a:p>
          <a:p>
            <a:pPr>
              <a:spcAft>
                <a:spcPts val="600"/>
              </a:spcAft>
            </a:pPr>
            <a:r>
              <a:t>If someone asks about Bedrock model access, use the notes on that question rather than answering from memory -- the wording of the keyed answer and the current documented behavior do not match, and that is flagged for you.</a:t>
            </a:r>
          </a:p>
          <a:p>
            <a:endParaRPr/>
          </a:p>
          <a:p>
            <a:pPr>
              <a:spcAft>
                <a:spcPts val="600"/>
              </a:spcAft>
            </a:pPr>
            <a:r>
              <a:t>For anything needing a source rather than an answer, the citation row on each slide and the appendix at the end are where to send them.</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WHAT'S HERE: The one thing to do after the certification exam. The exam validates what you know about the serverless domain; this exam lab asks you to go and fix it in a real account. Same domain, the other half of the evidence.</a:t>
            </a:r>
          </a:p>
          <a:p>
            <a:endParaRPr dirty="0"/>
          </a:p>
          <a:p>
            <a:pPr>
              <a:spcAft>
                <a:spcPts val="600"/>
              </a:spcAft>
            </a:pPr>
            <a:r>
              <a:rPr dirty="0"/>
              <a:t>FACILITATOR: Land the contrast before the detail, because it is the whole reason the slide exists. A certification is role-based and tests breadth through multiple choice. A </a:t>
            </a:r>
            <a:r>
              <a:rPr dirty="0" err="1"/>
              <a:t>microcredential</a:t>
            </a:r>
            <a:r>
              <a:rPr dirty="0"/>
              <a:t> is topic-based and tests depth by putting the candidate in a provisioned AWS environment to diagnose issues and implement solutions.</a:t>
            </a:r>
          </a:p>
          <a:p>
            <a:endParaRPr dirty="0"/>
          </a:p>
          <a:p>
            <a:pPr>
              <a:spcAft>
                <a:spcPts val="600"/>
              </a:spcAft>
            </a:pPr>
            <a:r>
              <a:rPr dirty="0"/>
              <a:t>Then make it concrete with the service list in the caption. Amazon Cognito, Amazon API Gateway and AWS WAF are all on it, and WAF and API Gateway are both on today's slides -- so this is not a general recommendation, it is the lab that grades what the room just covered.</a:t>
            </a:r>
          </a:p>
          <a:p>
            <a:endParaRPr dirty="0"/>
          </a:p>
          <a:p>
            <a:pPr>
              <a:spcAft>
                <a:spcPts val="600"/>
              </a:spcAft>
            </a:pPr>
            <a:r>
              <a:rPr dirty="0"/>
              <a:t>The mechanics, all from the official description: once you begin you have 90 minutes for all challenges, and the lab gives guidance but not step-by-step solutions. Passing issues a </a:t>
            </a:r>
            <a:r>
              <a:rPr dirty="0" err="1"/>
              <a:t>Credly</a:t>
            </a:r>
            <a:r>
              <a:rPr dirty="0"/>
              <a:t> digital badge that appears under Credentials on the Skill Builder Skills Profile.</a:t>
            </a:r>
          </a:p>
          <a:p>
            <a:endParaRPr dirty="0"/>
          </a:p>
          <a:p>
            <a:pPr>
              <a:spcAft>
                <a:spcPts val="600"/>
              </a:spcAft>
            </a:pPr>
            <a:r>
              <a:rPr dirty="0"/>
              <a:t>Say the access point plainly, because it changed and people assume otherwise: </a:t>
            </a:r>
            <a:r>
              <a:rPr dirty="0" err="1"/>
              <a:t>microcredentials</a:t>
            </a:r>
            <a:r>
              <a:rPr dirty="0"/>
              <a:t> have been freely accessible to all learners since April 2026 and need no Skill Builder subscription. Learners find them under Explore, then Validate your skills, then Earn a </a:t>
            </a:r>
            <a:r>
              <a:rPr dirty="0" err="1"/>
              <a:t>microcredential</a:t>
            </a:r>
            <a:r>
              <a:rPr dirty="0"/>
              <a:t>.</a:t>
            </a:r>
          </a:p>
          <a:p>
            <a:endParaRPr dirty="0"/>
          </a:p>
          <a:p>
            <a:pPr>
              <a:spcAft>
                <a:spcPts val="600"/>
              </a:spcAft>
            </a:pPr>
            <a:r>
              <a:rPr dirty="0"/>
              <a:t>Share the enrollment page on screen rather than reading the URL aloud, and frame it as further practice rather than exam preparation -- the exam is behind them at this point.</a:t>
            </a:r>
          </a:p>
          <a:p>
            <a:endParaRPr dirty="0"/>
          </a:p>
          <a:p>
            <a:pPr>
              <a:spcAft>
                <a:spcPts val="600"/>
              </a:spcAft>
            </a:pPr>
            <a:r>
              <a:rPr dirty="0"/>
              <a:t>Recommend the order out loud: sit the certification exam first, then attempt the lab. Saying it stops someone taking the hardest artifact first and reading a bad result as a verdict on their readiness.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t>FACILITATOR: Close by naming the whole arc, not just today, because this is the last time the group is together.</a:t>
            </a:r>
          </a:p>
          <a:p>
            <a:endParaRPr/>
          </a:p>
          <a:p>
            <a:pPr>
              <a:spcAft>
                <a:spcPts val="600"/>
              </a:spcAft>
            </a:pPr>
            <a:r>
              <a:t>Five weeks: the platform and its storage, then compute and data, then observability and troubleshooting, then testing and deployment, and today security and the security of using AI services.</a:t>
            </a:r>
          </a:p>
          <a:p>
            <a:endParaRPr/>
          </a:p>
          <a:p>
            <a:pPr>
              <a:spcAft>
                <a:spcPts val="600"/>
              </a:spcAft>
            </a:pPr>
            <a:r>
              <a:t>Remind them the week-5 digital training is still available after the session, that the practice exam sits inside it, and that the appendix at the end of this deck covers the C02 to C03 difference for anyone choosing to sit the exam that is live today.</a:t>
            </a:r>
          </a:p>
          <a:p>
            <a:endParaRPr/>
          </a:p>
          <a:p>
            <a:pPr>
              <a:spcAft>
                <a:spcPts val="600"/>
              </a:spcAft>
            </a:pPr>
            <a:r>
              <a:t>Thank them for the questions specifically rather than for attending -- the discussion is what made the live sessions worth more than the recordings.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APPENDIX: </a:t>
            </a:r>
            <a:r>
              <a:rPr lang="en-US" dirty="0"/>
              <a:t>D</a:t>
            </a:r>
            <a:r>
              <a:rPr dirty="0"/>
              <a:t>ivider. This block is self-study reference for anyone who plans to sit DVA-C02 rather than C03. It is not taught in the session -- point the room at it and move on. The three appendix slides sit together at the end of the deck by design.</a:t>
            </a:r>
          </a:p>
          <a:p>
            <a:endParaRPr dirty="0"/>
          </a:p>
          <a:p>
            <a:pPr>
              <a:spcAft>
                <a:spcPts val="600"/>
              </a:spcAft>
            </a:pPr>
            <a:r>
              <a:rPr dirty="0"/>
              <a:t>WHAT'S HERE: The session decks are built for DVA-C03. This appendix collects what a C02 candidate needs that the C03 body does not spell out: how the exam guide's weightings shifted, and what changed for this week's topics.</a:t>
            </a:r>
          </a:p>
          <a:p>
            <a:endParaRPr dirty="0"/>
          </a:p>
          <a:p>
            <a:pPr>
              <a:spcAft>
                <a:spcPts val="600"/>
              </a:spcAft>
            </a:pPr>
            <a:r>
              <a:rPr dirty="0"/>
              <a:t>EXAM RELEVANCE: Week 5 carries the largest delta of the five weeks. C03 adds an entirely new task for AI service security, and C02's separate encryption and sensitive-data tasks merge into one.</a:t>
            </a:r>
          </a:p>
          <a:p>
            <a:endParaRPr dirty="0"/>
          </a:p>
          <a:p>
            <a:pPr>
              <a:spcAft>
                <a:spcPts val="600"/>
              </a:spcAft>
            </a:pPr>
            <a:r>
              <a:rPr dirty="0"/>
              <a:t>A C02 candidate reading a C03 deck needs to know that a whole task here does not exist on their exam.</a:t>
            </a:r>
          </a:p>
          <a:p>
            <a:endParaRPr dirty="0"/>
          </a:p>
          <a:p>
            <a:pPr>
              <a:spcAft>
                <a:spcPts val="600"/>
              </a:spcAft>
            </a:pPr>
            <a:r>
              <a:rPr dirty="0"/>
              <a:t>FACILITATOR: There is one trap on the next two slides worth naming out loud if anyone is sitting C02. The task NUMBER 2.3 exists on both exams and means two different things. Do not let someone walk away planning to revise "Task 2.3" without checking which guide they are holding.</a:t>
            </a:r>
          </a:p>
          <a:p>
            <a:endParaRPr dirty="0"/>
          </a:p>
          <a:p>
            <a:pPr>
              <a:spcAft>
                <a:spcPts val="600"/>
              </a:spcAft>
            </a:pPr>
            <a:r>
              <a:rPr dirty="0"/>
              <a:t>REFERENCE: The C02 figures come from the DVA-C02 exam guide; the C03 figures come from the September 2026 certification updates blog. Both are linked from the delta slides that follow. EXAM MAPPING: DVA-C02 to DVA-C03 comparison.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APPENDIX: </a:t>
            </a:r>
            <a:r>
              <a:rPr lang="en-US" dirty="0"/>
              <a:t>W</a:t>
            </a:r>
            <a:r>
              <a:rPr dirty="0"/>
              <a:t>eek-5 delta table. Walk the left column first: the four domain weightings barely move. Development eases from 32% to 30%, Security holds at 26%, Testing and Deployment eases from 24% to 22%, and Troubleshooting and Optimization rises from 18% to 22% -- the largest single shift.</a:t>
            </a:r>
          </a:p>
          <a:p>
            <a:endParaRPr dirty="0"/>
          </a:p>
          <a:p>
            <a:pPr>
              <a:spcAft>
                <a:spcPts val="600"/>
              </a:spcAft>
            </a:pPr>
            <a:r>
              <a:rPr dirty="0"/>
              <a:t>WHAT'S HERE: The right column is week 5's story, and it is the biggest change in the program. C03 adds an entirely new task, 2.3, for the security of using and integrating AI services.</a:t>
            </a:r>
          </a:p>
          <a:p>
            <a:endParaRPr dirty="0"/>
          </a:p>
          <a:p>
            <a:pPr>
              <a:spcAft>
                <a:spcPts val="600"/>
              </a:spcAft>
            </a:pPr>
            <a:r>
              <a:rPr dirty="0"/>
              <a:t>That task covers access management, data privacy controls, filtering model inputs and outputs, securing agent interactions, and protecting sensitive content in logs. None of it exists on C02.</a:t>
            </a:r>
          </a:p>
          <a:p>
            <a:endParaRPr dirty="0"/>
          </a:p>
          <a:p>
            <a:pPr>
              <a:spcAft>
                <a:spcPts val="600"/>
              </a:spcAft>
            </a:pPr>
            <a:r>
              <a:rPr dirty="0"/>
              <a:t>Three more changes sit under it. AWS PrivateLink joins the in-scope service list at C03. C02 examined encryption and sensitive data as two separate tasks totalling thirteen skills; C03 folds them into a single task of seven.</a:t>
            </a:r>
            <a:r>
              <a:rPr dirty="0" err="1"/>
              <a:t/>
            </a:r>
            <a:r>
              <a:rPr dirty="0"/>
              <a:t/>
            </a:r>
            <a:r>
              <a:rPr dirty="0" err="1"/>
              <a:t/>
            </a:r>
            <a:r>
              <a:rPr dirty="0"/>
              <a:t/>
            </a:r>
          </a:p>
          <a:p>
            <a:endParaRPr dirty="0"/>
          </a:p>
          <a:p>
            <a:pPr>
              <a:spcAft>
                <a:spcPts val="600"/>
              </a:spcAft>
            </a:pPr>
            <a:r>
              <a:rPr dirty="0"/>
              <a:t>AWS AppSync is in the published DVA-C02 in-scope list and is not taught in this C03-targeted body, so a C02 candidate studies it separately.</a:t>
            </a:r>
          </a:p>
          <a:p>
            <a:endParaRPr dirty="0"/>
          </a:p>
          <a:p>
            <a:pPr>
              <a:spcAft>
                <a:spcPts val="600"/>
              </a:spcAft>
            </a:pPr>
            <a:r>
              <a:rPr dirty="0"/>
              <a:t>⚠ THE TASK NUMBER 2.3 MEANS TWO DIFFERENT THINGS. On C02 it is sensitive data. On C03 it is the new AI-service-security task. Same identifier, different subject -- so do not map one onto the other, and say so if a C02 candidate is taking notes by task number.</a:t>
            </a:r>
          </a:p>
          <a:p>
            <a:endParaRPr dirty="0"/>
          </a:p>
          <a:p>
            <a:pPr>
              <a:spcAft>
                <a:spcPts val="600"/>
              </a:spcAft>
            </a:pPr>
            <a:r>
              <a:rPr dirty="0"/>
              <a:t>REFERENCE: C02 weightings, domains and the AppSync in-scope entry are from the DVA-C02 exam guide at docs.aws.amazon.com/</a:t>
            </a:r>
            <a:r>
              <a:rPr dirty="0" err="1"/>
              <a:t>aws</a:t>
            </a:r>
            <a:r>
              <a:rPr dirty="0"/>
              <a:t>-certification/latest/developer-associate-02/; the new Task 2.3, the AWS PrivateLink addition and the consolidation are quoted from the September 2026 certification updates blog, linked on this slide. EXAM MAPPING: Domain 2 Task 2.3 addition and the Domain 2 consolidation.</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pPr>
              <a:spcAft>
                <a:spcPts val="600"/>
              </a:spcAft>
            </a:pPr>
            <a:r>
              <a:rPr dirty="0"/>
              <a:t>APPENDIX: C02 reference. For a candidate sitting C02 rather than C03, the left column is what this session covers that their exam does not. Week 5's left column is the longest in the program -- four entries, and one of them is an entire task.</a:t>
            </a:r>
          </a:p>
          <a:p>
            <a:endParaRPr dirty="0"/>
          </a:p>
          <a:p>
            <a:pPr>
              <a:spcAft>
                <a:spcPts val="600"/>
              </a:spcAft>
            </a:pPr>
            <a:r>
              <a:rPr dirty="0"/>
              <a:t>WHAT'S HERE: Task 2.3 is C03-only in its entirety, so every Bedrock Guardrails slide, the model-access slide and the invocation-logging slide sit outside a C02 candidate's syllabus. AWS PrivateLink is newly in scope at C03 as well, so the interface-endpoint slide and Question 3 sit outside it too.</a:t>
            </a:r>
            <a:r>
              <a:rPr dirty="0" err="1"/>
              <a:t/>
            </a:r>
            <a:r>
              <a:rPr dirty="0"/>
              <a:t/>
            </a:r>
          </a:p>
          <a:p>
            <a:endParaRPr dirty="0"/>
          </a:p>
          <a:p>
            <a:pPr>
              <a:spcAft>
                <a:spcPts val="600"/>
              </a:spcAft>
            </a:pPr>
            <a:r>
              <a:rPr dirty="0"/>
              <a:t>The two Domain 4 additions are the AI troubleshooting and optimization skills. That is why this week's X-Ray block matters to both exams while the AI tooling around it does not.</a:t>
            </a:r>
          </a:p>
          <a:p>
            <a:endParaRPr dirty="0"/>
          </a:p>
          <a:p>
            <a:pPr>
              <a:spcAft>
                <a:spcPts val="600"/>
              </a:spcAft>
            </a:pPr>
            <a:r>
              <a:rPr dirty="0"/>
              <a:t>The right column is the reassuring part, and it is most of the session. The protective services, certificate management, content access and tracing are all on both exams. A C02 candidate loses the AI block and the private-connectivity slide, and keeps everything else.</a:t>
            </a:r>
          </a:p>
          <a:p>
            <a:endParaRPr dirty="0"/>
          </a:p>
          <a:p>
            <a:pPr>
              <a:spcAft>
                <a:spcPts val="600"/>
              </a:spcAft>
            </a:pPr>
            <a:r>
              <a:rPr dirty="0"/>
              <a:t>⚠ AWS APPSYNC IS ON THE C02 EXAM AND IS NOT TAUGHT HERE, which reverses the columns above -- a C02 candidate needs it and this C03-targeted body does not cover it.</a:t>
            </a:r>
          </a:p>
          <a:p>
            <a:endParaRPr dirty="0"/>
          </a:p>
          <a:p>
            <a:pPr>
              <a:spcAft>
                <a:spcPts val="600"/>
              </a:spcAft>
            </a:pPr>
            <a:r>
              <a:rPr dirty="0"/>
              <a:t>It is deliberately not taught in this deck's body, because the body targets C03. A C02 candidate should not conclude from that absence that they can skip it.</a:t>
            </a:r>
          </a:p>
          <a:p>
            <a:endParaRPr dirty="0"/>
          </a:p>
          <a:p>
            <a:pPr>
              <a:spcAft>
                <a:spcPts val="600"/>
              </a:spcAft>
            </a:pPr>
            <a:r>
              <a:rPr dirty="0"/>
              <a:t>FACILITATOR: If someone asks whether to sit C02 or C03, point at this slide rather than answering from memory. The domains are named here on purpose, because AWS has published the C03 additions by domain rather than by task.</a:t>
            </a:r>
          </a:p>
          <a:p>
            <a:endParaRPr dirty="0"/>
          </a:p>
          <a:p>
            <a:pPr>
              <a:spcAft>
                <a:spcPts val="600"/>
              </a:spcAft>
            </a:pPr>
            <a:r>
              <a:rPr dirty="0"/>
              <a:t>Remind them that 2.3 is the one number that does not mean the same thing in both guides.</a:t>
            </a:r>
          </a:p>
          <a:p>
            <a:endParaRPr dirty="0"/>
          </a:p>
          <a:p>
            <a:pPr>
              <a:spcAft>
                <a:spcPts val="600"/>
              </a:spcAft>
            </a:pPr>
            <a:r>
              <a:rPr dirty="0"/>
              <a:t>REFERENCE: The C02 task list and the AppSync in-scope entry are from the DVA-C02 exam guide linked on this slide; the four C03-only additions are from the September 2026 certification updates blog, which names AWS PrivateLink among the new in-scope services and states the Domain 4 items by domain rather than by task. EXAM MAPPING: Domain 2 Task 2.3, plus the Domain 4 additions.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Tree>
    <p:extLst>
      <p:ext uri="{BB962C8B-B14F-4D97-AF65-F5344CB8AC3E}">
        <p14:creationId xmlns:p14="http://schemas.microsoft.com/office/powerpoint/2010/main" val="3819095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117047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993054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Tree>
    <p:extLst>
      <p:ext uri="{BB962C8B-B14F-4D97-AF65-F5344CB8AC3E}">
        <p14:creationId xmlns:p14="http://schemas.microsoft.com/office/powerpoint/2010/main" val="403335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Sub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670560"/>
          </a:xfrm>
        </p:spPr>
        <p:txBody>
          <a:bodyPr vert="horz" wrap="square" lIns="182880" tIns="146304" rIns="182880" bIns="146304" rtlCol="0" anchor="t">
            <a:noAutofit/>
          </a:bodyPr>
          <a:lstStyle>
            <a:lvl1pPr>
              <a:defRPr lang="en-US" sz="4000" baseline="0"/>
            </a:lvl1pPr>
          </a:lstStyle>
          <a:p>
            <a:pPr lvl="0"/>
            <a:r>
              <a:rPr lang="en-US" dirty="0"/>
              <a:t>Click to edit master title style</a:t>
            </a:r>
          </a:p>
        </p:txBody>
      </p:sp>
      <p:sp>
        <p:nvSpPr>
          <p:cNvPr id="5" name="Text Placeholder 4">
            <a:extLst>
              <a:ext uri="{FF2B5EF4-FFF2-40B4-BE49-F238E27FC236}">
                <a16:creationId xmlns:a16="http://schemas.microsoft.com/office/drawing/2014/main" id="{D7598F06-5E9F-4A11-8610-CF80CCE5BE9F}"/>
              </a:ext>
            </a:extLst>
          </p:cNvPr>
          <p:cNvSpPr>
            <a:spLocks noGrp="1"/>
          </p:cNvSpPr>
          <p:nvPr>
            <p:ph type="body" sz="quarter" idx="10" hasCustomPrompt="1"/>
          </p:nvPr>
        </p:nvSpPr>
        <p:spPr>
          <a:xfrm>
            <a:off x="478221" y="986966"/>
            <a:ext cx="11652250" cy="424732"/>
          </a:xfrm>
        </p:spPr>
        <p:txBody>
          <a:bodyPr/>
          <a:lstStyle>
            <a:lvl1pPr marL="0" indent="0">
              <a:buNone/>
              <a:defRPr sz="2400">
                <a:solidFill>
                  <a:schemeClr val="accent1"/>
                </a:solidFill>
              </a:defRPr>
            </a:lvl1pPr>
          </a:lstStyle>
          <a:p>
            <a:pPr lvl="0"/>
            <a:r>
              <a:rPr lang="en-US" dirty="0"/>
              <a:t>Edit Master text styles</a:t>
            </a:r>
          </a:p>
        </p:txBody>
      </p:sp>
      <p:sp>
        <p:nvSpPr>
          <p:cNvPr id="7" name="Text Placeholder 3">
            <a:extLst>
              <a:ext uri="{FF2B5EF4-FFF2-40B4-BE49-F238E27FC236}">
                <a16:creationId xmlns:a16="http://schemas.microsoft.com/office/drawing/2014/main" id="{4D7A8912-5838-1B46-B696-DA489AB593FE}"/>
              </a:ext>
            </a:extLst>
          </p:cNvPr>
          <p:cNvSpPr>
            <a:spLocks noGrp="1"/>
          </p:cNvSpPr>
          <p:nvPr>
            <p:ph idx="11" hasCustomPrompt="1"/>
          </p:nvPr>
        </p:nvSpPr>
        <p:spPr>
          <a:xfrm>
            <a:off x="269769" y="1586325"/>
            <a:ext cx="11652356" cy="2031325"/>
          </a:xfrm>
          <a:prstGeom prst="rect">
            <a:avLst/>
          </a:prstGeom>
        </p:spPr>
        <p:txBody>
          <a:bodyPr vert="horz" wrap="square" lIns="182880" tIns="146304" rIns="182880" bIns="146304" rtlCol="0">
            <a:spAutoFit/>
          </a:bodyPr>
          <a:lstStyle>
            <a:lvl1pPr>
              <a:spcAft>
                <a:spcPts val="667"/>
              </a:spcAft>
              <a:defRPr b="0" i="0">
                <a:latin typeface="+mn-lt"/>
                <a:ea typeface="Amazon Ember Thin" panose="020B0303020204020204" pitchFamily="34" charset="0"/>
                <a:cs typeface="Amazon Ember Thin" panose="020B0303020204020204" pitchFamily="34" charset="0"/>
              </a:defRPr>
            </a:lvl1pPr>
            <a:lvl2pPr marL="33614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2pPr>
            <a:lvl3pPr marL="560238" indent="0">
              <a:spcAft>
                <a:spcPts val="667"/>
              </a:spcAft>
              <a:buFont typeface="Arial" panose="020B0604020202020204" pitchFamily="34" charset="0"/>
              <a:buNone/>
              <a:defRPr sz="2000" b="0" i="0">
                <a:latin typeface="+mn-lt"/>
                <a:ea typeface="Amazon Ember Light" panose="020B0403020204020204" pitchFamily="34" charset="0"/>
                <a:cs typeface="Amazon Ember Light" panose="020B0403020204020204" pitchFamily="34" charset="0"/>
              </a:defRPr>
            </a:lvl3pPr>
            <a:lvl4pPr marL="78433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4pPr>
            <a:lvl5pPr marL="1008428" marR="0" indent="0" algn="l" defTabSz="914362" rtl="0" eaLnBrk="1" fontAlgn="auto" latinLnBrk="0" hangingPunct="1">
              <a:lnSpc>
                <a:spcPct val="90000"/>
              </a:lnSpc>
              <a:spcBef>
                <a:spcPts val="500"/>
              </a:spcBef>
              <a:spcAft>
                <a:spcPts val="667"/>
              </a:spcAft>
              <a:buClrTx/>
              <a:buSzPct val="90000"/>
              <a:buFont typeface="Arial" panose="020B0604020202020204" pitchFamily="34" charset="0"/>
              <a:buNone/>
              <a:tabLst/>
              <a:defRPr b="0" i="0">
                <a:latin typeface="Amazon Ember" panose="020B0603020204020204" pitchFamily="34" charset="0"/>
                <a:ea typeface="Amazon Ember" panose="020B0603020204020204" pitchFamily="34" charset="0"/>
                <a:cs typeface="Amazon Ember" panose="020B0603020204020204" pitchFamily="34" charset="0"/>
              </a:defRPr>
            </a:lvl5pPr>
            <a:lvl6pPr marL="2228755" indent="0">
              <a:buNone/>
              <a:defRPr/>
            </a:lvl6pPr>
          </a:lstStyle>
          <a:p>
            <a:pPr lvl="0"/>
            <a:r>
              <a:rPr lang="en-US" dirty="0"/>
              <a:t>Click to edit master text styles</a:t>
            </a:r>
          </a:p>
          <a:p>
            <a:pPr lvl="1"/>
            <a:r>
              <a:rPr lang="en-US" dirty="0"/>
              <a:t>Second level</a:t>
            </a:r>
          </a:p>
          <a:p>
            <a:pPr lvl="1"/>
            <a:r>
              <a:rPr lang="en-US" dirty="0"/>
              <a:t>Third  level</a:t>
            </a:r>
          </a:p>
          <a:p>
            <a:pPr lvl="1"/>
            <a:r>
              <a:rPr lang="en-US" dirty="0"/>
              <a:t>Fourth level</a:t>
            </a:r>
          </a:p>
        </p:txBody>
      </p:sp>
    </p:spTree>
    <p:extLst>
      <p:ext uri="{BB962C8B-B14F-4D97-AF65-F5344CB8AC3E}">
        <p14:creationId xmlns:p14="http://schemas.microsoft.com/office/powerpoint/2010/main" val="186958063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899665"/>
          </a:xfrm>
        </p:spPr>
        <p:txBody>
          <a:bodyPr lIns="182880" tIns="146304" rIns="182880" bIns="146304"/>
          <a:lstStyle>
            <a:lvl1pPr>
              <a:defRPr/>
            </a:lvl1pPr>
          </a:lstStyle>
          <a:p>
            <a:r>
              <a:rPr lang="en-US" dirty="0"/>
              <a:t>Click to edit master title style</a:t>
            </a:r>
          </a:p>
        </p:txBody>
      </p:sp>
    </p:spTree>
    <p:extLst>
      <p:ext uri="{BB962C8B-B14F-4D97-AF65-F5344CB8AC3E}">
        <p14:creationId xmlns:p14="http://schemas.microsoft.com/office/powerpoint/2010/main" val="316753724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_and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671065"/>
          </a:xfrm>
        </p:spPr>
        <p:txBody>
          <a:bodyPr lIns="182880" tIns="146304" rIns="182880" bIns="146304"/>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772055D2-C6C9-491F-97FF-B9A772BC8833}"/>
              </a:ext>
            </a:extLst>
          </p:cNvPr>
          <p:cNvSpPr>
            <a:spLocks noGrp="1"/>
          </p:cNvSpPr>
          <p:nvPr>
            <p:ph type="body" sz="quarter" idx="10" hasCustomPrompt="1"/>
          </p:nvPr>
        </p:nvSpPr>
        <p:spPr>
          <a:xfrm>
            <a:off x="269875" y="987468"/>
            <a:ext cx="11652250" cy="424732"/>
          </a:xfrm>
        </p:spPr>
        <p:txBody>
          <a:bodyPr/>
          <a:lstStyle>
            <a:lvl1pPr marL="0" indent="0">
              <a:buNone/>
              <a:defRPr sz="2400">
                <a:solidFill>
                  <a:schemeClr val="accent1"/>
                </a:solidFill>
              </a:defRPr>
            </a:lvl1pPr>
          </a:lstStyle>
          <a:p>
            <a:pPr lvl="0"/>
            <a:r>
              <a:rPr lang="en-US" dirty="0"/>
              <a:t>   Edit Master text styles</a:t>
            </a:r>
          </a:p>
        </p:txBody>
      </p:sp>
    </p:spTree>
    <p:extLst>
      <p:ext uri="{BB962C8B-B14F-4D97-AF65-F5344CB8AC3E}">
        <p14:creationId xmlns:p14="http://schemas.microsoft.com/office/powerpoint/2010/main" val="346686974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FIDENTIAL_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899665"/>
          </a:xfrm>
        </p:spPr>
        <p:txBody>
          <a:bodyPr vert="horz" wrap="square" lIns="182880" tIns="146304" rIns="182880" bIns="146304" rtlCol="0" anchor="t">
            <a:noAutofit/>
          </a:bodyPr>
          <a:lstStyle>
            <a:lvl1pPr>
              <a:defRPr lang="en-US"/>
            </a:lvl1pPr>
          </a:lstStyle>
          <a:p>
            <a:pPr lvl="0"/>
            <a:r>
              <a:rPr lang="en-US" dirty="0"/>
              <a:t>Click to edit master title style</a:t>
            </a:r>
          </a:p>
        </p:txBody>
      </p:sp>
      <p:sp>
        <p:nvSpPr>
          <p:cNvPr id="3" name="Text Placeholder 3">
            <a:extLst>
              <a:ext uri="{FF2B5EF4-FFF2-40B4-BE49-F238E27FC236}">
                <a16:creationId xmlns:a16="http://schemas.microsoft.com/office/drawing/2014/main" id="{236A5EB2-5876-4EAF-8AE0-2E40E818628D}"/>
              </a:ext>
            </a:extLst>
          </p:cNvPr>
          <p:cNvSpPr>
            <a:spLocks noGrp="1"/>
          </p:cNvSpPr>
          <p:nvPr>
            <p:ph idx="1" hasCustomPrompt="1"/>
          </p:nvPr>
        </p:nvSpPr>
        <p:spPr>
          <a:xfrm>
            <a:off x="269875" y="1189179"/>
            <a:ext cx="11652356" cy="1600438"/>
          </a:xfrm>
          <a:prstGeom prst="rect">
            <a:avLst/>
          </a:prstGeom>
        </p:spPr>
        <p:txBody>
          <a:bodyPr vert="horz" wrap="square" lIns="182880" tIns="146304" rIns="182880" bIns="146304" rtlCol="0">
            <a:spAutoFit/>
          </a:bodyPr>
          <a:lstStyle>
            <a:lvl1pPr>
              <a:spcAft>
                <a:spcPts val="667"/>
              </a:spcAft>
              <a:defRPr b="0" i="0">
                <a:latin typeface="Amazon Ember" panose="020B0603020204020204" pitchFamily="34" charset="0"/>
                <a:ea typeface="Amazon Ember" panose="020B0603020204020204" pitchFamily="34" charset="0"/>
                <a:cs typeface="Amazon Ember" panose="020B0603020204020204" pitchFamily="34" charset="0"/>
              </a:defRPr>
            </a:lvl1pPr>
            <a:lvl2pPr marL="336143" indent="0">
              <a:spcAft>
                <a:spcPts val="667"/>
              </a:spcAft>
              <a:buFont typeface="Arial" panose="020B0604020202020204" pitchFamily="34" charset="0"/>
              <a:buNone/>
              <a:defRPr b="0" i="0">
                <a:latin typeface="Amazon Ember" panose="020B0603020204020204" pitchFamily="34" charset="0"/>
                <a:ea typeface="Amazon Ember" panose="020B0603020204020204" pitchFamily="34" charset="0"/>
                <a:cs typeface="Amazon Ember" panose="020B0603020204020204" pitchFamily="34" charset="0"/>
              </a:defRPr>
            </a:lvl2pPr>
            <a:lvl3pPr marL="845977" indent="-285739">
              <a:spcAft>
                <a:spcPts val="667"/>
              </a:spcAft>
              <a:buFont typeface="Arial" panose="020B0604020202020204" pitchFamily="34" charset="0"/>
              <a:buChar char="•"/>
              <a:defRPr b="0" i="0">
                <a:latin typeface="Amazon Ember Thin" panose="020B0303020204020204" pitchFamily="34" charset="0"/>
                <a:ea typeface="Amazon Ember Thin" panose="020B0303020204020204" pitchFamily="34" charset="0"/>
                <a:cs typeface="Amazon Ember Thin" panose="020B0303020204020204" pitchFamily="34" charset="0"/>
              </a:defRPr>
            </a:lvl3pPr>
            <a:lvl4pPr marL="1070072" indent="-285739">
              <a:spcAft>
                <a:spcPts val="667"/>
              </a:spcAft>
              <a:buFont typeface="Arial" panose="020B0604020202020204" pitchFamily="34" charset="0"/>
              <a:buChar char="•"/>
              <a:defRPr b="0" i="0">
                <a:latin typeface="Amazon Ember" panose="020B0603020204020204" pitchFamily="34" charset="0"/>
                <a:ea typeface="Amazon Ember" panose="020B0603020204020204" pitchFamily="34" charset="0"/>
                <a:cs typeface="Amazon Ember" panose="020B0603020204020204" pitchFamily="34" charset="0"/>
              </a:defRPr>
            </a:lvl4pPr>
            <a:lvl5pPr marL="1008428" indent="0">
              <a:spcAft>
                <a:spcPts val="667"/>
              </a:spcAft>
              <a:buFont typeface="Arial" panose="020B0604020202020204" pitchFamily="34" charset="0"/>
              <a:buNone/>
              <a:defRPr b="0" i="0">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1"/>
            <a:r>
              <a:rPr lang="en-US" dirty="0"/>
              <a:t>Third  level</a:t>
            </a:r>
          </a:p>
        </p:txBody>
      </p:sp>
    </p:spTree>
    <p:extLst>
      <p:ext uri="{BB962C8B-B14F-4D97-AF65-F5344CB8AC3E}">
        <p14:creationId xmlns:p14="http://schemas.microsoft.com/office/powerpoint/2010/main" val="33120535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FIDENTIAL_Title_and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671065"/>
          </a:xfrm>
        </p:spPr>
        <p:txBody>
          <a:bodyPr lIns="182880" tIns="146304" rIns="182880" bIns="146304"/>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772055D2-C6C9-491F-97FF-B9A772BC8833}"/>
              </a:ext>
            </a:extLst>
          </p:cNvPr>
          <p:cNvSpPr>
            <a:spLocks noGrp="1"/>
          </p:cNvSpPr>
          <p:nvPr>
            <p:ph type="body" sz="quarter" idx="10"/>
          </p:nvPr>
        </p:nvSpPr>
        <p:spPr>
          <a:xfrm>
            <a:off x="269875" y="987468"/>
            <a:ext cx="11652250" cy="627864"/>
          </a:xfrm>
        </p:spPr>
        <p:txBody>
          <a:bodyPr/>
          <a:lstStyle>
            <a:lvl1pPr>
              <a:defRPr sz="2400">
                <a:solidFill>
                  <a:schemeClr val="accent1"/>
                </a:solidFill>
              </a:defRPr>
            </a:lvl1pPr>
          </a:lstStyle>
          <a:p>
            <a:pPr lvl="0"/>
            <a:r>
              <a:rPr lang="en-US"/>
              <a:t>Edit Master text styles</a:t>
            </a:r>
          </a:p>
        </p:txBody>
      </p:sp>
    </p:spTree>
    <p:extLst>
      <p:ext uri="{BB962C8B-B14F-4D97-AF65-F5344CB8AC3E}">
        <p14:creationId xmlns:p14="http://schemas.microsoft.com/office/powerpoint/2010/main" val="149852564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94219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37498676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328227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6" r:id="rId3"/>
    <p:sldLayoutId id="2147483727" r:id="rId4"/>
    <p:sldLayoutId id="2147483729" r:id="rId5"/>
    <p:sldLayoutId id="2147483730" r:id="rId6"/>
    <p:sldLayoutId id="2147483732"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hyperlink" Target="https://docs.aws.amazon.com/waf/latest/developerguide/how-aws-waf-works.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aws.amazon.com/solutions/case-studies/olx-waf-case-stud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hyperlink" Target="https://docs.aws.amazon.com/kms/latest/developerguide/concepts.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aws.amazon.com/vpc/latest/privatelink/privatelink-access-aws-services.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hyperlink" Target="https://docs.aws.amazon.com/AmazonS3/latest/userguide/using-presigned-url.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https://docs.aws.amazon.com/AmazonCloudFront/latest/DeveloperGuide/private-content-restricting-access-to-s3.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docs.aws.amazon.com/acm/latest/userguide/acm-service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cs.aws.amazon.com/IAM/latest/UserGuide/reference_policies_evaluation-logic.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aws.amazon.com/AmazonS3/latest/userguide/security-best-practice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aws.amazon.com/IAM/latest/UserGuide/introduction_attribute-based-access-control.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ocs.aws.amazon.com/IAM/latest/UserGuide/access_policie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hyperlink" Target="https://docs.aws.amazon.com/bedrock/latest/userguide/guardrails.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aws.amazon.com/solutions/case-studies/clariant-generative-ai/"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cs.aws.amazon.com/bedrock/latest/userguide/guardrails-sensitive-filters.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ocs.aws.amazon.com/bedrock/latest/userguide/guardrails-sensitive-filters.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docs.aws.amazon.com/bedrock/latest/userguide/model-access.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hyperlink" Target="https://docs.aws.amazon.com/bedrock/latest/userguide/model-invocation-logging.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docs.aws.amazon.com/xray/latest/devguide/xray-concepts.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docs.aws.amazon.com/xray/latest/devguide/xray-concepts.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docs.aws.amazon.com/xray/latest/devguide/xray-concept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docs.aws.amazon.com/AmazonS3/latest/userguide/using-presigned-url.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docs.aws.amazon.com/bedrock/latest/userguide/guardrails-sensitive-filters.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s://docs.aws.amazon.com/bedrock/latest/userguide/vpc-interface-endpoints.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docs.aws.amazon.com/xray/latest/devguide/aws-xray.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docs.aws.amazon.com/bedrock/latest/userguide/agents-userconfirmation.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hyperlink" Target="https://docs.aws.amazon.com/bedrock/latest/userguide/model-access.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hyperlink" Target="https://docs.aws.amazon.com/bedrock/latest/userguide/model-invocation-logging.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18.png"/><Relationship Id="rId4" Type="http://schemas.openxmlformats.org/officeDocument/2006/relationships/hyperlink" Target="https://skillbuilder.aws/learn/XV3B4RGA8Q/aws-serverless-demonstrated/BYD5SH8R5C"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hyperlink" Target="https://aws.amazon.com/blogs/training-and-certification/september-2026-new-offerings/"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s://docs.aws.amazon.com/aws-certification/latest/developer-associate-02/developer-associate-02.html"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E4E6C1-8483-4665-979C-A11FC16603DD}"/>
              </a:ext>
            </a:extLst>
          </p:cNvPr>
          <p:cNvSpPr txBox="1"/>
          <p:nvPr/>
        </p:nvSpPr>
        <p:spPr>
          <a:xfrm>
            <a:off x="371417" y="1118707"/>
            <a:ext cx="6649493" cy="4801314"/>
          </a:xfrm>
          <a:prstGeom prst="rect">
            <a:avLst/>
          </a:prstGeom>
          <a:noFill/>
        </p:spPr>
        <p:txBody>
          <a:bodyPr wrap="square" rtlCol="0">
            <a:spAutoFit/>
          </a:bodyPr>
          <a:lstStyle/>
          <a:p>
            <a:r>
              <a:rPr lang="en-US" b="1" dirty="0">
                <a:solidFill>
                  <a:schemeClr val="bg1"/>
                </a:solidFill>
              </a:rPr>
              <a:t>Reminders:</a:t>
            </a:r>
          </a:p>
          <a:p>
            <a:pPr marL="342900" indent="-342900">
              <a:buFont typeface="+mj-lt"/>
              <a:buAutoNum type="arabicPeriod"/>
            </a:pPr>
            <a:r>
              <a:rPr lang="en-US" dirty="0">
                <a:solidFill>
                  <a:schemeClr val="bg1"/>
                </a:solidFill>
              </a:rPr>
              <a:t>Content Developed and owned by the AWS Partner Certification Readiness (APCR) team – </a:t>
            </a:r>
            <a:r>
              <a:rPr lang="en-US" b="1" dirty="0">
                <a:solidFill>
                  <a:schemeClr val="bg1"/>
                </a:solidFill>
              </a:rPr>
              <a:t>may not</a:t>
            </a:r>
            <a:r>
              <a:rPr lang="en-US" dirty="0">
                <a:solidFill>
                  <a:schemeClr val="bg1"/>
                </a:solidFill>
              </a:rPr>
              <a:t> be used or delivered outside of an authorized APCR program delivery. </a:t>
            </a:r>
          </a:p>
          <a:p>
            <a:pPr marL="342900" indent="-342900">
              <a:buFont typeface="+mj-lt"/>
              <a:buAutoNum type="arabicPeriod"/>
            </a:pPr>
            <a:r>
              <a:rPr lang="en-US" i="1" dirty="0">
                <a:solidFill>
                  <a:schemeClr val="bg1"/>
                </a:solidFill>
              </a:rPr>
              <a:t>Do not</a:t>
            </a:r>
            <a:r>
              <a:rPr lang="en-US" dirty="0">
                <a:solidFill>
                  <a:schemeClr val="bg1"/>
                </a:solidFill>
              </a:rPr>
              <a:t> suggest with guaranteed certification outcomes, or discuss pass rates with attendees.</a:t>
            </a:r>
          </a:p>
          <a:p>
            <a:pPr marL="342900" indent="-342900">
              <a:buFont typeface="+mj-lt"/>
              <a:buAutoNum type="arabicPeriod"/>
            </a:pPr>
            <a:r>
              <a:rPr lang="en-US" dirty="0">
                <a:solidFill>
                  <a:schemeClr val="bg1"/>
                </a:solidFill>
              </a:rPr>
              <a:t>Minimal content modifications are expected. Please highlight to the APCR team significant tailoring needs, OR any noted inaccuracies in the content. Improvement suggestions always welcome. </a:t>
            </a:r>
          </a:p>
          <a:p>
            <a:pPr marL="342900" indent="-342900">
              <a:buFont typeface="+mj-lt"/>
              <a:buAutoNum type="arabicPeriod"/>
            </a:pPr>
            <a:r>
              <a:rPr lang="en-US" dirty="0">
                <a:solidFill>
                  <a:schemeClr val="bg1"/>
                </a:solidFill>
              </a:rPr>
              <a:t>Have fun – You’re representing AWS. Our core goal is to get these individuals Certified, but your enthusiasm, engagement, and professional experiences are what keep them returning to the live sessions!</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i="1" dirty="0">
              <a:solidFill>
                <a:schemeClr val="bg1"/>
              </a:solidFill>
            </a:endParaRPr>
          </a:p>
          <a:p>
            <a:pPr marL="342900" indent="-342900">
              <a:buFont typeface="+mj-lt"/>
              <a:buAutoNum type="arabicPeriod"/>
            </a:pPr>
            <a:endParaRPr lang="en-US"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74904" y="1115568"/>
            <a:ext cx="6647688" cy="914400"/>
          </a:xfrm>
          <a:prstGeom prst="rect">
            <a:avLst/>
          </a:prstGeom>
          <a:noFill/>
        </p:spPr>
        <p:txBody>
          <a:bodyPr wrap="square">
            <a:spAutoFit/>
          </a:bodyPr>
          <a:lstStyle/>
          <a:p>
            <a:pPr algn="l"/>
            <a:r>
              <a:rPr sz="1800" b="1">
                <a:solidFill>
                  <a:schemeClr val="bg1"/>
                </a:solidFill>
              </a:rPr>
              <a:t>INSTRUCTOR GUIDANCE</a:t>
            </a:r>
          </a:p>
          <a:p>
            <a:pPr algn="l"/>
            <a:r>
              <a:rPr sz="1800" b="1">
                <a:solidFill>
                  <a:schemeClr val="bg1"/>
                </a:solidFill>
              </a:rPr>
              <a:t>STOP -- read before presenting this deck:</a:t>
            </a:r>
          </a:p>
          <a:p>
            <a:pPr algn="l"/>
            <a:r>
              <a:rPr sz="1800">
                <a:solidFill>
                  <a:schemeClr val="bg1"/>
                </a:solidFill>
              </a:rPr>
              <a:t>This session teaches the DVA-C03 exam. The appendix at the end is DVA-C02</a:t>
            </a:r>
          </a:p>
          <a:p>
            <a:pPr algn="l"/>
            <a:r>
              <a:rPr sz="1800">
                <a:solidFill>
                  <a:schemeClr val="bg1"/>
                </a:solidFill>
              </a:rPr>
              <a:t>reference for anyone who chooses to sit the exam that is live today.</a:t>
            </a:r>
          </a:p>
          <a:p>
            <a:pPr algn="l"/>
            <a:r>
              <a:rPr sz="1800">
                <a:solidFill>
                  <a:schemeClr val="bg1"/>
                </a:solidFill>
              </a:rPr>
              <a:t>The appendix is the one place domain and task numbers appear on screen.</a:t>
            </a:r>
          </a:p>
          <a:p>
            <a:pPr algn="l"/>
            <a:r>
              <a:rPr sz="1800">
                <a:solidFill>
                  <a:schemeClr val="bg1"/>
                </a:solidFill>
              </a:rPr>
              <a:t>One task number means two different things on the two exams -- see the notes.</a:t>
            </a:r>
          </a:p>
          <a:p>
            <a:pPr algn="l"/>
            <a:r>
              <a:rPr sz="1800">
                <a:solidFill>
                  <a:schemeClr val="bg1"/>
                </a:solidFill>
              </a:rPr>
              <a:t>Every slide carries two partner talk tracks: advisory for a public room,</a:t>
            </a:r>
          </a:p>
          <a:p>
            <a:pPr algn="l"/>
            <a:r>
              <a:rPr sz="1800">
                <a:solidFill>
                  <a:schemeClr val="bg1"/>
                </a:solidFill>
              </a:rPr>
              <a:t>operator for a private room you know is all practitioners. Pick one.</a:t>
            </a:r>
          </a:p>
          <a:p>
            <a:pPr algn="l"/>
            <a:r>
              <a:rPr sz="1800">
                <a:solidFill>
                  <a:schemeClr val="bg1"/>
                </a:solidFill>
              </a:rPr>
              <a:t>Read the speaker notes on this slide before you present. This slide is hidden</a:t>
            </a:r>
          </a:p>
          <a:p>
            <a:pPr algn="l"/>
            <a:r>
              <a:rPr sz="1800">
                <a:solidFill>
                  <a:schemeClr val="bg1"/>
                </a:solidFill>
              </a:rPr>
              <a:t>and must stay hidden -- remove it before exporting a PDF.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Content Review — Session 5</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298448"/>
            <a:ext cx="10972800" cy="548640"/>
          </a:xfrm>
          <a:prstGeom prst="rect">
            <a:avLst/>
          </a:prstGeom>
          <a:noFill/>
        </p:spPr>
        <p:txBody>
          <a:bodyPr wrap="square" anchor="t">
            <a:noAutofit/>
          </a:bodyPr>
          <a:lstStyle/>
          <a:p>
            <a:pPr algn="l"/>
            <a:r>
              <a:rPr sz="2800" b="1" i="0">
                <a:solidFill>
                  <a:srgbClr val="8F0072"/>
                </a:solidFill>
                <a:latin typeface="Amazon Ember Display"/>
              </a:rPr>
              <a:t>AWS Certified Developer – Associate</a:t>
            </a:r>
          </a:p>
        </p:txBody>
      </p:sp>
      <p:sp>
        <p:nvSpPr>
          <p:cNvPr id="5" name="TextBox 4"/>
          <p:cNvSpPr txBox="1"/>
          <p:nvPr/>
        </p:nvSpPr>
        <p:spPr>
          <a:xfrm>
            <a:off x="612648" y="1993392"/>
            <a:ext cx="10972800" cy="457200"/>
          </a:xfrm>
          <a:prstGeom prst="rect">
            <a:avLst/>
          </a:prstGeom>
          <a:noFill/>
        </p:spPr>
        <p:txBody>
          <a:bodyPr wrap="square" anchor="t">
            <a:noAutofit/>
          </a:bodyPr>
          <a:lstStyle/>
          <a:p>
            <a:pPr algn="l"/>
            <a:r>
              <a:rPr sz="2200" b="0" i="0">
                <a:solidFill>
                  <a:srgbClr val="5A6B7B"/>
                </a:solidFill>
                <a:latin typeface="Amazon Ember Display"/>
              </a:rPr>
              <a:t>AWS Partner Certification Readiness</a:t>
            </a:r>
          </a:p>
        </p:txBody>
      </p:sp>
      <p:pic>
        <p:nvPicPr>
          <p:cNvPr id="6" name="Picture 5" descr="APCR-Octopus-crop.png"/>
          <p:cNvPicPr>
            <a:picLocks noChangeAspect="1"/>
          </p:cNvPicPr>
          <p:nvPr/>
        </p:nvPicPr>
        <p:blipFill>
          <a:blip r:embed="rId3"/>
          <a:stretch>
            <a:fillRect/>
          </a:stretch>
        </p:blipFill>
        <p:spPr>
          <a:xfrm>
            <a:off x="612648" y="2834640"/>
            <a:ext cx="4480560" cy="2520315"/>
          </a:xfrm>
          <a:prstGeom prst="rect">
            <a:avLst/>
          </a:prstGeom>
        </p:spPr>
      </p:pic>
      <p:sp>
        <p:nvSpPr>
          <p:cNvPr id="7" name="Isosceles Triangle 6"/>
          <p:cNvSpPr/>
          <p:nvPr/>
        </p:nvSpPr>
        <p:spPr>
          <a:xfrm rot="16200000">
            <a:off x="5202936" y="3893515"/>
            <a:ext cx="274320" cy="402336"/>
          </a:xfrm>
          <a:prstGeom prst="triangl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04104" y="3555187"/>
            <a:ext cx="4663440" cy="1078992"/>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0136" y="3710635"/>
            <a:ext cx="4151375" cy="393788"/>
          </a:xfrm>
          <a:prstGeom prst="rect">
            <a:avLst/>
          </a:prstGeom>
          <a:noFill/>
        </p:spPr>
        <p:txBody>
          <a:bodyPr wrap="square" anchor="t">
            <a:noAutofit/>
          </a:bodyPr>
          <a:lstStyle/>
          <a:p>
            <a:pPr algn="ctr"/>
            <a:r>
              <a:rPr sz="1900" b="1" i="0">
                <a:solidFill>
                  <a:srgbClr val="232B37"/>
                </a:solidFill>
                <a:latin typeface="Amazon Ember Display"/>
              </a:rPr>
              <a:t>Last session -- and the one</a:t>
            </a:r>
          </a:p>
        </p:txBody>
      </p:sp>
      <p:sp>
        <p:nvSpPr>
          <p:cNvPr id="10" name="TextBox 9"/>
          <p:cNvSpPr txBox="1"/>
          <p:nvPr/>
        </p:nvSpPr>
        <p:spPr>
          <a:xfrm>
            <a:off x="5660136" y="4122115"/>
            <a:ext cx="4151375" cy="393788"/>
          </a:xfrm>
          <a:prstGeom prst="rect">
            <a:avLst/>
          </a:prstGeom>
          <a:noFill/>
        </p:spPr>
        <p:txBody>
          <a:bodyPr wrap="square" anchor="t">
            <a:noAutofit/>
          </a:bodyPr>
          <a:lstStyle/>
          <a:p>
            <a:pPr algn="ctr"/>
            <a:r>
              <a:rPr sz="1900" b="1" i="0">
                <a:solidFill>
                  <a:srgbClr val="232B37"/>
                </a:solidFill>
                <a:latin typeface="Amazon Ember Display"/>
              </a:rPr>
              <a:t>that keeps the rest safe.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Event check-in</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WELCOME 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Week 5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371600"/>
            <a:ext cx="6153986" cy="4295571"/>
          </a:xfrm>
          <a:prstGeom prst="roundRect">
            <a:avLst>
              <a:gd name="adj" fmla="val 4257"/>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1517904"/>
            <a:ext cx="5788226" cy="377875"/>
          </a:xfrm>
          <a:prstGeom prst="rect">
            <a:avLst/>
          </a:prstGeom>
          <a:noFill/>
        </p:spPr>
        <p:txBody>
          <a:bodyPr wrap="square" anchor="t">
            <a:noAutofit/>
          </a:bodyPr>
          <a:lstStyle/>
          <a:p>
            <a:pPr algn="l"/>
            <a:r>
              <a:rPr sz="1800" b="1" i="0">
                <a:solidFill>
                  <a:srgbClr val="8F0072"/>
                </a:solidFill>
                <a:latin typeface="Amazon Ember Display"/>
              </a:rPr>
              <a:t>Learning Plan courses</a:t>
            </a:r>
          </a:p>
        </p:txBody>
      </p:sp>
      <p:sp>
        <p:nvSpPr>
          <p:cNvPr id="6" name="Rectangle 5"/>
          <p:cNvSpPr/>
          <p:nvPr/>
        </p:nvSpPr>
        <p:spPr>
          <a:xfrm>
            <a:off x="795528" y="1859203"/>
            <a:ext cx="5788226"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95528" y="1950643"/>
            <a:ext cx="5788226"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41832" y="2000427"/>
            <a:ext cx="5495618" cy="346049"/>
          </a:xfrm>
          <a:prstGeom prst="rect">
            <a:avLst/>
          </a:prstGeom>
          <a:noFill/>
        </p:spPr>
        <p:txBody>
          <a:bodyPr wrap="square" anchor="t">
            <a:noAutofit/>
          </a:bodyPr>
          <a:lstStyle/>
          <a:p>
            <a:pPr algn="l"/>
            <a:r>
              <a:rPr sz="1600" b="0" i="0">
                <a:solidFill>
                  <a:srgbClr val="232B37"/>
                </a:solidFill>
                <a:latin typeface="Amazon Ember Display"/>
              </a:rPr>
              <a:t>AWS Lambda - Troubleshooting</a:t>
            </a:r>
          </a:p>
        </p:txBody>
      </p:sp>
      <p:sp>
        <p:nvSpPr>
          <p:cNvPr id="9" name="Rounded Rectangle 8"/>
          <p:cNvSpPr/>
          <p:nvPr/>
        </p:nvSpPr>
        <p:spPr>
          <a:xfrm>
            <a:off x="795528" y="2389555"/>
            <a:ext cx="5788226"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41832" y="2439339"/>
            <a:ext cx="5495618" cy="346049"/>
          </a:xfrm>
          <a:prstGeom prst="rect">
            <a:avLst/>
          </a:prstGeom>
          <a:noFill/>
        </p:spPr>
        <p:txBody>
          <a:bodyPr wrap="square" anchor="t">
            <a:noAutofit/>
          </a:bodyPr>
          <a:lstStyle/>
          <a:p>
            <a:pPr algn="l"/>
            <a:r>
              <a:rPr sz="1600" b="0" i="0">
                <a:solidFill>
                  <a:srgbClr val="232B37"/>
                </a:solidFill>
                <a:latin typeface="Amazon Ember Display"/>
              </a:rPr>
              <a:t>AWS CloudFront- Troubleshooting</a:t>
            </a:r>
          </a:p>
        </p:txBody>
      </p:sp>
      <p:sp>
        <p:nvSpPr>
          <p:cNvPr id="11" name="Rounded Rectangle 10"/>
          <p:cNvSpPr/>
          <p:nvPr/>
        </p:nvSpPr>
        <p:spPr>
          <a:xfrm>
            <a:off x="795528" y="2828467"/>
            <a:ext cx="5788226"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41832" y="2878251"/>
            <a:ext cx="5495618" cy="346049"/>
          </a:xfrm>
          <a:prstGeom prst="rect">
            <a:avLst/>
          </a:prstGeom>
          <a:noFill/>
        </p:spPr>
        <p:txBody>
          <a:bodyPr wrap="square" anchor="t">
            <a:noAutofit/>
          </a:bodyPr>
          <a:lstStyle/>
          <a:p>
            <a:pPr algn="l"/>
            <a:r>
              <a:rPr sz="1600" b="0" i="0">
                <a:solidFill>
                  <a:srgbClr val="232B37"/>
                </a:solidFill>
                <a:latin typeface="Amazon Ember Display"/>
              </a:rPr>
              <a:t>AWS CloudFormation Stacks- Troubleshooting</a:t>
            </a:r>
          </a:p>
        </p:txBody>
      </p:sp>
      <p:sp>
        <p:nvSpPr>
          <p:cNvPr id="13" name="Rounded Rectangle 12"/>
          <p:cNvSpPr/>
          <p:nvPr/>
        </p:nvSpPr>
        <p:spPr>
          <a:xfrm>
            <a:off x="795528" y="3267379"/>
            <a:ext cx="5788226"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41832" y="3317163"/>
            <a:ext cx="5495618" cy="346049"/>
          </a:xfrm>
          <a:prstGeom prst="rect">
            <a:avLst/>
          </a:prstGeom>
          <a:noFill/>
        </p:spPr>
        <p:txBody>
          <a:bodyPr wrap="square" anchor="t">
            <a:noAutofit/>
          </a:bodyPr>
          <a:lstStyle/>
          <a:p>
            <a:pPr algn="l"/>
            <a:r>
              <a:rPr sz="1600" b="0" i="0">
                <a:solidFill>
                  <a:srgbClr val="232B37"/>
                </a:solidFill>
                <a:latin typeface="Amazon Ember Display"/>
              </a:rPr>
              <a:t>Amazon DynamoDB - Troubleshooting</a:t>
            </a:r>
          </a:p>
        </p:txBody>
      </p:sp>
      <p:sp>
        <p:nvSpPr>
          <p:cNvPr id="15" name="Rounded Rectangle 14"/>
          <p:cNvSpPr/>
          <p:nvPr/>
        </p:nvSpPr>
        <p:spPr>
          <a:xfrm>
            <a:off x="795528" y="3706291"/>
            <a:ext cx="5788226" cy="384048"/>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41832" y="3756075"/>
            <a:ext cx="5495618" cy="346049"/>
          </a:xfrm>
          <a:prstGeom prst="rect">
            <a:avLst/>
          </a:prstGeom>
          <a:noFill/>
        </p:spPr>
        <p:txBody>
          <a:bodyPr wrap="square" anchor="t">
            <a:noAutofit/>
          </a:bodyPr>
          <a:lstStyle/>
          <a:p>
            <a:pPr algn="l"/>
            <a:r>
              <a:rPr sz="1600" b="0" i="0">
                <a:solidFill>
                  <a:srgbClr val="232B37"/>
                </a:solidFill>
                <a:latin typeface="Amazon Ember Display"/>
              </a:rPr>
              <a:t>Security and Observability for Serverless Applications</a:t>
            </a:r>
          </a:p>
        </p:txBody>
      </p:sp>
      <p:sp>
        <p:nvSpPr>
          <p:cNvPr id="17" name="Rounded Rectangle 16"/>
          <p:cNvSpPr/>
          <p:nvPr/>
        </p:nvSpPr>
        <p:spPr>
          <a:xfrm>
            <a:off x="795528" y="4145203"/>
            <a:ext cx="5788226"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41832" y="4209211"/>
            <a:ext cx="5495618" cy="600659"/>
          </a:xfrm>
          <a:prstGeom prst="rect">
            <a:avLst/>
          </a:prstGeom>
          <a:noFill/>
        </p:spPr>
        <p:txBody>
          <a:bodyPr wrap="square" anchor="t">
            <a:noAutofit/>
          </a:bodyPr>
          <a:lstStyle/>
          <a:p>
            <a:pPr algn="l"/>
            <a:r>
              <a:rPr sz="1600" b="0" i="0">
                <a:solidFill>
                  <a:srgbClr val="232B37"/>
                </a:solidFill>
                <a:latin typeface="Amazon Ember Display"/>
              </a:rPr>
              <a:t>Securing and Protecting your Data in Amazon Simple</a:t>
            </a:r>
          </a:p>
          <a:p>
            <a:pPr algn="l"/>
            <a:r>
              <a:rPr sz="1600" b="0" i="0">
                <a:solidFill>
                  <a:srgbClr val="232B37"/>
                </a:solidFill>
                <a:latin typeface="Amazon Ember Display"/>
              </a:rPr>
              <a:t>Storage Service (S3)</a:t>
            </a:r>
          </a:p>
        </p:txBody>
      </p:sp>
      <p:sp>
        <p:nvSpPr>
          <p:cNvPr id="19" name="Rounded Rectangle 18"/>
          <p:cNvSpPr/>
          <p:nvPr/>
        </p:nvSpPr>
        <p:spPr>
          <a:xfrm>
            <a:off x="795528" y="4860467"/>
            <a:ext cx="5788226"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41832" y="4924475"/>
            <a:ext cx="5495618" cy="600659"/>
          </a:xfrm>
          <a:prstGeom prst="rect">
            <a:avLst/>
          </a:prstGeom>
          <a:noFill/>
        </p:spPr>
        <p:txBody>
          <a:bodyPr wrap="square" anchor="t">
            <a:noAutofit/>
          </a:bodyPr>
          <a:lstStyle/>
          <a:p>
            <a:pPr algn="l"/>
            <a:r>
              <a:rPr sz="1600" b="0" i="0">
                <a:solidFill>
                  <a:srgbClr val="232B37"/>
                </a:solidFill>
                <a:latin typeface="Amazon Ember Display"/>
              </a:rPr>
              <a:t>Exam Prep Official Practice Question Set: AWS Certified</a:t>
            </a:r>
          </a:p>
          <a:p>
            <a:pPr algn="l"/>
            <a:r>
              <a:rPr sz="1600" b="0" i="0">
                <a:solidFill>
                  <a:srgbClr val="232B37"/>
                </a:solidFill>
                <a:latin typeface="Amazon Ember Display"/>
              </a:rPr>
              <a:t>Developer - Associate (DVA-C02 - English)</a:t>
            </a:r>
          </a:p>
        </p:txBody>
      </p:sp>
      <p:sp>
        <p:nvSpPr>
          <p:cNvPr id="21" name="Rounded Rectangle 20"/>
          <p:cNvSpPr/>
          <p:nvPr/>
        </p:nvSpPr>
        <p:spPr>
          <a:xfrm>
            <a:off x="6986090" y="1371600"/>
            <a:ext cx="4599357" cy="4295571"/>
          </a:xfrm>
          <a:prstGeom prst="roundRect">
            <a:avLst>
              <a:gd name="adj" fmla="val 4257"/>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168970" y="1517904"/>
            <a:ext cx="4233597" cy="377875"/>
          </a:xfrm>
          <a:prstGeom prst="rect">
            <a:avLst/>
          </a:prstGeom>
          <a:noFill/>
        </p:spPr>
        <p:txBody>
          <a:bodyPr wrap="square" anchor="t">
            <a:noAutofit/>
          </a:bodyPr>
          <a:lstStyle/>
          <a:p>
            <a:pPr algn="l"/>
            <a:r>
              <a:rPr sz="1800" b="1" i="0">
                <a:solidFill>
                  <a:srgbClr val="8F0072"/>
                </a:solidFill>
                <a:latin typeface="Amazon Ember Display"/>
              </a:rPr>
              <a:t>Optional Exam Prep Plan</a:t>
            </a:r>
          </a:p>
        </p:txBody>
      </p:sp>
      <p:sp>
        <p:nvSpPr>
          <p:cNvPr id="23" name="Rectangle 22"/>
          <p:cNvSpPr/>
          <p:nvPr/>
        </p:nvSpPr>
        <p:spPr>
          <a:xfrm>
            <a:off x="7168970" y="1859203"/>
            <a:ext cx="4233597" cy="32004"/>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168970" y="1950643"/>
            <a:ext cx="4233597"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315274" y="2014651"/>
            <a:ext cx="3940989" cy="600659"/>
          </a:xfrm>
          <a:prstGeom prst="rect">
            <a:avLst/>
          </a:prstGeom>
          <a:noFill/>
        </p:spPr>
        <p:txBody>
          <a:bodyPr wrap="square" anchor="t">
            <a:noAutofit/>
          </a:bodyPr>
          <a:lstStyle/>
          <a:p>
            <a:pPr algn="l"/>
            <a:r>
              <a:rPr sz="1600" b="0" i="0">
                <a:solidFill>
                  <a:srgbClr val="232B37"/>
                </a:solidFill>
                <a:latin typeface="Amazon Ember Display"/>
              </a:rPr>
              <a:t>Complete: AWS Cloud Quest: Serverless</a:t>
            </a:r>
          </a:p>
          <a:p>
            <a:pPr algn="l"/>
            <a:r>
              <a:rPr sz="1600" b="0" i="0">
                <a:solidFill>
                  <a:srgbClr val="232B37"/>
                </a:solidFill>
                <a:latin typeface="Amazon Ember Display"/>
              </a:rPr>
              <a:t>Developer*</a:t>
            </a:r>
          </a:p>
        </p:txBody>
      </p:sp>
      <p:sp>
        <p:nvSpPr>
          <p:cNvPr id="26" name="Rounded Rectangle 25"/>
          <p:cNvSpPr/>
          <p:nvPr/>
        </p:nvSpPr>
        <p:spPr>
          <a:xfrm>
            <a:off x="7168970" y="2665907"/>
            <a:ext cx="4233597" cy="66040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315274" y="2729915"/>
            <a:ext cx="3940989" cy="600659"/>
          </a:xfrm>
          <a:prstGeom prst="rect">
            <a:avLst/>
          </a:prstGeom>
          <a:noFill/>
        </p:spPr>
        <p:txBody>
          <a:bodyPr wrap="square" anchor="t">
            <a:noAutofit/>
          </a:bodyPr>
          <a:lstStyle/>
          <a:p>
            <a:pPr algn="l"/>
            <a:r>
              <a:rPr sz="1600" b="0" i="0">
                <a:solidFill>
                  <a:srgbClr val="232B37"/>
                </a:solidFill>
                <a:latin typeface="Amazon Ember Display"/>
              </a:rPr>
              <a:t>Complete: Official Practice Exam: AWS</a:t>
            </a:r>
          </a:p>
          <a:p>
            <a:pPr algn="l"/>
            <a:r>
              <a:rPr sz="1600" b="0" i="0">
                <a:solidFill>
                  <a:srgbClr val="232B37"/>
                </a:solidFill>
                <a:latin typeface="Amazon Ember Display"/>
              </a:rPr>
              <a:t>Certified Developer - Associate*</a:t>
            </a:r>
          </a:p>
        </p:txBody>
      </p:sp>
      <p:sp>
        <p:nvSpPr>
          <p:cNvPr id="28" name="TextBox 27"/>
          <p:cNvSpPr txBox="1"/>
          <p:nvPr/>
        </p:nvSpPr>
        <p:spPr>
          <a:xfrm>
            <a:off x="612648" y="5758611"/>
            <a:ext cx="10972800" cy="346049"/>
          </a:xfrm>
          <a:prstGeom prst="rect">
            <a:avLst/>
          </a:prstGeom>
          <a:noFill/>
        </p:spPr>
        <p:txBody>
          <a:bodyPr wrap="square" anchor="ctr">
            <a:noAutofit/>
          </a:bodyPr>
          <a:lstStyle/>
          <a:p>
            <a:pPr algn="l"/>
            <a:r>
              <a:rPr sz="1600" b="0" i="0">
                <a:solidFill>
                  <a:srgbClr val="5A6B7B"/>
                </a:solidFill>
                <a:latin typeface="Amazon Ember Display"/>
              </a:rPr>
              <a:t>* Requires an AWS Skill Builder subscription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Today's focus: Security and observability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609344"/>
            <a:ext cx="4828031" cy="441528"/>
          </a:xfrm>
          <a:prstGeom prst="rect">
            <a:avLst/>
          </a:prstGeom>
          <a:noFill/>
        </p:spPr>
        <p:txBody>
          <a:bodyPr wrap="square" anchor="t">
            <a:noAutofit/>
          </a:bodyPr>
          <a:lstStyle/>
          <a:p>
            <a:pPr algn="ctr"/>
            <a:r>
              <a:rPr sz="2200" b="1" i="0">
                <a:solidFill>
                  <a:srgbClr val="8F0072"/>
                </a:solidFill>
                <a:latin typeface="Amazon Ember Display"/>
              </a:rPr>
              <a:t>Identity and access</a:t>
            </a:r>
          </a:p>
        </p:txBody>
      </p:sp>
      <p:sp>
        <p:nvSpPr>
          <p:cNvPr id="6" name="Rectangle 5"/>
          <p:cNvSpPr/>
          <p:nvPr/>
        </p:nvSpPr>
        <p:spPr>
          <a:xfrm>
            <a:off x="85039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33272" y="2162048"/>
            <a:ext cx="4462271" cy="346049"/>
          </a:xfrm>
          <a:prstGeom prst="rect">
            <a:avLst/>
          </a:prstGeom>
          <a:noFill/>
        </p:spPr>
        <p:txBody>
          <a:bodyPr wrap="square" anchor="t">
            <a:noAutofit/>
          </a:bodyPr>
          <a:lstStyle/>
          <a:p>
            <a:pPr algn="ctr"/>
            <a:r>
              <a:rPr sz="1600" b="1" i="0">
                <a:solidFill>
                  <a:srgbClr val="232B37"/>
                </a:solidFill>
                <a:latin typeface="Amazon Ember Display"/>
              </a:rPr>
              <a:t>AWS IAM</a:t>
            </a:r>
          </a:p>
        </p:txBody>
      </p:sp>
      <p:sp>
        <p:nvSpPr>
          <p:cNvPr id="9" name="Rounded Rectangle 8"/>
          <p:cNvSpPr/>
          <p:nvPr/>
        </p:nvSpPr>
        <p:spPr>
          <a:xfrm>
            <a:off x="850392" y="252374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33272" y="2564384"/>
            <a:ext cx="4462271" cy="346049"/>
          </a:xfrm>
          <a:prstGeom prst="rect">
            <a:avLst/>
          </a:prstGeom>
          <a:noFill/>
        </p:spPr>
        <p:txBody>
          <a:bodyPr wrap="square" anchor="t">
            <a:noAutofit/>
          </a:bodyPr>
          <a:lstStyle/>
          <a:p>
            <a:pPr algn="ctr"/>
            <a:r>
              <a:rPr sz="1600" b="1" i="0">
                <a:solidFill>
                  <a:srgbClr val="232B37"/>
                </a:solidFill>
                <a:latin typeface="Amazon Ember Display"/>
              </a:rPr>
              <a:t>Policy evaluation</a:t>
            </a:r>
          </a:p>
        </p:txBody>
      </p:sp>
      <p:sp>
        <p:nvSpPr>
          <p:cNvPr id="11" name="Rounded Rectangle 10"/>
          <p:cNvSpPr/>
          <p:nvPr/>
        </p:nvSpPr>
        <p:spPr>
          <a:xfrm>
            <a:off x="850392" y="292608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33272" y="2966720"/>
            <a:ext cx="4462271" cy="346049"/>
          </a:xfrm>
          <a:prstGeom prst="rect">
            <a:avLst/>
          </a:prstGeom>
          <a:noFill/>
        </p:spPr>
        <p:txBody>
          <a:bodyPr wrap="square" anchor="t">
            <a:noAutofit/>
          </a:bodyPr>
          <a:lstStyle/>
          <a:p>
            <a:pPr algn="ctr"/>
            <a:r>
              <a:rPr sz="1600" b="1" i="0">
                <a:solidFill>
                  <a:srgbClr val="232B37"/>
                </a:solidFill>
                <a:latin typeface="Amazon Ember Display"/>
              </a:rPr>
              <a:t>IAM roles</a:t>
            </a:r>
          </a:p>
        </p:txBody>
      </p:sp>
      <p:sp>
        <p:nvSpPr>
          <p:cNvPr id="13" name="Rounded Rectangle 12"/>
          <p:cNvSpPr/>
          <p:nvPr/>
        </p:nvSpPr>
        <p:spPr>
          <a:xfrm>
            <a:off x="6281928" y="1481328"/>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19672" y="1609344"/>
            <a:ext cx="4828031" cy="441528"/>
          </a:xfrm>
          <a:prstGeom prst="rect">
            <a:avLst/>
          </a:prstGeom>
          <a:noFill/>
        </p:spPr>
        <p:txBody>
          <a:bodyPr wrap="square" anchor="t">
            <a:noAutofit/>
          </a:bodyPr>
          <a:lstStyle/>
          <a:p>
            <a:pPr algn="ctr"/>
            <a:r>
              <a:rPr sz="2200" b="1" i="0">
                <a:solidFill>
                  <a:srgbClr val="8F0072"/>
                </a:solidFill>
                <a:latin typeface="Amazon Ember Display"/>
              </a:rPr>
              <a:t>Data protection</a:t>
            </a:r>
          </a:p>
        </p:txBody>
      </p:sp>
      <p:sp>
        <p:nvSpPr>
          <p:cNvPr id="15" name="Rectangle 14"/>
          <p:cNvSpPr/>
          <p:nvPr/>
        </p:nvSpPr>
        <p:spPr>
          <a:xfrm>
            <a:off x="6519672" y="202996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519672" y="212140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02552" y="2162048"/>
            <a:ext cx="4462271" cy="346049"/>
          </a:xfrm>
          <a:prstGeom prst="rect">
            <a:avLst/>
          </a:prstGeom>
          <a:noFill/>
        </p:spPr>
        <p:txBody>
          <a:bodyPr wrap="square" anchor="t">
            <a:noAutofit/>
          </a:bodyPr>
          <a:lstStyle/>
          <a:p>
            <a:pPr algn="ctr"/>
            <a:r>
              <a:rPr sz="1600" b="1" i="0">
                <a:solidFill>
                  <a:srgbClr val="232B37"/>
                </a:solidFill>
                <a:latin typeface="Amazon Ember Display"/>
              </a:rPr>
              <a:t>AWS KMS</a:t>
            </a:r>
          </a:p>
        </p:txBody>
      </p:sp>
      <p:sp>
        <p:nvSpPr>
          <p:cNvPr id="18" name="Rounded Rectangle 17"/>
          <p:cNvSpPr/>
          <p:nvPr/>
        </p:nvSpPr>
        <p:spPr>
          <a:xfrm>
            <a:off x="6519672" y="252374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02552" y="2564384"/>
            <a:ext cx="4462271" cy="346049"/>
          </a:xfrm>
          <a:prstGeom prst="rect">
            <a:avLst/>
          </a:prstGeom>
          <a:noFill/>
        </p:spPr>
        <p:txBody>
          <a:bodyPr wrap="square" anchor="t">
            <a:noAutofit/>
          </a:bodyPr>
          <a:lstStyle/>
          <a:p>
            <a:pPr algn="ctr"/>
            <a:r>
              <a:rPr sz="1600" b="1" i="0">
                <a:solidFill>
                  <a:srgbClr val="232B37"/>
                </a:solidFill>
                <a:latin typeface="Amazon Ember Display"/>
              </a:rPr>
              <a:t>AWS Certificate Manager</a:t>
            </a:r>
          </a:p>
        </p:txBody>
      </p:sp>
      <p:sp>
        <p:nvSpPr>
          <p:cNvPr id="20" name="Rounded Rectangle 19"/>
          <p:cNvSpPr/>
          <p:nvPr/>
        </p:nvSpPr>
        <p:spPr>
          <a:xfrm>
            <a:off x="6519672" y="292608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02552" y="2966720"/>
            <a:ext cx="4462271" cy="346049"/>
          </a:xfrm>
          <a:prstGeom prst="rect">
            <a:avLst/>
          </a:prstGeom>
          <a:noFill/>
        </p:spPr>
        <p:txBody>
          <a:bodyPr wrap="square" anchor="t">
            <a:noAutofit/>
          </a:bodyPr>
          <a:lstStyle/>
          <a:p>
            <a:pPr algn="ctr"/>
            <a:r>
              <a:rPr sz="1600" b="1" i="0">
                <a:solidFill>
                  <a:srgbClr val="232B37"/>
                </a:solidFill>
                <a:latin typeface="Amazon Ember Display"/>
              </a:rPr>
              <a:t>AWS Secrets Manager</a:t>
            </a:r>
          </a:p>
        </p:txBody>
      </p:sp>
      <p:sp>
        <p:nvSpPr>
          <p:cNvPr id="22" name="Rounded Rectangle 21"/>
          <p:cNvSpPr/>
          <p:nvPr/>
        </p:nvSpPr>
        <p:spPr>
          <a:xfrm>
            <a:off x="61264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50392" y="3803903"/>
            <a:ext cx="4828031" cy="441528"/>
          </a:xfrm>
          <a:prstGeom prst="rect">
            <a:avLst/>
          </a:prstGeom>
          <a:noFill/>
        </p:spPr>
        <p:txBody>
          <a:bodyPr wrap="square" anchor="t">
            <a:noAutofit/>
          </a:bodyPr>
          <a:lstStyle/>
          <a:p>
            <a:pPr algn="ctr"/>
            <a:r>
              <a:rPr sz="2200" b="1" i="0">
                <a:solidFill>
                  <a:srgbClr val="8F0072"/>
                </a:solidFill>
                <a:latin typeface="Amazon Ember Display"/>
              </a:rPr>
              <a:t>Network and content</a:t>
            </a:r>
          </a:p>
        </p:txBody>
      </p:sp>
      <p:sp>
        <p:nvSpPr>
          <p:cNvPr id="24" name="Rectangle 23"/>
          <p:cNvSpPr/>
          <p:nvPr/>
        </p:nvSpPr>
        <p:spPr>
          <a:xfrm>
            <a:off x="85039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5039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33272" y="4356608"/>
            <a:ext cx="4462271" cy="346049"/>
          </a:xfrm>
          <a:prstGeom prst="rect">
            <a:avLst/>
          </a:prstGeom>
          <a:noFill/>
        </p:spPr>
        <p:txBody>
          <a:bodyPr wrap="square" anchor="t">
            <a:noAutofit/>
          </a:bodyPr>
          <a:lstStyle/>
          <a:p>
            <a:pPr algn="ctr"/>
            <a:r>
              <a:rPr sz="1600" b="1" i="0">
                <a:solidFill>
                  <a:srgbClr val="232B37"/>
                </a:solidFill>
                <a:latin typeface="Amazon Ember Display"/>
              </a:rPr>
              <a:t>AWS WAF</a:t>
            </a:r>
          </a:p>
        </p:txBody>
      </p:sp>
      <p:sp>
        <p:nvSpPr>
          <p:cNvPr id="27" name="Rounded Rectangle 26"/>
          <p:cNvSpPr/>
          <p:nvPr/>
        </p:nvSpPr>
        <p:spPr>
          <a:xfrm>
            <a:off x="850392" y="471830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33272" y="4758944"/>
            <a:ext cx="4462271" cy="346049"/>
          </a:xfrm>
          <a:prstGeom prst="rect">
            <a:avLst/>
          </a:prstGeom>
          <a:noFill/>
        </p:spPr>
        <p:txBody>
          <a:bodyPr wrap="square" anchor="t">
            <a:noAutofit/>
          </a:bodyPr>
          <a:lstStyle/>
          <a:p>
            <a:pPr algn="ctr"/>
            <a:r>
              <a:rPr sz="1600" b="1" i="0">
                <a:solidFill>
                  <a:srgbClr val="232B37"/>
                </a:solidFill>
                <a:latin typeface="Amazon Ember Display"/>
              </a:rPr>
              <a:t>AWS PrivateLink</a:t>
            </a:r>
          </a:p>
        </p:txBody>
      </p:sp>
      <p:sp>
        <p:nvSpPr>
          <p:cNvPr id="29" name="Rounded Rectangle 28"/>
          <p:cNvSpPr/>
          <p:nvPr/>
        </p:nvSpPr>
        <p:spPr>
          <a:xfrm>
            <a:off x="850392" y="512064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33272" y="5161280"/>
            <a:ext cx="4462271" cy="346049"/>
          </a:xfrm>
          <a:prstGeom prst="rect">
            <a:avLst/>
          </a:prstGeom>
          <a:noFill/>
        </p:spPr>
        <p:txBody>
          <a:bodyPr wrap="square" anchor="t">
            <a:noAutofit/>
          </a:bodyPr>
          <a:lstStyle/>
          <a:p>
            <a:pPr algn="ctr"/>
            <a:r>
              <a:rPr sz="1600" b="1" i="0">
                <a:solidFill>
                  <a:srgbClr val="232B37"/>
                </a:solidFill>
                <a:latin typeface="Amazon Ember Display"/>
              </a:rPr>
              <a:t>Presigned URLs and OAC</a:t>
            </a:r>
          </a:p>
        </p:txBody>
      </p:sp>
      <p:sp>
        <p:nvSpPr>
          <p:cNvPr id="31" name="Rounded Rectangle 30"/>
          <p:cNvSpPr/>
          <p:nvPr/>
        </p:nvSpPr>
        <p:spPr>
          <a:xfrm>
            <a:off x="6281928" y="3675887"/>
            <a:ext cx="5303520" cy="1920240"/>
          </a:xfrm>
          <a:prstGeom prst="roundRect">
            <a:avLst>
              <a:gd name="adj" fmla="val 952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19672" y="3803903"/>
            <a:ext cx="4828031" cy="441528"/>
          </a:xfrm>
          <a:prstGeom prst="rect">
            <a:avLst/>
          </a:prstGeom>
          <a:noFill/>
        </p:spPr>
        <p:txBody>
          <a:bodyPr wrap="square" anchor="t">
            <a:noAutofit/>
          </a:bodyPr>
          <a:lstStyle/>
          <a:p>
            <a:pPr algn="ctr"/>
            <a:r>
              <a:rPr sz="2200" b="1" i="0">
                <a:solidFill>
                  <a:srgbClr val="8F0072"/>
                </a:solidFill>
                <a:latin typeface="Amazon Ember Display"/>
              </a:rPr>
              <a:t>AI security and tracing</a:t>
            </a:r>
          </a:p>
        </p:txBody>
      </p:sp>
      <p:sp>
        <p:nvSpPr>
          <p:cNvPr id="33" name="Rectangle 32"/>
          <p:cNvSpPr/>
          <p:nvPr/>
        </p:nvSpPr>
        <p:spPr>
          <a:xfrm>
            <a:off x="6519672" y="4224527"/>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519672" y="4315968"/>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702552" y="4356608"/>
            <a:ext cx="4462271" cy="346049"/>
          </a:xfrm>
          <a:prstGeom prst="rect">
            <a:avLst/>
          </a:prstGeom>
          <a:noFill/>
        </p:spPr>
        <p:txBody>
          <a:bodyPr wrap="square" anchor="t">
            <a:noAutofit/>
          </a:bodyPr>
          <a:lstStyle/>
          <a:p>
            <a:pPr algn="ctr"/>
            <a:r>
              <a:rPr sz="1600" b="1" i="0">
                <a:solidFill>
                  <a:srgbClr val="232B37"/>
                </a:solidFill>
                <a:latin typeface="Amazon Ember Display"/>
              </a:rPr>
              <a:t>Bedrock Guardrails</a:t>
            </a:r>
          </a:p>
        </p:txBody>
      </p:sp>
      <p:sp>
        <p:nvSpPr>
          <p:cNvPr id="36" name="Rounded Rectangle 35"/>
          <p:cNvSpPr/>
          <p:nvPr/>
        </p:nvSpPr>
        <p:spPr>
          <a:xfrm>
            <a:off x="6519672" y="4718304"/>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702552" y="4758944"/>
            <a:ext cx="4462271" cy="346049"/>
          </a:xfrm>
          <a:prstGeom prst="rect">
            <a:avLst/>
          </a:prstGeom>
          <a:noFill/>
        </p:spPr>
        <p:txBody>
          <a:bodyPr wrap="square" anchor="t">
            <a:noAutofit/>
          </a:bodyPr>
          <a:lstStyle/>
          <a:p>
            <a:pPr algn="ctr"/>
            <a:r>
              <a:rPr sz="1600" b="1" i="0">
                <a:solidFill>
                  <a:srgbClr val="232B37"/>
                </a:solidFill>
                <a:latin typeface="Amazon Ember Display"/>
              </a:rPr>
              <a:t>Model access</a:t>
            </a:r>
          </a:p>
        </p:txBody>
      </p:sp>
      <p:sp>
        <p:nvSpPr>
          <p:cNvPr id="38" name="Rounded Rectangle 37"/>
          <p:cNvSpPr/>
          <p:nvPr/>
        </p:nvSpPr>
        <p:spPr>
          <a:xfrm>
            <a:off x="6519672" y="5120640"/>
            <a:ext cx="4828031" cy="365760"/>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702552" y="5161280"/>
            <a:ext cx="4462271" cy="346049"/>
          </a:xfrm>
          <a:prstGeom prst="rect">
            <a:avLst/>
          </a:prstGeom>
          <a:noFill/>
        </p:spPr>
        <p:txBody>
          <a:bodyPr wrap="square" anchor="t">
            <a:noAutofit/>
          </a:bodyPr>
          <a:lstStyle/>
          <a:p>
            <a:pPr algn="ctr"/>
            <a:r>
              <a:rPr sz="1600" b="1" i="0">
                <a:solidFill>
                  <a:srgbClr val="232B37"/>
                </a:solidFill>
                <a:latin typeface="Amazon Ember Display"/>
              </a:rPr>
              <a:t>AWS X-Ray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Your five weeks at a glance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51790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517904"/>
            <a:ext cx="1325880" cy="731520"/>
          </a:xfrm>
          <a:prstGeom prst="rect">
            <a:avLst/>
          </a:prstGeom>
          <a:noFill/>
        </p:spPr>
        <p:txBody>
          <a:bodyPr wrap="square" anchor="ctr">
            <a:noAutofit/>
          </a:bodyPr>
          <a:lstStyle/>
          <a:p>
            <a:pPr algn="ctr"/>
            <a:r>
              <a:rPr sz="2600" b="1" i="0">
                <a:solidFill>
                  <a:srgbClr val="5A6B7B"/>
                </a:solidFill>
                <a:latin typeface="Amazon Ember Display"/>
              </a:rPr>
              <a:t>01</a:t>
            </a:r>
          </a:p>
        </p:txBody>
      </p:sp>
      <p:sp>
        <p:nvSpPr>
          <p:cNvPr id="6" name="TextBox 5"/>
          <p:cNvSpPr txBox="1"/>
          <p:nvPr/>
        </p:nvSpPr>
        <p:spPr>
          <a:xfrm>
            <a:off x="2167128" y="1609344"/>
            <a:ext cx="9326880" cy="548640"/>
          </a:xfrm>
          <a:prstGeom prst="rect">
            <a:avLst/>
          </a:prstGeom>
          <a:noFill/>
        </p:spPr>
        <p:txBody>
          <a:bodyPr wrap="square" anchor="ctr">
            <a:noAutofit/>
          </a:bodyPr>
          <a:lstStyle/>
          <a:p>
            <a:pPr algn="l"/>
            <a:r>
              <a:rPr sz="1600" b="0" i="0">
                <a:solidFill>
                  <a:srgbClr val="5A6B7B"/>
                </a:solidFill>
                <a:latin typeface="Amazon Ember Display"/>
              </a:rPr>
              <a:t>Regions/AZs · CloudFront · EC2/AMIs/Auto Scaling · ELB · ECS/EKS/Fargate/ECR · VPC · IAM</a:t>
            </a:r>
          </a:p>
        </p:txBody>
      </p:sp>
      <p:sp>
        <p:nvSpPr>
          <p:cNvPr id="7" name="Rounded Rectangle 6"/>
          <p:cNvSpPr/>
          <p:nvPr/>
        </p:nvSpPr>
        <p:spPr>
          <a:xfrm>
            <a:off x="612648" y="234086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12648" y="2340864"/>
            <a:ext cx="1325880" cy="731520"/>
          </a:xfrm>
          <a:prstGeom prst="rect">
            <a:avLst/>
          </a:prstGeom>
          <a:noFill/>
        </p:spPr>
        <p:txBody>
          <a:bodyPr wrap="square" anchor="ctr">
            <a:noAutofit/>
          </a:bodyPr>
          <a:lstStyle/>
          <a:p>
            <a:pPr algn="ctr"/>
            <a:r>
              <a:rPr sz="2600" b="1" i="0">
                <a:solidFill>
                  <a:srgbClr val="5A6B7B"/>
                </a:solidFill>
                <a:latin typeface="Amazon Ember Display"/>
              </a:rPr>
              <a:t>02</a:t>
            </a:r>
          </a:p>
        </p:txBody>
      </p:sp>
      <p:sp>
        <p:nvSpPr>
          <p:cNvPr id="9" name="TextBox 8"/>
          <p:cNvSpPr txBox="1"/>
          <p:nvPr/>
        </p:nvSpPr>
        <p:spPr>
          <a:xfrm>
            <a:off x="2167128" y="2432304"/>
            <a:ext cx="9326880" cy="548640"/>
          </a:xfrm>
          <a:prstGeom prst="rect">
            <a:avLst/>
          </a:prstGeom>
          <a:noFill/>
        </p:spPr>
        <p:txBody>
          <a:bodyPr wrap="square" anchor="ctr">
            <a:noAutofit/>
          </a:bodyPr>
          <a:lstStyle/>
          <a:p>
            <a:pPr algn="l"/>
            <a:r>
              <a:rPr sz="1600" b="0" i="0">
                <a:solidFill>
                  <a:srgbClr val="5A6B7B"/>
                </a:solidFill>
                <a:latin typeface="Amazon Ember Display"/>
              </a:rPr>
              <a:t>API Gateway · Lambda · DynamoDB · Step Functions · SQS · SNS · Amazon Bedrock · Kiro</a:t>
            </a:r>
          </a:p>
        </p:txBody>
      </p:sp>
      <p:sp>
        <p:nvSpPr>
          <p:cNvPr id="10" name="Rounded Rectangle 9"/>
          <p:cNvSpPr/>
          <p:nvPr/>
        </p:nvSpPr>
        <p:spPr>
          <a:xfrm>
            <a:off x="612648" y="316382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12648" y="3163824"/>
            <a:ext cx="1325880" cy="731520"/>
          </a:xfrm>
          <a:prstGeom prst="rect">
            <a:avLst/>
          </a:prstGeom>
          <a:noFill/>
        </p:spPr>
        <p:txBody>
          <a:bodyPr wrap="square" anchor="ctr">
            <a:noAutofit/>
          </a:bodyPr>
          <a:lstStyle/>
          <a:p>
            <a:pPr algn="ctr"/>
            <a:r>
              <a:rPr sz="2600" b="1" i="0">
                <a:solidFill>
                  <a:srgbClr val="5A6B7B"/>
                </a:solidFill>
                <a:latin typeface="Amazon Ember Display"/>
              </a:rPr>
              <a:t>03</a:t>
            </a:r>
          </a:p>
        </p:txBody>
      </p:sp>
      <p:sp>
        <p:nvSpPr>
          <p:cNvPr id="12" name="TextBox 11"/>
          <p:cNvSpPr txBox="1"/>
          <p:nvPr/>
        </p:nvSpPr>
        <p:spPr>
          <a:xfrm>
            <a:off x="2167128" y="3255264"/>
            <a:ext cx="9326880" cy="548640"/>
          </a:xfrm>
          <a:prstGeom prst="rect">
            <a:avLst/>
          </a:prstGeom>
          <a:noFill/>
        </p:spPr>
        <p:txBody>
          <a:bodyPr wrap="square" anchor="ctr">
            <a:noAutofit/>
          </a:bodyPr>
          <a:lstStyle/>
          <a:p>
            <a:pPr algn="l"/>
            <a:r>
              <a:rPr sz="1600" b="0" i="0">
                <a:solidFill>
                  <a:srgbClr val="5A6B7B"/>
                </a:solidFill>
                <a:latin typeface="Amazon Ember Display"/>
              </a:rPr>
              <a:t>SQS · SNS · EventBridge · ElastiCache · Cognito · CloudWatch · CloudTrail</a:t>
            </a:r>
          </a:p>
        </p:txBody>
      </p:sp>
      <p:sp>
        <p:nvSpPr>
          <p:cNvPr id="13" name="Rounded Rectangle 12"/>
          <p:cNvSpPr/>
          <p:nvPr/>
        </p:nvSpPr>
        <p:spPr>
          <a:xfrm>
            <a:off x="612648" y="3986784"/>
            <a:ext cx="10972800" cy="731520"/>
          </a:xfrm>
          <a:prstGeom prst="roundRect">
            <a:avLst>
              <a:gd name="adj" fmla="val 25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2648" y="3986784"/>
            <a:ext cx="1325880" cy="731520"/>
          </a:xfrm>
          <a:prstGeom prst="rect">
            <a:avLst/>
          </a:prstGeom>
          <a:noFill/>
        </p:spPr>
        <p:txBody>
          <a:bodyPr wrap="square" anchor="ctr">
            <a:noAutofit/>
          </a:bodyPr>
          <a:lstStyle/>
          <a:p>
            <a:pPr algn="ctr"/>
            <a:r>
              <a:rPr sz="2600" b="1" i="0">
                <a:solidFill>
                  <a:srgbClr val="5A6B7B"/>
                </a:solidFill>
                <a:latin typeface="Amazon Ember Display"/>
              </a:rPr>
              <a:t>04</a:t>
            </a:r>
          </a:p>
        </p:txBody>
      </p:sp>
      <p:sp>
        <p:nvSpPr>
          <p:cNvPr id="15" name="TextBox 14"/>
          <p:cNvSpPr txBox="1"/>
          <p:nvPr/>
        </p:nvSpPr>
        <p:spPr>
          <a:xfrm>
            <a:off x="2167128" y="4078224"/>
            <a:ext cx="9326880" cy="600659"/>
          </a:xfrm>
          <a:prstGeom prst="rect">
            <a:avLst/>
          </a:prstGeom>
          <a:noFill/>
        </p:spPr>
        <p:txBody>
          <a:bodyPr wrap="square" anchor="ctr">
            <a:noAutofit/>
          </a:bodyPr>
          <a:lstStyle/>
          <a:p>
            <a:pPr algn="l"/>
            <a:r>
              <a:rPr sz="1600" b="0" i="0">
                <a:solidFill>
                  <a:srgbClr val="5A6B7B"/>
                </a:solidFill>
                <a:latin typeface="Amazon Ember Display"/>
              </a:rPr>
              <a:t>CodePipeline · CodeDeploy · Elastic Beanstalk · ECS/EKS deployments · ECR · CloudFormation · CDK · SAM · Deployment strategies · AppConfig</a:t>
            </a:r>
          </a:p>
        </p:txBody>
      </p:sp>
      <p:sp>
        <p:nvSpPr>
          <p:cNvPr id="16" name="Rounded Rectangle 15"/>
          <p:cNvSpPr/>
          <p:nvPr/>
        </p:nvSpPr>
        <p:spPr>
          <a:xfrm>
            <a:off x="612648" y="4809744"/>
            <a:ext cx="10972800" cy="731520"/>
          </a:xfrm>
          <a:prstGeom prst="roundRect">
            <a:avLst>
              <a:gd name="adj" fmla="val 2500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12648" y="4823040"/>
            <a:ext cx="1325880" cy="432028"/>
          </a:xfrm>
          <a:prstGeom prst="rect">
            <a:avLst/>
          </a:prstGeom>
          <a:noFill/>
        </p:spPr>
        <p:txBody>
          <a:bodyPr wrap="square" tIns="9144" bIns="9144" anchor="ctr">
            <a:noAutofit/>
          </a:bodyPr>
          <a:lstStyle/>
          <a:p>
            <a:pPr algn="ctr"/>
            <a:r>
              <a:rPr sz="2600" b="1" i="0">
                <a:solidFill>
                  <a:srgbClr val="8F0072"/>
                </a:solidFill>
                <a:latin typeface="Amazon Ember Display"/>
              </a:rPr>
              <a:t>05</a:t>
            </a:r>
          </a:p>
        </p:txBody>
      </p:sp>
      <p:sp>
        <p:nvSpPr>
          <p:cNvPr id="18" name="TextBox 17"/>
          <p:cNvSpPr txBox="1"/>
          <p:nvPr/>
        </p:nvSpPr>
        <p:spPr>
          <a:xfrm>
            <a:off x="612648" y="5255069"/>
            <a:ext cx="1325880" cy="272897"/>
          </a:xfrm>
          <a:prstGeom prst="rect">
            <a:avLst/>
          </a:prstGeom>
          <a:noFill/>
        </p:spPr>
        <p:txBody>
          <a:bodyPr wrap="square" tIns="9144" bIns="9144" anchor="ctr">
            <a:noAutofit/>
          </a:bodyPr>
          <a:lstStyle/>
          <a:p>
            <a:pPr algn="ctr"/>
            <a:r>
              <a:rPr sz="1600" b="1" i="0">
                <a:solidFill>
                  <a:srgbClr val="8F0072"/>
                </a:solidFill>
                <a:latin typeface="Amazon Ember Display"/>
              </a:rPr>
              <a:t>THIS WEEK</a:t>
            </a:r>
          </a:p>
        </p:txBody>
      </p:sp>
      <p:sp>
        <p:nvSpPr>
          <p:cNvPr id="19" name="TextBox 18"/>
          <p:cNvSpPr txBox="1"/>
          <p:nvPr/>
        </p:nvSpPr>
        <p:spPr>
          <a:xfrm>
            <a:off x="2167128" y="4901183"/>
            <a:ext cx="9326880" cy="600659"/>
          </a:xfrm>
          <a:prstGeom prst="rect">
            <a:avLst/>
          </a:prstGeom>
          <a:noFill/>
        </p:spPr>
        <p:txBody>
          <a:bodyPr wrap="square" anchor="ctr">
            <a:noAutofit/>
          </a:bodyPr>
          <a:lstStyle/>
          <a:p>
            <a:pPr algn="l"/>
            <a:r>
              <a:rPr sz="1600" b="1" i="0">
                <a:solidFill>
                  <a:srgbClr val="232B37"/>
                </a:solidFill>
                <a:latin typeface="Amazon Ember Display"/>
              </a:rPr>
              <a:t>WAF · Secrets Manager · KMS · PrivateLink · ACM · S3 presigned URLs · OAC · X-Ray · Bedrock Guardrails · AI security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you protect traffic and data?</a:t>
            </a:r>
          </a:p>
        </p:txBody>
      </p:sp>
      <p:sp>
        <p:nvSpPr>
          <p:cNvPr id="3" name="Text Placeholder 2"/>
          <p:cNvSpPr>
            <a:spLocks noGrp="1"/>
          </p:cNvSpPr>
          <p:nvPr>
            <p:ph type="body" sz="quarter" idx="11"/>
          </p:nvPr>
        </p:nvSpPr>
        <p:spPr>
          <a:xfrm>
            <a:off x="322916" y="2434551"/>
            <a:ext cx="4697653" cy="377875"/>
          </a:xfrm>
        </p:spPr>
        <p:txBody>
          <a:bodyPr/>
          <a:lstStyle/>
          <a:p>
            <a:r>
              <a:rPr sz="1800" b="1">
                <a:solidFill>
                  <a:srgbClr val="FF57E9"/>
                </a:solidFill>
                <a:latin typeface="Amazon Ember Display"/>
              </a:rPr>
              <a:t>NETWORK AND DATA SECURITY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WAF inspects a request before your app sees it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011680"/>
            <a:ext cx="3276295" cy="1569110"/>
          </a:xfrm>
          <a:prstGeom prst="roundRect">
            <a:avLst>
              <a:gd name="adj" fmla="val 699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Res_Internet_48_Light.png"/>
          <p:cNvPicPr>
            <a:picLocks noChangeAspect="1"/>
          </p:cNvPicPr>
          <p:nvPr/>
        </p:nvPicPr>
        <p:blipFill>
          <a:blip r:embed="rId3"/>
          <a:stretch>
            <a:fillRect/>
          </a:stretch>
        </p:blipFill>
        <p:spPr>
          <a:xfrm>
            <a:off x="2022195" y="2194560"/>
            <a:ext cx="457200" cy="457200"/>
          </a:xfrm>
          <a:prstGeom prst="rect">
            <a:avLst/>
          </a:prstGeom>
        </p:spPr>
      </p:pic>
      <p:sp>
        <p:nvSpPr>
          <p:cNvPr id="6" name="TextBox 5"/>
          <p:cNvSpPr txBox="1"/>
          <p:nvPr/>
        </p:nvSpPr>
        <p:spPr>
          <a:xfrm>
            <a:off x="722376" y="2724912"/>
            <a:ext cx="3056839" cy="346049"/>
          </a:xfrm>
          <a:prstGeom prst="rect">
            <a:avLst/>
          </a:prstGeom>
          <a:noFill/>
        </p:spPr>
        <p:txBody>
          <a:bodyPr wrap="square" anchor="ctr">
            <a:noAutofit/>
          </a:bodyPr>
          <a:lstStyle/>
          <a:p>
            <a:pPr algn="ctr"/>
            <a:r>
              <a:rPr lang="en-US" sz="1600" b="1" dirty="0">
                <a:solidFill>
                  <a:srgbClr val="8F0072"/>
                </a:solidFill>
                <a:latin typeface="Amazon Ember Display"/>
              </a:rPr>
              <a:t>a</a:t>
            </a:r>
            <a:r>
              <a:rPr sz="1600" b="1" i="0" dirty="0">
                <a:solidFill>
                  <a:srgbClr val="8F0072"/>
                </a:solidFill>
                <a:latin typeface="Amazon Ember Display"/>
              </a:rPr>
              <a:t> request arrives</a:t>
            </a:r>
          </a:p>
        </p:txBody>
      </p:sp>
      <p:sp>
        <p:nvSpPr>
          <p:cNvPr id="7" name="TextBox 6"/>
          <p:cNvSpPr txBox="1"/>
          <p:nvPr/>
        </p:nvSpPr>
        <p:spPr>
          <a:xfrm>
            <a:off x="722376" y="3107131"/>
            <a:ext cx="3056839" cy="346049"/>
          </a:xfrm>
          <a:prstGeom prst="rect">
            <a:avLst/>
          </a:prstGeom>
          <a:noFill/>
        </p:spPr>
        <p:txBody>
          <a:bodyPr wrap="square" anchor="ctr">
            <a:noAutofit/>
          </a:bodyPr>
          <a:lstStyle/>
          <a:p>
            <a:pPr algn="ctr"/>
            <a:r>
              <a:rPr sz="1600" b="0" i="0">
                <a:solidFill>
                  <a:srgbClr val="5A6B7B"/>
                </a:solidFill>
                <a:latin typeface="Amazon Ember Display"/>
              </a:rPr>
              <a:t>from the internet</a:t>
            </a:r>
          </a:p>
        </p:txBody>
      </p:sp>
      <p:sp>
        <p:nvSpPr>
          <p:cNvPr id="8" name="Rounded Rectangle 7"/>
          <p:cNvSpPr/>
          <p:nvPr/>
        </p:nvSpPr>
        <p:spPr>
          <a:xfrm>
            <a:off x="4455871" y="2011680"/>
            <a:ext cx="3276295" cy="1569110"/>
          </a:xfrm>
          <a:prstGeom prst="roundRect">
            <a:avLst>
              <a:gd name="adj" fmla="val 699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WS-WAF_64.png"/>
          <p:cNvPicPr>
            <a:picLocks noChangeAspect="1"/>
          </p:cNvPicPr>
          <p:nvPr/>
        </p:nvPicPr>
        <p:blipFill>
          <a:blip r:embed="rId4"/>
          <a:stretch>
            <a:fillRect/>
          </a:stretch>
        </p:blipFill>
        <p:spPr>
          <a:xfrm>
            <a:off x="5865418" y="2194560"/>
            <a:ext cx="457200" cy="457200"/>
          </a:xfrm>
          <a:prstGeom prst="rect">
            <a:avLst/>
          </a:prstGeom>
        </p:spPr>
      </p:pic>
      <p:sp>
        <p:nvSpPr>
          <p:cNvPr id="10" name="TextBox 9"/>
          <p:cNvSpPr txBox="1"/>
          <p:nvPr/>
        </p:nvSpPr>
        <p:spPr>
          <a:xfrm>
            <a:off x="4565599" y="2724912"/>
            <a:ext cx="3056839" cy="346049"/>
          </a:xfrm>
          <a:prstGeom prst="rect">
            <a:avLst/>
          </a:prstGeom>
          <a:noFill/>
        </p:spPr>
        <p:txBody>
          <a:bodyPr wrap="square" anchor="ctr">
            <a:noAutofit/>
          </a:bodyPr>
          <a:lstStyle/>
          <a:p>
            <a:pPr algn="ctr"/>
            <a:r>
              <a:rPr lang="en-US" sz="1600" b="1" i="0" dirty="0">
                <a:solidFill>
                  <a:srgbClr val="8F0072"/>
                </a:solidFill>
                <a:latin typeface="Amazon Ember Display"/>
              </a:rPr>
              <a:t>t</a:t>
            </a:r>
            <a:r>
              <a:rPr sz="1600" b="1" i="0" dirty="0">
                <a:solidFill>
                  <a:srgbClr val="8F0072"/>
                </a:solidFill>
                <a:latin typeface="Amazon Ember Display"/>
              </a:rPr>
              <a:t>he web ACL decides</a:t>
            </a:r>
          </a:p>
        </p:txBody>
      </p:sp>
      <p:sp>
        <p:nvSpPr>
          <p:cNvPr id="11" name="TextBox 10"/>
          <p:cNvSpPr txBox="1"/>
          <p:nvPr/>
        </p:nvSpPr>
        <p:spPr>
          <a:xfrm>
            <a:off x="4565599" y="3107131"/>
            <a:ext cx="3056839" cy="346049"/>
          </a:xfrm>
          <a:prstGeom prst="rect">
            <a:avLst/>
          </a:prstGeom>
          <a:noFill/>
        </p:spPr>
        <p:txBody>
          <a:bodyPr wrap="square" anchor="ctr">
            <a:noAutofit/>
          </a:bodyPr>
          <a:lstStyle/>
          <a:p>
            <a:pPr algn="ctr"/>
            <a:r>
              <a:rPr sz="1600" b="0" i="0">
                <a:solidFill>
                  <a:srgbClr val="5A6B7B"/>
                </a:solidFill>
                <a:latin typeface="Amazon Ember Display"/>
              </a:rPr>
              <a:t>first match wins</a:t>
            </a:r>
          </a:p>
        </p:txBody>
      </p:sp>
      <p:sp>
        <p:nvSpPr>
          <p:cNvPr id="12" name="Freeform 11"/>
          <p:cNvSpPr/>
          <p:nvPr/>
        </p:nvSpPr>
        <p:spPr>
          <a:xfrm>
            <a:off x="3934663" y="2796235"/>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4190695" y="2677363"/>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99094" y="2011680"/>
            <a:ext cx="3276295" cy="1569110"/>
          </a:xfrm>
          <a:prstGeom prst="roundRect">
            <a:avLst>
              <a:gd name="adj" fmla="val 699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Arch_Amazon-API-Gateway_64.png"/>
          <p:cNvPicPr>
            <a:picLocks noChangeAspect="1"/>
          </p:cNvPicPr>
          <p:nvPr/>
        </p:nvPicPr>
        <p:blipFill>
          <a:blip r:embed="rId5"/>
          <a:stretch>
            <a:fillRect/>
          </a:stretch>
        </p:blipFill>
        <p:spPr>
          <a:xfrm>
            <a:off x="9708642" y="2194560"/>
            <a:ext cx="457200" cy="457200"/>
          </a:xfrm>
          <a:prstGeom prst="rect">
            <a:avLst/>
          </a:prstGeom>
        </p:spPr>
      </p:pic>
      <p:sp>
        <p:nvSpPr>
          <p:cNvPr id="16" name="TextBox 15"/>
          <p:cNvSpPr txBox="1"/>
          <p:nvPr/>
        </p:nvSpPr>
        <p:spPr>
          <a:xfrm>
            <a:off x="8408822" y="2724912"/>
            <a:ext cx="3056839" cy="346049"/>
          </a:xfrm>
          <a:prstGeom prst="rect">
            <a:avLst/>
          </a:prstGeom>
          <a:noFill/>
        </p:spPr>
        <p:txBody>
          <a:bodyPr wrap="square" anchor="ctr">
            <a:noAutofit/>
          </a:bodyPr>
          <a:lstStyle/>
          <a:p>
            <a:pPr algn="ctr"/>
            <a:r>
              <a:rPr lang="en-US" sz="1600" b="1" i="0" dirty="0">
                <a:solidFill>
                  <a:srgbClr val="8F0072"/>
                </a:solidFill>
                <a:latin typeface="Amazon Ember Display"/>
              </a:rPr>
              <a:t>y</a:t>
            </a:r>
            <a:r>
              <a:rPr sz="1600" b="1" i="0" dirty="0">
                <a:solidFill>
                  <a:srgbClr val="8F0072"/>
                </a:solidFill>
                <a:latin typeface="Amazon Ember Display"/>
              </a:rPr>
              <a:t>our application</a:t>
            </a:r>
          </a:p>
        </p:txBody>
      </p:sp>
      <p:sp>
        <p:nvSpPr>
          <p:cNvPr id="17" name="TextBox 16"/>
          <p:cNvSpPr txBox="1"/>
          <p:nvPr/>
        </p:nvSpPr>
        <p:spPr>
          <a:xfrm>
            <a:off x="8408822" y="3107131"/>
            <a:ext cx="3056839" cy="346049"/>
          </a:xfrm>
          <a:prstGeom prst="rect">
            <a:avLst/>
          </a:prstGeom>
          <a:noFill/>
        </p:spPr>
        <p:txBody>
          <a:bodyPr wrap="square" anchor="ctr">
            <a:noAutofit/>
          </a:bodyPr>
          <a:lstStyle/>
          <a:p>
            <a:pPr algn="ctr"/>
            <a:r>
              <a:rPr sz="1600" b="0" i="0">
                <a:solidFill>
                  <a:srgbClr val="5A6B7B"/>
                </a:solidFill>
                <a:latin typeface="Amazon Ember Display"/>
              </a:rPr>
              <a:t>only sees what passed</a:t>
            </a:r>
          </a:p>
        </p:txBody>
      </p:sp>
      <p:sp>
        <p:nvSpPr>
          <p:cNvPr id="18" name="Freeform 17"/>
          <p:cNvSpPr/>
          <p:nvPr/>
        </p:nvSpPr>
        <p:spPr>
          <a:xfrm>
            <a:off x="7777886" y="2796235"/>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033918" y="2677363"/>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538728" y="3891686"/>
            <a:ext cx="5111496"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611880" y="3983126"/>
            <a:ext cx="4965192" cy="346049"/>
          </a:xfrm>
          <a:prstGeom prst="rect">
            <a:avLst/>
          </a:prstGeom>
          <a:noFill/>
        </p:spPr>
        <p:txBody>
          <a:bodyPr wrap="square" anchor="ctr">
            <a:noAutofit/>
          </a:bodyPr>
          <a:lstStyle/>
          <a:p>
            <a:pPr algn="ctr"/>
            <a:r>
              <a:rPr sz="1600" b="1" i="0">
                <a:solidFill>
                  <a:srgbClr val="FFFFFF"/>
                </a:solidFill>
                <a:latin typeface="Amazon Ember Display"/>
              </a:rPr>
              <a:t>allow  ·  block  ·  count</a:t>
            </a:r>
          </a:p>
        </p:txBody>
      </p:sp>
      <p:sp>
        <p:nvSpPr>
          <p:cNvPr id="22" name="TextBox 21"/>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count mode lets you test a rule against live traffic without blocking anyone</a:t>
            </a:r>
          </a:p>
        </p:txBody>
      </p:sp>
      <p:sp>
        <p:nvSpPr>
          <p:cNvPr id="23" name="TextBox 22">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How AWS WAF works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bots locked real customers out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5665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Enhancing Security Using AWS WAF Bot Control…</a:t>
            </a:r>
          </a:p>
        </p:txBody>
      </p:sp>
      <p:sp>
        <p:nvSpPr>
          <p:cNvPr id="5" name="Rounded Rectangle 4"/>
          <p:cNvSpPr/>
          <p:nvPr/>
        </p:nvSpPr>
        <p:spPr>
          <a:xfrm>
            <a:off x="731520" y="2176272"/>
            <a:ext cx="5576925"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176272"/>
            <a:ext cx="5064861" cy="859536"/>
          </a:xfrm>
          <a:prstGeom prst="rect">
            <a:avLst/>
          </a:prstGeom>
          <a:noFill/>
        </p:spPr>
        <p:txBody>
          <a:bodyPr wrap="square" anchor="ctr">
            <a:noAutofit/>
          </a:bodyPr>
          <a:lstStyle/>
          <a:p>
            <a:pPr algn="l"/>
            <a:r>
              <a:rPr sz="1900" b="0" i="0">
                <a:solidFill>
                  <a:srgbClr val="232B37"/>
                </a:solidFill>
                <a:latin typeface="Amazon Ember Display"/>
              </a:rPr>
              <a:t>Bots flooded registration and login</a:t>
            </a:r>
          </a:p>
        </p:txBody>
      </p:sp>
      <p:sp>
        <p:nvSpPr>
          <p:cNvPr id="7" name="Freeform 6"/>
          <p:cNvSpPr/>
          <p:nvPr/>
        </p:nvSpPr>
        <p:spPr>
          <a:xfrm>
            <a:off x="6509613" y="2606039"/>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6747357" y="2487168"/>
            <a:ext cx="192024" cy="237743"/>
          </a:xfrm>
          <a:custGeom>
            <a:avLst/>
            <a:gdLst/>
            <a:ahLst/>
            <a:cxnLst/>
            <a:rect l="l" t="t" r="r" b="b"/>
            <a:pathLst>
              <a:path w="192024" h="237743">
                <a:moveTo>
                  <a:pt x="0" y="0"/>
                </a:moveTo>
                <a:lnTo>
                  <a:pt x="192024" y="118871"/>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140549" y="2176272"/>
            <a:ext cx="4444898"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60005" y="2212251"/>
            <a:ext cx="4005986" cy="409702"/>
          </a:xfrm>
          <a:prstGeom prst="rect">
            <a:avLst/>
          </a:prstGeom>
          <a:noFill/>
        </p:spPr>
        <p:txBody>
          <a:bodyPr wrap="square" anchor="t">
            <a:noAutofit/>
          </a:bodyPr>
          <a:lstStyle/>
          <a:p>
            <a:pPr algn="l"/>
            <a:r>
              <a:rPr sz="2000" b="1" i="0">
                <a:solidFill>
                  <a:srgbClr val="8F0072"/>
                </a:solidFill>
                <a:latin typeface="Amazon Ember Display"/>
              </a:rPr>
              <a:t>Keep real users getting in</a:t>
            </a:r>
          </a:p>
        </p:txBody>
      </p:sp>
      <p:sp>
        <p:nvSpPr>
          <p:cNvPr id="11" name="TextBox 10"/>
          <p:cNvSpPr txBox="1"/>
          <p:nvPr/>
        </p:nvSpPr>
        <p:spPr>
          <a:xfrm>
            <a:off x="7360005" y="2621953"/>
            <a:ext cx="4005986" cy="377875"/>
          </a:xfrm>
          <a:prstGeom prst="rect">
            <a:avLst/>
          </a:prstGeom>
          <a:noFill/>
        </p:spPr>
        <p:txBody>
          <a:bodyPr wrap="square" anchor="t">
            <a:noAutofit/>
          </a:bodyPr>
          <a:lstStyle/>
          <a:p>
            <a:pPr algn="l"/>
            <a:r>
              <a:rPr sz="1800" b="0" i="0">
                <a:solidFill>
                  <a:srgbClr val="232B37"/>
                </a:solidFill>
                <a:latin typeface="Amazon Ember Display"/>
              </a:rPr>
              <a:t>AWS WAF Bot Control, no CAPTCHA</a:t>
            </a:r>
          </a:p>
        </p:txBody>
      </p:sp>
      <p:sp>
        <p:nvSpPr>
          <p:cNvPr id="12" name="Rounded Rectangle 11"/>
          <p:cNvSpPr/>
          <p:nvPr/>
        </p:nvSpPr>
        <p:spPr>
          <a:xfrm>
            <a:off x="731520" y="3145536"/>
            <a:ext cx="5576925"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145536"/>
            <a:ext cx="5064861" cy="859536"/>
          </a:xfrm>
          <a:prstGeom prst="rect">
            <a:avLst/>
          </a:prstGeom>
          <a:noFill/>
        </p:spPr>
        <p:txBody>
          <a:bodyPr wrap="square" anchor="ctr">
            <a:noAutofit/>
          </a:bodyPr>
          <a:lstStyle/>
          <a:p>
            <a:pPr algn="l"/>
            <a:r>
              <a:rPr sz="1900" b="0" i="0">
                <a:solidFill>
                  <a:srgbClr val="232B37"/>
                </a:solidFill>
                <a:latin typeface="Amazon Ember Display"/>
              </a:rPr>
              <a:t>New rules could block customers</a:t>
            </a:r>
          </a:p>
        </p:txBody>
      </p:sp>
      <p:sp>
        <p:nvSpPr>
          <p:cNvPr id="14" name="Freeform 13"/>
          <p:cNvSpPr/>
          <p:nvPr/>
        </p:nvSpPr>
        <p:spPr>
          <a:xfrm>
            <a:off x="6509613"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6747357"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40549" y="3145536"/>
            <a:ext cx="4444898"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60005" y="3181515"/>
            <a:ext cx="4005986" cy="409702"/>
          </a:xfrm>
          <a:prstGeom prst="rect">
            <a:avLst/>
          </a:prstGeom>
          <a:noFill/>
        </p:spPr>
        <p:txBody>
          <a:bodyPr wrap="square" anchor="t">
            <a:noAutofit/>
          </a:bodyPr>
          <a:lstStyle/>
          <a:p>
            <a:pPr algn="l"/>
            <a:r>
              <a:rPr sz="2000" b="1" i="0">
                <a:solidFill>
                  <a:srgbClr val="8F0072"/>
                </a:solidFill>
                <a:latin typeface="Amazon Ember Display"/>
              </a:rPr>
              <a:t>Watch before you enforce</a:t>
            </a:r>
          </a:p>
        </p:txBody>
      </p:sp>
      <p:sp>
        <p:nvSpPr>
          <p:cNvPr id="18" name="TextBox 17"/>
          <p:cNvSpPr txBox="1"/>
          <p:nvPr/>
        </p:nvSpPr>
        <p:spPr>
          <a:xfrm>
            <a:off x="7360005" y="3591217"/>
            <a:ext cx="4005986" cy="377875"/>
          </a:xfrm>
          <a:prstGeom prst="rect">
            <a:avLst/>
          </a:prstGeom>
          <a:noFill/>
        </p:spPr>
        <p:txBody>
          <a:bodyPr wrap="square" anchor="t">
            <a:noAutofit/>
          </a:bodyPr>
          <a:lstStyle/>
          <a:p>
            <a:pPr algn="l"/>
            <a:r>
              <a:rPr sz="1800" b="0" i="0">
                <a:solidFill>
                  <a:srgbClr val="232B37"/>
                </a:solidFill>
                <a:latin typeface="Amazon Ember Display"/>
              </a:rPr>
              <a:t>audit mode first, then block</a:t>
            </a:r>
          </a:p>
        </p:txBody>
      </p:sp>
      <p:sp>
        <p:nvSpPr>
          <p:cNvPr id="19" name="Rounded Rectangle 18"/>
          <p:cNvSpPr/>
          <p:nvPr/>
        </p:nvSpPr>
        <p:spPr>
          <a:xfrm>
            <a:off x="731520" y="4114800"/>
            <a:ext cx="5576925"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114800"/>
            <a:ext cx="5064861" cy="859536"/>
          </a:xfrm>
          <a:prstGeom prst="rect">
            <a:avLst/>
          </a:prstGeom>
          <a:noFill/>
        </p:spPr>
        <p:txBody>
          <a:bodyPr wrap="square" anchor="ctr">
            <a:noAutofit/>
          </a:bodyPr>
          <a:lstStyle/>
          <a:p>
            <a:pPr algn="l"/>
            <a:r>
              <a:rPr sz="1900" b="0" i="0">
                <a:solidFill>
                  <a:srgbClr val="232B37"/>
                </a:solidFill>
                <a:latin typeface="Amazon Ember Display"/>
              </a:rPr>
              <a:t>Mass fake sign-ups cost real money</a:t>
            </a:r>
          </a:p>
        </p:txBody>
      </p:sp>
      <p:sp>
        <p:nvSpPr>
          <p:cNvPr id="21" name="Freeform 20"/>
          <p:cNvSpPr/>
          <p:nvPr/>
        </p:nvSpPr>
        <p:spPr>
          <a:xfrm>
            <a:off x="6509613" y="4544568"/>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6747357" y="442569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140549" y="4114800"/>
            <a:ext cx="4444898"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60005" y="4150779"/>
            <a:ext cx="4005986" cy="409702"/>
          </a:xfrm>
          <a:prstGeom prst="rect">
            <a:avLst/>
          </a:prstGeom>
          <a:noFill/>
        </p:spPr>
        <p:txBody>
          <a:bodyPr wrap="square" anchor="t">
            <a:noAutofit/>
          </a:bodyPr>
          <a:lstStyle/>
          <a:p>
            <a:pPr algn="l"/>
            <a:r>
              <a:rPr sz="2000" b="1" i="0">
                <a:solidFill>
                  <a:srgbClr val="8F0072"/>
                </a:solidFill>
                <a:latin typeface="Amazon Ember Display"/>
              </a:rPr>
              <a:t>Reject before the app sees it</a:t>
            </a:r>
          </a:p>
        </p:txBody>
      </p:sp>
      <p:sp>
        <p:nvSpPr>
          <p:cNvPr id="25" name="TextBox 24"/>
          <p:cNvSpPr txBox="1"/>
          <p:nvPr/>
        </p:nvSpPr>
        <p:spPr>
          <a:xfrm>
            <a:off x="7360005" y="4560481"/>
            <a:ext cx="4005986" cy="377875"/>
          </a:xfrm>
          <a:prstGeom prst="rect">
            <a:avLst/>
          </a:prstGeom>
          <a:noFill/>
        </p:spPr>
        <p:txBody>
          <a:bodyPr wrap="square" anchor="t">
            <a:noAutofit/>
          </a:bodyPr>
          <a:lstStyle/>
          <a:p>
            <a:pPr algn="l"/>
            <a:r>
              <a:rPr sz="1800" b="0" i="0">
                <a:solidFill>
                  <a:srgbClr val="232B37"/>
                </a:solidFill>
                <a:latin typeface="Amazon Ember Display"/>
              </a:rPr>
              <a:t>250,000 turned away in one event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data key encrypts the data; KMS wraps the key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920240"/>
            <a:ext cx="4160520" cy="2148840"/>
          </a:xfrm>
          <a:prstGeom prst="roundRect">
            <a:avLst>
              <a:gd name="adj" fmla="val 6808"/>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40664" y="2048256"/>
            <a:ext cx="3904487" cy="377875"/>
          </a:xfrm>
          <a:prstGeom prst="rect">
            <a:avLst/>
          </a:prstGeom>
          <a:noFill/>
        </p:spPr>
        <p:txBody>
          <a:bodyPr wrap="square" anchor="ctr">
            <a:noAutofit/>
          </a:bodyPr>
          <a:lstStyle/>
          <a:p>
            <a:pPr algn="ctr"/>
            <a:r>
              <a:rPr sz="1800" b="1" i="0">
                <a:solidFill>
                  <a:srgbClr val="8F0072"/>
                </a:solidFill>
                <a:latin typeface="Amazon Ember Display"/>
              </a:rPr>
              <a:t>AWS KMS</a:t>
            </a:r>
          </a:p>
        </p:txBody>
      </p:sp>
      <p:pic>
        <p:nvPicPr>
          <p:cNvPr id="6" name="Picture 5" descr="Arch_AWS-Key-Management-Service_64.png"/>
          <p:cNvPicPr>
            <a:picLocks noChangeAspect="1"/>
          </p:cNvPicPr>
          <p:nvPr/>
        </p:nvPicPr>
        <p:blipFill>
          <a:blip r:embed="rId3"/>
          <a:stretch>
            <a:fillRect/>
          </a:stretch>
        </p:blipFill>
        <p:spPr>
          <a:xfrm>
            <a:off x="2464308" y="2697480"/>
            <a:ext cx="457200" cy="457200"/>
          </a:xfrm>
          <a:prstGeom prst="rect">
            <a:avLst/>
          </a:prstGeom>
        </p:spPr>
      </p:pic>
      <p:sp>
        <p:nvSpPr>
          <p:cNvPr id="7" name="TextBox 6"/>
          <p:cNvSpPr txBox="1"/>
          <p:nvPr/>
        </p:nvSpPr>
        <p:spPr>
          <a:xfrm>
            <a:off x="886968" y="3364992"/>
            <a:ext cx="3611879" cy="346049"/>
          </a:xfrm>
          <a:prstGeom prst="rect">
            <a:avLst/>
          </a:prstGeom>
          <a:noFill/>
        </p:spPr>
        <p:txBody>
          <a:bodyPr wrap="square" anchor="t">
            <a:noAutofit/>
          </a:bodyPr>
          <a:lstStyle/>
          <a:p>
            <a:pPr algn="ctr"/>
            <a:r>
              <a:rPr sz="1600" b="1" i="0">
                <a:solidFill>
                  <a:srgbClr val="8F0072"/>
                </a:solidFill>
                <a:latin typeface="Amazon Ember Display"/>
              </a:rPr>
              <a:t>the KMS key never leaves</a:t>
            </a:r>
          </a:p>
        </p:txBody>
      </p:sp>
      <p:sp>
        <p:nvSpPr>
          <p:cNvPr id="8" name="TextBox 7"/>
          <p:cNvSpPr txBox="1"/>
          <p:nvPr/>
        </p:nvSpPr>
        <p:spPr>
          <a:xfrm>
            <a:off x="886968" y="3675887"/>
            <a:ext cx="3611879" cy="346049"/>
          </a:xfrm>
          <a:prstGeom prst="rect">
            <a:avLst/>
          </a:prstGeom>
          <a:noFill/>
        </p:spPr>
        <p:txBody>
          <a:bodyPr wrap="square" anchor="t">
            <a:noAutofit/>
          </a:bodyPr>
          <a:lstStyle/>
          <a:p>
            <a:pPr algn="ctr"/>
            <a:r>
              <a:rPr sz="1600" b="0" i="0">
                <a:solidFill>
                  <a:srgbClr val="5A6B7B"/>
                </a:solidFill>
                <a:latin typeface="Amazon Ember Display"/>
              </a:rPr>
              <a:t>it only wraps and unwraps</a:t>
            </a:r>
          </a:p>
        </p:txBody>
      </p:sp>
      <p:sp>
        <p:nvSpPr>
          <p:cNvPr id="9" name="Rounded Rectangle 8"/>
          <p:cNvSpPr/>
          <p:nvPr/>
        </p:nvSpPr>
        <p:spPr>
          <a:xfrm>
            <a:off x="6007608" y="1920240"/>
            <a:ext cx="5568696" cy="2148840"/>
          </a:xfrm>
          <a:prstGeom prst="roundRect">
            <a:avLst>
              <a:gd name="adj" fmla="val 6808"/>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135624" y="2048256"/>
            <a:ext cx="5312664" cy="377875"/>
          </a:xfrm>
          <a:prstGeom prst="rect">
            <a:avLst/>
          </a:prstGeom>
          <a:noFill/>
        </p:spPr>
        <p:txBody>
          <a:bodyPr wrap="square" anchor="ctr">
            <a:noAutofit/>
          </a:bodyPr>
          <a:lstStyle/>
          <a:p>
            <a:pPr algn="ctr"/>
            <a:r>
              <a:rPr sz="1800" b="1" i="0">
                <a:solidFill>
                  <a:srgbClr val="8F0072"/>
                </a:solidFill>
                <a:latin typeface="Amazon Ember Display"/>
              </a:rPr>
              <a:t>YOUR STORE</a:t>
            </a:r>
          </a:p>
        </p:txBody>
      </p:sp>
      <p:sp>
        <p:nvSpPr>
          <p:cNvPr id="11" name="Rounded Rectangle 10"/>
          <p:cNvSpPr/>
          <p:nvPr/>
        </p:nvSpPr>
        <p:spPr>
          <a:xfrm>
            <a:off x="6327648" y="2523744"/>
            <a:ext cx="4928616" cy="475488"/>
          </a:xfrm>
          <a:prstGeom prst="roundRect">
            <a:avLst>
              <a:gd name="adj" fmla="val 19230"/>
            </a:avLst>
          </a:prstGeom>
          <a:solidFill>
            <a:srgbClr val="F3F3F7"/>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2615184"/>
            <a:ext cx="4782312" cy="346049"/>
          </a:xfrm>
          <a:prstGeom prst="rect">
            <a:avLst/>
          </a:prstGeom>
          <a:noFill/>
        </p:spPr>
        <p:txBody>
          <a:bodyPr wrap="square" anchor="ctr">
            <a:noAutofit/>
          </a:bodyPr>
          <a:lstStyle/>
          <a:p>
            <a:pPr algn="ctr"/>
            <a:r>
              <a:rPr sz="1600" b="1" i="0">
                <a:solidFill>
                  <a:srgbClr val="232B37"/>
                </a:solidFill>
                <a:latin typeface="Amazon Ember Display"/>
              </a:rPr>
              <a:t>the object, encrypted</a:t>
            </a:r>
          </a:p>
        </p:txBody>
      </p:sp>
      <p:sp>
        <p:nvSpPr>
          <p:cNvPr id="13" name="Rounded Rectangle 12"/>
          <p:cNvSpPr/>
          <p:nvPr/>
        </p:nvSpPr>
        <p:spPr>
          <a:xfrm>
            <a:off x="6327648" y="3145536"/>
            <a:ext cx="4928616"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0" y="3236976"/>
            <a:ext cx="4782312" cy="346049"/>
          </a:xfrm>
          <a:prstGeom prst="rect">
            <a:avLst/>
          </a:prstGeom>
          <a:noFill/>
        </p:spPr>
        <p:txBody>
          <a:bodyPr wrap="square" anchor="ctr">
            <a:noAutofit/>
          </a:bodyPr>
          <a:lstStyle/>
          <a:p>
            <a:pPr algn="ctr"/>
            <a:r>
              <a:rPr sz="1600" b="1" i="0">
                <a:solidFill>
                  <a:srgbClr val="FFFFFF"/>
                </a:solidFill>
                <a:latin typeface="Amazon Ember Display"/>
              </a:rPr>
              <a:t>the data key, encrypted</a:t>
            </a:r>
          </a:p>
        </p:txBody>
      </p:sp>
      <p:sp>
        <p:nvSpPr>
          <p:cNvPr id="15" name="TextBox 14"/>
          <p:cNvSpPr txBox="1"/>
          <p:nvPr/>
        </p:nvSpPr>
        <p:spPr>
          <a:xfrm>
            <a:off x="6327648" y="3712464"/>
            <a:ext cx="4928616" cy="346049"/>
          </a:xfrm>
          <a:prstGeom prst="rect">
            <a:avLst/>
          </a:prstGeom>
          <a:noFill/>
        </p:spPr>
        <p:txBody>
          <a:bodyPr wrap="square" anchor="t">
            <a:noAutofit/>
          </a:bodyPr>
          <a:lstStyle/>
          <a:p>
            <a:pPr algn="ctr"/>
            <a:r>
              <a:rPr sz="1600" b="0" i="0">
                <a:solidFill>
                  <a:srgbClr val="5A6B7B"/>
                </a:solidFill>
                <a:latin typeface="Amazon Ember Display"/>
              </a:rPr>
              <a:t>stored side by side</a:t>
            </a:r>
          </a:p>
        </p:txBody>
      </p:sp>
      <p:sp>
        <p:nvSpPr>
          <p:cNvPr id="16" name="Freeform 15"/>
          <p:cNvSpPr/>
          <p:nvPr/>
        </p:nvSpPr>
        <p:spPr>
          <a:xfrm>
            <a:off x="4846320" y="3383280"/>
            <a:ext cx="1069848" cy="0"/>
          </a:xfrm>
          <a:custGeom>
            <a:avLst/>
            <a:gdLst/>
            <a:ahLst/>
            <a:cxnLst/>
            <a:rect l="l" t="t" r="r" b="b"/>
            <a:pathLst>
              <a:path w="1069848">
                <a:moveTo>
                  <a:pt x="0" y="0"/>
                </a:moveTo>
                <a:lnTo>
                  <a:pt x="106984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5742432" y="326440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64607" y="2845206"/>
            <a:ext cx="1069848" cy="346049"/>
          </a:xfrm>
          <a:prstGeom prst="rect">
            <a:avLst/>
          </a:prstGeom>
          <a:noFill/>
        </p:spPr>
        <p:txBody>
          <a:bodyPr wrap="square" anchor="t">
            <a:noAutofit/>
          </a:bodyPr>
          <a:lstStyle/>
          <a:p>
            <a:pPr algn="ctr"/>
            <a:r>
              <a:rPr sz="1600" b="0" i="0">
                <a:solidFill>
                  <a:srgbClr val="5A6B7B"/>
                </a:solidFill>
                <a:latin typeface="Amazon Ember Display"/>
              </a:rPr>
              <a:t>wraps it</a:t>
            </a:r>
          </a:p>
        </p:txBody>
      </p:sp>
      <p:sp>
        <p:nvSpPr>
          <p:cNvPr id="19" name="TextBox 18"/>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only the small data key travels to KMS -- the object never does</a:t>
            </a:r>
          </a:p>
        </p:txBody>
      </p:sp>
      <p:sp>
        <p:nvSpPr>
          <p:cNvPr id="20" name="TextBox 19">
            <a:hlinkClick r:id="rId4"/>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AWS KMS keys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An interface endpoint keeps traffic inside your VPC</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764792"/>
            <a:ext cx="3840480" cy="377875"/>
          </a:xfrm>
          <a:prstGeom prst="rect">
            <a:avLst/>
          </a:prstGeom>
          <a:noFill/>
        </p:spPr>
        <p:txBody>
          <a:bodyPr wrap="square" anchor="t">
            <a:noAutofit/>
          </a:bodyPr>
          <a:lstStyle/>
          <a:p>
            <a:pPr algn="l"/>
            <a:r>
              <a:rPr sz="1800" b="1" i="0">
                <a:solidFill>
                  <a:srgbClr val="5A6B7B"/>
                </a:solidFill>
                <a:latin typeface="Amazon Ember Display"/>
              </a:rPr>
              <a:t>WITHOUT AN ENDPOINT</a:t>
            </a:r>
          </a:p>
        </p:txBody>
      </p:sp>
      <p:sp>
        <p:nvSpPr>
          <p:cNvPr id="5" name="Rounded Rectangle 4"/>
          <p:cNvSpPr/>
          <p:nvPr/>
        </p:nvSpPr>
        <p:spPr>
          <a:xfrm>
            <a:off x="4590288" y="1783080"/>
            <a:ext cx="6986016" cy="1280160"/>
          </a:xfrm>
          <a:prstGeom prst="roundRect">
            <a:avLst>
              <a:gd name="adj" fmla="val 1000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736592" y="2002536"/>
            <a:ext cx="6693407" cy="346049"/>
          </a:xfrm>
          <a:prstGeom prst="rect">
            <a:avLst/>
          </a:prstGeom>
          <a:noFill/>
        </p:spPr>
        <p:txBody>
          <a:bodyPr wrap="square" anchor="ctr">
            <a:noAutofit/>
          </a:bodyPr>
          <a:lstStyle/>
          <a:p>
            <a:pPr algn="ctr"/>
            <a:r>
              <a:rPr sz="1600" b="1" i="0">
                <a:solidFill>
                  <a:srgbClr val="5A6B7B"/>
                </a:solidFill>
                <a:latin typeface="Amazon Ember Display"/>
              </a:rPr>
              <a:t>NAT gateway  -&gt;  public internet</a:t>
            </a:r>
          </a:p>
        </p:txBody>
      </p:sp>
      <p:sp>
        <p:nvSpPr>
          <p:cNvPr id="7" name="TextBox 6"/>
          <p:cNvSpPr txBox="1"/>
          <p:nvPr/>
        </p:nvSpPr>
        <p:spPr>
          <a:xfrm>
            <a:off x="4736592" y="2496312"/>
            <a:ext cx="6693407" cy="346049"/>
          </a:xfrm>
          <a:prstGeom prst="rect">
            <a:avLst/>
          </a:prstGeom>
          <a:noFill/>
        </p:spPr>
        <p:txBody>
          <a:bodyPr wrap="square" anchor="ctr">
            <a:noAutofit/>
          </a:bodyPr>
          <a:lstStyle/>
          <a:p>
            <a:pPr algn="ctr"/>
            <a:r>
              <a:rPr sz="1600" b="0" i="0">
                <a:solidFill>
                  <a:srgbClr val="5A6B7B"/>
                </a:solidFill>
                <a:latin typeface="Amazon Ember Display"/>
              </a:rPr>
              <a:t>leaves your network to reach a public service endpoint</a:t>
            </a:r>
          </a:p>
        </p:txBody>
      </p:sp>
      <p:sp>
        <p:nvSpPr>
          <p:cNvPr id="8" name="TextBox 7"/>
          <p:cNvSpPr txBox="1"/>
          <p:nvPr/>
        </p:nvSpPr>
        <p:spPr>
          <a:xfrm>
            <a:off x="612648" y="3410712"/>
            <a:ext cx="3840480" cy="377875"/>
          </a:xfrm>
          <a:prstGeom prst="rect">
            <a:avLst/>
          </a:prstGeom>
          <a:noFill/>
        </p:spPr>
        <p:txBody>
          <a:bodyPr wrap="square" anchor="t">
            <a:noAutofit/>
          </a:bodyPr>
          <a:lstStyle/>
          <a:p>
            <a:pPr algn="l"/>
            <a:r>
              <a:rPr sz="1800" b="1" i="0">
                <a:solidFill>
                  <a:srgbClr val="8F0072"/>
                </a:solidFill>
                <a:latin typeface="Amazon Ember Display"/>
              </a:rPr>
              <a:t>WITH AN INTERFACE ENDPOINT</a:t>
            </a:r>
          </a:p>
        </p:txBody>
      </p:sp>
      <p:sp>
        <p:nvSpPr>
          <p:cNvPr id="9" name="Rounded Rectangle 8"/>
          <p:cNvSpPr/>
          <p:nvPr/>
        </p:nvSpPr>
        <p:spPr>
          <a:xfrm>
            <a:off x="4590288" y="3429000"/>
            <a:ext cx="6986016" cy="1280160"/>
          </a:xfrm>
          <a:prstGeom prst="roundRect">
            <a:avLst>
              <a:gd name="adj" fmla="val 100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736592" y="3648456"/>
            <a:ext cx="6693407" cy="346049"/>
          </a:xfrm>
          <a:prstGeom prst="rect">
            <a:avLst/>
          </a:prstGeom>
          <a:noFill/>
        </p:spPr>
        <p:txBody>
          <a:bodyPr wrap="square" anchor="ctr">
            <a:noAutofit/>
          </a:bodyPr>
          <a:lstStyle/>
          <a:p>
            <a:pPr algn="ctr"/>
            <a:r>
              <a:rPr sz="1600" b="1" i="0">
                <a:solidFill>
                  <a:srgbClr val="8F0072"/>
                </a:solidFill>
                <a:latin typeface="Amazon Ember Display"/>
              </a:rPr>
              <a:t>a private address in your subnet</a:t>
            </a:r>
          </a:p>
        </p:txBody>
      </p:sp>
      <p:sp>
        <p:nvSpPr>
          <p:cNvPr id="11" name="TextBox 10"/>
          <p:cNvSpPr txBox="1"/>
          <p:nvPr/>
        </p:nvSpPr>
        <p:spPr>
          <a:xfrm>
            <a:off x="4736592" y="4142232"/>
            <a:ext cx="6693407" cy="346049"/>
          </a:xfrm>
          <a:prstGeom prst="rect">
            <a:avLst/>
          </a:prstGeom>
          <a:noFill/>
        </p:spPr>
        <p:txBody>
          <a:bodyPr wrap="square" anchor="ctr">
            <a:noAutofit/>
          </a:bodyPr>
          <a:lstStyle/>
          <a:p>
            <a:pPr algn="ctr"/>
            <a:r>
              <a:rPr sz="1600" b="0" i="0">
                <a:solidFill>
                  <a:srgbClr val="5A6B7B"/>
                </a:solidFill>
                <a:latin typeface="Amazon Ember Display"/>
              </a:rPr>
              <a:t>the call never leaves the AWS network</a:t>
            </a:r>
          </a:p>
        </p:txBody>
      </p:sp>
      <p:sp>
        <p:nvSpPr>
          <p:cNvPr id="12" name="TextBox 11"/>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application code is identical in both rows -- only the route changes</a:t>
            </a:r>
          </a:p>
        </p:txBody>
      </p:sp>
      <p:sp>
        <p:nvSpPr>
          <p:cNvPr id="13" name="TextBox 12">
            <a:hlinkClick r:id="rId3"/>
          </p:cNvPr>
          <p:cNvSpPr txBox="1"/>
          <p:nvPr/>
        </p:nvSpPr>
        <p:spPr>
          <a:xfrm>
            <a:off x="612648" y="5943600"/>
            <a:ext cx="58350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Access AWS services through AWS…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presigned URL carries the signer's permissions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011680"/>
            <a:ext cx="3276295" cy="1569110"/>
          </a:xfrm>
          <a:prstGeom prst="roundRect">
            <a:avLst>
              <a:gd name="adj" fmla="val 699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Identity-and-Access-Management_64.png"/>
          <p:cNvPicPr>
            <a:picLocks noChangeAspect="1"/>
          </p:cNvPicPr>
          <p:nvPr/>
        </p:nvPicPr>
        <p:blipFill>
          <a:blip r:embed="rId3"/>
          <a:stretch>
            <a:fillRect/>
          </a:stretch>
        </p:blipFill>
        <p:spPr>
          <a:xfrm>
            <a:off x="2022195" y="2194560"/>
            <a:ext cx="457200" cy="457200"/>
          </a:xfrm>
          <a:prstGeom prst="rect">
            <a:avLst/>
          </a:prstGeom>
        </p:spPr>
      </p:pic>
      <p:sp>
        <p:nvSpPr>
          <p:cNvPr id="6" name="TextBox 5"/>
          <p:cNvSpPr txBox="1"/>
          <p:nvPr/>
        </p:nvSpPr>
        <p:spPr>
          <a:xfrm>
            <a:off x="722376" y="2724912"/>
            <a:ext cx="3056839" cy="346049"/>
          </a:xfrm>
          <a:prstGeom prst="rect">
            <a:avLst/>
          </a:prstGeom>
          <a:noFill/>
        </p:spPr>
        <p:txBody>
          <a:bodyPr wrap="square" anchor="ctr">
            <a:noAutofit/>
          </a:bodyPr>
          <a:lstStyle/>
          <a:p>
            <a:pPr algn="ctr"/>
            <a:r>
              <a:rPr sz="1600" b="1" i="0">
                <a:solidFill>
                  <a:srgbClr val="8F0072"/>
                </a:solidFill>
                <a:latin typeface="Amazon Ember Display"/>
              </a:rPr>
              <a:t>the signer</a:t>
            </a:r>
          </a:p>
        </p:txBody>
      </p:sp>
      <p:sp>
        <p:nvSpPr>
          <p:cNvPr id="7" name="TextBox 6"/>
          <p:cNvSpPr txBox="1"/>
          <p:nvPr/>
        </p:nvSpPr>
        <p:spPr>
          <a:xfrm>
            <a:off x="722376" y="3107131"/>
            <a:ext cx="3056839" cy="346049"/>
          </a:xfrm>
          <a:prstGeom prst="rect">
            <a:avLst/>
          </a:prstGeom>
          <a:noFill/>
        </p:spPr>
        <p:txBody>
          <a:bodyPr wrap="square" anchor="ctr">
            <a:noAutofit/>
          </a:bodyPr>
          <a:lstStyle/>
          <a:p>
            <a:pPr algn="ctr"/>
            <a:r>
              <a:rPr sz="1600" b="0" i="0">
                <a:solidFill>
                  <a:srgbClr val="5A6B7B"/>
                </a:solidFill>
                <a:latin typeface="Amazon Ember Display"/>
              </a:rPr>
              <a:t>an IAM principal</a:t>
            </a:r>
          </a:p>
        </p:txBody>
      </p:sp>
      <p:sp>
        <p:nvSpPr>
          <p:cNvPr id="8" name="Rounded Rectangle 7"/>
          <p:cNvSpPr/>
          <p:nvPr/>
        </p:nvSpPr>
        <p:spPr>
          <a:xfrm>
            <a:off x="4455871" y="2011680"/>
            <a:ext cx="3276295" cy="1569110"/>
          </a:xfrm>
          <a:prstGeom prst="roundRect">
            <a:avLst>
              <a:gd name="adj" fmla="val 699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Simple-Storage-Service_64.png"/>
          <p:cNvPicPr>
            <a:picLocks noChangeAspect="1"/>
          </p:cNvPicPr>
          <p:nvPr/>
        </p:nvPicPr>
        <p:blipFill>
          <a:blip r:embed="rId4"/>
          <a:stretch>
            <a:fillRect/>
          </a:stretch>
        </p:blipFill>
        <p:spPr>
          <a:xfrm>
            <a:off x="5865418" y="2194560"/>
            <a:ext cx="457200" cy="457200"/>
          </a:xfrm>
          <a:prstGeom prst="rect">
            <a:avLst/>
          </a:prstGeom>
        </p:spPr>
      </p:pic>
      <p:sp>
        <p:nvSpPr>
          <p:cNvPr id="10" name="TextBox 9"/>
          <p:cNvSpPr txBox="1"/>
          <p:nvPr/>
        </p:nvSpPr>
        <p:spPr>
          <a:xfrm>
            <a:off x="4565599" y="2724912"/>
            <a:ext cx="3056839" cy="346049"/>
          </a:xfrm>
          <a:prstGeom prst="rect">
            <a:avLst/>
          </a:prstGeom>
          <a:noFill/>
        </p:spPr>
        <p:txBody>
          <a:bodyPr wrap="square" anchor="ctr">
            <a:noAutofit/>
          </a:bodyPr>
          <a:lstStyle/>
          <a:p>
            <a:pPr algn="ctr"/>
            <a:r>
              <a:rPr sz="1600" b="1" i="0">
                <a:solidFill>
                  <a:srgbClr val="8F0072"/>
                </a:solidFill>
                <a:latin typeface="Amazon Ember Display"/>
              </a:rPr>
              <a:t>signs a URL</a:t>
            </a:r>
          </a:p>
        </p:txBody>
      </p:sp>
      <p:sp>
        <p:nvSpPr>
          <p:cNvPr id="11" name="TextBox 10"/>
          <p:cNvSpPr txBox="1"/>
          <p:nvPr/>
        </p:nvSpPr>
        <p:spPr>
          <a:xfrm>
            <a:off x="4565599" y="3107131"/>
            <a:ext cx="3056839" cy="346049"/>
          </a:xfrm>
          <a:prstGeom prst="rect">
            <a:avLst/>
          </a:prstGeom>
          <a:noFill/>
        </p:spPr>
        <p:txBody>
          <a:bodyPr wrap="square" anchor="ctr">
            <a:noAutofit/>
          </a:bodyPr>
          <a:lstStyle/>
          <a:p>
            <a:pPr algn="ctr"/>
            <a:r>
              <a:rPr sz="1600" b="0" i="0">
                <a:solidFill>
                  <a:srgbClr val="5A6B7B"/>
                </a:solidFill>
                <a:latin typeface="Amazon Ember Display"/>
              </a:rPr>
              <a:t>one object, with an expiry</a:t>
            </a:r>
          </a:p>
        </p:txBody>
      </p:sp>
      <p:sp>
        <p:nvSpPr>
          <p:cNvPr id="12" name="Freeform 11"/>
          <p:cNvSpPr/>
          <p:nvPr/>
        </p:nvSpPr>
        <p:spPr>
          <a:xfrm>
            <a:off x="3934663" y="2796235"/>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4190695" y="2677363"/>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99094" y="2011680"/>
            <a:ext cx="3276295" cy="1569110"/>
          </a:xfrm>
          <a:prstGeom prst="roundRect">
            <a:avLst>
              <a:gd name="adj" fmla="val 699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Res_Users_48_Light.png"/>
          <p:cNvPicPr>
            <a:picLocks noChangeAspect="1"/>
          </p:cNvPicPr>
          <p:nvPr/>
        </p:nvPicPr>
        <p:blipFill>
          <a:blip r:embed="rId5"/>
          <a:stretch>
            <a:fillRect/>
          </a:stretch>
        </p:blipFill>
        <p:spPr>
          <a:xfrm>
            <a:off x="9708642" y="2194560"/>
            <a:ext cx="457200" cy="457200"/>
          </a:xfrm>
          <a:prstGeom prst="rect">
            <a:avLst/>
          </a:prstGeom>
        </p:spPr>
      </p:pic>
      <p:sp>
        <p:nvSpPr>
          <p:cNvPr id="16" name="TextBox 15"/>
          <p:cNvSpPr txBox="1"/>
          <p:nvPr/>
        </p:nvSpPr>
        <p:spPr>
          <a:xfrm>
            <a:off x="8408822" y="2724912"/>
            <a:ext cx="3056839" cy="346049"/>
          </a:xfrm>
          <a:prstGeom prst="rect">
            <a:avLst/>
          </a:prstGeom>
          <a:noFill/>
        </p:spPr>
        <p:txBody>
          <a:bodyPr wrap="square" anchor="ctr">
            <a:noAutofit/>
          </a:bodyPr>
          <a:lstStyle/>
          <a:p>
            <a:pPr algn="ctr"/>
            <a:r>
              <a:rPr sz="1600" b="1" i="0">
                <a:solidFill>
                  <a:srgbClr val="8F0072"/>
                </a:solidFill>
                <a:latin typeface="Amazon Ember Display"/>
              </a:rPr>
              <a:t>anyone with the link</a:t>
            </a:r>
          </a:p>
        </p:txBody>
      </p:sp>
      <p:sp>
        <p:nvSpPr>
          <p:cNvPr id="17" name="TextBox 16"/>
          <p:cNvSpPr txBox="1"/>
          <p:nvPr/>
        </p:nvSpPr>
        <p:spPr>
          <a:xfrm>
            <a:off x="8408822" y="3107131"/>
            <a:ext cx="3056839" cy="346049"/>
          </a:xfrm>
          <a:prstGeom prst="rect">
            <a:avLst/>
          </a:prstGeom>
          <a:noFill/>
        </p:spPr>
        <p:txBody>
          <a:bodyPr wrap="square" anchor="ctr">
            <a:noAutofit/>
          </a:bodyPr>
          <a:lstStyle/>
          <a:p>
            <a:pPr algn="ctr"/>
            <a:r>
              <a:rPr sz="1600" b="0" i="0">
                <a:solidFill>
                  <a:srgbClr val="5A6B7B"/>
                </a:solidFill>
                <a:latin typeface="Amazon Ember Display"/>
              </a:rPr>
              <a:t>acts AS the signer</a:t>
            </a:r>
          </a:p>
        </p:txBody>
      </p:sp>
      <p:sp>
        <p:nvSpPr>
          <p:cNvPr id="18" name="Freeform 17"/>
          <p:cNvSpPr/>
          <p:nvPr/>
        </p:nvSpPr>
        <p:spPr>
          <a:xfrm>
            <a:off x="7777886" y="2796235"/>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033918" y="2677363"/>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807208" y="3891686"/>
            <a:ext cx="6574536"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2880360" y="3983126"/>
            <a:ext cx="6428232" cy="346049"/>
          </a:xfrm>
          <a:prstGeom prst="rect">
            <a:avLst/>
          </a:prstGeom>
          <a:noFill/>
        </p:spPr>
        <p:txBody>
          <a:bodyPr wrap="square" anchor="ctr">
            <a:noAutofit/>
          </a:bodyPr>
          <a:lstStyle/>
          <a:p>
            <a:pPr algn="ctr"/>
            <a:r>
              <a:rPr sz="1600" b="1" i="0">
                <a:solidFill>
                  <a:srgbClr val="FFFFFF"/>
                </a:solidFill>
                <a:latin typeface="Amazon Ember Display"/>
              </a:rPr>
              <a:t>no revoke -- expiry and a narrow signer are the controls</a:t>
            </a:r>
          </a:p>
        </p:txBody>
      </p:sp>
      <p:sp>
        <p:nvSpPr>
          <p:cNvPr id="22" name="TextBox 21"/>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review what the SIGNER can do, not just who received the link</a:t>
            </a:r>
          </a:p>
        </p:txBody>
      </p:sp>
      <p:sp>
        <p:nvSpPr>
          <p:cNvPr id="23" name="TextBox 22">
            <a:hlinkClick r:id="rId6"/>
          </p:cNvPr>
          <p:cNvSpPr txBox="1"/>
          <p:nvPr/>
        </p:nvSpPr>
        <p:spPr>
          <a:xfrm>
            <a:off x="612648" y="5943600"/>
            <a:ext cx="59264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Download and upload objects with…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Only CloudFront can read the bucket behind an OAC</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638542" y="2286000"/>
            <a:ext cx="3017520" cy="2011680"/>
          </a:xfrm>
          <a:prstGeom prst="roundRect">
            <a:avLst>
              <a:gd name="adj" fmla="val 636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Simple-Storage-Service_64.png"/>
          <p:cNvPicPr>
            <a:picLocks noChangeAspect="1"/>
          </p:cNvPicPr>
          <p:nvPr/>
        </p:nvPicPr>
        <p:blipFill>
          <a:blip r:embed="rId3"/>
          <a:stretch>
            <a:fillRect/>
          </a:stretch>
        </p:blipFill>
        <p:spPr>
          <a:xfrm>
            <a:off x="7918702" y="2698851"/>
            <a:ext cx="457200" cy="457200"/>
          </a:xfrm>
          <a:prstGeom prst="rect">
            <a:avLst/>
          </a:prstGeom>
        </p:spPr>
      </p:pic>
      <p:sp>
        <p:nvSpPr>
          <p:cNvPr id="6" name="TextBox 5"/>
          <p:cNvSpPr txBox="1"/>
          <p:nvPr/>
        </p:nvSpPr>
        <p:spPr>
          <a:xfrm>
            <a:off x="6748269" y="3229203"/>
            <a:ext cx="2798063" cy="346049"/>
          </a:xfrm>
          <a:prstGeom prst="rect">
            <a:avLst/>
          </a:prstGeom>
          <a:noFill/>
        </p:spPr>
        <p:txBody>
          <a:bodyPr wrap="square" anchor="ctr">
            <a:noAutofit/>
          </a:bodyPr>
          <a:lstStyle/>
          <a:p>
            <a:pPr algn="ctr"/>
            <a:r>
              <a:rPr sz="1600" b="1" i="0">
                <a:solidFill>
                  <a:srgbClr val="8F0072"/>
                </a:solidFill>
                <a:latin typeface="Amazon Ember Display"/>
              </a:rPr>
              <a:t>private bucket</a:t>
            </a:r>
          </a:p>
        </p:txBody>
      </p:sp>
      <p:sp>
        <p:nvSpPr>
          <p:cNvPr id="7" name="TextBox 6"/>
          <p:cNvSpPr txBox="1"/>
          <p:nvPr/>
        </p:nvSpPr>
        <p:spPr>
          <a:xfrm>
            <a:off x="6748269" y="3575253"/>
            <a:ext cx="2798063" cy="346049"/>
          </a:xfrm>
          <a:prstGeom prst="rect">
            <a:avLst/>
          </a:prstGeom>
          <a:noFill/>
        </p:spPr>
        <p:txBody>
          <a:bodyPr wrap="square" anchor="ctr">
            <a:noAutofit/>
          </a:bodyPr>
          <a:lstStyle/>
          <a:p>
            <a:pPr algn="ctr"/>
            <a:r>
              <a:rPr sz="1600" b="0" i="0">
                <a:solidFill>
                  <a:srgbClr val="5A6B7B"/>
                </a:solidFill>
                <a:latin typeface="Amazon Ember Display"/>
              </a:rPr>
              <a:t>no public access</a:t>
            </a:r>
          </a:p>
        </p:txBody>
      </p:sp>
      <p:sp>
        <p:nvSpPr>
          <p:cNvPr id="8" name="Rounded Rectangle 7"/>
          <p:cNvSpPr/>
          <p:nvPr/>
        </p:nvSpPr>
        <p:spPr>
          <a:xfrm>
            <a:off x="2523741" y="1920240"/>
            <a:ext cx="3017520" cy="1097280"/>
          </a:xfrm>
          <a:prstGeom prst="roundRect">
            <a:avLst>
              <a:gd name="adj" fmla="val 11666"/>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CloudFront_64.png"/>
          <p:cNvPicPr>
            <a:picLocks noChangeAspect="1"/>
          </p:cNvPicPr>
          <p:nvPr/>
        </p:nvPicPr>
        <p:blipFill>
          <a:blip r:embed="rId4"/>
          <a:stretch>
            <a:fillRect/>
          </a:stretch>
        </p:blipFill>
        <p:spPr>
          <a:xfrm>
            <a:off x="2706622" y="2240280"/>
            <a:ext cx="457200" cy="457200"/>
          </a:xfrm>
          <a:prstGeom prst="rect">
            <a:avLst/>
          </a:prstGeom>
        </p:spPr>
      </p:pic>
      <p:sp>
        <p:nvSpPr>
          <p:cNvPr id="10" name="TextBox 9"/>
          <p:cNvSpPr txBox="1"/>
          <p:nvPr/>
        </p:nvSpPr>
        <p:spPr>
          <a:xfrm>
            <a:off x="3401566" y="2122830"/>
            <a:ext cx="2011679" cy="346049"/>
          </a:xfrm>
          <a:prstGeom prst="rect">
            <a:avLst/>
          </a:prstGeom>
          <a:noFill/>
        </p:spPr>
        <p:txBody>
          <a:bodyPr wrap="square" anchor="ctr">
            <a:noAutofit/>
          </a:bodyPr>
          <a:lstStyle/>
          <a:p>
            <a:pPr algn="l"/>
            <a:r>
              <a:rPr sz="1600" b="1" i="0">
                <a:solidFill>
                  <a:srgbClr val="8F0072"/>
                </a:solidFill>
                <a:latin typeface="Amazon Ember Display"/>
              </a:rPr>
              <a:t>CloudFront</a:t>
            </a:r>
          </a:p>
        </p:txBody>
      </p:sp>
      <p:sp>
        <p:nvSpPr>
          <p:cNvPr id="11" name="TextBox 10"/>
          <p:cNvSpPr txBox="1"/>
          <p:nvPr/>
        </p:nvSpPr>
        <p:spPr>
          <a:xfrm>
            <a:off x="3401566" y="2468880"/>
            <a:ext cx="2011679" cy="346049"/>
          </a:xfrm>
          <a:prstGeom prst="rect">
            <a:avLst/>
          </a:prstGeom>
          <a:noFill/>
        </p:spPr>
        <p:txBody>
          <a:bodyPr wrap="square" anchor="ctr">
            <a:noAutofit/>
          </a:bodyPr>
          <a:lstStyle/>
          <a:p>
            <a:pPr algn="l"/>
            <a:r>
              <a:rPr sz="1600" b="0" i="0">
                <a:solidFill>
                  <a:srgbClr val="5A6B7B"/>
                </a:solidFill>
                <a:latin typeface="Amazon Ember Display"/>
              </a:rPr>
              <a:t>named in the policy</a:t>
            </a:r>
          </a:p>
        </p:txBody>
      </p:sp>
      <p:sp>
        <p:nvSpPr>
          <p:cNvPr id="12" name="Freeform 11"/>
          <p:cNvSpPr/>
          <p:nvPr/>
        </p:nvSpPr>
        <p:spPr>
          <a:xfrm>
            <a:off x="5586981" y="2468880"/>
            <a:ext cx="960121" cy="0"/>
          </a:xfrm>
          <a:custGeom>
            <a:avLst/>
            <a:gdLst/>
            <a:ahLst/>
            <a:cxnLst/>
            <a:rect l="l" t="t" r="r" b="b"/>
            <a:pathLst>
              <a:path w="960121">
                <a:moveTo>
                  <a:pt x="0" y="0"/>
                </a:moveTo>
                <a:lnTo>
                  <a:pt x="960121" y="0"/>
                </a:lnTo>
              </a:path>
            </a:pathLst>
          </a:custGeom>
          <a:noFill/>
          <a:ln w="444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6373365" y="2350008"/>
            <a:ext cx="192025" cy="237744"/>
          </a:xfrm>
          <a:custGeom>
            <a:avLst/>
            <a:gdLst/>
            <a:ahLst/>
            <a:cxnLst/>
            <a:rect l="l" t="t" r="r" b="b"/>
            <a:pathLst>
              <a:path w="192025" h="237744">
                <a:moveTo>
                  <a:pt x="0" y="0"/>
                </a:moveTo>
                <a:lnTo>
                  <a:pt x="192025" y="118872"/>
                </a:lnTo>
                <a:lnTo>
                  <a:pt x="0" y="237744"/>
                </a:lnTo>
              </a:path>
            </a:pathLst>
          </a:custGeom>
          <a:noFill/>
          <a:ln w="444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523741" y="3611880"/>
            <a:ext cx="3017520" cy="1005840"/>
          </a:xfrm>
          <a:prstGeom prst="roundRect">
            <a:avLst>
              <a:gd name="adj" fmla="val 12727"/>
            </a:avLst>
          </a:prstGeom>
          <a:solidFill>
            <a:srgbClr val="FFFFFF"/>
          </a:solidFill>
          <a:ln w="254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651757" y="3831336"/>
            <a:ext cx="2761487" cy="346049"/>
          </a:xfrm>
          <a:prstGeom prst="rect">
            <a:avLst/>
          </a:prstGeom>
          <a:noFill/>
        </p:spPr>
        <p:txBody>
          <a:bodyPr wrap="square" anchor="t">
            <a:noAutofit/>
          </a:bodyPr>
          <a:lstStyle/>
          <a:p>
            <a:pPr algn="ctr"/>
            <a:r>
              <a:rPr sz="1600" b="1" i="0">
                <a:solidFill>
                  <a:srgbClr val="5A6B7B"/>
                </a:solidFill>
                <a:latin typeface="Amazon Ember Display"/>
              </a:rPr>
              <a:t>anyone else</a:t>
            </a:r>
          </a:p>
        </p:txBody>
      </p:sp>
      <p:sp>
        <p:nvSpPr>
          <p:cNvPr id="16" name="TextBox 15"/>
          <p:cNvSpPr txBox="1"/>
          <p:nvPr/>
        </p:nvSpPr>
        <p:spPr>
          <a:xfrm>
            <a:off x="2651757" y="4178808"/>
            <a:ext cx="2761487" cy="346049"/>
          </a:xfrm>
          <a:prstGeom prst="rect">
            <a:avLst/>
          </a:prstGeom>
          <a:noFill/>
        </p:spPr>
        <p:txBody>
          <a:bodyPr wrap="square" anchor="t">
            <a:noAutofit/>
          </a:bodyPr>
          <a:lstStyle/>
          <a:p>
            <a:pPr algn="ctr"/>
            <a:r>
              <a:rPr sz="1600" b="0" i="0">
                <a:solidFill>
                  <a:srgbClr val="5A6B7B"/>
                </a:solidFill>
                <a:latin typeface="Amazon Ember Display"/>
              </a:rPr>
              <a:t>straight at the bucket URL</a:t>
            </a:r>
          </a:p>
        </p:txBody>
      </p:sp>
      <p:sp>
        <p:nvSpPr>
          <p:cNvPr id="17" name="Freeform 16"/>
          <p:cNvSpPr/>
          <p:nvPr/>
        </p:nvSpPr>
        <p:spPr>
          <a:xfrm>
            <a:off x="5586981" y="4114800"/>
            <a:ext cx="960121" cy="0"/>
          </a:xfrm>
          <a:custGeom>
            <a:avLst/>
            <a:gdLst/>
            <a:ahLst/>
            <a:cxnLst/>
            <a:rect l="l" t="t" r="r" b="b"/>
            <a:pathLst>
              <a:path w="960121">
                <a:moveTo>
                  <a:pt x="0" y="0"/>
                </a:moveTo>
                <a:lnTo>
                  <a:pt x="960121" y="0"/>
                </a:lnTo>
              </a:path>
            </a:pathLst>
          </a:custGeom>
          <a:noFill/>
          <a:ln w="31750" cap="rnd">
            <a:solidFill>
              <a:srgbClr val="DEDEE3"/>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6373365" y="3995928"/>
            <a:ext cx="192025" cy="237744"/>
          </a:xfrm>
          <a:custGeom>
            <a:avLst/>
            <a:gdLst/>
            <a:ahLst/>
            <a:cxnLst/>
            <a:rect l="l" t="t" r="r" b="b"/>
            <a:pathLst>
              <a:path w="192025" h="237744">
                <a:moveTo>
                  <a:pt x="0" y="0"/>
                </a:moveTo>
                <a:lnTo>
                  <a:pt x="192025" y="118872"/>
                </a:lnTo>
                <a:lnTo>
                  <a:pt x="0" y="237744"/>
                </a:lnTo>
              </a:path>
            </a:pathLst>
          </a:custGeom>
          <a:noFill/>
          <a:ln w="31750" cap="rnd">
            <a:solidFill>
              <a:srgbClr val="DEDEE3"/>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14414" y="3576726"/>
            <a:ext cx="969264" cy="346049"/>
          </a:xfrm>
          <a:prstGeom prst="rect">
            <a:avLst/>
          </a:prstGeom>
          <a:noFill/>
        </p:spPr>
        <p:txBody>
          <a:bodyPr wrap="square" anchor="t">
            <a:noAutofit/>
          </a:bodyPr>
          <a:lstStyle/>
          <a:p>
            <a:pPr algn="ctr"/>
            <a:r>
              <a:rPr sz="1600" b="1" i="0">
                <a:solidFill>
                  <a:srgbClr val="5A6B7B"/>
                </a:solidFill>
                <a:latin typeface="Amazon Ember Display"/>
              </a:rPr>
              <a:t>refused</a:t>
            </a:r>
          </a:p>
        </p:txBody>
      </p:sp>
      <p:sp>
        <p:nvSpPr>
          <p:cNvPr id="20" name="TextBox 19"/>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a presigned URL gives a PERSON one object; an OAC gives a SERVICE the origin</a:t>
            </a:r>
          </a:p>
        </p:txBody>
      </p:sp>
      <p:sp>
        <p:nvSpPr>
          <p:cNvPr id="21" name="TextBox 20">
            <a:hlinkClick r:id="rId5"/>
          </p:cNvPr>
          <p:cNvSpPr txBox="1"/>
          <p:nvPr/>
        </p:nvSpPr>
        <p:spPr>
          <a:xfrm>
            <a:off x="612648" y="5943600"/>
            <a:ext cx="63836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Restrict access to an Amazon S3 origin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Where the certificate lands picks the ACM path</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1093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Managed automation with integrated…</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AN INTEGRATED SERVICE</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12264"/>
            <a:ext cx="4828031" cy="377875"/>
          </a:xfrm>
          <a:prstGeom prst="rect">
            <a:avLst/>
          </a:prstGeom>
          <a:noFill/>
        </p:spPr>
        <p:txBody>
          <a:bodyPr wrap="square" anchor="t">
            <a:noAutofit/>
          </a:bodyPr>
          <a:lstStyle/>
          <a:p>
            <a:pPr algn="ctr"/>
            <a:r>
              <a:rPr sz="1800" b="1" i="0">
                <a:solidFill>
                  <a:srgbClr val="5A6B7B"/>
                </a:solidFill>
                <a:latin typeface="Amazon Ember Display"/>
              </a:rPr>
              <a:t>deployed onto the service</a:t>
            </a:r>
          </a:p>
        </p:txBody>
      </p:sp>
      <p:sp>
        <p:nvSpPr>
          <p:cNvPr id="9" name="Rounded Rectangle 8"/>
          <p:cNvSpPr/>
          <p:nvPr/>
        </p:nvSpPr>
        <p:spPr>
          <a:xfrm>
            <a:off x="85039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646680"/>
            <a:ext cx="4389119" cy="346049"/>
          </a:xfrm>
          <a:prstGeom prst="rect">
            <a:avLst/>
          </a:prstGeom>
          <a:noFill/>
        </p:spPr>
        <p:txBody>
          <a:bodyPr wrap="square" anchor="t">
            <a:noAutofit/>
          </a:bodyPr>
          <a:lstStyle/>
          <a:p>
            <a:pPr algn="l"/>
            <a:r>
              <a:rPr sz="1600" b="1" i="0">
                <a:solidFill>
                  <a:srgbClr val="232B37"/>
                </a:solidFill>
                <a:latin typeface="Amazon Ember Display"/>
              </a:rPr>
              <a:t>ACM installs and renews it for you</a:t>
            </a:r>
          </a:p>
        </p:txBody>
      </p:sp>
      <p:sp>
        <p:nvSpPr>
          <p:cNvPr id="11" name="Rounded Rectangle 10"/>
          <p:cNvSpPr/>
          <p:nvPr/>
        </p:nvSpPr>
        <p:spPr>
          <a:xfrm>
            <a:off x="85039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250184"/>
            <a:ext cx="4389119" cy="346049"/>
          </a:xfrm>
          <a:prstGeom prst="rect">
            <a:avLst/>
          </a:prstGeom>
          <a:noFill/>
        </p:spPr>
        <p:txBody>
          <a:bodyPr wrap="square" anchor="t">
            <a:noAutofit/>
          </a:bodyPr>
          <a:lstStyle/>
          <a:p>
            <a:pPr algn="l"/>
            <a:r>
              <a:rPr sz="1600" b="1" i="0">
                <a:solidFill>
                  <a:srgbClr val="232B37"/>
                </a:solidFill>
                <a:latin typeface="Amazon Ember Display"/>
              </a:rPr>
              <a:t>ELB, CloudFront, API Gateway, Beanstalk</a:t>
            </a:r>
          </a:p>
        </p:txBody>
      </p:sp>
      <p:sp>
        <p:nvSpPr>
          <p:cNvPr id="13" name="Rounded Rectangle 12"/>
          <p:cNvSpPr/>
          <p:nvPr/>
        </p:nvSpPr>
        <p:spPr>
          <a:xfrm>
            <a:off x="85039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3853688"/>
            <a:ext cx="4389119" cy="346049"/>
          </a:xfrm>
          <a:prstGeom prst="rect">
            <a:avLst/>
          </a:prstGeom>
          <a:noFill/>
        </p:spPr>
        <p:txBody>
          <a:bodyPr wrap="square" anchor="t">
            <a:noAutofit/>
          </a:bodyPr>
          <a:lstStyle/>
          <a:p>
            <a:pPr algn="l"/>
            <a:r>
              <a:rPr sz="1600" b="1" i="0">
                <a:solidFill>
                  <a:srgbClr val="232B37"/>
                </a:solidFill>
                <a:latin typeface="Amazon Ember Display"/>
              </a:rPr>
              <a:t>a CloudFront cert must be in us-east-1</a:t>
            </a:r>
          </a:p>
        </p:txBody>
      </p:sp>
      <p:sp>
        <p:nvSpPr>
          <p:cNvPr id="15" name="Rounded Rectangle 14"/>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ANYTHING ELSE</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112264"/>
            <a:ext cx="4828031" cy="377875"/>
          </a:xfrm>
          <a:prstGeom prst="rect">
            <a:avLst/>
          </a:prstGeom>
          <a:noFill/>
        </p:spPr>
        <p:txBody>
          <a:bodyPr wrap="square" anchor="t">
            <a:noAutofit/>
          </a:bodyPr>
          <a:lstStyle/>
          <a:p>
            <a:pPr algn="ctr"/>
            <a:r>
              <a:rPr sz="1800" b="1" i="0">
                <a:solidFill>
                  <a:srgbClr val="5A6B7B"/>
                </a:solidFill>
                <a:latin typeface="Amazon Ember Display"/>
              </a:rPr>
              <a:t>you install it yourself</a:t>
            </a:r>
          </a:p>
        </p:txBody>
      </p:sp>
      <p:sp>
        <p:nvSpPr>
          <p:cNvPr id="19" name="Rounded Rectangle 18"/>
          <p:cNvSpPr/>
          <p:nvPr/>
        </p:nvSpPr>
        <p:spPr>
          <a:xfrm>
            <a:off x="651967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646680"/>
            <a:ext cx="4389119" cy="346049"/>
          </a:xfrm>
          <a:prstGeom prst="rect">
            <a:avLst/>
          </a:prstGeom>
          <a:noFill/>
        </p:spPr>
        <p:txBody>
          <a:bodyPr wrap="square" anchor="t">
            <a:noAutofit/>
          </a:bodyPr>
          <a:lstStyle/>
          <a:p>
            <a:pPr algn="l"/>
            <a:r>
              <a:rPr sz="1600" b="1" i="0">
                <a:solidFill>
                  <a:srgbClr val="232B37"/>
                </a:solidFill>
                <a:latin typeface="Amazon Ember Display"/>
              </a:rPr>
              <a:t>use the ACME protocol</a:t>
            </a:r>
          </a:p>
        </p:txBody>
      </p:sp>
      <p:sp>
        <p:nvSpPr>
          <p:cNvPr id="21" name="Rounded Rectangle 20"/>
          <p:cNvSpPr/>
          <p:nvPr/>
        </p:nvSpPr>
        <p:spPr>
          <a:xfrm>
            <a:off x="651967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250184"/>
            <a:ext cx="4389119" cy="346049"/>
          </a:xfrm>
          <a:prstGeom prst="rect">
            <a:avLst/>
          </a:prstGeom>
          <a:noFill/>
        </p:spPr>
        <p:txBody>
          <a:bodyPr wrap="square" anchor="t">
            <a:noAutofit/>
          </a:bodyPr>
          <a:lstStyle/>
          <a:p>
            <a:pPr algn="l"/>
            <a:r>
              <a:rPr sz="1600" b="1" i="0">
                <a:solidFill>
                  <a:srgbClr val="232B37"/>
                </a:solidFill>
                <a:latin typeface="Amazon Ember Display"/>
              </a:rPr>
              <a:t>or exportable certificates</a:t>
            </a:r>
          </a:p>
        </p:txBody>
      </p:sp>
      <p:sp>
        <p:nvSpPr>
          <p:cNvPr id="23" name="Rounded Rectangle 22"/>
          <p:cNvSpPr/>
          <p:nvPr/>
        </p:nvSpPr>
        <p:spPr>
          <a:xfrm>
            <a:off x="651967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853688"/>
            <a:ext cx="4389119" cy="346049"/>
          </a:xfrm>
          <a:prstGeom prst="rect">
            <a:avLst/>
          </a:prstGeom>
          <a:noFill/>
        </p:spPr>
        <p:txBody>
          <a:bodyPr wrap="square" anchor="t">
            <a:noAutofit/>
          </a:bodyPr>
          <a:lstStyle/>
          <a:p>
            <a:pPr algn="l"/>
            <a:r>
              <a:rPr sz="1600" b="1" i="0">
                <a:solidFill>
                  <a:srgbClr val="232B37"/>
                </a:solidFill>
                <a:latin typeface="Amazon Ember Display"/>
              </a:rPr>
              <a:t>ACME certs are refused by these services</a:t>
            </a:r>
          </a:p>
        </p:txBody>
      </p:sp>
      <p:sp>
        <p:nvSpPr>
          <p:cNvPr id="25" name="TextBox 24"/>
          <p:cNvSpPr txBox="1"/>
          <p:nvPr/>
        </p:nvSpPr>
        <p:spPr>
          <a:xfrm>
            <a:off x="612648" y="4736592"/>
            <a:ext cx="10972800" cy="441528"/>
          </a:xfrm>
          <a:prstGeom prst="rect">
            <a:avLst/>
          </a:prstGeom>
          <a:noFill/>
        </p:spPr>
        <p:txBody>
          <a:bodyPr wrap="square" anchor="ctr">
            <a:noAutofit/>
          </a:bodyPr>
          <a:lstStyle/>
          <a:p>
            <a:pPr algn="ctr"/>
            <a:r>
              <a:rPr sz="2200" b="1" i="0">
                <a:solidFill>
                  <a:srgbClr val="8F0072"/>
                </a:solidFill>
                <a:latin typeface="Amazon Ember Display"/>
              </a:rPr>
              <a:t>the two paths do not mix -- an ACME certificate cannot attach to these services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Who is allowed to do what?</a:t>
            </a:r>
          </a:p>
        </p:txBody>
      </p:sp>
      <p:sp>
        <p:nvSpPr>
          <p:cNvPr id="3" name="Text Placeholder 2"/>
          <p:cNvSpPr>
            <a:spLocks noGrp="1"/>
          </p:cNvSpPr>
          <p:nvPr>
            <p:ph type="body" sz="quarter" idx="11"/>
          </p:nvPr>
        </p:nvSpPr>
        <p:spPr>
          <a:xfrm>
            <a:off x="322916" y="2434551"/>
            <a:ext cx="4303395" cy="377875"/>
          </a:xfrm>
        </p:spPr>
        <p:txBody>
          <a:bodyPr/>
          <a:lstStyle/>
          <a:p>
            <a:r>
              <a:rPr sz="1800" b="1">
                <a:solidFill>
                  <a:srgbClr val="FF57E9"/>
                </a:solidFill>
                <a:latin typeface="Amazon Ember Display"/>
              </a:rPr>
              <a:t>PERMISSIONS AND POLICIES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An explicit Deny always wins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05356"/>
            <a:ext cx="9453981" cy="984808"/>
          </a:xfrm>
          <a:prstGeom prst="roundRect">
            <a:avLst>
              <a:gd name="adj" fmla="val 11142"/>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1851660"/>
            <a:ext cx="9088221" cy="377875"/>
          </a:xfrm>
          <a:prstGeom prst="rect">
            <a:avLst/>
          </a:prstGeom>
          <a:noFill/>
        </p:spPr>
        <p:txBody>
          <a:bodyPr wrap="square" anchor="ctr">
            <a:noAutofit/>
          </a:bodyPr>
          <a:lstStyle/>
          <a:p>
            <a:pPr algn="l"/>
            <a:r>
              <a:rPr sz="1800" b="1" i="0">
                <a:solidFill>
                  <a:srgbClr val="8F0072"/>
                </a:solidFill>
                <a:latin typeface="Amazon Ember Display"/>
              </a:rPr>
              <a:t>EXPLICIT DENY</a:t>
            </a:r>
          </a:p>
        </p:txBody>
      </p:sp>
      <p:sp>
        <p:nvSpPr>
          <p:cNvPr id="6" name="TextBox 5"/>
          <p:cNvSpPr txBox="1"/>
          <p:nvPr/>
        </p:nvSpPr>
        <p:spPr>
          <a:xfrm>
            <a:off x="795528" y="2197709"/>
            <a:ext cx="9088221" cy="346049"/>
          </a:xfrm>
          <a:prstGeom prst="rect">
            <a:avLst/>
          </a:prstGeom>
          <a:noFill/>
        </p:spPr>
        <p:txBody>
          <a:bodyPr wrap="square" anchor="ctr">
            <a:noAutofit/>
          </a:bodyPr>
          <a:lstStyle/>
          <a:p>
            <a:pPr algn="l"/>
            <a:r>
              <a:rPr sz="1600" b="0" i="0">
                <a:solidFill>
                  <a:srgbClr val="5A6B7B"/>
                </a:solidFill>
                <a:latin typeface="Amazon Ember Display"/>
              </a:rPr>
              <a:t>beats every Allow, from any policy</a:t>
            </a:r>
          </a:p>
        </p:txBody>
      </p:sp>
      <p:sp>
        <p:nvSpPr>
          <p:cNvPr id="7" name="Rounded Rectangle 6"/>
          <p:cNvSpPr/>
          <p:nvPr/>
        </p:nvSpPr>
        <p:spPr>
          <a:xfrm>
            <a:off x="10340949" y="1960016"/>
            <a:ext cx="1235354"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414101" y="2051456"/>
            <a:ext cx="1089050" cy="346049"/>
          </a:xfrm>
          <a:prstGeom prst="rect">
            <a:avLst/>
          </a:prstGeom>
          <a:noFill/>
        </p:spPr>
        <p:txBody>
          <a:bodyPr wrap="square" anchor="ctr">
            <a:noAutofit/>
          </a:bodyPr>
          <a:lstStyle/>
          <a:p>
            <a:pPr algn="ctr"/>
            <a:r>
              <a:rPr sz="1600" b="1" i="0">
                <a:solidFill>
                  <a:srgbClr val="FFFFFF"/>
                </a:solidFill>
                <a:latin typeface="Amazon Ember Display"/>
              </a:rPr>
              <a:t>denied</a:t>
            </a:r>
          </a:p>
        </p:txBody>
      </p:sp>
      <p:sp>
        <p:nvSpPr>
          <p:cNvPr id="9" name="Rounded Rectangle 8"/>
          <p:cNvSpPr/>
          <p:nvPr/>
        </p:nvSpPr>
        <p:spPr>
          <a:xfrm>
            <a:off x="612648" y="2891332"/>
            <a:ext cx="9453981" cy="984808"/>
          </a:xfrm>
          <a:prstGeom prst="roundRect">
            <a:avLst>
              <a:gd name="adj" fmla="val 11142"/>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5528" y="3037636"/>
            <a:ext cx="9088221" cy="377875"/>
          </a:xfrm>
          <a:prstGeom prst="rect">
            <a:avLst/>
          </a:prstGeom>
          <a:noFill/>
        </p:spPr>
        <p:txBody>
          <a:bodyPr wrap="square" anchor="ctr">
            <a:noAutofit/>
          </a:bodyPr>
          <a:lstStyle/>
          <a:p>
            <a:pPr algn="l"/>
            <a:r>
              <a:rPr sz="1800" b="1" i="0">
                <a:solidFill>
                  <a:srgbClr val="8F0072"/>
                </a:solidFill>
                <a:latin typeface="Amazon Ember Display"/>
              </a:rPr>
              <a:t>AN ALLOW</a:t>
            </a:r>
          </a:p>
        </p:txBody>
      </p:sp>
      <p:sp>
        <p:nvSpPr>
          <p:cNvPr id="11" name="TextBox 10"/>
          <p:cNvSpPr txBox="1"/>
          <p:nvPr/>
        </p:nvSpPr>
        <p:spPr>
          <a:xfrm>
            <a:off x="795528" y="3383686"/>
            <a:ext cx="9088221" cy="346049"/>
          </a:xfrm>
          <a:prstGeom prst="rect">
            <a:avLst/>
          </a:prstGeom>
          <a:noFill/>
        </p:spPr>
        <p:txBody>
          <a:bodyPr wrap="square" anchor="ctr">
            <a:noAutofit/>
          </a:bodyPr>
          <a:lstStyle/>
          <a:p>
            <a:pPr algn="l"/>
            <a:r>
              <a:rPr sz="1600" b="0" i="0">
                <a:solidFill>
                  <a:srgbClr val="5A6B7B"/>
                </a:solidFill>
                <a:latin typeface="Amazon Ember Display"/>
              </a:rPr>
              <a:t>the only thing that grants anything</a:t>
            </a:r>
          </a:p>
        </p:txBody>
      </p:sp>
      <p:sp>
        <p:nvSpPr>
          <p:cNvPr id="12" name="Rounded Rectangle 11"/>
          <p:cNvSpPr/>
          <p:nvPr/>
        </p:nvSpPr>
        <p:spPr>
          <a:xfrm>
            <a:off x="10340949" y="3145993"/>
            <a:ext cx="1235354"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414101" y="3237433"/>
            <a:ext cx="1089050" cy="346049"/>
          </a:xfrm>
          <a:prstGeom prst="rect">
            <a:avLst/>
          </a:prstGeom>
          <a:noFill/>
        </p:spPr>
        <p:txBody>
          <a:bodyPr wrap="square" anchor="ctr">
            <a:noAutofit/>
          </a:bodyPr>
          <a:lstStyle/>
          <a:p>
            <a:pPr algn="ctr"/>
            <a:r>
              <a:rPr sz="1600" b="1" i="0">
                <a:solidFill>
                  <a:srgbClr val="232B37"/>
                </a:solidFill>
                <a:latin typeface="Amazon Ember Display"/>
              </a:rPr>
              <a:t>allowed</a:t>
            </a:r>
          </a:p>
        </p:txBody>
      </p:sp>
      <p:sp>
        <p:nvSpPr>
          <p:cNvPr id="14" name="Rounded Rectangle 13"/>
          <p:cNvSpPr/>
          <p:nvPr/>
        </p:nvSpPr>
        <p:spPr>
          <a:xfrm>
            <a:off x="612648" y="4077309"/>
            <a:ext cx="9453981" cy="984808"/>
          </a:xfrm>
          <a:prstGeom prst="roundRect">
            <a:avLst>
              <a:gd name="adj" fmla="val 11142"/>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95528" y="4223613"/>
            <a:ext cx="9088221" cy="377875"/>
          </a:xfrm>
          <a:prstGeom prst="rect">
            <a:avLst/>
          </a:prstGeom>
          <a:noFill/>
        </p:spPr>
        <p:txBody>
          <a:bodyPr wrap="square" anchor="ctr">
            <a:noAutofit/>
          </a:bodyPr>
          <a:lstStyle/>
          <a:p>
            <a:pPr algn="l"/>
            <a:r>
              <a:rPr sz="1800" b="1" i="0">
                <a:solidFill>
                  <a:srgbClr val="8F0072"/>
                </a:solidFill>
                <a:latin typeface="Amazon Ember Display"/>
              </a:rPr>
              <a:t>NO POLICY AT ALL</a:t>
            </a:r>
          </a:p>
        </p:txBody>
      </p:sp>
      <p:sp>
        <p:nvSpPr>
          <p:cNvPr id="16" name="TextBox 15"/>
          <p:cNvSpPr txBox="1"/>
          <p:nvPr/>
        </p:nvSpPr>
        <p:spPr>
          <a:xfrm>
            <a:off x="795528" y="4569663"/>
            <a:ext cx="9088221" cy="346049"/>
          </a:xfrm>
          <a:prstGeom prst="rect">
            <a:avLst/>
          </a:prstGeom>
          <a:noFill/>
        </p:spPr>
        <p:txBody>
          <a:bodyPr wrap="square" anchor="ctr">
            <a:noAutofit/>
          </a:bodyPr>
          <a:lstStyle/>
          <a:p>
            <a:pPr algn="l"/>
            <a:r>
              <a:rPr sz="1600" b="0" i="0">
                <a:solidFill>
                  <a:srgbClr val="5A6B7B"/>
                </a:solidFill>
                <a:latin typeface="Amazon Ember Display"/>
              </a:rPr>
              <a:t>the default, before anyone writes anything</a:t>
            </a:r>
          </a:p>
        </p:txBody>
      </p:sp>
      <p:sp>
        <p:nvSpPr>
          <p:cNvPr id="17" name="Rounded Rectangle 16"/>
          <p:cNvSpPr/>
          <p:nvPr/>
        </p:nvSpPr>
        <p:spPr>
          <a:xfrm>
            <a:off x="10340949" y="4331970"/>
            <a:ext cx="1235354"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414101" y="4423409"/>
            <a:ext cx="1089050" cy="346049"/>
          </a:xfrm>
          <a:prstGeom prst="rect">
            <a:avLst/>
          </a:prstGeom>
          <a:noFill/>
        </p:spPr>
        <p:txBody>
          <a:bodyPr wrap="square" anchor="ctr">
            <a:noAutofit/>
          </a:bodyPr>
          <a:lstStyle/>
          <a:p>
            <a:pPr algn="ctr"/>
            <a:r>
              <a:rPr sz="1600" b="1" i="0">
                <a:solidFill>
                  <a:srgbClr val="FFFFFF"/>
                </a:solidFill>
                <a:latin typeface="Amazon Ember Display"/>
              </a:rPr>
              <a:t>denied</a:t>
            </a:r>
          </a:p>
        </p:txBody>
      </p:sp>
      <p:sp>
        <p:nvSpPr>
          <p:cNvPr id="19" name="TextBox 18"/>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read the stack from the bottom: denied by default, lifted by an Allow, closed again by a Deny</a:t>
            </a:r>
          </a:p>
        </p:txBody>
      </p:sp>
      <p:sp>
        <p:nvSpPr>
          <p:cNvPr id="20" name="TextBox 19">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Policy evaluation logic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Reading a bucket policy that requires TLS</a:t>
            </a:r>
          </a:p>
        </p:txBody>
      </p:sp>
      <p:sp>
        <p:nvSpPr>
          <p:cNvPr id="3" name="Rounded Rectangle 2"/>
          <p:cNvSpPr/>
          <p:nvPr/>
        </p:nvSpPr>
        <p:spPr>
          <a:xfrm>
            <a:off x="502920" y="1600200"/>
            <a:ext cx="7543800" cy="3844442"/>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1208" y="1307592"/>
            <a:ext cx="2743200" cy="274320"/>
          </a:xfrm>
          <a:prstGeom prst="rect">
            <a:avLst/>
          </a:prstGeom>
          <a:noFill/>
        </p:spPr>
        <p:txBody>
          <a:bodyPr wrap="none" lIns="0" tIns="0" rIns="0" bIns="0" anchor="ctr">
            <a:spAutoFit/>
          </a:bodyPr>
          <a:lstStyle/>
          <a:p>
            <a:pPr algn="l"/>
            <a:r>
              <a:rPr sz="1300" b="0">
                <a:solidFill>
                  <a:srgbClr val="8A939E"/>
                </a:solidFill>
                <a:latin typeface="Menlo"/>
              </a:rPr>
              <a:t>bucket-policy.json</a:t>
            </a:r>
          </a:p>
        </p:txBody>
      </p:sp>
      <p:sp>
        <p:nvSpPr>
          <p:cNvPr id="5" name="TextBox 4"/>
          <p:cNvSpPr txBox="1"/>
          <p:nvPr/>
        </p:nvSpPr>
        <p:spPr>
          <a:xfrm>
            <a:off x="594360" y="1856232"/>
            <a:ext cx="274320" cy="256336"/>
          </a:xfrm>
          <a:prstGeom prst="rect">
            <a:avLst/>
          </a:prstGeom>
          <a:noFill/>
        </p:spPr>
        <p:txBody>
          <a:bodyPr wrap="none" lIns="0" tIns="0" rIns="0" bIns="0" anchor="ctr">
            <a:spAutoFit/>
          </a:bodyPr>
          <a:lstStyle/>
          <a:p>
            <a:pPr algn="r"/>
            <a:r>
              <a:rPr sz="1160" b="0">
                <a:solidFill>
                  <a:srgbClr val="72747E"/>
                </a:solidFill>
                <a:latin typeface="Menlo"/>
              </a:rPr>
              <a:t>1</a:t>
            </a:r>
          </a:p>
        </p:txBody>
      </p:sp>
      <p:sp>
        <p:nvSpPr>
          <p:cNvPr id="6" name="TextBox 5"/>
          <p:cNvSpPr txBox="1"/>
          <p:nvPr/>
        </p:nvSpPr>
        <p:spPr>
          <a:xfrm>
            <a:off x="1161288" y="1856232"/>
            <a:ext cx="6629399" cy="256336"/>
          </a:xfrm>
          <a:prstGeom prst="rect">
            <a:avLst/>
          </a:prstGeom>
          <a:noFill/>
        </p:spPr>
        <p:txBody>
          <a:bodyPr wrap="none" lIns="0" tIns="0" rIns="0" bIns="0" anchor="ctr">
            <a:spAutoFit/>
          </a:bodyPr>
          <a:lstStyle/>
          <a:p>
            <a:pPr algn="l"/>
            <a:r>
              <a:rPr sz="1450" b="0">
                <a:solidFill>
                  <a:srgbClr val="CCCCD1"/>
                </a:solidFill>
                <a:latin typeface="Menlo"/>
              </a:rPr>
              <a:t>{</a:t>
            </a:r>
          </a:p>
        </p:txBody>
      </p:sp>
      <p:sp>
        <p:nvSpPr>
          <p:cNvPr id="7" name="TextBox 6"/>
          <p:cNvSpPr txBox="1"/>
          <p:nvPr/>
        </p:nvSpPr>
        <p:spPr>
          <a:xfrm>
            <a:off x="594360" y="2112568"/>
            <a:ext cx="274320" cy="256336"/>
          </a:xfrm>
          <a:prstGeom prst="rect">
            <a:avLst/>
          </a:prstGeom>
          <a:noFill/>
        </p:spPr>
        <p:txBody>
          <a:bodyPr wrap="none" lIns="0" tIns="0" rIns="0" bIns="0" anchor="ctr">
            <a:spAutoFit/>
          </a:bodyPr>
          <a:lstStyle/>
          <a:p>
            <a:pPr algn="r"/>
            <a:r>
              <a:rPr sz="1160" b="0">
                <a:solidFill>
                  <a:srgbClr val="72747E"/>
                </a:solidFill>
                <a:latin typeface="Menlo"/>
              </a:rPr>
              <a:t>2</a:t>
            </a:r>
          </a:p>
        </p:txBody>
      </p:sp>
      <p:sp>
        <p:nvSpPr>
          <p:cNvPr id="8" name="TextBox 7"/>
          <p:cNvSpPr txBox="1"/>
          <p:nvPr/>
        </p:nvSpPr>
        <p:spPr>
          <a:xfrm>
            <a:off x="1161288" y="2112568"/>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"Statement"</a:t>
            </a:r>
            <a:r>
              <a:rPr sz="1450" b="0">
                <a:solidFill>
                  <a:srgbClr val="CCCCD1"/>
                </a:solidFill>
                <a:latin typeface="Menlo"/>
              </a:rPr>
              <a:t>:</a:t>
            </a:r>
            <a:r>
              <a:rPr sz="1450" b="0">
                <a:solidFill>
                  <a:srgbClr val="F6F6F9"/>
                </a:solidFill>
                <a:latin typeface="Menlo"/>
              </a:rPr>
              <a:t> </a:t>
            </a:r>
            <a:r>
              <a:rPr sz="1450" b="0">
                <a:solidFill>
                  <a:srgbClr val="CCCCD1"/>
                </a:solidFill>
                <a:latin typeface="Menlo"/>
              </a:rPr>
              <a:t>[{</a:t>
            </a:r>
          </a:p>
        </p:txBody>
      </p:sp>
      <p:sp>
        <p:nvSpPr>
          <p:cNvPr id="9" name="TextBox 8"/>
          <p:cNvSpPr txBox="1"/>
          <p:nvPr/>
        </p:nvSpPr>
        <p:spPr>
          <a:xfrm>
            <a:off x="594360" y="2368905"/>
            <a:ext cx="274320" cy="256336"/>
          </a:xfrm>
          <a:prstGeom prst="rect">
            <a:avLst/>
          </a:prstGeom>
          <a:noFill/>
        </p:spPr>
        <p:txBody>
          <a:bodyPr wrap="none" lIns="0" tIns="0" rIns="0" bIns="0" anchor="ctr">
            <a:spAutoFit/>
          </a:bodyPr>
          <a:lstStyle/>
          <a:p>
            <a:pPr algn="r"/>
            <a:r>
              <a:rPr sz="1160" b="0">
                <a:solidFill>
                  <a:srgbClr val="72747E"/>
                </a:solidFill>
                <a:latin typeface="Menlo"/>
              </a:rPr>
              <a:t>3</a:t>
            </a:r>
          </a:p>
        </p:txBody>
      </p:sp>
      <p:sp>
        <p:nvSpPr>
          <p:cNvPr id="10" name="TextBox 9"/>
          <p:cNvSpPr txBox="1"/>
          <p:nvPr/>
        </p:nvSpPr>
        <p:spPr>
          <a:xfrm>
            <a:off x="1161288" y="2368905"/>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"Sid"</a:t>
            </a:r>
            <a:r>
              <a:rPr sz="1450" b="0">
                <a:solidFill>
                  <a:srgbClr val="CCCCD1"/>
                </a:solidFill>
                <a:latin typeface="Menlo"/>
              </a:rPr>
              <a:t>:</a:t>
            </a:r>
            <a:r>
              <a:rPr sz="1450" b="0">
                <a:solidFill>
                  <a:srgbClr val="F6F6F9"/>
                </a:solidFill>
                <a:latin typeface="Menlo"/>
              </a:rPr>
              <a:t> </a:t>
            </a:r>
            <a:r>
              <a:rPr sz="1450" b="0">
                <a:solidFill>
                  <a:srgbClr val="00E582"/>
                </a:solidFill>
                <a:latin typeface="Menlo"/>
              </a:rPr>
              <a:t>"AllowSSLRequestsOnly"</a:t>
            </a:r>
            <a:r>
              <a:rPr sz="1450" b="0">
                <a:solidFill>
                  <a:srgbClr val="CCCCD1"/>
                </a:solidFill>
                <a:latin typeface="Menlo"/>
              </a:rPr>
              <a:t>,</a:t>
            </a:r>
          </a:p>
        </p:txBody>
      </p:sp>
      <p:sp>
        <p:nvSpPr>
          <p:cNvPr id="11" name="TextBox 10"/>
          <p:cNvSpPr txBox="1"/>
          <p:nvPr/>
        </p:nvSpPr>
        <p:spPr>
          <a:xfrm>
            <a:off x="594360" y="2625242"/>
            <a:ext cx="274320" cy="256336"/>
          </a:xfrm>
          <a:prstGeom prst="rect">
            <a:avLst/>
          </a:prstGeom>
          <a:noFill/>
        </p:spPr>
        <p:txBody>
          <a:bodyPr wrap="none" lIns="0" tIns="0" rIns="0" bIns="0" anchor="ctr">
            <a:spAutoFit/>
          </a:bodyPr>
          <a:lstStyle/>
          <a:p>
            <a:pPr algn="r"/>
            <a:r>
              <a:rPr sz="1160" b="0">
                <a:solidFill>
                  <a:srgbClr val="72747E"/>
                </a:solidFill>
                <a:latin typeface="Menlo"/>
              </a:rPr>
              <a:t>4</a:t>
            </a:r>
          </a:p>
        </p:txBody>
      </p:sp>
      <p:sp>
        <p:nvSpPr>
          <p:cNvPr id="12" name="TextBox 11"/>
          <p:cNvSpPr txBox="1"/>
          <p:nvPr/>
        </p:nvSpPr>
        <p:spPr>
          <a:xfrm>
            <a:off x="1161288" y="2625242"/>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"Action"</a:t>
            </a:r>
            <a:r>
              <a:rPr sz="1450" b="0">
                <a:solidFill>
                  <a:srgbClr val="CCCCD1"/>
                </a:solidFill>
                <a:latin typeface="Menlo"/>
              </a:rPr>
              <a:t>:</a:t>
            </a:r>
            <a:r>
              <a:rPr sz="1450" b="0">
                <a:solidFill>
                  <a:srgbClr val="F6F6F9"/>
                </a:solidFill>
                <a:latin typeface="Menlo"/>
              </a:rPr>
              <a:t> </a:t>
            </a:r>
            <a:r>
              <a:rPr sz="1450" b="0">
                <a:solidFill>
                  <a:srgbClr val="00E582"/>
                </a:solidFill>
                <a:latin typeface="Menlo"/>
              </a:rPr>
              <a:t>"s3:*"</a:t>
            </a:r>
            <a:r>
              <a:rPr sz="1450" b="0">
                <a:solidFill>
                  <a:srgbClr val="CCCCD1"/>
                </a:solidFill>
                <a:latin typeface="Menlo"/>
              </a:rPr>
              <a:t>,</a:t>
            </a:r>
          </a:p>
        </p:txBody>
      </p:sp>
      <p:sp>
        <p:nvSpPr>
          <p:cNvPr id="13" name="TextBox 12"/>
          <p:cNvSpPr txBox="1"/>
          <p:nvPr/>
        </p:nvSpPr>
        <p:spPr>
          <a:xfrm>
            <a:off x="594360" y="2881579"/>
            <a:ext cx="274320" cy="256336"/>
          </a:xfrm>
          <a:prstGeom prst="rect">
            <a:avLst/>
          </a:prstGeom>
          <a:noFill/>
        </p:spPr>
        <p:txBody>
          <a:bodyPr wrap="none" lIns="0" tIns="0" rIns="0" bIns="0" anchor="ctr">
            <a:spAutoFit/>
          </a:bodyPr>
          <a:lstStyle/>
          <a:p>
            <a:pPr algn="r"/>
            <a:r>
              <a:rPr sz="1160" b="0">
                <a:solidFill>
                  <a:srgbClr val="72747E"/>
                </a:solidFill>
                <a:latin typeface="Menlo"/>
              </a:rPr>
              <a:t>5</a:t>
            </a:r>
          </a:p>
        </p:txBody>
      </p:sp>
      <p:sp>
        <p:nvSpPr>
          <p:cNvPr id="14" name="TextBox 13"/>
          <p:cNvSpPr txBox="1"/>
          <p:nvPr/>
        </p:nvSpPr>
        <p:spPr>
          <a:xfrm>
            <a:off x="1161288" y="2881579"/>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"Effect"</a:t>
            </a:r>
            <a:r>
              <a:rPr sz="1450" b="0">
                <a:solidFill>
                  <a:srgbClr val="CCCCD1"/>
                </a:solidFill>
                <a:latin typeface="Menlo"/>
              </a:rPr>
              <a:t>:</a:t>
            </a:r>
            <a:r>
              <a:rPr sz="1450" b="0">
                <a:solidFill>
                  <a:srgbClr val="F6F6F9"/>
                </a:solidFill>
                <a:latin typeface="Menlo"/>
              </a:rPr>
              <a:t> </a:t>
            </a:r>
            <a:r>
              <a:rPr sz="1450" b="0">
                <a:solidFill>
                  <a:srgbClr val="00E582"/>
                </a:solidFill>
                <a:latin typeface="Menlo"/>
              </a:rPr>
              <a:t>"Deny"</a:t>
            </a:r>
            <a:r>
              <a:rPr sz="1450" b="0">
                <a:solidFill>
                  <a:srgbClr val="CCCCD1"/>
                </a:solidFill>
                <a:latin typeface="Menlo"/>
              </a:rPr>
              <a:t>,</a:t>
            </a:r>
          </a:p>
        </p:txBody>
      </p:sp>
      <p:sp>
        <p:nvSpPr>
          <p:cNvPr id="15" name="TextBox 14"/>
          <p:cNvSpPr txBox="1"/>
          <p:nvPr/>
        </p:nvSpPr>
        <p:spPr>
          <a:xfrm>
            <a:off x="594360" y="3137916"/>
            <a:ext cx="274320" cy="256336"/>
          </a:xfrm>
          <a:prstGeom prst="rect">
            <a:avLst/>
          </a:prstGeom>
          <a:noFill/>
        </p:spPr>
        <p:txBody>
          <a:bodyPr wrap="none" lIns="0" tIns="0" rIns="0" bIns="0" anchor="ctr">
            <a:spAutoFit/>
          </a:bodyPr>
          <a:lstStyle/>
          <a:p>
            <a:pPr algn="r"/>
            <a:r>
              <a:rPr sz="1160" b="0">
                <a:solidFill>
                  <a:srgbClr val="72747E"/>
                </a:solidFill>
                <a:latin typeface="Menlo"/>
              </a:rPr>
              <a:t>6</a:t>
            </a:r>
          </a:p>
        </p:txBody>
      </p:sp>
      <p:sp>
        <p:nvSpPr>
          <p:cNvPr id="16" name="TextBox 15"/>
          <p:cNvSpPr txBox="1"/>
          <p:nvPr/>
        </p:nvSpPr>
        <p:spPr>
          <a:xfrm>
            <a:off x="1161288" y="3137916"/>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"Resource"</a:t>
            </a:r>
            <a:r>
              <a:rPr sz="1450" b="0">
                <a:solidFill>
                  <a:srgbClr val="CCCCD1"/>
                </a:solidFill>
                <a:latin typeface="Menlo"/>
              </a:rPr>
              <a:t>:</a:t>
            </a:r>
            <a:r>
              <a:rPr sz="1450" b="0">
                <a:solidFill>
                  <a:srgbClr val="F6F6F9"/>
                </a:solidFill>
                <a:latin typeface="Menlo"/>
              </a:rPr>
              <a:t> </a:t>
            </a:r>
            <a:r>
              <a:rPr sz="1450" b="0">
                <a:solidFill>
                  <a:srgbClr val="CCCCD1"/>
                </a:solidFill>
                <a:latin typeface="Menlo"/>
              </a:rPr>
              <a:t>[</a:t>
            </a:r>
          </a:p>
        </p:txBody>
      </p:sp>
      <p:sp>
        <p:nvSpPr>
          <p:cNvPr id="17" name="TextBox 16"/>
          <p:cNvSpPr txBox="1"/>
          <p:nvPr/>
        </p:nvSpPr>
        <p:spPr>
          <a:xfrm>
            <a:off x="594360" y="3394252"/>
            <a:ext cx="274320" cy="256336"/>
          </a:xfrm>
          <a:prstGeom prst="rect">
            <a:avLst/>
          </a:prstGeom>
          <a:noFill/>
        </p:spPr>
        <p:txBody>
          <a:bodyPr wrap="none" lIns="0" tIns="0" rIns="0" bIns="0" anchor="ctr">
            <a:spAutoFit/>
          </a:bodyPr>
          <a:lstStyle/>
          <a:p>
            <a:pPr algn="r"/>
            <a:r>
              <a:rPr sz="1160" b="0">
                <a:solidFill>
                  <a:srgbClr val="72747E"/>
                </a:solidFill>
                <a:latin typeface="Menlo"/>
              </a:rPr>
              <a:t>7</a:t>
            </a:r>
          </a:p>
        </p:txBody>
      </p:sp>
      <p:sp>
        <p:nvSpPr>
          <p:cNvPr id="18" name="TextBox 17"/>
          <p:cNvSpPr txBox="1"/>
          <p:nvPr/>
        </p:nvSpPr>
        <p:spPr>
          <a:xfrm>
            <a:off x="1161288" y="3394252"/>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00E582"/>
                </a:solidFill>
                <a:latin typeface="Menlo"/>
              </a:rPr>
              <a:t>"arn:aws:s3:::DOC-EXAMPLE-BUCKET"</a:t>
            </a:r>
            <a:r>
              <a:rPr sz="1450" b="0">
                <a:solidFill>
                  <a:srgbClr val="CCCCD1"/>
                </a:solidFill>
                <a:latin typeface="Menlo"/>
              </a:rPr>
              <a:t>,</a:t>
            </a:r>
          </a:p>
        </p:txBody>
      </p:sp>
      <p:sp>
        <p:nvSpPr>
          <p:cNvPr id="19" name="TextBox 18"/>
          <p:cNvSpPr txBox="1"/>
          <p:nvPr/>
        </p:nvSpPr>
        <p:spPr>
          <a:xfrm>
            <a:off x="594360" y="3650589"/>
            <a:ext cx="274320" cy="256336"/>
          </a:xfrm>
          <a:prstGeom prst="rect">
            <a:avLst/>
          </a:prstGeom>
          <a:noFill/>
        </p:spPr>
        <p:txBody>
          <a:bodyPr wrap="none" lIns="0" tIns="0" rIns="0" bIns="0" anchor="ctr">
            <a:spAutoFit/>
          </a:bodyPr>
          <a:lstStyle/>
          <a:p>
            <a:pPr algn="r"/>
            <a:r>
              <a:rPr sz="1160" b="0">
                <a:solidFill>
                  <a:srgbClr val="72747E"/>
                </a:solidFill>
                <a:latin typeface="Menlo"/>
              </a:rPr>
              <a:t>8</a:t>
            </a:r>
          </a:p>
        </p:txBody>
      </p:sp>
      <p:sp>
        <p:nvSpPr>
          <p:cNvPr id="20" name="TextBox 19"/>
          <p:cNvSpPr txBox="1"/>
          <p:nvPr/>
        </p:nvSpPr>
        <p:spPr>
          <a:xfrm>
            <a:off x="1161288" y="3650589"/>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00E582"/>
                </a:solidFill>
                <a:latin typeface="Menlo"/>
              </a:rPr>
              <a:t>"arn:aws:s3:::DOC-EXAMPLE-BUCKET/*"</a:t>
            </a:r>
          </a:p>
        </p:txBody>
      </p:sp>
      <p:sp>
        <p:nvSpPr>
          <p:cNvPr id="21" name="TextBox 20"/>
          <p:cNvSpPr txBox="1"/>
          <p:nvPr/>
        </p:nvSpPr>
        <p:spPr>
          <a:xfrm>
            <a:off x="594360" y="3906926"/>
            <a:ext cx="274320" cy="256336"/>
          </a:xfrm>
          <a:prstGeom prst="rect">
            <a:avLst/>
          </a:prstGeom>
          <a:noFill/>
        </p:spPr>
        <p:txBody>
          <a:bodyPr wrap="none" lIns="0" tIns="0" rIns="0" bIns="0" anchor="ctr">
            <a:spAutoFit/>
          </a:bodyPr>
          <a:lstStyle/>
          <a:p>
            <a:pPr algn="r"/>
            <a:r>
              <a:rPr sz="1160" b="0">
                <a:solidFill>
                  <a:srgbClr val="72747E"/>
                </a:solidFill>
                <a:latin typeface="Menlo"/>
              </a:rPr>
              <a:t>9</a:t>
            </a:r>
          </a:p>
        </p:txBody>
      </p:sp>
      <p:sp>
        <p:nvSpPr>
          <p:cNvPr id="22" name="TextBox 21"/>
          <p:cNvSpPr txBox="1"/>
          <p:nvPr/>
        </p:nvSpPr>
        <p:spPr>
          <a:xfrm>
            <a:off x="1161288" y="3906926"/>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CCCCD1"/>
                </a:solidFill>
                <a:latin typeface="Menlo"/>
              </a:rPr>
              <a:t>],</a:t>
            </a:r>
          </a:p>
        </p:txBody>
      </p:sp>
      <p:sp>
        <p:nvSpPr>
          <p:cNvPr id="23" name="TextBox 22"/>
          <p:cNvSpPr txBox="1"/>
          <p:nvPr/>
        </p:nvSpPr>
        <p:spPr>
          <a:xfrm>
            <a:off x="594360" y="4163263"/>
            <a:ext cx="274320" cy="256336"/>
          </a:xfrm>
          <a:prstGeom prst="rect">
            <a:avLst/>
          </a:prstGeom>
          <a:noFill/>
        </p:spPr>
        <p:txBody>
          <a:bodyPr wrap="none" lIns="0" tIns="0" rIns="0" bIns="0" anchor="ctr">
            <a:spAutoFit/>
          </a:bodyPr>
          <a:lstStyle/>
          <a:p>
            <a:pPr algn="r"/>
            <a:r>
              <a:rPr sz="1160" b="0">
                <a:solidFill>
                  <a:srgbClr val="72747E"/>
                </a:solidFill>
                <a:latin typeface="Menlo"/>
              </a:rPr>
              <a:t>10</a:t>
            </a:r>
          </a:p>
        </p:txBody>
      </p:sp>
      <p:sp>
        <p:nvSpPr>
          <p:cNvPr id="24" name="TextBox 23"/>
          <p:cNvSpPr txBox="1"/>
          <p:nvPr/>
        </p:nvSpPr>
        <p:spPr>
          <a:xfrm>
            <a:off x="1161288" y="4163263"/>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"Condition"</a:t>
            </a:r>
            <a:r>
              <a:rPr sz="1450" b="0">
                <a:solidFill>
                  <a:srgbClr val="CCCCD1"/>
                </a:solidFill>
                <a:latin typeface="Menlo"/>
              </a:rPr>
              <a:t>:</a:t>
            </a:r>
            <a:r>
              <a:rPr sz="1450" b="0">
                <a:solidFill>
                  <a:srgbClr val="F6F6F9"/>
                </a:solidFill>
                <a:latin typeface="Menlo"/>
              </a:rPr>
              <a:t> </a:t>
            </a:r>
            <a:r>
              <a:rPr sz="1450" b="0">
                <a:solidFill>
                  <a:srgbClr val="CCCCD1"/>
                </a:solidFill>
                <a:latin typeface="Menlo"/>
              </a:rPr>
              <a:t>{</a:t>
            </a:r>
            <a:r>
              <a:rPr sz="1450" b="0">
                <a:solidFill>
                  <a:srgbClr val="75CFFF"/>
                </a:solidFill>
                <a:latin typeface="Menlo"/>
              </a:rPr>
              <a:t>"Bool"</a:t>
            </a:r>
            <a:r>
              <a:rPr sz="1450" b="0">
                <a:solidFill>
                  <a:srgbClr val="CCCCD1"/>
                </a:solidFill>
                <a:latin typeface="Menlo"/>
              </a:rPr>
              <a:t>:</a:t>
            </a:r>
            <a:r>
              <a:rPr sz="1450" b="0">
                <a:solidFill>
                  <a:srgbClr val="F6F6F9"/>
                </a:solidFill>
                <a:latin typeface="Menlo"/>
              </a:rPr>
              <a:t> </a:t>
            </a:r>
            <a:r>
              <a:rPr sz="1450" b="0">
                <a:solidFill>
                  <a:srgbClr val="CCCCD1"/>
                </a:solidFill>
                <a:latin typeface="Menlo"/>
              </a:rPr>
              <a:t>{</a:t>
            </a:r>
            <a:r>
              <a:rPr sz="1450" b="0">
                <a:solidFill>
                  <a:srgbClr val="75CFFF"/>
                </a:solidFill>
                <a:latin typeface="Menlo"/>
              </a:rPr>
              <a:t>"aws:SecureTransport"</a:t>
            </a:r>
            <a:r>
              <a:rPr sz="1450" b="0">
                <a:solidFill>
                  <a:srgbClr val="CCCCD1"/>
                </a:solidFill>
                <a:latin typeface="Menlo"/>
              </a:rPr>
              <a:t>:</a:t>
            </a:r>
            <a:r>
              <a:rPr sz="1450" b="0">
                <a:solidFill>
                  <a:srgbClr val="F6F6F9"/>
                </a:solidFill>
                <a:latin typeface="Menlo"/>
              </a:rPr>
              <a:t> </a:t>
            </a:r>
            <a:r>
              <a:rPr sz="1450" b="0">
                <a:solidFill>
                  <a:srgbClr val="00E582"/>
                </a:solidFill>
                <a:latin typeface="Menlo"/>
              </a:rPr>
              <a:t>"false"</a:t>
            </a:r>
            <a:r>
              <a:rPr sz="1450" b="0">
                <a:solidFill>
                  <a:srgbClr val="CCCCD1"/>
                </a:solidFill>
                <a:latin typeface="Menlo"/>
              </a:rPr>
              <a:t>}},</a:t>
            </a:r>
          </a:p>
        </p:txBody>
      </p:sp>
      <p:sp>
        <p:nvSpPr>
          <p:cNvPr id="25" name="TextBox 24"/>
          <p:cNvSpPr txBox="1"/>
          <p:nvPr/>
        </p:nvSpPr>
        <p:spPr>
          <a:xfrm>
            <a:off x="594360" y="4419600"/>
            <a:ext cx="274320" cy="256336"/>
          </a:xfrm>
          <a:prstGeom prst="rect">
            <a:avLst/>
          </a:prstGeom>
          <a:noFill/>
        </p:spPr>
        <p:txBody>
          <a:bodyPr wrap="none" lIns="0" tIns="0" rIns="0" bIns="0" anchor="ctr">
            <a:spAutoFit/>
          </a:bodyPr>
          <a:lstStyle/>
          <a:p>
            <a:pPr algn="r"/>
            <a:r>
              <a:rPr sz="1160" b="0">
                <a:solidFill>
                  <a:srgbClr val="72747E"/>
                </a:solidFill>
                <a:latin typeface="Menlo"/>
              </a:rPr>
              <a:t>11</a:t>
            </a:r>
          </a:p>
        </p:txBody>
      </p:sp>
      <p:sp>
        <p:nvSpPr>
          <p:cNvPr id="26" name="TextBox 25"/>
          <p:cNvSpPr txBox="1"/>
          <p:nvPr/>
        </p:nvSpPr>
        <p:spPr>
          <a:xfrm>
            <a:off x="1161288" y="4419600"/>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75CFFF"/>
                </a:solidFill>
                <a:latin typeface="Menlo"/>
              </a:rPr>
              <a:t>"Principal"</a:t>
            </a:r>
            <a:r>
              <a:rPr sz="1450" b="0">
                <a:solidFill>
                  <a:srgbClr val="CCCCD1"/>
                </a:solidFill>
                <a:latin typeface="Menlo"/>
              </a:rPr>
              <a:t>:</a:t>
            </a:r>
            <a:r>
              <a:rPr sz="1450" b="0">
                <a:solidFill>
                  <a:srgbClr val="F6F6F9"/>
                </a:solidFill>
                <a:latin typeface="Menlo"/>
              </a:rPr>
              <a:t> </a:t>
            </a:r>
            <a:r>
              <a:rPr sz="1450" b="0">
                <a:solidFill>
                  <a:srgbClr val="00E582"/>
                </a:solidFill>
                <a:latin typeface="Menlo"/>
              </a:rPr>
              <a:t>"*"</a:t>
            </a:r>
          </a:p>
        </p:txBody>
      </p:sp>
      <p:sp>
        <p:nvSpPr>
          <p:cNvPr id="27" name="TextBox 26"/>
          <p:cNvSpPr txBox="1"/>
          <p:nvPr/>
        </p:nvSpPr>
        <p:spPr>
          <a:xfrm>
            <a:off x="594360" y="4675936"/>
            <a:ext cx="274320" cy="256336"/>
          </a:xfrm>
          <a:prstGeom prst="rect">
            <a:avLst/>
          </a:prstGeom>
          <a:noFill/>
        </p:spPr>
        <p:txBody>
          <a:bodyPr wrap="none" lIns="0" tIns="0" rIns="0" bIns="0" anchor="ctr">
            <a:spAutoFit/>
          </a:bodyPr>
          <a:lstStyle/>
          <a:p>
            <a:pPr algn="r"/>
            <a:r>
              <a:rPr sz="1160" b="0">
                <a:solidFill>
                  <a:srgbClr val="72747E"/>
                </a:solidFill>
                <a:latin typeface="Menlo"/>
              </a:rPr>
              <a:t>12</a:t>
            </a:r>
          </a:p>
        </p:txBody>
      </p:sp>
      <p:sp>
        <p:nvSpPr>
          <p:cNvPr id="28" name="TextBox 27"/>
          <p:cNvSpPr txBox="1"/>
          <p:nvPr/>
        </p:nvSpPr>
        <p:spPr>
          <a:xfrm>
            <a:off x="1161288" y="4675936"/>
            <a:ext cx="6629399" cy="256336"/>
          </a:xfrm>
          <a:prstGeom prst="rect">
            <a:avLst/>
          </a:prstGeom>
          <a:noFill/>
        </p:spPr>
        <p:txBody>
          <a:bodyPr wrap="none" lIns="0" tIns="0" rIns="0" bIns="0" anchor="ctr">
            <a:spAutoFit/>
          </a:bodyPr>
          <a:lstStyle/>
          <a:p>
            <a:pPr algn="l"/>
            <a:r>
              <a:rPr sz="1450" b="0">
                <a:solidFill>
                  <a:srgbClr val="F6F6F9"/>
                </a:solidFill>
                <a:latin typeface="Menlo"/>
              </a:rPr>
              <a:t>  </a:t>
            </a:r>
            <a:r>
              <a:rPr sz="1450" b="0">
                <a:solidFill>
                  <a:srgbClr val="CCCCD1"/>
                </a:solidFill>
                <a:latin typeface="Menlo"/>
              </a:rPr>
              <a:t>}]</a:t>
            </a:r>
          </a:p>
        </p:txBody>
      </p:sp>
      <p:sp>
        <p:nvSpPr>
          <p:cNvPr id="29" name="TextBox 28"/>
          <p:cNvSpPr txBox="1"/>
          <p:nvPr/>
        </p:nvSpPr>
        <p:spPr>
          <a:xfrm>
            <a:off x="594360" y="4932273"/>
            <a:ext cx="274320" cy="256336"/>
          </a:xfrm>
          <a:prstGeom prst="rect">
            <a:avLst/>
          </a:prstGeom>
          <a:noFill/>
        </p:spPr>
        <p:txBody>
          <a:bodyPr wrap="none" lIns="0" tIns="0" rIns="0" bIns="0" anchor="ctr">
            <a:spAutoFit/>
          </a:bodyPr>
          <a:lstStyle/>
          <a:p>
            <a:pPr algn="r"/>
            <a:r>
              <a:rPr sz="1160" b="0">
                <a:solidFill>
                  <a:srgbClr val="72747E"/>
                </a:solidFill>
                <a:latin typeface="Menlo"/>
              </a:rPr>
              <a:t>13</a:t>
            </a:r>
          </a:p>
        </p:txBody>
      </p:sp>
      <p:sp>
        <p:nvSpPr>
          <p:cNvPr id="30" name="TextBox 29"/>
          <p:cNvSpPr txBox="1"/>
          <p:nvPr/>
        </p:nvSpPr>
        <p:spPr>
          <a:xfrm>
            <a:off x="1161288" y="4932273"/>
            <a:ext cx="6629399" cy="256336"/>
          </a:xfrm>
          <a:prstGeom prst="rect">
            <a:avLst/>
          </a:prstGeom>
          <a:noFill/>
        </p:spPr>
        <p:txBody>
          <a:bodyPr wrap="none" lIns="0" tIns="0" rIns="0" bIns="0" anchor="ctr">
            <a:spAutoFit/>
          </a:bodyPr>
          <a:lstStyle/>
          <a:p>
            <a:pPr algn="l"/>
            <a:r>
              <a:rPr sz="1450" b="0">
                <a:solidFill>
                  <a:srgbClr val="CCCCD1"/>
                </a:solidFill>
                <a:latin typeface="Menlo"/>
              </a:rPr>
              <a:t>}</a:t>
            </a:r>
          </a:p>
        </p:txBody>
      </p:sp>
      <p:sp>
        <p:nvSpPr>
          <p:cNvPr id="31" name="Oval 30"/>
          <p:cNvSpPr/>
          <p:nvPr/>
        </p:nvSpPr>
        <p:spPr>
          <a:xfrm>
            <a:off x="603504" y="2381722"/>
            <a:ext cx="230703" cy="230703"/>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61D26"/>
                </a:solidFill>
                <a:latin typeface="Amazon Ember"/>
              </a:rPr>
              <a:t>1</a:t>
            </a:r>
          </a:p>
        </p:txBody>
      </p:sp>
      <p:sp>
        <p:nvSpPr>
          <p:cNvPr id="32" name="Oval 31"/>
          <p:cNvSpPr/>
          <p:nvPr/>
        </p:nvSpPr>
        <p:spPr>
          <a:xfrm>
            <a:off x="603504" y="2894396"/>
            <a:ext cx="230703" cy="230703"/>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61D26"/>
                </a:solidFill>
                <a:latin typeface="Amazon Ember"/>
              </a:rPr>
              <a:t>2</a:t>
            </a:r>
          </a:p>
        </p:txBody>
      </p:sp>
      <p:sp>
        <p:nvSpPr>
          <p:cNvPr id="33" name="Oval 32"/>
          <p:cNvSpPr/>
          <p:nvPr/>
        </p:nvSpPr>
        <p:spPr>
          <a:xfrm>
            <a:off x="603504" y="4176080"/>
            <a:ext cx="230703" cy="230703"/>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61D26"/>
                </a:solidFill>
                <a:latin typeface="Amazon Ember"/>
              </a:rPr>
              <a:t>3</a:t>
            </a:r>
          </a:p>
        </p:txBody>
      </p:sp>
      <p:sp>
        <p:nvSpPr>
          <p:cNvPr id="34" name="TextBox 33"/>
          <p:cNvSpPr txBox="1"/>
          <p:nvPr/>
        </p:nvSpPr>
        <p:spPr>
          <a:xfrm>
            <a:off x="8458200" y="1289304"/>
            <a:ext cx="3230575"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5" name="Oval 34"/>
          <p:cNvSpPr/>
          <p:nvPr/>
        </p:nvSpPr>
        <p:spPr>
          <a:xfrm>
            <a:off x="8458200" y="1719072"/>
            <a:ext cx="292608" cy="292608"/>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61D26"/>
                </a:solidFill>
                <a:latin typeface="Amazon Ember"/>
              </a:rPr>
              <a:t>1</a:t>
            </a:r>
          </a:p>
        </p:txBody>
      </p:sp>
      <p:sp>
        <p:nvSpPr>
          <p:cNvPr id="36" name="TextBox 35"/>
          <p:cNvSpPr txBox="1"/>
          <p:nvPr/>
        </p:nvSpPr>
        <p:spPr>
          <a:xfrm>
            <a:off x="8878824" y="1691640"/>
            <a:ext cx="2809951" cy="1207008"/>
          </a:xfrm>
          <a:prstGeom prst="rect">
            <a:avLst/>
          </a:prstGeom>
          <a:noFill/>
        </p:spPr>
        <p:txBody>
          <a:bodyPr wrap="square" lIns="0" tIns="0" bIns="0">
            <a:spAutoFit/>
          </a:bodyPr>
          <a:lstStyle/>
          <a:p>
            <a:r>
              <a:rPr sz="1700" b="1">
                <a:solidFill>
                  <a:srgbClr val="8F0072"/>
                </a:solidFill>
                <a:latin typeface="Menlo"/>
              </a:rPr>
              <a:t>"Sid"</a:t>
            </a:r>
          </a:p>
          <a:p>
            <a:pPr>
              <a:spcBef>
                <a:spcPts val="200"/>
              </a:spcBef>
            </a:pPr>
            <a:r>
              <a:rPr sz="1600">
                <a:solidFill>
                  <a:srgbClr val="333B45"/>
                </a:solidFill>
                <a:latin typeface="Amazon Ember"/>
              </a:rPr>
              <a:t>a LABEL, not behavior -- this one says Allow and denies</a:t>
            </a:r>
          </a:p>
        </p:txBody>
      </p:sp>
      <p:sp>
        <p:nvSpPr>
          <p:cNvPr id="37" name="Oval 36"/>
          <p:cNvSpPr/>
          <p:nvPr/>
        </p:nvSpPr>
        <p:spPr>
          <a:xfrm>
            <a:off x="8458200" y="3163824"/>
            <a:ext cx="292608" cy="292608"/>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61D26"/>
                </a:solidFill>
                <a:latin typeface="Amazon Ember"/>
              </a:rPr>
              <a:t>2</a:t>
            </a:r>
          </a:p>
        </p:txBody>
      </p:sp>
      <p:sp>
        <p:nvSpPr>
          <p:cNvPr id="38" name="TextBox 37"/>
          <p:cNvSpPr txBox="1"/>
          <p:nvPr/>
        </p:nvSpPr>
        <p:spPr>
          <a:xfrm>
            <a:off x="8878824" y="3136392"/>
            <a:ext cx="2809951" cy="1207008"/>
          </a:xfrm>
          <a:prstGeom prst="rect">
            <a:avLst/>
          </a:prstGeom>
          <a:noFill/>
        </p:spPr>
        <p:txBody>
          <a:bodyPr wrap="square" lIns="0" tIns="0" bIns="0">
            <a:spAutoFit/>
          </a:bodyPr>
          <a:lstStyle/>
          <a:p>
            <a:r>
              <a:rPr sz="1700" b="1">
                <a:solidFill>
                  <a:srgbClr val="8F0072"/>
                </a:solidFill>
                <a:latin typeface="Menlo"/>
              </a:rPr>
              <a:t>"Effect": "Deny"</a:t>
            </a:r>
          </a:p>
          <a:p>
            <a:pPr>
              <a:spcBef>
                <a:spcPts val="200"/>
              </a:spcBef>
            </a:pPr>
            <a:r>
              <a:rPr sz="1600">
                <a:solidFill>
                  <a:srgbClr val="333B45"/>
                </a:solidFill>
                <a:latin typeface="Amazon Ember"/>
              </a:rPr>
              <a:t>the statement removes access; it grants nothing</a:t>
            </a:r>
          </a:p>
        </p:txBody>
      </p:sp>
      <p:sp>
        <p:nvSpPr>
          <p:cNvPr id="39" name="Oval 38"/>
          <p:cNvSpPr/>
          <p:nvPr/>
        </p:nvSpPr>
        <p:spPr>
          <a:xfrm>
            <a:off x="8458200" y="4608576"/>
            <a:ext cx="292608" cy="292608"/>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61D26"/>
                </a:solidFill>
                <a:latin typeface="Amazon Ember"/>
              </a:rPr>
              <a:t>3</a:t>
            </a:r>
          </a:p>
        </p:txBody>
      </p:sp>
      <p:sp>
        <p:nvSpPr>
          <p:cNvPr id="40" name="TextBox 39"/>
          <p:cNvSpPr txBox="1"/>
          <p:nvPr/>
        </p:nvSpPr>
        <p:spPr>
          <a:xfrm>
            <a:off x="8878824" y="4581144"/>
            <a:ext cx="2809951" cy="1207008"/>
          </a:xfrm>
          <a:prstGeom prst="rect">
            <a:avLst/>
          </a:prstGeom>
          <a:noFill/>
        </p:spPr>
        <p:txBody>
          <a:bodyPr wrap="square" lIns="0" tIns="0" bIns="0">
            <a:spAutoFit/>
          </a:bodyPr>
          <a:lstStyle/>
          <a:p>
            <a:r>
              <a:rPr sz="1700" b="1">
                <a:solidFill>
                  <a:srgbClr val="8F0072"/>
                </a:solidFill>
                <a:latin typeface="Menlo"/>
              </a:rPr>
              <a:t>SecureTransport</a:t>
            </a:r>
          </a:p>
          <a:p>
            <a:pPr>
              <a:spcBef>
                <a:spcPts val="200"/>
              </a:spcBef>
            </a:pPr>
            <a:r>
              <a:rPr sz="1600">
                <a:solidFill>
                  <a:srgbClr val="333B45"/>
                </a:solidFill>
                <a:latin typeface="Amazon Ember"/>
              </a:rPr>
              <a:t>false means an unencrypted connection</a:t>
            </a:r>
          </a:p>
        </p:txBody>
      </p:sp>
      <p:sp>
        <p:nvSpPr>
          <p:cNvPr id="41" name="TextBox 40">
            <a:hlinkClick r:id="rId3"/>
          </p:cNvPr>
          <p:cNvSpPr txBox="1"/>
          <p:nvPr/>
        </p:nvSpPr>
        <p:spPr>
          <a:xfrm>
            <a:off x="8458200" y="5943600"/>
            <a:ext cx="3230575"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S3 security</a:t>
            </a:r>
          </a:p>
        </p:txBody>
      </p:sp>
      <p:sp>
        <p:nvSpPr>
          <p:cNvPr id="42" name="Rectangle 41"/>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hlinkClick r:id="rId3"/>
          </p:cNvPr>
          <p:cNvSpPr txBox="1"/>
          <p:nvPr/>
        </p:nvSpPr>
        <p:spPr>
          <a:xfrm>
            <a:off x="612648" y="5943600"/>
            <a:ext cx="5486400"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S3 security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Reading a policy that requires tags on both sides</a:t>
            </a:r>
          </a:p>
        </p:txBody>
      </p:sp>
      <p:sp>
        <p:nvSpPr>
          <p:cNvPr id="3" name="Rounded Rectangle 2"/>
          <p:cNvSpPr/>
          <p:nvPr/>
        </p:nvSpPr>
        <p:spPr>
          <a:xfrm>
            <a:off x="502920" y="1600200"/>
            <a:ext cx="7208215" cy="3977030"/>
          </a:xfrm>
          <a:prstGeom prst="roundRect">
            <a:avLst>
              <a:gd name="adj" fmla="val 3500"/>
            </a:avLst>
          </a:prstGeom>
          <a:solidFill>
            <a:srgbClr val="13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1208" y="1307592"/>
            <a:ext cx="2743200" cy="274320"/>
          </a:xfrm>
          <a:prstGeom prst="rect">
            <a:avLst/>
          </a:prstGeom>
          <a:noFill/>
        </p:spPr>
        <p:txBody>
          <a:bodyPr wrap="none" lIns="0" tIns="0" rIns="0" bIns="0" anchor="ctr">
            <a:spAutoFit/>
          </a:bodyPr>
          <a:lstStyle/>
          <a:p>
            <a:pPr algn="l"/>
            <a:r>
              <a:rPr sz="1300" b="0">
                <a:solidFill>
                  <a:srgbClr val="8A939E"/>
                </a:solidFill>
                <a:latin typeface="Menlo"/>
              </a:rPr>
              <a:t>start-stop-policy.json</a:t>
            </a:r>
          </a:p>
        </p:txBody>
      </p:sp>
      <p:sp>
        <p:nvSpPr>
          <p:cNvPr id="5" name="TextBox 4"/>
          <p:cNvSpPr txBox="1"/>
          <p:nvPr/>
        </p:nvSpPr>
        <p:spPr>
          <a:xfrm>
            <a:off x="594360" y="1856232"/>
            <a:ext cx="274320" cy="247497"/>
          </a:xfrm>
          <a:prstGeom prst="rect">
            <a:avLst/>
          </a:prstGeom>
          <a:noFill/>
        </p:spPr>
        <p:txBody>
          <a:bodyPr wrap="none" lIns="0" tIns="0" rIns="0" bIns="0" anchor="ctr">
            <a:spAutoFit/>
          </a:bodyPr>
          <a:lstStyle/>
          <a:p>
            <a:pPr algn="r"/>
            <a:r>
              <a:rPr sz="1120" b="0">
                <a:solidFill>
                  <a:srgbClr val="72747E"/>
                </a:solidFill>
                <a:latin typeface="Menlo"/>
              </a:rPr>
              <a:t>1</a:t>
            </a:r>
          </a:p>
        </p:txBody>
      </p:sp>
      <p:sp>
        <p:nvSpPr>
          <p:cNvPr id="6" name="TextBox 5"/>
          <p:cNvSpPr txBox="1"/>
          <p:nvPr/>
        </p:nvSpPr>
        <p:spPr>
          <a:xfrm>
            <a:off x="1161288" y="1856232"/>
            <a:ext cx="6293815" cy="247497"/>
          </a:xfrm>
          <a:prstGeom prst="rect">
            <a:avLst/>
          </a:prstGeom>
          <a:noFill/>
        </p:spPr>
        <p:txBody>
          <a:bodyPr wrap="none" lIns="0" tIns="0" rIns="0" bIns="0" anchor="ctr">
            <a:spAutoFit/>
          </a:bodyPr>
          <a:lstStyle/>
          <a:p>
            <a:pPr algn="l"/>
            <a:r>
              <a:rPr sz="1400" b="0">
                <a:solidFill>
                  <a:srgbClr val="CCCCD1"/>
                </a:solidFill>
                <a:latin typeface="Menlo"/>
              </a:rPr>
              <a:t>{</a:t>
            </a:r>
          </a:p>
        </p:txBody>
      </p:sp>
      <p:sp>
        <p:nvSpPr>
          <p:cNvPr id="7" name="TextBox 6"/>
          <p:cNvSpPr txBox="1"/>
          <p:nvPr/>
        </p:nvSpPr>
        <p:spPr>
          <a:xfrm>
            <a:off x="594360" y="2103729"/>
            <a:ext cx="274320" cy="247497"/>
          </a:xfrm>
          <a:prstGeom prst="rect">
            <a:avLst/>
          </a:prstGeom>
          <a:noFill/>
        </p:spPr>
        <p:txBody>
          <a:bodyPr wrap="none" lIns="0" tIns="0" rIns="0" bIns="0" anchor="ctr">
            <a:spAutoFit/>
          </a:bodyPr>
          <a:lstStyle/>
          <a:p>
            <a:pPr algn="r"/>
            <a:r>
              <a:rPr sz="1120" b="0">
                <a:solidFill>
                  <a:srgbClr val="72747E"/>
                </a:solidFill>
                <a:latin typeface="Menlo"/>
              </a:rPr>
              <a:t>2</a:t>
            </a:r>
          </a:p>
        </p:txBody>
      </p:sp>
      <p:sp>
        <p:nvSpPr>
          <p:cNvPr id="8" name="TextBox 7"/>
          <p:cNvSpPr txBox="1"/>
          <p:nvPr/>
        </p:nvSpPr>
        <p:spPr>
          <a:xfrm>
            <a:off x="1161288" y="2103729"/>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"Statement"</a:t>
            </a:r>
            <a:r>
              <a:rPr sz="1400" b="0">
                <a:solidFill>
                  <a:srgbClr val="CCCCD1"/>
                </a:solidFill>
                <a:latin typeface="Menlo"/>
              </a:rPr>
              <a:t>:</a:t>
            </a:r>
            <a:r>
              <a:rPr sz="1400" b="0">
                <a:solidFill>
                  <a:srgbClr val="F6F6F9"/>
                </a:solidFill>
                <a:latin typeface="Menlo"/>
              </a:rPr>
              <a:t> </a:t>
            </a:r>
            <a:r>
              <a:rPr sz="1400" b="0">
                <a:solidFill>
                  <a:srgbClr val="CCCCD1"/>
                </a:solidFill>
                <a:latin typeface="Menlo"/>
              </a:rPr>
              <a:t>[{</a:t>
            </a:r>
          </a:p>
        </p:txBody>
      </p:sp>
      <p:sp>
        <p:nvSpPr>
          <p:cNvPr id="9" name="TextBox 8"/>
          <p:cNvSpPr txBox="1"/>
          <p:nvPr/>
        </p:nvSpPr>
        <p:spPr>
          <a:xfrm>
            <a:off x="594360" y="2351227"/>
            <a:ext cx="274320" cy="247497"/>
          </a:xfrm>
          <a:prstGeom prst="rect">
            <a:avLst/>
          </a:prstGeom>
          <a:noFill/>
        </p:spPr>
        <p:txBody>
          <a:bodyPr wrap="none" lIns="0" tIns="0" rIns="0" bIns="0" anchor="ctr">
            <a:spAutoFit/>
          </a:bodyPr>
          <a:lstStyle/>
          <a:p>
            <a:pPr algn="r"/>
            <a:r>
              <a:rPr sz="1120" b="0">
                <a:solidFill>
                  <a:srgbClr val="72747E"/>
                </a:solidFill>
                <a:latin typeface="Menlo"/>
              </a:rPr>
              <a:t>3</a:t>
            </a:r>
          </a:p>
        </p:txBody>
      </p:sp>
      <p:sp>
        <p:nvSpPr>
          <p:cNvPr id="10" name="TextBox 9"/>
          <p:cNvSpPr txBox="1"/>
          <p:nvPr/>
        </p:nvSpPr>
        <p:spPr>
          <a:xfrm>
            <a:off x="1161288" y="2351227"/>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"Sid"</a:t>
            </a:r>
            <a:r>
              <a:rPr sz="1400" b="0">
                <a:solidFill>
                  <a:srgbClr val="CCCCD1"/>
                </a:solidFill>
                <a:latin typeface="Menlo"/>
              </a:rPr>
              <a:t>:</a:t>
            </a:r>
            <a:r>
              <a:rPr sz="1400" b="0">
                <a:solidFill>
                  <a:srgbClr val="F6F6F9"/>
                </a:solidFill>
                <a:latin typeface="Menlo"/>
              </a:rPr>
              <a:t> </a:t>
            </a:r>
            <a:r>
              <a:rPr sz="1400" b="0">
                <a:solidFill>
                  <a:srgbClr val="00E582"/>
                </a:solidFill>
                <a:latin typeface="Menlo"/>
              </a:rPr>
              <a:t>"StartStopIfTags"</a:t>
            </a:r>
            <a:r>
              <a:rPr sz="1400" b="0">
                <a:solidFill>
                  <a:srgbClr val="CCCCD1"/>
                </a:solidFill>
                <a:latin typeface="Menlo"/>
              </a:rPr>
              <a:t>,</a:t>
            </a:r>
          </a:p>
        </p:txBody>
      </p:sp>
      <p:sp>
        <p:nvSpPr>
          <p:cNvPr id="11" name="TextBox 10"/>
          <p:cNvSpPr txBox="1"/>
          <p:nvPr/>
        </p:nvSpPr>
        <p:spPr>
          <a:xfrm>
            <a:off x="594360" y="2598724"/>
            <a:ext cx="274320" cy="247497"/>
          </a:xfrm>
          <a:prstGeom prst="rect">
            <a:avLst/>
          </a:prstGeom>
          <a:noFill/>
        </p:spPr>
        <p:txBody>
          <a:bodyPr wrap="none" lIns="0" tIns="0" rIns="0" bIns="0" anchor="ctr">
            <a:spAutoFit/>
          </a:bodyPr>
          <a:lstStyle/>
          <a:p>
            <a:pPr algn="r"/>
            <a:r>
              <a:rPr sz="1120" b="0">
                <a:solidFill>
                  <a:srgbClr val="72747E"/>
                </a:solidFill>
                <a:latin typeface="Menlo"/>
              </a:rPr>
              <a:t>4</a:t>
            </a:r>
          </a:p>
        </p:txBody>
      </p:sp>
      <p:sp>
        <p:nvSpPr>
          <p:cNvPr id="12" name="TextBox 11"/>
          <p:cNvSpPr txBox="1"/>
          <p:nvPr/>
        </p:nvSpPr>
        <p:spPr>
          <a:xfrm>
            <a:off x="1161288" y="2598724"/>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"Effect"</a:t>
            </a:r>
            <a:r>
              <a:rPr sz="1400" b="0">
                <a:solidFill>
                  <a:srgbClr val="CCCCD1"/>
                </a:solidFill>
                <a:latin typeface="Menlo"/>
              </a:rPr>
              <a:t>:</a:t>
            </a:r>
            <a:r>
              <a:rPr sz="1400" b="0">
                <a:solidFill>
                  <a:srgbClr val="F6F6F9"/>
                </a:solidFill>
                <a:latin typeface="Menlo"/>
              </a:rPr>
              <a:t> </a:t>
            </a:r>
            <a:r>
              <a:rPr sz="1400" b="0">
                <a:solidFill>
                  <a:srgbClr val="00E582"/>
                </a:solidFill>
                <a:latin typeface="Menlo"/>
              </a:rPr>
              <a:t>"Allow"</a:t>
            </a:r>
            <a:r>
              <a:rPr sz="1400" b="0">
                <a:solidFill>
                  <a:srgbClr val="CCCCD1"/>
                </a:solidFill>
                <a:latin typeface="Menlo"/>
              </a:rPr>
              <a:t>,</a:t>
            </a:r>
          </a:p>
        </p:txBody>
      </p:sp>
      <p:sp>
        <p:nvSpPr>
          <p:cNvPr id="13" name="TextBox 12"/>
          <p:cNvSpPr txBox="1"/>
          <p:nvPr/>
        </p:nvSpPr>
        <p:spPr>
          <a:xfrm>
            <a:off x="594360" y="2846222"/>
            <a:ext cx="274320" cy="247497"/>
          </a:xfrm>
          <a:prstGeom prst="rect">
            <a:avLst/>
          </a:prstGeom>
          <a:noFill/>
        </p:spPr>
        <p:txBody>
          <a:bodyPr wrap="none" lIns="0" tIns="0" rIns="0" bIns="0" anchor="ctr">
            <a:spAutoFit/>
          </a:bodyPr>
          <a:lstStyle/>
          <a:p>
            <a:pPr algn="r"/>
            <a:r>
              <a:rPr sz="1120" b="0">
                <a:solidFill>
                  <a:srgbClr val="72747E"/>
                </a:solidFill>
                <a:latin typeface="Menlo"/>
              </a:rPr>
              <a:t>5</a:t>
            </a:r>
          </a:p>
        </p:txBody>
      </p:sp>
      <p:sp>
        <p:nvSpPr>
          <p:cNvPr id="14" name="TextBox 13"/>
          <p:cNvSpPr txBox="1"/>
          <p:nvPr/>
        </p:nvSpPr>
        <p:spPr>
          <a:xfrm>
            <a:off x="1161288" y="2846222"/>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"Action"</a:t>
            </a:r>
            <a:r>
              <a:rPr sz="1400" b="0">
                <a:solidFill>
                  <a:srgbClr val="CCCCD1"/>
                </a:solidFill>
                <a:latin typeface="Menlo"/>
              </a:rPr>
              <a:t>:</a:t>
            </a:r>
            <a:r>
              <a:rPr sz="1400" b="0">
                <a:solidFill>
                  <a:srgbClr val="F6F6F9"/>
                </a:solidFill>
                <a:latin typeface="Menlo"/>
              </a:rPr>
              <a:t> </a:t>
            </a:r>
            <a:r>
              <a:rPr sz="1400" b="0">
                <a:solidFill>
                  <a:srgbClr val="CCCCD1"/>
                </a:solidFill>
                <a:latin typeface="Menlo"/>
              </a:rPr>
              <a:t>[</a:t>
            </a:r>
            <a:r>
              <a:rPr sz="1400" b="0">
                <a:solidFill>
                  <a:srgbClr val="00E582"/>
                </a:solidFill>
                <a:latin typeface="Menlo"/>
              </a:rPr>
              <a:t>"ec2:StartInstances"</a:t>
            </a:r>
            <a:r>
              <a:rPr sz="1400" b="0">
                <a:solidFill>
                  <a:srgbClr val="CCCCD1"/>
                </a:solidFill>
                <a:latin typeface="Menlo"/>
              </a:rPr>
              <a:t>,</a:t>
            </a:r>
            <a:r>
              <a:rPr sz="1400" b="0">
                <a:solidFill>
                  <a:srgbClr val="F6F6F9"/>
                </a:solidFill>
                <a:latin typeface="Menlo"/>
              </a:rPr>
              <a:t> </a:t>
            </a:r>
            <a:r>
              <a:rPr sz="1400" b="0">
                <a:solidFill>
                  <a:srgbClr val="00E582"/>
                </a:solidFill>
                <a:latin typeface="Menlo"/>
              </a:rPr>
              <a:t>"ec2:StopInstances"</a:t>
            </a:r>
            <a:r>
              <a:rPr sz="1400" b="0">
                <a:solidFill>
                  <a:srgbClr val="CCCCD1"/>
                </a:solidFill>
                <a:latin typeface="Menlo"/>
              </a:rPr>
              <a:t>],</a:t>
            </a:r>
          </a:p>
        </p:txBody>
      </p:sp>
      <p:sp>
        <p:nvSpPr>
          <p:cNvPr id="15" name="TextBox 14"/>
          <p:cNvSpPr txBox="1"/>
          <p:nvPr/>
        </p:nvSpPr>
        <p:spPr>
          <a:xfrm>
            <a:off x="594360" y="3093720"/>
            <a:ext cx="274320" cy="247497"/>
          </a:xfrm>
          <a:prstGeom prst="rect">
            <a:avLst/>
          </a:prstGeom>
          <a:noFill/>
        </p:spPr>
        <p:txBody>
          <a:bodyPr wrap="none" lIns="0" tIns="0" rIns="0" bIns="0" anchor="ctr">
            <a:spAutoFit/>
          </a:bodyPr>
          <a:lstStyle/>
          <a:p>
            <a:pPr algn="r"/>
            <a:r>
              <a:rPr sz="1120" b="0">
                <a:solidFill>
                  <a:srgbClr val="72747E"/>
                </a:solidFill>
                <a:latin typeface="Menlo"/>
              </a:rPr>
              <a:t>6</a:t>
            </a:r>
          </a:p>
        </p:txBody>
      </p:sp>
      <p:sp>
        <p:nvSpPr>
          <p:cNvPr id="16" name="TextBox 15"/>
          <p:cNvSpPr txBox="1"/>
          <p:nvPr/>
        </p:nvSpPr>
        <p:spPr>
          <a:xfrm>
            <a:off x="1161288" y="3093720"/>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"Resource"</a:t>
            </a:r>
            <a:r>
              <a:rPr sz="1400" b="0">
                <a:solidFill>
                  <a:srgbClr val="CCCCD1"/>
                </a:solidFill>
                <a:latin typeface="Menlo"/>
              </a:rPr>
              <a:t>:</a:t>
            </a:r>
            <a:r>
              <a:rPr sz="1400" b="0">
                <a:solidFill>
                  <a:srgbClr val="F6F6F9"/>
                </a:solidFill>
                <a:latin typeface="Menlo"/>
              </a:rPr>
              <a:t> </a:t>
            </a:r>
            <a:r>
              <a:rPr sz="1400" b="0">
                <a:solidFill>
                  <a:srgbClr val="00E582"/>
                </a:solidFill>
                <a:latin typeface="Menlo"/>
              </a:rPr>
              <a:t>"arn:aws:ec2:region:account-id:instance/*"</a:t>
            </a:r>
            <a:r>
              <a:rPr sz="1400" b="0">
                <a:solidFill>
                  <a:srgbClr val="CCCCD1"/>
                </a:solidFill>
                <a:latin typeface="Menlo"/>
              </a:rPr>
              <a:t>,</a:t>
            </a:r>
          </a:p>
        </p:txBody>
      </p:sp>
      <p:sp>
        <p:nvSpPr>
          <p:cNvPr id="17" name="TextBox 16"/>
          <p:cNvSpPr txBox="1"/>
          <p:nvPr/>
        </p:nvSpPr>
        <p:spPr>
          <a:xfrm>
            <a:off x="594360" y="3341217"/>
            <a:ext cx="274320" cy="247497"/>
          </a:xfrm>
          <a:prstGeom prst="rect">
            <a:avLst/>
          </a:prstGeom>
          <a:noFill/>
        </p:spPr>
        <p:txBody>
          <a:bodyPr wrap="none" lIns="0" tIns="0" rIns="0" bIns="0" anchor="ctr">
            <a:spAutoFit/>
          </a:bodyPr>
          <a:lstStyle/>
          <a:p>
            <a:pPr algn="r"/>
            <a:r>
              <a:rPr sz="1120" b="0">
                <a:solidFill>
                  <a:srgbClr val="72747E"/>
                </a:solidFill>
                <a:latin typeface="Menlo"/>
              </a:rPr>
              <a:t>7</a:t>
            </a:r>
          </a:p>
        </p:txBody>
      </p:sp>
      <p:sp>
        <p:nvSpPr>
          <p:cNvPr id="18" name="TextBox 17"/>
          <p:cNvSpPr txBox="1"/>
          <p:nvPr/>
        </p:nvSpPr>
        <p:spPr>
          <a:xfrm>
            <a:off x="1161288" y="3341217"/>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"Condition"</a:t>
            </a:r>
            <a:r>
              <a:rPr sz="1400" b="0">
                <a:solidFill>
                  <a:srgbClr val="CCCCD1"/>
                </a:solidFill>
                <a:latin typeface="Menlo"/>
              </a:rPr>
              <a:t>:</a:t>
            </a:r>
            <a:r>
              <a:rPr sz="1400" b="0">
                <a:solidFill>
                  <a:srgbClr val="F6F6F9"/>
                </a:solidFill>
                <a:latin typeface="Menlo"/>
              </a:rPr>
              <a:t> </a:t>
            </a:r>
            <a:r>
              <a:rPr sz="1400" b="0">
                <a:solidFill>
                  <a:srgbClr val="CCCCD1"/>
                </a:solidFill>
                <a:latin typeface="Menlo"/>
              </a:rPr>
              <a:t>{</a:t>
            </a:r>
          </a:p>
        </p:txBody>
      </p:sp>
      <p:sp>
        <p:nvSpPr>
          <p:cNvPr id="19" name="TextBox 18"/>
          <p:cNvSpPr txBox="1"/>
          <p:nvPr/>
        </p:nvSpPr>
        <p:spPr>
          <a:xfrm>
            <a:off x="594360" y="3588715"/>
            <a:ext cx="274320" cy="247497"/>
          </a:xfrm>
          <a:prstGeom prst="rect">
            <a:avLst/>
          </a:prstGeom>
          <a:noFill/>
        </p:spPr>
        <p:txBody>
          <a:bodyPr wrap="none" lIns="0" tIns="0" rIns="0" bIns="0" anchor="ctr">
            <a:spAutoFit/>
          </a:bodyPr>
          <a:lstStyle/>
          <a:p>
            <a:pPr algn="r"/>
            <a:r>
              <a:rPr sz="1120" b="0">
                <a:solidFill>
                  <a:srgbClr val="72747E"/>
                </a:solidFill>
                <a:latin typeface="Menlo"/>
              </a:rPr>
              <a:t>8</a:t>
            </a:r>
          </a:p>
        </p:txBody>
      </p:sp>
      <p:sp>
        <p:nvSpPr>
          <p:cNvPr id="20" name="TextBox 19"/>
          <p:cNvSpPr txBox="1"/>
          <p:nvPr/>
        </p:nvSpPr>
        <p:spPr>
          <a:xfrm>
            <a:off x="1161288" y="3588715"/>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"StringEquals"</a:t>
            </a:r>
            <a:r>
              <a:rPr sz="1400" b="0">
                <a:solidFill>
                  <a:srgbClr val="CCCCD1"/>
                </a:solidFill>
                <a:latin typeface="Menlo"/>
              </a:rPr>
              <a:t>:</a:t>
            </a:r>
            <a:r>
              <a:rPr sz="1400" b="0">
                <a:solidFill>
                  <a:srgbClr val="F6F6F9"/>
                </a:solidFill>
                <a:latin typeface="Menlo"/>
              </a:rPr>
              <a:t> </a:t>
            </a:r>
            <a:r>
              <a:rPr sz="1400" b="0">
                <a:solidFill>
                  <a:srgbClr val="CCCCD1"/>
                </a:solidFill>
                <a:latin typeface="Menlo"/>
              </a:rPr>
              <a:t>{</a:t>
            </a:r>
          </a:p>
        </p:txBody>
      </p:sp>
      <p:sp>
        <p:nvSpPr>
          <p:cNvPr id="21" name="TextBox 20"/>
          <p:cNvSpPr txBox="1"/>
          <p:nvPr/>
        </p:nvSpPr>
        <p:spPr>
          <a:xfrm>
            <a:off x="594360" y="3836212"/>
            <a:ext cx="274320" cy="247497"/>
          </a:xfrm>
          <a:prstGeom prst="rect">
            <a:avLst/>
          </a:prstGeom>
          <a:noFill/>
        </p:spPr>
        <p:txBody>
          <a:bodyPr wrap="none" lIns="0" tIns="0" rIns="0" bIns="0" anchor="ctr">
            <a:spAutoFit/>
          </a:bodyPr>
          <a:lstStyle/>
          <a:p>
            <a:pPr algn="r"/>
            <a:r>
              <a:rPr sz="1120" b="0">
                <a:solidFill>
                  <a:srgbClr val="72747E"/>
                </a:solidFill>
                <a:latin typeface="Menlo"/>
              </a:rPr>
              <a:t>9</a:t>
            </a:r>
          </a:p>
        </p:txBody>
      </p:sp>
      <p:sp>
        <p:nvSpPr>
          <p:cNvPr id="22" name="TextBox 21"/>
          <p:cNvSpPr txBox="1"/>
          <p:nvPr/>
        </p:nvSpPr>
        <p:spPr>
          <a:xfrm>
            <a:off x="1161288" y="3836212"/>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"aws:ResourceTag/Project"</a:t>
            </a:r>
            <a:r>
              <a:rPr sz="1400" b="0">
                <a:solidFill>
                  <a:srgbClr val="CCCCD1"/>
                </a:solidFill>
                <a:latin typeface="Menlo"/>
              </a:rPr>
              <a:t>:</a:t>
            </a:r>
            <a:r>
              <a:rPr sz="1400" b="0">
                <a:solidFill>
                  <a:srgbClr val="F6F6F9"/>
                </a:solidFill>
                <a:latin typeface="Menlo"/>
              </a:rPr>
              <a:t> </a:t>
            </a:r>
            <a:r>
              <a:rPr sz="1400" b="0">
                <a:solidFill>
                  <a:srgbClr val="00E582"/>
                </a:solidFill>
                <a:latin typeface="Menlo"/>
              </a:rPr>
              <a:t>"DataAnalytics"</a:t>
            </a:r>
            <a:r>
              <a:rPr sz="1400" b="0">
                <a:solidFill>
                  <a:srgbClr val="CCCCD1"/>
                </a:solidFill>
                <a:latin typeface="Menlo"/>
              </a:rPr>
              <a:t>,</a:t>
            </a:r>
          </a:p>
        </p:txBody>
      </p:sp>
      <p:sp>
        <p:nvSpPr>
          <p:cNvPr id="23" name="TextBox 22"/>
          <p:cNvSpPr txBox="1"/>
          <p:nvPr/>
        </p:nvSpPr>
        <p:spPr>
          <a:xfrm>
            <a:off x="594360" y="4083710"/>
            <a:ext cx="274320" cy="247497"/>
          </a:xfrm>
          <a:prstGeom prst="rect">
            <a:avLst/>
          </a:prstGeom>
          <a:noFill/>
        </p:spPr>
        <p:txBody>
          <a:bodyPr wrap="none" lIns="0" tIns="0" rIns="0" bIns="0" anchor="ctr">
            <a:spAutoFit/>
          </a:bodyPr>
          <a:lstStyle/>
          <a:p>
            <a:pPr algn="r"/>
            <a:r>
              <a:rPr sz="1120" b="0">
                <a:solidFill>
                  <a:srgbClr val="72747E"/>
                </a:solidFill>
                <a:latin typeface="Menlo"/>
              </a:rPr>
              <a:t>10</a:t>
            </a:r>
          </a:p>
        </p:txBody>
      </p:sp>
      <p:sp>
        <p:nvSpPr>
          <p:cNvPr id="24" name="TextBox 23"/>
          <p:cNvSpPr txBox="1"/>
          <p:nvPr/>
        </p:nvSpPr>
        <p:spPr>
          <a:xfrm>
            <a:off x="1161288" y="4083710"/>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75CFFF"/>
                </a:solidFill>
                <a:latin typeface="Menlo"/>
              </a:rPr>
              <a:t>"aws:PrincipalTag/Department"</a:t>
            </a:r>
            <a:r>
              <a:rPr sz="1400" b="0">
                <a:solidFill>
                  <a:srgbClr val="CCCCD1"/>
                </a:solidFill>
                <a:latin typeface="Menlo"/>
              </a:rPr>
              <a:t>:</a:t>
            </a:r>
            <a:r>
              <a:rPr sz="1400" b="0">
                <a:solidFill>
                  <a:srgbClr val="F6F6F9"/>
                </a:solidFill>
                <a:latin typeface="Menlo"/>
              </a:rPr>
              <a:t> </a:t>
            </a:r>
            <a:r>
              <a:rPr sz="1400" b="0">
                <a:solidFill>
                  <a:srgbClr val="00E582"/>
                </a:solidFill>
                <a:latin typeface="Menlo"/>
              </a:rPr>
              <a:t>"Data"</a:t>
            </a:r>
          </a:p>
        </p:txBody>
      </p:sp>
      <p:sp>
        <p:nvSpPr>
          <p:cNvPr id="25" name="TextBox 24"/>
          <p:cNvSpPr txBox="1"/>
          <p:nvPr/>
        </p:nvSpPr>
        <p:spPr>
          <a:xfrm>
            <a:off x="594360" y="4331208"/>
            <a:ext cx="274320" cy="247497"/>
          </a:xfrm>
          <a:prstGeom prst="rect">
            <a:avLst/>
          </a:prstGeom>
          <a:noFill/>
        </p:spPr>
        <p:txBody>
          <a:bodyPr wrap="none" lIns="0" tIns="0" rIns="0" bIns="0" anchor="ctr">
            <a:spAutoFit/>
          </a:bodyPr>
          <a:lstStyle/>
          <a:p>
            <a:pPr algn="r"/>
            <a:r>
              <a:rPr sz="1120" b="0">
                <a:solidFill>
                  <a:srgbClr val="72747E"/>
                </a:solidFill>
                <a:latin typeface="Menlo"/>
              </a:rPr>
              <a:t>11</a:t>
            </a:r>
          </a:p>
        </p:txBody>
      </p:sp>
      <p:sp>
        <p:nvSpPr>
          <p:cNvPr id="26" name="TextBox 25"/>
          <p:cNvSpPr txBox="1"/>
          <p:nvPr/>
        </p:nvSpPr>
        <p:spPr>
          <a:xfrm>
            <a:off x="1161288" y="4331208"/>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CCCCD1"/>
                </a:solidFill>
                <a:latin typeface="Menlo"/>
              </a:rPr>
              <a:t>}</a:t>
            </a:r>
          </a:p>
        </p:txBody>
      </p:sp>
      <p:sp>
        <p:nvSpPr>
          <p:cNvPr id="27" name="TextBox 26"/>
          <p:cNvSpPr txBox="1"/>
          <p:nvPr/>
        </p:nvSpPr>
        <p:spPr>
          <a:xfrm>
            <a:off x="594360" y="4578705"/>
            <a:ext cx="274320" cy="247497"/>
          </a:xfrm>
          <a:prstGeom prst="rect">
            <a:avLst/>
          </a:prstGeom>
          <a:noFill/>
        </p:spPr>
        <p:txBody>
          <a:bodyPr wrap="none" lIns="0" tIns="0" rIns="0" bIns="0" anchor="ctr">
            <a:spAutoFit/>
          </a:bodyPr>
          <a:lstStyle/>
          <a:p>
            <a:pPr algn="r"/>
            <a:r>
              <a:rPr sz="1120" b="0">
                <a:solidFill>
                  <a:srgbClr val="72747E"/>
                </a:solidFill>
                <a:latin typeface="Menlo"/>
              </a:rPr>
              <a:t>12</a:t>
            </a:r>
          </a:p>
        </p:txBody>
      </p:sp>
      <p:sp>
        <p:nvSpPr>
          <p:cNvPr id="28" name="TextBox 27"/>
          <p:cNvSpPr txBox="1"/>
          <p:nvPr/>
        </p:nvSpPr>
        <p:spPr>
          <a:xfrm>
            <a:off x="1161288" y="4578705"/>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CCCCD1"/>
                </a:solidFill>
                <a:latin typeface="Menlo"/>
              </a:rPr>
              <a:t>}</a:t>
            </a:r>
          </a:p>
        </p:txBody>
      </p:sp>
      <p:sp>
        <p:nvSpPr>
          <p:cNvPr id="29" name="TextBox 28"/>
          <p:cNvSpPr txBox="1"/>
          <p:nvPr/>
        </p:nvSpPr>
        <p:spPr>
          <a:xfrm>
            <a:off x="594360" y="4826203"/>
            <a:ext cx="274320" cy="247497"/>
          </a:xfrm>
          <a:prstGeom prst="rect">
            <a:avLst/>
          </a:prstGeom>
          <a:noFill/>
        </p:spPr>
        <p:txBody>
          <a:bodyPr wrap="none" lIns="0" tIns="0" rIns="0" bIns="0" anchor="ctr">
            <a:spAutoFit/>
          </a:bodyPr>
          <a:lstStyle/>
          <a:p>
            <a:pPr algn="r"/>
            <a:r>
              <a:rPr sz="1120" b="0">
                <a:solidFill>
                  <a:srgbClr val="72747E"/>
                </a:solidFill>
                <a:latin typeface="Menlo"/>
              </a:rPr>
              <a:t>13</a:t>
            </a:r>
          </a:p>
        </p:txBody>
      </p:sp>
      <p:sp>
        <p:nvSpPr>
          <p:cNvPr id="30" name="TextBox 29"/>
          <p:cNvSpPr txBox="1"/>
          <p:nvPr/>
        </p:nvSpPr>
        <p:spPr>
          <a:xfrm>
            <a:off x="1161288" y="4826203"/>
            <a:ext cx="6293815" cy="247497"/>
          </a:xfrm>
          <a:prstGeom prst="rect">
            <a:avLst/>
          </a:prstGeom>
          <a:noFill/>
        </p:spPr>
        <p:txBody>
          <a:bodyPr wrap="none" lIns="0" tIns="0" rIns="0" bIns="0" anchor="ctr">
            <a:spAutoFit/>
          </a:bodyPr>
          <a:lstStyle/>
          <a:p>
            <a:pPr algn="l"/>
            <a:r>
              <a:rPr sz="1400" b="0">
                <a:solidFill>
                  <a:srgbClr val="F6F6F9"/>
                </a:solidFill>
                <a:latin typeface="Menlo"/>
              </a:rPr>
              <a:t>  </a:t>
            </a:r>
            <a:r>
              <a:rPr sz="1400" b="0">
                <a:solidFill>
                  <a:srgbClr val="CCCCD1"/>
                </a:solidFill>
                <a:latin typeface="Menlo"/>
              </a:rPr>
              <a:t>}]</a:t>
            </a:r>
          </a:p>
        </p:txBody>
      </p:sp>
      <p:sp>
        <p:nvSpPr>
          <p:cNvPr id="31" name="TextBox 30"/>
          <p:cNvSpPr txBox="1"/>
          <p:nvPr/>
        </p:nvSpPr>
        <p:spPr>
          <a:xfrm>
            <a:off x="594360" y="5073700"/>
            <a:ext cx="274320" cy="247497"/>
          </a:xfrm>
          <a:prstGeom prst="rect">
            <a:avLst/>
          </a:prstGeom>
          <a:noFill/>
        </p:spPr>
        <p:txBody>
          <a:bodyPr wrap="none" lIns="0" tIns="0" rIns="0" bIns="0" anchor="ctr">
            <a:spAutoFit/>
          </a:bodyPr>
          <a:lstStyle/>
          <a:p>
            <a:pPr algn="r"/>
            <a:r>
              <a:rPr sz="1120" b="0">
                <a:solidFill>
                  <a:srgbClr val="72747E"/>
                </a:solidFill>
                <a:latin typeface="Menlo"/>
              </a:rPr>
              <a:t>14</a:t>
            </a:r>
          </a:p>
        </p:txBody>
      </p:sp>
      <p:sp>
        <p:nvSpPr>
          <p:cNvPr id="32" name="TextBox 31"/>
          <p:cNvSpPr txBox="1"/>
          <p:nvPr/>
        </p:nvSpPr>
        <p:spPr>
          <a:xfrm>
            <a:off x="1161288" y="5073700"/>
            <a:ext cx="6293815" cy="247497"/>
          </a:xfrm>
          <a:prstGeom prst="rect">
            <a:avLst/>
          </a:prstGeom>
          <a:noFill/>
        </p:spPr>
        <p:txBody>
          <a:bodyPr wrap="none" lIns="0" tIns="0" rIns="0" bIns="0" anchor="ctr">
            <a:spAutoFit/>
          </a:bodyPr>
          <a:lstStyle/>
          <a:p>
            <a:pPr algn="l"/>
            <a:r>
              <a:rPr sz="1400" b="0">
                <a:solidFill>
                  <a:srgbClr val="CCCCD1"/>
                </a:solidFill>
                <a:latin typeface="Menlo"/>
              </a:rPr>
              <a:t>}</a:t>
            </a:r>
          </a:p>
        </p:txBody>
      </p:sp>
      <p:sp>
        <p:nvSpPr>
          <p:cNvPr id="33" name="Oval 32"/>
          <p:cNvSpPr/>
          <p:nvPr/>
        </p:nvSpPr>
        <p:spPr>
          <a:xfrm>
            <a:off x="603504" y="3601090"/>
            <a:ext cx="222747" cy="222747"/>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161D26"/>
                </a:solidFill>
                <a:latin typeface="Amazon Ember"/>
              </a:rPr>
              <a:t>1</a:t>
            </a:r>
          </a:p>
        </p:txBody>
      </p:sp>
      <p:sp>
        <p:nvSpPr>
          <p:cNvPr id="34" name="Oval 33"/>
          <p:cNvSpPr/>
          <p:nvPr/>
        </p:nvSpPr>
        <p:spPr>
          <a:xfrm>
            <a:off x="603504" y="3848587"/>
            <a:ext cx="222747" cy="222747"/>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161D26"/>
                </a:solidFill>
                <a:latin typeface="Amazon Ember"/>
              </a:rPr>
              <a:t>2</a:t>
            </a:r>
          </a:p>
        </p:txBody>
      </p:sp>
      <p:sp>
        <p:nvSpPr>
          <p:cNvPr id="35" name="Oval 34"/>
          <p:cNvSpPr/>
          <p:nvPr/>
        </p:nvSpPr>
        <p:spPr>
          <a:xfrm>
            <a:off x="603504" y="4096085"/>
            <a:ext cx="222747" cy="222747"/>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161D26"/>
                </a:solidFill>
                <a:latin typeface="Amazon Ember"/>
              </a:rPr>
              <a:t>3</a:t>
            </a:r>
          </a:p>
        </p:txBody>
      </p:sp>
      <p:sp>
        <p:nvSpPr>
          <p:cNvPr id="36" name="TextBox 35"/>
          <p:cNvSpPr txBox="1"/>
          <p:nvPr/>
        </p:nvSpPr>
        <p:spPr>
          <a:xfrm>
            <a:off x="8122615" y="1289304"/>
            <a:ext cx="3566160" cy="329184"/>
          </a:xfrm>
          <a:prstGeom prst="rect">
            <a:avLst/>
          </a:prstGeom>
          <a:noFill/>
        </p:spPr>
        <p:txBody>
          <a:bodyPr wrap="none" lIns="0" tIns="0" rIns="0" bIns="0" anchor="ctr">
            <a:spAutoFit/>
          </a:bodyPr>
          <a:lstStyle/>
          <a:p>
            <a:pPr algn="l"/>
            <a:r>
              <a:rPr sz="1500" b="1">
                <a:solidFill>
                  <a:srgbClr val="5A636E"/>
                </a:solidFill>
                <a:latin typeface="Amazon Ember"/>
              </a:rPr>
              <a:t>WHAT EACH PART DOES</a:t>
            </a:r>
          </a:p>
        </p:txBody>
      </p:sp>
      <p:sp>
        <p:nvSpPr>
          <p:cNvPr id="37" name="Oval 36"/>
          <p:cNvSpPr/>
          <p:nvPr/>
        </p:nvSpPr>
        <p:spPr>
          <a:xfrm>
            <a:off x="8122615" y="1719072"/>
            <a:ext cx="292608" cy="292608"/>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61D26"/>
                </a:solidFill>
                <a:latin typeface="Amazon Ember"/>
              </a:rPr>
              <a:t>1</a:t>
            </a:r>
          </a:p>
        </p:txBody>
      </p:sp>
      <p:sp>
        <p:nvSpPr>
          <p:cNvPr id="38" name="TextBox 37"/>
          <p:cNvSpPr txBox="1"/>
          <p:nvPr/>
        </p:nvSpPr>
        <p:spPr>
          <a:xfrm>
            <a:off x="8543239" y="1691640"/>
            <a:ext cx="3145536" cy="1207008"/>
          </a:xfrm>
          <a:prstGeom prst="rect">
            <a:avLst/>
          </a:prstGeom>
          <a:noFill/>
        </p:spPr>
        <p:txBody>
          <a:bodyPr wrap="square" lIns="0" tIns="0" bIns="0">
            <a:spAutoFit/>
          </a:bodyPr>
          <a:lstStyle/>
          <a:p>
            <a:r>
              <a:rPr sz="1700" b="1">
                <a:solidFill>
                  <a:srgbClr val="8F0072"/>
                </a:solidFill>
                <a:latin typeface="Menlo"/>
              </a:rPr>
              <a:t>"StringEquals"</a:t>
            </a:r>
          </a:p>
          <a:p>
            <a:pPr>
              <a:spcBef>
                <a:spcPts val="200"/>
              </a:spcBef>
            </a:pPr>
            <a:r>
              <a:rPr sz="1600">
                <a:solidFill>
                  <a:srgbClr val="333B45"/>
                </a:solidFill>
                <a:latin typeface="Amazon Ember"/>
              </a:rPr>
              <a:t>two keys in one block means AND, not OR</a:t>
            </a:r>
          </a:p>
        </p:txBody>
      </p:sp>
      <p:sp>
        <p:nvSpPr>
          <p:cNvPr id="39" name="Oval 38"/>
          <p:cNvSpPr/>
          <p:nvPr/>
        </p:nvSpPr>
        <p:spPr>
          <a:xfrm>
            <a:off x="8122615" y="3163824"/>
            <a:ext cx="292608" cy="292608"/>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61D26"/>
                </a:solidFill>
                <a:latin typeface="Amazon Ember"/>
              </a:rPr>
              <a:t>2</a:t>
            </a:r>
          </a:p>
        </p:txBody>
      </p:sp>
      <p:sp>
        <p:nvSpPr>
          <p:cNvPr id="40" name="TextBox 39"/>
          <p:cNvSpPr txBox="1"/>
          <p:nvPr/>
        </p:nvSpPr>
        <p:spPr>
          <a:xfrm>
            <a:off x="8543239" y="3136392"/>
            <a:ext cx="3145536" cy="1207008"/>
          </a:xfrm>
          <a:prstGeom prst="rect">
            <a:avLst/>
          </a:prstGeom>
          <a:noFill/>
        </p:spPr>
        <p:txBody>
          <a:bodyPr wrap="square" lIns="0" tIns="0" bIns="0">
            <a:spAutoFit/>
          </a:bodyPr>
          <a:lstStyle/>
          <a:p>
            <a:r>
              <a:rPr sz="1700" b="1">
                <a:solidFill>
                  <a:srgbClr val="8F0072"/>
                </a:solidFill>
                <a:latin typeface="Menlo"/>
              </a:rPr>
              <a:t>ResourceTag</a:t>
            </a:r>
          </a:p>
          <a:p>
            <a:pPr>
              <a:spcBef>
                <a:spcPts val="200"/>
              </a:spcBef>
            </a:pPr>
            <a:r>
              <a:rPr sz="1600">
                <a:solidFill>
                  <a:srgbClr val="333B45"/>
                </a:solidFill>
                <a:latin typeface="Amazon Ember"/>
              </a:rPr>
              <a:t>a tag on the instance being acted upon</a:t>
            </a:r>
          </a:p>
        </p:txBody>
      </p:sp>
      <p:sp>
        <p:nvSpPr>
          <p:cNvPr id="41" name="Oval 40"/>
          <p:cNvSpPr/>
          <p:nvPr/>
        </p:nvSpPr>
        <p:spPr>
          <a:xfrm>
            <a:off x="8122615" y="4608576"/>
            <a:ext cx="292608" cy="292608"/>
          </a:xfrm>
          <a:prstGeom prst="ellips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161D26"/>
                </a:solidFill>
                <a:latin typeface="Amazon Ember"/>
              </a:rPr>
              <a:t>3</a:t>
            </a:r>
          </a:p>
        </p:txBody>
      </p:sp>
      <p:sp>
        <p:nvSpPr>
          <p:cNvPr id="42" name="TextBox 41"/>
          <p:cNvSpPr txBox="1"/>
          <p:nvPr/>
        </p:nvSpPr>
        <p:spPr>
          <a:xfrm>
            <a:off x="8543239" y="4581144"/>
            <a:ext cx="3145536" cy="1207008"/>
          </a:xfrm>
          <a:prstGeom prst="rect">
            <a:avLst/>
          </a:prstGeom>
          <a:noFill/>
        </p:spPr>
        <p:txBody>
          <a:bodyPr wrap="square" lIns="0" tIns="0" bIns="0">
            <a:spAutoFit/>
          </a:bodyPr>
          <a:lstStyle/>
          <a:p>
            <a:r>
              <a:rPr sz="1700" b="1">
                <a:solidFill>
                  <a:srgbClr val="8F0072"/>
                </a:solidFill>
                <a:latin typeface="Menlo"/>
              </a:rPr>
              <a:t>PrincipalTag</a:t>
            </a:r>
          </a:p>
          <a:p>
            <a:pPr>
              <a:spcBef>
                <a:spcPts val="200"/>
              </a:spcBef>
            </a:pPr>
            <a:r>
              <a:rPr sz="1600">
                <a:solidFill>
                  <a:srgbClr val="333B45"/>
                </a:solidFill>
                <a:latin typeface="Amazon Ember"/>
              </a:rPr>
              <a:t>a tag on the caller -- the other side</a:t>
            </a:r>
          </a:p>
        </p:txBody>
      </p:sp>
      <p:sp>
        <p:nvSpPr>
          <p:cNvPr id="43" name="TextBox 42">
            <a:hlinkClick r:id="rId3"/>
          </p:cNvPr>
          <p:cNvSpPr txBox="1"/>
          <p:nvPr/>
        </p:nvSpPr>
        <p:spPr>
          <a:xfrm>
            <a:off x="8122615" y="5943600"/>
            <a:ext cx="3566160"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ABAC</a:t>
            </a:r>
          </a:p>
        </p:txBody>
      </p:sp>
      <p:sp>
        <p:nvSpPr>
          <p:cNvPr id="44" name="Rectangle 43"/>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hlinkClick r:id="rId3"/>
          </p:cNvPr>
          <p:cNvSpPr txBox="1"/>
          <p:nvPr/>
        </p:nvSpPr>
        <p:spPr>
          <a:xfrm>
            <a:off x="612648" y="5943600"/>
            <a:ext cx="5486400" cy="274320"/>
          </a:xfrm>
          <a:prstGeom prst="rect">
            <a:avLst/>
          </a:prstGeom>
          <a:noFill/>
        </p:spPr>
        <p:txBody>
          <a:bodyPr wrap="none" lIns="0" tIns="0" rIns="0" bIns="0">
            <a:spAutoFit/>
          </a:bodyPr>
          <a:lstStyle/>
          <a:p>
            <a:pPr algn="l"/>
            <a:r>
              <a:rPr sz="1100" b="1">
                <a:solidFill>
                  <a:srgbClr val="5A636E"/>
                </a:solidFill>
                <a:latin typeface="Amazon Ember"/>
              </a:rPr>
              <a:t>SOURCE  </a:t>
            </a:r>
            <a:r>
              <a:rPr sz="1200" u="sng">
                <a:solidFill>
                  <a:srgbClr val="0563C1"/>
                </a:solidFill>
                <a:latin typeface="Menlo"/>
                <a:hlinkClick r:id="rId3"/>
              </a:rPr>
              <a:t>docs.aws.amazon.com · ABAC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Identity policies attach to who; resource to what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Policies and permissions in AWS Identity…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IDENTITY POLICY</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12264"/>
            <a:ext cx="4828031" cy="377875"/>
          </a:xfrm>
          <a:prstGeom prst="rect">
            <a:avLst/>
          </a:prstGeom>
          <a:noFill/>
        </p:spPr>
        <p:txBody>
          <a:bodyPr wrap="square" anchor="t">
            <a:noAutofit/>
          </a:bodyPr>
          <a:lstStyle/>
          <a:p>
            <a:pPr algn="ctr"/>
            <a:r>
              <a:rPr sz="1800" b="1" i="0">
                <a:solidFill>
                  <a:srgbClr val="5A6B7B"/>
                </a:solidFill>
                <a:latin typeface="Amazon Ember Display"/>
              </a:rPr>
              <a:t>attached to a user or role</a:t>
            </a:r>
          </a:p>
        </p:txBody>
      </p:sp>
      <p:sp>
        <p:nvSpPr>
          <p:cNvPr id="9" name="Rounded Rectangle 8"/>
          <p:cNvSpPr/>
          <p:nvPr/>
        </p:nvSpPr>
        <p:spPr>
          <a:xfrm>
            <a:off x="85039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646680"/>
            <a:ext cx="4389119" cy="346049"/>
          </a:xfrm>
          <a:prstGeom prst="rect">
            <a:avLst/>
          </a:prstGeom>
          <a:noFill/>
        </p:spPr>
        <p:txBody>
          <a:bodyPr wrap="square" anchor="t">
            <a:noAutofit/>
          </a:bodyPr>
          <a:lstStyle/>
          <a:p>
            <a:pPr algn="l"/>
            <a:r>
              <a:rPr sz="1600" b="1" i="0">
                <a:solidFill>
                  <a:srgbClr val="232B37"/>
                </a:solidFill>
                <a:latin typeface="Amazon Ember Display"/>
              </a:rPr>
              <a:t>answers what this principal may do</a:t>
            </a:r>
          </a:p>
        </p:txBody>
      </p:sp>
      <p:sp>
        <p:nvSpPr>
          <p:cNvPr id="11" name="Rounded Rectangle 10"/>
          <p:cNvSpPr/>
          <p:nvPr/>
        </p:nvSpPr>
        <p:spPr>
          <a:xfrm>
            <a:off x="85039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250184"/>
            <a:ext cx="4389119" cy="346049"/>
          </a:xfrm>
          <a:prstGeom prst="rect">
            <a:avLst/>
          </a:prstGeom>
          <a:noFill/>
        </p:spPr>
        <p:txBody>
          <a:bodyPr wrap="square" anchor="t">
            <a:noAutofit/>
          </a:bodyPr>
          <a:lstStyle/>
          <a:p>
            <a:pPr algn="l"/>
            <a:r>
              <a:rPr sz="1600" b="1" i="0">
                <a:solidFill>
                  <a:srgbClr val="232B37"/>
                </a:solidFill>
                <a:latin typeface="Amazon Ember Display"/>
              </a:rPr>
              <a:t>cannot reach across accounts alone</a:t>
            </a:r>
          </a:p>
        </p:txBody>
      </p:sp>
      <p:sp>
        <p:nvSpPr>
          <p:cNvPr id="13" name="Rounded Rectangle 12"/>
          <p:cNvSpPr/>
          <p:nvPr/>
        </p:nvSpPr>
        <p:spPr>
          <a:xfrm>
            <a:off x="85039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3853688"/>
            <a:ext cx="4389119" cy="346049"/>
          </a:xfrm>
          <a:prstGeom prst="rect">
            <a:avLst/>
          </a:prstGeom>
          <a:noFill/>
        </p:spPr>
        <p:txBody>
          <a:bodyPr wrap="square" anchor="t">
            <a:noAutofit/>
          </a:bodyPr>
          <a:lstStyle/>
          <a:p>
            <a:pPr algn="l"/>
            <a:r>
              <a:rPr sz="1600" b="1" i="0">
                <a:solidFill>
                  <a:srgbClr val="232B37"/>
                </a:solidFill>
                <a:latin typeface="Amazon Ember Display"/>
              </a:rPr>
              <a:t>the usual place permissions live</a:t>
            </a:r>
          </a:p>
        </p:txBody>
      </p:sp>
      <p:sp>
        <p:nvSpPr>
          <p:cNvPr id="15" name="Rounded Rectangle 14"/>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RESOURCE POLICY</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112264"/>
            <a:ext cx="4828031" cy="377875"/>
          </a:xfrm>
          <a:prstGeom prst="rect">
            <a:avLst/>
          </a:prstGeom>
          <a:noFill/>
        </p:spPr>
        <p:txBody>
          <a:bodyPr wrap="square" anchor="t">
            <a:noAutofit/>
          </a:bodyPr>
          <a:lstStyle/>
          <a:p>
            <a:pPr algn="ctr"/>
            <a:r>
              <a:rPr sz="1800" b="1" i="0">
                <a:solidFill>
                  <a:srgbClr val="5A6B7B"/>
                </a:solidFill>
                <a:latin typeface="Amazon Ember Display"/>
              </a:rPr>
              <a:t>attached to the thing itself</a:t>
            </a:r>
          </a:p>
        </p:txBody>
      </p:sp>
      <p:sp>
        <p:nvSpPr>
          <p:cNvPr id="19" name="Rounded Rectangle 18"/>
          <p:cNvSpPr/>
          <p:nvPr/>
        </p:nvSpPr>
        <p:spPr>
          <a:xfrm>
            <a:off x="651967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646680"/>
            <a:ext cx="4389119" cy="346049"/>
          </a:xfrm>
          <a:prstGeom prst="rect">
            <a:avLst/>
          </a:prstGeom>
          <a:noFill/>
        </p:spPr>
        <p:txBody>
          <a:bodyPr wrap="square" anchor="t">
            <a:noAutofit/>
          </a:bodyPr>
          <a:lstStyle/>
          <a:p>
            <a:pPr algn="l"/>
            <a:r>
              <a:rPr sz="1600" b="1" i="0">
                <a:solidFill>
                  <a:srgbClr val="232B37"/>
                </a:solidFill>
                <a:latin typeface="Amazon Ember Display"/>
              </a:rPr>
              <a:t>answers who may touch this resource</a:t>
            </a:r>
          </a:p>
        </p:txBody>
      </p:sp>
      <p:sp>
        <p:nvSpPr>
          <p:cNvPr id="21" name="Rounded Rectangle 20"/>
          <p:cNvSpPr/>
          <p:nvPr/>
        </p:nvSpPr>
        <p:spPr>
          <a:xfrm>
            <a:off x="651967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250184"/>
            <a:ext cx="4389119" cy="346049"/>
          </a:xfrm>
          <a:prstGeom prst="rect">
            <a:avLst/>
          </a:prstGeom>
          <a:noFill/>
        </p:spPr>
        <p:txBody>
          <a:bodyPr wrap="square" anchor="t">
            <a:noAutofit/>
          </a:bodyPr>
          <a:lstStyle/>
          <a:p>
            <a:pPr algn="l"/>
            <a:r>
              <a:rPr sz="1600" b="1" i="0">
                <a:solidFill>
                  <a:srgbClr val="232B37"/>
                </a:solidFill>
                <a:latin typeface="Amazon Ember Display"/>
              </a:rPr>
              <a:t>CAN name a principal in another account</a:t>
            </a:r>
          </a:p>
        </p:txBody>
      </p:sp>
      <p:sp>
        <p:nvSpPr>
          <p:cNvPr id="23" name="Rounded Rectangle 22"/>
          <p:cNvSpPr/>
          <p:nvPr/>
        </p:nvSpPr>
        <p:spPr>
          <a:xfrm>
            <a:off x="651967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853688"/>
            <a:ext cx="4389119" cy="346049"/>
          </a:xfrm>
          <a:prstGeom prst="rect">
            <a:avLst/>
          </a:prstGeom>
          <a:noFill/>
        </p:spPr>
        <p:txBody>
          <a:bodyPr wrap="square" anchor="t">
            <a:noAutofit/>
          </a:bodyPr>
          <a:lstStyle/>
          <a:p>
            <a:pPr algn="l"/>
            <a:r>
              <a:rPr sz="1600" b="1" i="0">
                <a:solidFill>
                  <a:srgbClr val="232B37"/>
                </a:solidFill>
                <a:latin typeface="Amazon Ember Display"/>
              </a:rPr>
              <a:t>an S3 bucket policy is one</a:t>
            </a:r>
          </a:p>
        </p:txBody>
      </p:sp>
      <p:sp>
        <p:nvSpPr>
          <p:cNvPr id="25" name="TextBox 24"/>
          <p:cNvSpPr txBox="1"/>
          <p:nvPr/>
        </p:nvSpPr>
        <p:spPr>
          <a:xfrm>
            <a:off x="612648" y="4736592"/>
            <a:ext cx="10972800" cy="441528"/>
          </a:xfrm>
          <a:prstGeom prst="rect">
            <a:avLst/>
          </a:prstGeom>
          <a:noFill/>
        </p:spPr>
        <p:txBody>
          <a:bodyPr wrap="square" anchor="ctr">
            <a:noAutofit/>
          </a:bodyPr>
          <a:lstStyle/>
          <a:p>
            <a:pPr algn="ctr"/>
            <a:r>
              <a:rPr sz="2200" b="1" i="0">
                <a:solidFill>
                  <a:srgbClr val="8F0072"/>
                </a:solidFill>
                <a:latin typeface="Amazon Ember Display"/>
              </a:rPr>
              <a:t>inside one account either Allow is enough; across accounts you need both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you secure a model in use?</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AI SERVICE SECURITY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guardrail checks the prompt and the response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377440"/>
            <a:ext cx="2788920" cy="1021384"/>
          </a:xfrm>
          <a:prstGeom prst="roundRect">
            <a:avLst>
              <a:gd name="adj" fmla="val 125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40664" y="2542032"/>
            <a:ext cx="2532887" cy="377875"/>
          </a:xfrm>
          <a:prstGeom prst="rect">
            <a:avLst/>
          </a:prstGeom>
          <a:noFill/>
        </p:spPr>
        <p:txBody>
          <a:bodyPr wrap="square" anchor="ctr">
            <a:noAutofit/>
          </a:bodyPr>
          <a:lstStyle/>
          <a:p>
            <a:pPr algn="ctr"/>
            <a:r>
              <a:rPr sz="1800" b="1" i="0">
                <a:solidFill>
                  <a:srgbClr val="8F0072"/>
                </a:solidFill>
                <a:latin typeface="Amazon Ember Display"/>
              </a:rPr>
              <a:t>GUARDRAIL</a:t>
            </a:r>
          </a:p>
        </p:txBody>
      </p:sp>
      <p:sp>
        <p:nvSpPr>
          <p:cNvPr id="6" name="TextBox 5"/>
          <p:cNvSpPr txBox="1"/>
          <p:nvPr/>
        </p:nvSpPr>
        <p:spPr>
          <a:xfrm>
            <a:off x="740664" y="2888081"/>
            <a:ext cx="2532887" cy="346049"/>
          </a:xfrm>
          <a:prstGeom prst="rect">
            <a:avLst/>
          </a:prstGeom>
          <a:noFill/>
        </p:spPr>
        <p:txBody>
          <a:bodyPr wrap="square" anchor="ctr">
            <a:noAutofit/>
          </a:bodyPr>
          <a:lstStyle/>
          <a:p>
            <a:pPr algn="ctr"/>
            <a:r>
              <a:rPr sz="1600" b="0" i="0">
                <a:solidFill>
                  <a:srgbClr val="5A6B7B"/>
                </a:solidFill>
                <a:latin typeface="Amazon Ember Display"/>
              </a:rPr>
              <a:t>what the user sent</a:t>
            </a:r>
          </a:p>
        </p:txBody>
      </p:sp>
      <p:sp>
        <p:nvSpPr>
          <p:cNvPr id="7" name="Rounded Rectangle 6"/>
          <p:cNvSpPr/>
          <p:nvPr/>
        </p:nvSpPr>
        <p:spPr>
          <a:xfrm>
            <a:off x="8787384" y="2377440"/>
            <a:ext cx="2788920" cy="1021384"/>
          </a:xfrm>
          <a:prstGeom prst="roundRect">
            <a:avLst>
              <a:gd name="adj" fmla="val 125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915400" y="2542032"/>
            <a:ext cx="2532887" cy="377875"/>
          </a:xfrm>
          <a:prstGeom prst="rect">
            <a:avLst/>
          </a:prstGeom>
          <a:noFill/>
        </p:spPr>
        <p:txBody>
          <a:bodyPr wrap="square" anchor="ctr">
            <a:noAutofit/>
          </a:bodyPr>
          <a:lstStyle/>
          <a:p>
            <a:pPr algn="ctr"/>
            <a:r>
              <a:rPr sz="1800" b="1" i="0">
                <a:solidFill>
                  <a:srgbClr val="8F0072"/>
                </a:solidFill>
                <a:latin typeface="Amazon Ember Display"/>
              </a:rPr>
              <a:t>GUARDRAIL</a:t>
            </a:r>
          </a:p>
        </p:txBody>
      </p:sp>
      <p:sp>
        <p:nvSpPr>
          <p:cNvPr id="9" name="TextBox 8"/>
          <p:cNvSpPr txBox="1"/>
          <p:nvPr/>
        </p:nvSpPr>
        <p:spPr>
          <a:xfrm>
            <a:off x="8915400" y="2888081"/>
            <a:ext cx="2532887" cy="346049"/>
          </a:xfrm>
          <a:prstGeom prst="rect">
            <a:avLst/>
          </a:prstGeom>
          <a:noFill/>
        </p:spPr>
        <p:txBody>
          <a:bodyPr wrap="square" anchor="ctr">
            <a:noAutofit/>
          </a:bodyPr>
          <a:lstStyle/>
          <a:p>
            <a:pPr algn="ctr"/>
            <a:r>
              <a:rPr sz="1600" b="0" i="0">
                <a:solidFill>
                  <a:srgbClr val="5A6B7B"/>
                </a:solidFill>
                <a:latin typeface="Amazon Ember Display"/>
              </a:rPr>
              <a:t>what the model said</a:t>
            </a:r>
          </a:p>
        </p:txBody>
      </p:sp>
      <p:sp>
        <p:nvSpPr>
          <p:cNvPr id="10" name="Rounded Rectangle 9"/>
          <p:cNvSpPr/>
          <p:nvPr/>
        </p:nvSpPr>
        <p:spPr>
          <a:xfrm>
            <a:off x="4905756" y="2377440"/>
            <a:ext cx="2377440" cy="1021384"/>
          </a:xfrm>
          <a:prstGeom prst="roundRect">
            <a:avLst>
              <a:gd name="adj" fmla="val 12533"/>
            </a:avLst>
          </a:prstGeom>
          <a:solidFill>
            <a:srgbClr val="FFFFFF"/>
          </a:solidFill>
          <a:ln w="254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mazon-Bedrock_64.png"/>
          <p:cNvPicPr>
            <a:picLocks noChangeAspect="1"/>
          </p:cNvPicPr>
          <p:nvPr/>
        </p:nvPicPr>
        <p:blipFill>
          <a:blip r:embed="rId3"/>
          <a:stretch>
            <a:fillRect/>
          </a:stretch>
        </p:blipFill>
        <p:spPr>
          <a:xfrm>
            <a:off x="5088636" y="2659532"/>
            <a:ext cx="457200" cy="457200"/>
          </a:xfrm>
          <a:prstGeom prst="rect">
            <a:avLst/>
          </a:prstGeom>
        </p:spPr>
      </p:pic>
      <p:sp>
        <p:nvSpPr>
          <p:cNvPr id="12" name="TextBox 11"/>
          <p:cNvSpPr txBox="1"/>
          <p:nvPr/>
        </p:nvSpPr>
        <p:spPr>
          <a:xfrm>
            <a:off x="5692140" y="2715107"/>
            <a:ext cx="1481327" cy="346049"/>
          </a:xfrm>
          <a:prstGeom prst="rect">
            <a:avLst/>
          </a:prstGeom>
          <a:noFill/>
        </p:spPr>
        <p:txBody>
          <a:bodyPr wrap="square" anchor="ctr">
            <a:noAutofit/>
          </a:bodyPr>
          <a:lstStyle/>
          <a:p>
            <a:pPr algn="l"/>
            <a:r>
              <a:rPr sz="1600" b="0" i="0">
                <a:solidFill>
                  <a:srgbClr val="5A6B7B"/>
                </a:solidFill>
                <a:latin typeface="Amazon Ember Display"/>
              </a:rPr>
              <a:t>the model</a:t>
            </a:r>
          </a:p>
        </p:txBody>
      </p:sp>
      <p:sp>
        <p:nvSpPr>
          <p:cNvPr id="13" name="Freeform 12"/>
          <p:cNvSpPr/>
          <p:nvPr/>
        </p:nvSpPr>
        <p:spPr>
          <a:xfrm>
            <a:off x="3447287" y="2888132"/>
            <a:ext cx="1367029" cy="0"/>
          </a:xfrm>
          <a:custGeom>
            <a:avLst/>
            <a:gdLst/>
            <a:ahLst/>
            <a:cxnLst/>
            <a:rect l="l" t="t" r="r" b="b"/>
            <a:pathLst>
              <a:path w="1367029">
                <a:moveTo>
                  <a:pt x="0" y="0"/>
                </a:moveTo>
                <a:lnTo>
                  <a:pt x="1367029"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4640580" y="2769260"/>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328916" y="2888132"/>
            <a:ext cx="1367028" cy="0"/>
          </a:xfrm>
          <a:custGeom>
            <a:avLst/>
            <a:gdLst/>
            <a:ahLst/>
            <a:cxnLst/>
            <a:rect l="l" t="t" r="r" b="b"/>
            <a:pathLst>
              <a:path w="1367028">
                <a:moveTo>
                  <a:pt x="0" y="0"/>
                </a:moveTo>
                <a:lnTo>
                  <a:pt x="13670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8522207" y="2769260"/>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56432" y="2350058"/>
            <a:ext cx="1394460" cy="346049"/>
          </a:xfrm>
          <a:prstGeom prst="rect">
            <a:avLst/>
          </a:prstGeom>
          <a:noFill/>
        </p:spPr>
        <p:txBody>
          <a:bodyPr wrap="square" anchor="t">
            <a:noAutofit/>
          </a:bodyPr>
          <a:lstStyle/>
          <a:p>
            <a:pPr algn="ctr"/>
            <a:r>
              <a:rPr sz="1600" b="1" i="0">
                <a:solidFill>
                  <a:srgbClr val="5A6B7B"/>
                </a:solidFill>
                <a:latin typeface="Amazon Ember Display"/>
              </a:rPr>
              <a:t>in</a:t>
            </a:r>
          </a:p>
        </p:txBody>
      </p:sp>
      <p:sp>
        <p:nvSpPr>
          <p:cNvPr id="18" name="TextBox 17"/>
          <p:cNvSpPr txBox="1"/>
          <p:nvPr/>
        </p:nvSpPr>
        <p:spPr>
          <a:xfrm>
            <a:off x="7338060" y="2350058"/>
            <a:ext cx="1394459" cy="346049"/>
          </a:xfrm>
          <a:prstGeom prst="rect">
            <a:avLst/>
          </a:prstGeom>
          <a:noFill/>
        </p:spPr>
        <p:txBody>
          <a:bodyPr wrap="square" anchor="t">
            <a:noAutofit/>
          </a:bodyPr>
          <a:lstStyle/>
          <a:p>
            <a:pPr algn="ctr"/>
            <a:r>
              <a:rPr sz="1600" b="1" i="0" dirty="0">
                <a:solidFill>
                  <a:srgbClr val="5A6B7B"/>
                </a:solidFill>
                <a:latin typeface="Amazon Ember Display"/>
              </a:rPr>
              <a:t>out</a:t>
            </a:r>
          </a:p>
        </p:txBody>
      </p:sp>
      <p:sp>
        <p:nvSpPr>
          <p:cNvPr id="19" name="TextBox 18"/>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outbound check runs after the model has finished, so no prompt can skip it</a:t>
            </a:r>
          </a:p>
        </p:txBody>
      </p:sp>
      <p:sp>
        <p:nvSpPr>
          <p:cNvPr id="20" name="TextBox 19">
            <a:hlinkClick r:id="rId4"/>
          </p:cNvPr>
          <p:cNvSpPr txBox="1"/>
          <p:nvPr/>
        </p:nvSpPr>
        <p:spPr>
          <a:xfrm>
            <a:off x="612648" y="5943600"/>
            <a:ext cx="62922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Detect and filter harmful content by…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data protection came first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Clariant Employees Embrace Generative AI Using…</a:t>
            </a:r>
          </a:p>
        </p:txBody>
      </p:sp>
      <p:sp>
        <p:nvSpPr>
          <p:cNvPr id="5" name="Rounded Rectangle 4"/>
          <p:cNvSpPr/>
          <p:nvPr/>
        </p:nvSpPr>
        <p:spPr>
          <a:xfrm>
            <a:off x="731520" y="2176272"/>
            <a:ext cx="5561380"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176272"/>
            <a:ext cx="5049316" cy="859536"/>
          </a:xfrm>
          <a:prstGeom prst="rect">
            <a:avLst/>
          </a:prstGeom>
          <a:noFill/>
        </p:spPr>
        <p:txBody>
          <a:bodyPr wrap="square" anchor="ctr">
            <a:noAutofit/>
          </a:bodyPr>
          <a:lstStyle/>
          <a:p>
            <a:pPr algn="l"/>
            <a:r>
              <a:rPr sz="1900" b="0" i="0">
                <a:solidFill>
                  <a:srgbClr val="232B37"/>
                </a:solidFill>
                <a:latin typeface="Amazon Ember Display"/>
              </a:rPr>
              <a:t>Staff wanted generative AI now</a:t>
            </a:r>
          </a:p>
        </p:txBody>
      </p:sp>
      <p:sp>
        <p:nvSpPr>
          <p:cNvPr id="7" name="Freeform 6"/>
          <p:cNvSpPr/>
          <p:nvPr/>
        </p:nvSpPr>
        <p:spPr>
          <a:xfrm>
            <a:off x="6494068" y="2606039"/>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6731812" y="2487168"/>
            <a:ext cx="192024" cy="237743"/>
          </a:xfrm>
          <a:custGeom>
            <a:avLst/>
            <a:gdLst/>
            <a:ahLst/>
            <a:cxnLst/>
            <a:rect l="l" t="t" r="r" b="b"/>
            <a:pathLst>
              <a:path w="192024" h="237743">
                <a:moveTo>
                  <a:pt x="0" y="0"/>
                </a:moveTo>
                <a:lnTo>
                  <a:pt x="192024" y="118871"/>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125004" y="2176272"/>
            <a:ext cx="4460443"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44460" y="2212251"/>
            <a:ext cx="4021531" cy="409702"/>
          </a:xfrm>
          <a:prstGeom prst="rect">
            <a:avLst/>
          </a:prstGeom>
          <a:noFill/>
        </p:spPr>
        <p:txBody>
          <a:bodyPr wrap="square" anchor="t">
            <a:noAutofit/>
          </a:bodyPr>
          <a:lstStyle/>
          <a:p>
            <a:pPr algn="l"/>
            <a:r>
              <a:rPr sz="2000" b="1" i="0">
                <a:solidFill>
                  <a:srgbClr val="8F0072"/>
                </a:solidFill>
                <a:latin typeface="Amazon Ember Display"/>
              </a:rPr>
              <a:t>Say yes without losing control</a:t>
            </a:r>
          </a:p>
        </p:txBody>
      </p:sp>
      <p:sp>
        <p:nvSpPr>
          <p:cNvPr id="11" name="TextBox 10"/>
          <p:cNvSpPr txBox="1"/>
          <p:nvPr/>
        </p:nvSpPr>
        <p:spPr>
          <a:xfrm>
            <a:off x="7344460" y="2621953"/>
            <a:ext cx="4021531" cy="377875"/>
          </a:xfrm>
          <a:prstGeom prst="rect">
            <a:avLst/>
          </a:prstGeom>
          <a:noFill/>
        </p:spPr>
        <p:txBody>
          <a:bodyPr wrap="square" anchor="t">
            <a:noAutofit/>
          </a:bodyPr>
          <a:lstStyle/>
          <a:p>
            <a:pPr algn="l"/>
            <a:r>
              <a:rPr sz="1800" b="0" i="0">
                <a:solidFill>
                  <a:srgbClr val="232B37"/>
                </a:solidFill>
                <a:latin typeface="Amazon Ember Display"/>
              </a:rPr>
              <a:t>one secure platform, several models</a:t>
            </a:r>
          </a:p>
        </p:txBody>
      </p:sp>
      <p:sp>
        <p:nvSpPr>
          <p:cNvPr id="12" name="Rounded Rectangle 11"/>
          <p:cNvSpPr/>
          <p:nvPr/>
        </p:nvSpPr>
        <p:spPr>
          <a:xfrm>
            <a:off x="731520" y="3145536"/>
            <a:ext cx="5561380"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145536"/>
            <a:ext cx="5049316" cy="859536"/>
          </a:xfrm>
          <a:prstGeom prst="rect">
            <a:avLst/>
          </a:prstGeom>
          <a:noFill/>
        </p:spPr>
        <p:txBody>
          <a:bodyPr wrap="square" anchor="ctr">
            <a:noAutofit/>
          </a:bodyPr>
          <a:lstStyle/>
          <a:p>
            <a:pPr algn="l"/>
            <a:r>
              <a:rPr sz="1900" b="0" i="0">
                <a:solidFill>
                  <a:srgbClr val="232B37"/>
                </a:solidFill>
                <a:latin typeface="Amazon Ember Display"/>
              </a:rPr>
              <a:t>R&amp;D is the company's crown jewels</a:t>
            </a:r>
          </a:p>
        </p:txBody>
      </p:sp>
      <p:sp>
        <p:nvSpPr>
          <p:cNvPr id="14" name="Freeform 13"/>
          <p:cNvSpPr/>
          <p:nvPr/>
        </p:nvSpPr>
        <p:spPr>
          <a:xfrm>
            <a:off x="6494068"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6731812"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25004" y="3145536"/>
            <a:ext cx="4460443"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44460" y="3181515"/>
            <a:ext cx="4021531" cy="409702"/>
          </a:xfrm>
          <a:prstGeom prst="rect">
            <a:avLst/>
          </a:prstGeom>
          <a:noFill/>
        </p:spPr>
        <p:txBody>
          <a:bodyPr wrap="square" anchor="t">
            <a:noAutofit/>
          </a:bodyPr>
          <a:lstStyle/>
          <a:p>
            <a:pPr algn="l"/>
            <a:r>
              <a:rPr sz="2000" b="1" i="0">
                <a:solidFill>
                  <a:srgbClr val="8F0072"/>
                </a:solidFill>
                <a:latin typeface="Amazon Ember Display"/>
              </a:rPr>
              <a:t>Keep the data in our hands</a:t>
            </a:r>
          </a:p>
        </p:txBody>
      </p:sp>
      <p:sp>
        <p:nvSpPr>
          <p:cNvPr id="18" name="TextBox 17"/>
          <p:cNvSpPr txBox="1"/>
          <p:nvPr/>
        </p:nvSpPr>
        <p:spPr>
          <a:xfrm>
            <a:off x="7344460" y="3591217"/>
            <a:ext cx="4021531" cy="377875"/>
          </a:xfrm>
          <a:prstGeom prst="rect">
            <a:avLst/>
          </a:prstGeom>
          <a:noFill/>
        </p:spPr>
        <p:txBody>
          <a:bodyPr wrap="square" anchor="t">
            <a:noAutofit/>
          </a:bodyPr>
          <a:lstStyle/>
          <a:p>
            <a:pPr algn="l"/>
            <a:r>
              <a:rPr sz="1800" b="0" i="0">
                <a:solidFill>
                  <a:srgbClr val="232B37"/>
                </a:solidFill>
                <a:latin typeface="Amazon Ember Display"/>
              </a:rPr>
              <a:t>intellectual property stays inside</a:t>
            </a:r>
          </a:p>
        </p:txBody>
      </p:sp>
      <p:sp>
        <p:nvSpPr>
          <p:cNvPr id="19" name="Rounded Rectangle 18"/>
          <p:cNvSpPr/>
          <p:nvPr/>
        </p:nvSpPr>
        <p:spPr>
          <a:xfrm>
            <a:off x="731520" y="4114800"/>
            <a:ext cx="5561380" cy="859536"/>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114800"/>
            <a:ext cx="5049316" cy="859536"/>
          </a:xfrm>
          <a:prstGeom prst="rect">
            <a:avLst/>
          </a:prstGeom>
          <a:noFill/>
        </p:spPr>
        <p:txBody>
          <a:bodyPr wrap="square" anchor="ctr">
            <a:noAutofit/>
          </a:bodyPr>
          <a:lstStyle/>
          <a:p>
            <a:pPr algn="l"/>
            <a:r>
              <a:rPr sz="1900" b="0" i="0">
                <a:solidFill>
                  <a:srgbClr val="232B37"/>
                </a:solidFill>
                <a:latin typeface="Amazon Ember Display"/>
              </a:rPr>
              <a:t>Nobody knew what it was good for</a:t>
            </a:r>
          </a:p>
        </p:txBody>
      </p:sp>
      <p:sp>
        <p:nvSpPr>
          <p:cNvPr id="21" name="Freeform 20"/>
          <p:cNvSpPr/>
          <p:nvPr/>
        </p:nvSpPr>
        <p:spPr>
          <a:xfrm>
            <a:off x="6494068" y="4544568"/>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6731812" y="4425696"/>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125004" y="4114800"/>
            <a:ext cx="4460443" cy="859536"/>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44460" y="4150779"/>
            <a:ext cx="4021531" cy="409702"/>
          </a:xfrm>
          <a:prstGeom prst="rect">
            <a:avLst/>
          </a:prstGeom>
          <a:noFill/>
        </p:spPr>
        <p:txBody>
          <a:bodyPr wrap="square" anchor="t">
            <a:noAutofit/>
          </a:bodyPr>
          <a:lstStyle/>
          <a:p>
            <a:pPr algn="l"/>
            <a:r>
              <a:rPr sz="2000" b="1" i="0">
                <a:solidFill>
                  <a:srgbClr val="8F0072"/>
                </a:solidFill>
                <a:latin typeface="Amazon Ember Display"/>
              </a:rPr>
              <a:t>Let people find the use cases</a:t>
            </a:r>
          </a:p>
        </p:txBody>
      </p:sp>
      <p:sp>
        <p:nvSpPr>
          <p:cNvPr id="25" name="TextBox 24"/>
          <p:cNvSpPr txBox="1"/>
          <p:nvPr/>
        </p:nvSpPr>
        <p:spPr>
          <a:xfrm>
            <a:off x="7344460" y="4560481"/>
            <a:ext cx="4021531" cy="377875"/>
          </a:xfrm>
          <a:prstGeom prst="rect">
            <a:avLst/>
          </a:prstGeom>
          <a:noFill/>
        </p:spPr>
        <p:txBody>
          <a:bodyPr wrap="square" anchor="t">
            <a:noAutofit/>
          </a:bodyPr>
          <a:lstStyle/>
          <a:p>
            <a:pPr algn="l"/>
            <a:r>
              <a:rPr sz="1800" b="0" i="0">
                <a:solidFill>
                  <a:srgbClr val="232B37"/>
                </a:solidFill>
                <a:latin typeface="Amazon Ember Display"/>
              </a:rPr>
              <a:t>patents, toxicology, summarizing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Block removes the message; mask replaces the PII</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4750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Remove PII from conversations by using…</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BLOCK</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12264"/>
            <a:ext cx="4828031" cy="377875"/>
          </a:xfrm>
          <a:prstGeom prst="rect">
            <a:avLst/>
          </a:prstGeom>
          <a:noFill/>
        </p:spPr>
        <p:txBody>
          <a:bodyPr wrap="square" anchor="t">
            <a:noAutofit/>
          </a:bodyPr>
          <a:lstStyle/>
          <a:p>
            <a:pPr algn="ctr"/>
            <a:r>
              <a:rPr sz="1800" b="1" i="0">
                <a:solidFill>
                  <a:srgbClr val="5A6B7B"/>
                </a:solidFill>
                <a:latin typeface="Amazon Ember Display"/>
              </a:rPr>
              <a:t>refuse the whole thing</a:t>
            </a:r>
          </a:p>
        </p:txBody>
      </p:sp>
      <p:sp>
        <p:nvSpPr>
          <p:cNvPr id="9" name="Rounded Rectangle 8"/>
          <p:cNvSpPr/>
          <p:nvPr/>
        </p:nvSpPr>
        <p:spPr>
          <a:xfrm>
            <a:off x="85039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646680"/>
            <a:ext cx="4389119" cy="346049"/>
          </a:xfrm>
          <a:prstGeom prst="rect">
            <a:avLst/>
          </a:prstGeom>
          <a:noFill/>
        </p:spPr>
        <p:txBody>
          <a:bodyPr wrap="square" anchor="t">
            <a:noAutofit/>
          </a:bodyPr>
          <a:lstStyle/>
          <a:p>
            <a:pPr algn="l"/>
            <a:r>
              <a:rPr sz="1600" b="1" i="0">
                <a:solidFill>
                  <a:srgbClr val="232B37"/>
                </a:solidFill>
                <a:latin typeface="Amazon Ember Display"/>
              </a:rPr>
              <a:t>blocks all the content</a:t>
            </a:r>
          </a:p>
        </p:txBody>
      </p:sp>
      <p:sp>
        <p:nvSpPr>
          <p:cNvPr id="11" name="Rounded Rectangle 10"/>
          <p:cNvSpPr/>
          <p:nvPr/>
        </p:nvSpPr>
        <p:spPr>
          <a:xfrm>
            <a:off x="85039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250184"/>
            <a:ext cx="4389119" cy="346049"/>
          </a:xfrm>
          <a:prstGeom prst="rect">
            <a:avLst/>
          </a:prstGeom>
          <a:noFill/>
        </p:spPr>
        <p:txBody>
          <a:bodyPr wrap="square" anchor="t">
            <a:noAutofit/>
          </a:bodyPr>
          <a:lstStyle/>
          <a:p>
            <a:pPr algn="l"/>
            <a:r>
              <a:rPr sz="1600" b="1" i="0">
                <a:solidFill>
                  <a:srgbClr val="232B37"/>
                </a:solidFill>
                <a:latin typeface="Amazon Ember Display"/>
              </a:rPr>
              <a:t>returns a message you configure</a:t>
            </a:r>
          </a:p>
        </p:txBody>
      </p:sp>
      <p:sp>
        <p:nvSpPr>
          <p:cNvPr id="13" name="Rounded Rectangle 12"/>
          <p:cNvSpPr/>
          <p:nvPr/>
        </p:nvSpPr>
        <p:spPr>
          <a:xfrm>
            <a:off x="85039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3853688"/>
            <a:ext cx="4389119" cy="346049"/>
          </a:xfrm>
          <a:prstGeom prst="rect">
            <a:avLst/>
          </a:prstGeom>
          <a:noFill/>
        </p:spPr>
        <p:txBody>
          <a:bodyPr wrap="square" anchor="t">
            <a:noAutofit/>
          </a:bodyPr>
          <a:lstStyle/>
          <a:p>
            <a:pPr algn="l"/>
            <a:r>
              <a:rPr sz="1600" b="1" i="0">
                <a:solidFill>
                  <a:srgbClr val="232B37"/>
                </a:solidFill>
                <a:latin typeface="Amazon Ember Display"/>
              </a:rPr>
              <a:t>for public question and answer tools</a:t>
            </a:r>
          </a:p>
        </p:txBody>
      </p:sp>
      <p:sp>
        <p:nvSpPr>
          <p:cNvPr id="15" name="Rounded Rectangle 14"/>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MASK</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112264"/>
            <a:ext cx="4828031" cy="377875"/>
          </a:xfrm>
          <a:prstGeom prst="rect">
            <a:avLst/>
          </a:prstGeom>
          <a:noFill/>
        </p:spPr>
        <p:txBody>
          <a:bodyPr wrap="square" anchor="t">
            <a:noAutofit/>
          </a:bodyPr>
          <a:lstStyle/>
          <a:p>
            <a:pPr algn="ctr"/>
            <a:r>
              <a:rPr sz="1800" b="1" i="0">
                <a:solidFill>
                  <a:srgbClr val="5A6B7B"/>
                </a:solidFill>
                <a:latin typeface="Amazon Ember Display"/>
              </a:rPr>
              <a:t>continue without the value</a:t>
            </a:r>
          </a:p>
        </p:txBody>
      </p:sp>
      <p:sp>
        <p:nvSpPr>
          <p:cNvPr id="19" name="Rounded Rectangle 18"/>
          <p:cNvSpPr/>
          <p:nvPr/>
        </p:nvSpPr>
        <p:spPr>
          <a:xfrm>
            <a:off x="651967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646680"/>
            <a:ext cx="4389119" cy="346049"/>
          </a:xfrm>
          <a:prstGeom prst="rect">
            <a:avLst/>
          </a:prstGeom>
          <a:noFill/>
        </p:spPr>
        <p:txBody>
          <a:bodyPr wrap="square" anchor="t">
            <a:noAutofit/>
          </a:bodyPr>
          <a:lstStyle/>
          <a:p>
            <a:pPr algn="l"/>
            <a:r>
              <a:rPr sz="1600" b="1" i="0">
                <a:solidFill>
                  <a:srgbClr val="232B37"/>
                </a:solidFill>
                <a:latin typeface="Amazon Ember Display"/>
              </a:rPr>
              <a:t>anonymizes or redacts it</a:t>
            </a:r>
          </a:p>
        </p:txBody>
      </p:sp>
      <p:sp>
        <p:nvSpPr>
          <p:cNvPr id="21" name="Rounded Rectangle 20"/>
          <p:cNvSpPr/>
          <p:nvPr/>
        </p:nvSpPr>
        <p:spPr>
          <a:xfrm>
            <a:off x="651967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250184"/>
            <a:ext cx="4389119" cy="346049"/>
          </a:xfrm>
          <a:prstGeom prst="rect">
            <a:avLst/>
          </a:prstGeom>
          <a:noFill/>
        </p:spPr>
        <p:txBody>
          <a:bodyPr wrap="square" anchor="t">
            <a:noAutofit/>
          </a:bodyPr>
          <a:lstStyle/>
          <a:p>
            <a:pPr algn="l"/>
            <a:r>
              <a:rPr sz="1600" b="1" i="0">
                <a:solidFill>
                  <a:srgbClr val="232B37"/>
                </a:solidFill>
                <a:latin typeface="Amazon Ember Display"/>
              </a:rPr>
              <a:t>replaced by its type, like {NAME}</a:t>
            </a:r>
          </a:p>
        </p:txBody>
      </p:sp>
      <p:sp>
        <p:nvSpPr>
          <p:cNvPr id="23" name="Rounded Rectangle 22"/>
          <p:cNvSpPr/>
          <p:nvPr/>
        </p:nvSpPr>
        <p:spPr>
          <a:xfrm>
            <a:off x="651967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853688"/>
            <a:ext cx="4389119" cy="346049"/>
          </a:xfrm>
          <a:prstGeom prst="rect">
            <a:avLst/>
          </a:prstGeom>
          <a:noFill/>
        </p:spPr>
        <p:txBody>
          <a:bodyPr wrap="square" anchor="t">
            <a:noAutofit/>
          </a:bodyPr>
          <a:lstStyle/>
          <a:p>
            <a:pPr algn="l"/>
            <a:r>
              <a:rPr sz="1600" b="1" i="0">
                <a:solidFill>
                  <a:srgbClr val="232B37"/>
                </a:solidFill>
                <a:latin typeface="Amazon Ember Display"/>
              </a:rPr>
              <a:t>for summarizing conversations</a:t>
            </a:r>
          </a:p>
        </p:txBody>
      </p:sp>
      <p:sp>
        <p:nvSpPr>
          <p:cNvPr id="25" name="TextBox 24"/>
          <p:cNvSpPr txBox="1"/>
          <p:nvPr/>
        </p:nvSpPr>
        <p:spPr>
          <a:xfrm>
            <a:off x="612648" y="4736592"/>
            <a:ext cx="10972800" cy="441528"/>
          </a:xfrm>
          <a:prstGeom prst="rect">
            <a:avLst/>
          </a:prstGeom>
          <a:noFill/>
        </p:spPr>
        <p:txBody>
          <a:bodyPr wrap="square" anchor="ctr">
            <a:noAutofit/>
          </a:bodyPr>
          <a:lstStyle/>
          <a:p>
            <a:pPr algn="ctr"/>
            <a:r>
              <a:rPr sz="2200" b="1" i="0">
                <a:solidFill>
                  <a:srgbClr val="8F0072"/>
                </a:solidFill>
                <a:latin typeface="Amazon Ember Display"/>
              </a:rPr>
              <a:t>pick the mode from what the application still needs to do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The filter does not see PII inside a tool call</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960473"/>
            <a:ext cx="8892540" cy="601675"/>
          </a:xfrm>
          <a:prstGeom prst="roundRect">
            <a:avLst>
              <a:gd name="adj" fmla="val 18237"/>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5528" y="2088489"/>
            <a:ext cx="2153412" cy="346049"/>
          </a:xfrm>
          <a:prstGeom prst="rect">
            <a:avLst/>
          </a:prstGeom>
          <a:noFill/>
        </p:spPr>
        <p:txBody>
          <a:bodyPr wrap="square" anchor="ctr">
            <a:noAutofit/>
          </a:bodyPr>
          <a:lstStyle/>
          <a:p>
            <a:pPr algn="l"/>
            <a:r>
              <a:rPr sz="1600" b="1" i="0">
                <a:solidFill>
                  <a:srgbClr val="8F0072"/>
                </a:solidFill>
                <a:latin typeface="Amazon Ember Display"/>
              </a:rPr>
              <a:t>what the user sees</a:t>
            </a:r>
          </a:p>
        </p:txBody>
      </p:sp>
      <p:sp>
        <p:nvSpPr>
          <p:cNvPr id="6" name="TextBox 5"/>
          <p:cNvSpPr txBox="1"/>
          <p:nvPr/>
        </p:nvSpPr>
        <p:spPr>
          <a:xfrm>
            <a:off x="3095244" y="2088489"/>
            <a:ext cx="6227063" cy="346049"/>
          </a:xfrm>
          <a:prstGeom prst="rect">
            <a:avLst/>
          </a:prstGeom>
          <a:noFill/>
        </p:spPr>
        <p:txBody>
          <a:bodyPr wrap="square" anchor="ctr">
            <a:noAutofit/>
          </a:bodyPr>
          <a:lstStyle/>
          <a:p>
            <a:pPr algn="l"/>
            <a:r>
              <a:rPr sz="1600" b="0" i="0">
                <a:solidFill>
                  <a:srgbClr val="5A6B7B"/>
                </a:solidFill>
                <a:latin typeface="Amazon Ember Display"/>
              </a:rPr>
              <a:t>the prompt and the response</a:t>
            </a:r>
          </a:p>
        </p:txBody>
      </p:sp>
      <p:sp>
        <p:nvSpPr>
          <p:cNvPr id="7" name="Rounded Rectangle 6"/>
          <p:cNvSpPr/>
          <p:nvPr/>
        </p:nvSpPr>
        <p:spPr>
          <a:xfrm>
            <a:off x="9779508" y="2023567"/>
            <a:ext cx="1796796"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852660" y="2115007"/>
            <a:ext cx="1650492" cy="346049"/>
          </a:xfrm>
          <a:prstGeom prst="rect">
            <a:avLst/>
          </a:prstGeom>
          <a:noFill/>
        </p:spPr>
        <p:txBody>
          <a:bodyPr wrap="square" anchor="ctr">
            <a:noAutofit/>
          </a:bodyPr>
          <a:lstStyle/>
          <a:p>
            <a:pPr algn="ctr"/>
            <a:r>
              <a:rPr sz="1600" b="1" i="0">
                <a:solidFill>
                  <a:srgbClr val="FFFFFF"/>
                </a:solidFill>
                <a:latin typeface="Amazon Ember Display"/>
              </a:rPr>
              <a:t>evaluated</a:t>
            </a:r>
          </a:p>
        </p:txBody>
      </p:sp>
      <p:sp>
        <p:nvSpPr>
          <p:cNvPr id="9" name="Rounded Rectangle 8"/>
          <p:cNvSpPr/>
          <p:nvPr/>
        </p:nvSpPr>
        <p:spPr>
          <a:xfrm>
            <a:off x="612648" y="2708452"/>
            <a:ext cx="8892540" cy="601675"/>
          </a:xfrm>
          <a:prstGeom prst="roundRect">
            <a:avLst>
              <a:gd name="adj" fmla="val 18237"/>
            </a:avLst>
          </a:prstGeom>
          <a:solidFill>
            <a:srgbClr val="FFFFFF"/>
          </a:solidFill>
          <a:ln w="254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5528" y="2836468"/>
            <a:ext cx="2153412" cy="346049"/>
          </a:xfrm>
          <a:prstGeom prst="rect">
            <a:avLst/>
          </a:prstGeom>
          <a:noFill/>
        </p:spPr>
        <p:txBody>
          <a:bodyPr wrap="square" anchor="ctr">
            <a:noAutofit/>
          </a:bodyPr>
          <a:lstStyle/>
          <a:p>
            <a:pPr algn="l"/>
            <a:r>
              <a:rPr sz="1600" b="1" i="0">
                <a:solidFill>
                  <a:srgbClr val="232B37"/>
                </a:solidFill>
                <a:latin typeface="Amazon Ember Display"/>
              </a:rPr>
              <a:t>tool call arguments</a:t>
            </a:r>
          </a:p>
        </p:txBody>
      </p:sp>
      <p:sp>
        <p:nvSpPr>
          <p:cNvPr id="11" name="TextBox 10"/>
          <p:cNvSpPr txBox="1"/>
          <p:nvPr/>
        </p:nvSpPr>
        <p:spPr>
          <a:xfrm>
            <a:off x="3095244" y="2836468"/>
            <a:ext cx="6227063" cy="346049"/>
          </a:xfrm>
          <a:prstGeom prst="rect">
            <a:avLst/>
          </a:prstGeom>
          <a:noFill/>
        </p:spPr>
        <p:txBody>
          <a:bodyPr wrap="square" anchor="ctr">
            <a:noAutofit/>
          </a:bodyPr>
          <a:lstStyle/>
          <a:p>
            <a:pPr algn="l"/>
            <a:r>
              <a:rPr sz="1600" b="0" i="0">
                <a:solidFill>
                  <a:srgbClr val="5A6B7B"/>
                </a:solidFill>
                <a:latin typeface="Amazon Ember Display"/>
              </a:rPr>
              <a:t>what the model passes to a tool</a:t>
            </a:r>
          </a:p>
        </p:txBody>
      </p:sp>
      <p:sp>
        <p:nvSpPr>
          <p:cNvPr id="12" name="Rounded Rectangle 11"/>
          <p:cNvSpPr/>
          <p:nvPr/>
        </p:nvSpPr>
        <p:spPr>
          <a:xfrm>
            <a:off x="9779508" y="2771546"/>
            <a:ext cx="1796796"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52660" y="2862986"/>
            <a:ext cx="1650492" cy="346049"/>
          </a:xfrm>
          <a:prstGeom prst="rect">
            <a:avLst/>
          </a:prstGeom>
          <a:noFill/>
        </p:spPr>
        <p:txBody>
          <a:bodyPr wrap="square" anchor="ctr">
            <a:noAutofit/>
          </a:bodyPr>
          <a:lstStyle/>
          <a:p>
            <a:pPr algn="ctr"/>
            <a:r>
              <a:rPr sz="1600" b="1" i="0">
                <a:solidFill>
                  <a:srgbClr val="232B37"/>
                </a:solidFill>
                <a:latin typeface="Amazon Ember Display"/>
              </a:rPr>
              <a:t>not evaluated</a:t>
            </a:r>
          </a:p>
        </p:txBody>
      </p:sp>
      <p:sp>
        <p:nvSpPr>
          <p:cNvPr id="14" name="Rounded Rectangle 13"/>
          <p:cNvSpPr/>
          <p:nvPr/>
        </p:nvSpPr>
        <p:spPr>
          <a:xfrm>
            <a:off x="612648" y="3456432"/>
            <a:ext cx="8892540" cy="601675"/>
          </a:xfrm>
          <a:prstGeom prst="roundRect">
            <a:avLst>
              <a:gd name="adj" fmla="val 18237"/>
            </a:avLst>
          </a:prstGeom>
          <a:solidFill>
            <a:srgbClr val="FFFFFF"/>
          </a:solidFill>
          <a:ln w="254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95528" y="3584448"/>
            <a:ext cx="2153412" cy="346049"/>
          </a:xfrm>
          <a:prstGeom prst="rect">
            <a:avLst/>
          </a:prstGeom>
          <a:noFill/>
        </p:spPr>
        <p:txBody>
          <a:bodyPr wrap="square" anchor="ctr">
            <a:noAutofit/>
          </a:bodyPr>
          <a:lstStyle/>
          <a:p>
            <a:pPr algn="l"/>
            <a:r>
              <a:rPr sz="1600" b="1" i="0">
                <a:solidFill>
                  <a:srgbClr val="232B37"/>
                </a:solidFill>
                <a:latin typeface="Amazon Ember Display"/>
              </a:rPr>
              <a:t>tool results</a:t>
            </a:r>
          </a:p>
        </p:txBody>
      </p:sp>
      <p:sp>
        <p:nvSpPr>
          <p:cNvPr id="16" name="TextBox 15"/>
          <p:cNvSpPr txBox="1"/>
          <p:nvPr/>
        </p:nvSpPr>
        <p:spPr>
          <a:xfrm>
            <a:off x="3095244" y="3584448"/>
            <a:ext cx="6227063" cy="346049"/>
          </a:xfrm>
          <a:prstGeom prst="rect">
            <a:avLst/>
          </a:prstGeom>
          <a:noFill/>
        </p:spPr>
        <p:txBody>
          <a:bodyPr wrap="square" anchor="ctr">
            <a:noAutofit/>
          </a:bodyPr>
          <a:lstStyle/>
          <a:p>
            <a:pPr algn="l"/>
            <a:r>
              <a:rPr sz="1600" b="0" i="0">
                <a:solidFill>
                  <a:srgbClr val="5A6B7B"/>
                </a:solidFill>
                <a:latin typeface="Amazon Ember Display"/>
              </a:rPr>
              <a:t>what your application returns</a:t>
            </a:r>
          </a:p>
        </p:txBody>
      </p:sp>
      <p:sp>
        <p:nvSpPr>
          <p:cNvPr id="17" name="Rounded Rectangle 16"/>
          <p:cNvSpPr/>
          <p:nvPr/>
        </p:nvSpPr>
        <p:spPr>
          <a:xfrm>
            <a:off x="9779508" y="3519525"/>
            <a:ext cx="1796796"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852660" y="3610965"/>
            <a:ext cx="1650492" cy="346049"/>
          </a:xfrm>
          <a:prstGeom prst="rect">
            <a:avLst/>
          </a:prstGeom>
          <a:noFill/>
        </p:spPr>
        <p:txBody>
          <a:bodyPr wrap="square" anchor="ctr">
            <a:noAutofit/>
          </a:bodyPr>
          <a:lstStyle/>
          <a:p>
            <a:pPr algn="ctr"/>
            <a:r>
              <a:rPr sz="1600" b="1" i="0">
                <a:solidFill>
                  <a:srgbClr val="232B37"/>
                </a:solidFill>
                <a:latin typeface="Amazon Ember Display"/>
              </a:rPr>
              <a:t>not evaluated</a:t>
            </a:r>
          </a:p>
        </p:txBody>
      </p:sp>
      <p:sp>
        <p:nvSpPr>
          <p:cNvPr id="19" name="Rounded Rectangle 18"/>
          <p:cNvSpPr/>
          <p:nvPr/>
        </p:nvSpPr>
        <p:spPr>
          <a:xfrm>
            <a:off x="612648" y="4204411"/>
            <a:ext cx="8892540" cy="601675"/>
          </a:xfrm>
          <a:prstGeom prst="roundRect">
            <a:avLst>
              <a:gd name="adj" fmla="val 18237"/>
            </a:avLst>
          </a:prstGeom>
          <a:solidFill>
            <a:srgbClr val="FFFFFF"/>
          </a:solidFill>
          <a:ln w="254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95528" y="4332427"/>
            <a:ext cx="2153412" cy="346049"/>
          </a:xfrm>
          <a:prstGeom prst="rect">
            <a:avLst/>
          </a:prstGeom>
          <a:noFill/>
        </p:spPr>
        <p:txBody>
          <a:bodyPr wrap="square" anchor="ctr">
            <a:noAutofit/>
          </a:bodyPr>
          <a:lstStyle/>
          <a:p>
            <a:pPr algn="l"/>
            <a:r>
              <a:rPr sz="1600" b="1" i="0">
                <a:solidFill>
                  <a:srgbClr val="232B37"/>
                </a:solidFill>
                <a:latin typeface="Amazon Ember Display"/>
              </a:rPr>
              <a:t>tool definitions</a:t>
            </a:r>
          </a:p>
        </p:txBody>
      </p:sp>
      <p:sp>
        <p:nvSpPr>
          <p:cNvPr id="21" name="TextBox 20"/>
          <p:cNvSpPr txBox="1"/>
          <p:nvPr/>
        </p:nvSpPr>
        <p:spPr>
          <a:xfrm>
            <a:off x="3095244" y="4332427"/>
            <a:ext cx="6227063" cy="346049"/>
          </a:xfrm>
          <a:prstGeom prst="rect">
            <a:avLst/>
          </a:prstGeom>
          <a:noFill/>
        </p:spPr>
        <p:txBody>
          <a:bodyPr wrap="square" anchor="ctr">
            <a:noAutofit/>
          </a:bodyPr>
          <a:lstStyle/>
          <a:p>
            <a:pPr algn="l"/>
            <a:r>
              <a:rPr sz="1600" b="0" i="0">
                <a:solidFill>
                  <a:srgbClr val="5A6B7B"/>
                </a:solidFill>
                <a:latin typeface="Amazon Ember Display"/>
              </a:rPr>
              <a:t>the schema and descriptions you supply</a:t>
            </a:r>
          </a:p>
        </p:txBody>
      </p:sp>
      <p:sp>
        <p:nvSpPr>
          <p:cNvPr id="22" name="Rounded Rectangle 21"/>
          <p:cNvSpPr/>
          <p:nvPr/>
        </p:nvSpPr>
        <p:spPr>
          <a:xfrm>
            <a:off x="9779508" y="4267504"/>
            <a:ext cx="1796796" cy="475488"/>
          </a:xfrm>
          <a:prstGeom prst="roundRect">
            <a:avLst>
              <a:gd name="adj" fmla="val 19230"/>
            </a:avLst>
          </a:prstGeom>
          <a:solidFill>
            <a:srgbClr val="FFFFFF"/>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852660" y="4358944"/>
            <a:ext cx="1650492" cy="346049"/>
          </a:xfrm>
          <a:prstGeom prst="rect">
            <a:avLst/>
          </a:prstGeom>
          <a:noFill/>
        </p:spPr>
        <p:txBody>
          <a:bodyPr wrap="square" anchor="ctr">
            <a:noAutofit/>
          </a:bodyPr>
          <a:lstStyle/>
          <a:p>
            <a:pPr algn="ctr"/>
            <a:r>
              <a:rPr sz="1600" b="1" i="0">
                <a:solidFill>
                  <a:srgbClr val="232B37"/>
                </a:solidFill>
                <a:latin typeface="Amazon Ember Display"/>
              </a:rPr>
              <a:t>not evaluated</a:t>
            </a:r>
          </a:p>
        </p:txBody>
      </p:sp>
      <p:sp>
        <p:nvSpPr>
          <p:cNvPr id="24" name="TextBox 23"/>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validate inside the tool -- it is the last place you control</a:t>
            </a:r>
          </a:p>
        </p:txBody>
      </p:sp>
      <p:sp>
        <p:nvSpPr>
          <p:cNvPr id="25" name="TextBox 24">
            <a:hlinkClick r:id="rId3"/>
          </p:cNvPr>
          <p:cNvSpPr txBox="1"/>
          <p:nvPr/>
        </p:nvSpPr>
        <p:spPr>
          <a:xfrm>
            <a:off x="612648" y="5943600"/>
            <a:ext cx="64750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Remove PII from conversations by using…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new account fails on its first model call</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Request access to models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WHAT PEOPLE EXPECT</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12264"/>
            <a:ext cx="4828031" cy="377875"/>
          </a:xfrm>
          <a:prstGeom prst="rect">
            <a:avLst/>
          </a:prstGeom>
          <a:noFill/>
        </p:spPr>
        <p:txBody>
          <a:bodyPr wrap="square" anchor="t">
            <a:noAutofit/>
          </a:bodyPr>
          <a:lstStyle/>
          <a:p>
            <a:pPr algn="ctr"/>
            <a:r>
              <a:rPr sz="1800" b="1" i="0">
                <a:solidFill>
                  <a:srgbClr val="5A6B7B"/>
                </a:solidFill>
                <a:latin typeface="Amazon Ember Display"/>
              </a:rPr>
              <a:t>a per-model request step</a:t>
            </a:r>
          </a:p>
        </p:txBody>
      </p:sp>
      <p:sp>
        <p:nvSpPr>
          <p:cNvPr id="9" name="Rounded Rectangle 8"/>
          <p:cNvSpPr/>
          <p:nvPr/>
        </p:nvSpPr>
        <p:spPr>
          <a:xfrm>
            <a:off x="85039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646680"/>
            <a:ext cx="4389119" cy="346049"/>
          </a:xfrm>
          <a:prstGeom prst="rect">
            <a:avLst/>
          </a:prstGeom>
          <a:noFill/>
        </p:spPr>
        <p:txBody>
          <a:bodyPr wrap="square" anchor="t">
            <a:noAutofit/>
          </a:bodyPr>
          <a:lstStyle/>
          <a:p>
            <a:pPr algn="l"/>
            <a:r>
              <a:rPr sz="1600" b="1" i="0">
                <a:solidFill>
                  <a:srgbClr val="232B37"/>
                </a:solidFill>
                <a:latin typeface="Amazon Ember Display"/>
              </a:rPr>
              <a:t>ask for access to each model</a:t>
            </a:r>
          </a:p>
        </p:txBody>
      </p:sp>
      <p:sp>
        <p:nvSpPr>
          <p:cNvPr id="11" name="Rounded Rectangle 10"/>
          <p:cNvSpPr/>
          <p:nvPr/>
        </p:nvSpPr>
        <p:spPr>
          <a:xfrm>
            <a:off x="85039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250184"/>
            <a:ext cx="4389119" cy="346049"/>
          </a:xfrm>
          <a:prstGeom prst="rect">
            <a:avLst/>
          </a:prstGeom>
          <a:noFill/>
        </p:spPr>
        <p:txBody>
          <a:bodyPr wrap="square" anchor="t">
            <a:noAutofit/>
          </a:bodyPr>
          <a:lstStyle/>
          <a:p>
            <a:pPr algn="l"/>
            <a:r>
              <a:rPr sz="1600" b="1" i="0">
                <a:solidFill>
                  <a:srgbClr val="232B37"/>
                </a:solidFill>
                <a:latin typeface="Amazon Ember Display"/>
              </a:rPr>
              <a:t>wait for it to be granted</a:t>
            </a:r>
          </a:p>
        </p:txBody>
      </p:sp>
      <p:sp>
        <p:nvSpPr>
          <p:cNvPr id="13" name="Rounded Rectangle 12"/>
          <p:cNvSpPr/>
          <p:nvPr/>
        </p:nvSpPr>
        <p:spPr>
          <a:xfrm>
            <a:off x="85039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3853688"/>
            <a:ext cx="4389119" cy="346049"/>
          </a:xfrm>
          <a:prstGeom prst="rect">
            <a:avLst/>
          </a:prstGeom>
          <a:noFill/>
        </p:spPr>
        <p:txBody>
          <a:bodyPr wrap="square" anchor="t">
            <a:noAutofit/>
          </a:bodyPr>
          <a:lstStyle/>
          <a:p>
            <a:pPr algn="l"/>
            <a:r>
              <a:rPr sz="1600" b="1" i="0">
                <a:solidFill>
                  <a:srgbClr val="232B37"/>
                </a:solidFill>
                <a:latin typeface="Amazon Ember Display"/>
              </a:rPr>
              <a:t>then start calling it</a:t>
            </a:r>
          </a:p>
        </p:txBody>
      </p:sp>
      <p:sp>
        <p:nvSpPr>
          <p:cNvPr id="15" name="Rounded Rectangle 14"/>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WHAT ACTUALLY HAPPENS</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112264"/>
            <a:ext cx="4828031" cy="377875"/>
          </a:xfrm>
          <a:prstGeom prst="rect">
            <a:avLst/>
          </a:prstGeom>
          <a:noFill/>
        </p:spPr>
        <p:txBody>
          <a:bodyPr wrap="square" anchor="t">
            <a:noAutofit/>
          </a:bodyPr>
          <a:lstStyle/>
          <a:p>
            <a:pPr algn="ctr"/>
            <a:r>
              <a:rPr sz="1800" b="1" i="0">
                <a:solidFill>
                  <a:srgbClr val="5A6B7B"/>
                </a:solidFill>
                <a:latin typeface="Amazon Ember Display"/>
              </a:rPr>
              <a:t>enabled by default</a:t>
            </a:r>
          </a:p>
        </p:txBody>
      </p:sp>
      <p:sp>
        <p:nvSpPr>
          <p:cNvPr id="19" name="Rounded Rectangle 18"/>
          <p:cNvSpPr/>
          <p:nvPr/>
        </p:nvSpPr>
        <p:spPr>
          <a:xfrm>
            <a:off x="6519672" y="253288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646680"/>
            <a:ext cx="4389119" cy="346049"/>
          </a:xfrm>
          <a:prstGeom prst="rect">
            <a:avLst/>
          </a:prstGeom>
          <a:noFill/>
        </p:spPr>
        <p:txBody>
          <a:bodyPr wrap="square" anchor="t">
            <a:noAutofit/>
          </a:bodyPr>
          <a:lstStyle/>
          <a:p>
            <a:pPr algn="l"/>
            <a:r>
              <a:rPr sz="1600" b="1" i="0">
                <a:solidFill>
                  <a:srgbClr val="232B37"/>
                </a:solidFill>
                <a:latin typeface="Amazon Ember Display"/>
              </a:rPr>
              <a:t>the first call starts a subscription</a:t>
            </a:r>
          </a:p>
        </p:txBody>
      </p:sp>
      <p:sp>
        <p:nvSpPr>
          <p:cNvPr id="21" name="Rounded Rectangle 20"/>
          <p:cNvSpPr/>
          <p:nvPr/>
        </p:nvSpPr>
        <p:spPr>
          <a:xfrm>
            <a:off x="6519672" y="313639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250184"/>
            <a:ext cx="4389119" cy="346049"/>
          </a:xfrm>
          <a:prstGeom prst="rect">
            <a:avLst/>
          </a:prstGeom>
          <a:noFill/>
        </p:spPr>
        <p:txBody>
          <a:bodyPr wrap="square" anchor="t">
            <a:noAutofit/>
          </a:bodyPr>
          <a:lstStyle/>
          <a:p>
            <a:pPr algn="l"/>
            <a:r>
              <a:rPr sz="1600" b="1" i="0">
                <a:solidFill>
                  <a:srgbClr val="232B37"/>
                </a:solidFill>
                <a:latin typeface="Amazon Ember Display"/>
              </a:rPr>
              <a:t>access denied while that completes</a:t>
            </a:r>
          </a:p>
        </p:txBody>
      </p:sp>
      <p:sp>
        <p:nvSpPr>
          <p:cNvPr id="23" name="Rounded Rectangle 22"/>
          <p:cNvSpPr/>
          <p:nvPr/>
        </p:nvSpPr>
        <p:spPr>
          <a:xfrm>
            <a:off x="6519672" y="373989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853688"/>
            <a:ext cx="4389119" cy="346049"/>
          </a:xfrm>
          <a:prstGeom prst="rect">
            <a:avLst/>
          </a:prstGeom>
          <a:noFill/>
        </p:spPr>
        <p:txBody>
          <a:bodyPr wrap="square" anchor="t">
            <a:noAutofit/>
          </a:bodyPr>
          <a:lstStyle/>
          <a:p>
            <a:pPr algn="l"/>
            <a:r>
              <a:rPr sz="1600" b="1" i="0">
                <a:solidFill>
                  <a:srgbClr val="232B37"/>
                </a:solidFill>
                <a:latin typeface="Amazon Ember Display"/>
              </a:rPr>
              <a:t>Marketplace permissions first, then FTU</a:t>
            </a:r>
          </a:p>
        </p:txBody>
      </p:sp>
      <p:sp>
        <p:nvSpPr>
          <p:cNvPr id="25" name="TextBox 24"/>
          <p:cNvSpPr txBox="1"/>
          <p:nvPr/>
        </p:nvSpPr>
        <p:spPr>
          <a:xfrm>
            <a:off x="612648" y="4736592"/>
            <a:ext cx="10972800" cy="441528"/>
          </a:xfrm>
          <a:prstGeom prst="rect">
            <a:avLst/>
          </a:prstGeom>
          <a:noFill/>
        </p:spPr>
        <p:txBody>
          <a:bodyPr wrap="square" anchor="ctr">
            <a:noAutofit/>
          </a:bodyPr>
          <a:lstStyle/>
          <a:p>
            <a:pPr algn="ctr"/>
            <a:r>
              <a:rPr sz="2200" b="1" i="0">
                <a:solidFill>
                  <a:srgbClr val="8F0072"/>
                </a:solidFill>
                <a:latin typeface="Amazon Ember Display"/>
              </a:rPr>
              <a:t>check the account's prerequisites, not the model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Invocation logging is off until you turn it 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331720"/>
            <a:ext cx="3749039" cy="1021384"/>
          </a:xfrm>
          <a:prstGeom prst="roundRect">
            <a:avLst>
              <a:gd name="adj" fmla="val 12533"/>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Bedrock_64.png"/>
          <p:cNvPicPr>
            <a:picLocks noChangeAspect="1"/>
          </p:cNvPicPr>
          <p:nvPr/>
        </p:nvPicPr>
        <p:blipFill>
          <a:blip r:embed="rId3"/>
          <a:stretch>
            <a:fillRect/>
          </a:stretch>
        </p:blipFill>
        <p:spPr>
          <a:xfrm>
            <a:off x="795528" y="2613761"/>
            <a:ext cx="457200" cy="457200"/>
          </a:xfrm>
          <a:prstGeom prst="rect">
            <a:avLst/>
          </a:prstGeom>
        </p:spPr>
      </p:pic>
      <p:sp>
        <p:nvSpPr>
          <p:cNvPr id="6" name="TextBox 5"/>
          <p:cNvSpPr txBox="1"/>
          <p:nvPr/>
        </p:nvSpPr>
        <p:spPr>
          <a:xfrm>
            <a:off x="1490472" y="2496312"/>
            <a:ext cx="2743199" cy="346049"/>
          </a:xfrm>
          <a:prstGeom prst="rect">
            <a:avLst/>
          </a:prstGeom>
          <a:noFill/>
        </p:spPr>
        <p:txBody>
          <a:bodyPr wrap="square" anchor="ctr">
            <a:noAutofit/>
          </a:bodyPr>
          <a:lstStyle/>
          <a:p>
            <a:pPr algn="l"/>
            <a:r>
              <a:rPr sz="1600" b="1" i="0">
                <a:solidFill>
                  <a:srgbClr val="8F0072"/>
                </a:solidFill>
                <a:latin typeface="Amazon Ember Display"/>
              </a:rPr>
              <a:t>a model invocation</a:t>
            </a:r>
          </a:p>
        </p:txBody>
      </p:sp>
      <p:sp>
        <p:nvSpPr>
          <p:cNvPr id="7" name="TextBox 6"/>
          <p:cNvSpPr txBox="1"/>
          <p:nvPr/>
        </p:nvSpPr>
        <p:spPr>
          <a:xfrm>
            <a:off x="1490472" y="2842361"/>
            <a:ext cx="2743199" cy="346049"/>
          </a:xfrm>
          <a:prstGeom prst="rect">
            <a:avLst/>
          </a:prstGeom>
          <a:noFill/>
        </p:spPr>
        <p:txBody>
          <a:bodyPr wrap="square" anchor="ctr">
            <a:noAutofit/>
          </a:bodyPr>
          <a:lstStyle/>
          <a:p>
            <a:pPr algn="l"/>
            <a:r>
              <a:rPr sz="1600" b="0" i="0">
                <a:solidFill>
                  <a:srgbClr val="5A6B7B"/>
                </a:solidFill>
                <a:latin typeface="Amazon Ember Display"/>
              </a:rPr>
              <a:t>prompt and response</a:t>
            </a:r>
          </a:p>
        </p:txBody>
      </p:sp>
      <p:sp>
        <p:nvSpPr>
          <p:cNvPr id="8" name="Rounded Rectangle 7"/>
          <p:cNvSpPr/>
          <p:nvPr/>
        </p:nvSpPr>
        <p:spPr>
          <a:xfrm>
            <a:off x="5780836" y="1937613"/>
            <a:ext cx="5795467" cy="822960"/>
          </a:xfrm>
          <a:prstGeom prst="roundRect">
            <a:avLst>
              <a:gd name="adj" fmla="val 11111"/>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CloudWatch_64.png"/>
          <p:cNvPicPr>
            <a:picLocks noChangeAspect="1"/>
          </p:cNvPicPr>
          <p:nvPr/>
        </p:nvPicPr>
        <p:blipFill>
          <a:blip r:embed="rId4"/>
          <a:stretch>
            <a:fillRect/>
          </a:stretch>
        </p:blipFill>
        <p:spPr>
          <a:xfrm>
            <a:off x="5963716" y="2120493"/>
            <a:ext cx="457200" cy="457200"/>
          </a:xfrm>
          <a:prstGeom prst="rect">
            <a:avLst/>
          </a:prstGeom>
        </p:spPr>
      </p:pic>
      <p:sp>
        <p:nvSpPr>
          <p:cNvPr id="10" name="TextBox 9"/>
          <p:cNvSpPr txBox="1"/>
          <p:nvPr/>
        </p:nvSpPr>
        <p:spPr>
          <a:xfrm>
            <a:off x="6658660" y="2176068"/>
            <a:ext cx="4789627" cy="346049"/>
          </a:xfrm>
          <a:prstGeom prst="rect">
            <a:avLst/>
          </a:prstGeom>
          <a:noFill/>
        </p:spPr>
        <p:txBody>
          <a:bodyPr wrap="square" anchor="ctr">
            <a:noAutofit/>
          </a:bodyPr>
          <a:lstStyle/>
          <a:p>
            <a:pPr algn="l"/>
            <a:r>
              <a:rPr sz="1600" b="1" i="0">
                <a:solidFill>
                  <a:srgbClr val="8F0072"/>
                </a:solidFill>
                <a:latin typeface="Amazon Ember Display"/>
              </a:rPr>
              <a:t>CloudWatch Logs</a:t>
            </a:r>
          </a:p>
        </p:txBody>
      </p:sp>
      <p:sp>
        <p:nvSpPr>
          <p:cNvPr id="11" name="Rounded Rectangle 10"/>
          <p:cNvSpPr/>
          <p:nvPr/>
        </p:nvSpPr>
        <p:spPr>
          <a:xfrm>
            <a:off x="5780836" y="2925165"/>
            <a:ext cx="5795467" cy="822960"/>
          </a:xfrm>
          <a:prstGeom prst="roundRect">
            <a:avLst>
              <a:gd name="adj" fmla="val 11111"/>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Arch_Amazon-Simple-Storage-Service_64.png"/>
          <p:cNvPicPr>
            <a:picLocks noChangeAspect="1"/>
          </p:cNvPicPr>
          <p:nvPr/>
        </p:nvPicPr>
        <p:blipFill>
          <a:blip r:embed="rId5"/>
          <a:stretch>
            <a:fillRect/>
          </a:stretch>
        </p:blipFill>
        <p:spPr>
          <a:xfrm>
            <a:off x="5963716" y="3108045"/>
            <a:ext cx="457200" cy="457200"/>
          </a:xfrm>
          <a:prstGeom prst="rect">
            <a:avLst/>
          </a:prstGeom>
        </p:spPr>
      </p:pic>
      <p:sp>
        <p:nvSpPr>
          <p:cNvPr id="13" name="TextBox 12"/>
          <p:cNvSpPr txBox="1"/>
          <p:nvPr/>
        </p:nvSpPr>
        <p:spPr>
          <a:xfrm>
            <a:off x="6658660" y="3163620"/>
            <a:ext cx="4789627" cy="346049"/>
          </a:xfrm>
          <a:prstGeom prst="rect">
            <a:avLst/>
          </a:prstGeom>
          <a:noFill/>
        </p:spPr>
        <p:txBody>
          <a:bodyPr wrap="square" anchor="ctr">
            <a:noAutofit/>
          </a:bodyPr>
          <a:lstStyle/>
          <a:p>
            <a:pPr algn="l"/>
            <a:r>
              <a:rPr sz="1600" b="1" i="0">
                <a:solidFill>
                  <a:srgbClr val="8F0072"/>
                </a:solidFill>
                <a:latin typeface="Amazon Ember Display"/>
              </a:rPr>
              <a:t>Amazon S3</a:t>
            </a:r>
          </a:p>
        </p:txBody>
      </p:sp>
      <p:sp>
        <p:nvSpPr>
          <p:cNvPr id="14" name="Freeform 13"/>
          <p:cNvSpPr/>
          <p:nvPr/>
        </p:nvSpPr>
        <p:spPr>
          <a:xfrm>
            <a:off x="4407407" y="2349093"/>
            <a:ext cx="1281989" cy="0"/>
          </a:xfrm>
          <a:custGeom>
            <a:avLst/>
            <a:gdLst/>
            <a:ahLst/>
            <a:cxnLst/>
            <a:rect l="l" t="t" r="r" b="b"/>
            <a:pathLst>
              <a:path w="1281989">
                <a:moveTo>
                  <a:pt x="0" y="0"/>
                </a:moveTo>
                <a:lnTo>
                  <a:pt x="1281989"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5515660" y="2230221"/>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4407407" y="3336645"/>
            <a:ext cx="1281989" cy="0"/>
          </a:xfrm>
          <a:custGeom>
            <a:avLst/>
            <a:gdLst/>
            <a:ahLst/>
            <a:cxnLst/>
            <a:rect l="l" t="t" r="r" b="b"/>
            <a:pathLst>
              <a:path w="1281989">
                <a:moveTo>
                  <a:pt x="0" y="0"/>
                </a:moveTo>
                <a:lnTo>
                  <a:pt x="1281989"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5515660" y="3217773"/>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43983" y="2669387"/>
            <a:ext cx="1254556" cy="346049"/>
          </a:xfrm>
          <a:prstGeom prst="rect">
            <a:avLst/>
          </a:prstGeom>
          <a:noFill/>
        </p:spPr>
        <p:txBody>
          <a:bodyPr wrap="square" anchor="t">
            <a:noAutofit/>
          </a:bodyPr>
          <a:lstStyle/>
          <a:p>
            <a:pPr algn="ctr"/>
            <a:r>
              <a:rPr sz="1600" b="1" i="0">
                <a:solidFill>
                  <a:srgbClr val="5A6B7B"/>
                </a:solidFill>
                <a:latin typeface="Amazon Ember Display"/>
              </a:rPr>
              <a:t>if enabled</a:t>
            </a:r>
          </a:p>
        </p:txBody>
      </p:sp>
      <p:sp>
        <p:nvSpPr>
          <p:cNvPr id="19" name="Rounded Rectangle 18"/>
          <p:cNvSpPr/>
          <p:nvPr/>
        </p:nvSpPr>
        <p:spPr>
          <a:xfrm>
            <a:off x="2075688" y="4159605"/>
            <a:ext cx="8037575"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148840" y="4251045"/>
            <a:ext cx="7891271" cy="346049"/>
          </a:xfrm>
          <a:prstGeom prst="rect">
            <a:avLst/>
          </a:prstGeom>
          <a:noFill/>
        </p:spPr>
        <p:txBody>
          <a:bodyPr wrap="square" anchor="ctr">
            <a:noAutofit/>
          </a:bodyPr>
          <a:lstStyle/>
          <a:p>
            <a:pPr algn="ctr"/>
            <a:r>
              <a:rPr sz="1600" b="1" i="0">
                <a:solidFill>
                  <a:srgbClr val="FFFFFF"/>
                </a:solidFill>
                <a:latin typeface="Amazon Ember Display"/>
              </a:rPr>
              <a:t>same account and Region only  ·  kept until the configuration is deleted</a:t>
            </a:r>
          </a:p>
        </p:txBody>
      </p:sp>
      <p:sp>
        <p:nvSpPr>
          <p:cNvPr id="21" name="TextBox 20"/>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prompt is in the log, so where the log lands is a privacy decision</a:t>
            </a:r>
          </a:p>
        </p:txBody>
      </p:sp>
      <p:sp>
        <p:nvSpPr>
          <p:cNvPr id="22" name="TextBox 21">
            <a:hlinkClick r:id="rId6"/>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Monitor model invocation using CloudWatch…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Where is the time actually going?</a:t>
            </a:r>
          </a:p>
        </p:txBody>
      </p:sp>
      <p:sp>
        <p:nvSpPr>
          <p:cNvPr id="3" name="Text Placeholder 2"/>
          <p:cNvSpPr>
            <a:spLocks noGrp="1"/>
          </p:cNvSpPr>
          <p:nvPr>
            <p:ph type="body" sz="quarter" idx="11"/>
          </p:nvPr>
        </p:nvSpPr>
        <p:spPr>
          <a:xfrm>
            <a:off x="322916" y="2434551"/>
            <a:ext cx="4541748" cy="377875"/>
          </a:xfrm>
        </p:spPr>
        <p:txBody>
          <a:bodyPr/>
          <a:lstStyle/>
          <a:p>
            <a:r>
              <a:rPr sz="1800" b="1">
                <a:solidFill>
                  <a:srgbClr val="FF57E9"/>
                </a:solidFill>
                <a:latin typeface="Amazon Ember Display"/>
              </a:rPr>
              <a:t>TRACING AND OBSERVABILITY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segment is one service; a trace is one request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690164"/>
            <a:ext cx="3276295" cy="1387144"/>
          </a:xfrm>
          <a:prstGeom prst="roundRect">
            <a:avLst>
              <a:gd name="adj" fmla="val 791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40664" y="2854756"/>
            <a:ext cx="3020263" cy="377875"/>
          </a:xfrm>
          <a:prstGeom prst="rect">
            <a:avLst/>
          </a:prstGeom>
          <a:noFill/>
        </p:spPr>
        <p:txBody>
          <a:bodyPr wrap="square" anchor="ctr">
            <a:noAutofit/>
          </a:bodyPr>
          <a:lstStyle/>
          <a:p>
            <a:pPr algn="ctr"/>
            <a:r>
              <a:rPr sz="1800" b="1" i="0">
                <a:solidFill>
                  <a:srgbClr val="8F0072"/>
                </a:solidFill>
                <a:latin typeface="Amazon Ember Display"/>
              </a:rPr>
              <a:t>SEGMENT</a:t>
            </a:r>
          </a:p>
        </p:txBody>
      </p:sp>
      <p:sp>
        <p:nvSpPr>
          <p:cNvPr id="6" name="TextBox 5"/>
          <p:cNvSpPr txBox="1"/>
          <p:nvPr/>
        </p:nvSpPr>
        <p:spPr>
          <a:xfrm>
            <a:off x="722376" y="3238804"/>
            <a:ext cx="3056839" cy="346049"/>
          </a:xfrm>
          <a:prstGeom prst="rect">
            <a:avLst/>
          </a:prstGeom>
          <a:noFill/>
        </p:spPr>
        <p:txBody>
          <a:bodyPr wrap="square" anchor="ctr">
            <a:noAutofit/>
          </a:bodyPr>
          <a:lstStyle/>
          <a:p>
            <a:pPr algn="ctr"/>
            <a:r>
              <a:rPr sz="1600" b="1" i="0">
                <a:solidFill>
                  <a:srgbClr val="8F0072"/>
                </a:solidFill>
                <a:latin typeface="Amazon Ember Display"/>
              </a:rPr>
              <a:t>one resource's work</a:t>
            </a:r>
          </a:p>
        </p:txBody>
      </p:sp>
      <p:sp>
        <p:nvSpPr>
          <p:cNvPr id="7" name="TextBox 6"/>
          <p:cNvSpPr txBox="1"/>
          <p:nvPr/>
        </p:nvSpPr>
        <p:spPr>
          <a:xfrm>
            <a:off x="722376" y="3584854"/>
            <a:ext cx="3056839" cy="346049"/>
          </a:xfrm>
          <a:prstGeom prst="rect">
            <a:avLst/>
          </a:prstGeom>
          <a:noFill/>
        </p:spPr>
        <p:txBody>
          <a:bodyPr wrap="square" anchor="ctr">
            <a:noAutofit/>
          </a:bodyPr>
          <a:lstStyle/>
          <a:p>
            <a:pPr algn="ctr"/>
            <a:r>
              <a:rPr sz="1600" b="0" i="0">
                <a:solidFill>
                  <a:srgbClr val="5A6B7B"/>
                </a:solidFill>
                <a:latin typeface="Amazon Ember Display"/>
              </a:rPr>
              <a:t>name, timings, errors</a:t>
            </a:r>
          </a:p>
        </p:txBody>
      </p:sp>
      <p:sp>
        <p:nvSpPr>
          <p:cNvPr id="8" name="Rounded Rectangle 7"/>
          <p:cNvSpPr/>
          <p:nvPr/>
        </p:nvSpPr>
        <p:spPr>
          <a:xfrm>
            <a:off x="4455871" y="2690164"/>
            <a:ext cx="3276295" cy="1387144"/>
          </a:xfrm>
          <a:prstGeom prst="roundRect">
            <a:avLst>
              <a:gd name="adj" fmla="val 791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83887" y="2854756"/>
            <a:ext cx="3020263" cy="377875"/>
          </a:xfrm>
          <a:prstGeom prst="rect">
            <a:avLst/>
          </a:prstGeom>
          <a:noFill/>
        </p:spPr>
        <p:txBody>
          <a:bodyPr wrap="square" anchor="ctr">
            <a:noAutofit/>
          </a:bodyPr>
          <a:lstStyle/>
          <a:p>
            <a:pPr algn="ctr"/>
            <a:r>
              <a:rPr sz="1800" b="1" i="0">
                <a:solidFill>
                  <a:srgbClr val="8F0072"/>
                </a:solidFill>
                <a:latin typeface="Amazon Ember Display"/>
              </a:rPr>
              <a:t>TRACE</a:t>
            </a:r>
          </a:p>
        </p:txBody>
      </p:sp>
      <p:sp>
        <p:nvSpPr>
          <p:cNvPr id="10" name="TextBox 9"/>
          <p:cNvSpPr txBox="1"/>
          <p:nvPr/>
        </p:nvSpPr>
        <p:spPr>
          <a:xfrm>
            <a:off x="4565599" y="3238804"/>
            <a:ext cx="3056839" cy="346049"/>
          </a:xfrm>
          <a:prstGeom prst="rect">
            <a:avLst/>
          </a:prstGeom>
          <a:noFill/>
        </p:spPr>
        <p:txBody>
          <a:bodyPr wrap="square" anchor="ctr">
            <a:noAutofit/>
          </a:bodyPr>
          <a:lstStyle/>
          <a:p>
            <a:pPr algn="ctr"/>
            <a:r>
              <a:rPr sz="1600" b="1" i="0">
                <a:solidFill>
                  <a:srgbClr val="8F0072"/>
                </a:solidFill>
                <a:latin typeface="Amazon Ember Display"/>
              </a:rPr>
              <a:t>all segments for one request</a:t>
            </a:r>
          </a:p>
        </p:txBody>
      </p:sp>
      <p:sp>
        <p:nvSpPr>
          <p:cNvPr id="11" name="TextBox 10"/>
          <p:cNvSpPr txBox="1"/>
          <p:nvPr/>
        </p:nvSpPr>
        <p:spPr>
          <a:xfrm>
            <a:off x="4565599" y="3584854"/>
            <a:ext cx="3056839" cy="346049"/>
          </a:xfrm>
          <a:prstGeom prst="rect">
            <a:avLst/>
          </a:prstGeom>
          <a:noFill/>
        </p:spPr>
        <p:txBody>
          <a:bodyPr wrap="square" anchor="ctr">
            <a:noAutofit/>
          </a:bodyPr>
          <a:lstStyle/>
          <a:p>
            <a:pPr algn="ctr"/>
            <a:r>
              <a:rPr sz="1600" b="0" i="0">
                <a:solidFill>
                  <a:srgbClr val="5A6B7B"/>
                </a:solidFill>
                <a:latin typeface="Amazon Ember Display"/>
              </a:rPr>
              <a:t>grouped by request</a:t>
            </a:r>
          </a:p>
        </p:txBody>
      </p:sp>
      <p:sp>
        <p:nvSpPr>
          <p:cNvPr id="12" name="Freeform 11"/>
          <p:cNvSpPr/>
          <p:nvPr/>
        </p:nvSpPr>
        <p:spPr>
          <a:xfrm>
            <a:off x="3934663" y="3383737"/>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4190695" y="3264865"/>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99094" y="2690164"/>
            <a:ext cx="3276295" cy="1387144"/>
          </a:xfrm>
          <a:prstGeom prst="roundRect">
            <a:avLst>
              <a:gd name="adj" fmla="val 791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27110" y="2854756"/>
            <a:ext cx="3020263" cy="377875"/>
          </a:xfrm>
          <a:prstGeom prst="rect">
            <a:avLst/>
          </a:prstGeom>
          <a:noFill/>
        </p:spPr>
        <p:txBody>
          <a:bodyPr wrap="square" anchor="ctr">
            <a:noAutofit/>
          </a:bodyPr>
          <a:lstStyle/>
          <a:p>
            <a:pPr algn="ctr"/>
            <a:r>
              <a:rPr sz="1800" b="1" i="0">
                <a:solidFill>
                  <a:srgbClr val="8F0072"/>
                </a:solidFill>
                <a:latin typeface="Amazon Ember Display"/>
              </a:rPr>
              <a:t>SERVICE GRAPH</a:t>
            </a:r>
          </a:p>
        </p:txBody>
      </p:sp>
      <p:sp>
        <p:nvSpPr>
          <p:cNvPr id="16" name="TextBox 15"/>
          <p:cNvSpPr txBox="1"/>
          <p:nvPr/>
        </p:nvSpPr>
        <p:spPr>
          <a:xfrm>
            <a:off x="8408822" y="3238804"/>
            <a:ext cx="3056839" cy="346049"/>
          </a:xfrm>
          <a:prstGeom prst="rect">
            <a:avLst/>
          </a:prstGeom>
          <a:noFill/>
        </p:spPr>
        <p:txBody>
          <a:bodyPr wrap="square" anchor="ctr">
            <a:noAutofit/>
          </a:bodyPr>
          <a:lstStyle/>
          <a:p>
            <a:pPr algn="ctr"/>
            <a:r>
              <a:rPr sz="1600" b="1" i="0">
                <a:solidFill>
                  <a:srgbClr val="8F0072"/>
                </a:solidFill>
                <a:latin typeface="Amazon Ember Display"/>
              </a:rPr>
              <a:t>generated from the traces</a:t>
            </a:r>
          </a:p>
        </p:txBody>
      </p:sp>
      <p:sp>
        <p:nvSpPr>
          <p:cNvPr id="17" name="TextBox 16"/>
          <p:cNvSpPr txBox="1"/>
          <p:nvPr/>
        </p:nvSpPr>
        <p:spPr>
          <a:xfrm>
            <a:off x="8408822" y="3584854"/>
            <a:ext cx="3056839" cy="346049"/>
          </a:xfrm>
          <a:prstGeom prst="rect">
            <a:avLst/>
          </a:prstGeom>
          <a:noFill/>
        </p:spPr>
        <p:txBody>
          <a:bodyPr wrap="square" anchor="ctr">
            <a:noAutofit/>
          </a:bodyPr>
          <a:lstStyle/>
          <a:p>
            <a:pPr algn="ctr"/>
            <a:r>
              <a:rPr sz="1600" b="0" i="0">
                <a:solidFill>
                  <a:srgbClr val="5A6B7B"/>
                </a:solidFill>
                <a:latin typeface="Amazon Ember Display"/>
              </a:rPr>
              <a:t>services and the edges</a:t>
            </a:r>
          </a:p>
        </p:txBody>
      </p:sp>
      <p:sp>
        <p:nvSpPr>
          <p:cNvPr id="18" name="Freeform 17"/>
          <p:cNvSpPr/>
          <p:nvPr/>
        </p:nvSpPr>
        <p:spPr>
          <a:xfrm>
            <a:off x="7777886" y="3383737"/>
            <a:ext cx="429768" cy="0"/>
          </a:xfrm>
          <a:custGeom>
            <a:avLst/>
            <a:gdLst/>
            <a:ahLst/>
            <a:cxnLst/>
            <a:rect l="l" t="t" r="r" b="b"/>
            <a:pathLst>
              <a:path w="429768">
                <a:moveTo>
                  <a:pt x="0" y="0"/>
                </a:moveTo>
                <a:lnTo>
                  <a:pt x="42976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033918" y="3264865"/>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one user action produces ONE trace, however many services it touched</a:t>
            </a:r>
          </a:p>
        </p:txBody>
      </p:sp>
      <p:sp>
        <p:nvSpPr>
          <p:cNvPr id="21" name="TextBox 20">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AWS X-Ray concepts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Error is 4xx, fault is 5xx, throttle is 429</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45459" y="2325319"/>
            <a:ext cx="3594506" cy="674827"/>
          </a:xfrm>
          <a:prstGeom prst="roundRect">
            <a:avLst>
              <a:gd name="adj" fmla="val 1355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28339" y="2489708"/>
            <a:ext cx="1077163" cy="346049"/>
          </a:xfrm>
          <a:prstGeom prst="rect">
            <a:avLst/>
          </a:prstGeom>
          <a:noFill/>
        </p:spPr>
        <p:txBody>
          <a:bodyPr wrap="square" anchor="ctr">
            <a:noAutofit/>
          </a:bodyPr>
          <a:lstStyle/>
          <a:p>
            <a:pPr algn="l"/>
            <a:r>
              <a:rPr sz="1600" b="1" i="0">
                <a:solidFill>
                  <a:srgbClr val="8F0072"/>
                </a:solidFill>
                <a:latin typeface="Amazon Ember Display"/>
              </a:rPr>
              <a:t>Error</a:t>
            </a:r>
          </a:p>
        </p:txBody>
      </p:sp>
      <p:sp>
        <p:nvSpPr>
          <p:cNvPr id="6" name="TextBox 5"/>
          <p:cNvSpPr txBox="1"/>
          <p:nvPr/>
        </p:nvSpPr>
        <p:spPr>
          <a:xfrm>
            <a:off x="4851806" y="2489708"/>
            <a:ext cx="2005279" cy="346049"/>
          </a:xfrm>
          <a:prstGeom prst="rect">
            <a:avLst/>
          </a:prstGeom>
          <a:noFill/>
        </p:spPr>
        <p:txBody>
          <a:bodyPr wrap="square" anchor="ctr">
            <a:noAutofit/>
          </a:bodyPr>
          <a:lstStyle/>
          <a:p>
            <a:pPr algn="l"/>
            <a:r>
              <a:rPr sz="1600" b="0" i="0">
                <a:solidFill>
                  <a:srgbClr val="5A6B7B"/>
                </a:solidFill>
                <a:latin typeface="Amazon Ember Display"/>
              </a:rPr>
              <a:t>a client error</a:t>
            </a:r>
          </a:p>
        </p:txBody>
      </p:sp>
      <p:sp>
        <p:nvSpPr>
          <p:cNvPr id="7" name="Rounded Rectangle 6"/>
          <p:cNvSpPr/>
          <p:nvPr/>
        </p:nvSpPr>
        <p:spPr>
          <a:xfrm>
            <a:off x="7314285" y="2424988"/>
            <a:ext cx="1428292"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87437" y="2516428"/>
            <a:ext cx="1281988" cy="346049"/>
          </a:xfrm>
          <a:prstGeom prst="rect">
            <a:avLst/>
          </a:prstGeom>
          <a:noFill/>
        </p:spPr>
        <p:txBody>
          <a:bodyPr wrap="square" anchor="ctr">
            <a:noAutofit/>
          </a:bodyPr>
          <a:lstStyle/>
          <a:p>
            <a:pPr algn="ctr"/>
            <a:r>
              <a:rPr sz="1600" b="1" i="0">
                <a:solidFill>
                  <a:srgbClr val="FFFFFF"/>
                </a:solidFill>
                <a:latin typeface="Amazon Ember Display"/>
              </a:rPr>
              <a:t>400 series</a:t>
            </a:r>
          </a:p>
        </p:txBody>
      </p:sp>
      <p:sp>
        <p:nvSpPr>
          <p:cNvPr id="9" name="TextBox 8"/>
          <p:cNvSpPr txBox="1"/>
          <p:nvPr/>
        </p:nvSpPr>
        <p:spPr>
          <a:xfrm>
            <a:off x="3628339" y="3164535"/>
            <a:ext cx="1077163" cy="346049"/>
          </a:xfrm>
          <a:prstGeom prst="rect">
            <a:avLst/>
          </a:prstGeom>
          <a:noFill/>
        </p:spPr>
        <p:txBody>
          <a:bodyPr wrap="square" anchor="ctr">
            <a:noAutofit/>
          </a:bodyPr>
          <a:lstStyle/>
          <a:p>
            <a:pPr algn="l"/>
            <a:r>
              <a:rPr sz="1600" b="1" i="0">
                <a:solidFill>
                  <a:srgbClr val="8F0072"/>
                </a:solidFill>
                <a:latin typeface="Amazon Ember Display"/>
              </a:rPr>
              <a:t>Fault</a:t>
            </a:r>
          </a:p>
        </p:txBody>
      </p:sp>
      <p:sp>
        <p:nvSpPr>
          <p:cNvPr id="10" name="TextBox 9"/>
          <p:cNvSpPr txBox="1"/>
          <p:nvPr/>
        </p:nvSpPr>
        <p:spPr>
          <a:xfrm>
            <a:off x="4851806" y="3164535"/>
            <a:ext cx="2005279" cy="346049"/>
          </a:xfrm>
          <a:prstGeom prst="rect">
            <a:avLst/>
          </a:prstGeom>
          <a:noFill/>
        </p:spPr>
        <p:txBody>
          <a:bodyPr wrap="square" anchor="ctr">
            <a:noAutofit/>
          </a:bodyPr>
          <a:lstStyle/>
          <a:p>
            <a:pPr algn="l"/>
            <a:r>
              <a:rPr sz="1600" b="0" i="0">
                <a:solidFill>
                  <a:srgbClr val="5A6B7B"/>
                </a:solidFill>
                <a:latin typeface="Amazon Ember Display"/>
              </a:rPr>
              <a:t>a server fault</a:t>
            </a:r>
          </a:p>
        </p:txBody>
      </p:sp>
      <p:sp>
        <p:nvSpPr>
          <p:cNvPr id="11" name="Rounded Rectangle 10"/>
          <p:cNvSpPr/>
          <p:nvPr/>
        </p:nvSpPr>
        <p:spPr>
          <a:xfrm>
            <a:off x="7314285" y="3099816"/>
            <a:ext cx="1428292"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87437" y="3191256"/>
            <a:ext cx="1281988" cy="346049"/>
          </a:xfrm>
          <a:prstGeom prst="rect">
            <a:avLst/>
          </a:prstGeom>
          <a:noFill/>
        </p:spPr>
        <p:txBody>
          <a:bodyPr wrap="square" anchor="ctr">
            <a:noAutofit/>
          </a:bodyPr>
          <a:lstStyle/>
          <a:p>
            <a:pPr algn="ctr"/>
            <a:r>
              <a:rPr sz="1600" b="1" i="0">
                <a:solidFill>
                  <a:srgbClr val="FFFFFF"/>
                </a:solidFill>
                <a:latin typeface="Amazon Ember Display"/>
              </a:rPr>
              <a:t>500 series</a:t>
            </a:r>
          </a:p>
        </p:txBody>
      </p:sp>
      <p:sp>
        <p:nvSpPr>
          <p:cNvPr id="13" name="Rounded Rectangle 12"/>
          <p:cNvSpPr/>
          <p:nvPr/>
        </p:nvSpPr>
        <p:spPr>
          <a:xfrm>
            <a:off x="3445459" y="3674973"/>
            <a:ext cx="3594506" cy="674827"/>
          </a:xfrm>
          <a:prstGeom prst="roundRect">
            <a:avLst>
              <a:gd name="adj" fmla="val 1355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28339" y="3839362"/>
            <a:ext cx="1077163" cy="346049"/>
          </a:xfrm>
          <a:prstGeom prst="rect">
            <a:avLst/>
          </a:prstGeom>
          <a:noFill/>
        </p:spPr>
        <p:txBody>
          <a:bodyPr wrap="square" anchor="ctr">
            <a:noAutofit/>
          </a:bodyPr>
          <a:lstStyle/>
          <a:p>
            <a:pPr algn="l"/>
            <a:r>
              <a:rPr sz="1600" b="1" i="0">
                <a:solidFill>
                  <a:srgbClr val="8F0072"/>
                </a:solidFill>
                <a:latin typeface="Amazon Ember Display"/>
              </a:rPr>
              <a:t>Throttle</a:t>
            </a:r>
          </a:p>
        </p:txBody>
      </p:sp>
      <p:sp>
        <p:nvSpPr>
          <p:cNvPr id="15" name="TextBox 14"/>
          <p:cNvSpPr txBox="1"/>
          <p:nvPr/>
        </p:nvSpPr>
        <p:spPr>
          <a:xfrm>
            <a:off x="4851806" y="3839362"/>
            <a:ext cx="2005279" cy="346049"/>
          </a:xfrm>
          <a:prstGeom prst="rect">
            <a:avLst/>
          </a:prstGeom>
          <a:noFill/>
        </p:spPr>
        <p:txBody>
          <a:bodyPr wrap="square" anchor="ctr">
            <a:noAutofit/>
          </a:bodyPr>
          <a:lstStyle/>
          <a:p>
            <a:pPr algn="l"/>
            <a:r>
              <a:rPr sz="1600" b="0" i="0">
                <a:solidFill>
                  <a:srgbClr val="5A6B7B"/>
                </a:solidFill>
                <a:latin typeface="Amazon Ember Display"/>
              </a:rPr>
              <a:t>too many requests</a:t>
            </a:r>
          </a:p>
        </p:txBody>
      </p:sp>
      <p:sp>
        <p:nvSpPr>
          <p:cNvPr id="16" name="Rounded Rectangle 15"/>
          <p:cNvSpPr/>
          <p:nvPr/>
        </p:nvSpPr>
        <p:spPr>
          <a:xfrm>
            <a:off x="7314285" y="3774643"/>
            <a:ext cx="1428292"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87437" y="3866083"/>
            <a:ext cx="1281988" cy="346049"/>
          </a:xfrm>
          <a:prstGeom prst="rect">
            <a:avLst/>
          </a:prstGeom>
          <a:noFill/>
        </p:spPr>
        <p:txBody>
          <a:bodyPr wrap="square" anchor="ctr">
            <a:noAutofit/>
          </a:bodyPr>
          <a:lstStyle/>
          <a:p>
            <a:pPr algn="ctr"/>
            <a:r>
              <a:rPr sz="1600" b="1" i="0">
                <a:solidFill>
                  <a:srgbClr val="FFFFFF"/>
                </a:solidFill>
                <a:latin typeface="Amazon Ember Display"/>
              </a:rPr>
              <a:t>429 only</a:t>
            </a:r>
          </a:p>
        </p:txBody>
      </p:sp>
      <p:sp>
        <p:nvSpPr>
          <p:cNvPr id="18" name="TextBox 17"/>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a 429 is a 4xx and X-Ray still counts it as a throttle, not an error</a:t>
            </a:r>
          </a:p>
        </p:txBody>
      </p:sp>
      <p:sp>
        <p:nvSpPr>
          <p:cNvPr id="19" name="TextBox 18">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AWS X-Ray concepts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subsegment is your view of a downstream call</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2021535"/>
            <a:ext cx="1993392" cy="346049"/>
          </a:xfrm>
          <a:prstGeom prst="rect">
            <a:avLst/>
          </a:prstGeom>
          <a:noFill/>
        </p:spPr>
        <p:txBody>
          <a:bodyPr wrap="square" anchor="ctr">
            <a:noAutofit/>
          </a:bodyPr>
          <a:lstStyle/>
          <a:p>
            <a:pPr algn="r"/>
            <a:r>
              <a:rPr sz="1600" b="1" i="0">
                <a:solidFill>
                  <a:srgbClr val="8F0072"/>
                </a:solidFill>
                <a:latin typeface="Amazon Ember Display"/>
              </a:rPr>
              <a:t>API Gateway</a:t>
            </a:r>
          </a:p>
        </p:txBody>
      </p:sp>
      <p:sp>
        <p:nvSpPr>
          <p:cNvPr id="5" name="Rounded Rectangle 4"/>
          <p:cNvSpPr/>
          <p:nvPr/>
        </p:nvSpPr>
        <p:spPr>
          <a:xfrm>
            <a:off x="2788920" y="1984248"/>
            <a:ext cx="6035040" cy="420624"/>
          </a:xfrm>
          <a:prstGeom prst="roundRect">
            <a:avLst>
              <a:gd name="adj" fmla="val 17391"/>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898648" y="2021535"/>
            <a:ext cx="5815583" cy="346049"/>
          </a:xfrm>
          <a:prstGeom prst="rect">
            <a:avLst/>
          </a:prstGeom>
          <a:noFill/>
        </p:spPr>
        <p:txBody>
          <a:bodyPr wrap="square" anchor="ctr">
            <a:noAutofit/>
          </a:bodyPr>
          <a:lstStyle/>
          <a:p>
            <a:pPr algn="ctr"/>
            <a:r>
              <a:rPr sz="1600" b="0" i="0">
                <a:solidFill>
                  <a:srgbClr val="5A6B7B"/>
                </a:solidFill>
                <a:latin typeface="Amazon Ember Display"/>
              </a:rPr>
              <a:t>segment</a:t>
            </a:r>
          </a:p>
        </p:txBody>
      </p:sp>
      <p:sp>
        <p:nvSpPr>
          <p:cNvPr id="7" name="TextBox 6"/>
          <p:cNvSpPr txBox="1"/>
          <p:nvPr/>
        </p:nvSpPr>
        <p:spPr>
          <a:xfrm>
            <a:off x="612648" y="2716479"/>
            <a:ext cx="1993392" cy="346049"/>
          </a:xfrm>
          <a:prstGeom prst="rect">
            <a:avLst/>
          </a:prstGeom>
          <a:noFill/>
        </p:spPr>
        <p:txBody>
          <a:bodyPr wrap="square" anchor="ctr">
            <a:noAutofit/>
          </a:bodyPr>
          <a:lstStyle/>
          <a:p>
            <a:pPr algn="r"/>
            <a:r>
              <a:rPr sz="1600" b="1" i="0">
                <a:solidFill>
                  <a:srgbClr val="8F0072"/>
                </a:solidFill>
                <a:latin typeface="Amazon Ember Display"/>
              </a:rPr>
              <a:t>Lambda</a:t>
            </a:r>
          </a:p>
        </p:txBody>
      </p:sp>
      <p:sp>
        <p:nvSpPr>
          <p:cNvPr id="8" name="Rounded Rectangle 7"/>
          <p:cNvSpPr/>
          <p:nvPr/>
        </p:nvSpPr>
        <p:spPr>
          <a:xfrm>
            <a:off x="3271723" y="2679191"/>
            <a:ext cx="5190134" cy="420624"/>
          </a:xfrm>
          <a:prstGeom prst="roundRect">
            <a:avLst>
              <a:gd name="adj" fmla="val 17391"/>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381451" y="2716479"/>
            <a:ext cx="4970678" cy="346049"/>
          </a:xfrm>
          <a:prstGeom prst="rect">
            <a:avLst/>
          </a:prstGeom>
          <a:noFill/>
        </p:spPr>
        <p:txBody>
          <a:bodyPr wrap="square" anchor="ctr">
            <a:noAutofit/>
          </a:bodyPr>
          <a:lstStyle/>
          <a:p>
            <a:pPr algn="ctr"/>
            <a:r>
              <a:rPr sz="1600" b="0" i="0">
                <a:solidFill>
                  <a:srgbClr val="5A6B7B"/>
                </a:solidFill>
                <a:latin typeface="Amazon Ember Display"/>
              </a:rPr>
              <a:t>segment</a:t>
            </a:r>
          </a:p>
        </p:txBody>
      </p:sp>
      <p:sp>
        <p:nvSpPr>
          <p:cNvPr id="10" name="TextBox 9"/>
          <p:cNvSpPr txBox="1"/>
          <p:nvPr/>
        </p:nvSpPr>
        <p:spPr>
          <a:xfrm>
            <a:off x="612648" y="3411423"/>
            <a:ext cx="1993392" cy="346049"/>
          </a:xfrm>
          <a:prstGeom prst="rect">
            <a:avLst/>
          </a:prstGeom>
          <a:noFill/>
        </p:spPr>
        <p:txBody>
          <a:bodyPr wrap="square" anchor="ctr">
            <a:noAutofit/>
          </a:bodyPr>
          <a:lstStyle/>
          <a:p>
            <a:pPr algn="r"/>
            <a:r>
              <a:rPr sz="1600" b="1" i="0">
                <a:solidFill>
                  <a:srgbClr val="8F0072"/>
                </a:solidFill>
                <a:latin typeface="Amazon Ember Display"/>
              </a:rPr>
              <a:t>DynamoDB</a:t>
            </a:r>
          </a:p>
        </p:txBody>
      </p:sp>
      <p:sp>
        <p:nvSpPr>
          <p:cNvPr id="11" name="Rounded Rectangle 10"/>
          <p:cNvSpPr/>
          <p:nvPr/>
        </p:nvSpPr>
        <p:spPr>
          <a:xfrm>
            <a:off x="4840833" y="3374136"/>
            <a:ext cx="2776118" cy="420624"/>
          </a:xfrm>
          <a:prstGeom prst="roundRect">
            <a:avLst>
              <a:gd name="adj" fmla="val 17391"/>
            </a:avLst>
          </a:prstGeom>
          <a:solidFill>
            <a:srgbClr val="FF57E9"/>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950561" y="3411423"/>
            <a:ext cx="2556662" cy="346049"/>
          </a:xfrm>
          <a:prstGeom prst="rect">
            <a:avLst/>
          </a:prstGeom>
          <a:noFill/>
        </p:spPr>
        <p:txBody>
          <a:bodyPr wrap="square" anchor="ctr">
            <a:noAutofit/>
          </a:bodyPr>
          <a:lstStyle/>
          <a:p>
            <a:pPr algn="ctr"/>
            <a:r>
              <a:rPr sz="1600" b="0" i="0">
                <a:solidFill>
                  <a:srgbClr val="FFFFFF"/>
                </a:solidFill>
                <a:latin typeface="Amazon Ember Display"/>
              </a:rPr>
              <a:t>inferred segment</a:t>
            </a:r>
          </a:p>
        </p:txBody>
      </p:sp>
      <p:sp>
        <p:nvSpPr>
          <p:cNvPr id="13" name="Rounded Rectangle 12"/>
          <p:cNvSpPr/>
          <p:nvPr/>
        </p:nvSpPr>
        <p:spPr>
          <a:xfrm>
            <a:off x="2788920" y="3959352"/>
            <a:ext cx="6035040" cy="32004"/>
          </a:xfrm>
          <a:prstGeom prst="roundRect">
            <a:avLst>
              <a:gd name="adj" fmla="val 28571"/>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2788920" y="3877056"/>
            <a:ext cx="32004" cy="182880"/>
          </a:xfrm>
          <a:prstGeom prst="roundRect">
            <a:avLst>
              <a:gd name="adj" fmla="val 28571"/>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8791956" y="3877056"/>
            <a:ext cx="32004" cy="182880"/>
          </a:xfrm>
          <a:prstGeom prst="roundRect">
            <a:avLst>
              <a:gd name="adj" fmla="val 28571"/>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788920" y="4050791"/>
            <a:ext cx="6035040" cy="346049"/>
          </a:xfrm>
          <a:prstGeom prst="rect">
            <a:avLst/>
          </a:prstGeom>
          <a:noFill/>
        </p:spPr>
        <p:txBody>
          <a:bodyPr wrap="square" anchor="t">
            <a:noAutofit/>
          </a:bodyPr>
          <a:lstStyle/>
          <a:p>
            <a:pPr algn="ctr"/>
            <a:r>
              <a:rPr sz="1600" b="0" i="0">
                <a:solidFill>
                  <a:srgbClr val="5A6B7B"/>
                </a:solidFill>
                <a:latin typeface="Amazon Ember Display"/>
              </a:rPr>
              <a:t>elapsed time within one trace</a:t>
            </a:r>
          </a:p>
        </p:txBody>
      </p:sp>
      <p:sp>
        <p:nvSpPr>
          <p:cNvPr id="17" name="TextBox 16"/>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DynamoDB bar is your client's measurement, round trip and retries included</a:t>
            </a:r>
          </a:p>
        </p:txBody>
      </p:sp>
      <p:sp>
        <p:nvSpPr>
          <p:cNvPr id="18" name="TextBox 17">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AWS X-Ray concepts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Put the security controls to work</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WEEK 5 PRACTICE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a download link that expires in 15 minutes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builds a document sharing application. Users upload private documents to an Amazon S3 bucket. The application generates temporary download links that expire after 15 minutes. The links must work without requiring users to have AWS credentials or IAM permissions.</a:t>
            </a:r>
          </a:p>
          <a:p>
            <a:r>
              <a:rPr sz="1600" b="1">
                <a:solidFill>
                  <a:srgbClr val="232B37"/>
                </a:solidFill>
                <a:latin typeface="Amazon Ember Display"/>
              </a:rPr>
              <a:t>The developer must implement a secure method to provide time-limited access to private S3 objects.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Generate an S3 presigned URL for the object using the AWS SDK. Set the expiration to 15 minutes. Provide the presigned URL to the user.</a:t>
            </a:r>
          </a:p>
          <a:p>
            <a:pPr marL="342900" indent="-342900">
              <a:spcBef>
                <a:spcPts val="600"/>
              </a:spcBef>
            </a:pPr>
            <a:r>
              <a:rPr sz="1600" b="0">
                <a:solidFill>
                  <a:srgbClr val="232B37"/>
                </a:solidFill>
                <a:latin typeface="Amazon Ember Display"/>
              </a:rPr>
              <a:t>B.  Configure the S3 bucket policy to allow public read access. Generate a URL with a custom expiration parameter. Validate the parameter in a Lambda@Edge function.</a:t>
            </a:r>
          </a:p>
          <a:p>
            <a:pPr marL="342900" indent="-342900">
              <a:spcBef>
                <a:spcPts val="600"/>
              </a:spcBef>
            </a:pPr>
            <a:r>
              <a:rPr sz="1600" b="0">
                <a:solidFill>
                  <a:srgbClr val="232B37"/>
                </a:solidFill>
                <a:latin typeface="Amazon Ember Display"/>
              </a:rPr>
              <a:t>C.  Create temporary IAM credentials using AWS STS for each download request. Provide the credentials to the user to access S3 directly.</a:t>
            </a:r>
          </a:p>
          <a:p>
            <a:pPr marL="342900" indent="-342900">
              <a:spcBef>
                <a:spcPts val="600"/>
              </a:spcBef>
            </a:pPr>
            <a:r>
              <a:rPr sz="1600" b="0">
                <a:solidFill>
                  <a:srgbClr val="232B37"/>
                </a:solidFill>
                <a:latin typeface="Amazon Ember Display"/>
              </a:rPr>
              <a:t>D.  Configure S3 Object Lock with a 15-minute retention period. Generate a standard S3 URL for the object.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a download link that expires in 15 minutes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builds a document sharing application. Users upload private documents to an Amazon S3 bucket. The application generates temporary download links that expire after 15 minutes. The links must work without requiring users to have AWS credentials or IAM permissions.</a:t>
            </a:r>
          </a:p>
          <a:p>
            <a:r>
              <a:rPr sz="1600" b="1">
                <a:solidFill>
                  <a:srgbClr val="232B37"/>
                </a:solidFill>
                <a:latin typeface="Amazon Ember Display"/>
              </a:rPr>
              <a:t>The developer must implement a secure method to provide time-limited access to private S3 objects.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Generate an S3 presigned URL for the object using the AWS SDK. Set the expiration to 15 minutes. Provide the presigned URL to the user.</a:t>
            </a:r>
          </a:p>
          <a:p>
            <a:pPr marL="342900" indent="-342900">
              <a:spcBef>
                <a:spcPts val="600"/>
              </a:spcBef>
            </a:pPr>
            <a:r>
              <a:rPr sz="1600" b="0">
                <a:solidFill>
                  <a:srgbClr val="232B37"/>
                </a:solidFill>
                <a:latin typeface="Amazon Ember Display"/>
              </a:rPr>
              <a:t>B.  Configure the S3 bucket policy to allow public read access. Generate a URL with a custom expiration parameter. Validate the parameter in a Lambda@Edge function.</a:t>
            </a:r>
          </a:p>
          <a:p>
            <a:pPr marL="342900" indent="-342900">
              <a:spcBef>
                <a:spcPts val="600"/>
              </a:spcBef>
            </a:pPr>
            <a:r>
              <a:rPr sz="1600" b="0">
                <a:solidFill>
                  <a:srgbClr val="232B37"/>
                </a:solidFill>
                <a:latin typeface="Amazon Ember Display"/>
              </a:rPr>
              <a:t>C.  Create temporary IAM credentials using AWS STS for each download request. Provide the credentials to the user to access S3 directly.</a:t>
            </a:r>
          </a:p>
          <a:p>
            <a:pPr marL="342900" indent="-342900">
              <a:spcBef>
                <a:spcPts val="600"/>
              </a:spcBef>
            </a:pPr>
            <a:r>
              <a:rPr sz="1600" b="0">
                <a:solidFill>
                  <a:srgbClr val="232B37"/>
                </a:solidFill>
                <a:latin typeface="Amazon Ember Display"/>
              </a:rPr>
              <a:t>D.  Configure S3 Object Lock with a 15-minute retention period. Generate a standard S3 URL for the object.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a download link that expires in 15 minutes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builds a document sharing application. Users upload private documents to an Amazon S3 bucket. The application generates temporary download links that expire after 15 minutes. The links must work without requiring users to have AWS credentials or IAM permissions.</a:t>
            </a:r>
          </a:p>
          <a:p>
            <a:r>
              <a:rPr sz="1600" b="1">
                <a:solidFill>
                  <a:srgbClr val="232B37"/>
                </a:solidFill>
                <a:latin typeface="Amazon Ember Display"/>
              </a:rPr>
              <a:t>The developer must implement a secure method to provide time-limited access to private S3 objects.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Generate an S3 presigned URL for the object using the AWS SDK. Set the expiration to 15 minutes. Provide the presigned URL to the user.  [CORRECT]</a:t>
            </a:r>
          </a:p>
          <a:p>
            <a:pPr marL="342900" indent="-342900">
              <a:spcBef>
                <a:spcPts val="600"/>
              </a:spcBef>
            </a:pPr>
            <a:r>
              <a:rPr sz="1600" b="0">
                <a:solidFill>
                  <a:srgbClr val="232B37"/>
                </a:solidFill>
                <a:latin typeface="Amazon Ember Display"/>
              </a:rPr>
              <a:t>B.  Configure the S3 bucket policy to allow public read access. Generate a URL with a custom expiration parameter. Validate the parameter in a Lambda@Edge function.</a:t>
            </a:r>
          </a:p>
          <a:p>
            <a:pPr marL="342900" indent="-342900">
              <a:spcBef>
                <a:spcPts val="600"/>
              </a:spcBef>
            </a:pPr>
            <a:r>
              <a:rPr sz="1600" b="0">
                <a:solidFill>
                  <a:srgbClr val="232B37"/>
                </a:solidFill>
                <a:latin typeface="Amazon Ember Display"/>
              </a:rPr>
              <a:t>C.  Create temporary IAM credentials using AWS STS for each download request. Provide the credentials to the user to access S3 directly.</a:t>
            </a:r>
          </a:p>
          <a:p>
            <a:pPr marL="342900" indent="-342900">
              <a:spcBef>
                <a:spcPts val="600"/>
              </a:spcBef>
            </a:pPr>
            <a:r>
              <a:rPr sz="1600" b="0">
                <a:solidFill>
                  <a:srgbClr val="232B37"/>
                </a:solidFill>
                <a:latin typeface="Amazon Ember Display"/>
              </a:rPr>
              <a:t>D.  Configure S3 Object Lock with a 15-minute retention period. Generate a standard S3 URL for the object.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a download link that expires in 15 minutes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9264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Download and upload objects with…</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The signature carries the access, so the recipient needs no identity</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Public read exposes every document, expiry parameter or not</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STS credentials make the user authenticate to AWS themselves</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Object Lock stops deletion; it never controls read access</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“without requiring users to have AWS credentials”</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Time-limited access for someone with no AWS identity is a presigned URL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keeping account numbers out of an answer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builds a customer-facing chatbot that uses Amazon Bedrock to answer questions. The chatbot handles sensitive financial data. The company must ensure that personally identifiable information (PII) such as account numbers and social security numbers is never included in the model's responses. The company also needs to block prompts that contain hate speech or violence.</a:t>
            </a:r>
          </a:p>
          <a:p>
            <a:r>
              <a:rPr sz="1600" b="1">
                <a:solidFill>
                  <a:srgbClr val="232B37"/>
                </a:solidFill>
                <a:latin typeface="Amazon Ember Display"/>
              </a:rPr>
              <a:t>The developer must configure safeguards with the LEAST custom code.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Bedrock guardrail with sensitive information filters configured to redact PII entities such as account numbers and social security numbers. Add content filters with HIGH strength for the Hate and Violence categories. Apply the guardrail to the Bedrock API calls.</a:t>
            </a:r>
          </a:p>
          <a:p>
            <a:pPr marL="342900" indent="-342900">
              <a:spcBef>
                <a:spcPts val="600"/>
              </a:spcBef>
            </a:pPr>
            <a:r>
              <a:rPr sz="1600" b="0">
                <a:solidFill>
                  <a:srgbClr val="232B37"/>
                </a:solidFill>
                <a:latin typeface="Amazon Ember Display"/>
              </a:rPr>
              <a:t>B.  Write a Lambda function that processes all Bedrock responses. Use regular expressions to detect and redact PII patterns. Add keyword matching for harmful content categories.</a:t>
            </a:r>
          </a:p>
          <a:p>
            <a:pPr marL="342900" indent="-342900">
              <a:spcBef>
                <a:spcPts val="600"/>
              </a:spcBef>
            </a:pPr>
            <a:r>
              <a:rPr sz="1600" b="0">
                <a:solidFill>
                  <a:srgbClr val="232B37"/>
                </a:solidFill>
                <a:latin typeface="Amazon Ember Display"/>
              </a:rPr>
              <a:t>C.  Add instructions in the system prompt directing the model to avoid outputting PII or responding to harmful content.</a:t>
            </a:r>
          </a:p>
          <a:p>
            <a:pPr marL="342900" indent="-342900">
              <a:spcBef>
                <a:spcPts val="600"/>
              </a:spcBef>
            </a:pPr>
            <a:r>
              <a:rPr sz="1600" b="0">
                <a:solidFill>
                  <a:srgbClr val="232B37"/>
                </a:solidFill>
                <a:latin typeface="Amazon Ember Display"/>
              </a:rPr>
              <a:t>D.  Configure an AWS WAF rule to inspect Bedrock API request and response payloads. Create custom rules to block PII patterns and harmful content.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keeping account numbers out of an answer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builds a customer-facing chatbot that uses Amazon Bedrock to answer questions. The chatbot handles sensitive financial data. The company must ensure that personally identifiable information (PII) such as account numbers and social security numbers is never included in the model's responses. The company also needs to block prompts that contain hate speech or violence.</a:t>
            </a:r>
          </a:p>
          <a:p>
            <a:r>
              <a:rPr sz="1600" b="1">
                <a:solidFill>
                  <a:srgbClr val="232B37"/>
                </a:solidFill>
                <a:latin typeface="Amazon Ember Display"/>
              </a:rPr>
              <a:t>The developer must configure safeguards with the LEAST custom code.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 Bedrock guardrail with sensitive information filters configured to redact PII entities such as account numbers and social security numbers. Add content filters with HIGH strength for the Hate and Violence categories. Apply the guardrail to the Bedrock API calls.</a:t>
            </a:r>
          </a:p>
          <a:p>
            <a:pPr marL="342900" indent="-342900">
              <a:spcBef>
                <a:spcPts val="600"/>
              </a:spcBef>
            </a:pPr>
            <a:r>
              <a:rPr sz="1600" b="0">
                <a:solidFill>
                  <a:srgbClr val="232B37"/>
                </a:solidFill>
                <a:latin typeface="Amazon Ember Display"/>
              </a:rPr>
              <a:t>B.  Write a Lambda function that processes all Bedrock responses. Use regular expressions to detect and redact PII patterns. Add keyword matching for harmful content categories.</a:t>
            </a:r>
          </a:p>
          <a:p>
            <a:pPr marL="342900" indent="-342900">
              <a:spcBef>
                <a:spcPts val="600"/>
              </a:spcBef>
            </a:pPr>
            <a:r>
              <a:rPr sz="1600" b="0">
                <a:solidFill>
                  <a:srgbClr val="232B37"/>
                </a:solidFill>
                <a:latin typeface="Amazon Ember Display"/>
              </a:rPr>
              <a:t>C.  Add instructions in the system prompt directing the model to avoid outputting PII or responding to harmful content.</a:t>
            </a:r>
          </a:p>
          <a:p>
            <a:pPr marL="342900" indent="-342900">
              <a:spcBef>
                <a:spcPts val="600"/>
              </a:spcBef>
            </a:pPr>
            <a:r>
              <a:rPr sz="1600" b="0">
                <a:solidFill>
                  <a:srgbClr val="232B37"/>
                </a:solidFill>
                <a:latin typeface="Amazon Ember Display"/>
              </a:rPr>
              <a:t>D.  Configure an AWS WAF rule to inspect Bedrock API request and response payloads. Create custom rules to block PII patterns and harmful content.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keeping account numbers out of an answer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builds a customer-facing chatbot that uses Amazon Bedrock to answer questions. The chatbot handles sensitive financial data. The company must ensure that personally identifiable information (PII) such as account numbers and social security numbers is never included in the model's responses. The company also needs to block prompts that contain hate speech or violence.</a:t>
            </a:r>
          </a:p>
          <a:p>
            <a:r>
              <a:rPr sz="1600" b="1">
                <a:solidFill>
                  <a:srgbClr val="232B37"/>
                </a:solidFill>
                <a:latin typeface="Amazon Ember Display"/>
              </a:rPr>
              <a:t>The developer must configure safeguards with the LEAST custom code.</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 Bedrock guardrail with sensitive information filters configured to redact PII entities such as account numbers and social security numbers. Add content filters with HIGH strength for the Hate and Violence categories. Apply the guardrail to the Bedrock API calls.  [CORRECT]</a:t>
            </a:r>
          </a:p>
          <a:p>
            <a:pPr marL="342900" indent="-342900">
              <a:spcBef>
                <a:spcPts val="600"/>
              </a:spcBef>
            </a:pPr>
            <a:r>
              <a:rPr sz="1600" b="0">
                <a:solidFill>
                  <a:srgbClr val="232B37"/>
                </a:solidFill>
                <a:latin typeface="Amazon Ember Display"/>
              </a:rPr>
              <a:t>B.  Write a Lambda function that processes all Bedrock responses. Use regular expressions to detect and redact PII patterns. Add keyword matching for harmful content categories.</a:t>
            </a:r>
          </a:p>
          <a:p>
            <a:pPr marL="342900" indent="-342900">
              <a:spcBef>
                <a:spcPts val="600"/>
              </a:spcBef>
            </a:pPr>
            <a:r>
              <a:rPr sz="1600" b="0">
                <a:solidFill>
                  <a:srgbClr val="232B37"/>
                </a:solidFill>
                <a:latin typeface="Amazon Ember Display"/>
              </a:rPr>
              <a:t>C.  Add instructions in the system prompt directing the model to avoid outputting PII or responding to harmful content.</a:t>
            </a:r>
          </a:p>
          <a:p>
            <a:pPr marL="342900" indent="-342900">
              <a:spcBef>
                <a:spcPts val="600"/>
              </a:spcBef>
            </a:pPr>
            <a:r>
              <a:rPr sz="1600" b="0">
                <a:solidFill>
                  <a:srgbClr val="232B37"/>
                </a:solidFill>
                <a:latin typeface="Amazon Ember Display"/>
              </a:rPr>
              <a:t>D.  Configure an AWS WAF rule to inspect Bedrock API request and response payloads. Create custom rules to block PII patterns and harmful content.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keeping account numbers out of an answer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4750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Remove PII from conversations by using…</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One guardrail covers both the PII filter and the content categories</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Hand-written regex is a pattern library the customer then owns</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A system prompt is guidance, and prompt injection overrides it</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WAF protects web applications; it does not see Bedrock calls</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“with the LEAST custom code”</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Least custom code over a model's input and output points at a guardrail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calling a model without touching the internet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is building an AI assistant that uses Amazon Bedrock. The application processes customer support requests that may contain sensitive data. The company's security policy requires that all communication with Amazon Bedrock remains within the company's VPC. Data must not traverse the public internet.</a:t>
            </a:r>
          </a:p>
          <a:p>
            <a:r>
              <a:rPr sz="1600" b="1">
                <a:solidFill>
                  <a:srgbClr val="232B37"/>
                </a:solidFill>
                <a:latin typeface="Amazon Ember Display"/>
              </a:rPr>
              <a:t>The developer must configure the application to call Bedrock APIs privately.</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interface VPC endpoint for Amazon Bedrock in the VPC. Configure the endpoint with a VPC endpoint policy that allows the required Bedrock API actions. Update the application's security group to allow outbound traffic to the endpoint.</a:t>
            </a:r>
          </a:p>
          <a:p>
            <a:pPr marL="342900" indent="-342900">
              <a:spcBef>
                <a:spcPts val="600"/>
              </a:spcBef>
            </a:pPr>
            <a:r>
              <a:rPr sz="1600" b="0">
                <a:solidFill>
                  <a:srgbClr val="232B37"/>
                </a:solidFill>
                <a:latin typeface="Amazon Ember Display"/>
              </a:rPr>
              <a:t>B.  Deploy the application in a private subnet with a NAT gateway. Configure the NAT gateway to route Bedrock API traffic through the VPC.</a:t>
            </a:r>
          </a:p>
          <a:p>
            <a:pPr marL="342900" indent="-342900">
              <a:spcBef>
                <a:spcPts val="600"/>
              </a:spcBef>
            </a:pPr>
            <a:r>
              <a:rPr sz="1600" b="0">
                <a:solidFill>
                  <a:srgbClr val="232B37"/>
                </a:solidFill>
                <a:latin typeface="Amazon Ember Display"/>
              </a:rPr>
              <a:t>C.  Configure an S3 gateway endpoint in the VPC. Store Bedrock model artifacts in S3 and invoke models through the S3 endpoint.</a:t>
            </a:r>
          </a:p>
          <a:p>
            <a:pPr marL="342900" indent="-342900">
              <a:spcBef>
                <a:spcPts val="600"/>
              </a:spcBef>
            </a:pPr>
            <a:r>
              <a:rPr sz="1600" b="0">
                <a:solidFill>
                  <a:srgbClr val="232B37"/>
                </a:solidFill>
                <a:latin typeface="Amazon Ember Display"/>
              </a:rPr>
              <a:t>D.  Enable VPC peering between the application VPC and the Amazon Bedrock service VPC. Route traffic through the peering connection.</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calling a model without touching the internet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is building an AI assistant that uses Amazon Bedrock. The application processes customer support requests that may contain sensitive data. The company's security policy requires that all communication with Amazon Bedrock remains within the company's VPC. Data must not traverse the public internet.</a:t>
            </a:r>
          </a:p>
          <a:p>
            <a:r>
              <a:rPr sz="1600" b="1">
                <a:solidFill>
                  <a:srgbClr val="232B37"/>
                </a:solidFill>
                <a:latin typeface="Amazon Ember Display"/>
              </a:rPr>
              <a:t>The developer must configure the application to call Bedrock APIs privately.</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interface VPC endpoint for Amazon Bedrock in the VPC. Configure the endpoint with a VPC endpoint policy that allows the required Bedrock API actions. Update the application's security group to allow outbound traffic to the endpoint.</a:t>
            </a:r>
          </a:p>
          <a:p>
            <a:pPr marL="342900" indent="-342900">
              <a:spcBef>
                <a:spcPts val="600"/>
              </a:spcBef>
            </a:pPr>
            <a:r>
              <a:rPr sz="1600" b="0">
                <a:solidFill>
                  <a:srgbClr val="232B37"/>
                </a:solidFill>
                <a:latin typeface="Amazon Ember Display"/>
              </a:rPr>
              <a:t>B.  Deploy the application in a private subnet with a NAT gateway. Configure the NAT gateway to route Bedrock API traffic through the VPC.</a:t>
            </a:r>
          </a:p>
          <a:p>
            <a:pPr marL="342900" indent="-342900">
              <a:spcBef>
                <a:spcPts val="600"/>
              </a:spcBef>
            </a:pPr>
            <a:r>
              <a:rPr sz="1600" b="0">
                <a:solidFill>
                  <a:srgbClr val="232B37"/>
                </a:solidFill>
                <a:latin typeface="Amazon Ember Display"/>
              </a:rPr>
              <a:t>C.  Configure an S3 gateway endpoint in the VPC. Store Bedrock model artifacts in S3 and invoke models through the S3 endpoint.</a:t>
            </a:r>
          </a:p>
          <a:p>
            <a:pPr marL="342900" indent="-342900">
              <a:spcBef>
                <a:spcPts val="600"/>
              </a:spcBef>
            </a:pPr>
            <a:r>
              <a:rPr sz="1600" b="0">
                <a:solidFill>
                  <a:srgbClr val="232B37"/>
                </a:solidFill>
                <a:latin typeface="Amazon Ember Display"/>
              </a:rPr>
              <a:t>D.  Enable VPC peering between the application VPC and the Amazon Bedrock service VPC. Route traffic through the peering connection.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calling a model without touching the internet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58205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307738"/>
          </a:xfrm>
          <a:prstGeom prst="rect">
            <a:avLst/>
          </a:prstGeom>
          <a:noFill/>
        </p:spPr>
        <p:txBody>
          <a:bodyPr wrap="square" anchor="t">
            <a:noAutofit/>
          </a:bodyPr>
          <a:lstStyle/>
          <a:p>
            <a:r>
              <a:rPr sz="1600" b="1">
                <a:solidFill>
                  <a:srgbClr val="232B37"/>
                </a:solidFill>
                <a:latin typeface="Amazon Ember Display"/>
              </a:rPr>
              <a:t>A company is building an AI assistant that uses Amazon Bedrock. The application processes customer support requests that may contain sensitive data. The company's security policy requires that all communication with Amazon Bedrock remains within the company's VPC. Data must not traverse the public internet.</a:t>
            </a:r>
          </a:p>
          <a:p>
            <a:r>
              <a:rPr sz="1600" b="1">
                <a:solidFill>
                  <a:srgbClr val="232B37"/>
                </a:solidFill>
                <a:latin typeface="Amazon Ember Display"/>
              </a:rPr>
              <a:t>The developer must configure the application to call Bedrock APIs privately.</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Create an interface VPC endpoint for Amazon Bedrock in the VPC. Configure the endpoint with a VPC endpoint policy that allows the required Bedrock API actions. Update the application's security group to allow outbound traffic to the endpoint.  [CORRECT]</a:t>
            </a:r>
          </a:p>
          <a:p>
            <a:pPr marL="342900" indent="-342900">
              <a:spcBef>
                <a:spcPts val="600"/>
              </a:spcBef>
            </a:pPr>
            <a:r>
              <a:rPr sz="1600" b="0">
                <a:solidFill>
                  <a:srgbClr val="232B37"/>
                </a:solidFill>
                <a:latin typeface="Amazon Ember Display"/>
              </a:rPr>
              <a:t>B.  Deploy the application in a private subnet with a NAT gateway. Configure the NAT gateway to route Bedrock API traffic through the VPC.</a:t>
            </a:r>
          </a:p>
          <a:p>
            <a:pPr marL="342900" indent="-342900">
              <a:spcBef>
                <a:spcPts val="600"/>
              </a:spcBef>
            </a:pPr>
            <a:r>
              <a:rPr sz="1600" b="0">
                <a:solidFill>
                  <a:srgbClr val="232B37"/>
                </a:solidFill>
                <a:latin typeface="Amazon Ember Display"/>
              </a:rPr>
              <a:t>C.  Configure an S3 gateway endpoint in the VPC. Store Bedrock model artifacts in S3 and invoke models through the S3 endpoint.</a:t>
            </a:r>
          </a:p>
          <a:p>
            <a:pPr marL="342900" indent="-342900">
              <a:spcBef>
                <a:spcPts val="600"/>
              </a:spcBef>
            </a:pPr>
            <a:r>
              <a:rPr sz="1600" b="0">
                <a:solidFill>
                  <a:srgbClr val="232B37"/>
                </a:solidFill>
                <a:latin typeface="Amazon Ember Display"/>
              </a:rPr>
              <a:t>D.  Enable VPC peering between the application VPC and the Amazon Bedrock service VPC. Route traffic through the peering connection.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calling a model without touching the internet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9264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Use interface VPC endpoints (AWS…</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An interface endpoint puts the Bedrock API inside the VPC itself</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A NAT gateway still reaches the service over the public internet</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A gateway endpoint serves S3 only, and Bedrock is not S3</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There is no customer-peerable Bedrock VPC on the other side</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“must not traverse the public internet”</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Private reach to an AWS API means an interface endpoint over PrivateLink</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finding which hop is costing the time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developer is troubleshooting latency issues in a serverless application. The application uses Amazon API Gateway, AWS Lambda, and Amazon DynamoDB. Users report slow response times for specific API endpoints. The developer needs to identify which component introduces the most latency for each request.</a:t>
            </a:r>
          </a:p>
          <a:p>
            <a:r>
              <a:rPr sz="1600" b="1">
                <a:solidFill>
                  <a:srgbClr val="232B37"/>
                </a:solidFill>
                <a:latin typeface="Amazon Ember Display"/>
              </a:rPr>
              <a:t>The developer must implement distributed tracing to visualize the request flow and pinpoint bottlenecks.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Enable AWS X-Ray tracing on API Gateway and the Lambda function. Use the X-Ray SDK in the Lambda function code to instrument downstream DynamoDB calls. View the service map and traces in the X-Ray console.</a:t>
            </a:r>
          </a:p>
          <a:p>
            <a:pPr marL="342900" indent="-342900">
              <a:spcBef>
                <a:spcPts val="600"/>
              </a:spcBef>
            </a:pPr>
            <a:r>
              <a:rPr sz="1600" b="0">
                <a:solidFill>
                  <a:srgbClr val="232B37"/>
                </a:solidFill>
                <a:latin typeface="Amazon Ember Display"/>
              </a:rPr>
              <a:t>B.  Enable CloudWatch detailed monitoring for all services. Create a CloudWatch dashboard with latency metrics for API Gateway, Lambda, and DynamoDB.</a:t>
            </a:r>
          </a:p>
          <a:p>
            <a:pPr marL="342900" indent="-342900">
              <a:spcBef>
                <a:spcPts val="600"/>
              </a:spcBef>
            </a:pPr>
            <a:r>
              <a:rPr sz="1600" b="0">
                <a:solidFill>
                  <a:srgbClr val="232B37"/>
                </a:solidFill>
                <a:latin typeface="Amazon Ember Display"/>
              </a:rPr>
              <a:t>C.  Enable API Gateway access logging and Lambda function logging. Use CloudWatch Logs Insights to query timestamps across log groups and calculate durations.</a:t>
            </a:r>
          </a:p>
          <a:p>
            <a:pPr marL="342900" indent="-342900">
              <a:spcBef>
                <a:spcPts val="600"/>
              </a:spcBef>
            </a:pPr>
            <a:r>
              <a:rPr sz="1600" b="0">
                <a:solidFill>
                  <a:srgbClr val="232B37"/>
                </a:solidFill>
                <a:latin typeface="Amazon Ember Display"/>
              </a:rPr>
              <a:t>D.  Enable DynamoDB Streams on the table. Create a Lambda function that calculates read latency from the stream records and publishes metrics to CloudWatch.</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finding which hop is costing the time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developer is troubleshooting latency issues in a serverless application. The application uses Amazon API Gateway, AWS Lambda, and Amazon DynamoDB. Users report slow response times for specific API endpoints. The developer needs to identify which component introduces the most latency for each request.</a:t>
            </a:r>
          </a:p>
          <a:p>
            <a:r>
              <a:rPr sz="1600" b="1">
                <a:solidFill>
                  <a:srgbClr val="232B37"/>
                </a:solidFill>
                <a:latin typeface="Amazon Ember Display"/>
              </a:rPr>
              <a:t>The developer must implement distributed tracing to visualize the request flow and pinpoint bottlenecks.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Enable AWS X-Ray tracing on API Gateway and the Lambda function. Use the X-Ray SDK in the Lambda function code to instrument downstream DynamoDB calls. View the service map and traces in the X-Ray console.</a:t>
            </a:r>
          </a:p>
          <a:p>
            <a:pPr marL="342900" indent="-342900">
              <a:spcBef>
                <a:spcPts val="600"/>
              </a:spcBef>
            </a:pPr>
            <a:r>
              <a:rPr sz="1600" b="0">
                <a:solidFill>
                  <a:srgbClr val="232B37"/>
                </a:solidFill>
                <a:latin typeface="Amazon Ember Display"/>
              </a:rPr>
              <a:t>B.  Enable CloudWatch detailed monitoring for all services. Create a CloudWatch dashboard with latency metrics for API Gateway, Lambda, and DynamoDB.</a:t>
            </a:r>
          </a:p>
          <a:p>
            <a:pPr marL="342900" indent="-342900">
              <a:spcBef>
                <a:spcPts val="600"/>
              </a:spcBef>
            </a:pPr>
            <a:r>
              <a:rPr sz="1600" b="0">
                <a:solidFill>
                  <a:srgbClr val="232B37"/>
                </a:solidFill>
                <a:latin typeface="Amazon Ember Display"/>
              </a:rPr>
              <a:t>C.  Enable API Gateway access logging and Lambda function logging. Use CloudWatch Logs Insights to query timestamps across log groups and calculate durations.</a:t>
            </a:r>
          </a:p>
          <a:p>
            <a:pPr marL="342900" indent="-342900">
              <a:spcBef>
                <a:spcPts val="600"/>
              </a:spcBef>
            </a:pPr>
            <a:r>
              <a:rPr sz="1600" b="0">
                <a:solidFill>
                  <a:srgbClr val="232B37"/>
                </a:solidFill>
                <a:latin typeface="Amazon Ember Display"/>
              </a:rPr>
              <a:t>D.  Enable DynamoDB Streams on the table. Create a Lambda function that calculates read latency from the stream records and publishes metrics to CloudWatch.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finding which hop is costing the time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developer is troubleshooting latency issues in a serverless application. The application uses Amazon API Gateway, AWS Lambda, and Amazon DynamoDB. Users report slow response times for specific API endpoints. The developer needs to identify which component introduces the most latency for each request.</a:t>
            </a:r>
          </a:p>
          <a:p>
            <a:r>
              <a:rPr sz="1600" b="1">
                <a:solidFill>
                  <a:srgbClr val="232B37"/>
                </a:solidFill>
                <a:latin typeface="Amazon Ember Display"/>
              </a:rPr>
              <a:t>The developer must implement distributed tracing to visualize the request flow and pinpoint bottlenecks.</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Enable AWS X-Ray tracing on API Gateway and the Lambda function. Use the X-Ray SDK in the Lambda function code to instrument downstream DynamoDB calls. View the service map and traces in the X-Ray console.  [CORRECT]</a:t>
            </a:r>
          </a:p>
          <a:p>
            <a:pPr marL="342900" indent="-342900">
              <a:spcBef>
                <a:spcPts val="600"/>
              </a:spcBef>
            </a:pPr>
            <a:r>
              <a:rPr sz="1600" b="0">
                <a:solidFill>
                  <a:srgbClr val="232B37"/>
                </a:solidFill>
                <a:latin typeface="Amazon Ember Display"/>
              </a:rPr>
              <a:t>B.  Enable CloudWatch detailed monitoring for all services. Create a CloudWatch dashboard with latency metrics for API Gateway, Lambda, and DynamoDB.</a:t>
            </a:r>
          </a:p>
          <a:p>
            <a:pPr marL="342900" indent="-342900">
              <a:spcBef>
                <a:spcPts val="600"/>
              </a:spcBef>
            </a:pPr>
            <a:r>
              <a:rPr sz="1600" b="0">
                <a:solidFill>
                  <a:srgbClr val="232B37"/>
                </a:solidFill>
                <a:latin typeface="Amazon Ember Display"/>
              </a:rPr>
              <a:t>C.  Enable API Gateway access logging and Lambda function logging. Use CloudWatch Logs Insights to query timestamps across log groups and calculate durations.</a:t>
            </a:r>
          </a:p>
          <a:p>
            <a:pPr marL="342900" indent="-342900">
              <a:spcBef>
                <a:spcPts val="600"/>
              </a:spcBef>
            </a:pPr>
            <a:r>
              <a:rPr sz="1600" b="0">
                <a:solidFill>
                  <a:srgbClr val="232B37"/>
                </a:solidFill>
                <a:latin typeface="Amazon Ember Display"/>
              </a:rPr>
              <a:t>D.  Enable DynamoDB Streams on the table. Create a Lambda function that calculates read latency from the stream records and publishes metrics to CloudWatch.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finding which hop is costing the time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AWS X-Ray?</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A trace attributes time hop by hop for one request, not per service</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Dashboards aggregate, so they cannot follow one slow request</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Correlating log timestamps by hand yields no service map</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Streams record writes, so they never observe a slow read</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“which component introduces the most latency”</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Per-request attribution across services is distributed tracing, so X-Ray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an agent that can move money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9066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632350"/>
          </a:xfrm>
          <a:prstGeom prst="rect">
            <a:avLst/>
          </a:prstGeom>
          <a:noFill/>
        </p:spPr>
        <p:txBody>
          <a:bodyPr wrap="square" anchor="t">
            <a:noAutofit/>
          </a:bodyPr>
          <a:lstStyle/>
          <a:p>
            <a:r>
              <a:rPr sz="1600" b="1">
                <a:solidFill>
                  <a:srgbClr val="232B37"/>
                </a:solidFill>
                <a:latin typeface="Amazon Ember Display"/>
              </a:rPr>
              <a:t>A company uses Amazon Bedrock to build an AI agent that can perform actions on behalf of users. The agent has tools that can update customer records and initiate refund transactions. The security team requires that any action involving financial transactions must receive human approval before execution. The solution must also prevent the agent from performing unauthorized tool calls.</a:t>
            </a:r>
          </a:p>
          <a:p>
            <a:r>
              <a:rPr sz="1600" b="1">
                <a:solidFill>
                  <a:srgbClr val="232B37"/>
                </a:solidFill>
                <a:latin typeface="Amazon Ember Display"/>
              </a:rPr>
              <a:t>Which two actions should the developer take to secure the agent interactions? (Select TWO.)</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action group permissions in the agent definition to restrict which tools the agent can invoke based on the user's permissions and context.</a:t>
            </a:r>
          </a:p>
          <a:p>
            <a:pPr marL="342900" indent="-342900">
              <a:spcBef>
                <a:spcPts val="600"/>
              </a:spcBef>
            </a:pPr>
            <a:r>
              <a:rPr sz="1600" b="0">
                <a:solidFill>
                  <a:srgbClr val="232B37"/>
                </a:solidFill>
                <a:latin typeface="Amazon Ember Display"/>
              </a:rPr>
              <a:t>B.  Implement a human-in-the-loop approval flow that pauses agent execution and requires explicit confirmation before the refund tool executes.</a:t>
            </a:r>
          </a:p>
          <a:p>
            <a:pPr marL="342900" indent="-342900">
              <a:spcBef>
                <a:spcPts val="600"/>
              </a:spcBef>
            </a:pPr>
            <a:r>
              <a:rPr sz="1600" b="0">
                <a:solidFill>
                  <a:srgbClr val="232B37"/>
                </a:solidFill>
                <a:latin typeface="Amazon Ember Display"/>
              </a:rPr>
              <a:t>C.  Add a system prompt instruction directing the agent to request user confirmation before initiating refund transactions.</a:t>
            </a:r>
          </a:p>
          <a:p>
            <a:pPr marL="342900" indent="-342900">
              <a:spcBef>
                <a:spcPts val="600"/>
              </a:spcBef>
            </a:pPr>
            <a:r>
              <a:rPr sz="1600" b="0">
                <a:solidFill>
                  <a:srgbClr val="232B37"/>
                </a:solidFill>
                <a:latin typeface="Amazon Ember Display"/>
              </a:rPr>
              <a:t>D.  Deploy the agent behind an API Gateway with a usage plan that limits the number of refund API calls per minute.</a:t>
            </a:r>
          </a:p>
          <a:p>
            <a:pPr marL="342900" indent="-342900">
              <a:spcBef>
                <a:spcPts val="600"/>
              </a:spcBef>
            </a:pPr>
            <a:r>
              <a:rPr sz="1600" b="0">
                <a:solidFill>
                  <a:srgbClr val="232B37"/>
                </a:solidFill>
                <a:latin typeface="Amazon Ember Display"/>
              </a:rPr>
              <a:t>E.  Configure Amazon CloudWatch alarms to notify the security team when the agent invokes the refund tool more than five times per hour.</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an agent that can move money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9066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632350"/>
          </a:xfrm>
          <a:prstGeom prst="rect">
            <a:avLst/>
          </a:prstGeom>
          <a:noFill/>
        </p:spPr>
        <p:txBody>
          <a:bodyPr wrap="square" anchor="t">
            <a:noAutofit/>
          </a:bodyPr>
          <a:lstStyle/>
          <a:p>
            <a:r>
              <a:rPr sz="1600" b="1">
                <a:solidFill>
                  <a:srgbClr val="232B37"/>
                </a:solidFill>
                <a:latin typeface="Amazon Ember Display"/>
              </a:rPr>
              <a:t>A company uses Amazon Bedrock to build an AI agent that can perform actions on behalf of users. The agent has tools that can update customer records and initiate refund transactions. The security team requires that any action involving financial transactions must receive human approval before execution. The solution must also prevent the agent from performing unauthorized tool calls.</a:t>
            </a:r>
          </a:p>
          <a:p>
            <a:r>
              <a:rPr sz="1600" b="1">
                <a:solidFill>
                  <a:srgbClr val="232B37"/>
                </a:solidFill>
                <a:latin typeface="Amazon Ember Display"/>
              </a:rPr>
              <a:t>Which two actions should the developer take to secure the agent interactions? (Select TWO.)</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Configure action group permissions in the agent definition to restrict which tools the agent can invoke based on the user's permissions and context.</a:t>
            </a:r>
          </a:p>
          <a:p>
            <a:pPr marL="342900" indent="-342900">
              <a:spcBef>
                <a:spcPts val="600"/>
              </a:spcBef>
            </a:pPr>
            <a:r>
              <a:rPr sz="1600" b="0">
                <a:solidFill>
                  <a:srgbClr val="232B37"/>
                </a:solidFill>
                <a:latin typeface="Amazon Ember Display"/>
              </a:rPr>
              <a:t>B.  Implement a human-in-the-loop approval flow that pauses agent execution and requires explicit confirmation before the refund tool executes.</a:t>
            </a:r>
          </a:p>
          <a:p>
            <a:pPr marL="342900" indent="-342900">
              <a:spcBef>
                <a:spcPts val="600"/>
              </a:spcBef>
            </a:pPr>
            <a:r>
              <a:rPr sz="1600" b="0">
                <a:solidFill>
                  <a:srgbClr val="232B37"/>
                </a:solidFill>
                <a:latin typeface="Amazon Ember Display"/>
              </a:rPr>
              <a:t>C.  Add a system prompt instruction directing the agent to request user confirmation before initiating refund transactions.</a:t>
            </a:r>
          </a:p>
          <a:p>
            <a:pPr marL="342900" indent="-342900">
              <a:spcBef>
                <a:spcPts val="600"/>
              </a:spcBef>
            </a:pPr>
            <a:r>
              <a:rPr sz="1600" b="0">
                <a:solidFill>
                  <a:srgbClr val="232B37"/>
                </a:solidFill>
                <a:latin typeface="Amazon Ember Display"/>
              </a:rPr>
              <a:t>D.  Deploy the agent behind an API Gateway with a usage plan that limits the number of refund API calls per minute.</a:t>
            </a:r>
          </a:p>
          <a:p>
            <a:pPr marL="342900" indent="-342900">
              <a:spcBef>
                <a:spcPts val="600"/>
              </a:spcBef>
            </a:pPr>
            <a:r>
              <a:rPr sz="1600" b="0">
                <a:solidFill>
                  <a:srgbClr val="232B37"/>
                </a:solidFill>
                <a:latin typeface="Amazon Ember Display"/>
              </a:rPr>
              <a:t>E.  Configure Amazon CloudWatch alarms to notify the security team when the agent invokes the refund tool more than five times per hour.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an agent that can move money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9066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632350"/>
          </a:xfrm>
          <a:prstGeom prst="rect">
            <a:avLst/>
          </a:prstGeom>
          <a:noFill/>
        </p:spPr>
        <p:txBody>
          <a:bodyPr wrap="square" anchor="t">
            <a:noAutofit/>
          </a:bodyPr>
          <a:lstStyle/>
          <a:p>
            <a:r>
              <a:rPr sz="1600" b="1">
                <a:solidFill>
                  <a:srgbClr val="232B37"/>
                </a:solidFill>
                <a:latin typeface="Amazon Ember Display"/>
              </a:rPr>
              <a:t>A company uses Amazon Bedrock to build an AI agent that can perform actions on behalf of users. The agent has tools that can update customer records and initiate refund transactions. The security team requires that any action involving financial transactions must receive human approval before execution. The solution must also prevent the agent from performing unauthorized tool calls.</a:t>
            </a:r>
          </a:p>
          <a:p>
            <a:r>
              <a:rPr sz="1600" b="1">
                <a:solidFill>
                  <a:srgbClr val="232B37"/>
                </a:solidFill>
                <a:latin typeface="Amazon Ember Display"/>
              </a:rPr>
              <a:t>Which two actions should the developer take to secure the agent interactions? (Select TWO.)</a:t>
            </a:r>
          </a:p>
          <a:p>
            <a:endParaRPr sz="1600" b="1">
              <a:solidFill>
                <a:srgbClr val="232B37"/>
              </a:solidFill>
              <a:latin typeface="Amazon Ember Display"/>
            </a:endParaRPr>
          </a:p>
          <a:p>
            <a:pPr marL="342900" indent="-342900">
              <a:spcBef>
                <a:spcPts val="600"/>
              </a:spcBef>
            </a:pPr>
            <a:r>
              <a:rPr sz="1600" b="1">
                <a:solidFill>
                  <a:srgbClr val="2E7D32"/>
                </a:solidFill>
                <a:latin typeface="Amazon Ember Display"/>
              </a:rPr>
              <a:t>A.  Configure action group permissions in the agent definition to restrict which tools the agent can invoke based on the user's permissions and context.  [CORRECT]</a:t>
            </a:r>
          </a:p>
          <a:p>
            <a:pPr marL="342900" indent="-342900">
              <a:spcBef>
                <a:spcPts val="600"/>
              </a:spcBef>
            </a:pPr>
            <a:r>
              <a:rPr sz="1600" b="1">
                <a:solidFill>
                  <a:srgbClr val="2E7D32"/>
                </a:solidFill>
                <a:latin typeface="Amazon Ember Display"/>
              </a:rPr>
              <a:t>B.  Implement a human-in-the-loop approval flow that pauses agent execution and requires explicit confirmation before the refund tool executes.  [CORRECT]</a:t>
            </a:r>
          </a:p>
          <a:p>
            <a:pPr marL="342900" indent="-342900">
              <a:spcBef>
                <a:spcPts val="600"/>
              </a:spcBef>
            </a:pPr>
            <a:r>
              <a:rPr sz="1600" b="0">
                <a:solidFill>
                  <a:srgbClr val="232B37"/>
                </a:solidFill>
                <a:latin typeface="Amazon Ember Display"/>
              </a:rPr>
              <a:t>C.  Add a system prompt instruction directing the agent to request user confirmation before initiating refund transactions.</a:t>
            </a:r>
          </a:p>
          <a:p>
            <a:pPr marL="342900" indent="-342900">
              <a:spcBef>
                <a:spcPts val="600"/>
              </a:spcBef>
            </a:pPr>
            <a:r>
              <a:rPr sz="1600" b="0">
                <a:solidFill>
                  <a:srgbClr val="232B37"/>
                </a:solidFill>
                <a:latin typeface="Amazon Ember Display"/>
              </a:rPr>
              <a:t>D.  Deploy the agent behind an API Gateway with a usage plan that limits the number of refund API calls per minute.</a:t>
            </a:r>
          </a:p>
          <a:p>
            <a:pPr marL="342900" indent="-342900">
              <a:spcBef>
                <a:spcPts val="600"/>
              </a:spcBef>
            </a:pPr>
            <a:r>
              <a:rPr sz="1600" b="0">
                <a:solidFill>
                  <a:srgbClr val="232B37"/>
                </a:solidFill>
                <a:latin typeface="Amazon Ember Display"/>
              </a:rPr>
              <a:t>E.  Configure Amazon CloudWatch alarms to notify the security team when the agent invokes the refund tool more than five times per hour.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an agent that can move money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09600" y="6089905"/>
            <a:ext cx="63836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Get user confirmation before invoking…</a:t>
            </a:r>
          </a:p>
        </p:txBody>
      </p:sp>
      <p:sp>
        <p:nvSpPr>
          <p:cNvPr id="5" name="TextBox 4"/>
          <p:cNvSpPr txBox="1"/>
          <p:nvPr/>
        </p:nvSpPr>
        <p:spPr>
          <a:xfrm>
            <a:off x="612648" y="1103454"/>
            <a:ext cx="8229600" cy="304723"/>
          </a:xfrm>
          <a:prstGeom prst="rect">
            <a:avLst/>
          </a:prstGeom>
          <a:noFill/>
        </p:spPr>
        <p:txBody>
          <a:bodyPr wrap="square" tIns="9144" bIns="9144" anchor="t">
            <a:noAutofit/>
          </a:bodyPr>
          <a:lstStyle/>
          <a:p>
            <a:pPr algn="l"/>
            <a:r>
              <a:rPr sz="1800" b="1" i="0" dirty="0">
                <a:solidFill>
                  <a:srgbClr val="8F0072"/>
                </a:solidFill>
                <a:latin typeface="Amazon Ember Display"/>
              </a:rPr>
              <a:t>WHY THE ANSWERS ARE A and B</a:t>
            </a:r>
          </a:p>
        </p:txBody>
      </p:sp>
      <p:sp>
        <p:nvSpPr>
          <p:cNvPr id="6" name="TextBox 5"/>
          <p:cNvSpPr txBox="1"/>
          <p:nvPr/>
        </p:nvSpPr>
        <p:spPr>
          <a:xfrm>
            <a:off x="612648" y="1387160"/>
            <a:ext cx="10972800" cy="274320"/>
          </a:xfrm>
          <a:prstGeom prst="rect">
            <a:avLst/>
          </a:prstGeom>
          <a:noFill/>
        </p:spPr>
        <p:txBody>
          <a:bodyPr wrap="square" tIns="9144" bIns="9144" anchor="t">
            <a:noAutofit/>
          </a:bodyPr>
          <a:lstStyle/>
          <a:p>
            <a:pPr algn="l"/>
            <a:r>
              <a:rPr sz="1700" b="1" i="0" dirty="0">
                <a:solidFill>
                  <a:srgbClr val="232B37"/>
                </a:solidFill>
                <a:latin typeface="Amazon Ember Display"/>
              </a:rPr>
              <a:t>One control narrows what the agent may call, the other gates when it fires</a:t>
            </a:r>
          </a:p>
        </p:txBody>
      </p:sp>
      <p:sp>
        <p:nvSpPr>
          <p:cNvPr id="7" name="Rounded Rectangle 6"/>
          <p:cNvSpPr/>
          <p:nvPr/>
        </p:nvSpPr>
        <p:spPr>
          <a:xfrm>
            <a:off x="609600" y="1755649"/>
            <a:ext cx="10972800" cy="1243584"/>
          </a:xfrm>
          <a:prstGeom prst="roundRect">
            <a:avLst>
              <a:gd name="adj" fmla="val 12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792480" y="1929385"/>
            <a:ext cx="402336" cy="402336"/>
          </a:xfrm>
          <a:prstGeom prst="roundRect">
            <a:avLst>
              <a:gd name="adj" fmla="val 22000"/>
            </a:avLst>
          </a:prstGeom>
          <a:solidFill>
            <a:srgbClr val="FF57E9"/>
          </a:solidFill>
          <a:ln w="127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92480" y="1965961"/>
            <a:ext cx="402336" cy="377875"/>
          </a:xfrm>
          <a:prstGeom prst="rect">
            <a:avLst/>
          </a:prstGeom>
          <a:noFill/>
        </p:spPr>
        <p:txBody>
          <a:bodyPr wrap="square" anchor="t">
            <a:noAutofit/>
          </a:bodyPr>
          <a:lstStyle/>
          <a:p>
            <a:pPr algn="ctr"/>
            <a:r>
              <a:rPr sz="1800" b="1" i="0">
                <a:solidFill>
                  <a:srgbClr val="FFFFFF"/>
                </a:solidFill>
                <a:latin typeface="Amazon Ember Display"/>
              </a:rPr>
              <a:t>A</a:t>
            </a:r>
          </a:p>
        </p:txBody>
      </p:sp>
      <p:sp>
        <p:nvSpPr>
          <p:cNvPr id="10" name="TextBox 9"/>
          <p:cNvSpPr txBox="1"/>
          <p:nvPr/>
        </p:nvSpPr>
        <p:spPr>
          <a:xfrm>
            <a:off x="1359408" y="1965961"/>
            <a:ext cx="9966960" cy="377875"/>
          </a:xfrm>
          <a:prstGeom prst="rect">
            <a:avLst/>
          </a:prstGeom>
          <a:noFill/>
        </p:spPr>
        <p:txBody>
          <a:bodyPr wrap="square" anchor="t">
            <a:noAutofit/>
          </a:bodyPr>
          <a:lstStyle/>
          <a:p>
            <a:pPr algn="l"/>
            <a:r>
              <a:rPr sz="1800" b="1" i="0">
                <a:solidFill>
                  <a:srgbClr val="232B37"/>
                </a:solidFill>
                <a:latin typeface="Amazon Ember Display"/>
              </a:rPr>
              <a:t>Authorization decides which tools the agent may call at all</a:t>
            </a:r>
          </a:p>
        </p:txBody>
      </p:sp>
      <p:sp>
        <p:nvSpPr>
          <p:cNvPr id="11" name="Rounded Rectangle 10"/>
          <p:cNvSpPr/>
          <p:nvPr/>
        </p:nvSpPr>
        <p:spPr>
          <a:xfrm>
            <a:off x="792480" y="2459737"/>
            <a:ext cx="402336" cy="402336"/>
          </a:xfrm>
          <a:prstGeom prst="roundRect">
            <a:avLst>
              <a:gd name="adj" fmla="val 22000"/>
            </a:avLst>
          </a:prstGeom>
          <a:solidFill>
            <a:srgbClr val="FF57E9"/>
          </a:solidFill>
          <a:ln w="127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92480" y="2496313"/>
            <a:ext cx="402336" cy="377875"/>
          </a:xfrm>
          <a:prstGeom prst="rect">
            <a:avLst/>
          </a:prstGeom>
          <a:noFill/>
        </p:spPr>
        <p:txBody>
          <a:bodyPr wrap="square" anchor="t">
            <a:noAutofit/>
          </a:bodyPr>
          <a:lstStyle/>
          <a:p>
            <a:pPr algn="ctr"/>
            <a:r>
              <a:rPr sz="1800" b="1" i="0">
                <a:solidFill>
                  <a:srgbClr val="FFFFFF"/>
                </a:solidFill>
                <a:latin typeface="Amazon Ember Display"/>
              </a:rPr>
              <a:t>B</a:t>
            </a:r>
          </a:p>
        </p:txBody>
      </p:sp>
      <p:sp>
        <p:nvSpPr>
          <p:cNvPr id="13" name="TextBox 12"/>
          <p:cNvSpPr txBox="1"/>
          <p:nvPr/>
        </p:nvSpPr>
        <p:spPr>
          <a:xfrm>
            <a:off x="1359408" y="2496313"/>
            <a:ext cx="9966960" cy="377875"/>
          </a:xfrm>
          <a:prstGeom prst="rect">
            <a:avLst/>
          </a:prstGeom>
          <a:noFill/>
        </p:spPr>
        <p:txBody>
          <a:bodyPr wrap="square" anchor="t">
            <a:noAutofit/>
          </a:bodyPr>
          <a:lstStyle/>
          <a:p>
            <a:pPr algn="l"/>
            <a:r>
              <a:rPr sz="1800" b="1" i="0">
                <a:solidFill>
                  <a:srgbClr val="232B37"/>
                </a:solidFill>
                <a:latin typeface="Amazon Ember Display"/>
              </a:rPr>
              <a:t>Confirmation pauses the call until a human confirms or denies</a:t>
            </a:r>
          </a:p>
        </p:txBody>
      </p:sp>
      <p:sp>
        <p:nvSpPr>
          <p:cNvPr id="14" name="TextBox 13"/>
          <p:cNvSpPr txBox="1"/>
          <p:nvPr/>
        </p:nvSpPr>
        <p:spPr>
          <a:xfrm>
            <a:off x="609600" y="2999233"/>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5" name="Rounded Rectangle 14"/>
          <p:cNvSpPr/>
          <p:nvPr/>
        </p:nvSpPr>
        <p:spPr>
          <a:xfrm>
            <a:off x="609600" y="3291841"/>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5904" y="3392425"/>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3608" y="3410713"/>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3104" y="3419857"/>
            <a:ext cx="10186416" cy="361962"/>
          </a:xfrm>
          <a:prstGeom prst="rect">
            <a:avLst/>
          </a:prstGeom>
          <a:noFill/>
        </p:spPr>
        <p:txBody>
          <a:bodyPr wrap="square" anchor="t">
            <a:noAutofit/>
          </a:bodyPr>
          <a:lstStyle/>
          <a:p>
            <a:pPr algn="l"/>
            <a:r>
              <a:rPr sz="1700" b="0" i="0">
                <a:solidFill>
                  <a:srgbClr val="232B37"/>
                </a:solidFill>
                <a:latin typeface="Amazon Ember Display"/>
              </a:rPr>
              <a:t>A prompt instruction is not a control; injection overrides it</a:t>
            </a:r>
          </a:p>
        </p:txBody>
      </p:sp>
      <p:sp>
        <p:nvSpPr>
          <p:cNvPr id="19" name="Rounded Rectangle 18"/>
          <p:cNvSpPr/>
          <p:nvPr/>
        </p:nvSpPr>
        <p:spPr>
          <a:xfrm>
            <a:off x="609600" y="3840481"/>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5904" y="3941065"/>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3608" y="3959353"/>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3104" y="3968496"/>
            <a:ext cx="10186416" cy="361962"/>
          </a:xfrm>
          <a:prstGeom prst="rect">
            <a:avLst/>
          </a:prstGeom>
          <a:noFill/>
        </p:spPr>
        <p:txBody>
          <a:bodyPr wrap="square" anchor="t">
            <a:noAutofit/>
          </a:bodyPr>
          <a:lstStyle/>
          <a:p>
            <a:pPr algn="l"/>
            <a:r>
              <a:rPr sz="1700" b="0" i="0">
                <a:solidFill>
                  <a:srgbClr val="232B37"/>
                </a:solidFill>
                <a:latin typeface="Amazon Ember Display"/>
              </a:rPr>
              <a:t>A rate limit throttles volume, it never asks a human anything</a:t>
            </a:r>
          </a:p>
        </p:txBody>
      </p:sp>
      <p:sp>
        <p:nvSpPr>
          <p:cNvPr id="23" name="Rounded Rectangle 22"/>
          <p:cNvSpPr/>
          <p:nvPr/>
        </p:nvSpPr>
        <p:spPr>
          <a:xfrm>
            <a:off x="609600" y="4389121"/>
            <a:ext cx="10972800" cy="493776"/>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755904" y="4489705"/>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608" y="4507993"/>
            <a:ext cx="475488" cy="346049"/>
          </a:xfrm>
          <a:prstGeom prst="rect">
            <a:avLst/>
          </a:prstGeom>
          <a:noFill/>
        </p:spPr>
        <p:txBody>
          <a:bodyPr wrap="square" anchor="t">
            <a:noAutofit/>
          </a:bodyPr>
          <a:lstStyle/>
          <a:p>
            <a:pPr algn="ctr"/>
            <a:r>
              <a:rPr sz="1600" b="1" i="0">
                <a:solidFill>
                  <a:srgbClr val="5A6B7B"/>
                </a:solidFill>
                <a:latin typeface="Amazon Ember Display"/>
              </a:rPr>
              <a:t>E</a:t>
            </a:r>
          </a:p>
        </p:txBody>
      </p:sp>
      <p:sp>
        <p:nvSpPr>
          <p:cNvPr id="26" name="TextBox 25"/>
          <p:cNvSpPr txBox="1"/>
          <p:nvPr/>
        </p:nvSpPr>
        <p:spPr>
          <a:xfrm>
            <a:off x="1213104" y="4517137"/>
            <a:ext cx="10186416" cy="361962"/>
          </a:xfrm>
          <a:prstGeom prst="rect">
            <a:avLst/>
          </a:prstGeom>
          <a:noFill/>
        </p:spPr>
        <p:txBody>
          <a:bodyPr wrap="square" anchor="t">
            <a:noAutofit/>
          </a:bodyPr>
          <a:lstStyle/>
          <a:p>
            <a:pPr algn="l"/>
            <a:r>
              <a:rPr sz="1700" b="0" i="0">
                <a:solidFill>
                  <a:srgbClr val="232B37"/>
                </a:solidFill>
                <a:latin typeface="Amazon Ember Display"/>
              </a:rPr>
              <a:t>An alarm fires after the refund has already been paid out</a:t>
            </a:r>
          </a:p>
        </p:txBody>
      </p:sp>
      <p:sp>
        <p:nvSpPr>
          <p:cNvPr id="27" name="Rounded Rectangle 26"/>
          <p:cNvSpPr/>
          <p:nvPr/>
        </p:nvSpPr>
        <p:spPr>
          <a:xfrm>
            <a:off x="609600" y="4937761"/>
            <a:ext cx="10972800" cy="914400"/>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09600" y="4937761"/>
            <a:ext cx="68580" cy="914400"/>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47344" y="5212081"/>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30" name="TextBox 29"/>
          <p:cNvSpPr txBox="1"/>
          <p:nvPr/>
        </p:nvSpPr>
        <p:spPr>
          <a:xfrm>
            <a:off x="2484120" y="5047489"/>
            <a:ext cx="8823960" cy="361962"/>
          </a:xfrm>
          <a:prstGeom prst="rect">
            <a:avLst/>
          </a:prstGeom>
          <a:noFill/>
        </p:spPr>
        <p:txBody>
          <a:bodyPr wrap="square" anchor="t">
            <a:noAutofit/>
          </a:bodyPr>
          <a:lstStyle/>
          <a:p>
            <a:pPr algn="l"/>
            <a:r>
              <a:rPr sz="1700" b="1" i="0">
                <a:solidFill>
                  <a:srgbClr val="8F0072"/>
                </a:solidFill>
                <a:latin typeface="Amazon Ember Display"/>
              </a:rPr>
              <a:t>“must receive human approval before execution”</a:t>
            </a:r>
          </a:p>
        </p:txBody>
      </p:sp>
      <p:sp>
        <p:nvSpPr>
          <p:cNvPr id="31" name="TextBox 30"/>
          <p:cNvSpPr txBox="1"/>
          <p:nvPr/>
        </p:nvSpPr>
        <p:spPr>
          <a:xfrm>
            <a:off x="2484120" y="5394961"/>
            <a:ext cx="8823960" cy="361962"/>
          </a:xfrm>
          <a:prstGeom prst="rect">
            <a:avLst/>
          </a:prstGeom>
          <a:noFill/>
        </p:spPr>
        <p:txBody>
          <a:bodyPr wrap="square" anchor="t">
            <a:noAutofit/>
          </a:bodyPr>
          <a:lstStyle/>
          <a:p>
            <a:pPr algn="l"/>
            <a:r>
              <a:rPr sz="1700" b="0" i="0">
                <a:solidFill>
                  <a:srgbClr val="232B37"/>
                </a:solidFill>
                <a:latin typeface="Amazon Ember Display"/>
              </a:rPr>
              <a:t>→  Approval before an action needs a preventive control, not a detective 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a model call that fails in a new account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37413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development team builds an application that calls a specific foundation model in Amazon Bedrock. The team deploys the application in a new AWS account. Calls to the model fail, although the IAM role that the application assumes allows the bedrock:InvokeModel action for that model. The team must enable the application to call the model.</a:t>
            </a:r>
          </a:p>
          <a:p>
            <a:r>
              <a:rPr sz="1600" b="1">
                <a:solidFill>
                  <a:srgbClr val="232B37"/>
                </a:solidFill>
                <a:latin typeface="Amazon Ember Display"/>
              </a:rPr>
              <a:t>Which action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Attach a resource-based policy to the foundation model that grants the role permission to call it.</a:t>
            </a:r>
          </a:p>
          <a:p>
            <a:pPr marL="342900" indent="-342900">
              <a:spcBef>
                <a:spcPts val="600"/>
              </a:spcBef>
            </a:pPr>
            <a:r>
              <a:rPr sz="1600" b="0">
                <a:solidFill>
                  <a:srgbClr val="232B37"/>
                </a:solidFill>
                <a:latin typeface="Amazon Ember Display"/>
              </a:rPr>
              <a:t>B.  Request access to the foundation model in Amazon Bedrock for the Region that the application uses.</a:t>
            </a:r>
          </a:p>
          <a:p>
            <a:pPr marL="342900" indent="-342900">
              <a:spcBef>
                <a:spcPts val="600"/>
              </a:spcBef>
            </a:pPr>
            <a:r>
              <a:rPr sz="1600" b="0">
                <a:solidFill>
                  <a:srgbClr val="232B37"/>
                </a:solidFill>
                <a:latin typeface="Amazon Ember Display"/>
              </a:rPr>
              <a:t>C.  Purchase provisioned throughput for the foundation model so that the application can call it.</a:t>
            </a:r>
          </a:p>
          <a:p>
            <a:pPr marL="342900" indent="-342900">
              <a:spcBef>
                <a:spcPts val="600"/>
              </a:spcBef>
            </a:pPr>
            <a:r>
              <a:rPr sz="1600" b="0">
                <a:solidFill>
                  <a:srgbClr val="232B37"/>
                </a:solidFill>
                <a:latin typeface="Amazon Ember Display"/>
              </a:rPr>
              <a:t>D.  Add the bedrock:ListFoundationModels action to the role so that the role can call the model.</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a model call that fails in a new account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37413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development team builds an application that calls a specific foundation model in Amazon Bedrock. The team deploys the application in a new AWS account. Calls to the model fail, although the IAM role that the application assumes allows the bedrock:InvokeModel action for that model. The team must enable the application to call the model.</a:t>
            </a:r>
          </a:p>
          <a:p>
            <a:r>
              <a:rPr sz="1600" b="1">
                <a:solidFill>
                  <a:srgbClr val="232B37"/>
                </a:solidFill>
                <a:latin typeface="Amazon Ember Display"/>
              </a:rPr>
              <a:t>Which action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Attach a resource-based policy to the foundation model that grants the role permission to call it.</a:t>
            </a:r>
          </a:p>
          <a:p>
            <a:pPr marL="342900" indent="-342900">
              <a:spcBef>
                <a:spcPts val="600"/>
              </a:spcBef>
            </a:pPr>
            <a:r>
              <a:rPr sz="1600" b="0">
                <a:solidFill>
                  <a:srgbClr val="232B37"/>
                </a:solidFill>
                <a:latin typeface="Amazon Ember Display"/>
              </a:rPr>
              <a:t>B.  Request access to the foundation model in Amazon Bedrock for the Region that the application uses.</a:t>
            </a:r>
          </a:p>
          <a:p>
            <a:pPr marL="342900" indent="-342900">
              <a:spcBef>
                <a:spcPts val="600"/>
              </a:spcBef>
            </a:pPr>
            <a:r>
              <a:rPr sz="1600" b="0">
                <a:solidFill>
                  <a:srgbClr val="232B37"/>
                </a:solidFill>
                <a:latin typeface="Amazon Ember Display"/>
              </a:rPr>
              <a:t>C.  Purchase provisioned throughput for the foundation model so that the application can call it.</a:t>
            </a:r>
          </a:p>
          <a:p>
            <a:pPr marL="342900" indent="-342900">
              <a:spcBef>
                <a:spcPts val="600"/>
              </a:spcBef>
            </a:pPr>
            <a:r>
              <a:rPr sz="1600" b="0">
                <a:solidFill>
                  <a:srgbClr val="232B37"/>
                </a:solidFill>
                <a:latin typeface="Amazon Ember Display"/>
              </a:rPr>
              <a:t>D.  Add the bedrock:ListFoundationModels action to the role so that the role can call the model.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a model call that fails in a new account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7087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dirty="0">
                <a:solidFill>
                  <a:srgbClr val="232B37"/>
                </a:solidFill>
                <a:latin typeface="Amazon Ember Display"/>
              </a:rPr>
              <a:t>A development team builds an application that calls a specific foundation model in Amazon Bedrock. The team deploys the application in a new AWS account. Calls to the model fail, although the IAM role that the application assumes allows the </a:t>
            </a:r>
            <a:r>
              <a:rPr sz="1600" b="1" dirty="0" err="1">
                <a:solidFill>
                  <a:srgbClr val="232B37"/>
                </a:solidFill>
                <a:latin typeface="Amazon Ember Display"/>
              </a:rPr>
              <a:t>bedrock:InvokeModel</a:t>
            </a:r>
            <a:r>
              <a:rPr sz="1600" b="1" dirty="0">
                <a:solidFill>
                  <a:srgbClr val="232B37"/>
                </a:solidFill>
                <a:latin typeface="Amazon Ember Display"/>
              </a:rPr>
              <a:t> action for that model. The team must enable the application to call the model.</a:t>
            </a:r>
          </a:p>
          <a:p>
            <a:r>
              <a:rPr sz="1600" b="1" dirty="0">
                <a:solidFill>
                  <a:srgbClr val="232B37"/>
                </a:solidFill>
                <a:latin typeface="Amazon Ember Display"/>
              </a:rPr>
              <a:t>Which action will meet this requirement?</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Attach a resource-based policy to the foundation model that grants the role permission to call it.</a:t>
            </a:r>
          </a:p>
          <a:p>
            <a:pPr marL="342900" indent="-342900">
              <a:spcBef>
                <a:spcPts val="600"/>
              </a:spcBef>
            </a:pPr>
            <a:r>
              <a:rPr sz="1600" b="1" dirty="0">
                <a:solidFill>
                  <a:srgbClr val="2E7D32"/>
                </a:solidFill>
                <a:latin typeface="Amazon Ember Display"/>
              </a:rPr>
              <a:t>B.  Request access to the foundation model in Amazon Bedrock for the Region that the application uses.  [CORRECT]</a:t>
            </a:r>
          </a:p>
          <a:p>
            <a:pPr marL="342900" indent="-342900">
              <a:spcBef>
                <a:spcPts val="600"/>
              </a:spcBef>
            </a:pPr>
            <a:r>
              <a:rPr sz="1600" b="0" dirty="0">
                <a:solidFill>
                  <a:srgbClr val="232B37"/>
                </a:solidFill>
                <a:latin typeface="Amazon Ember Display"/>
              </a:rPr>
              <a:t>C.  Purchase provisioned throughput for the foundation model so that the application can call it.</a:t>
            </a:r>
          </a:p>
          <a:p>
            <a:pPr marL="342900" indent="-342900">
              <a:spcBef>
                <a:spcPts val="600"/>
              </a:spcBef>
            </a:pPr>
            <a:r>
              <a:rPr sz="1600" b="0" dirty="0">
                <a:solidFill>
                  <a:srgbClr val="232B37"/>
                </a:solidFill>
                <a:latin typeface="Amazon Ember Display"/>
              </a:rPr>
              <a:t>D.  Add the </a:t>
            </a:r>
            <a:r>
              <a:rPr sz="1600" b="0" dirty="0" err="1">
                <a:solidFill>
                  <a:srgbClr val="232B37"/>
                </a:solidFill>
                <a:latin typeface="Amazon Ember Display"/>
              </a:rPr>
              <a:t>bedrock:ListFoundationModels</a:t>
            </a:r>
            <a:r>
              <a:rPr sz="1600" b="0" dirty="0">
                <a:solidFill>
                  <a:srgbClr val="232B37"/>
                </a:solidFill>
                <a:latin typeface="Amazon Ember Display"/>
              </a:rPr>
              <a:t> action to the role so that the role can call the model.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6: a model call that fails in a new account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Request access to models</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Model access is an account-level grant, separate from the IAM action</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A foundation model takes no resource-based policy to attach</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Provisioned throughput buys capacity for a model you can use</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Listing models is not invoking one, and InvokeModel is allowed</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“allows the bedrock:InvokeModel action for that model”</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IAM allowing the call and the call still failing points outside IAM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personal data reaching the invocation log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33756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enables model invocation logging for an application that calls Amazon Bedrock. A compliance review finds that the prompts the application sends can contain customer personal data, and that this data is now written to the invocation logs. The company must ensure that the personal data is not stored in the invocation logs, and invocation logging must remain enabled.</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Remove the personal data from the prompt in the application before the prompt is sent to the model.</a:t>
            </a:r>
          </a:p>
          <a:p>
            <a:pPr marL="342900" indent="-342900">
              <a:spcBef>
                <a:spcPts val="600"/>
              </a:spcBef>
            </a:pPr>
            <a:r>
              <a:rPr sz="1600" b="0">
                <a:solidFill>
                  <a:srgbClr val="232B37"/>
                </a:solidFill>
                <a:latin typeface="Amazon Ember Display"/>
              </a:rPr>
              <a:t>B.  Encrypt the log destination with an AWS KMS customer managed key and restrict access to the key.</a:t>
            </a:r>
          </a:p>
          <a:p>
            <a:pPr marL="342900" indent="-342900">
              <a:spcBef>
                <a:spcPts val="600"/>
              </a:spcBef>
            </a:pPr>
            <a:r>
              <a:rPr sz="1600" b="0">
                <a:solidFill>
                  <a:srgbClr val="232B37"/>
                </a:solidFill>
                <a:latin typeface="Amazon Ember Display"/>
              </a:rPr>
              <a:t>C.  Change the invocation logging destination from Amazon CloudWatch Logs to an Amazon S3 bucket.</a:t>
            </a:r>
          </a:p>
          <a:p>
            <a:pPr marL="342900" indent="-342900">
              <a:spcBef>
                <a:spcPts val="600"/>
              </a:spcBef>
            </a:pPr>
            <a:r>
              <a:rPr sz="1600" b="0">
                <a:solidFill>
                  <a:srgbClr val="232B37"/>
                </a:solidFill>
                <a:latin typeface="Amazon Ember Display"/>
              </a:rPr>
              <a:t>D.  Apply a policy to the log destination that grants read access only to the compliance team role.</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personal data reaching the invocation log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5"/>
            <a:ext cx="11082528" cy="3337560"/>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a:solidFill>
                  <a:srgbClr val="232B37"/>
                </a:solidFill>
                <a:latin typeface="Amazon Ember Display"/>
              </a:rPr>
              <a:t>A company enables model invocation logging for an application that calls Amazon Bedrock. A compliance review finds that the prompts the application sends can contain customer personal data, and that this data is now written to the invocation logs. The company must ensure that the personal data is not stored in the invocation logs, and invocation logging must remain enabled.</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Remove the personal data from the prompt in the application before the prompt is sent to the model.</a:t>
            </a:r>
          </a:p>
          <a:p>
            <a:pPr marL="342900" indent="-342900">
              <a:spcBef>
                <a:spcPts val="600"/>
              </a:spcBef>
            </a:pPr>
            <a:r>
              <a:rPr sz="1600" b="0">
                <a:solidFill>
                  <a:srgbClr val="232B37"/>
                </a:solidFill>
                <a:latin typeface="Amazon Ember Display"/>
              </a:rPr>
              <a:t>B.  Encrypt the log destination with an AWS KMS customer managed key and restrict access to the key.</a:t>
            </a:r>
          </a:p>
          <a:p>
            <a:pPr marL="342900" indent="-342900">
              <a:spcBef>
                <a:spcPts val="600"/>
              </a:spcBef>
            </a:pPr>
            <a:r>
              <a:rPr sz="1600" b="0">
                <a:solidFill>
                  <a:srgbClr val="232B37"/>
                </a:solidFill>
                <a:latin typeface="Amazon Ember Display"/>
              </a:rPr>
              <a:t>C.  Change the invocation logging destination from Amazon CloudWatch Logs to an Amazon S3 bucket.</a:t>
            </a:r>
          </a:p>
          <a:p>
            <a:pPr marL="342900" indent="-342900">
              <a:spcBef>
                <a:spcPts val="600"/>
              </a:spcBef>
            </a:pPr>
            <a:r>
              <a:rPr sz="1600" b="0">
                <a:solidFill>
                  <a:srgbClr val="232B37"/>
                </a:solidFill>
                <a:latin typeface="Amazon Ember Display"/>
              </a:rPr>
              <a:t>D.  Apply a policy to the log destination that grants read access only to the compliance team role.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personal data reaching the invocation log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060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2820009"/>
          </a:xfrm>
          <a:prstGeom prst="rect">
            <a:avLst/>
          </a:prstGeom>
          <a:noFill/>
        </p:spPr>
        <p:txBody>
          <a:bodyPr wrap="square" anchor="t">
            <a:noAutofit/>
          </a:bodyPr>
          <a:lstStyle/>
          <a:p>
            <a:r>
              <a:rPr sz="1600" b="1" dirty="0">
                <a:solidFill>
                  <a:srgbClr val="232B37"/>
                </a:solidFill>
                <a:latin typeface="Amazon Ember Display"/>
              </a:rPr>
              <a:t>A company enables model invocation logging for an application that calls Amazon Bedrock. A compliance review finds that the prompts the application sends can contain customer personal data, and that this data is now written to the invocation logs. The company must ensure that the personal data is not stored in the invocation logs, and invocation logging must remain enabled.</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1" dirty="0">
                <a:solidFill>
                  <a:srgbClr val="2E7D32"/>
                </a:solidFill>
                <a:latin typeface="Amazon Ember Display"/>
              </a:rPr>
              <a:t>A.  Remove the personal data from the prompt in the application before the prompt is sent to the model.  [CORRECT]</a:t>
            </a:r>
          </a:p>
          <a:p>
            <a:pPr marL="342900" indent="-342900">
              <a:spcBef>
                <a:spcPts val="600"/>
              </a:spcBef>
            </a:pPr>
            <a:r>
              <a:rPr sz="1600" b="0" dirty="0">
                <a:solidFill>
                  <a:srgbClr val="232B37"/>
                </a:solidFill>
                <a:latin typeface="Amazon Ember Display"/>
              </a:rPr>
              <a:t>B.  Encrypt the log destination with an AWS KMS customer managed key and restrict access to the key.</a:t>
            </a:r>
          </a:p>
          <a:p>
            <a:pPr marL="342900" indent="-342900">
              <a:spcBef>
                <a:spcPts val="600"/>
              </a:spcBef>
            </a:pPr>
            <a:r>
              <a:rPr sz="1600" b="0" dirty="0">
                <a:solidFill>
                  <a:srgbClr val="232B37"/>
                </a:solidFill>
                <a:latin typeface="Amazon Ember Display"/>
              </a:rPr>
              <a:t>C.  Change the invocation logging destination from Amazon CloudWatch Logs to an Amazon S3 bucket.</a:t>
            </a:r>
          </a:p>
          <a:p>
            <a:pPr marL="342900" indent="-342900">
              <a:spcBef>
                <a:spcPts val="600"/>
              </a:spcBef>
            </a:pPr>
            <a:r>
              <a:rPr sz="1600" b="0" dirty="0">
                <a:solidFill>
                  <a:srgbClr val="232B37"/>
                </a:solidFill>
                <a:latin typeface="Amazon Ember Display"/>
              </a:rPr>
              <a:t>D.  Apply a policy to the log destination that grants read access only to the compliance team role.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7: personal data reaching the invocation log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7494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Monitor model invocation using CloudWatch…</a:t>
            </a:r>
          </a:p>
        </p:txBody>
      </p:sp>
      <p:sp>
        <p:nvSpPr>
          <p:cNvPr id="5" name="TextBox 4"/>
          <p:cNvSpPr txBox="1"/>
          <p:nvPr/>
        </p:nvSpPr>
        <p:spPr>
          <a:xfrm>
            <a:off x="612648" y="1115568"/>
            <a:ext cx="7315200" cy="304723"/>
          </a:xfrm>
          <a:prstGeom prst="rect">
            <a:avLst/>
          </a:prstGeom>
          <a:noFill/>
        </p:spPr>
        <p:txBody>
          <a:bodyPr wrap="square" tIns="9144" bIns="9144" anchor="t">
            <a:noAutofit/>
          </a:bodyPr>
          <a:lstStyle/>
          <a:p>
            <a:pPr algn="l"/>
            <a:r>
              <a:rPr sz="1800" b="1" i="0">
                <a:solidFill>
                  <a:srgbClr val="8F0072"/>
                </a:solidFill>
                <a:latin typeface="Amazon Ember Display"/>
              </a:rPr>
              <a:t>WHY THE ANSWER IS A</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41528"/>
          </a:xfrm>
          <a:prstGeom prst="rect">
            <a:avLst/>
          </a:prstGeom>
          <a:noFill/>
        </p:spPr>
        <p:txBody>
          <a:bodyPr wrap="square" anchor="t">
            <a:noAutofit/>
          </a:bodyPr>
          <a:lstStyle/>
          <a:p>
            <a:pPr algn="ctr"/>
            <a:r>
              <a:rPr sz="2200" b="1" i="0">
                <a:solidFill>
                  <a:srgbClr val="FFFFFF"/>
                </a:solidFill>
                <a:latin typeface="Amazon Ember Display"/>
              </a:rPr>
              <a:t>A</a:t>
            </a:r>
          </a:p>
        </p:txBody>
      </p:sp>
      <p:sp>
        <p:nvSpPr>
          <p:cNvPr id="9" name="TextBox 8"/>
          <p:cNvSpPr txBox="1"/>
          <p:nvPr/>
        </p:nvSpPr>
        <p:spPr>
          <a:xfrm>
            <a:off x="1545336" y="1810512"/>
            <a:ext cx="9784080" cy="409702"/>
          </a:xfrm>
          <a:prstGeom prst="rect">
            <a:avLst/>
          </a:prstGeom>
          <a:noFill/>
        </p:spPr>
        <p:txBody>
          <a:bodyPr wrap="square" anchor="t">
            <a:noAutofit/>
          </a:bodyPr>
          <a:lstStyle/>
          <a:p>
            <a:pPr algn="l"/>
            <a:r>
              <a:rPr sz="2000" b="1" i="0">
                <a:solidFill>
                  <a:srgbClr val="232B37"/>
                </a:solidFill>
                <a:latin typeface="Amazon Ember Display"/>
              </a:rPr>
              <a:t>Only the prompt never containing the data keeps it out of the log</a:t>
            </a:r>
          </a:p>
        </p:txBody>
      </p:sp>
      <p:sp>
        <p:nvSpPr>
          <p:cNvPr id="10" name="TextBox 9"/>
          <p:cNvSpPr txBox="1"/>
          <p:nvPr/>
        </p:nvSpPr>
        <p:spPr>
          <a:xfrm>
            <a:off x="612648" y="2560320"/>
            <a:ext cx="5486400" cy="256032"/>
          </a:xfrm>
          <a:prstGeom prst="rect">
            <a:avLst/>
          </a:prstGeom>
          <a:noFill/>
        </p:spPr>
        <p:txBody>
          <a:bodyPr wrap="square" tIns="9144" bIns="9144" anchor="t">
            <a:noAutofit/>
          </a:bodyPr>
          <a:lstStyle/>
          <a:p>
            <a:pPr algn="l"/>
            <a:r>
              <a:rPr sz="1600" b="1" i="0">
                <a:solidFill>
                  <a:srgbClr val="5A6B7B"/>
                </a:solidFill>
                <a:latin typeface="Amazon Ember Display"/>
              </a:rPr>
              <a:t>RULED OUT</a:t>
            </a:r>
          </a:p>
        </p:txBody>
      </p:sp>
      <p:sp>
        <p:nvSpPr>
          <p:cNvPr id="11" name="Rounded Rectangle 10"/>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758952" y="297180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 y="2990088"/>
            <a:ext cx="475488" cy="346049"/>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4" name="TextBox 13"/>
          <p:cNvSpPr txBox="1"/>
          <p:nvPr/>
        </p:nvSpPr>
        <p:spPr>
          <a:xfrm>
            <a:off x="1216152" y="2999232"/>
            <a:ext cx="10186416" cy="361962"/>
          </a:xfrm>
          <a:prstGeom prst="rect">
            <a:avLst/>
          </a:prstGeom>
          <a:noFill/>
        </p:spPr>
        <p:txBody>
          <a:bodyPr wrap="square" anchor="t">
            <a:noAutofit/>
          </a:bodyPr>
          <a:lstStyle/>
          <a:p>
            <a:pPr algn="l"/>
            <a:r>
              <a:rPr sz="1700" b="0" i="0">
                <a:solidFill>
                  <a:srgbClr val="232B37"/>
                </a:solidFill>
                <a:latin typeface="Amazon Ember Display"/>
              </a:rPr>
              <a:t>Encryption protects the log; the personal data is still in it</a:t>
            </a:r>
          </a:p>
        </p:txBody>
      </p:sp>
      <p:sp>
        <p:nvSpPr>
          <p:cNvPr id="15" name="Rounded Rectangle 14"/>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758952" y="356616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 y="3584448"/>
            <a:ext cx="475488" cy="346049"/>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8" name="TextBox 17"/>
          <p:cNvSpPr txBox="1"/>
          <p:nvPr/>
        </p:nvSpPr>
        <p:spPr>
          <a:xfrm>
            <a:off x="1216152" y="3593592"/>
            <a:ext cx="10186416" cy="361962"/>
          </a:xfrm>
          <a:prstGeom prst="rect">
            <a:avLst/>
          </a:prstGeom>
          <a:noFill/>
        </p:spPr>
        <p:txBody>
          <a:bodyPr wrap="square" anchor="t">
            <a:noAutofit/>
          </a:bodyPr>
          <a:lstStyle/>
          <a:p>
            <a:pPr algn="l"/>
            <a:r>
              <a:rPr sz="1700" b="0" i="0">
                <a:solidFill>
                  <a:srgbClr val="232B37"/>
                </a:solidFill>
                <a:latin typeface="Amazon Ember Display"/>
              </a:rPr>
              <a:t>The destination changes where it lands, not what it contains</a:t>
            </a:r>
          </a:p>
        </p:txBody>
      </p:sp>
      <p:sp>
        <p:nvSpPr>
          <p:cNvPr id="19" name="Rounded Rectangle 18"/>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758952" y="4160520"/>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6656" y="4178807"/>
            <a:ext cx="475488" cy="346049"/>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2" name="TextBox 21"/>
          <p:cNvSpPr txBox="1"/>
          <p:nvPr/>
        </p:nvSpPr>
        <p:spPr>
          <a:xfrm>
            <a:off x="1216152" y="4187951"/>
            <a:ext cx="10186416" cy="361962"/>
          </a:xfrm>
          <a:prstGeom prst="rect">
            <a:avLst/>
          </a:prstGeom>
          <a:noFill/>
        </p:spPr>
        <p:txBody>
          <a:bodyPr wrap="square" anchor="t">
            <a:noAutofit/>
          </a:bodyPr>
          <a:lstStyle/>
          <a:p>
            <a:pPr algn="l"/>
            <a:r>
              <a:rPr sz="1700" b="0" i="0">
                <a:solidFill>
                  <a:srgbClr val="232B37"/>
                </a:solidFill>
                <a:latin typeface="Amazon Ember Display"/>
              </a:rPr>
              <a:t>Restricting readers is access control, not removal</a:t>
            </a:r>
          </a:p>
        </p:txBody>
      </p:sp>
      <p:sp>
        <p:nvSpPr>
          <p:cNvPr id="23" name="Rounded Rectangle 22"/>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50392" y="4992624"/>
            <a:ext cx="1600200" cy="346049"/>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6" name="TextBox 25"/>
          <p:cNvSpPr txBox="1"/>
          <p:nvPr/>
        </p:nvSpPr>
        <p:spPr>
          <a:xfrm>
            <a:off x="2487168" y="4828032"/>
            <a:ext cx="8823960" cy="361962"/>
          </a:xfrm>
          <a:prstGeom prst="rect">
            <a:avLst/>
          </a:prstGeom>
          <a:noFill/>
        </p:spPr>
        <p:txBody>
          <a:bodyPr wrap="square" anchor="t">
            <a:noAutofit/>
          </a:bodyPr>
          <a:lstStyle/>
          <a:p>
            <a:pPr algn="l"/>
            <a:r>
              <a:rPr sz="1700" b="1" i="0">
                <a:solidFill>
                  <a:srgbClr val="8F0072"/>
                </a:solidFill>
                <a:latin typeface="Amazon Ember Display"/>
              </a:rPr>
              <a:t>“invocation logging must remain enabled”</a:t>
            </a:r>
          </a:p>
        </p:txBody>
      </p:sp>
      <p:sp>
        <p:nvSpPr>
          <p:cNvPr id="27" name="TextBox 26"/>
          <p:cNvSpPr txBox="1"/>
          <p:nvPr/>
        </p:nvSpPr>
        <p:spPr>
          <a:xfrm>
            <a:off x="2487168" y="5175504"/>
            <a:ext cx="8823960" cy="361962"/>
          </a:xfrm>
          <a:prstGeom prst="rect">
            <a:avLst/>
          </a:prstGeom>
          <a:noFill/>
        </p:spPr>
        <p:txBody>
          <a:bodyPr wrap="square" anchor="t">
            <a:noAutofit/>
          </a:bodyPr>
          <a:lstStyle/>
          <a:p>
            <a:pPr algn="l"/>
            <a:r>
              <a:rPr sz="1700" b="0" i="0">
                <a:solidFill>
                  <a:srgbClr val="232B37"/>
                </a:solidFill>
                <a:latin typeface="Amazon Ember Display"/>
              </a:rPr>
              <a:t>→  Data that must not be stored has to be removed before it is sent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Q&amp;A time</a:t>
            </a:r>
          </a:p>
        </p:txBody>
      </p:sp>
      <p:sp>
        <p:nvSpPr>
          <p:cNvPr id="3" name="Text Placeholder 2"/>
          <p:cNvSpPr>
            <a:spLocks noGrp="1"/>
          </p:cNvSpPr>
          <p:nvPr>
            <p:ph type="body" sz="quarter" idx="11"/>
          </p:nvPr>
        </p:nvSpPr>
        <p:spPr>
          <a:xfrm>
            <a:off x="322916" y="2434551"/>
            <a:ext cx="3492500" cy="377875"/>
          </a:xfrm>
        </p:spPr>
        <p:txBody>
          <a:bodyPr/>
          <a:lstStyle/>
          <a:p>
            <a:r>
              <a:rPr sz="1800" b="1">
                <a:solidFill>
                  <a:srgbClr val="FF57E9"/>
                </a:solidFill>
                <a:latin typeface="Amazon Ember Display"/>
              </a:rPr>
              <a:t>QUESTIONS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After the exam, prove it in a live AWS account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ws-serverless-demonstrated-badge.png"/>
          <p:cNvPicPr>
            <a:picLocks noChangeAspect="1"/>
          </p:cNvPicPr>
          <p:nvPr/>
        </p:nvPicPr>
        <p:blipFill>
          <a:blip r:embed="rId3"/>
          <a:stretch>
            <a:fillRect/>
          </a:stretch>
        </p:blipFill>
        <p:spPr>
          <a:xfrm>
            <a:off x="704088" y="1433426"/>
            <a:ext cx="1408176" cy="1408176"/>
          </a:xfrm>
          <a:prstGeom prst="rect">
            <a:avLst/>
          </a:prstGeom>
        </p:spPr>
      </p:pic>
      <p:sp>
        <p:nvSpPr>
          <p:cNvPr id="5" name="TextBox 4"/>
          <p:cNvSpPr txBox="1"/>
          <p:nvPr/>
        </p:nvSpPr>
        <p:spPr>
          <a:xfrm>
            <a:off x="2112264" y="1479146"/>
            <a:ext cx="7863840" cy="377875"/>
          </a:xfrm>
          <a:prstGeom prst="rect">
            <a:avLst/>
          </a:prstGeom>
          <a:noFill/>
        </p:spPr>
        <p:txBody>
          <a:bodyPr wrap="square" anchor="ctr">
            <a:noAutofit/>
          </a:bodyPr>
          <a:lstStyle/>
          <a:p>
            <a:pPr algn="l"/>
            <a:r>
              <a:rPr sz="1800" b="1" i="0">
                <a:solidFill>
                  <a:srgbClr val="5A6B7B"/>
                </a:solidFill>
                <a:latin typeface="Amazon Ember Display"/>
              </a:rPr>
              <a:t>AWS MICROCREDENTIAL</a:t>
            </a:r>
          </a:p>
        </p:txBody>
      </p:sp>
      <p:sp>
        <p:nvSpPr>
          <p:cNvPr id="6" name="TextBox 5"/>
          <p:cNvSpPr txBox="1"/>
          <p:nvPr/>
        </p:nvSpPr>
        <p:spPr>
          <a:xfrm>
            <a:off x="2112264" y="1857021"/>
            <a:ext cx="8595360" cy="537006"/>
          </a:xfrm>
          <a:prstGeom prst="rect">
            <a:avLst/>
          </a:prstGeom>
          <a:noFill/>
        </p:spPr>
        <p:txBody>
          <a:bodyPr wrap="square" anchor="ctr">
            <a:noAutofit/>
          </a:bodyPr>
          <a:lstStyle/>
          <a:p>
            <a:pPr algn="l"/>
            <a:r>
              <a:rPr sz="2800" b="1" i="0">
                <a:solidFill>
                  <a:srgbClr val="8F0072"/>
                </a:solidFill>
                <a:latin typeface="Amazon Ember Display"/>
              </a:rPr>
              <a:t>AWS Serverless Demonstrated</a:t>
            </a:r>
          </a:p>
        </p:txBody>
      </p:sp>
      <p:sp>
        <p:nvSpPr>
          <p:cNvPr id="7" name="TextBox 6"/>
          <p:cNvSpPr txBox="1"/>
          <p:nvPr/>
        </p:nvSpPr>
        <p:spPr>
          <a:xfrm>
            <a:off x="2112264" y="2394028"/>
            <a:ext cx="8595360" cy="346049"/>
          </a:xfrm>
          <a:prstGeom prst="rect">
            <a:avLst/>
          </a:prstGeom>
          <a:noFill/>
        </p:spPr>
        <p:txBody>
          <a:bodyPr wrap="square" anchor="ctr">
            <a:noAutofit/>
          </a:bodyPr>
          <a:lstStyle/>
          <a:p>
            <a:pPr algn="l"/>
            <a:r>
              <a:rPr sz="1600" b="0" i="0">
                <a:solidFill>
                  <a:srgbClr val="5A6B7B"/>
                </a:solidFill>
                <a:latin typeface="Amazon Ember Display"/>
              </a:rPr>
              <a:t>a hands-on exam lab in a live, AWS-provisioned environment</a:t>
            </a:r>
          </a:p>
        </p:txBody>
      </p:sp>
      <p:sp>
        <p:nvSpPr>
          <p:cNvPr id="8" name="Rounded Rectangle 7"/>
          <p:cNvSpPr/>
          <p:nvPr/>
        </p:nvSpPr>
        <p:spPr>
          <a:xfrm>
            <a:off x="612648" y="2841602"/>
            <a:ext cx="5321808" cy="1580997"/>
          </a:xfrm>
          <a:prstGeom prst="roundRect">
            <a:avLst>
              <a:gd name="adj" fmla="val 694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95528" y="2896466"/>
            <a:ext cx="4956048" cy="377875"/>
          </a:xfrm>
          <a:prstGeom prst="rect">
            <a:avLst/>
          </a:prstGeom>
          <a:noFill/>
        </p:spPr>
        <p:txBody>
          <a:bodyPr wrap="square" anchor="ctr">
            <a:noAutofit/>
          </a:bodyPr>
          <a:lstStyle/>
          <a:p>
            <a:pPr algn="l"/>
            <a:r>
              <a:rPr sz="1800" b="1" i="0">
                <a:solidFill>
                  <a:srgbClr val="5A6B7B"/>
                </a:solidFill>
                <a:latin typeface="Amazon Ember Display"/>
              </a:rPr>
              <a:t>YOUR CERTIFICATION EXAM</a:t>
            </a:r>
          </a:p>
        </p:txBody>
      </p:sp>
      <p:sp>
        <p:nvSpPr>
          <p:cNvPr id="10" name="TextBox 9"/>
          <p:cNvSpPr txBox="1"/>
          <p:nvPr/>
        </p:nvSpPr>
        <p:spPr>
          <a:xfrm>
            <a:off x="795528" y="3274341"/>
            <a:ext cx="1737360" cy="346049"/>
          </a:xfrm>
          <a:prstGeom prst="rect">
            <a:avLst/>
          </a:prstGeom>
          <a:noFill/>
        </p:spPr>
        <p:txBody>
          <a:bodyPr wrap="square" anchor="ctr">
            <a:noAutofit/>
          </a:bodyPr>
          <a:lstStyle/>
          <a:p>
            <a:pPr algn="l"/>
            <a:r>
              <a:rPr sz="1600" b="0" i="0">
                <a:solidFill>
                  <a:srgbClr val="5A6B7B"/>
                </a:solidFill>
                <a:latin typeface="Amazon Ember Display"/>
              </a:rPr>
              <a:t>Scope</a:t>
            </a:r>
          </a:p>
        </p:txBody>
      </p:sp>
      <p:sp>
        <p:nvSpPr>
          <p:cNvPr id="11" name="TextBox 10"/>
          <p:cNvSpPr txBox="1"/>
          <p:nvPr/>
        </p:nvSpPr>
        <p:spPr>
          <a:xfrm>
            <a:off x="2624328" y="3274341"/>
            <a:ext cx="3127248" cy="346049"/>
          </a:xfrm>
          <a:prstGeom prst="rect">
            <a:avLst/>
          </a:prstGeom>
          <a:noFill/>
        </p:spPr>
        <p:txBody>
          <a:bodyPr wrap="square" anchor="ctr">
            <a:noAutofit/>
          </a:bodyPr>
          <a:lstStyle/>
          <a:p>
            <a:pPr algn="l"/>
            <a:r>
              <a:rPr sz="1600" b="0" i="0">
                <a:solidFill>
                  <a:srgbClr val="5A6B7B"/>
                </a:solidFill>
                <a:latin typeface="Amazon Ember Display"/>
              </a:rPr>
              <a:t>Role-based</a:t>
            </a:r>
          </a:p>
        </p:txBody>
      </p:sp>
      <p:sp>
        <p:nvSpPr>
          <p:cNvPr id="12" name="TextBox 11"/>
          <p:cNvSpPr txBox="1"/>
          <p:nvPr/>
        </p:nvSpPr>
        <p:spPr>
          <a:xfrm>
            <a:off x="795528" y="3620391"/>
            <a:ext cx="1737360" cy="346049"/>
          </a:xfrm>
          <a:prstGeom prst="rect">
            <a:avLst/>
          </a:prstGeom>
          <a:noFill/>
        </p:spPr>
        <p:txBody>
          <a:bodyPr wrap="square" anchor="ctr">
            <a:noAutofit/>
          </a:bodyPr>
          <a:lstStyle/>
          <a:p>
            <a:pPr algn="l"/>
            <a:r>
              <a:rPr sz="1600" b="0" i="0">
                <a:solidFill>
                  <a:srgbClr val="5A6B7B"/>
                </a:solidFill>
                <a:latin typeface="Amazon Ember Display"/>
              </a:rPr>
              <a:t>Measurement</a:t>
            </a:r>
          </a:p>
        </p:txBody>
      </p:sp>
      <p:sp>
        <p:nvSpPr>
          <p:cNvPr id="13" name="TextBox 12"/>
          <p:cNvSpPr txBox="1"/>
          <p:nvPr/>
        </p:nvSpPr>
        <p:spPr>
          <a:xfrm>
            <a:off x="2624328" y="3620391"/>
            <a:ext cx="3127248" cy="346049"/>
          </a:xfrm>
          <a:prstGeom prst="rect">
            <a:avLst/>
          </a:prstGeom>
          <a:noFill/>
        </p:spPr>
        <p:txBody>
          <a:bodyPr wrap="square" anchor="ctr">
            <a:noAutofit/>
          </a:bodyPr>
          <a:lstStyle/>
          <a:p>
            <a:pPr algn="l"/>
            <a:r>
              <a:rPr sz="1600" b="0" i="0">
                <a:solidFill>
                  <a:srgbClr val="5A6B7B"/>
                </a:solidFill>
                <a:latin typeface="Amazon Ember Display"/>
              </a:rPr>
              <a:t>Breadth of skills</a:t>
            </a:r>
          </a:p>
        </p:txBody>
      </p:sp>
      <p:sp>
        <p:nvSpPr>
          <p:cNvPr id="14" name="TextBox 13"/>
          <p:cNvSpPr txBox="1"/>
          <p:nvPr/>
        </p:nvSpPr>
        <p:spPr>
          <a:xfrm>
            <a:off x="795528" y="3966441"/>
            <a:ext cx="1737360" cy="346049"/>
          </a:xfrm>
          <a:prstGeom prst="rect">
            <a:avLst/>
          </a:prstGeom>
          <a:noFill/>
        </p:spPr>
        <p:txBody>
          <a:bodyPr wrap="square" anchor="ctr">
            <a:noAutofit/>
          </a:bodyPr>
          <a:lstStyle/>
          <a:p>
            <a:pPr algn="l"/>
            <a:r>
              <a:rPr sz="1600" b="0" i="0">
                <a:solidFill>
                  <a:srgbClr val="5A6B7B"/>
                </a:solidFill>
                <a:latin typeface="Amazon Ember Display"/>
              </a:rPr>
              <a:t>Question type</a:t>
            </a:r>
          </a:p>
        </p:txBody>
      </p:sp>
      <p:sp>
        <p:nvSpPr>
          <p:cNvPr id="15" name="TextBox 14"/>
          <p:cNvSpPr txBox="1"/>
          <p:nvPr/>
        </p:nvSpPr>
        <p:spPr>
          <a:xfrm>
            <a:off x="2624328" y="3966441"/>
            <a:ext cx="3127248" cy="346049"/>
          </a:xfrm>
          <a:prstGeom prst="rect">
            <a:avLst/>
          </a:prstGeom>
          <a:noFill/>
        </p:spPr>
        <p:txBody>
          <a:bodyPr wrap="square" anchor="ctr">
            <a:noAutofit/>
          </a:bodyPr>
          <a:lstStyle/>
          <a:p>
            <a:pPr algn="l"/>
            <a:r>
              <a:rPr sz="1600" b="0" i="0">
                <a:solidFill>
                  <a:srgbClr val="5A6B7B"/>
                </a:solidFill>
                <a:latin typeface="Amazon Ember Display"/>
              </a:rPr>
              <a:t>Multiple choice</a:t>
            </a:r>
          </a:p>
        </p:txBody>
      </p:sp>
      <p:sp>
        <p:nvSpPr>
          <p:cNvPr id="16" name="Rounded Rectangle 15"/>
          <p:cNvSpPr/>
          <p:nvPr/>
        </p:nvSpPr>
        <p:spPr>
          <a:xfrm>
            <a:off x="6254496" y="2841602"/>
            <a:ext cx="5321808" cy="1580997"/>
          </a:xfrm>
          <a:prstGeom prst="roundRect">
            <a:avLst>
              <a:gd name="adj" fmla="val 694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37376" y="2896466"/>
            <a:ext cx="4956048" cy="377875"/>
          </a:xfrm>
          <a:prstGeom prst="rect">
            <a:avLst/>
          </a:prstGeom>
          <a:noFill/>
        </p:spPr>
        <p:txBody>
          <a:bodyPr wrap="square" anchor="ctr">
            <a:noAutofit/>
          </a:bodyPr>
          <a:lstStyle/>
          <a:p>
            <a:pPr algn="l"/>
            <a:r>
              <a:rPr sz="1800" b="1" i="0">
                <a:solidFill>
                  <a:srgbClr val="8F0072"/>
                </a:solidFill>
                <a:latin typeface="Amazon Ember Display"/>
              </a:rPr>
              <a:t>AWS SERVERLESS DEMONSTRATED</a:t>
            </a:r>
          </a:p>
        </p:txBody>
      </p:sp>
      <p:sp>
        <p:nvSpPr>
          <p:cNvPr id="18" name="TextBox 17"/>
          <p:cNvSpPr txBox="1"/>
          <p:nvPr/>
        </p:nvSpPr>
        <p:spPr>
          <a:xfrm>
            <a:off x="6437376" y="3274341"/>
            <a:ext cx="1737360" cy="346049"/>
          </a:xfrm>
          <a:prstGeom prst="rect">
            <a:avLst/>
          </a:prstGeom>
          <a:noFill/>
        </p:spPr>
        <p:txBody>
          <a:bodyPr wrap="square" anchor="ctr">
            <a:noAutofit/>
          </a:bodyPr>
          <a:lstStyle/>
          <a:p>
            <a:pPr algn="l"/>
            <a:r>
              <a:rPr sz="1600" b="0" i="0">
                <a:solidFill>
                  <a:srgbClr val="5A6B7B"/>
                </a:solidFill>
                <a:latin typeface="Amazon Ember Display"/>
              </a:rPr>
              <a:t>Scope</a:t>
            </a:r>
          </a:p>
        </p:txBody>
      </p:sp>
      <p:sp>
        <p:nvSpPr>
          <p:cNvPr id="19" name="TextBox 18"/>
          <p:cNvSpPr txBox="1"/>
          <p:nvPr/>
        </p:nvSpPr>
        <p:spPr>
          <a:xfrm>
            <a:off x="8266175" y="3274341"/>
            <a:ext cx="3127248" cy="346049"/>
          </a:xfrm>
          <a:prstGeom prst="rect">
            <a:avLst/>
          </a:prstGeom>
          <a:noFill/>
        </p:spPr>
        <p:txBody>
          <a:bodyPr wrap="square" anchor="ctr">
            <a:noAutofit/>
          </a:bodyPr>
          <a:lstStyle/>
          <a:p>
            <a:pPr algn="l"/>
            <a:r>
              <a:rPr sz="1600" b="1" i="0">
                <a:solidFill>
                  <a:srgbClr val="8F0072"/>
                </a:solidFill>
                <a:latin typeface="Amazon Ember Display"/>
              </a:rPr>
              <a:t>Topic-based</a:t>
            </a:r>
          </a:p>
        </p:txBody>
      </p:sp>
      <p:sp>
        <p:nvSpPr>
          <p:cNvPr id="20" name="TextBox 19"/>
          <p:cNvSpPr txBox="1"/>
          <p:nvPr/>
        </p:nvSpPr>
        <p:spPr>
          <a:xfrm>
            <a:off x="6437376" y="3620391"/>
            <a:ext cx="1737360" cy="346049"/>
          </a:xfrm>
          <a:prstGeom prst="rect">
            <a:avLst/>
          </a:prstGeom>
          <a:noFill/>
        </p:spPr>
        <p:txBody>
          <a:bodyPr wrap="square" anchor="ctr">
            <a:noAutofit/>
          </a:bodyPr>
          <a:lstStyle/>
          <a:p>
            <a:pPr algn="l"/>
            <a:r>
              <a:rPr sz="1600" b="0" i="0">
                <a:solidFill>
                  <a:srgbClr val="5A6B7B"/>
                </a:solidFill>
                <a:latin typeface="Amazon Ember Display"/>
              </a:rPr>
              <a:t>Measurement</a:t>
            </a:r>
          </a:p>
        </p:txBody>
      </p:sp>
      <p:sp>
        <p:nvSpPr>
          <p:cNvPr id="21" name="TextBox 20"/>
          <p:cNvSpPr txBox="1"/>
          <p:nvPr/>
        </p:nvSpPr>
        <p:spPr>
          <a:xfrm>
            <a:off x="8266175" y="3620391"/>
            <a:ext cx="3127248" cy="346049"/>
          </a:xfrm>
          <a:prstGeom prst="rect">
            <a:avLst/>
          </a:prstGeom>
          <a:noFill/>
        </p:spPr>
        <p:txBody>
          <a:bodyPr wrap="square" anchor="ctr">
            <a:noAutofit/>
          </a:bodyPr>
          <a:lstStyle/>
          <a:p>
            <a:pPr algn="l"/>
            <a:r>
              <a:rPr sz="1600" b="1" i="0">
                <a:solidFill>
                  <a:srgbClr val="8F0072"/>
                </a:solidFill>
                <a:latin typeface="Amazon Ember Display"/>
              </a:rPr>
              <a:t>Depth of skills</a:t>
            </a:r>
          </a:p>
        </p:txBody>
      </p:sp>
      <p:sp>
        <p:nvSpPr>
          <p:cNvPr id="22" name="TextBox 21"/>
          <p:cNvSpPr txBox="1"/>
          <p:nvPr/>
        </p:nvSpPr>
        <p:spPr>
          <a:xfrm>
            <a:off x="6437376" y="3966441"/>
            <a:ext cx="1737360" cy="346049"/>
          </a:xfrm>
          <a:prstGeom prst="rect">
            <a:avLst/>
          </a:prstGeom>
          <a:noFill/>
        </p:spPr>
        <p:txBody>
          <a:bodyPr wrap="square" anchor="ctr">
            <a:noAutofit/>
          </a:bodyPr>
          <a:lstStyle/>
          <a:p>
            <a:pPr algn="l"/>
            <a:r>
              <a:rPr sz="1600" b="0" i="0">
                <a:solidFill>
                  <a:srgbClr val="5A6B7B"/>
                </a:solidFill>
                <a:latin typeface="Amazon Ember Display"/>
              </a:rPr>
              <a:t>Question type</a:t>
            </a:r>
          </a:p>
        </p:txBody>
      </p:sp>
      <p:sp>
        <p:nvSpPr>
          <p:cNvPr id="23" name="TextBox 22"/>
          <p:cNvSpPr txBox="1"/>
          <p:nvPr/>
        </p:nvSpPr>
        <p:spPr>
          <a:xfrm>
            <a:off x="8266175" y="3966441"/>
            <a:ext cx="3127248" cy="346049"/>
          </a:xfrm>
          <a:prstGeom prst="rect">
            <a:avLst/>
          </a:prstGeom>
          <a:noFill/>
        </p:spPr>
        <p:txBody>
          <a:bodyPr wrap="square" anchor="ctr">
            <a:noAutofit/>
          </a:bodyPr>
          <a:lstStyle/>
          <a:p>
            <a:pPr algn="l"/>
            <a:r>
              <a:rPr sz="1600" b="1" i="0">
                <a:solidFill>
                  <a:srgbClr val="8F0072"/>
                </a:solidFill>
                <a:latin typeface="Amazon Ember Display"/>
              </a:rPr>
              <a:t>Exam labs in a live account</a:t>
            </a:r>
          </a:p>
        </p:txBody>
      </p:sp>
      <p:sp>
        <p:nvSpPr>
          <p:cNvPr id="24" name="Rounded Rectangle 23"/>
          <p:cNvSpPr/>
          <p:nvPr/>
        </p:nvSpPr>
        <p:spPr>
          <a:xfrm>
            <a:off x="1435608" y="4709160"/>
            <a:ext cx="9317736" cy="475488"/>
          </a:xfrm>
          <a:prstGeom prst="roundRect">
            <a:avLst>
              <a:gd name="adj" fmla="val 1923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508760" y="4800600"/>
            <a:ext cx="9171432" cy="346049"/>
          </a:xfrm>
          <a:prstGeom prst="rect">
            <a:avLst/>
          </a:prstGeom>
          <a:noFill/>
        </p:spPr>
        <p:txBody>
          <a:bodyPr wrap="square" anchor="ctr">
            <a:noAutofit/>
          </a:bodyPr>
          <a:lstStyle/>
          <a:p>
            <a:pPr algn="ctr"/>
            <a:r>
              <a:rPr sz="1600" b="1" i="0">
                <a:solidFill>
                  <a:srgbClr val="FFFFFF"/>
                </a:solidFill>
                <a:latin typeface="Amazon Ember Display"/>
              </a:rPr>
              <a:t>90 minutes  ·  guidance, not step-by-step solutions  ·  free, with no subscription</a:t>
            </a:r>
          </a:p>
        </p:txBody>
      </p:sp>
      <p:sp>
        <p:nvSpPr>
          <p:cNvPr id="26" name="TextBox 25"/>
          <p:cNvSpPr txBox="1"/>
          <p:nvPr/>
        </p:nvSpPr>
        <p:spPr>
          <a:xfrm>
            <a:off x="612648" y="5257800"/>
            <a:ext cx="10972800" cy="346049"/>
          </a:xfrm>
          <a:prstGeom prst="rect">
            <a:avLst/>
          </a:prstGeom>
          <a:noFill/>
        </p:spPr>
        <p:txBody>
          <a:bodyPr wrap="square" anchor="t">
            <a:noAutofit/>
          </a:bodyPr>
          <a:lstStyle/>
          <a:p>
            <a:pPr algn="ctr"/>
            <a:r>
              <a:rPr sz="1600" b="0" i="0">
                <a:solidFill>
                  <a:srgbClr val="5A6B7B"/>
                </a:solidFill>
                <a:latin typeface="Amazon Ember Display"/>
              </a:rPr>
              <a:t>the lab covers Amazon Cognito · Amazon API Gateway · AWS WAF · AWS Lambda · Amazon SNS · Amazon SQS</a:t>
            </a:r>
          </a:p>
        </p:txBody>
      </p:sp>
      <p:sp>
        <p:nvSpPr>
          <p:cNvPr id="27" name="TextBox 26">
            <a:hlinkClick r:id="rId4"/>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skillbuilder.aws · AWS Serverless Demonstrated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Good luck on your exam!</a:t>
            </a:r>
          </a:p>
        </p:txBody>
      </p:sp>
      <p:sp>
        <p:nvSpPr>
          <p:cNvPr id="3" name="Text Placeholder 2"/>
          <p:cNvSpPr>
            <a:spLocks noGrp="1"/>
          </p:cNvSpPr>
          <p:nvPr>
            <p:ph type="body" sz="quarter" idx="11"/>
          </p:nvPr>
        </p:nvSpPr>
        <p:spPr>
          <a:xfrm>
            <a:off x="322916" y="2434551"/>
            <a:ext cx="3540023" cy="377875"/>
          </a:xfrm>
        </p:spPr>
        <p:txBody>
          <a:bodyPr/>
          <a:lstStyle/>
          <a:p>
            <a:r>
              <a:rPr sz="1800" b="1">
                <a:solidFill>
                  <a:srgbClr val="FF57E9"/>
                </a:solidFill>
                <a:latin typeface="Amazon Ember Display"/>
              </a:rPr>
              <a:t>THAT IS THE PROGRAM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Appendix -- DVA-C02 reference</a:t>
            </a:r>
          </a:p>
        </p:txBody>
      </p:sp>
      <p:sp>
        <p:nvSpPr>
          <p:cNvPr id="3" name="Text Placeholder 2"/>
          <p:cNvSpPr>
            <a:spLocks noGrp="1"/>
          </p:cNvSpPr>
          <p:nvPr>
            <p:ph type="body" sz="quarter" idx="11"/>
          </p:nvPr>
        </p:nvSpPr>
        <p:spPr>
          <a:xfrm>
            <a:off x="322916" y="2434551"/>
            <a:ext cx="3695166" cy="377875"/>
          </a:xfrm>
        </p:spPr>
        <p:txBody>
          <a:bodyPr/>
          <a:lstStyle/>
          <a:p>
            <a:r>
              <a:rPr sz="1800" b="1">
                <a:solidFill>
                  <a:srgbClr val="FF57E9"/>
                </a:solidFill>
                <a:latin typeface="Amazon Ember Display"/>
              </a:rPr>
              <a:t>SELF-STUDY REFERENCE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How C02 and C03 differ for this week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Certification updates, September 2026</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Domain weightings: C02 to C03</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346049"/>
          </a:xfrm>
          <a:prstGeom prst="rect">
            <a:avLst/>
          </a:prstGeom>
          <a:noFill/>
        </p:spPr>
        <p:txBody>
          <a:bodyPr wrap="square" anchor="t">
            <a:noAutofit/>
          </a:bodyPr>
          <a:lstStyle/>
          <a:p>
            <a:pPr algn="l"/>
            <a:r>
              <a:rPr sz="1600" b="1" i="0">
                <a:solidFill>
                  <a:srgbClr val="232B37"/>
                </a:solidFill>
                <a:latin typeface="Amazon Ember Display"/>
              </a:rPr>
              <a:t>Development 32% to 30%</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346049"/>
          </a:xfrm>
          <a:prstGeom prst="rect">
            <a:avLst/>
          </a:prstGeom>
          <a:noFill/>
        </p:spPr>
        <p:txBody>
          <a:bodyPr wrap="square" anchor="t">
            <a:noAutofit/>
          </a:bodyPr>
          <a:lstStyle/>
          <a:p>
            <a:pPr algn="l"/>
            <a:r>
              <a:rPr sz="1600" b="1" i="0">
                <a:solidFill>
                  <a:srgbClr val="232B37"/>
                </a:solidFill>
                <a:latin typeface="Amazon Ember Display"/>
              </a:rPr>
              <a:t>Security 26%, unchanged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346049"/>
          </a:xfrm>
          <a:prstGeom prst="rect">
            <a:avLst/>
          </a:prstGeom>
          <a:noFill/>
        </p:spPr>
        <p:txBody>
          <a:bodyPr wrap="square" anchor="t">
            <a:noAutofit/>
          </a:bodyPr>
          <a:lstStyle/>
          <a:p>
            <a:pPr algn="l"/>
            <a:r>
              <a:rPr sz="1600" b="1" i="0">
                <a:solidFill>
                  <a:srgbClr val="232B37"/>
                </a:solidFill>
                <a:latin typeface="Amazon Ember Display"/>
              </a:rPr>
              <a:t>Testing and Deployment 24% to 22%</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346049"/>
          </a:xfrm>
          <a:prstGeom prst="rect">
            <a:avLst/>
          </a:prstGeom>
          <a:noFill/>
        </p:spPr>
        <p:txBody>
          <a:bodyPr wrap="square" anchor="t">
            <a:noAutofit/>
          </a:bodyPr>
          <a:lstStyle/>
          <a:p>
            <a:pPr algn="l"/>
            <a:r>
              <a:rPr sz="1600" b="1" i="0">
                <a:solidFill>
                  <a:srgbClr val="232B37"/>
                </a:solidFill>
                <a:latin typeface="Amazon Ember Display"/>
              </a:rPr>
              <a:t>Troubleshooting 18% to 22%</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Added, merged, and C02-only</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346049"/>
          </a:xfrm>
          <a:prstGeom prst="rect">
            <a:avLst/>
          </a:prstGeom>
          <a:noFill/>
        </p:spPr>
        <p:txBody>
          <a:bodyPr wrap="square" anchor="t">
            <a:noAutofit/>
          </a:bodyPr>
          <a:lstStyle/>
          <a:p>
            <a:pPr algn="l"/>
            <a:r>
              <a:rPr sz="1600" b="1" i="0">
                <a:solidFill>
                  <a:srgbClr val="232B37"/>
                </a:solidFill>
                <a:latin typeface="Amazon Ember Display"/>
              </a:rPr>
              <a:t>Task 2.3 is entirely new at C03</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346049"/>
          </a:xfrm>
          <a:prstGeom prst="rect">
            <a:avLst/>
          </a:prstGeom>
          <a:noFill/>
        </p:spPr>
        <p:txBody>
          <a:bodyPr wrap="square" anchor="t">
            <a:noAutofit/>
          </a:bodyPr>
          <a:lstStyle/>
          <a:p>
            <a:pPr algn="l"/>
            <a:r>
              <a:rPr sz="1600" b="1" i="0">
                <a:solidFill>
                  <a:srgbClr val="232B37"/>
                </a:solidFill>
                <a:latin typeface="Amazon Ember Display"/>
              </a:rPr>
              <a:t>AWS PrivateLink newly in scope</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346049"/>
          </a:xfrm>
          <a:prstGeom prst="rect">
            <a:avLst/>
          </a:prstGeom>
          <a:noFill/>
        </p:spPr>
        <p:txBody>
          <a:bodyPr wrap="square" anchor="t">
            <a:noAutofit/>
          </a:bodyPr>
          <a:lstStyle/>
          <a:p>
            <a:pPr algn="l"/>
            <a:r>
              <a:rPr sz="1600" b="1" i="0">
                <a:solidFill>
                  <a:srgbClr val="232B37"/>
                </a:solidFill>
                <a:latin typeface="Amazon Ember Display"/>
              </a:rPr>
              <a:t>Encryption + sensitive data: 13 to 7</a:t>
            </a:r>
          </a:p>
        </p:txBody>
      </p:sp>
      <p:sp>
        <p:nvSpPr>
          <p:cNvPr id="25" name="DeltaBand4"/>
          <p:cNvSpPr/>
          <p:nvPr/>
        </p:nvSpPr>
        <p:spPr>
          <a:xfrm>
            <a:off x="6519672" y="4014215"/>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DeltaText4"/>
          <p:cNvSpPr txBox="1"/>
          <p:nvPr/>
        </p:nvSpPr>
        <p:spPr>
          <a:xfrm>
            <a:off x="6739128" y="4123944"/>
            <a:ext cx="4389119" cy="346049"/>
          </a:xfrm>
          <a:prstGeom prst="rect">
            <a:avLst/>
          </a:prstGeom>
          <a:noFill/>
        </p:spPr>
        <p:txBody>
          <a:bodyPr wrap="square" anchor="t">
            <a:noAutofit/>
          </a:bodyPr>
          <a:lstStyle/>
          <a:p>
            <a:pPr algn="l"/>
            <a:r>
              <a:rPr sz="1600" b="1" i="0">
                <a:solidFill>
                  <a:srgbClr val="232B37"/>
                </a:solidFill>
                <a:latin typeface="Amazon Ember Display"/>
              </a:rPr>
              <a:t>AWS AppSync is on the C02 exam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What a DVA-C02 candidate needs here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DVA-C02 exam guide</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441528"/>
          </a:xfrm>
          <a:prstGeom prst="rect">
            <a:avLst/>
          </a:prstGeom>
          <a:noFill/>
        </p:spPr>
        <p:txBody>
          <a:bodyPr wrap="square" anchor="t">
            <a:noAutofit/>
          </a:bodyPr>
          <a:lstStyle/>
          <a:p>
            <a:pPr algn="ctr"/>
            <a:r>
              <a:rPr sz="2200" b="1" i="0">
                <a:solidFill>
                  <a:srgbClr val="8F0072"/>
                </a:solidFill>
                <a:latin typeface="Amazon Ember Display"/>
              </a:rPr>
              <a:t>C03 only -- skip for C02</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346049"/>
          </a:xfrm>
          <a:prstGeom prst="rect">
            <a:avLst/>
          </a:prstGeom>
          <a:noFill/>
        </p:spPr>
        <p:txBody>
          <a:bodyPr wrap="square" anchor="t">
            <a:noAutofit/>
          </a:bodyPr>
          <a:lstStyle/>
          <a:p>
            <a:pPr algn="l"/>
            <a:r>
              <a:rPr sz="1600" b="1" i="0">
                <a:solidFill>
                  <a:srgbClr val="232B37"/>
                </a:solidFill>
                <a:latin typeface="Amazon Ember Display"/>
              </a:rPr>
              <a:t>Task 2.3  the whole AI security task</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346049"/>
          </a:xfrm>
          <a:prstGeom prst="rect">
            <a:avLst/>
          </a:prstGeom>
          <a:noFill/>
        </p:spPr>
        <p:txBody>
          <a:bodyPr wrap="square" anchor="t">
            <a:noAutofit/>
          </a:bodyPr>
          <a:lstStyle/>
          <a:p>
            <a:pPr algn="l"/>
            <a:r>
              <a:rPr sz="1600" b="1" i="0">
                <a:solidFill>
                  <a:srgbClr val="232B37"/>
                </a:solidFill>
                <a:latin typeface="Amazon Ember Display"/>
              </a:rPr>
              <a:t>Domain 4  AI tools to analyze errors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346049"/>
          </a:xfrm>
          <a:prstGeom prst="rect">
            <a:avLst/>
          </a:prstGeom>
          <a:noFill/>
        </p:spPr>
        <p:txBody>
          <a:bodyPr wrap="square" anchor="t">
            <a:noAutofit/>
          </a:bodyPr>
          <a:lstStyle/>
          <a:p>
            <a:pPr algn="l"/>
            <a:r>
              <a:rPr sz="1600" b="1" i="0">
                <a:solidFill>
                  <a:srgbClr val="232B37"/>
                </a:solidFill>
                <a:latin typeface="Amazon Ember Display"/>
              </a:rPr>
              <a:t>Domain 4  AI tools to find optimizations</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441528"/>
          </a:xfrm>
          <a:prstGeom prst="rect">
            <a:avLst/>
          </a:prstGeom>
          <a:noFill/>
        </p:spPr>
        <p:txBody>
          <a:bodyPr wrap="square" anchor="t">
            <a:noAutofit/>
          </a:bodyPr>
          <a:lstStyle/>
          <a:p>
            <a:pPr algn="ctr"/>
            <a:r>
              <a:rPr sz="2200" b="1" i="0">
                <a:solidFill>
                  <a:srgbClr val="8F0072"/>
                </a:solidFill>
                <a:latin typeface="Amazon Ember Display"/>
              </a:rPr>
              <a:t>Serves both exams</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346049"/>
          </a:xfrm>
          <a:prstGeom prst="rect">
            <a:avLst/>
          </a:prstGeom>
          <a:noFill/>
        </p:spPr>
        <p:txBody>
          <a:bodyPr wrap="square" anchor="t">
            <a:noAutofit/>
          </a:bodyPr>
          <a:lstStyle/>
          <a:p>
            <a:pPr algn="l"/>
            <a:r>
              <a:rPr sz="1600" b="1" i="0">
                <a:solidFill>
                  <a:srgbClr val="232B37"/>
                </a:solidFill>
                <a:latin typeface="Amazon Ember Display"/>
              </a:rPr>
              <a:t>WAF, KMS, and Secrets Manager</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346049"/>
          </a:xfrm>
          <a:prstGeom prst="rect">
            <a:avLst/>
          </a:prstGeom>
          <a:noFill/>
        </p:spPr>
        <p:txBody>
          <a:bodyPr wrap="square" anchor="t">
            <a:noAutofit/>
          </a:bodyPr>
          <a:lstStyle/>
          <a:p>
            <a:pPr algn="l"/>
            <a:r>
              <a:rPr sz="1600" b="1" i="0">
                <a:solidFill>
                  <a:srgbClr val="232B37"/>
                </a:solidFill>
                <a:latin typeface="Amazon Ember Display"/>
              </a:rPr>
              <a:t>ACM and CloudFront OAC</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346049"/>
          </a:xfrm>
          <a:prstGeom prst="rect">
            <a:avLst/>
          </a:prstGeom>
          <a:noFill/>
        </p:spPr>
        <p:txBody>
          <a:bodyPr wrap="square" anchor="t">
            <a:noAutofit/>
          </a:bodyPr>
          <a:lstStyle/>
          <a:p>
            <a:pPr algn="l"/>
            <a:r>
              <a:rPr sz="1600" b="1" i="0">
                <a:solidFill>
                  <a:srgbClr val="232B37"/>
                </a:solidFill>
                <a:latin typeface="Amazon Ember Display"/>
              </a:rPr>
              <a:t>X-Ray traces and service maps</a:t>
            </a:r>
          </a:p>
        </p:txBody>
      </p:sp>
      <p:sp>
        <p:nvSpPr>
          <p:cNvPr id="25" name="Rounded Rectangle 24"/>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39128" y="4128008"/>
            <a:ext cx="4389119" cy="346049"/>
          </a:xfrm>
          <a:prstGeom prst="rect">
            <a:avLst/>
          </a:prstGeom>
          <a:noFill/>
        </p:spPr>
        <p:txBody>
          <a:bodyPr wrap="square" anchor="t">
            <a:noAutofit/>
          </a:bodyPr>
          <a:lstStyle/>
          <a:p>
            <a:pPr algn="l"/>
            <a:r>
              <a:rPr sz="1600" b="1" i="0">
                <a:solidFill>
                  <a:srgbClr val="232B37"/>
                </a:solidFill>
                <a:latin typeface="Amazon Ember Display"/>
              </a:rPr>
              <a:t>IAM policy evaluation</a:t>
            </a:r>
          </a:p>
        </p:txBody>
      </p:sp>
      <p:sp>
        <p:nvSpPr>
          <p:cNvPr id="27" name="RowBand4L"/>
          <p:cNvSpPr/>
          <p:nvPr/>
        </p:nvSpPr>
        <p:spPr>
          <a:xfrm>
            <a:off x="850392" y="4014215"/>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wText4L"/>
          <p:cNvSpPr txBox="1"/>
          <p:nvPr/>
        </p:nvSpPr>
        <p:spPr>
          <a:xfrm>
            <a:off x="1069848" y="4123944"/>
            <a:ext cx="4389119" cy="346049"/>
          </a:xfrm>
          <a:prstGeom prst="rect">
            <a:avLst/>
          </a:prstGeom>
          <a:noFill/>
        </p:spPr>
        <p:txBody>
          <a:bodyPr wrap="square" anchor="t">
            <a:noAutofit/>
          </a:bodyPr>
          <a:lstStyle/>
          <a:p>
            <a:pPr algn="l"/>
            <a:r>
              <a:rPr sz="1600" b="1" i="0">
                <a:solidFill>
                  <a:srgbClr val="232B37"/>
                </a:solidFill>
                <a:latin typeface="Amazon Ember Display"/>
              </a:rPr>
              <a:t>New at C03  AWS PrivateLink</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FE9900"/>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 Default 2020 Template_Light</Template>
  <TotalTime>18937</TotalTime>
  <Words>26614</Words>
  <Application>Microsoft Office PowerPoint</Application>
  <PresentationFormat>Widescreen</PresentationFormat>
  <Paragraphs>1580</Paragraphs>
  <Slides>66</Slides>
  <Notes>66</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66</vt:i4>
      </vt:variant>
    </vt:vector>
  </HeadingPairs>
  <TitlesOfParts>
    <vt:vector size="76" baseType="lpstr">
      <vt:lpstr>Amazon Ember</vt:lpstr>
      <vt:lpstr>Amazon Ember Display</vt:lpstr>
      <vt:lpstr>Amazon Ember Display Heavy</vt:lpstr>
      <vt:lpstr>Amazon Ember Mono</vt:lpstr>
      <vt:lpstr>Amazon Ember Thin</vt:lpstr>
      <vt:lpstr>Arial</vt:lpstr>
      <vt:lpstr>Calibri</vt:lpstr>
      <vt:lpstr>Consolas</vt:lpstr>
      <vt:lpstr>Menlo</vt:lpstr>
      <vt:lpstr>Office Theme</vt:lpstr>
      <vt:lpstr>PowerPoint Presentation</vt:lpstr>
      <vt:lpstr>PowerPoint Presentation</vt:lpstr>
      <vt:lpstr>Content Review — Session 5</vt:lpstr>
      <vt:lpstr>Event check-in</vt:lpstr>
      <vt:lpstr>Week 5 digital training</vt:lpstr>
      <vt:lpstr>Today's focus: Security and observability</vt:lpstr>
      <vt:lpstr>Your five weeks at a glance</vt:lpstr>
      <vt:lpstr>How do you protect traffic and data?</vt:lpstr>
      <vt:lpstr>WAF inspects a request before your app sees it</vt:lpstr>
      <vt:lpstr>Working backwards: bots locked real customers out</vt:lpstr>
      <vt:lpstr>A data key encrypts the data; KMS wraps the key</vt:lpstr>
      <vt:lpstr>An interface endpoint keeps traffic inside your VPC</vt:lpstr>
      <vt:lpstr>A presigned URL carries the signer's permissions</vt:lpstr>
      <vt:lpstr>Only CloudFront can read the bucket behind an OAC</vt:lpstr>
      <vt:lpstr>Where the certificate lands picks the ACM path</vt:lpstr>
      <vt:lpstr>Who is allowed to do what?</vt:lpstr>
      <vt:lpstr>An explicit Deny always wins</vt:lpstr>
      <vt:lpstr>Reading a bucket policy that requires TLS</vt:lpstr>
      <vt:lpstr>Reading a policy that requires tags on both sides</vt:lpstr>
      <vt:lpstr>Identity policies attach to who; resource to what</vt:lpstr>
      <vt:lpstr>How do you secure a model in use?</vt:lpstr>
      <vt:lpstr>A guardrail checks the prompt and the response</vt:lpstr>
      <vt:lpstr>Working backwards: data protection came first</vt:lpstr>
      <vt:lpstr>Block removes the message; mask replaces the PII</vt:lpstr>
      <vt:lpstr>The filter does not see PII inside a tool call</vt:lpstr>
      <vt:lpstr>A new account fails on its first model call</vt:lpstr>
      <vt:lpstr>Invocation logging is off until you turn it on</vt:lpstr>
      <vt:lpstr>Where is the time actually going?</vt:lpstr>
      <vt:lpstr>A segment is one service; a trace is one request</vt:lpstr>
      <vt:lpstr>Error is 4xx, fault is 5xx, throttle is 429</vt:lpstr>
      <vt:lpstr>A subsegment is your view of a downstream call</vt:lpstr>
      <vt:lpstr>Put the security controls to work</vt:lpstr>
      <vt:lpstr>Question 21: a download link that expires in 15 minutes</vt:lpstr>
      <vt:lpstr>Question 21: a download link that expires in 15 minutes</vt:lpstr>
      <vt:lpstr>Question 21: a download link that expires in 15 minutes</vt:lpstr>
      <vt:lpstr>Question 21: a download link that expires in 15 minutes</vt:lpstr>
      <vt:lpstr>Question 22: keeping account numbers out of an answer</vt:lpstr>
      <vt:lpstr>Question 22: keeping account numbers out of an answer</vt:lpstr>
      <vt:lpstr>Question 22: keeping account numbers out of an answer</vt:lpstr>
      <vt:lpstr>Question 22: keeping account numbers out of an answer</vt:lpstr>
      <vt:lpstr>Question 23: calling a model without touching the internet</vt:lpstr>
      <vt:lpstr>Question 23: calling a model without touching the internet</vt:lpstr>
      <vt:lpstr>Question 23: calling a model without touching the internet</vt:lpstr>
      <vt:lpstr>Question 23: calling a model without touching the internet</vt:lpstr>
      <vt:lpstr>Question 24: finding which hop is costing the time</vt:lpstr>
      <vt:lpstr>Question 24: finding which hop is costing the time</vt:lpstr>
      <vt:lpstr>Question 24: finding which hop is costing the time</vt:lpstr>
      <vt:lpstr>Question 24: finding which hop is costing the time</vt:lpstr>
      <vt:lpstr>Question 25: an agent that can move money</vt:lpstr>
      <vt:lpstr>Question 25: an agent that can move money</vt:lpstr>
      <vt:lpstr>Question 25: an agent that can move money</vt:lpstr>
      <vt:lpstr>Question 25: an agent that can move money</vt:lpstr>
      <vt:lpstr>Question 31: a model call that fails in a new account</vt:lpstr>
      <vt:lpstr>Question 31: a model call that fails in a new account</vt:lpstr>
      <vt:lpstr>Question 31: a model call that fails in a new account</vt:lpstr>
      <vt:lpstr>Question 31: a model call that fails in a new account</vt:lpstr>
      <vt:lpstr>Question 32: personal data reaching the invocation log</vt:lpstr>
      <vt:lpstr>Question 32: personal data reaching the invocation log</vt:lpstr>
      <vt:lpstr>Question 32: personal data reaching the invocation log</vt:lpstr>
      <vt:lpstr>Question 32: personal data reaching the invocation log</vt:lpstr>
      <vt:lpstr>Q&amp;A time</vt:lpstr>
      <vt:lpstr>After the exam, prove it in a live AWS account</vt:lpstr>
      <vt:lpstr>Good luck on your exam!</vt:lpstr>
      <vt:lpstr>Appendix -- DVA-C02 reference</vt:lpstr>
      <vt:lpstr>How C02 and C03 differ for this week</vt:lpstr>
      <vt:lpstr>What a DVA-C02 candidate needs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helcreig@amazon.com</dc:creator>
  <cp:lastModifiedBy>Smith, Brady</cp:lastModifiedBy>
  <cp:revision>359</cp:revision>
  <dcterms:created xsi:type="dcterms:W3CDTF">2021-08-17T14:22:37Z</dcterms:created>
  <dcterms:modified xsi:type="dcterms:W3CDTF">2026-09-09T00:26:53Z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2025-06-19T23:08:36Z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193277b2-2c38-41e5-ba97-49fbb5af1151</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