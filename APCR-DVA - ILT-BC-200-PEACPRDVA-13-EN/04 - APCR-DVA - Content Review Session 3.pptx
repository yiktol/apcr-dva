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69" r:id="rId16"/>
    <p:sldId id="270" r:id="rId17"/>
    <p:sldId id="271" r:id="rId18"/>
    <p:sldId id="272" r:id="rId19"/>
    <p:sldId id="273" r:id="rId20"/>
    <p:sldId id="274" r:id="rId21"/>
    <p:sldId id="275" r:id="rId22"/>
    <p:sldId id="276" r:id="rId23"/>
    <p:sldId id="277" r:id="rId24"/>
    <p:sldId id="280" r:id="rId25"/>
    <p:sldId id="278" r:id="rId26"/>
    <p:sldId id="279"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en-US"/>
    </a:defPPr>
    <a:lvl1pPr marL="0" algn="l" defTabSz="1097212" rtl="0" eaLnBrk="1" latinLnBrk="0" hangingPunct="1">
      <a:defRPr sz="2118" kern="1200">
        <a:solidFill>
          <a:schemeClr val="tx1"/>
        </a:solidFill>
        <a:latin typeface="+mn-lt"/>
        <a:ea typeface="+mn-ea"/>
        <a:cs typeface="+mn-cs"/>
      </a:defRPr>
    </a:lvl1pPr>
    <a:lvl2pPr marL="548606" algn="l" defTabSz="1097212" rtl="0" eaLnBrk="1" latinLnBrk="0" hangingPunct="1">
      <a:defRPr sz="2118" kern="1200">
        <a:solidFill>
          <a:schemeClr val="tx1"/>
        </a:solidFill>
        <a:latin typeface="+mn-lt"/>
        <a:ea typeface="+mn-ea"/>
        <a:cs typeface="+mn-cs"/>
      </a:defRPr>
    </a:lvl2pPr>
    <a:lvl3pPr marL="1097212" algn="l" defTabSz="1097212" rtl="0" eaLnBrk="1" latinLnBrk="0" hangingPunct="1">
      <a:defRPr sz="2118" kern="1200">
        <a:solidFill>
          <a:schemeClr val="tx1"/>
        </a:solidFill>
        <a:latin typeface="+mn-lt"/>
        <a:ea typeface="+mn-ea"/>
        <a:cs typeface="+mn-cs"/>
      </a:defRPr>
    </a:lvl3pPr>
    <a:lvl4pPr marL="1645818" algn="l" defTabSz="1097212" rtl="0" eaLnBrk="1" latinLnBrk="0" hangingPunct="1">
      <a:defRPr sz="2118" kern="1200">
        <a:solidFill>
          <a:schemeClr val="tx1"/>
        </a:solidFill>
        <a:latin typeface="+mn-lt"/>
        <a:ea typeface="+mn-ea"/>
        <a:cs typeface="+mn-cs"/>
      </a:defRPr>
    </a:lvl4pPr>
    <a:lvl5pPr marL="2194424" algn="l" defTabSz="1097212" rtl="0" eaLnBrk="1" latinLnBrk="0" hangingPunct="1">
      <a:defRPr sz="2118" kern="1200">
        <a:solidFill>
          <a:schemeClr val="tx1"/>
        </a:solidFill>
        <a:latin typeface="+mn-lt"/>
        <a:ea typeface="+mn-ea"/>
        <a:cs typeface="+mn-cs"/>
      </a:defRPr>
    </a:lvl5pPr>
    <a:lvl6pPr marL="2743031" algn="l" defTabSz="1097212" rtl="0" eaLnBrk="1" latinLnBrk="0" hangingPunct="1">
      <a:defRPr sz="2118" kern="1200">
        <a:solidFill>
          <a:schemeClr val="tx1"/>
        </a:solidFill>
        <a:latin typeface="+mn-lt"/>
        <a:ea typeface="+mn-ea"/>
        <a:cs typeface="+mn-cs"/>
      </a:defRPr>
    </a:lvl6pPr>
    <a:lvl7pPr marL="3291635" algn="l" defTabSz="1097212" rtl="0" eaLnBrk="1" latinLnBrk="0" hangingPunct="1">
      <a:defRPr sz="2118" kern="1200">
        <a:solidFill>
          <a:schemeClr val="tx1"/>
        </a:solidFill>
        <a:latin typeface="+mn-lt"/>
        <a:ea typeface="+mn-ea"/>
        <a:cs typeface="+mn-cs"/>
      </a:defRPr>
    </a:lvl7pPr>
    <a:lvl8pPr marL="3840241" algn="l" defTabSz="1097212" rtl="0" eaLnBrk="1" latinLnBrk="0" hangingPunct="1">
      <a:defRPr sz="2118" kern="1200">
        <a:solidFill>
          <a:schemeClr val="tx1"/>
        </a:solidFill>
        <a:latin typeface="+mn-lt"/>
        <a:ea typeface="+mn-ea"/>
        <a:cs typeface="+mn-cs"/>
      </a:defRPr>
    </a:lvl8pPr>
    <a:lvl9pPr marL="4388848" algn="l" defTabSz="1097212" rtl="0" eaLnBrk="1" latinLnBrk="0" hangingPunct="1">
      <a:defRPr sz="211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31"/>
    <p:restoredTop sz="94037" autoAdjust="0"/>
  </p:normalViewPr>
  <p:slideViewPr>
    <p:cSldViewPr snapToGrid="0" snapToObjects="1">
      <p:cViewPr varScale="1">
        <p:scale>
          <a:sx n="70" d="100"/>
          <a:sy n="70" d="100"/>
        </p:scale>
        <p:origin x="4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custSel modSld">
      <pc:chgData name="Smith, Brady" userId="e76634a4-7138-4bc5-b76d-07c789b36324" providerId="ADAL" clId="{9E9136EE-B768-4B6D-95DA-B300D70FE1B5}" dt="2026-09-09T04:23:14.151" v="8" actId="1076"/>
      <pc:docMkLst>
        <pc:docMk/>
      </pc:docMkLst>
      <pc:sldChg chg="modSp mod">
        <pc:chgData name="Smith, Brady" userId="e76634a4-7138-4bc5-b76d-07c789b36324" providerId="ADAL" clId="{9E9136EE-B768-4B6D-95DA-B300D70FE1B5}" dt="2026-09-09T04:21:50.491" v="2" actId="207"/>
        <pc:sldMkLst>
          <pc:docMk/>
          <pc:sldMk cId="0" sldId="257"/>
        </pc:sldMkLst>
        <pc:spChg chg="mod">
          <ac:chgData name="Smith, Brady" userId="e76634a4-7138-4bc5-b76d-07c789b36324" providerId="ADAL" clId="{9E9136EE-B768-4B6D-95DA-B300D70FE1B5}" dt="2026-09-09T04:21:50.491" v="2" actId="207"/>
          <ac:spMkLst>
            <pc:docMk/>
            <pc:sldMk cId="0" sldId="257"/>
            <ac:spMk id="2" creationId="{00000000-0000-0000-0000-000000000000}"/>
          </ac:spMkLst>
        </pc:spChg>
      </pc:sldChg>
      <pc:sldChg chg="modSp mod">
        <pc:chgData name="Smith, Brady" userId="e76634a4-7138-4bc5-b76d-07c789b36324" providerId="ADAL" clId="{9E9136EE-B768-4B6D-95DA-B300D70FE1B5}" dt="2026-09-09T04:22:10.369" v="4" actId="1076"/>
        <pc:sldMkLst>
          <pc:docMk/>
          <pc:sldMk cId="0" sldId="265"/>
        </pc:sldMkLst>
        <pc:spChg chg="mod">
          <ac:chgData name="Smith, Brady" userId="e76634a4-7138-4bc5-b76d-07c789b36324" providerId="ADAL" clId="{9E9136EE-B768-4B6D-95DA-B300D70FE1B5}" dt="2026-09-09T04:22:06.897" v="3" actId="1076"/>
          <ac:spMkLst>
            <pc:docMk/>
            <pc:sldMk cId="0" sldId="265"/>
            <ac:spMk id="20" creationId="{00000000-0000-0000-0000-000000000000}"/>
          </ac:spMkLst>
        </pc:spChg>
        <pc:spChg chg="mod">
          <ac:chgData name="Smith, Brady" userId="e76634a4-7138-4bc5-b76d-07c789b36324" providerId="ADAL" clId="{9E9136EE-B768-4B6D-95DA-B300D70FE1B5}" dt="2026-09-09T04:22:10.369" v="4" actId="1076"/>
          <ac:spMkLst>
            <pc:docMk/>
            <pc:sldMk cId="0" sldId="265"/>
            <ac:spMk id="21" creationId="{00000000-0000-0000-0000-000000000000}"/>
          </ac:spMkLst>
        </pc:spChg>
      </pc:sldChg>
      <pc:sldChg chg="modSp mod">
        <pc:chgData name="Smith, Brady" userId="e76634a4-7138-4bc5-b76d-07c789b36324" providerId="ADAL" clId="{9E9136EE-B768-4B6D-95DA-B300D70FE1B5}" dt="2026-09-09T04:22:29.279" v="5" actId="1076"/>
        <pc:sldMkLst>
          <pc:docMk/>
          <pc:sldMk cId="0" sldId="267"/>
        </pc:sldMkLst>
        <pc:spChg chg="mod">
          <ac:chgData name="Smith, Brady" userId="e76634a4-7138-4bc5-b76d-07c789b36324" providerId="ADAL" clId="{9E9136EE-B768-4B6D-95DA-B300D70FE1B5}" dt="2026-09-09T04:22:29.279" v="5" actId="1076"/>
          <ac:spMkLst>
            <pc:docMk/>
            <pc:sldMk cId="0" sldId="267"/>
            <ac:spMk id="3" creationId="{00000000-0000-0000-0000-000000000000}"/>
          </ac:spMkLst>
        </pc:spChg>
      </pc:sldChg>
      <pc:sldChg chg="modSp mod">
        <pc:chgData name="Smith, Brady" userId="e76634a4-7138-4bc5-b76d-07c789b36324" providerId="ADAL" clId="{9E9136EE-B768-4B6D-95DA-B300D70FE1B5}" dt="2026-09-09T04:23:14.151" v="8" actId="1076"/>
        <pc:sldMkLst>
          <pc:docMk/>
          <pc:sldMk cId="0" sldId="274"/>
        </pc:sldMkLst>
        <pc:spChg chg="mod">
          <ac:chgData name="Smith, Brady" userId="e76634a4-7138-4bc5-b76d-07c789b36324" providerId="ADAL" clId="{9E9136EE-B768-4B6D-95DA-B300D70FE1B5}" dt="2026-09-09T04:23:14.151" v="8" actId="1076"/>
          <ac:spMkLst>
            <pc:docMk/>
            <pc:sldMk cId="0" sldId="274"/>
            <ac:spMk id="3" creationId="{00000000-0000-0000-0000-000000000000}"/>
          </ac:spMkLst>
        </pc:spChg>
      </pc:sldChg>
      <pc:sldChg chg="delSp mod">
        <pc:chgData name="Smith, Brady" userId="e76634a4-7138-4bc5-b76d-07c789b36324" providerId="ADAL" clId="{9E9136EE-B768-4B6D-95DA-B300D70FE1B5}" dt="2026-09-03T20:13:30.972" v="0" actId="478"/>
        <pc:sldMkLst>
          <pc:docMk/>
          <pc:sldMk cId="0" sldId="312"/>
        </pc:sldMkLst>
      </pc:sldChg>
      <pc:sldChg chg="delSp mod">
        <pc:chgData name="Smith, Brady" userId="e76634a4-7138-4bc5-b76d-07c789b36324" providerId="ADAL" clId="{9E9136EE-B768-4B6D-95DA-B300D70FE1B5}" dt="2026-09-03T20:13:33.551" v="1" actId="478"/>
        <pc:sldMkLst>
          <pc:docMk/>
          <pc:sldMk cId="0" sldId="31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9830B-90A4-EA47-B8ED-2BCF3026A73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A6E1F-B7C3-CB4A-8789-7F0039C49383}" type="slidenum">
              <a:rPr lang="en-US" smtClean="0"/>
              <a:t>‹#›</a:t>
            </a:fld>
            <a:endParaRPr lang="en-US"/>
          </a:p>
        </p:txBody>
      </p:sp>
    </p:spTree>
    <p:extLst>
      <p:ext uri="{BB962C8B-B14F-4D97-AF65-F5344CB8AC3E}">
        <p14:creationId xmlns:p14="http://schemas.microsoft.com/office/powerpoint/2010/main" val="350957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This slide is hidden on purpose. Confirm it stays hidden, or delete it, before you export a PDF or share the deck with a partner.</a:t>
            </a:r>
          </a:p>
          <a:p>
            <a:endParaRPr/>
          </a:p>
          <a:p>
            <a:pPr>
              <a:spcAft>
                <a:spcPts val="600"/>
              </a:spcAft>
            </a:pPr>
            <a:r>
              <a:t>The content is APCR-team owned and is licensed only for delivery inside an authorized event. If a partner asks for the deck, point them to the official event materials rather than forwarding this file.</a:t>
            </a:r>
          </a:p>
          <a:p>
            <a:endParaRPr/>
          </a:p>
          <a:p>
            <a:pPr>
              <a:spcAft>
                <a:spcPts val="600"/>
              </a:spcAft>
            </a:pPr>
            <a:r>
              <a:t>Nothing here is presented to the room. Advance straight past it into the title slide.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WHY THESE SLIDES EXIST: two Customer Case slides ground the session in real customers with real problems. They are NOT promotional. Each works backwards from the customer's challenge, which is why the title is the problem and not the result.</a:t>
            </a:r>
          </a:p>
          <a:p>
            <a:endParaRPr/>
          </a:p>
          <a:p>
            <a:pPr>
              <a:spcAft>
                <a:spcPts val="600"/>
              </a:spcAft>
            </a:pPr>
            <a:r>
              <a:t>YOU MAY: name the customer exactly as AWS's published page names it; state any figure that appears on that page; describe the services the page names; and point people at the SOURCE link on the slide. Everything on these slides is verified word for word against the published case study.</a:t>
            </a:r>
          </a:p>
          <a:p>
            <a:endParaRPr/>
          </a:p>
          <a:p>
            <a:pPr>
              <a:spcAft>
                <a:spcPts val="600"/>
              </a:spcAft>
            </a:pPr>
            <a:r>
              <a:t>YOU MAY NOT: add a figure, a service, or an architectural detail that is not on the page. Do not infer how the customer built something. Do not say or imply that an attendee's own customer will get the same result. Do not present these as your own work, and do not use customer logos.</a:t>
            </a:r>
          </a:p>
          <a:p>
            <a:endParaRPr/>
          </a:p>
          <a:p>
            <a:pPr>
              <a:spcAft>
                <a:spcPts val="600"/>
              </a:spcAft>
            </a:pPr>
            <a:r>
              <a:t>WHY THE RULES ARE THIS TIGHT: a published case study has already been through the customer's own legal and marketing approval, and that approval covers presentations. Anything added on top of it has been approved by nobody, so an added detail is the one thing that turns an approved reference into a problem.</a:t>
            </a:r>
          </a:p>
          <a:p>
            <a:endParaRPr/>
          </a:p>
          <a:p>
            <a:pPr>
              <a:spcAft>
                <a:spcPts val="600"/>
              </a:spcAft>
            </a:pPr>
            <a:r>
              <a:t>IF A LINK IS DEAD, DROP THE SLIDE. Customer consent can be withdrawn, and AWS then removes the page. A case-study URL that stops working may mean permission lapsed rather than a broken link, so do not present it from a cached copy or an older deck. Tell the APCR team instead.</a:t>
            </a:r>
          </a:p>
          <a:p>
            <a:endParaRPr/>
          </a:p>
          <a:p>
            <a:pPr>
              <a:spcAft>
                <a:spcPts val="600"/>
              </a:spcAft>
            </a:pPr>
            <a:r>
              <a:t>ON SPEAKING FOR AWS: present these as AWS's published customer stories, not as an AWS position you are announcing and not as your own findings. If someone asks a question the page does not answer, the honest answer is that the case study does not say, and you can follow up.</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The opening slide for the third content-review session. Welcome the room back and set the frame: this week is about the services that connect and observe an application -- messaging and events, caching, user authentication, and monitoring.</a:t>
            </a:r>
          </a:p>
          <a:p>
            <a:endParaRPr/>
          </a:p>
          <a:p>
            <a:pPr>
              <a:spcAft>
                <a:spcPts val="600"/>
              </a:spcAft>
            </a:pPr>
            <a:r>
              <a:t>Say what the next two hours look like -- roughly half is a fast re-grounding in the week-three services, and half is exam-strategy practice on live questions.</a:t>
            </a:r>
          </a:p>
          <a:p>
            <a:endParaRPr/>
          </a:p>
          <a:p>
            <a:pPr>
              <a:spcAft>
                <a:spcPts val="600"/>
              </a:spcAft>
            </a:pPr>
            <a:r>
              <a:t>Keep this short. Everyone here has a fortnight of study behind them; pitch it as a working session, not a lecture.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A quick pulse check before the content starts. Ask how week two landed -- who finished the digital training, who feels behind, and what got in the way.</a:t>
            </a:r>
          </a:p>
          <a:p>
            <a:endParaRPr/>
          </a:p>
          <a:p>
            <a:pPr>
              <a:spcAft>
                <a:spcPts val="600"/>
              </a:spcAft>
            </a:pPr>
            <a:r>
              <a:t>Some people will have fallen behind, and that is normal. Be encouraging and share a little of your own study experience so the room relaxes and talks.</a:t>
            </a:r>
          </a:p>
          <a:p>
            <a:endParaRPr/>
          </a:p>
          <a:p>
            <a:pPr>
              <a:spcAft>
                <a:spcPts val="600"/>
              </a:spcAft>
            </a:pPr>
            <a:r>
              <a:t>Keep it to two or three minutes, then move into the week-three curriculum.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This week's training checklist. The left card is the free Learning Plan; the right card is the optional Exam Prep Plan a subscriber can add.</a:t>
            </a:r>
          </a:p>
          <a:p>
            <a:endParaRPr/>
          </a:p>
          <a:p>
            <a:pPr>
              <a:spcAft>
                <a:spcPts val="600"/>
              </a:spcAft>
            </a:pPr>
            <a:r>
              <a:t>FACILITATOR: Use this as a check-in. Ask how people are doing and relate it to your own experience studying for the exam -- which modules stood out, what your key takeaways were. Week three leans on event-driven and serverless design, which is exactly what today's messaging, caching and monitoring blocks build on.</a:t>
            </a:r>
          </a:p>
          <a:p>
            <a:endParaRPr/>
          </a:p>
          <a:p>
            <a:pPr>
              <a:spcAft>
                <a:spcPts val="600"/>
              </a:spcAft>
            </a:pPr>
            <a:r>
              <a:t>Remind the room of the value of Cloud Quest -- the lab practice in particular -- and check whether anyone has tried the labs yet.</a:t>
            </a:r>
          </a:p>
          <a:p>
            <a:endParaRPr/>
          </a:p>
          <a:p>
            <a:pPr>
              <a:spcAft>
                <a:spcPts val="600"/>
              </a:spcAft>
            </a:pPr>
            <a:r>
              <a:t>Note: the item names beginning "Domain 3" are the actual Exam Prep Plan module names in Skill Builder, so learners can find them; they are navigation, not exam-coverage claims. Keep any talk of exam weighting off this slide.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services this session works through, grouped by the role they play. Application integration -- SNS, SQS, and EventBridge -- is how the pieces are decoupled and events routed; ElastiCache is the caching tier; Cognito handles user authentication; and CloudWatch, CloudWatch Logs, and CloudTrail are how the running application is observed.</a:t>
            </a:r>
          </a:p>
          <a:p>
            <a:endParaRPr/>
          </a:p>
          <a:p>
            <a:pPr>
              <a:spcAft>
                <a:spcPts val="600"/>
              </a:spcAft>
            </a:pPr>
            <a:r>
              <a:t>FACILITATOR: Use this as a one-slide map of the session. Point out that most of the time goes on messaging and monitoring, with shorter caching and authentication segments in between.</a:t>
            </a:r>
          </a:p>
          <a:p>
            <a:endParaRPr/>
          </a:p>
          <a:p>
            <a:pPr>
              <a:spcAft>
                <a:spcPts val="600"/>
              </a:spcAft>
            </a:pPr>
            <a:r>
              <a:t>Set the expectation that everyone here has seen these services before; the job today is to go one level deeper into how a developer actually builds with them and where the exam tends to probe.</a:t>
            </a:r>
          </a:p>
          <a:p>
            <a:endParaRPr/>
          </a:p>
          <a:p>
            <a:pPr>
              <a:spcAft>
                <a:spcPts val="600"/>
              </a:spcAft>
            </a:pPr>
            <a:r>
              <a:t>Then move into the first section, Application Integration.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map of the whole five-week event, one row per week, with this week highlighted. Use it near the top of the session so the room can see where week 3 sits in the arc and what is still to come.</a:t>
            </a:r>
          </a:p>
          <a:p>
            <a:endParaRPr/>
          </a:p>
          <a:p>
            <a:pPr>
              <a:spcAft>
                <a:spcPts val="600"/>
              </a:spcAft>
            </a:pPr>
            <a:r>
              <a:t>FACILITATOR: Point at the highlighted row. Week 2 is the developing-with-core-services week -- API Gateway, Lambda, DynamoDB, Step Functions, and the messaging services that decouple them, plus the AI services added this cycle, Amazon Bedrock and Kiro. Note how it builds on week 1's compute and networking foundations and sets up the deployment and security weeks that follow.</a:t>
            </a:r>
          </a:p>
          <a:p>
            <a:endParaRPr/>
          </a:p>
          <a:p>
            <a:pPr>
              <a:spcAft>
                <a:spcPts val="600"/>
              </a:spcAft>
            </a:pPr>
            <a:r>
              <a:t>Keep it brief -- this is orientation, not content. The same map appears in every session with the current week moving, so returning attendees will recognize it at a glance. Then move into today's focus.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section opener for application integration. Put the question to the room: once you have more than one service, how do they pass work between each other without being tightly wired together? Take a couple of answers before moving on. Everyone here already met queues and topics in the last session, so treat this as going one level deeper rather than a first introduction.</a:t>
            </a:r>
          </a:p>
          <a:p>
            <a:endParaRPr/>
          </a:p>
          <a:p>
            <a:pPr>
              <a:spcAft>
                <a:spcPts val="600"/>
              </a:spcAft>
            </a:pPr>
            <a:r>
              <a:t>EXAM RELEVANCE: Decoupling producers from consumers is a core development idea on this exam. The services ahead -- Amazon SQS, Amazon SNS, and Amazon EventBridge -- are the ones most integration answers are built on, so the goal is to know which one a scenario is pointing at.</a:t>
            </a:r>
          </a:p>
          <a:p>
            <a:endParaRPr/>
          </a:p>
          <a:p>
            <a:pPr>
              <a:spcAft>
                <a:spcPts val="600"/>
              </a:spcAft>
            </a:pPr>
            <a:r>
              <a:t>PARTNER CONTEXT: When a customer's application starts to strain because one slow component holds up everything upstream, integration services are usually the fix a partner reaches for -- a buffer or a router that lets each piece work at its own pace.</a:t>
            </a:r>
          </a:p>
          <a:p>
            <a:endParaRPr/>
          </a:p>
          <a:p>
            <a:pPr>
              <a:spcAft>
                <a:spcPts val="600"/>
              </a:spcAft>
            </a:pPr>
            <a:r>
              <a:t>EXAM MAPPING: Domain 1, Development with AWS Services (, event-driven and decoupled patterns).</a:t>
            </a:r>
          </a:p>
          <a:p>
            <a:endParaRPr/>
          </a:p>
          <a:p>
            <a:pPr>
              <a:spcAft>
                <a:spcPts val="600"/>
              </a:spcAft>
            </a:pPr>
            <a:r>
              <a:t>REFERENCE: https://docs.aws.amazon.com/AWSSimpleQueueService/latest/SQSDeveloperGuide/welcome.html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one-slide map of the integration toolkit. Some services act as event stores: a queue such as Amazon SQS holds messages so a consumer can pull them when it is ready, which puts a buffer between a producer and a consumer running at different speeds. Others act as event routers: Amazon SNS and Amazon EventBridge push a message out to many consumers at once, with automatic retries and the ability to filter, so producers and consumers stay decoupled.</a:t>
            </a:r>
          </a:p>
          <a:p>
            <a:endParaRPr/>
          </a:p>
          <a:p>
            <a:pPr>
              <a:spcAft>
                <a:spcPts val="600"/>
              </a:spcAft>
            </a:pPr>
            <a:r>
              <a:t>EXAM RELEVANCE: Match the shape of the scenario to the category. Work that must be absorbed and processed at the consumer's pace points at a queue; an event that several independent consumers each need a copy of points at a topic or an event bus.</a:t>
            </a:r>
          </a:p>
          <a:p>
            <a:endParaRPr/>
          </a:p>
          <a:p>
            <a:pPr>
              <a:spcAft>
                <a:spcPts val="600"/>
              </a:spcAft>
            </a:pPr>
            <a:r>
              <a:t>PARTNER CONTEXT: Framing the choice as store-versus-route helps a customer pick the right service the first time, rather than bolting a queue onto a problem that actually needed fan-out.</a:t>
            </a:r>
          </a:p>
          <a:p>
            <a:endParaRPr/>
          </a:p>
          <a:p>
            <a:pPr>
              <a:spcAft>
                <a:spcPts val="600"/>
              </a:spcAft>
            </a:pPr>
            <a:r>
              <a:t>EXAM MAPPING: Domain 1 (decouple components) and (event-driven patterns).</a:t>
            </a:r>
          </a:p>
          <a:p>
            <a:endParaRPr/>
          </a:p>
          <a:p>
            <a:pPr>
              <a:spcAft>
                <a:spcPts val="600"/>
              </a:spcAft>
            </a:pPr>
            <a:r>
              <a:t>REFERENCE: https://docs.aws.amazon.com/eventbridge/latest/userguide/eb-what-is.html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lifecycle of a message that will not process. Follow it left to right -- it sits in the source queue, a consumer receives it, and the processing fails. It goes back and is tried again.</a:t>
            </a:r>
          </a:p>
          <a:p>
            <a:endParaRPr/>
          </a:p>
          <a:p>
            <a:pPr>
              <a:spcAft>
                <a:spcPts val="600"/>
              </a:spcAft>
            </a:pPr>
            <a:r>
              <a:t>Point at the chip in the middle. After the number of receives you configure, the message stops being retried in place and is moved to a separate dead-letter queue, where it is isolated rather than lost.</a:t>
            </a:r>
          </a:p>
          <a:p>
            <a:endParaRPr/>
          </a:p>
          <a:p>
            <a:pPr>
              <a:spcAft>
                <a:spcPts val="600"/>
              </a:spcAft>
            </a:pPr>
            <a:r>
              <a:t>The dashed path along the bottom is redrive. Once you have found and fixed the bug, you send the isolated messages back to the source queue to be processed normally.</a:t>
            </a:r>
          </a:p>
          <a:p>
            <a:endParaRPr/>
          </a:p>
          <a:p>
            <a:pPr>
              <a:spcAft>
                <a:spcPts val="600"/>
              </a:spcAft>
            </a:pPr>
            <a:r>
              <a:t>So a dead-letter queue is not an error bin you ignore -- it is a holding area that keeps a poison message from blocking the queue while preserving it for inspection.</a:t>
            </a:r>
          </a:p>
          <a:p>
            <a:endParaRPr/>
          </a:p>
          <a:p>
            <a:pPr>
              <a:spcAft>
                <a:spcPts val="600"/>
              </a:spcAft>
            </a:pPr>
            <a:r>
              <a:t>EXAM RELEVANCE: a scenario describing a message that repeatedly fails and blocks a queue, or a need to inspect failed messages without losing them, is pointing at a dead-letter queue and its maxReceiveCount.</a:t>
            </a:r>
          </a:p>
          <a:p>
            <a:endParaRPr/>
          </a:p>
          <a:p>
            <a:pPr>
              <a:spcAft>
                <a:spcPts val="600"/>
              </a:spcAft>
            </a:pPr>
            <a:r>
              <a:t>PARTNER CONTEXT: a customer whose queue stalls on one bad message usually has no dead-letter queue configured, so a single unprocessable item halts everything behind it.</a:t>
            </a:r>
          </a:p>
          <a:p>
            <a:endParaRPr/>
          </a:p>
          <a:p>
            <a:pPr>
              <a:spcAft>
                <a:spcPts val="600"/>
              </a:spcAft>
            </a:pPr>
            <a:r>
              <a:t>EXAM MAPPING: Domain 1.</a:t>
            </a:r>
          </a:p>
          <a:p>
            <a:endParaRPr/>
          </a:p>
          <a:p>
            <a:pPr>
              <a:spcAft>
                <a:spcPts val="600"/>
              </a:spcAft>
            </a:pPr>
            <a:r>
              <a:t>Verified against https://docs.aws.amazon.com/AWSSimpleQueueService/latest/SQSDeveloperGuide/sqs-dead-letter-queues.html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same five messages entering two different queues, so the only thing that changes between the lanes is what comes out.</a:t>
            </a:r>
          </a:p>
          <a:p>
            <a:endParaRPr/>
          </a:p>
          <a:p>
            <a:pPr>
              <a:spcAft>
                <a:spcPts val="600"/>
              </a:spcAft>
            </a:pPr>
            <a:r>
              <a:t>On the top lane, a standard queue delivers with best-effort ordering and at-least-once delivery, so a consumer may see the messages out of order and may occasionally see one twice. In return it scales to very high throughput.</a:t>
            </a:r>
          </a:p>
          <a:p>
            <a:endParaRPr/>
          </a:p>
          <a:p>
            <a:pPr>
              <a:spcAft>
                <a:spcPts val="600"/>
              </a:spcAft>
            </a:pPr>
            <a:r>
              <a:t>On the bottom lane, a FIFO queue preserves the exact order and processes each message exactly once. That guarantee is what you trade some throughput for.</a:t>
            </a:r>
          </a:p>
          <a:p>
            <a:endParaRPr/>
          </a:p>
          <a:p>
            <a:pPr>
              <a:spcAft>
                <a:spcPts val="600"/>
              </a:spcAft>
            </a:pPr>
            <a:r>
              <a:t>Say the choosing question out loud: does the order of these messages matter, and would processing one twice cause a problem? If yes, that is a FIFO queue.</a:t>
            </a:r>
          </a:p>
          <a:p>
            <a:endParaRPr/>
          </a:p>
          <a:p>
            <a:pPr>
              <a:spcAft>
                <a:spcPts val="600"/>
              </a:spcAft>
            </a:pPr>
            <a:r>
              <a:t>EXAM RELEVANCE: a scenario stressing strict ordering or no duplicates points at FIFO; one stressing maximum throughput where order does not matter points at standard.</a:t>
            </a:r>
          </a:p>
          <a:p>
            <a:endParaRPr/>
          </a:p>
          <a:p>
            <a:pPr>
              <a:spcAft>
                <a:spcPts val="600"/>
              </a:spcAft>
            </a:pPr>
            <a:r>
              <a:t>PARTNER CONTEXT: a customer processing financial transactions or a command sequence usually needs FIFO, while one ingesting independent events is fine on standard and cheaper for it.</a:t>
            </a:r>
          </a:p>
          <a:p>
            <a:endParaRPr/>
          </a:p>
          <a:p>
            <a:pPr>
              <a:spcAft>
                <a:spcPts val="600"/>
              </a:spcAft>
            </a:pPr>
            <a:r>
              <a:t>EXAM MAPPING: Domain 1.</a:t>
            </a:r>
          </a:p>
          <a:p>
            <a:endParaRPr/>
          </a:p>
          <a:p>
            <a:pPr>
              <a:spcAft>
                <a:spcPts val="600"/>
              </a:spcAft>
            </a:pPr>
            <a:r>
              <a:t>Verified against https://docs.aws.amazon.com/AWSSimpleQueueService/latest/SQSDeveloperGuide/FIFO-queues.html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quick recap of Amazon SNS, which you met last session. A publisher sends one message to a topic and every subscriber to that topic receives its own copy, pushed to endpoints such as SQS queues, Lambda functions, or HTTP endpoints. The contrast to hold onto is delivery model: a queue delivers a message to a single consumer that pulls when ready, while a topic pushes a copy to many consumers at once. The two combine in the fan-out pattern -- a topic in front of several queues -- which was covered in the previous session, so today we only place it against the routers that follow.</a:t>
            </a:r>
          </a:p>
          <a:p>
            <a:endParaRPr/>
          </a:p>
          <a:p>
            <a:pPr>
              <a:spcAft>
                <a:spcPts val="600"/>
              </a:spcAft>
            </a:pPr>
            <a:r>
              <a:t>EXAM RELEVANCE: Keep the one-to-one versus one-to-many distinction sharp. A requirement that several independent systems each act on the same event points at a topic; a requirement that one worker process each message exactly once points at a queue.</a:t>
            </a:r>
          </a:p>
          <a:p>
            <a:endParaRPr/>
          </a:p>
          <a:p>
            <a:pPr>
              <a:spcAft>
                <a:spcPts val="600"/>
              </a:spcAft>
            </a:pPr>
            <a:r>
              <a:t>PARTNER CONTEXT: When a customer needs the same event to trigger several downstream actions -- update a database, notify a service, kick off processing -- a topic subscribed by multiple endpoints does it without the publisher knowing who is listening.</a:t>
            </a:r>
          </a:p>
          <a:p>
            <a:endParaRPr/>
          </a:p>
          <a:p>
            <a:pPr>
              <a:spcAft>
                <a:spcPts val="600"/>
              </a:spcAft>
            </a:pPr>
            <a:r>
              <a:t>EXAM MAPPING: Domain 1 (decouple components) and (fan-out with SNS).</a:t>
            </a:r>
          </a:p>
          <a:p>
            <a:endParaRPr/>
          </a:p>
          <a:p>
            <a:pPr>
              <a:spcAft>
                <a:spcPts val="600"/>
              </a:spcAft>
            </a:pPr>
            <a:r>
              <a:t>REFERENCE: https://docs.aws.amazon.com/sns/latest/dg/welcome.html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an event arriving at an event bus, and two rules that inspect what the event contains. Point at the rules -- each one describes a pattern, and only the target behind a matching rule is invoked.</a:t>
            </a:r>
          </a:p>
          <a:p>
            <a:endParaRPr/>
          </a:p>
          <a:p>
            <a:pPr>
              <a:spcAft>
                <a:spcPts val="600"/>
              </a:spcAft>
            </a:pPr>
            <a:r>
              <a:t>That is the distinction from a topic. A topic pushes every message to every subscriber; an event bus reads the content of the event and routes it to the target whose rule matches.</a:t>
            </a:r>
          </a:p>
          <a:p>
            <a:endParaRPr/>
          </a:p>
          <a:p>
            <a:pPr>
              <a:spcAft>
                <a:spcPts val="600"/>
              </a:spcAft>
            </a:pPr>
            <a:r>
              <a:t>So the routing decision lives in the rule, not in the sender. Adding a new consumer for a new kind of event is a new rule, and the producer never changes.</a:t>
            </a:r>
          </a:p>
          <a:p>
            <a:endParaRPr/>
          </a:p>
          <a:p>
            <a:pPr>
              <a:spcAft>
                <a:spcPts val="600"/>
              </a:spcAft>
            </a:pPr>
            <a:r>
              <a:t>Contrast this with the fan-out you saw earlier, where the point was that every subscriber receives the same message. Here the point is selective routing on content.</a:t>
            </a:r>
          </a:p>
          <a:p>
            <a:endParaRPr/>
          </a:p>
          <a:p>
            <a:pPr>
              <a:spcAft>
                <a:spcPts val="600"/>
              </a:spcAft>
            </a:pPr>
            <a:r>
              <a:t>EXAM RELEVANCE: a scenario where different events must go to different handlers based on their content is pointing at EventBridge rules, not at a topic that delivers everything to everyone.</a:t>
            </a:r>
          </a:p>
          <a:p>
            <a:endParaRPr/>
          </a:p>
          <a:p>
            <a:pPr>
              <a:spcAft>
                <a:spcPts val="600"/>
              </a:spcAft>
            </a:pPr>
            <a:r>
              <a:t>PARTNER CONTEXT: a customer wiring one big handler that inspects every message and decides what to do is describing logic that a set of content rules can do for them.</a:t>
            </a:r>
          </a:p>
          <a:p>
            <a:endParaRPr/>
          </a:p>
          <a:p>
            <a:pPr>
              <a:spcAft>
                <a:spcPts val="600"/>
              </a:spcAft>
            </a:pPr>
            <a:r>
              <a:t>EXAM MAPPING: Domain 1.</a:t>
            </a:r>
          </a:p>
          <a:p>
            <a:endParaRPr/>
          </a:p>
          <a:p>
            <a:pPr>
              <a:spcAft>
                <a:spcPts val="600"/>
              </a:spcAft>
            </a:pPr>
            <a:r>
              <a:t>Verified against https://docs.aws.amazon.com/eventbridge/latest/userguide/eb-rules.html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published AWS case study, so every figure here is KnowBe4's and AWS's rather than ours. KnowBe4 is a cybersecurity training company. Read the rows left to right and you are working backwards from the customer's problem.</a:t>
            </a:r>
          </a:p>
          <a:p>
            <a:endParaRPr/>
          </a:p>
          <a:p>
            <a:pPr>
              <a:spcAft>
                <a:spcPts val="600"/>
              </a:spcAft>
            </a:pPr>
            <a:r>
              <a:t>THE SETUP: KnowBe4's services kept sending the same message to many consumers, so its teams built queue after queue for each one. The duplication slowed new features, and a mostly monolithic core made every change harder than it should have been.</a:t>
            </a:r>
          </a:p>
          <a:p>
            <a:endParaRPr/>
          </a:p>
          <a:p>
            <a:pPr>
              <a:spcAft>
                <a:spcPts val="600"/>
              </a:spcAft>
            </a:pPr>
            <a:r>
              <a:t>THE DECISION: KnowBe4 moved to a serverless, event-driven architecture on Amazon EventBridge. A producer publishes an event once and the bus routes a copy to every service that cares. The sender does not track who is listening, so teams add consumers without touching it.</a:t>
            </a:r>
          </a:p>
          <a:p>
            <a:endParaRPr/>
          </a:p>
          <a:p>
            <a:pPr>
              <a:spcAft>
                <a:spcPts val="600"/>
              </a:spcAft>
            </a:pPr>
            <a:r>
              <a:t>EXAM RELEVANCE: this is the messaging material one level deeper than a queue or a topic. When one event must reach many independent services and the sender should not track them, that points at an event bus routing on content, rather than a fan of hand-built queues.</a:t>
            </a:r>
          </a:p>
          <a:p>
            <a:endParaRPr/>
          </a:p>
          <a:p>
            <a:pPr>
              <a:spcAft>
                <a:spcPts val="600"/>
              </a:spcAft>
            </a:pPr>
            <a:r>
              <a:t>IF THEY ASK ABOUT RESULTS: the page reports the architecture was designed for bursts up to 20,000 events per second, managed 22 billion events in 2024, and held 99.99 percent uptime, with two new features shipping 3 months ahead of schedule.</a:t>
            </a:r>
          </a:p>
          <a:p>
            <a:endParaRPr/>
          </a:p>
          <a:p>
            <a:pPr>
              <a:spcAft>
                <a:spcPts val="600"/>
              </a:spcAft>
            </a:pPr>
            <a:r>
              <a:t>PARTNER CONTEXT: when a customer keeps wiring a new queue for every consumer of one message, that is the signal to introduce an event bus. It decouples the sender from a growing list of subscribers, and a service that had issues can replay the events it missed.</a:t>
            </a:r>
          </a:p>
          <a:p>
            <a:endParaRPr/>
          </a:p>
          <a:p>
            <a:pPr>
              <a:spcAft>
                <a:spcPts val="600"/>
              </a:spcAft>
            </a:pPr>
            <a:r>
              <a:t>EXAM MAPPING: Domain 1 (event-driven architecture with Amazon EventBridge).</a:t>
            </a:r>
          </a:p>
          <a:p>
            <a:endParaRPr/>
          </a:p>
          <a:p>
            <a:pPr>
              <a:spcAft>
                <a:spcPts val="600"/>
              </a:spcAft>
            </a:pPr>
            <a:r>
              <a:t>ON DELIVERY: 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a:p>
          <a:p>
            <a:pPr>
              <a:spcAft>
                <a:spcPts val="600"/>
              </a:spcAft>
            </a:pPr>
            <a:r>
              <a:t>REFERENCE: https://aws.amazon.com/solutions/case-studies/knowbe4-case-study/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section opener for caching. Put the question to the room before defining anything: when does putting a cache in front of a database actually help, and when is it just another moving part? Take an answer or two. The block is short -- what ElastiCache is, the two engines, and the two strategies for keeping a cache populated.</a:t>
            </a:r>
          </a:p>
          <a:p>
            <a:endParaRPr/>
          </a:p>
          <a:p>
            <a:pPr>
              <a:spcAft>
                <a:spcPts val="600"/>
              </a:spcAft>
            </a:pPr>
            <a:r>
              <a:t>EXAM RELEVANCE: Caching shows up as a performance-and-cost lever on this exam. The judgement being tested is when an in-memory cache is the right fit for an access pattern, and which strategy keeps the cached data usable.</a:t>
            </a:r>
          </a:p>
          <a:p>
            <a:endParaRPr/>
          </a:p>
          <a:p>
            <a:pPr>
              <a:spcAft>
                <a:spcPts val="600"/>
              </a:spcAft>
            </a:pPr>
            <a:r>
              <a:t>PARTNER CONTEXT: When a customer's database is hot on the same reads over and over, a cache is often the cheapest large win available -- but only for the right data, which is exactly the judgement this section builds.</a:t>
            </a:r>
          </a:p>
          <a:p>
            <a:endParaRPr/>
          </a:p>
          <a:p>
            <a:pPr>
              <a:spcAft>
                <a:spcPts val="600"/>
              </a:spcAft>
            </a:pPr>
            <a:r>
              <a:t>EXAM MAPPING: Domain 1, Development with AWS Services (, data stores and caching).</a:t>
            </a:r>
          </a:p>
          <a:p>
            <a:endParaRPr/>
          </a:p>
          <a:p>
            <a:pPr>
              <a:spcAft>
                <a:spcPts val="600"/>
              </a:spcAft>
            </a:pPr>
            <a:r>
              <a:t>REFERENCE: https://docs.aws.amazon.com/AmazonElastiCache/latest/dg/elasticache-use-cases.html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Amazon ElastiCache is a fully managed, in-memory key-value store that gives an application submillisecond access to copies of data it would otherwise fetch from a slower backing store. The point of the cache is speed and cost: reading from memory is far faster and cheaper than re-running an expensive query. It is a good fit when the data is slow or expensive to get relative to a cache read, when the same data is accessed often, and when the data changes slowly enough that a little staleness is acceptable.</a:t>
            </a:r>
          </a:p>
          <a:p>
            <a:endParaRPr/>
          </a:p>
          <a:p>
            <a:pPr>
              <a:spcAft>
                <a:spcPts val="600"/>
              </a:spcAft>
            </a:pPr>
            <a:r>
              <a:t>EXAM RELEVANCE: Match the access pattern to the decision. A scenario with hot, repeated reads over data that does not change every second is a caching scenario. One that needs every read to reflect the very latest write is not, unless the caching strategy guarantees freshness -- which is the next slide.</a:t>
            </a:r>
          </a:p>
          <a:p>
            <a:endParaRPr/>
          </a:p>
          <a:p>
            <a:pPr>
              <a:spcAft>
                <a:spcPts val="600"/>
              </a:spcAft>
            </a:pPr>
            <a:r>
              <a:t>PARTNER CONTEXT: The three conditions on the right are the quick test a partner can apply with a customer before recommending a cache, so the cache goes where it pays off rather than everywhere.</a:t>
            </a:r>
          </a:p>
          <a:p>
            <a:endParaRPr/>
          </a:p>
          <a:p>
            <a:pPr>
              <a:spcAft>
                <a:spcPts val="600"/>
              </a:spcAft>
            </a:pPr>
            <a:r>
              <a:t>EXAM MAPPING: Domain 1 (choose a data store by access pattern) and (ElastiCache).</a:t>
            </a:r>
          </a:p>
          <a:p>
            <a:endParaRPr/>
          </a:p>
          <a:p>
            <a:pPr>
              <a:spcAft>
                <a:spcPts val="600"/>
              </a:spcAft>
            </a:pPr>
            <a:r>
              <a:t>REFERENCE: https://docs.aws.amazon.com/AmazonElastiCache/latest/dg/elasticache-use-cases.html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ElastiCache offers more than one engine. Memcached is a straightforward distributed memory cache, well suited as a simple cache or a session store and easy to scale out across nodes. Redis OSS is an in-memory data structure store with a much richer feature set -- lists, sets, sorted sets, hashes and more -- so it works as a cache, a lightweight data store, or a message broker, and it supports replication and persistence that Memcached does not.</a:t>
            </a:r>
          </a:p>
          <a:p>
            <a:endParaRPr/>
          </a:p>
          <a:p>
            <a:pPr>
              <a:spcAft>
                <a:spcPts val="600"/>
              </a:spcAft>
            </a:pPr>
            <a:r>
              <a:t>EXAM RELEVANCE: Match the requirement to the engine. A scenario asking only for a fast, simple cache or session store points at Memcached. One that needs data structures, replication, persistence, or pub/sub features points at Redis. Keep the distinction at the level of capabilities rather than memorizing every data type.</a:t>
            </a:r>
          </a:p>
          <a:p>
            <a:endParaRPr/>
          </a:p>
          <a:p>
            <a:pPr>
              <a:spcAft>
                <a:spcPts val="600"/>
              </a:spcAft>
            </a:pPr>
            <a:r>
              <a:t>PARTNER CONTEXT: For a customer who only needs to cache query results, the simpler engine is usually the easier operational choice; the richer engine earns its keep when they need its features, not by default.</a:t>
            </a:r>
          </a:p>
          <a:p>
            <a:endParaRPr/>
          </a:p>
          <a:p>
            <a:pPr>
              <a:spcAft>
                <a:spcPts val="600"/>
              </a:spcAft>
            </a:pPr>
            <a:r>
              <a:t>EXAM MAPPING: Domain 1 (choose the caching engine that fits the workload).</a:t>
            </a:r>
          </a:p>
          <a:p>
            <a:endParaRPr/>
          </a:p>
          <a:p>
            <a:pPr>
              <a:spcAft>
                <a:spcPts val="600"/>
              </a:spcAft>
            </a:pPr>
            <a:r>
              <a:t>REFERENCE: https://docs.aws.amazon.com/AmazonElastiCache/latest/dg/SelectEngine.html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two caching strategies as two ordered paths. The top path is a read; the bottom is a write. Read the numbers in order on each.</a:t>
            </a:r>
          </a:p>
          <a:p>
            <a:endParaRPr/>
          </a:p>
          <a:p>
            <a:pPr>
              <a:spcAft>
                <a:spcPts val="600"/>
              </a:spcAft>
            </a:pPr>
            <a:r>
              <a:t>Lazy loading fills the cache only when something is asked for. The application reads the cache, and on a miss it reads the database and then populates the cache, so the next read of that item is fast. The cache holds only what has actually been requested.</a:t>
            </a:r>
          </a:p>
          <a:p>
            <a:endParaRPr/>
          </a:p>
          <a:p>
            <a:pPr>
              <a:spcAft>
                <a:spcPts val="600"/>
              </a:spcAft>
            </a:pPr>
            <a:r>
              <a:t>Write-through updates the cache every time the application writes. The data is written to the cache and the database together, so a later read is a hit -- but you are caching data that may never be read.</a:t>
            </a:r>
          </a:p>
          <a:p>
            <a:endParaRPr/>
          </a:p>
          <a:p>
            <a:pPr>
              <a:spcAft>
                <a:spcPts val="600"/>
              </a:spcAft>
            </a:pPr>
            <a:r>
              <a:t>Say the trade: lazy loading risks a stale entry and a slow first read; write-through keeps the cache current but writes data that may go unused.</a:t>
            </a:r>
          </a:p>
          <a:p>
            <a:endParaRPr/>
          </a:p>
          <a:p>
            <a:pPr>
              <a:spcAft>
                <a:spcPts val="600"/>
              </a:spcAft>
            </a:pPr>
            <a:r>
              <a:t>EXAM RELEVANCE: a scenario about a cold cache or serving only requested data points at lazy loading; one about keeping the cache always current on write points at write-through.</a:t>
            </a:r>
          </a:p>
          <a:p>
            <a:endParaRPr/>
          </a:p>
          <a:p>
            <a:pPr>
              <a:spcAft>
                <a:spcPts val="600"/>
              </a:spcAft>
            </a:pPr>
            <a:r>
              <a:t>PARTNER CONTEXT: a customer with a read-heavy workload and a large dataset usually starts with lazy loading, adding write-through only for data that must be fresh the instant it changes.</a:t>
            </a:r>
          </a:p>
          <a:p>
            <a:endParaRPr/>
          </a:p>
          <a:p>
            <a:pPr>
              <a:spcAft>
                <a:spcPts val="600"/>
              </a:spcAft>
            </a:pPr>
            <a:r>
              <a:t>EXAM MAPPING: Domain 1.</a:t>
            </a:r>
          </a:p>
          <a:p>
            <a:endParaRPr/>
          </a:p>
          <a:p>
            <a:pPr>
              <a:spcAft>
                <a:spcPts val="600"/>
              </a:spcAft>
            </a:pPr>
            <a:r>
              <a:t>Verified against https://docs.aws.amazon.com/AmazonElastiCache/latest/dg/Strategies.html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section opener for authentication. Put the two questions to the room: how does an application know who a user is, and how does it then let that user reach an AWS service on their own behalf? Those are two different jobs -- proving identity, and granting access -- and Amazon Cognito is the service that does both for web and mobile apps.</a:t>
            </a:r>
          </a:p>
          <a:p>
            <a:endParaRPr/>
          </a:p>
          <a:p>
            <a:pPr>
              <a:spcAft>
                <a:spcPts val="600"/>
              </a:spcAft>
            </a:pPr>
            <a:r>
              <a:t>EXAM RELEVANCE: This is a security-domain topic, and the distinction being tested is authentication versus authorization. Keep them separate in your head, because the two Cognito components map onto exactly that split.</a:t>
            </a:r>
          </a:p>
          <a:p>
            <a:endParaRPr/>
          </a:p>
          <a:p>
            <a:pPr>
              <a:spcAft>
                <a:spcPts val="600"/>
              </a:spcAft>
            </a:pPr>
            <a:r>
              <a:t>PARTNER CONTEXT: When a customer building a mobile or web app asks how to handle sign-in without running their own identity system, Cognito is usually the answer a partner reaches for -- a managed directory plus a way to hand out short-lived AWS access.</a:t>
            </a:r>
          </a:p>
          <a:p>
            <a:endParaRPr/>
          </a:p>
          <a:p>
            <a:pPr>
              <a:spcAft>
                <a:spcPts val="600"/>
              </a:spcAft>
            </a:pPr>
            <a:r>
              <a:t>EXAM MAPPING: Domain 2, Security (, authentication and authorization for applications).</a:t>
            </a:r>
          </a:p>
          <a:p>
            <a:endParaRPr/>
          </a:p>
          <a:p>
            <a:pPr>
              <a:spcAft>
                <a:spcPts val="600"/>
              </a:spcAft>
            </a:pPr>
            <a:r>
              <a:t>REFERENCE: https://docs.aws.amazon.com/cognito/latest/developerguide/what-is-amazon-cognito.html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Amazon Cognito provides authentication, authorization, and user management for web and mobile apps, and it has two main components. A user pool is a user directory: it gives your app sign-up and sign-in, and users can authenticate directly with a username and password or through a third party such as Google, Apple, or a SAML provider. An identity pool grants users access to other AWS services by handing out temporary AWS credentials. The two are separable -- you can use a user pool alone for sign-in, an identity pool alone for access, or both together.</a:t>
            </a:r>
          </a:p>
          <a:p>
            <a:endParaRPr/>
          </a:p>
          <a:p>
            <a:pPr>
              <a:spcAft>
                <a:spcPts val="600"/>
              </a:spcAft>
            </a:pPr>
            <a:r>
              <a:t>EXAM RELEVANCE: Hold the split precisely. The user pool answers who the user is (authentication); the identity pool answers what AWS resources the user may reach (authorization, via temporary credentials). A scenario about signing users in points at a user pool; one about letting a signed-in user call an AWS service points at an identity pool.</a:t>
            </a:r>
          </a:p>
          <a:p>
            <a:endParaRPr/>
          </a:p>
          <a:p>
            <a:pPr>
              <a:spcAft>
                <a:spcPts val="600"/>
              </a:spcAft>
            </a:pPr>
            <a:r>
              <a:t>PARTNER CONTEXT: For a customer who already has an identity provider, the user pool federates to it rather than replacing it, so users keep one login while the app still gets a consistent token to work with.</a:t>
            </a:r>
          </a:p>
          <a:p>
            <a:endParaRPr/>
          </a:p>
          <a:p>
            <a:pPr>
              <a:spcAft>
                <a:spcPts val="600"/>
              </a:spcAft>
            </a:pPr>
            <a:r>
              <a:t>EXAM MAPPING: Domain 2 (identity federation) and (authenticated calls to AWS).</a:t>
            </a:r>
          </a:p>
          <a:p>
            <a:endParaRPr/>
          </a:p>
          <a:p>
            <a:pPr>
              <a:spcAft>
                <a:spcPts val="600"/>
              </a:spcAft>
            </a:pPr>
            <a:r>
              <a:t>REFERENCE: https://docs.aws.amazon.com/cognito/latest/developerguide/what-is-amazon-cognito.html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sign-in journey, in order. The user signs in, a user pool authenticates them, an identity pool exchanges the result for temporary AWS credentials, and only then does the app call an AWS service.</a:t>
            </a:r>
          </a:p>
          <a:p>
            <a:endParaRPr/>
          </a:p>
          <a:p>
            <a:pPr>
              <a:spcAft>
                <a:spcPts val="600"/>
              </a:spcAft>
            </a:pPr>
            <a:r>
              <a:t>Point at the split named on the axis. The user pool answers who you are -- it is authentication, and it returns tokens. The identity pool answers what you may do -- it takes those tokens and hands back short-lived credentials scoped to a role.</a:t>
            </a:r>
          </a:p>
          <a:p>
            <a:endParaRPr/>
          </a:p>
          <a:p>
            <a:pPr>
              <a:spcAft>
                <a:spcPts val="600"/>
              </a:spcAft>
            </a:pPr>
            <a:r>
              <a:t>Those credentials are temporary and expiring, which is the security payoff: the app never holds a long-lived key, and access ends when the credentials do.</a:t>
            </a:r>
          </a:p>
          <a:p>
            <a:endParaRPr/>
          </a:p>
          <a:p>
            <a:pPr>
              <a:spcAft>
                <a:spcPts val="600"/>
              </a:spcAft>
            </a:pPr>
            <a:r>
              <a:t>The two pools are what learners confuse. One proves identity; the other grants access to AWS resources. You often use both, in this order.</a:t>
            </a:r>
          </a:p>
          <a:p>
            <a:endParaRPr/>
          </a:p>
          <a:p>
            <a:pPr>
              <a:spcAft>
                <a:spcPts val="600"/>
              </a:spcAft>
            </a:pPr>
            <a:r>
              <a:t>EXAM RELEVANCE: a scenario about signing users in points at a user pool; one about giving those signed-in users scoped access to an AWS service such as S3 points at an identity pool and temporary credentials.</a:t>
            </a:r>
          </a:p>
          <a:p>
            <a:endParaRPr/>
          </a:p>
          <a:p>
            <a:pPr>
              <a:spcAft>
                <a:spcPts val="600"/>
              </a:spcAft>
            </a:pPr>
            <a:r>
              <a:t>PARTNER CONTEXT: a customer embedding long-lived keys in a mobile or web client is describing exactly the risk this flow removes, because the client only ever receives credentials that expire.</a:t>
            </a:r>
          </a:p>
          <a:p>
            <a:endParaRPr/>
          </a:p>
          <a:p>
            <a:pPr>
              <a:spcAft>
                <a:spcPts val="600"/>
              </a:spcAft>
            </a:pPr>
            <a:r>
              <a:t>EXAM MAPPING: Domain 2.</a:t>
            </a:r>
          </a:p>
          <a:p>
            <a:endParaRPr/>
          </a:p>
          <a:p>
            <a:pPr>
              <a:spcAft>
                <a:spcPts val="600"/>
              </a:spcAft>
            </a:pPr>
            <a:r>
              <a:t>Verified against https://docs.aws.amazon.com/cognito/latest/developerguide/cognito-user-identity-pools.html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section opener for monitoring, and the largest block this week. Ask the room how they would find out why a running application is slow, erroring, or behaving oddly -- and take a couple of answers. The tools ahead answer three different questions: who did what, how the system is performing, and what happened in the logs.</a:t>
            </a:r>
          </a:p>
          <a:p>
            <a:endParaRPr/>
          </a:p>
          <a:p>
            <a:pPr>
              <a:spcAft>
                <a:spcPts val="600"/>
              </a:spcAft>
            </a:pPr>
            <a:r>
              <a:t>EXAM RELEVANCE: Monitoring and troubleshooting is a substantial part of this exam, and the questions are practical: read a metric, interpret a log, decide what an alarm should do. Keep the three tools -- CloudTrail, CloudWatch, and CloudWatch Logs -- clearly separated by the question each answers.</a:t>
            </a:r>
          </a:p>
          <a:p>
            <a:endParaRPr/>
          </a:p>
          <a:p>
            <a:pPr>
              <a:spcAft>
                <a:spcPts val="600"/>
              </a:spcAft>
            </a:pPr>
            <a:r>
              <a:t>PARTNER CONTEXT: When a customer's application misbehaves in production, the first partner question is usually "what does the telemetry say," and whether the right telemetry was even being collected -- which is exactly what this block sets up.</a:t>
            </a:r>
          </a:p>
          <a:p>
            <a:endParaRPr/>
          </a:p>
          <a:p>
            <a:pPr>
              <a:spcAft>
                <a:spcPts val="600"/>
              </a:spcAft>
            </a:pPr>
            <a:r>
              <a:t>EXAM MAPPING: Domain 4, Troubleshooting and Optimization (and, observability).</a:t>
            </a:r>
          </a:p>
          <a:p>
            <a:endParaRPr/>
          </a:p>
          <a:p>
            <a:pPr>
              <a:spcAft>
                <a:spcPts val="600"/>
              </a:spcAft>
            </a:pPr>
            <a:r>
              <a:t>REFERENCE: https://docs.aws.amazon.com/AmazonCloudWatch/latest/monitoring/WhatIsCloudWatch.html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two services developers mix up, side by side, with the question each one answers printed on it. Both panels are the same size on purpose, so the difference is the job, not the layout.</a:t>
            </a:r>
          </a:p>
          <a:p>
            <a:endParaRPr/>
          </a:p>
          <a:p>
            <a:pPr>
              <a:spcAft>
                <a:spcPts val="600"/>
              </a:spcAft>
            </a:pPr>
            <a:r>
              <a:t>CloudTrail records who acted. It logs API calls -- the identity, the time, the source -- and it is what you reach for to audit or investigate what happened in the account.</a:t>
            </a:r>
          </a:p>
          <a:p>
            <a:endParaRPr/>
          </a:p>
          <a:p>
            <a:pPr>
              <a:spcAft>
                <a:spcPts val="600"/>
              </a:spcAft>
            </a:pPr>
            <a:r>
              <a:t>CloudWatch tracks how the system is performing. It collects metrics and logs, drives dashboards and alarms, and it is what you reach for to watch health and react to problems.</a:t>
            </a:r>
          </a:p>
          <a:p>
            <a:endParaRPr/>
          </a:p>
          <a:p>
            <a:pPr>
              <a:spcAft>
                <a:spcPts val="600"/>
              </a:spcAft>
            </a:pPr>
            <a:r>
              <a:t>Say the split as a sentence: CloudTrail is who did what; CloudWatch is how is it doing. A single scenario usually only needs one of them.</a:t>
            </a:r>
          </a:p>
          <a:p>
            <a:endParaRPr/>
          </a:p>
          <a:p>
            <a:pPr>
              <a:spcAft>
                <a:spcPts val="600"/>
              </a:spcAft>
            </a:pPr>
            <a:r>
              <a:t>EXAM RELEVANCE: a scenario about auditing an action or finding who made a change points at CloudTrail; one about a performance metric, a threshold, or an alarm points at CloudWatch.</a:t>
            </a:r>
          </a:p>
          <a:p>
            <a:endParaRPr/>
          </a:p>
          <a:p>
            <a:pPr>
              <a:spcAft>
                <a:spcPts val="600"/>
              </a:spcAft>
            </a:pPr>
            <a:r>
              <a:t>PARTNER CONTEXT: a customer asking who deleted a resource needs CloudTrail, while one asking why latency spiked needs CloudWatch -- naming which question they are asking picks the service.</a:t>
            </a:r>
          </a:p>
          <a:p>
            <a:endParaRPr/>
          </a:p>
          <a:p>
            <a:pPr>
              <a:spcAft>
                <a:spcPts val="600"/>
              </a:spcAft>
            </a:pPr>
            <a:r>
              <a:t>EXAM MAPPING: Domain 4.</a:t>
            </a:r>
          </a:p>
          <a:p>
            <a:endParaRPr/>
          </a:p>
          <a:p>
            <a:pPr>
              <a:spcAft>
                <a:spcPts val="600"/>
              </a:spcAft>
            </a:pPr>
            <a:r>
              <a:t>Verified against https://docs.aws.amazon.com/AmazonCloudWatch/latest/monitoring/WhatIsCloudWatch.html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CloudTrail records every API call as a JSON event. This is what a management event looks like when someone tries to delete an S3 bucket and is refused. Point the room at the overall shape first, then read the fields that answer the audit question.</a:t>
            </a:r>
          </a:p>
          <a:p>
            <a:endParaRPr/>
          </a:p>
          <a:p>
            <a:pPr>
              <a:spcAft>
                <a:spcPts val="600"/>
              </a:spcAft>
            </a:pPr>
            <a:r>
              <a:t>The first three fields answer what and when: eventName is the API action, eventSource is the service it hit, and eventTime stamps it in UTC. Read them together as one thought.</a:t>
            </a:r>
          </a:p>
          <a:p>
            <a:endParaRPr/>
          </a:p>
          <a:p>
            <a:pPr>
              <a:spcAft>
                <a:spcPts val="600"/>
              </a:spcAft>
            </a:pPr>
            <a:r>
              <a:t>userIdentity answers who. For an IAM user you get the type and the user name; for a role you would instead see the assumed-role session. This is the field an audit starts from.</a:t>
            </a:r>
          </a:p>
          <a:p>
            <a:endParaRPr/>
          </a:p>
          <a:p>
            <a:pPr>
              <a:spcAft>
                <a:spcPts val="600"/>
              </a:spcAft>
            </a:pPr>
            <a:r>
              <a:t>sourceIPAddress says where the call originated, and errorCode tells you it did not succeed. AccessDenied means the permission was missing -- and the point of an audit trail is that the attempt is recorded either way.</a:t>
            </a:r>
          </a:p>
          <a:p>
            <a:endParaRPr/>
          </a:p>
          <a:p>
            <a:pPr>
              <a:spcAft>
                <a:spcPts val="600"/>
              </a:spcAft>
            </a:pPr>
            <a:r>
              <a:t>Verified against: https://docs.aws.amazon.com/awscloudtrail/latest/userguide/cloudtrail-event-reference-record-contents.html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how CloudWatch Logs is organized, drawn as containment. The outer box is a log group, the boxes inside it are log streams, and the rows inside each stream are log events. Nothing says contains -- the nesting says it.</a:t>
            </a:r>
          </a:p>
          <a:p>
            <a:endParaRPr/>
          </a:p>
          <a:p>
            <a:pPr>
              <a:spcAft>
                <a:spcPts val="600"/>
              </a:spcAft>
            </a:pPr>
            <a:r>
              <a:t>Point at the group first: it is one logical destination, usually one per application. Inside it, each stream is a separate source of events -- commonly one per instance or function version.</a:t>
            </a:r>
          </a:p>
          <a:p>
            <a:endParaRPr/>
          </a:p>
          <a:p>
            <a:pPr>
              <a:spcAft>
                <a:spcPts val="600"/>
              </a:spcAft>
            </a:pPr>
            <a:r>
              <a:t>Inside a stream, the events are the individual log lines, in the order they occurred. The timestamps are shown to make that ordering visible.</a:t>
            </a:r>
          </a:p>
          <a:p>
            <a:endParaRPr/>
          </a:p>
          <a:p>
            <a:pPr>
              <a:spcAft>
                <a:spcPts val="600"/>
              </a:spcAft>
            </a:pPr>
            <a:r>
              <a:t>The vocabulary is the lesson: group, stream, event. Knowing which level you are naming is what makes a logging question readable.</a:t>
            </a:r>
          </a:p>
          <a:p>
            <a:endParaRPr/>
          </a:p>
          <a:p>
            <a:pPr>
              <a:spcAft>
                <a:spcPts val="600"/>
              </a:spcAft>
            </a:pPr>
            <a:r>
              <a:t>EXAM RELEVANCE: a scenario about where an application's logs land, or about separating logs from different instances, is a question about groups and streams.</a:t>
            </a:r>
          </a:p>
          <a:p>
            <a:endParaRPr/>
          </a:p>
          <a:p>
            <a:pPr>
              <a:spcAft>
                <a:spcPts val="600"/>
              </a:spcAft>
            </a:pPr>
            <a:r>
              <a:t>PARTNER CONTEXT: a customer sending everything to one stream loses the ability to tell sources apart, so naming the group-and-stream structure early saves a painful reorganization later.</a:t>
            </a:r>
          </a:p>
          <a:p>
            <a:endParaRPr/>
          </a:p>
          <a:p>
            <a:pPr>
              <a:spcAft>
                <a:spcPts val="600"/>
              </a:spcAft>
            </a:pPr>
            <a:r>
              <a:t>EXAM MAPPING: Domain 4.</a:t>
            </a:r>
          </a:p>
          <a:p>
            <a:endParaRPr/>
          </a:p>
          <a:p>
            <a:pPr>
              <a:spcAft>
                <a:spcPts val="600"/>
              </a:spcAft>
            </a:pPr>
            <a:r>
              <a:t>Verified against https://docs.aws.amazon.com/AmazonCloudWatch/latest/logs/CloudWatchLogsConcepts.html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an ordered chain from a measurement to a response. A metric is collected, it crosses a threshold you set, the alarm changes state, and the alarm fires an action.</a:t>
            </a:r>
          </a:p>
          <a:p>
            <a:endParaRPr/>
          </a:p>
          <a:p>
            <a:pPr>
              <a:spcAft>
                <a:spcPts val="600"/>
              </a:spcAft>
            </a:pPr>
            <a:r>
              <a:t>Point at the threshold chip. The alarm is not watching a single reading -- it watches whether the metric stays over the threshold for the period you configure, which is what stops a momentary spike from firing it.</a:t>
            </a:r>
          </a:p>
          <a:p>
            <a:endParaRPr/>
          </a:p>
          <a:p>
            <a:pPr>
              <a:spcAft>
                <a:spcPts val="600"/>
              </a:spcAft>
            </a:pPr>
            <a:r>
              <a:t>When the alarm enters the in-alarm state, it acts. Follow the two arrows at the end: it can notify a topic so a person or system hears about it, or it can drive an Auto Scaling response to add capacity.</a:t>
            </a:r>
          </a:p>
          <a:p>
            <a:endParaRPr/>
          </a:p>
          <a:p>
            <a:pPr>
              <a:spcAft>
                <a:spcPts val="600"/>
              </a:spcAft>
            </a:pPr>
            <a:r>
              <a:t>So an alarm is a metric plus a rule plus an action. All three have to be set for anything to happen.</a:t>
            </a:r>
          </a:p>
          <a:p>
            <a:endParaRPr/>
          </a:p>
          <a:p>
            <a:pPr>
              <a:spcAft>
                <a:spcPts val="600"/>
              </a:spcAft>
            </a:pPr>
            <a:r>
              <a:t>EXAM RELEVANCE: a scenario describing an automatic reaction when a measurement crosses a limit -- a notification, or adding capacity under load -- is describing a CloudWatch alarm and its action.</a:t>
            </a:r>
          </a:p>
          <a:p>
            <a:endParaRPr/>
          </a:p>
          <a:p>
            <a:pPr>
              <a:spcAft>
                <a:spcPts val="600"/>
              </a:spcAft>
            </a:pPr>
            <a:r>
              <a:t>PARTNER CONTEXT: a customer watching a dashboard by hand to decide when to scale is describing work an alarm and its action can do without a person in the loop.</a:t>
            </a:r>
          </a:p>
          <a:p>
            <a:endParaRPr/>
          </a:p>
          <a:p>
            <a:pPr>
              <a:spcAft>
                <a:spcPts val="600"/>
              </a:spcAft>
            </a:pPr>
            <a:r>
              <a:t>EXAM MAPPING: Domain 4.</a:t>
            </a:r>
          </a:p>
          <a:p>
            <a:endParaRPr/>
          </a:p>
          <a:p>
            <a:pPr>
              <a:spcAft>
                <a:spcPts val="600"/>
              </a:spcAft>
            </a:pPr>
            <a:r>
              <a:t>Verified against https://docs.aws.amazon.com/AmazonCloudWatch/latest/monitoring/AlarmThatSendsEmail.html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published AWS case study, so the figures here are Wix's and AWS's rather than ours. Wix provides cloud-based website-building tools. Read the rows left to right: this is working backwards from the customer's problem.</a:t>
            </a:r>
          </a:p>
          <a:p>
            <a:endParaRPr/>
          </a:p>
          <a:p>
            <a:pPr>
              <a:spcAft>
                <a:spcPts val="600"/>
              </a:spcAft>
            </a:pPr>
            <a:r>
              <a:t>THE SETUP: when Wix moved to AWS, buying decisions shifted from procurement specialists to engineers. In one click an engineer could change the monthly bill, and the finance team had little near-real-time visibility into what was driving that cost.</a:t>
            </a:r>
          </a:p>
          <a:p>
            <a:endParaRPr/>
          </a:p>
          <a:p>
            <a:pPr>
              <a:spcAft>
                <a:spcPts val="600"/>
              </a:spcAft>
            </a:pPr>
            <a:r>
              <a:t>THE DECISION: Wix built its financial monitoring on Amazon CloudWatch. It tracks metrics across the stack, feeds a daily waste dashboard, and raises alerts when something anomalous happens, so an owner hears about a spike in minutes rather than hours.</a:t>
            </a:r>
          </a:p>
          <a:p>
            <a:endParaRPr/>
          </a:p>
          <a:p>
            <a:pPr>
              <a:spcAft>
                <a:spcPts val="600"/>
              </a:spcAft>
            </a:pPr>
            <a:r>
              <a:t>EXAM RELEVANCE: this is the monitoring material made real. A scenario about seeing a change as it happens and reacting to it points at a metric with an alarm on it. The alarm is what turns a watched number into an action a team actually receives.</a:t>
            </a:r>
          </a:p>
          <a:p>
            <a:endParaRPr/>
          </a:p>
          <a:p>
            <a:pPr>
              <a:spcAft>
                <a:spcPts val="600"/>
              </a:spcAft>
            </a:pPr>
            <a:r>
              <a:t>IF THEY ASK ABOUT RESULTS: the page reports Wix reduced its Amazon DynamoDB costs by over 50 percent by reading CloudWatch metrics and rightsizing capacity, then applied the same approach across a stack serving over 260 million users in 190 countries.</a:t>
            </a:r>
          </a:p>
          <a:p>
            <a:endParaRPr/>
          </a:p>
          <a:p>
            <a:pPr>
              <a:spcAft>
                <a:spcPts val="600"/>
              </a:spcAft>
            </a:pPr>
            <a:r>
              <a:t>PARTNER CONTEXT: when a customer worries that cloud spend stays invisible until the invoice arrives, this is the first move: put the numbers that matter on a CloudWatch metric, set an alarm, and route it to the team that owns the workload.</a:t>
            </a:r>
          </a:p>
          <a:p>
            <a:endParaRPr/>
          </a:p>
          <a:p>
            <a:pPr>
              <a:spcAft>
                <a:spcPts val="600"/>
              </a:spcAft>
            </a:pPr>
            <a:r>
              <a:t>EXAM MAPPING: Domain 4 (observability with Amazon CloudWatch metrics and alarms).</a:t>
            </a:r>
          </a:p>
          <a:p>
            <a:endParaRPr/>
          </a:p>
          <a:p>
            <a:pPr>
              <a:spcAft>
                <a:spcPts val="600"/>
              </a:spcAft>
            </a:pPr>
            <a:r>
              <a:t>ON DELIVERY: 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a:p>
          <a:p>
            <a:pPr>
              <a:spcAft>
                <a:spcPts val="600"/>
              </a:spcAft>
            </a:pPr>
            <a:r>
              <a:t>REFERENCE: https://aws.amazon.com/solutions/case-studies/wix-amazon-cloudwatch-case-study/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This marks the shift from teaching to practice. The next questions apply this week's application-integration, caching, authentication, and monitoring services to scenario-style problems.</a:t>
            </a:r>
          </a:p>
          <a:p>
            <a:endParaRPr/>
          </a:p>
          <a:p>
            <a:pPr>
              <a:spcAft>
                <a:spcPts val="600"/>
              </a:spcAft>
            </a:pPr>
            <a:r>
              <a:t>Frame it as a low-stakes checkpoint. The aim is to surface which services still feel unclear, not to score anyone. Ask the room to read each stem carefully and note the key phrases before looking at the choices.</a:t>
            </a:r>
          </a:p>
          <a:p>
            <a:endParaRPr/>
          </a:p>
          <a:p>
            <a:pPr>
              <a:spcAft>
                <a:spcPts val="600"/>
              </a:spcAft>
            </a:pPr>
            <a:r>
              <a:t>Remind everyone that the four-beat rhythm -- read, find the key phrases, reveal, then walk through why -- is a study technique they can reuse on their own practice sets.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1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1: Development with AWS Services.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customer's onboarding flow must fire several independent actions from one sign-up event -- a welcome email, a CRM record, a default workspace -- and one slow or failing step must not block the rest. An SNS topic with each function subscribed gives every consumer its own copy and its own failure domain, so a fourth action can be added later without touching the first three. This is the contrast that sets up EventBridge: SNS fans out to subscribers, EventBridge routes on the content of the event.</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“must all receive the registration event but must process independently”, and it tells you: Deliver one event to many independent consumers points to an SNS topic.</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1: Development with AWS Services. Difficulty: Medium. Ask the room which words they underlined before you show them the tell, so they practise finding it rather than being handed it.</a:t>
            </a:r>
          </a:p>
          <a:p>
            <a:endParaRPr/>
          </a:p>
          <a:p>
            <a:pPr>
              <a:spcAft>
                <a:spcPts val="600"/>
              </a:spcAft>
            </a:pPr>
            <a:r>
              <a:t>PARTNER CONTEXT: A customer's onboarding flow must fire several independent actions from one sign-up event -- a welcome email, a CRM record, a default workspace -- and one slow or failing step must not block the rest. An SNS topic with each function subscribed gives every consumer its own copy and its own failure domain, so a fourth action can be added later without touching the first three. This is the contrast that sets up EventBridge: SNS fans out to subscribers, EventBridge routes on the content of the event.</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SNS delivers every event to all subscribers, independently.</a:t>
            </a:r>
          </a:p>
          <a:p>
            <a:endParaRPr/>
          </a:p>
          <a:p>
            <a:pPr>
              <a:spcAft>
                <a:spcPts val="600"/>
              </a:spcAft>
            </a:pPr>
            <a:r>
              <a:t>A. Create an Amazon SNS topic. Subscribe each Lambda function to the topic. Publish the registration event to the topic. — Correct — SNS fan-out delivers a copy of each message to all subscribers independently. Each Lambda function receives and processes the event separately. If one subscriber fails, the other subscribers still receive and process the message. This provides the required independent parallel processing.</a:t>
            </a:r>
          </a:p>
          <a:p>
            <a:endParaRPr/>
          </a:p>
          <a:p>
            <a:pPr>
              <a:spcAft>
                <a:spcPts val="600"/>
              </a:spcAft>
            </a:pPr>
            <a:r>
              <a:t>B. Create an Amazon SQS queue. Configure each Lambda function to poll the same queue for registration events. — Incorrect — When multiple consumers poll the same SQS queue, each message is delivered to only one consumer. SQS does not deliver copies of a message to multiple consumers simultaneously. Only one of the three functions would process each registration event.</a:t>
            </a:r>
          </a:p>
          <a:p>
            <a:endParaRPr/>
          </a:p>
          <a:p>
            <a:pPr>
              <a:spcAft>
                <a:spcPts val="600"/>
              </a:spcAft>
            </a:pPr>
            <a:r>
              <a:t>C. Create an AWS Step Functions state machine with three parallel branches. Configure each branch to invoke one of the Lambda functions. — Incorrect — Step Functions parallel states invoke branches simultaneously. However, by default, if one branch fails, the entire parallel state fails. Additional error handling configuration would be needed to ensure independent processing. Also, Step Functions adds orchestration overhead compared to direct event delivery.</a:t>
            </a:r>
          </a:p>
          <a:p>
            <a:endParaRPr/>
          </a:p>
          <a:p>
            <a:pPr>
              <a:spcAft>
                <a:spcPts val="600"/>
              </a:spcAft>
            </a:pPr>
            <a:r>
              <a:t>D. Create a single Lambda function that calls the three processing functions sequentially using the AWS SDK Invoke API. — Incorrect — Sequential invocation from a single function creates tight coupling. If the coordinating function times out or fails, downstream functions may not be invoked. A failure in one invoke call could prevent subsequent functions from being called. This does not provide independent processing.</a:t>
            </a:r>
          </a:p>
          <a:p>
            <a:endParaRPr/>
          </a:p>
          <a:p>
            <a:pPr>
              <a:spcAft>
                <a:spcPts val="600"/>
              </a:spcAft>
            </a:pPr>
            <a:r>
              <a:t>EXAM RELEVANCE: Domain 1: Development with AWS Services. Difficulty: Medium.</a:t>
            </a:r>
          </a:p>
          <a:p>
            <a:endParaRPr/>
          </a:p>
          <a:p>
            <a:pPr>
              <a:spcAft>
                <a:spcPts val="600"/>
              </a:spcAft>
            </a:pPr>
            <a:r>
              <a:t>SOURCE: https://docs.aws.amazon.com/sns/latest/dg/sns-common-scenarios.html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win because sNS delivers every event to all subscribers, independently. The others are ruled out for one reason each: B — One queue hands each message to just one consumer; C — Step Functions couples the three into one orchestration; D — Sequential SDK calls stop at the first failure. Read the tell strip aloud -- pairing a phrase with what it signals is the transferable skill, not memorizing the service name.</a:t>
            </a:r>
          </a:p>
          <a:p>
            <a:endParaRPr/>
          </a:p>
          <a:p>
            <a:pPr>
              <a:spcAft>
                <a:spcPts val="600"/>
              </a:spcAft>
            </a:pPr>
            <a:r>
              <a:t>EXAM RELEVANCE: Domain 1: Development with AWS Services. Difficulty: Medium. The pattern to teach: a scenario question rarely offers three absurd options. It offers ones that match a nearby requirement and one (or two) that match the requirement exactly. Here the discriminator is “must all receive the registration event but must process independently”, which points at Deliver one event to many independent consumers points to an SNS topic. Encourage the room to name the phrase before naming the service.</a:t>
            </a:r>
          </a:p>
          <a:p>
            <a:endParaRPr/>
          </a:p>
          <a:p>
            <a:pPr>
              <a:spcAft>
                <a:spcPts val="600"/>
              </a:spcAft>
            </a:pPr>
            <a:r>
              <a:t>PARTNER CONTEXT: A customer's onboarding flow must fire several independent actions from one sign-up event -- a welcome email, a CRM record, a default workspace -- and one slow or failing step must not block the rest. An SNS topic with each function subscribed gives every consumer its own copy and its own failure domain, so a fourth action can be added later without touching the first three. This is the contrast that sets up EventBridge: SNS fans out to subscribers, EventBridge routes on the content of the event.</a:t>
            </a:r>
          </a:p>
          <a:p>
            <a:endParaRPr/>
          </a:p>
          <a:p>
            <a:pPr>
              <a:spcAft>
                <a:spcPts val="600"/>
              </a:spcAft>
            </a:pPr>
            <a:r>
              <a:t>SOURCE: https://docs.aws.amazon.com/sns/latest/dg/sns-common-scenarios.html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2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1: Development with AWS Services.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customer's product catalog reads dominate their database load, and prices only move on an hourly batch. Lazy loading with a one-hour TTL, plus invalidating the cache keys when the batch finishes, keeps the database quiet between runs and still surfaces new prices the moment they land. The value you add is matching the cache pattern to how the data actually changes, rather than reaching for write-through when the application itself never writes the prices.</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“users always see the most recent prices after a batch update completes”, and it tells you: Read-heavy with bounded staleness points to lazy loading plus a TTL.</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1: Development with AWS Services. Difficulty: Medium. Ask the room which words they underlined before you show them the tell, so they practise finding it rather than being handed it.</a:t>
            </a:r>
          </a:p>
          <a:p>
            <a:endParaRPr/>
          </a:p>
          <a:p>
            <a:pPr>
              <a:spcAft>
                <a:spcPts val="600"/>
              </a:spcAft>
            </a:pPr>
            <a:r>
              <a:t>PARTNER CONTEXT: A customer's product catalog reads dominate their database load, and prices only move on an hourly batch. Lazy loading with a one-hour TTL, plus invalidating the cache keys when the batch finishes, keeps the database quiet between runs and still surfaces new prices the moment they land. The value you add is matching the cache pattern to how the data actually changes, rather than reaching for write-through when the application itself never writes the prices.</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B. Lazy loading with a one-hour TTL bounds staleness.</a:t>
            </a:r>
          </a:p>
          <a:p>
            <a:endParaRPr/>
          </a:p>
          <a:p>
            <a:pPr>
              <a:spcAft>
                <a:spcPts val="600"/>
              </a:spcAft>
            </a:pPr>
            <a:r>
              <a:t>A. Implement a write-through strategy that updates the cache whenever the application writes to the database. — Incorrect — Write-through updates the cache on every write. However, the batch price update process runs against the database directly, not through the application. Write-through only works when all writes go through the application layer. Direct database batch updates would leave the cache stale.</a:t>
            </a:r>
          </a:p>
          <a:p>
            <a:endParaRPr/>
          </a:p>
          <a:p>
            <a:pPr>
              <a:spcAft>
                <a:spcPts val="600"/>
              </a:spcAft>
            </a:pPr>
            <a:r>
              <a:t>B. Implement a lazy loading strategy with a TTL set to 1 hour. Invalidate the cache keys after the batch process completes. — Correct — Lazy loading populates the cache on read misses. Setting a TTL of 1 hour provides a safety net for stale data. Invalidating cache keys after the batch update completes ensures that the next read fetches fresh data from the database. This combination minimizes database load during the hour between updates while guaranteeing fresh data after each batch.</a:t>
            </a:r>
          </a:p>
          <a:p>
            <a:endParaRPr/>
          </a:p>
          <a:p>
            <a:pPr>
              <a:spcAft>
                <a:spcPts val="600"/>
              </a:spcAft>
            </a:pPr>
            <a:r>
              <a:t>C. Implement a lazy loading strategy without TTL. Rely on the cache to expire items using the default eviction policy. — Incorrect — Without a TTL or explicit invalidation, cached items persist until memory pressure triggers eviction. After a batch price update, users would continue to see stale prices until the item is evicted. The default eviction policy (allkeys-lru) does not guarantee timely updates after batch processing.</a:t>
            </a:r>
          </a:p>
          <a:p>
            <a:endParaRPr/>
          </a:p>
          <a:p>
            <a:pPr>
              <a:spcAft>
                <a:spcPts val="600"/>
              </a:spcAft>
            </a:pPr>
            <a:r>
              <a:t>D. Implement a write-behind strategy that queues database writes and updates the cache first. — Incorrect — Write-behind (write-back) caching writes to the cache first and asynchronously updates the database. This is useful for write-heavy workloads where the application controls all writes. The batch process updates the database directly, so write-behind would not capture those changes in the cache.</a:t>
            </a:r>
          </a:p>
          <a:p>
            <a:endParaRPr/>
          </a:p>
          <a:p>
            <a:pPr>
              <a:spcAft>
                <a:spcPts val="600"/>
              </a:spcAft>
            </a:pPr>
            <a:r>
              <a:t>EXAM RELEVANCE: Domain 1: Development with AWS Services. Difficulty: Medium.</a:t>
            </a:r>
          </a:p>
          <a:p>
            <a:endParaRPr/>
          </a:p>
          <a:p>
            <a:pPr>
              <a:spcAft>
                <a:spcPts val="600"/>
              </a:spcAft>
            </a:pPr>
            <a:r>
              <a:t>SOURCE: https://docs.aws.amazon.com/whitepapers/latest/database-caching-strategies-using-redis/caching-patterns.html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B win because lazy loading with a one-hour TTL bounds staleness. The others are ruled out for one reason each: A — Write-through never sees the batch's out-of-band update; C — No TTL leaves stale prices until random eviction; D — Write-behind suits write-heavy paths, not a read catalog. Read the tell strip aloud -- pairing a phrase with what it signals is the transferable skill, not memorizing the service name.</a:t>
            </a:r>
          </a:p>
          <a:p>
            <a:endParaRPr/>
          </a:p>
          <a:p>
            <a:pPr>
              <a:spcAft>
                <a:spcPts val="600"/>
              </a:spcAft>
            </a:pPr>
            <a:r>
              <a:t>EXAM RELEVANCE: Domain 1: Development with AWS Services. Difficulty: Medium. The pattern to teach: a scenario question rarely offers three absurd options. It offers ones that match a nearby requirement and one (or two) that match the requirement exactly. Here the discriminator is “users always see the most recent prices after a batch update completes”, which points at Read-heavy with bounded staleness points to lazy loading plus a TTL. Encourage the room to name the phrase before naming the service.</a:t>
            </a:r>
          </a:p>
          <a:p>
            <a:endParaRPr/>
          </a:p>
          <a:p>
            <a:pPr>
              <a:spcAft>
                <a:spcPts val="600"/>
              </a:spcAft>
            </a:pPr>
            <a:r>
              <a:t>PARTNER CONTEXT: A customer's product catalog reads dominate their database load, and prices only move on an hourly batch. Lazy loading with a one-hour TTL, plus invalidating the cache keys when the batch finishes, keeps the database quiet between runs and still surfaces new prices the moment they land. The value you add is matching the cache pattern to how the data actually changes, rather than reaching for write-through when the application itself never writes the prices.</a:t>
            </a:r>
          </a:p>
          <a:p>
            <a:endParaRPr/>
          </a:p>
          <a:p>
            <a:pPr>
              <a:spcAft>
                <a:spcPts val="600"/>
              </a:spcAft>
            </a:pPr>
            <a:r>
              <a:t>SOURCE: https://docs.aws.amazon.com/whitepapers/latest/database-caching-strategies-using-redis/caching-patterns.html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3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2: Security.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 building a mobile app wants to own their user directory and still let each signed-in user reach an S3 bucket as themselves. A Cognito user pool handles sign-in, and an identity pool vends short-lived AWS credentials scoped by an IAM role, so no long-lived keys ever ship inside the app and there is no auth server to run or patch. The discriminator to teach is 'own directory' plus 'temporary AWS credentials' -- user pool for who you are, identity pool for what you may do.</a:t>
            </a:r>
          </a:p>
          <a:p>
            <a:endParaRPr/>
          </a:p>
          <a:p>
            <a:pPr>
              <a:spcAft>
                <a:spcPts val="600"/>
              </a:spcAft>
            </a:pPr>
            <a:r>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“manage its own user directory”, and it tells you: Own directory plus temporary AWS credentials points to Cognito pools.</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2: Security. Difficulty: Medium. Ask the room which words they underlined before you show them the tell, so they practise finding it rather than being handed it.</a:t>
            </a:r>
          </a:p>
          <a:p>
            <a:endParaRPr/>
          </a:p>
          <a:p>
            <a:pPr>
              <a:spcAft>
                <a:spcPts val="600"/>
              </a:spcAft>
            </a:pPr>
            <a:r>
              <a:t>PARTNER CONTEXT: A customer building a mobile app wants to own their user directory and still let each signed-in user reach an S3 bucket as themselves. A Cognito user pool handles sign-in, and an identity pool vends short-lived AWS credentials scoped by an IAM role, so no long-lived keys ever ship inside the app and there is no auth server to run or patch. The discriminator to teach is 'own directory' plus 'temporary AWS credentials' -- user pool for who you are, identity pool for what you may do.</a:t>
            </a:r>
          </a:p>
          <a:p>
            <a:endParaRPr/>
          </a:p>
          <a:p>
            <a:pPr>
              <a:spcAft>
                <a:spcPts val="600"/>
              </a:spcAft>
            </a:pPr>
            <a:r>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A user pool signs users in, an identity pool grants S3.</a:t>
            </a:r>
          </a:p>
          <a:p>
            <a:endParaRPr/>
          </a:p>
          <a:p>
            <a:pPr>
              <a:spcAft>
                <a:spcPts val="600"/>
              </a:spcAft>
            </a:pPr>
            <a:r>
              <a:t>A. Create an Amazon Cognito user pool for authentication. Create an identity pool that uses the user pool as an authentication provider. Configure the identity pool to provide temporary AWS credentials with an IAM role that grants S3 access. — Correct — A Cognito user pool provides a managed user directory with email/password authentication. An identity pool exchanges user pool tokens for temporary AWS credentials scoped to an IAM role. This gives authenticated users direct S3 access without managing infrastructure or credential distribution.</a:t>
            </a:r>
          </a:p>
          <a:p>
            <a:endParaRPr/>
          </a:p>
          <a:p>
            <a:pPr>
              <a:spcAft>
                <a:spcPts val="600"/>
              </a:spcAft>
            </a:pPr>
            <a:r>
              <a:t>B. Deploy an OpenID Connect provider on Amazon EC2. Create a Cognito identity pool that federates with the provider. Configure IAM roles for S3 access. — Incorrect — Deploying and managing a custom OpenID Connect provider on EC2 requires patching, scaling, and maintaining the authentication server. This adds significant operational overhead compared to using Cognito user pools as the managed user directory.</a:t>
            </a:r>
          </a:p>
          <a:p>
            <a:endParaRPr/>
          </a:p>
          <a:p>
            <a:pPr>
              <a:spcAft>
                <a:spcPts val="600"/>
              </a:spcAft>
            </a:pPr>
            <a:r>
              <a:t>C. Create IAM users for each application user. Generate access keys for each user. Embed the access keys in the mobile application for S3 access. — Incorrect — Creating IAM users for application users does not scale. IAM has account-level limits on the number of users. Embedding long-term access keys in mobile applications is a security risk. If the application binary is decompiled, the keys are exposed. IAM users are for AWS administrative access, not application end users.</a:t>
            </a:r>
          </a:p>
          <a:p>
            <a:endParaRPr/>
          </a:p>
          <a:p>
            <a:pPr>
              <a:spcAft>
                <a:spcPts val="600"/>
              </a:spcAft>
            </a:pPr>
            <a:r>
              <a:t>D. Create a Lambda function that validates user credentials against a DynamoDB table. Issue custom JWT tokens. Configure S3 bucket policies to validate the JWT on each request. — Incorrect — S3 bucket policies cannot validate custom JWT tokens. S3 evaluates IAM-based access policies and does not have a mechanism to parse or verify JWT claims in request headers. Additionally, managing a custom authentication system with DynamoDB adds operational overhead.</a:t>
            </a:r>
          </a:p>
          <a:p>
            <a:endParaRPr/>
          </a:p>
          <a:p>
            <a:pPr>
              <a:spcAft>
                <a:spcPts val="600"/>
              </a:spcAft>
            </a:pPr>
            <a:r>
              <a:t>EXAM RELEVANCE: Domain 2: Security. Difficulty: Medium.</a:t>
            </a:r>
          </a:p>
          <a:p>
            <a:endParaRPr/>
          </a:p>
          <a:p>
            <a:pPr>
              <a:spcAft>
                <a:spcPts val="600"/>
              </a:spcAft>
            </a:pPr>
            <a:r>
              <a:t>SOURCE: https://docs.aws.amazon.com/cognito/latest/developerguide/cognito-identity.html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win because a user pool signs users in, an identity pool grants S3. The others are ruled out for one reason each: B — Running your own OIDC server on EC2 adds overhead; C — Embedding long-lived IAM keys in an app is unsafe; D — S3 bucket policies cannot validate a custom JWT. Read the tell strip aloud -- pairing a phrase with what it signals is the transferable skill, not memorizing the service name.</a:t>
            </a:r>
          </a:p>
          <a:p>
            <a:endParaRPr/>
          </a:p>
          <a:p>
            <a:pPr>
              <a:spcAft>
                <a:spcPts val="600"/>
              </a:spcAft>
            </a:pPr>
            <a:r>
              <a:t>EXAM RELEVANCE: Domain 2: Security. Difficulty: Medium. The pattern to teach: a scenario question rarely offers three absurd options. It offers ones that match a nearby requirement and one (or two) that match the requirement exactly. Here the discriminator is “manage its own user directory”, which points at Own directory plus temporary AWS credentials points to Cognito pools. Encourage the room to name the phrase before naming the service.</a:t>
            </a:r>
          </a:p>
          <a:p>
            <a:endParaRPr/>
          </a:p>
          <a:p>
            <a:pPr>
              <a:spcAft>
                <a:spcPts val="600"/>
              </a:spcAft>
            </a:pPr>
            <a:r>
              <a:t>PARTNER CONTEXT: A customer building a mobile app wants to own their user directory and still let each signed-in user reach an S3 bucket as themselves. A Cognito user pool handles sign-in, and an identity pool vends short-lived AWS credentials scoped by an IAM role, so no long-lived keys ever ship inside the app and there is no auth server to run or patch. The discriminator to teach is 'own directory' plus 'temporary AWS credentials' -- user pool for who you are, identity pool for what you may do.</a:t>
            </a:r>
          </a:p>
          <a:p>
            <a:endParaRPr/>
          </a:p>
          <a:p>
            <a:pPr>
              <a:spcAft>
                <a:spcPts val="600"/>
              </a:spcAft>
            </a:pPr>
            <a:r>
              <a:t>SOURCE: https://docs.aws.amazon.com/cognito/latest/developerguide/cognito-identity.html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4 on screen and give the room about 90 seconds to read it in silence and commit to an answer before anyone speaks aloud. Note this is a select-two question, so tell the room to expect more than one answer.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4: Troubleshooting and Optimization.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customer's operations team wants to hear about slow orders without watching a dashboard. Publishing OrderProcessingTime with the PutMetricData API so the metric exists, then alarming on its five-minute Average with the action wired to their existing SNS topic, pages them only when it matters. The point worth making is that a custom metric has to be published before an alarm can watch it -- the two correct steps are 'create the data' and 'watch the data', in that order.</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“average order processing time exceeds 5 seconds over a 5-minute period”, and it tells you: An average over a window plus a notification points to an alarm with an SNS action.</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4: Troubleshooting and Optimization. Difficulty: Medium. Ask the room which words they underlined before you show them the tell, so they practise finding it rather than being handed it.</a:t>
            </a:r>
          </a:p>
          <a:p>
            <a:endParaRPr/>
          </a:p>
          <a:p>
            <a:pPr>
              <a:spcAft>
                <a:spcPts val="600"/>
              </a:spcAft>
            </a:pPr>
            <a:r>
              <a:t>PARTNER CONTEXT: A customer's operations team wants to hear about slow orders without watching a dashboard. Publishing OrderProcessingTime with the PutMetricData API so the metric exists, then alarming on its five-minute Average with the action wired to their existing SNS topic, pages them only when it matters. The point worth making is that a custom metric has to be published before an alarm can watch it -- the two correct steps are 'create the data' and 'watch the data', in that order.</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and B. Publish the metric, then alarm on its five-minute average.</a:t>
            </a:r>
          </a:p>
          <a:p>
            <a:endParaRPr/>
          </a:p>
          <a:p>
            <a:pPr>
              <a:spcAft>
                <a:spcPts val="600"/>
              </a:spcAft>
            </a:pPr>
            <a:r>
              <a:t>A. Create a CloudWatch alarm on the OrderProcessingTime metric with a threshold of 5 seconds, a period of 5 minutes, and the Average statistic. Configure the alarm action to publish to the SNS topic. — Correct — A CloudWatch alarm evaluates a metric against a threshold over a specified period. Setting the statistic to Average with a period of 300 seconds (5 minutes) and threshold of 5 seconds matches the requirement. Configuring the SNS topic as the alarm action sends the notification when the alarm state changes to ALARM.</a:t>
            </a:r>
          </a:p>
          <a:p>
            <a:endParaRPr/>
          </a:p>
          <a:p>
            <a:pPr>
              <a:spcAft>
                <a:spcPts val="600"/>
              </a:spcAft>
            </a:pPr>
            <a:r>
              <a:t>B. Ensure the application publishes the OrderProcessingTime metric data points with the correct namespace and dimensions using the PutMetricData API. — Correct — For a CloudWatch alarm to evaluate a custom metric, the application must publish metric data points to CloudWatch using the PutMetricData API. The metric must use a consistent namespace and dimensions so the alarm can locate and evaluate the correct data points.</a:t>
            </a:r>
          </a:p>
          <a:p>
            <a:endParaRPr/>
          </a:p>
          <a:p>
            <a:pPr>
              <a:spcAft>
                <a:spcPts val="600"/>
              </a:spcAft>
            </a:pPr>
            <a:r>
              <a:t>C. Create a CloudWatch Logs metric filter that extracts OrderProcessingTime values from application log entries and creates the custom metric. — Incorrect — The question states the application already emits a custom metric named OrderProcessingTime. A metric filter extracts metric data from log entries. Since the application directly publishes the metric, a metric filter is not needed and would create a duplicate metric.</a:t>
            </a:r>
          </a:p>
          <a:p>
            <a:endParaRPr/>
          </a:p>
          <a:p>
            <a:pPr>
              <a:spcAft>
                <a:spcPts val="600"/>
              </a:spcAft>
            </a:pPr>
            <a:r>
              <a:t>D. Create an Amazon EventBridge rule that matches CloudWatch alarm state change events. Configure the rule target to invoke the SNS topic. — Incorrect — While EventBridge can capture CloudWatch alarm state changes, this adds unnecessary complexity. CloudWatch alarms natively support SNS topics as alarm actions. Direct integration between the alarm and SNS is simpler and does not require an additional EventBridge rule.</a:t>
            </a:r>
          </a:p>
          <a:p>
            <a:endParaRPr/>
          </a:p>
          <a:p>
            <a:pPr>
              <a:spcAft>
                <a:spcPts val="600"/>
              </a:spcAft>
            </a:pPr>
            <a:r>
              <a:t>E. Configure CloudWatch to use the Sum statistic with a 1-minute period and set the threshold to 25 seconds. — Incorrect — Using the Sum statistic would add all processing times together. If 10 orders are processed in 5 minutes each taking 3 seconds, the sum would be 30 seconds and trigger the alarm even though no individual order exceeded 5 seconds. The requirement calls for the Average statistic over a 5-minute period.</a:t>
            </a:r>
          </a:p>
          <a:p>
            <a:endParaRPr/>
          </a:p>
          <a:p>
            <a:pPr>
              <a:spcAft>
                <a:spcPts val="600"/>
              </a:spcAft>
            </a:pPr>
            <a:r>
              <a:t>EXAM RELEVANCE: Domain 4: Troubleshooting and Optimization. Difficulty: Medium.</a:t>
            </a:r>
          </a:p>
          <a:p>
            <a:endParaRPr/>
          </a:p>
          <a:p>
            <a:pPr>
              <a:spcAft>
                <a:spcPts val="600"/>
              </a:spcAft>
            </a:pPr>
            <a:r>
              <a:t>SOURCE: https://docs.aws.amazon.com/AmazonCloudWatch/latest/monitoring/AlarmThatSendsEmail.html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and B are both required: publish the metric, then alarm on its five-minute average. The others are ruled out for one reason each: C — The metric is emitted directly, not parsed from logs; D — The alarm action already notifies SNS without EventBridge; E — Sum over one minute changes what the threshold means. Read the tell strip aloud -- pairing a phrase with what it signals is the transferable skill, not memorizing the service name.</a:t>
            </a:r>
          </a:p>
          <a:p>
            <a:endParaRPr/>
          </a:p>
          <a:p>
            <a:pPr>
              <a:spcAft>
                <a:spcPts val="600"/>
              </a:spcAft>
            </a:pPr>
            <a:r>
              <a:t>EXAM RELEVANCE: Domain 4: Troubleshooting and Optimization. Difficulty: Medium. The pattern to teach: a scenario question rarely offers three absurd options. It offers ones that match a nearby requirement and one (or two) that match the requirement exactly. Here the discriminator is “average order processing time exceeds 5 seconds over a 5-minute period”, which points at An average over a window plus a notification points to an alarm with an SNS action. Encourage the room to name the phrase before naming the service.</a:t>
            </a:r>
          </a:p>
          <a:p>
            <a:endParaRPr/>
          </a:p>
          <a:p>
            <a:pPr>
              <a:spcAft>
                <a:spcPts val="600"/>
              </a:spcAft>
            </a:pPr>
            <a:r>
              <a:t>PARTNER CONTEXT: A customer's operations team wants to hear about slow orders without watching a dashboard. Publishing OrderProcessingTime with the PutMetricData API so the metric exists, then alarming on its five-minute Average with the action wired to their existing SNS topic, pages them only when it matters. The point worth making is that a custom metric has to be published before an alarm can watch it -- the two correct steps are 'create the data' and 'watch the data', in that order.</a:t>
            </a:r>
          </a:p>
          <a:p>
            <a:endParaRPr/>
          </a:p>
          <a:p>
            <a:pPr>
              <a:spcAft>
                <a:spcPts val="600"/>
              </a:spcAft>
            </a:pPr>
            <a:r>
              <a:t>SOURCE: https://docs.aws.amazon.com/AmazonCloudWatch/latest/monitoring/AlarmThatSendsEmail.html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5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4: Troubleshooting and Optimization.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 loses time on every incident because the on-call developer hand-searches metrics, logs and traces across each service after an alarm fires. Starting a CloudWatch investigation from the alarm gathers the related signals and suggests probable causes automatically, so recovery starts from a short list instead of a blank page. Contrast it with paging or a saved query: those tell a human to go look, whereas the investigation does the correlation itself.</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“related signals gathered and probable causes suggested automatically”, and it tells you: Auto-correlate signals and suggest causes points to a CloudWatch investigation.</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4: Troubleshooting and Optimization. Difficulty: Medium. Ask the room which words they underlined before you show them the tell, so they practise finding it rather than being handed it.</a:t>
            </a:r>
          </a:p>
          <a:p>
            <a:endParaRPr/>
          </a:p>
          <a:p>
            <a:pPr>
              <a:spcAft>
                <a:spcPts val="600"/>
              </a:spcAft>
            </a:pPr>
            <a:r>
              <a:t>PARTNER CONTEXT: A customer loses time on every incident because the on-call developer hand-searches metrics, logs and traces across each service after an alarm fires. Starting a CloudWatch investigation from the alarm gathers the related signals and suggests probable causes automatically, so recovery starts from a short list instead of a blank page. Contrast it with paging or a saved query: those tell a human to go look, whereas the investigation does the correlation itself.</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D. An investigation gathers signals and suggests causes automatically.</a:t>
            </a:r>
          </a:p>
          <a:p>
            <a:endParaRPr/>
          </a:p>
          <a:p>
            <a:pPr>
              <a:spcAft>
                <a:spcPts val="600"/>
              </a:spcAft>
            </a:pPr>
            <a:r>
              <a:t>A. Create a CloudWatch Logs Insights query that the developer runs against each log group. — Incorrect — A Logs Insights query returns results only for the log groups it is run against, and a person runs it and interprets the output. It gathers no metrics or traces and suggests no probable cause.</a:t>
            </a:r>
          </a:p>
          <a:p>
            <a:endParaRPr/>
          </a:p>
          <a:p>
            <a:pPr>
              <a:spcAft>
                <a:spcPts val="600"/>
              </a:spcAft>
            </a:pPr>
            <a:r>
              <a:t>B. Configure the alarm to publish to a notification topic so the on-call developer is paged. — Incorrect — Publishing the alarm to a notification topic tells the developer that the alarm changed state. It delivers no correlated signals and no suggested cause, so the manual search still follows.</a:t>
            </a:r>
          </a:p>
          <a:p>
            <a:endParaRPr/>
          </a:p>
          <a:p>
            <a:pPr>
              <a:spcAft>
                <a:spcPts val="600"/>
              </a:spcAft>
            </a:pPr>
            <a:r>
              <a:t>C. Enable AWS X-Ray active tracing so the developer can review the trace map after the alarm. — Incorrect — The X-Ray trace map shows service relationships and where faults occur, which is useful evidence, but a person still reads the map and correlates it with metrics and logs. Nothing is gathered or suggested automatically when the alarm triggers.</a:t>
            </a:r>
          </a:p>
          <a:p>
            <a:endParaRPr/>
          </a:p>
          <a:p>
            <a:pPr>
              <a:spcAft>
                <a:spcPts val="600"/>
              </a:spcAft>
            </a:pPr>
            <a:r>
              <a:t>D. Start a CloudWatch investigation from the alarm so that related signals and probable causes are surfaced. — Correct — CloudWatch investigations can be started from an alarm and use artificial intelligence to gather related metrics, logs, traces, and recent changes across services. The investigation surfaces suggested probable causes, which replaces the manual search the on-call developer performs.</a:t>
            </a:r>
          </a:p>
          <a:p>
            <a:endParaRPr/>
          </a:p>
          <a:p>
            <a:pPr>
              <a:spcAft>
                <a:spcPts val="600"/>
              </a:spcAft>
            </a:pPr>
            <a:r>
              <a:t>EXAM RELEVANCE: Domain 4: Troubleshooting and Optimization. Difficulty: Medium.</a:t>
            </a:r>
          </a:p>
          <a:p>
            <a:endParaRPr/>
          </a:p>
          <a:p>
            <a:pPr>
              <a:spcAft>
                <a:spcPts val="600"/>
              </a:spcAft>
            </a:pPr>
            <a:r>
              <a:t>SOURCE: https://docs.aws.amazon.com/AmazonCloudWatch/latest/monitoring/Start-Investigation-Alarm.html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D win because an investigation gathers signals and suggests causes automatically. The others are ruled out for one reason each: A — A Logs Insights query is still run by hand; B — Paging notifies the developer, it gathers nothing; C — X-Ray shows traces only, and after the fact. Read the tell strip aloud -- pairing a phrase with what it signals is the transferable skill, not memorizing the service name.</a:t>
            </a:r>
          </a:p>
          <a:p>
            <a:endParaRPr/>
          </a:p>
          <a:p>
            <a:pPr>
              <a:spcAft>
                <a:spcPts val="600"/>
              </a:spcAft>
            </a:pPr>
            <a:r>
              <a:t>EXAM RELEVANCE: Domain 4: Troubleshooting and Optimization. Difficulty: Medium. The pattern to teach: a scenario question rarely offers three absurd options. It offers ones that match a nearby requirement and one (or two) that match the requirement exactly. Here the discriminator is “related signals gathered and probable causes suggested automatically”, which points at Auto-correlate signals and suggest causes points to a CloudWatch investigation. Encourage the room to name the phrase before naming the service.</a:t>
            </a:r>
          </a:p>
          <a:p>
            <a:endParaRPr/>
          </a:p>
          <a:p>
            <a:pPr>
              <a:spcAft>
                <a:spcPts val="600"/>
              </a:spcAft>
            </a:pPr>
            <a:r>
              <a:t>PARTNER CONTEXT: A customer loses time on every incident because the on-call developer hand-searches metrics, logs and traces across each service after an alarm fires. Starting a CloudWatch investigation from the alarm gathers the related signals and suggests probable causes automatically, so recovery starts from a short list instead of a blank page. Contrast it with paging or a saved query: those tell a human to go look, whereas the investigation does the correlation itself.</a:t>
            </a:r>
          </a:p>
          <a:p>
            <a:endParaRPr/>
          </a:p>
          <a:p>
            <a:pPr>
              <a:spcAft>
                <a:spcPts val="600"/>
              </a:spcAft>
            </a:pPr>
            <a:r>
              <a:t>SOURCE: https://docs.aws.amazon.com/AmazonCloudWatch/latest/monitoring/Start-Investigation-Alarm.html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6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4: Troubleshooting and Optimization.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customer's plain-text Lambda logs put the customer identifier in a different position on every line, so filtering by customer or by severity is guesswork. Emitting each event as a JSON object with named fields makes those values discoverable and filterable, and the logs still flow to the same log group. The change is in what the code logs, not where the logs go -- structure at write time is what turns an unsearchable line into a queryable record.</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“filter log events by customer identifier and by severity”, and it tells you: Filter by a field regardless of position points to structured JSON logs.</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4: Troubleshooting and Optimization. Difficulty: Medium. Ask the room which words they underlined before you show them the tell, so they practise finding it rather than being handed it.</a:t>
            </a:r>
          </a:p>
          <a:p>
            <a:endParaRPr/>
          </a:p>
          <a:p>
            <a:pPr>
              <a:spcAft>
                <a:spcPts val="600"/>
              </a:spcAft>
            </a:pPr>
            <a:r>
              <a:t>PARTNER CONTEXT: A customer's plain-text Lambda logs put the customer identifier in a different position on every line, so filtering by customer or by severity is guesswork. Emitting each event as a JSON object with named fields makes those values discoverable and filterable, and the logs still flow to the same log group. The change is in what the code logs, not where the logs go -- structure at write time is what turns an unsearchable line into a queryable record.</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D. Named JSON fields let you filter by any value.</a:t>
            </a:r>
          </a:p>
          <a:p>
            <a:endParaRPr/>
          </a:p>
          <a:p>
            <a:pPr>
              <a:spcAft>
                <a:spcPts val="600"/>
              </a:spcAft>
            </a:pPr>
            <a:r>
              <a:t>A. Increase the retention period of the CloudWatch log group so that more historical log events stay searchable. — Incorrect — Retention controls how long CloudWatch Logs keeps events before deleting them. It makes older events available but does nothing to make the customer identifier or the severity addressable as a field, so the developer still reads unstructured lines.</a:t>
            </a:r>
          </a:p>
          <a:p>
            <a:endParaRPr/>
          </a:p>
          <a:p>
            <a:pPr>
              <a:spcAft>
                <a:spcPts val="600"/>
              </a:spcAft>
            </a:pPr>
            <a:r>
              <a:t>B. Create a separate CloudWatch log group for each severity level, and write each plain-text line to its group. — Incorrect — Splitting by severity moves the log events to new log groups, which the requirement rules out, and it still leaves the customer identifier buried in free text. It also multiplies the log groups the developer must search for a single customer.</a:t>
            </a:r>
          </a:p>
          <a:p>
            <a:endParaRPr/>
          </a:p>
          <a:p>
            <a:pPr>
              <a:spcAft>
                <a:spcPts val="600"/>
              </a:spcAft>
            </a:pPr>
            <a:r>
              <a:t>C. Enable AWS X-Ray active tracing on the function, and review the trace map for the customer's failed orders. — Incorrect — The X-Ray trace map shows service relationships and where faults occur, which helps locate a slow or failing dependency. Traces are not log events, so the map cannot filter the function's log output by customer identifier or severity.</a:t>
            </a:r>
          </a:p>
          <a:p>
            <a:endParaRPr/>
          </a:p>
          <a:p>
            <a:pPr>
              <a:spcAft>
                <a:spcPts val="600"/>
              </a:spcAft>
            </a:pPr>
            <a:r>
              <a:t>D. Emit each log event as a structured JSON object with the customer identifier and the severity as named fields. — Correct — When a Lambda function writes log events as JSON, CloudWatch Logs Insights automatically discovers the top-level JSON keys as queryable fields. The developer can then filter on the customer identifier field and the severity field directly instead of matching text by position, and the events still go to the function's existing log group. Position in the line stops mattering because each value is addressed by name.</a:t>
            </a:r>
          </a:p>
          <a:p>
            <a:endParaRPr/>
          </a:p>
          <a:p>
            <a:pPr>
              <a:spcAft>
                <a:spcPts val="600"/>
              </a:spcAft>
            </a:pPr>
            <a:r>
              <a:t>EXAM RELEVANCE: Domain 4: Troubleshooting and Optimization. Difficulty: Medium.</a:t>
            </a:r>
          </a:p>
          <a:p>
            <a:endParaRPr/>
          </a:p>
          <a:p>
            <a:pPr>
              <a:spcAft>
                <a:spcPts val="600"/>
              </a:spcAft>
            </a:pPr>
            <a:r>
              <a:t>SOURCE: https://docs.aws.amazon.com/AmazonCloudWatch/latest/logs/CWL_AnalyzeLogData-discoverable-fields.html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D win because named JSON fields let you filter by any value. The others are ruled out for one reason each: A — Longer retention keeps lines, it does not filter fields; B — Splitting by severity breaks the single log group; C — X-Ray traces requests, it does not filter log fields. Read the tell strip aloud -- pairing a phrase with what it signals is the transferable skill, not memorizing the service name.</a:t>
            </a:r>
          </a:p>
          <a:p>
            <a:endParaRPr/>
          </a:p>
          <a:p>
            <a:pPr>
              <a:spcAft>
                <a:spcPts val="600"/>
              </a:spcAft>
            </a:pPr>
            <a:r>
              <a:t>EXAM RELEVANCE: Domain 4: Troubleshooting and Optimization. Difficulty: Medium. The pattern to teach: a scenario question rarely offers three absurd options. It offers ones that match a nearby requirement and one (or two) that match the requirement exactly. Here the discriminator is “filter log events by customer identifier and by severity”, which points at Filter by a field regardless of position points to structured JSON logs. Encourage the room to name the phrase before naming the service.</a:t>
            </a:r>
          </a:p>
          <a:p>
            <a:endParaRPr/>
          </a:p>
          <a:p>
            <a:pPr>
              <a:spcAft>
                <a:spcPts val="600"/>
              </a:spcAft>
            </a:pPr>
            <a:r>
              <a:t>PARTNER CONTEXT: A customer's plain-text Lambda logs put the customer identifier in a different position on every line, so filtering by customer or by severity is guesswork. Emitting each event as a JSON object with named fields makes those values discoverable and filterable, and the logs still flow to the same log group. The change is in what the code logs, not where the logs go -- structure at write time is what turns an unsearchable line into a queryable record.</a:t>
            </a:r>
          </a:p>
          <a:p>
            <a:endParaRPr/>
          </a:p>
          <a:p>
            <a:pPr>
              <a:spcAft>
                <a:spcPts val="600"/>
              </a:spcAft>
            </a:pPr>
            <a:r>
              <a:t>SOURCE: https://docs.aws.amazon.com/AmazonCloudWatch/latest/logs/CWL_AnalyzeLogData-discoverable-fields.html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preview of next week's training so people can get a head start whenever they are ready. The left card is the free Learning Plan; the right card is the optional Exam Prep Plan a subscriber can add.</a:t>
            </a:r>
          </a:p>
          <a:p>
            <a:endParaRPr/>
          </a:p>
          <a:p>
            <a:pPr>
              <a:spcAft>
                <a:spcPts val="600"/>
              </a:spcAft>
            </a:pPr>
            <a:r>
              <a:t>FACILITATOR: Keep this light -- it is a look ahead, not an assignment for today. Note that week four moves into infrastructure as code with CloudFormation, serverless deployment, and a security deep dive on IAM, which builds directly on this week's integration and monitoring work.</a:t>
            </a:r>
          </a:p>
          <a:p>
            <a:endParaRPr/>
          </a:p>
          <a:p>
            <a:pPr>
              <a:spcAft>
                <a:spcPts val="600"/>
              </a:spcAft>
            </a:pPr>
            <a:r>
              <a:t>Encourage anyone who is ahead to start early, and reassure anyone still catching up on week three that the sessions build gradually.</a:t>
            </a:r>
          </a:p>
          <a:p>
            <a:endParaRPr/>
          </a:p>
          <a:p>
            <a:pPr>
              <a:spcAft>
                <a:spcPts val="600"/>
              </a:spcAft>
            </a:pPr>
            <a:r>
              <a:t>Note: the item names beginning "Domain 4" are the actual Exam Prep Plan module names in Skill Builder, so learners can locate them; they are navigation, not exam-coverage claims.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Open the floor. Invite questions on anything from this week's services -- messaging and events, caching, authentication, monitoring -- to study logistics and exam scheduling.</a:t>
            </a:r>
          </a:p>
          <a:p>
            <a:endParaRPr/>
          </a:p>
          <a:p>
            <a:pPr>
              <a:spcAft>
                <a:spcPts val="600"/>
              </a:spcAft>
            </a:pPr>
            <a:r>
              <a:t>If the room is quiet, prime it with a question of your own. Ask which service felt least clear this week, or how people are finding the practice questions.</a:t>
            </a:r>
          </a:p>
          <a:p>
            <a:endParaRPr/>
          </a:p>
          <a:p>
            <a:pPr>
              <a:spcAft>
                <a:spcPts val="600"/>
              </a:spcAft>
            </a:pPr>
            <a:r>
              <a:t>Keep answers short and point to the relevant documentation or the exam prep resources where a deeper follow-up is warranted.</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Close warmly. Thank the room for their time and their engagement, and remind them of the two things that keep momentum: finish this week's training and make a start on next week's preview.</a:t>
            </a:r>
          </a:p>
          <a:p>
            <a:endParaRPr/>
          </a:p>
          <a:p>
            <a:pPr>
              <a:spcAft>
                <a:spcPts val="600"/>
              </a:spcAft>
            </a:pPr>
            <a:r>
              <a:t>Restate when the next session is and encourage anyone who has not yet scheduled their exam to plan a target date.</a:t>
            </a:r>
          </a:p>
          <a:p>
            <a:endParaRPr/>
          </a:p>
          <a:p>
            <a:pPr>
              <a:spcAft>
                <a:spcPts val="600"/>
              </a:spcAft>
            </a:pPr>
            <a:r>
              <a:t>End on encouragement -- they are building real, job-relevant skills, and steady weekly progress is what gets them exam-ready.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APPENDIX: divider. This block is self-study reference for anyone who plans to sit DVA-C02 rather than C03. It is not taught in the session -- point the room at it and move on. The three appendix slides sit together at the end of the deck by design.</a:t>
            </a:r>
          </a:p>
          <a:p>
            <a:endParaRPr/>
          </a:p>
          <a:p>
            <a:pPr>
              <a:spcAft>
                <a:spcPts val="600"/>
              </a:spcAft>
            </a:pPr>
            <a:r>
              <a:t>WHAT'S HERE: The session decks are built for DVA-C03. This appendix collects what a C02 candidate needs that the C03 body does not spell out: how the exam guide's weightings shifted, and what changed for this week's topics.</a:t>
            </a:r>
          </a:p>
          <a:p>
            <a:endParaRPr/>
          </a:p>
          <a:p>
            <a:pPr>
              <a:spcAft>
                <a:spcPts val="600"/>
              </a:spcAft>
            </a:pPr>
            <a:r>
              <a:t>EXAM RELEVANCE: DVA-C02 is the live exam today; DVA-C03 is the version this course trains toward. AWS AppSync is in the published DVA-C02 in-scope list and is not taught in this C03-targeted body, so a C02 candidate studies it separately.</a:t>
            </a:r>
          </a:p>
          <a:p>
            <a:endParaRPr/>
          </a:p>
          <a:p>
            <a:pPr>
              <a:spcAft>
                <a:spcPts val="600"/>
              </a:spcAft>
            </a:pPr>
            <a:r>
              <a:t>REFERENCE: The C02 figures come from the DVA-C02 exam guide; the C03 figures come from the September 2026 certification updates blog. Both are linked from the delta slides that follow. EXAM MAPPING: DVA-C02 to DVA-C03 comparison.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APPENDIX: week-3 delta table. Walk the left column first: the four domain weightings barely move. Development eases from 32% to 30%, Security holds at 26%, Testing and Deployment eases from 24% to 22%, and Troubleshooting and Optimization rises from 18% to 22% -- the largest single shift.</a:t>
            </a:r>
          </a:p>
          <a:p>
            <a:endParaRPr/>
          </a:p>
          <a:p>
            <a:pPr>
              <a:spcAft>
                <a:spcPts val="600"/>
              </a:spcAft>
            </a:pPr>
            <a:r>
              <a:t>WHAT'S HERE: The right column is week 3's story. Nothing moves between domains this week. Observability consolidates -- C02 spread eight observability skills across Domain 4, and C03 merges three of them into five.</a:t>
            </a:r>
          </a:p>
          <a:p>
            <a:endParaRPr/>
          </a:p>
          <a:p>
            <a:pPr>
              <a:spcAft>
                <a:spcPts val="600"/>
              </a:spcAft>
            </a:pPr>
            <a:r>
              <a:t>The other week-3 note is AWS AppSync. It is in the published DVA-C02 in-scope list and is not taught in this C03-targeted body.</a:t>
            </a:r>
          </a:p>
          <a:p>
            <a:endParaRPr/>
          </a:p>
          <a:p>
            <a:pPr>
              <a:spcAft>
                <a:spcPts val="600"/>
              </a:spcAft>
            </a:pPr>
            <a:r>
              <a:t>EXAM RELEVANCE: The monitoring and messaging services taught this week are the same on both exams; only their skill granularity tightens. A C02 candidate studies AppSync as well, because it is still in scope for that exam.</a:t>
            </a:r>
          </a:p>
          <a:p>
            <a:endParaRPr/>
          </a:p>
          <a:p>
            <a:pPr>
              <a:spcAft>
                <a:spcPts val="600"/>
              </a:spcAft>
            </a:pPr>
            <a:r>
              <a:t>REFERENCE: C02 weightings and domains are from the DVA-C02 exam guide at docs.aws.amazon.com/aws-certification/latest/developer-associate-02/; the C03 consolidation is quoted from the September 2026 certification updates blog, linked on this slide. EXAM MAPPING: Domain 4 observability consolidation, plus AppSync on the C02 exam.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APPENDIX: C02 reference. For a candidate sitting C02 rather than C03, this slide covers the Session 3 body. The left column is short by design: nothing taught this week was added only for C03, so there is no section a C02 candidate should skip.</a:t>
            </a:r>
          </a:p>
          <a:p>
            <a:endParaRPr/>
          </a:p>
          <a:p>
            <a:pPr>
              <a:spcAft>
                <a:spcPts val="600"/>
              </a:spcAft>
            </a:pPr>
            <a:r>
              <a:t>Every week-3 service -- SQS, SNS, EventBridge, ElastiCache, Cognito, CloudWatch, CloudWatch Logs and CloudTrail -- is in scope on both exams and should be studied for either.</a:t>
            </a:r>
          </a:p>
          <a:p>
            <a:endParaRPr/>
          </a:p>
          <a:p>
            <a:pPr>
              <a:spcAft>
                <a:spcPts val="600"/>
              </a:spcAft>
            </a:pPr>
            <a:r>
              <a:t>WHAT'S HERE: The right column is the one real difference. AWS AppSync is in the published DVA-C02 in-scope list, so it is taught here for C02 candidates even though this deck targets C03.</a:t>
            </a:r>
          </a:p>
          <a:p>
            <a:endParaRPr/>
          </a:p>
          <a:p>
            <a:pPr>
              <a:spcAft>
                <a:spcPts val="600"/>
              </a:spcAft>
            </a:pPr>
            <a:r>
              <a:t>EXAM RELEVANCE: AppSync is the one service in the program that a C02 candidate needs and this C03-targeted body does not teach. Point a C02 candidate at it explicitly rather than letting them infer from its absence.</a:t>
            </a:r>
          </a:p>
          <a:p>
            <a:endParaRPr/>
          </a:p>
          <a:p>
            <a:pPr>
              <a:spcAft>
                <a:spcPts val="600"/>
              </a:spcAft>
            </a:pPr>
            <a:r>
              <a:t>REFERENCE: Grounded in the public DVA-C02 exam guide and the September 2026 certification updates blog. EXAM MAPPING: DVA-C02 versus DVA-C03 scope for Session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228489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1383768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sz="4000" baseline="0"/>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hasCustomPrompt="1"/>
          </p:nvPr>
        </p:nvSpPr>
        <p:spPr>
          <a:xfrm>
            <a:off x="478221" y="986966"/>
            <a:ext cx="11652250" cy="424732"/>
          </a:xfrm>
        </p:spPr>
        <p:txBody>
          <a:bodyPr/>
          <a:lstStyle>
            <a:lvl1pPr marL="0" indent="0">
              <a:buNone/>
              <a:defRPr sz="2400">
                <a:solidFill>
                  <a:schemeClr val="accent1"/>
                </a:solidFill>
              </a:defRPr>
            </a:lvl1pPr>
          </a:lstStyle>
          <a:p>
            <a:pPr lvl="0"/>
            <a:r>
              <a:rPr lang="en-US" dirty="0"/>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204341204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899665"/>
          </a:xfrm>
        </p:spPr>
        <p:txBody>
          <a:bodyPr lIns="182880" tIns="146304" rIns="182880" bIns="146304"/>
          <a:lstStyle>
            <a:lvl1pPr>
              <a:defRPr/>
            </a:lvl1pPr>
          </a:lstStyle>
          <a:p>
            <a:r>
              <a:rPr lang="en-US" dirty="0"/>
              <a:t>Click to edit master title style</a:t>
            </a:r>
          </a:p>
        </p:txBody>
      </p:sp>
    </p:spTree>
    <p:extLst>
      <p:ext uri="{BB962C8B-B14F-4D97-AF65-F5344CB8AC3E}">
        <p14:creationId xmlns:p14="http://schemas.microsoft.com/office/powerpoint/2010/main" val="76606578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hasCustomPrompt="1"/>
          </p:nvPr>
        </p:nvSpPr>
        <p:spPr>
          <a:xfrm>
            <a:off x="269875" y="987468"/>
            <a:ext cx="11652250" cy="424732"/>
          </a:xfrm>
        </p:spPr>
        <p:txBody>
          <a:bodyPr/>
          <a:lstStyle>
            <a:lvl1pPr marL="0" indent="0">
              <a:buNone/>
              <a:defRPr sz="2400">
                <a:solidFill>
                  <a:schemeClr val="accent1"/>
                </a:solidFill>
              </a:defRPr>
            </a:lvl1pPr>
          </a:lstStyle>
          <a:p>
            <a:pPr lvl="0"/>
            <a:r>
              <a:rPr lang="en-US" dirty="0"/>
              <a:t>   Edit Master text styles</a:t>
            </a:r>
          </a:p>
        </p:txBody>
      </p:sp>
    </p:spTree>
    <p:extLst>
      <p:ext uri="{BB962C8B-B14F-4D97-AF65-F5344CB8AC3E}">
        <p14:creationId xmlns:p14="http://schemas.microsoft.com/office/powerpoint/2010/main" val="169578238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64810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Standard Content Page Layout (no subtitl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49053" y="232274"/>
            <a:ext cx="10940405" cy="727655"/>
          </a:xfrm>
        </p:spPr>
        <p:txBody>
          <a:bodyPr lIns="0"/>
          <a:lstStyle>
            <a:lvl1pPr>
              <a:defRPr baseline="0">
                <a:solidFill>
                  <a:schemeClr val="bg2">
                    <a:lumMod val="10000"/>
                  </a:schemeClr>
                </a:solidFill>
                <a:latin typeface="Amazon Ember Light"/>
                <a:cs typeface="Amazon Ember Light"/>
              </a:defRPr>
            </a:lvl1pPr>
          </a:lstStyle>
          <a:p>
            <a:pPr lvl="0"/>
            <a:r>
              <a:rPr lang="en-US" dirty="0"/>
              <a:t>Standard Content Page (optional, includes subtitle)</a:t>
            </a:r>
          </a:p>
        </p:txBody>
      </p:sp>
      <p:sp>
        <p:nvSpPr>
          <p:cNvPr id="6" name="Content Placeholder 3"/>
          <p:cNvSpPr>
            <a:spLocks noGrp="1"/>
          </p:cNvSpPr>
          <p:nvPr>
            <p:ph sz="half" idx="12" hasCustomPrompt="1"/>
          </p:nvPr>
        </p:nvSpPr>
        <p:spPr>
          <a:xfrm>
            <a:off x="456055" y="959928"/>
            <a:ext cx="10968300" cy="443198"/>
          </a:xfrm>
        </p:spPr>
        <p:txBody>
          <a:bodyPr lIns="0" tIns="0" rIns="0" bIns="0" anchor="t"/>
          <a:lstStyle>
            <a:lvl1pPr>
              <a:defRPr baseline="0">
                <a:solidFill>
                  <a:schemeClr val="bg2">
                    <a:lumMod val="10000"/>
                  </a:schemeClr>
                </a:solidFill>
                <a:latin typeface="Amazon Ember Light"/>
                <a:cs typeface="Amazon Ember Light"/>
              </a:defRPr>
            </a:lvl1pPr>
          </a:lstStyle>
          <a:p>
            <a:r>
              <a:rPr lang="en-US" dirty="0"/>
              <a:t>Body copy here</a:t>
            </a:r>
          </a:p>
        </p:txBody>
      </p:sp>
      <p:sp>
        <p:nvSpPr>
          <p:cNvPr id="5" name="TextBox 4">
            <a:extLst>
              <a:ext uri="{FF2B5EF4-FFF2-40B4-BE49-F238E27FC236}">
                <a16:creationId xmlns:a16="http://schemas.microsoft.com/office/drawing/2014/main" id="{704F691A-EE12-47CB-ABA4-3E406F9ABD14}"/>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1314946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OneBulleted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C5874-C948-4D8D-81CE-BCB187287513}"/>
              </a:ext>
            </a:extLst>
          </p:cNvPr>
          <p:cNvSpPr>
            <a:spLocks noGrp="1"/>
          </p:cNvSpPr>
          <p:nvPr>
            <p:ph type="title" hasCustomPrompt="1"/>
          </p:nvPr>
        </p:nvSpPr>
        <p:spPr/>
        <p:txBody>
          <a:bodyPr/>
          <a:lstStyle>
            <a:lvl1pPr>
              <a:defRPr/>
            </a:lvl1pPr>
          </a:lstStyle>
          <a:p>
            <a:r>
              <a:rPr lang="en-US" dirty="0"/>
              <a:t>One-level bulleted list layout</a:t>
            </a:r>
          </a:p>
        </p:txBody>
      </p:sp>
      <p:sp>
        <p:nvSpPr>
          <p:cNvPr id="3" name="Content Placeholder 2">
            <a:extLst>
              <a:ext uri="{FF2B5EF4-FFF2-40B4-BE49-F238E27FC236}">
                <a16:creationId xmlns:a16="http://schemas.microsoft.com/office/drawing/2014/main" id="{B92D68CA-DFD8-4178-93CB-63891AAE426B}"/>
              </a:ext>
            </a:extLst>
          </p:cNvPr>
          <p:cNvSpPr>
            <a:spLocks noGrp="1"/>
          </p:cNvSpPr>
          <p:nvPr>
            <p:ph idx="1" hasCustomPrompt="1"/>
          </p:nvPr>
        </p:nvSpPr>
        <p:spPr>
          <a:xfrm>
            <a:off x="620132" y="1737360"/>
            <a:ext cx="10962268" cy="4537617"/>
          </a:xfrm>
          <a:prstGeom prst="rect">
            <a:avLst/>
          </a:prstGeom>
        </p:spPr>
        <p:txBody>
          <a:bodyPr/>
          <a:lstStyle>
            <a:lvl1pPr>
              <a:spcAft>
                <a:spcPts val="1800"/>
              </a:spcAft>
              <a:defRPr sz="2800"/>
            </a:lvl1pPr>
          </a:lstStyle>
          <a:p>
            <a:pPr lvl="0"/>
            <a:r>
              <a:rPr lang="en-US" dirty="0"/>
              <a:t>Enter bulleted text</a:t>
            </a:r>
          </a:p>
          <a:p>
            <a:pPr lvl="0"/>
            <a:r>
              <a:rPr lang="en-US" dirty="0"/>
              <a:t>Second level</a:t>
            </a:r>
          </a:p>
          <a:p>
            <a:pPr lvl="0"/>
            <a:r>
              <a:rPr lang="en-US" dirty="0"/>
              <a:t>Third level</a:t>
            </a:r>
          </a:p>
          <a:p>
            <a:pPr lvl="0"/>
            <a:r>
              <a:rPr lang="en-US" dirty="0"/>
              <a:t>Fourth level</a:t>
            </a:r>
          </a:p>
          <a:p>
            <a:pPr lvl="0"/>
            <a:r>
              <a:rPr lang="en-US" dirty="0"/>
              <a:t>Fifth level</a:t>
            </a:r>
          </a:p>
        </p:txBody>
      </p:sp>
      <p:sp>
        <p:nvSpPr>
          <p:cNvPr id="9" name="Slide Number Placeholder 8">
            <a:extLst>
              <a:ext uri="{FF2B5EF4-FFF2-40B4-BE49-F238E27FC236}">
                <a16:creationId xmlns:a16="http://schemas.microsoft.com/office/drawing/2014/main" id="{FB3271BB-7B54-704A-B046-1E0BA3964BBA}"/>
              </a:ext>
            </a:extLst>
          </p:cNvPr>
          <p:cNvSpPr>
            <a:spLocks noGrp="1"/>
          </p:cNvSpPr>
          <p:nvPr>
            <p:ph type="sldNum" sz="quarter" idx="12"/>
          </p:nvPr>
        </p:nvSpPr>
        <p:spPr/>
        <p:txBody>
          <a:bodyPr/>
          <a:lstStyle/>
          <a:p>
            <a:fld id="{7834CDD4-D76F-4459-B025-0310E913C243}" type="slidenum">
              <a:rPr lang="en-US" smtClean="0"/>
              <a:pPr/>
              <a:t>‹#›</a:t>
            </a:fld>
            <a:endParaRPr lang="en-US" dirty="0"/>
          </a:p>
        </p:txBody>
      </p:sp>
      <p:sp>
        <p:nvSpPr>
          <p:cNvPr id="5" name="TextBox 4">
            <a:extLst>
              <a:ext uri="{FF2B5EF4-FFF2-40B4-BE49-F238E27FC236}">
                <a16:creationId xmlns:a16="http://schemas.microsoft.com/office/drawing/2014/main" id="{3B7BDB94-210C-49BD-B69E-9FEF567D87CA}"/>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403233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FIDENTIAL_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899665"/>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69875" y="1189179"/>
            <a:ext cx="11652356" cy="1600438"/>
          </a:xfrm>
          <a:prstGeom prst="rect">
            <a:avLst/>
          </a:prstGeom>
        </p:spPr>
        <p:txBody>
          <a:bodyPr vert="horz" wrap="square" lIns="182880" tIns="146304" rIns="182880" bIns="146304" rtlCol="0">
            <a:spAutoFit/>
          </a:bodyPr>
          <a:lstStyle>
            <a:lvl1pPr>
              <a:spcAft>
                <a:spcPts val="667"/>
              </a:spcAft>
              <a:defRPr b="0" i="0">
                <a:latin typeface="Amazon Ember" panose="020B0603020204020204" pitchFamily="34" charset="0"/>
                <a:ea typeface="Amazon Ember" panose="020B0603020204020204" pitchFamily="34" charset="0"/>
                <a:cs typeface="Amazon Ember" panose="020B0603020204020204" pitchFamily="34" charset="0"/>
              </a:defRPr>
            </a:lvl1pPr>
            <a:lvl2pPr marL="336143"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2pPr>
            <a:lvl3pPr marL="845977" indent="-285739">
              <a:spcAft>
                <a:spcPts val="667"/>
              </a:spcAft>
              <a:buFont typeface="Arial" panose="020B0604020202020204" pitchFamily="34" charset="0"/>
              <a:buChar char="•"/>
              <a:defRPr b="0" i="0">
                <a:latin typeface="Amazon Ember Thin" panose="020B0303020204020204" pitchFamily="34" charset="0"/>
                <a:ea typeface="Amazon Ember Thin" panose="020B0303020204020204" pitchFamily="34" charset="0"/>
                <a:cs typeface="Amazon Ember Thin" panose="020B0303020204020204" pitchFamily="34" charset="0"/>
              </a:defRPr>
            </a:lvl3pPr>
            <a:lvl4pPr marL="1070072" indent="-285739">
              <a:spcAft>
                <a:spcPts val="667"/>
              </a:spcAft>
              <a:buFont typeface="Arial" panose="020B0604020202020204" pitchFamily="34" charset="0"/>
              <a:buChar char="•"/>
              <a:defRPr b="0" i="0">
                <a:latin typeface="Amazon Ember" panose="020B0603020204020204" pitchFamily="34" charset="0"/>
                <a:ea typeface="Amazon Ember" panose="020B0603020204020204" pitchFamily="34" charset="0"/>
                <a:cs typeface="Amazon Ember" panose="020B0603020204020204" pitchFamily="34" charset="0"/>
              </a:defRPr>
            </a:lvl4pPr>
            <a:lvl5pPr marL="1008428"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1"/>
            <a:r>
              <a:rPr lang="en-US" dirty="0"/>
              <a:t>Third  level</a:t>
            </a:r>
          </a:p>
        </p:txBody>
      </p:sp>
      <p:sp>
        <p:nvSpPr>
          <p:cNvPr id="5" name="TextBox 4">
            <a:extLst>
              <a:ext uri="{FF2B5EF4-FFF2-40B4-BE49-F238E27FC236}">
                <a16:creationId xmlns:a16="http://schemas.microsoft.com/office/drawing/2014/main" id="{5334A4A8-174D-413A-9F80-86670CD4EC57}"/>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261234353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endParaRPr lang="en-US" dirty="0"/>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04801" y="1485900"/>
            <a:ext cx="11582400" cy="1844608"/>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ustDataLst>
      <p:tags r:id="rId1"/>
    </p:custDataLst>
    <p:extLst>
      <p:ext uri="{BB962C8B-B14F-4D97-AF65-F5344CB8AC3E}">
        <p14:creationId xmlns:p14="http://schemas.microsoft.com/office/powerpoint/2010/main" val="268475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27058528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1331578"/>
      </p:ext>
    </p:extLst>
  </p:cSld>
  <p:clrMap bg1="lt1" tx1="dk1" bg2="lt2" tx2="dk2" accent1="accent1" accent2="accent2" accent3="accent3" accent4="accent4" accent5="accent5" accent6="accent6" hlink="hlink" folHlink="folHlink"/>
  <p:sldLayoutIdLst>
    <p:sldLayoutId id="2147483740" r:id="rId1"/>
    <p:sldLayoutId id="2147483746" r:id="rId2"/>
    <p:sldLayoutId id="2147483749" r:id="rId3"/>
    <p:sldLayoutId id="2147483750" r:id="rId4"/>
    <p:sldLayoutId id="2147483752"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https://docs.aws.amazon.com/AWSSimpleQueueService/latest/SQSDeveloperGuide/sqs-dead-letter-queue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docs.aws.amazon.com/AWSSimpleQueueService/latest/SQSDeveloperGuide/FIFO-queue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hyperlink" Target="https://docs.aws.amazon.com/eventbridge/latest/userguide/eb-rule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aws.amazon.com/solutions/case-studies/knowbe4-case-stud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hyperlink" Target="https://docs.aws.amazon.com/AmazonElastiCache/latest/dg/Strategie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hyperlink" Target="https://docs.aws.amazon.com/cognito/latest/developerguide/cognito-user-identity-pool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https://docs.aws.amazon.com/AmazonCloudWatch/latest/monitoring/WhatIsCloudWatch.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docs.aws.amazon.com/awscloudtrail/latest/userguide/cloudtrail-event-reference-record-content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hyperlink" Target="https://docs.aws.amazon.com/AmazonCloudWatch/latest/logs/CloudWatchLogsConcept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hyperlink" Target="https://docs.aws.amazon.com/AmazonCloudWatch/latest/monitoring/AlarmThatSendsEmail.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hyperlink" Target="https://aws.amazon.com/solutions/case-studies/wix-amazon-cloudwatch-case-stud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docs.aws.amazon.com/sns/latest/dg/sns-common-scenarios.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hyperlink" Target="https://docs.aws.amazon.com/whitepapers/latest/database-caching-strategies-using-redis/caching-pattern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docs.aws.amazon.com/cognito/latest/developerguide/cognito-identity.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hyperlink" Target="https://docs.aws.amazon.com/AmazonCloudWatch/latest/monitoring/AlarmThatSendsEmail.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docs.aws.amazon.com/AmazonCloudWatch/latest/monitoring/Start-Investigation-Alarm.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hyperlink" Target="https://docs.aws.amazon.com/AmazonCloudWatch/latest/logs/CWL_AnalyzeLogData-discoverable-fields.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4801314"/>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program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4904" y="1115568"/>
            <a:ext cx="6647688" cy="3025636"/>
          </a:xfrm>
          <a:prstGeom prst="rect">
            <a:avLst/>
          </a:prstGeom>
          <a:noFill/>
        </p:spPr>
        <p:txBody>
          <a:bodyPr wrap="square">
            <a:spAutoFit/>
          </a:bodyPr>
          <a:lstStyle/>
          <a:p>
            <a:pPr algn="l"/>
            <a:r>
              <a:rPr b="1" dirty="0">
                <a:solidFill>
                  <a:schemeClr val="bg1"/>
                </a:solidFill>
              </a:rPr>
              <a:t>INSTRUCTOR GUIDANCE</a:t>
            </a:r>
          </a:p>
          <a:p>
            <a:pPr algn="l"/>
            <a:r>
              <a:rPr b="1" dirty="0">
                <a:solidFill>
                  <a:schemeClr val="bg1"/>
                </a:solidFill>
              </a:rPr>
              <a:t>STOP -- read before presenting the Customer Case slides:</a:t>
            </a:r>
          </a:p>
          <a:p>
            <a:pPr algn="l"/>
            <a:r>
              <a:rPr dirty="0">
                <a:solidFill>
                  <a:schemeClr val="bg1"/>
                </a:solidFill>
              </a:rPr>
              <a:t>These are published AWS customer stories, not promotional claims and not your own</a:t>
            </a:r>
          </a:p>
          <a:p>
            <a:pPr algn="l"/>
            <a:r>
              <a:rPr dirty="0">
                <a:solidFill>
                  <a:schemeClr val="bg1"/>
                </a:solidFill>
              </a:rPr>
              <a:t>engagements. Present each working backwards from the customer's problem.</a:t>
            </a:r>
          </a:p>
          <a:p>
            <a:pPr algn="l"/>
            <a:r>
              <a:rPr dirty="0">
                <a:solidFill>
                  <a:schemeClr val="bg1"/>
                </a:solidFill>
              </a:rPr>
              <a:t>Read the speaker notes on this slide before you show them. This slide is hidden</a:t>
            </a:r>
          </a:p>
          <a:p>
            <a:pPr algn="l"/>
            <a:r>
              <a:rPr dirty="0">
                <a:solidFill>
                  <a:schemeClr val="bg1"/>
                </a:solidFill>
              </a:rPr>
              <a:t>and must stay hidden -- remove it before exporting a PDF.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Content Review — Session 3</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98448"/>
            <a:ext cx="10972800" cy="548640"/>
          </a:xfrm>
          <a:prstGeom prst="rect">
            <a:avLst/>
          </a:prstGeom>
          <a:noFill/>
        </p:spPr>
        <p:txBody>
          <a:bodyPr wrap="square" anchor="t">
            <a:noAutofit/>
          </a:bodyPr>
          <a:lstStyle/>
          <a:p>
            <a:pPr algn="l"/>
            <a:r>
              <a:rPr sz="2800" b="1" i="0">
                <a:solidFill>
                  <a:srgbClr val="8F0072"/>
                </a:solidFill>
                <a:latin typeface="Amazon Ember Display"/>
              </a:rPr>
              <a:t>AWS Certified Developer – Associate</a:t>
            </a:r>
          </a:p>
        </p:txBody>
      </p:sp>
      <p:sp>
        <p:nvSpPr>
          <p:cNvPr id="5" name="TextBox 4"/>
          <p:cNvSpPr txBox="1"/>
          <p:nvPr/>
        </p:nvSpPr>
        <p:spPr>
          <a:xfrm>
            <a:off x="612648" y="1993392"/>
            <a:ext cx="10972800" cy="457200"/>
          </a:xfrm>
          <a:prstGeom prst="rect">
            <a:avLst/>
          </a:prstGeom>
          <a:noFill/>
        </p:spPr>
        <p:txBody>
          <a:bodyPr wrap="square" anchor="t">
            <a:noAutofit/>
          </a:bodyPr>
          <a:lstStyle/>
          <a:p>
            <a:pPr algn="l"/>
            <a:r>
              <a:rPr sz="2200" b="0" i="0">
                <a:solidFill>
                  <a:srgbClr val="5A6B7B"/>
                </a:solidFill>
                <a:latin typeface="Amazon Ember Display"/>
              </a:rPr>
              <a:t>AWS Partner Certification Readiness</a:t>
            </a:r>
          </a:p>
        </p:txBody>
      </p:sp>
      <p:pic>
        <p:nvPicPr>
          <p:cNvPr id="6" name="Picture 5" descr="APCR-Octopus-crop.png"/>
          <p:cNvPicPr>
            <a:picLocks noChangeAspect="1"/>
          </p:cNvPicPr>
          <p:nvPr/>
        </p:nvPicPr>
        <p:blipFill>
          <a:blip r:embed="rId3"/>
          <a:stretch>
            <a:fillRect/>
          </a:stretch>
        </p:blipFill>
        <p:spPr>
          <a:xfrm>
            <a:off x="612648" y="2834640"/>
            <a:ext cx="4480560" cy="2520315"/>
          </a:xfrm>
          <a:prstGeom prst="rect">
            <a:avLst/>
          </a:prstGeom>
        </p:spPr>
      </p:pic>
      <p:sp>
        <p:nvSpPr>
          <p:cNvPr id="7" name="Isosceles Triangle 6"/>
          <p:cNvSpPr/>
          <p:nvPr/>
        </p:nvSpPr>
        <p:spPr>
          <a:xfrm rot="16200000">
            <a:off x="5202936" y="3893515"/>
            <a:ext cx="274320" cy="402336"/>
          </a:xfrm>
          <a:prstGeom prst="triangl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04104" y="3555187"/>
            <a:ext cx="4663440" cy="1078992"/>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0136" y="3710635"/>
            <a:ext cx="4151375" cy="393788"/>
          </a:xfrm>
          <a:prstGeom prst="rect">
            <a:avLst/>
          </a:prstGeom>
          <a:noFill/>
        </p:spPr>
        <p:txBody>
          <a:bodyPr wrap="square" anchor="t">
            <a:noAutofit/>
          </a:bodyPr>
          <a:lstStyle/>
          <a:p>
            <a:pPr algn="ctr"/>
            <a:r>
              <a:rPr sz="1900" b="1" i="0">
                <a:solidFill>
                  <a:srgbClr val="232B37"/>
                </a:solidFill>
                <a:latin typeface="Amazon Ember Display"/>
              </a:rPr>
              <a:t>Welcome back for Session 3.</a:t>
            </a:r>
          </a:p>
        </p:txBody>
      </p:sp>
      <p:sp>
        <p:nvSpPr>
          <p:cNvPr id="10" name="TextBox 9"/>
          <p:cNvSpPr txBox="1"/>
          <p:nvPr/>
        </p:nvSpPr>
        <p:spPr>
          <a:xfrm>
            <a:off x="5660136" y="4122115"/>
            <a:ext cx="4151375" cy="393788"/>
          </a:xfrm>
          <a:prstGeom prst="rect">
            <a:avLst/>
          </a:prstGeom>
          <a:noFill/>
        </p:spPr>
        <p:txBody>
          <a:bodyPr wrap="square" anchor="t">
            <a:noAutofit/>
          </a:bodyPr>
          <a:lstStyle/>
          <a:p>
            <a:pPr algn="ctr"/>
            <a:r>
              <a:rPr sz="1900" b="1" i="0">
                <a:solidFill>
                  <a:srgbClr val="232B37"/>
                </a:solidFill>
                <a:latin typeface="Amazon Ember Display"/>
              </a:rPr>
              <a:t>This week we connect the pieces.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Event check-in</a:t>
            </a:r>
          </a:p>
        </p:txBody>
      </p:sp>
      <p:sp>
        <p:nvSpPr>
          <p:cNvPr id="3" name="Text Placeholder 2"/>
          <p:cNvSpPr>
            <a:spLocks noGrp="1"/>
          </p:cNvSpPr>
          <p:nvPr>
            <p:ph type="body" sz="quarter" idx="11"/>
          </p:nvPr>
        </p:nvSpPr>
        <p:spPr>
          <a:xfrm>
            <a:off x="322916" y="2434551"/>
            <a:ext cx="3847337" cy="377875"/>
          </a:xfrm>
        </p:spPr>
        <p:txBody>
          <a:bodyPr/>
          <a:lstStyle/>
          <a:p>
            <a:r>
              <a:rPr sz="1800" b="1">
                <a:solidFill>
                  <a:srgbClr val="FF57E9"/>
                </a:solidFill>
                <a:latin typeface="Amazon Ember Display"/>
              </a:rPr>
              <a:t>DEVELOPER – ASSOCIATE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Week 3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371600"/>
            <a:ext cx="5518404" cy="2761487"/>
          </a:xfrm>
          <a:prstGeom prst="roundRect">
            <a:avLst>
              <a:gd name="adj" fmla="val 6622"/>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409777"/>
            <a:ext cx="5152644" cy="377875"/>
          </a:xfrm>
          <a:prstGeom prst="rect">
            <a:avLst/>
          </a:prstGeom>
          <a:noFill/>
        </p:spPr>
        <p:txBody>
          <a:bodyPr wrap="square" anchor="t">
            <a:noAutofit/>
          </a:bodyPr>
          <a:lstStyle/>
          <a:p>
            <a:pPr algn="ctr"/>
            <a:r>
              <a:rPr sz="1800" b="1" i="0" dirty="0">
                <a:solidFill>
                  <a:srgbClr val="8F0072"/>
                </a:solidFill>
                <a:latin typeface="Amazon Ember Display"/>
              </a:rPr>
              <a:t>Learning Plan courses</a:t>
            </a:r>
          </a:p>
        </p:txBody>
      </p:sp>
      <p:sp>
        <p:nvSpPr>
          <p:cNvPr id="6" name="Rectangle 5"/>
          <p:cNvSpPr/>
          <p:nvPr/>
        </p:nvSpPr>
        <p:spPr>
          <a:xfrm>
            <a:off x="795528" y="1755648"/>
            <a:ext cx="5152644"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95528" y="1847088"/>
            <a:ext cx="5152644"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41832" y="1896872"/>
            <a:ext cx="4860036" cy="346049"/>
          </a:xfrm>
          <a:prstGeom prst="rect">
            <a:avLst/>
          </a:prstGeom>
          <a:noFill/>
        </p:spPr>
        <p:txBody>
          <a:bodyPr wrap="square" anchor="t">
            <a:noAutofit/>
          </a:bodyPr>
          <a:lstStyle/>
          <a:p>
            <a:pPr algn="l"/>
            <a:r>
              <a:rPr sz="1600" b="0" i="0">
                <a:solidFill>
                  <a:srgbClr val="232B37"/>
                </a:solidFill>
                <a:latin typeface="Amazon Ember Display"/>
              </a:rPr>
              <a:t>Amazon API Gateway for Serverless Applications</a:t>
            </a:r>
          </a:p>
        </p:txBody>
      </p:sp>
      <p:sp>
        <p:nvSpPr>
          <p:cNvPr id="9" name="Rounded Rectangle 8"/>
          <p:cNvSpPr/>
          <p:nvPr/>
        </p:nvSpPr>
        <p:spPr>
          <a:xfrm>
            <a:off x="795528" y="2286000"/>
            <a:ext cx="5152644"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832" y="2335784"/>
            <a:ext cx="4860036" cy="346049"/>
          </a:xfrm>
          <a:prstGeom prst="rect">
            <a:avLst/>
          </a:prstGeom>
          <a:noFill/>
        </p:spPr>
        <p:txBody>
          <a:bodyPr wrap="square" anchor="t">
            <a:noAutofit/>
          </a:bodyPr>
          <a:lstStyle/>
          <a:p>
            <a:pPr algn="l"/>
            <a:r>
              <a:rPr sz="1600" b="0" i="0">
                <a:solidFill>
                  <a:srgbClr val="232B37"/>
                </a:solidFill>
                <a:latin typeface="Amazon Ember Display"/>
              </a:rPr>
              <a:t>Designing Event-Driven Architectures</a:t>
            </a:r>
          </a:p>
        </p:txBody>
      </p:sp>
      <p:sp>
        <p:nvSpPr>
          <p:cNvPr id="11" name="Rounded Rectangle 10"/>
          <p:cNvSpPr/>
          <p:nvPr/>
        </p:nvSpPr>
        <p:spPr>
          <a:xfrm>
            <a:off x="795528" y="2724912"/>
            <a:ext cx="5152644"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 y="2774696"/>
            <a:ext cx="4860036" cy="346049"/>
          </a:xfrm>
          <a:prstGeom prst="rect">
            <a:avLst/>
          </a:prstGeom>
          <a:noFill/>
        </p:spPr>
        <p:txBody>
          <a:bodyPr wrap="square" anchor="t">
            <a:noAutofit/>
          </a:bodyPr>
          <a:lstStyle/>
          <a:p>
            <a:pPr algn="l"/>
            <a:r>
              <a:rPr sz="1600" b="0" i="0">
                <a:solidFill>
                  <a:srgbClr val="232B37"/>
                </a:solidFill>
                <a:latin typeface="Amazon Ember Display"/>
              </a:rPr>
              <a:t>Architecting Serverless Applications</a:t>
            </a:r>
          </a:p>
        </p:txBody>
      </p:sp>
      <p:sp>
        <p:nvSpPr>
          <p:cNvPr id="13" name="Rounded Rectangle 12"/>
          <p:cNvSpPr/>
          <p:nvPr/>
        </p:nvSpPr>
        <p:spPr>
          <a:xfrm>
            <a:off x="795528" y="3163824"/>
            <a:ext cx="5152644"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41832" y="3213608"/>
            <a:ext cx="4860036" cy="346049"/>
          </a:xfrm>
          <a:prstGeom prst="rect">
            <a:avLst/>
          </a:prstGeom>
          <a:noFill/>
        </p:spPr>
        <p:txBody>
          <a:bodyPr wrap="square" anchor="t">
            <a:noAutofit/>
          </a:bodyPr>
          <a:lstStyle/>
          <a:p>
            <a:pPr algn="l"/>
            <a:r>
              <a:rPr sz="1600" b="0" i="0">
                <a:solidFill>
                  <a:srgbClr val="232B37"/>
                </a:solidFill>
                <a:latin typeface="Amazon Ember Display"/>
              </a:rPr>
              <a:t>Scaling Serverless Architectures</a:t>
            </a:r>
          </a:p>
        </p:txBody>
      </p:sp>
      <p:sp>
        <p:nvSpPr>
          <p:cNvPr id="15" name="Rounded Rectangle 14"/>
          <p:cNvSpPr/>
          <p:nvPr/>
        </p:nvSpPr>
        <p:spPr>
          <a:xfrm>
            <a:off x="795528" y="3602736"/>
            <a:ext cx="5152644"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41832" y="3652520"/>
            <a:ext cx="4860036" cy="346049"/>
          </a:xfrm>
          <a:prstGeom prst="rect">
            <a:avLst/>
          </a:prstGeom>
          <a:noFill/>
        </p:spPr>
        <p:txBody>
          <a:bodyPr wrap="square" anchor="t">
            <a:noAutofit/>
          </a:bodyPr>
          <a:lstStyle/>
          <a:p>
            <a:pPr algn="l"/>
            <a:r>
              <a:rPr sz="1600" b="0" i="0">
                <a:solidFill>
                  <a:srgbClr val="232B37"/>
                </a:solidFill>
                <a:latin typeface="Amazon Ember Display"/>
              </a:rPr>
              <a:t>Getting Started with DevOps on AWS</a:t>
            </a:r>
          </a:p>
        </p:txBody>
      </p:sp>
      <p:sp>
        <p:nvSpPr>
          <p:cNvPr id="17" name="Rounded Rectangle 16"/>
          <p:cNvSpPr/>
          <p:nvPr/>
        </p:nvSpPr>
        <p:spPr>
          <a:xfrm>
            <a:off x="6350508" y="1371600"/>
            <a:ext cx="5234940" cy="2761487"/>
          </a:xfrm>
          <a:prstGeom prst="roundRect">
            <a:avLst>
              <a:gd name="adj" fmla="val 6622"/>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27293" y="1409776"/>
            <a:ext cx="4869179" cy="377875"/>
          </a:xfrm>
          <a:prstGeom prst="rect">
            <a:avLst/>
          </a:prstGeom>
          <a:noFill/>
        </p:spPr>
        <p:txBody>
          <a:bodyPr wrap="square" anchor="t">
            <a:noAutofit/>
          </a:bodyPr>
          <a:lstStyle/>
          <a:p>
            <a:pPr algn="ctr"/>
            <a:r>
              <a:rPr sz="1800" b="1" i="0" dirty="0">
                <a:solidFill>
                  <a:srgbClr val="8F0072"/>
                </a:solidFill>
                <a:latin typeface="Amazon Ember Display"/>
              </a:rPr>
              <a:t>Optional Exam Prep Plan</a:t>
            </a:r>
          </a:p>
        </p:txBody>
      </p:sp>
      <p:sp>
        <p:nvSpPr>
          <p:cNvPr id="19" name="Rectangle 18"/>
          <p:cNvSpPr/>
          <p:nvPr/>
        </p:nvSpPr>
        <p:spPr>
          <a:xfrm>
            <a:off x="6533388" y="1755648"/>
            <a:ext cx="4869179"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533388" y="1847088"/>
            <a:ext cx="4869179"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679692" y="1896872"/>
            <a:ext cx="4576571" cy="346049"/>
          </a:xfrm>
          <a:prstGeom prst="rect">
            <a:avLst/>
          </a:prstGeom>
          <a:noFill/>
        </p:spPr>
        <p:txBody>
          <a:bodyPr wrap="square" anchor="t">
            <a:noAutofit/>
          </a:bodyPr>
          <a:lstStyle/>
          <a:p>
            <a:pPr algn="l"/>
            <a:r>
              <a:rPr sz="1600" b="0" i="0">
                <a:solidFill>
                  <a:srgbClr val="232B37"/>
                </a:solidFill>
                <a:latin typeface="Amazon Ember Display"/>
              </a:rPr>
              <a:t>Continue: Cloud Quest: Serverless Developer*</a:t>
            </a:r>
          </a:p>
        </p:txBody>
      </p:sp>
      <p:sp>
        <p:nvSpPr>
          <p:cNvPr id="22" name="Rounded Rectangle 21"/>
          <p:cNvSpPr/>
          <p:nvPr/>
        </p:nvSpPr>
        <p:spPr>
          <a:xfrm>
            <a:off x="6533388" y="2286000"/>
            <a:ext cx="4869179"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679692" y="2335784"/>
            <a:ext cx="4576571" cy="346049"/>
          </a:xfrm>
          <a:prstGeom prst="rect">
            <a:avLst/>
          </a:prstGeom>
          <a:noFill/>
        </p:spPr>
        <p:txBody>
          <a:bodyPr wrap="square" anchor="t">
            <a:noAutofit/>
          </a:bodyPr>
          <a:lstStyle/>
          <a:p>
            <a:pPr algn="l"/>
            <a:r>
              <a:rPr sz="1600" b="0" i="0">
                <a:solidFill>
                  <a:srgbClr val="232B37"/>
                </a:solidFill>
                <a:latin typeface="Amazon Ember Display"/>
              </a:rPr>
              <a:t>Complete: Domain 3 review</a:t>
            </a:r>
          </a:p>
        </p:txBody>
      </p:sp>
      <p:sp>
        <p:nvSpPr>
          <p:cNvPr id="24" name="Rounded Rectangle 23"/>
          <p:cNvSpPr/>
          <p:nvPr/>
        </p:nvSpPr>
        <p:spPr>
          <a:xfrm>
            <a:off x="6533388" y="2724912"/>
            <a:ext cx="4869179"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679692" y="2774696"/>
            <a:ext cx="4576571" cy="346049"/>
          </a:xfrm>
          <a:prstGeom prst="rect">
            <a:avLst/>
          </a:prstGeom>
          <a:noFill/>
        </p:spPr>
        <p:txBody>
          <a:bodyPr wrap="square" anchor="t">
            <a:noAutofit/>
          </a:bodyPr>
          <a:lstStyle/>
          <a:p>
            <a:pPr algn="l"/>
            <a:r>
              <a:rPr sz="1600" b="0" i="0">
                <a:solidFill>
                  <a:srgbClr val="232B37"/>
                </a:solidFill>
                <a:latin typeface="Amazon Ember Display"/>
              </a:rPr>
              <a:t>Complete: Domain 3 practice*</a:t>
            </a:r>
          </a:p>
        </p:txBody>
      </p:sp>
      <p:sp>
        <p:nvSpPr>
          <p:cNvPr id="26" name="TextBox 25"/>
          <p:cNvSpPr txBox="1"/>
          <p:nvPr/>
        </p:nvSpPr>
        <p:spPr>
          <a:xfrm>
            <a:off x="612648" y="4224527"/>
            <a:ext cx="10972800" cy="346049"/>
          </a:xfrm>
          <a:prstGeom prst="rect">
            <a:avLst/>
          </a:prstGeom>
          <a:noFill/>
        </p:spPr>
        <p:txBody>
          <a:bodyPr wrap="square" anchor="ctr">
            <a:noAutofit/>
          </a:bodyPr>
          <a:lstStyle/>
          <a:p>
            <a:pPr algn="l"/>
            <a:r>
              <a:rPr sz="1600" b="0" i="0">
                <a:solidFill>
                  <a:srgbClr val="5A6B7B"/>
                </a:solidFill>
                <a:latin typeface="Amazon Ember Display"/>
              </a:rPr>
              <a:t>* Requires an AWS Skill Builder subscription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Today's focus: Development with AWS Services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609344"/>
            <a:ext cx="4828031" cy="441528"/>
          </a:xfrm>
          <a:prstGeom prst="rect">
            <a:avLst/>
          </a:prstGeom>
          <a:noFill/>
        </p:spPr>
        <p:txBody>
          <a:bodyPr wrap="square" anchor="t">
            <a:noAutofit/>
          </a:bodyPr>
          <a:lstStyle/>
          <a:p>
            <a:pPr algn="ctr"/>
            <a:r>
              <a:rPr sz="2200" b="1" i="0">
                <a:solidFill>
                  <a:srgbClr val="8F0072"/>
                </a:solidFill>
                <a:latin typeface="Amazon Ember Display"/>
              </a:rPr>
              <a:t>Application Integration</a:t>
            </a:r>
          </a:p>
        </p:txBody>
      </p:sp>
      <p:sp>
        <p:nvSpPr>
          <p:cNvPr id="6" name="Rectangle 5"/>
          <p:cNvSpPr/>
          <p:nvPr/>
        </p:nvSpPr>
        <p:spPr>
          <a:xfrm>
            <a:off x="85039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33272" y="2162048"/>
            <a:ext cx="4462271" cy="346049"/>
          </a:xfrm>
          <a:prstGeom prst="rect">
            <a:avLst/>
          </a:prstGeom>
          <a:noFill/>
        </p:spPr>
        <p:txBody>
          <a:bodyPr wrap="square" anchor="t">
            <a:noAutofit/>
          </a:bodyPr>
          <a:lstStyle/>
          <a:p>
            <a:pPr algn="ctr"/>
            <a:r>
              <a:rPr sz="1600" b="1" i="0">
                <a:solidFill>
                  <a:srgbClr val="232B37"/>
                </a:solidFill>
                <a:latin typeface="Amazon Ember Display"/>
              </a:rPr>
              <a:t>Amazon SNS</a:t>
            </a:r>
          </a:p>
        </p:txBody>
      </p:sp>
      <p:sp>
        <p:nvSpPr>
          <p:cNvPr id="9" name="Rounded Rectangle 8"/>
          <p:cNvSpPr/>
          <p:nvPr/>
        </p:nvSpPr>
        <p:spPr>
          <a:xfrm>
            <a:off x="85039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33272" y="2564384"/>
            <a:ext cx="4462271" cy="346049"/>
          </a:xfrm>
          <a:prstGeom prst="rect">
            <a:avLst/>
          </a:prstGeom>
          <a:noFill/>
        </p:spPr>
        <p:txBody>
          <a:bodyPr wrap="square" anchor="t">
            <a:noAutofit/>
          </a:bodyPr>
          <a:lstStyle/>
          <a:p>
            <a:pPr algn="ctr"/>
            <a:r>
              <a:rPr sz="1600" b="1" i="0">
                <a:solidFill>
                  <a:srgbClr val="232B37"/>
                </a:solidFill>
                <a:latin typeface="Amazon Ember Display"/>
              </a:rPr>
              <a:t>Amazon SQS</a:t>
            </a:r>
          </a:p>
        </p:txBody>
      </p:sp>
      <p:sp>
        <p:nvSpPr>
          <p:cNvPr id="11" name="Rounded Rectangle 10"/>
          <p:cNvSpPr/>
          <p:nvPr/>
        </p:nvSpPr>
        <p:spPr>
          <a:xfrm>
            <a:off x="850392" y="292608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33272" y="2966720"/>
            <a:ext cx="4462271" cy="346049"/>
          </a:xfrm>
          <a:prstGeom prst="rect">
            <a:avLst/>
          </a:prstGeom>
          <a:noFill/>
        </p:spPr>
        <p:txBody>
          <a:bodyPr wrap="square" anchor="t">
            <a:noAutofit/>
          </a:bodyPr>
          <a:lstStyle/>
          <a:p>
            <a:pPr algn="ctr"/>
            <a:r>
              <a:rPr sz="1600" b="1" i="0">
                <a:solidFill>
                  <a:srgbClr val="232B37"/>
                </a:solidFill>
                <a:latin typeface="Amazon Ember Display"/>
              </a:rPr>
              <a:t>Amazon EventBridge</a:t>
            </a:r>
          </a:p>
        </p:txBody>
      </p:sp>
      <p:sp>
        <p:nvSpPr>
          <p:cNvPr id="13" name="Rounded Rectangle 12"/>
          <p:cNvSpPr/>
          <p:nvPr/>
        </p:nvSpPr>
        <p:spPr>
          <a:xfrm>
            <a:off x="628192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19672" y="1609344"/>
            <a:ext cx="4828031" cy="441528"/>
          </a:xfrm>
          <a:prstGeom prst="rect">
            <a:avLst/>
          </a:prstGeom>
          <a:noFill/>
        </p:spPr>
        <p:txBody>
          <a:bodyPr wrap="square" anchor="t">
            <a:noAutofit/>
          </a:bodyPr>
          <a:lstStyle/>
          <a:p>
            <a:pPr algn="ctr"/>
            <a:r>
              <a:rPr sz="2200" b="1" i="0">
                <a:solidFill>
                  <a:srgbClr val="8F0072"/>
                </a:solidFill>
                <a:latin typeface="Amazon Ember Display"/>
              </a:rPr>
              <a:t>Database</a:t>
            </a:r>
          </a:p>
        </p:txBody>
      </p:sp>
      <p:sp>
        <p:nvSpPr>
          <p:cNvPr id="15" name="Rectangle 14"/>
          <p:cNvSpPr/>
          <p:nvPr/>
        </p:nvSpPr>
        <p:spPr>
          <a:xfrm>
            <a:off x="651967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1967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02552" y="2162048"/>
            <a:ext cx="4462271" cy="346049"/>
          </a:xfrm>
          <a:prstGeom prst="rect">
            <a:avLst/>
          </a:prstGeom>
          <a:noFill/>
        </p:spPr>
        <p:txBody>
          <a:bodyPr wrap="square" anchor="t">
            <a:noAutofit/>
          </a:bodyPr>
          <a:lstStyle/>
          <a:p>
            <a:pPr algn="ctr"/>
            <a:r>
              <a:rPr sz="1600" b="1" i="0">
                <a:solidFill>
                  <a:srgbClr val="232B37"/>
                </a:solidFill>
                <a:latin typeface="Amazon Ember Display"/>
              </a:rPr>
              <a:t>Amazon ElastiCache</a:t>
            </a:r>
          </a:p>
        </p:txBody>
      </p:sp>
      <p:sp>
        <p:nvSpPr>
          <p:cNvPr id="18" name="Rounded Rectangle 17"/>
          <p:cNvSpPr/>
          <p:nvPr/>
        </p:nvSpPr>
        <p:spPr>
          <a:xfrm>
            <a:off x="61264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50392" y="3803903"/>
            <a:ext cx="4828031" cy="441528"/>
          </a:xfrm>
          <a:prstGeom prst="rect">
            <a:avLst/>
          </a:prstGeom>
          <a:noFill/>
        </p:spPr>
        <p:txBody>
          <a:bodyPr wrap="square" anchor="t">
            <a:noAutofit/>
          </a:bodyPr>
          <a:lstStyle/>
          <a:p>
            <a:pPr algn="ctr"/>
            <a:r>
              <a:rPr sz="2200" b="1" i="0">
                <a:solidFill>
                  <a:srgbClr val="8F0072"/>
                </a:solidFill>
                <a:latin typeface="Amazon Ember Display"/>
              </a:rPr>
              <a:t>Security, Identity, and Compliance</a:t>
            </a:r>
          </a:p>
        </p:txBody>
      </p:sp>
      <p:sp>
        <p:nvSpPr>
          <p:cNvPr id="20" name="Rectangle 19"/>
          <p:cNvSpPr/>
          <p:nvPr/>
        </p:nvSpPr>
        <p:spPr>
          <a:xfrm>
            <a:off x="85039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039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33272" y="4356608"/>
            <a:ext cx="4462271" cy="346049"/>
          </a:xfrm>
          <a:prstGeom prst="rect">
            <a:avLst/>
          </a:prstGeom>
          <a:noFill/>
        </p:spPr>
        <p:txBody>
          <a:bodyPr wrap="square" anchor="t">
            <a:noAutofit/>
          </a:bodyPr>
          <a:lstStyle/>
          <a:p>
            <a:pPr algn="ctr"/>
            <a:r>
              <a:rPr sz="1600" b="1" i="0">
                <a:solidFill>
                  <a:srgbClr val="232B37"/>
                </a:solidFill>
                <a:latin typeface="Amazon Ember Display"/>
              </a:rPr>
              <a:t>Amazon Cognito</a:t>
            </a:r>
          </a:p>
        </p:txBody>
      </p:sp>
      <p:sp>
        <p:nvSpPr>
          <p:cNvPr id="23" name="Rounded Rectangle 22"/>
          <p:cNvSpPr/>
          <p:nvPr/>
        </p:nvSpPr>
        <p:spPr>
          <a:xfrm>
            <a:off x="628192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19672" y="3803903"/>
            <a:ext cx="4828031" cy="441528"/>
          </a:xfrm>
          <a:prstGeom prst="rect">
            <a:avLst/>
          </a:prstGeom>
          <a:noFill/>
        </p:spPr>
        <p:txBody>
          <a:bodyPr wrap="square" anchor="t">
            <a:noAutofit/>
          </a:bodyPr>
          <a:lstStyle/>
          <a:p>
            <a:pPr algn="ctr"/>
            <a:r>
              <a:rPr sz="2200" b="1" i="0">
                <a:solidFill>
                  <a:srgbClr val="8F0072"/>
                </a:solidFill>
                <a:latin typeface="Amazon Ember Display"/>
              </a:rPr>
              <a:t>Management and Governance</a:t>
            </a:r>
          </a:p>
        </p:txBody>
      </p:sp>
      <p:sp>
        <p:nvSpPr>
          <p:cNvPr id="25" name="Rectangle 24"/>
          <p:cNvSpPr/>
          <p:nvPr/>
        </p:nvSpPr>
        <p:spPr>
          <a:xfrm>
            <a:off x="651967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51967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702552" y="4356608"/>
            <a:ext cx="4462271" cy="346049"/>
          </a:xfrm>
          <a:prstGeom prst="rect">
            <a:avLst/>
          </a:prstGeom>
          <a:noFill/>
        </p:spPr>
        <p:txBody>
          <a:bodyPr wrap="square" anchor="t">
            <a:noAutofit/>
          </a:bodyPr>
          <a:lstStyle/>
          <a:p>
            <a:pPr algn="ctr"/>
            <a:r>
              <a:rPr sz="1600" b="1" i="0">
                <a:solidFill>
                  <a:srgbClr val="232B37"/>
                </a:solidFill>
                <a:latin typeface="Amazon Ember Display"/>
              </a:rPr>
              <a:t>Amazon CloudWatch</a:t>
            </a:r>
          </a:p>
        </p:txBody>
      </p:sp>
      <p:sp>
        <p:nvSpPr>
          <p:cNvPr id="28" name="Rounded Rectangle 27"/>
          <p:cNvSpPr/>
          <p:nvPr/>
        </p:nvSpPr>
        <p:spPr>
          <a:xfrm>
            <a:off x="651967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702552" y="4758944"/>
            <a:ext cx="4462271" cy="346049"/>
          </a:xfrm>
          <a:prstGeom prst="rect">
            <a:avLst/>
          </a:prstGeom>
          <a:noFill/>
        </p:spPr>
        <p:txBody>
          <a:bodyPr wrap="square" anchor="t">
            <a:noAutofit/>
          </a:bodyPr>
          <a:lstStyle/>
          <a:p>
            <a:pPr algn="ctr"/>
            <a:r>
              <a:rPr sz="1600" b="1" i="0">
                <a:solidFill>
                  <a:srgbClr val="232B37"/>
                </a:solidFill>
                <a:latin typeface="Amazon Ember Display"/>
              </a:rPr>
              <a:t>Amazon CloudWatch Logs</a:t>
            </a:r>
          </a:p>
        </p:txBody>
      </p:sp>
      <p:sp>
        <p:nvSpPr>
          <p:cNvPr id="30" name="Rounded Rectangle 29"/>
          <p:cNvSpPr/>
          <p:nvPr/>
        </p:nvSpPr>
        <p:spPr>
          <a:xfrm>
            <a:off x="6519672" y="512064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702552" y="5161280"/>
            <a:ext cx="4462271" cy="346049"/>
          </a:xfrm>
          <a:prstGeom prst="rect">
            <a:avLst/>
          </a:prstGeom>
          <a:noFill/>
        </p:spPr>
        <p:txBody>
          <a:bodyPr wrap="square" anchor="t">
            <a:noAutofit/>
          </a:bodyPr>
          <a:lstStyle/>
          <a:p>
            <a:pPr algn="ctr"/>
            <a:r>
              <a:rPr sz="1600" b="1" i="0">
                <a:solidFill>
                  <a:srgbClr val="232B37"/>
                </a:solidFill>
                <a:latin typeface="Amazon Ember Display"/>
              </a:rPr>
              <a:t>AWS CloudTrail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054" y="413384"/>
            <a:ext cx="11582400" cy="638175"/>
          </a:xfrm>
        </p:spPr>
        <p:txBody>
          <a:bodyPr/>
          <a:lstStyle/>
          <a:p>
            <a:r>
              <a:rPr sz="3600" b="1" dirty="0">
                <a:solidFill>
                  <a:srgbClr val="232B37"/>
                </a:solidFill>
                <a:latin typeface="Amazon Ember Display"/>
              </a:rPr>
              <a:t>Your five weeks at a glance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51790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517904"/>
            <a:ext cx="1325880" cy="731520"/>
          </a:xfrm>
          <a:prstGeom prst="rect">
            <a:avLst/>
          </a:prstGeom>
          <a:noFill/>
        </p:spPr>
        <p:txBody>
          <a:bodyPr wrap="square" anchor="ctr">
            <a:noAutofit/>
          </a:bodyPr>
          <a:lstStyle/>
          <a:p>
            <a:pPr algn="ctr"/>
            <a:r>
              <a:rPr sz="2600" b="1" i="0">
                <a:solidFill>
                  <a:srgbClr val="5A6B7B"/>
                </a:solidFill>
                <a:latin typeface="Amazon Ember Display"/>
              </a:rPr>
              <a:t>01</a:t>
            </a:r>
          </a:p>
        </p:txBody>
      </p:sp>
      <p:sp>
        <p:nvSpPr>
          <p:cNvPr id="6" name="TextBox 5"/>
          <p:cNvSpPr txBox="1"/>
          <p:nvPr/>
        </p:nvSpPr>
        <p:spPr>
          <a:xfrm>
            <a:off x="2167128" y="1609344"/>
            <a:ext cx="9326880" cy="548640"/>
          </a:xfrm>
          <a:prstGeom prst="rect">
            <a:avLst/>
          </a:prstGeom>
          <a:noFill/>
        </p:spPr>
        <p:txBody>
          <a:bodyPr wrap="square" anchor="ctr">
            <a:noAutofit/>
          </a:bodyPr>
          <a:lstStyle/>
          <a:p>
            <a:pPr algn="l"/>
            <a:r>
              <a:rPr sz="1600" b="0" i="0">
                <a:solidFill>
                  <a:srgbClr val="5A6B7B"/>
                </a:solidFill>
                <a:latin typeface="Amazon Ember Display"/>
              </a:rPr>
              <a:t>Regions/AZs · CloudFront · EC2/AMIs/Auto Scaling · ELB · ECS/EKS/Fargate/ECR · VPC · IAM</a:t>
            </a:r>
          </a:p>
        </p:txBody>
      </p:sp>
      <p:sp>
        <p:nvSpPr>
          <p:cNvPr id="7" name="Rounded Rectangle 6"/>
          <p:cNvSpPr/>
          <p:nvPr/>
        </p:nvSpPr>
        <p:spPr>
          <a:xfrm>
            <a:off x="612648" y="234086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12648" y="2340864"/>
            <a:ext cx="1325880" cy="731520"/>
          </a:xfrm>
          <a:prstGeom prst="rect">
            <a:avLst/>
          </a:prstGeom>
          <a:noFill/>
        </p:spPr>
        <p:txBody>
          <a:bodyPr wrap="square" anchor="ctr">
            <a:noAutofit/>
          </a:bodyPr>
          <a:lstStyle/>
          <a:p>
            <a:pPr algn="ctr"/>
            <a:r>
              <a:rPr sz="2600" b="1" i="0">
                <a:solidFill>
                  <a:srgbClr val="5A6B7B"/>
                </a:solidFill>
                <a:latin typeface="Amazon Ember Display"/>
              </a:rPr>
              <a:t>02</a:t>
            </a:r>
          </a:p>
        </p:txBody>
      </p:sp>
      <p:sp>
        <p:nvSpPr>
          <p:cNvPr id="9" name="TextBox 8"/>
          <p:cNvSpPr txBox="1"/>
          <p:nvPr/>
        </p:nvSpPr>
        <p:spPr>
          <a:xfrm>
            <a:off x="2167128" y="2432304"/>
            <a:ext cx="9326880" cy="548640"/>
          </a:xfrm>
          <a:prstGeom prst="rect">
            <a:avLst/>
          </a:prstGeom>
          <a:noFill/>
        </p:spPr>
        <p:txBody>
          <a:bodyPr wrap="square" anchor="ctr">
            <a:noAutofit/>
          </a:bodyPr>
          <a:lstStyle/>
          <a:p>
            <a:pPr algn="l"/>
            <a:r>
              <a:rPr sz="1600" b="0" i="0">
                <a:solidFill>
                  <a:srgbClr val="5A6B7B"/>
                </a:solidFill>
                <a:latin typeface="Amazon Ember Display"/>
              </a:rPr>
              <a:t>API Gateway · Lambda · DynamoDB · Step Functions · SQS · SNS · Amazon Bedrock · Kiro</a:t>
            </a:r>
          </a:p>
        </p:txBody>
      </p:sp>
      <p:sp>
        <p:nvSpPr>
          <p:cNvPr id="10" name="Rounded Rectangle 9"/>
          <p:cNvSpPr/>
          <p:nvPr/>
        </p:nvSpPr>
        <p:spPr>
          <a:xfrm>
            <a:off x="612648" y="3163824"/>
            <a:ext cx="10972800" cy="731520"/>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12648" y="3177120"/>
            <a:ext cx="1325880" cy="432028"/>
          </a:xfrm>
          <a:prstGeom prst="rect">
            <a:avLst/>
          </a:prstGeom>
          <a:noFill/>
        </p:spPr>
        <p:txBody>
          <a:bodyPr wrap="square" tIns="9144" bIns="9144" anchor="ctr">
            <a:noAutofit/>
          </a:bodyPr>
          <a:lstStyle/>
          <a:p>
            <a:pPr algn="ctr"/>
            <a:r>
              <a:rPr sz="2600" b="1" i="0">
                <a:solidFill>
                  <a:srgbClr val="8F0072"/>
                </a:solidFill>
                <a:latin typeface="Amazon Ember Display"/>
              </a:rPr>
              <a:t>03</a:t>
            </a:r>
          </a:p>
        </p:txBody>
      </p:sp>
      <p:sp>
        <p:nvSpPr>
          <p:cNvPr id="12" name="TextBox 11"/>
          <p:cNvSpPr txBox="1"/>
          <p:nvPr/>
        </p:nvSpPr>
        <p:spPr>
          <a:xfrm>
            <a:off x="612648" y="3609149"/>
            <a:ext cx="1325880" cy="272897"/>
          </a:xfrm>
          <a:prstGeom prst="rect">
            <a:avLst/>
          </a:prstGeom>
          <a:noFill/>
        </p:spPr>
        <p:txBody>
          <a:bodyPr wrap="square" tIns="9144" bIns="9144" anchor="ctr">
            <a:noAutofit/>
          </a:bodyPr>
          <a:lstStyle/>
          <a:p>
            <a:pPr algn="ctr"/>
            <a:r>
              <a:rPr sz="1600" b="1" i="0">
                <a:solidFill>
                  <a:srgbClr val="8F0072"/>
                </a:solidFill>
                <a:latin typeface="Amazon Ember Display"/>
              </a:rPr>
              <a:t>THIS WEEK</a:t>
            </a:r>
          </a:p>
        </p:txBody>
      </p:sp>
      <p:sp>
        <p:nvSpPr>
          <p:cNvPr id="13" name="TextBox 12"/>
          <p:cNvSpPr txBox="1"/>
          <p:nvPr/>
        </p:nvSpPr>
        <p:spPr>
          <a:xfrm>
            <a:off x="2167128" y="3255264"/>
            <a:ext cx="9326880" cy="548640"/>
          </a:xfrm>
          <a:prstGeom prst="rect">
            <a:avLst/>
          </a:prstGeom>
          <a:noFill/>
        </p:spPr>
        <p:txBody>
          <a:bodyPr wrap="square" anchor="ctr">
            <a:noAutofit/>
          </a:bodyPr>
          <a:lstStyle/>
          <a:p>
            <a:pPr algn="l"/>
            <a:r>
              <a:rPr sz="1600" b="1" i="0">
                <a:solidFill>
                  <a:srgbClr val="232B37"/>
                </a:solidFill>
                <a:latin typeface="Amazon Ember Display"/>
              </a:rPr>
              <a:t>SQS · SNS · EventBridge · ElastiCache · Cognito · CloudWatch · CloudTrail</a:t>
            </a:r>
          </a:p>
        </p:txBody>
      </p:sp>
      <p:sp>
        <p:nvSpPr>
          <p:cNvPr id="14" name="Rounded Rectangle 13"/>
          <p:cNvSpPr/>
          <p:nvPr/>
        </p:nvSpPr>
        <p:spPr>
          <a:xfrm>
            <a:off x="612648" y="398678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12648" y="3986784"/>
            <a:ext cx="1325880" cy="731520"/>
          </a:xfrm>
          <a:prstGeom prst="rect">
            <a:avLst/>
          </a:prstGeom>
          <a:noFill/>
        </p:spPr>
        <p:txBody>
          <a:bodyPr wrap="square" anchor="ctr">
            <a:noAutofit/>
          </a:bodyPr>
          <a:lstStyle/>
          <a:p>
            <a:pPr algn="ctr"/>
            <a:r>
              <a:rPr sz="2600" b="1" i="0">
                <a:solidFill>
                  <a:srgbClr val="5A6B7B"/>
                </a:solidFill>
                <a:latin typeface="Amazon Ember Display"/>
              </a:rPr>
              <a:t>04</a:t>
            </a:r>
          </a:p>
        </p:txBody>
      </p:sp>
      <p:sp>
        <p:nvSpPr>
          <p:cNvPr id="16" name="TextBox 15"/>
          <p:cNvSpPr txBox="1"/>
          <p:nvPr/>
        </p:nvSpPr>
        <p:spPr>
          <a:xfrm>
            <a:off x="2167128" y="4078224"/>
            <a:ext cx="9326880" cy="600659"/>
          </a:xfrm>
          <a:prstGeom prst="rect">
            <a:avLst/>
          </a:prstGeom>
          <a:noFill/>
        </p:spPr>
        <p:txBody>
          <a:bodyPr wrap="square" anchor="ctr">
            <a:noAutofit/>
          </a:bodyPr>
          <a:lstStyle/>
          <a:p>
            <a:pPr algn="l"/>
            <a:r>
              <a:rPr sz="1600" b="0" i="0">
                <a:solidFill>
                  <a:srgbClr val="5A6B7B"/>
                </a:solidFill>
                <a:latin typeface="Amazon Ember Display"/>
              </a:rPr>
              <a:t>CodePipeline · CodeDeploy · Elastic Beanstalk · ECS/EKS deployments · ECR · CloudFormation · CDK · SAM · Deployment strategies · AppConfig</a:t>
            </a:r>
          </a:p>
        </p:txBody>
      </p:sp>
      <p:sp>
        <p:nvSpPr>
          <p:cNvPr id="17" name="Rounded Rectangle 16"/>
          <p:cNvSpPr/>
          <p:nvPr/>
        </p:nvSpPr>
        <p:spPr>
          <a:xfrm>
            <a:off x="612648" y="480974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2648" y="4809744"/>
            <a:ext cx="1325880" cy="731520"/>
          </a:xfrm>
          <a:prstGeom prst="rect">
            <a:avLst/>
          </a:prstGeom>
          <a:noFill/>
        </p:spPr>
        <p:txBody>
          <a:bodyPr wrap="square" anchor="ctr">
            <a:noAutofit/>
          </a:bodyPr>
          <a:lstStyle/>
          <a:p>
            <a:pPr algn="ctr"/>
            <a:r>
              <a:rPr sz="2600" b="1" i="0">
                <a:solidFill>
                  <a:srgbClr val="5A6B7B"/>
                </a:solidFill>
                <a:latin typeface="Amazon Ember Display"/>
              </a:rPr>
              <a:t>05</a:t>
            </a:r>
          </a:p>
        </p:txBody>
      </p:sp>
      <p:sp>
        <p:nvSpPr>
          <p:cNvPr id="19" name="TextBox 18"/>
          <p:cNvSpPr txBox="1"/>
          <p:nvPr/>
        </p:nvSpPr>
        <p:spPr>
          <a:xfrm>
            <a:off x="2167128" y="4901183"/>
            <a:ext cx="9326880" cy="600659"/>
          </a:xfrm>
          <a:prstGeom prst="rect">
            <a:avLst/>
          </a:prstGeom>
          <a:noFill/>
        </p:spPr>
        <p:txBody>
          <a:bodyPr wrap="square" anchor="ctr">
            <a:noAutofit/>
          </a:bodyPr>
          <a:lstStyle/>
          <a:p>
            <a:pPr algn="l"/>
            <a:r>
              <a:rPr sz="1600" b="0" i="0">
                <a:solidFill>
                  <a:srgbClr val="5A6B7B"/>
                </a:solidFill>
                <a:latin typeface="Amazon Ember Display"/>
              </a:rPr>
              <a:t>WAF · Secrets Manager · KMS · PrivateLink · ACM · S3 presigned URLs · OAC · X-Ray · Bedrock Guardrails · AI security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services stay decoupled?</a:t>
            </a:r>
          </a:p>
        </p:txBody>
      </p:sp>
      <p:sp>
        <p:nvSpPr>
          <p:cNvPr id="3" name="Text Placeholder 2"/>
          <p:cNvSpPr>
            <a:spLocks noGrp="1"/>
          </p:cNvSpPr>
          <p:nvPr>
            <p:ph type="body" sz="quarter" idx="11"/>
          </p:nvPr>
        </p:nvSpPr>
        <p:spPr>
          <a:xfrm>
            <a:off x="322916" y="2434551"/>
            <a:ext cx="4220946" cy="377875"/>
          </a:xfrm>
        </p:spPr>
        <p:txBody>
          <a:bodyPr/>
          <a:lstStyle/>
          <a:p>
            <a:r>
              <a:rPr sz="1800" b="1">
                <a:solidFill>
                  <a:srgbClr val="FF57E9"/>
                </a:solidFill>
                <a:latin typeface="Amazon Ember Display"/>
              </a:rPr>
              <a:t>APPLICATION INTEGRATION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Two jobs: buffer the work, or route the event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645920"/>
            <a:ext cx="5303520" cy="3749039"/>
          </a:xfrm>
          <a:prstGeom prst="roundRect">
            <a:avLst>
              <a:gd name="adj" fmla="val 5000"/>
            </a:avLst>
          </a:prstGeom>
          <a:solidFill>
            <a:srgbClr val="FFFFFF"/>
          </a:solidFill>
          <a:ln w="28575">
            <a:solidFill>
              <a:srgbClr val="D600BA"/>
            </a:solidFill>
          </a:ln>
          <a:effectLst/>
        </p:spPr>
        <p:style>
          <a:lnRef idx="1">
            <a:schemeClr val="accent1"/>
          </a:lnRef>
          <a:fillRef idx="3">
            <a:schemeClr val="accent1"/>
          </a:fillRef>
          <a:effectRef idx="2">
            <a:schemeClr val="accent1"/>
          </a:effectRef>
          <a:fontRef idx="minor">
            <a:schemeClr val="lt1"/>
          </a:fontRef>
        </p:style>
        <p:txBody>
          <a:bodyPr wrap="square" lIns="256032" tIns="841248" rIns="256032" bIns="54864" rtlCol="0" anchor="t"/>
          <a:lstStyle/>
          <a:p>
            <a:pPr algn="l">
              <a:spcAft>
                <a:spcPts val="700"/>
              </a:spcAft>
              <a:defRPr sz="2300" b="0" i="0">
                <a:solidFill>
                  <a:srgbClr val="232B37"/>
                </a:solidFill>
                <a:latin typeface="Amazon Ember Display"/>
              </a:defRPr>
            </a:pPr>
            <a:r>
              <a:t>A queue such as SQS holds</a:t>
            </a:r>
          </a:p>
          <a:p>
            <a:pPr algn="l">
              <a:spcAft>
                <a:spcPts val="700"/>
              </a:spcAft>
              <a:defRPr sz="2300" b="0" i="0">
                <a:solidFill>
                  <a:srgbClr val="232B37"/>
                </a:solidFill>
                <a:latin typeface="Amazon Ember Display"/>
              </a:defRPr>
            </a:pPr>
            <a:r>
              <a:t>messages until a consumer</a:t>
            </a:r>
          </a:p>
          <a:p>
            <a:pPr algn="l">
              <a:spcAft>
                <a:spcPts val="700"/>
              </a:spcAft>
              <a:defRPr sz="2300" b="0" i="0">
                <a:solidFill>
                  <a:srgbClr val="232B37"/>
                </a:solidFill>
                <a:latin typeface="Amazon Ember Display"/>
              </a:defRPr>
            </a:pPr>
            <a:r>
              <a:t>pulls them when ready.</a:t>
            </a:r>
          </a:p>
          <a:p>
            <a:pPr algn="l">
              <a:spcAft>
                <a:spcPts val="700"/>
              </a:spcAft>
              <a:defRPr sz="2300" b="0" i="0">
                <a:solidFill>
                  <a:srgbClr val="232B37"/>
                </a:solidFill>
                <a:latin typeface="Amazon Ember Display"/>
              </a:defRPr>
            </a:pPr>
            <a:endParaRPr/>
          </a:p>
          <a:p>
            <a:pPr algn="l">
              <a:spcAft>
                <a:spcPts val="700"/>
              </a:spcAft>
              <a:defRPr sz="2300" b="0" i="0">
                <a:solidFill>
                  <a:srgbClr val="232B37"/>
                </a:solidFill>
                <a:latin typeface="Amazon Ember Display"/>
              </a:defRPr>
            </a:pPr>
            <a:r>
              <a:t>Buffers a producer and a</a:t>
            </a:r>
          </a:p>
          <a:p>
            <a:pPr algn="l">
              <a:spcAft>
                <a:spcPts val="700"/>
              </a:spcAft>
              <a:defRPr sz="2300" b="0" i="0">
                <a:solidFill>
                  <a:srgbClr val="232B37"/>
                </a:solidFill>
                <a:latin typeface="Amazon Ember Display"/>
              </a:defRPr>
            </a:pPr>
            <a:r>
              <a:t>consumer at different speeds.</a:t>
            </a:r>
          </a:p>
        </p:txBody>
      </p:sp>
      <p:sp>
        <p:nvSpPr>
          <p:cNvPr id="5" name="Rounded Rectangle 4"/>
          <p:cNvSpPr/>
          <p:nvPr/>
        </p:nvSpPr>
        <p:spPr>
          <a:xfrm>
            <a:off x="612648" y="1645920"/>
            <a:ext cx="5303520" cy="658368"/>
          </a:xfrm>
          <a:prstGeom prst="roundRect">
            <a:avLst>
              <a:gd name="adj" fmla="val 16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square" lIns="731520" tIns="54864" rIns="731520" bIns="54864" rtlCol="0" anchor="ctr"/>
          <a:lstStyle/>
          <a:p>
            <a:pPr algn="l">
              <a:spcAft>
                <a:spcPts val="700"/>
              </a:spcAft>
              <a:defRPr sz="2600" b="1" i="0">
                <a:solidFill>
                  <a:srgbClr val="FFFFFF"/>
                </a:solidFill>
                <a:latin typeface="Amazon Ember Display"/>
              </a:defRPr>
            </a:pPr>
            <a:r>
              <a:t>EVENT STORES</a:t>
            </a:r>
          </a:p>
        </p:txBody>
      </p:sp>
      <p:sp>
        <p:nvSpPr>
          <p:cNvPr id="6" name="Oval 5"/>
          <p:cNvSpPr/>
          <p:nvPr/>
        </p:nvSpPr>
        <p:spPr>
          <a:xfrm>
            <a:off x="429768" y="1408176"/>
            <a:ext cx="749808" cy="749808"/>
          </a:xfrm>
          <a:prstGeom prst="ellipse">
            <a:avLst/>
          </a:prstGeom>
          <a:solidFill>
            <a:srgbClr val="D600BA"/>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tIns="54864" rIns="18288" bIns="54864" rtlCol="0" anchor="ctr"/>
          <a:lstStyle/>
          <a:p>
            <a:pPr algn="ctr">
              <a:spcAft>
                <a:spcPts val="700"/>
              </a:spcAft>
              <a:defRPr sz="3000" b="1" i="0">
                <a:solidFill>
                  <a:srgbClr val="FFFFFF"/>
                </a:solidFill>
                <a:latin typeface="Amazon Ember Display"/>
              </a:defRPr>
            </a:pPr>
            <a:r>
              <a:t>S</a:t>
            </a:r>
          </a:p>
        </p:txBody>
      </p:sp>
      <p:sp>
        <p:nvSpPr>
          <p:cNvPr id="7" name="Rounded Rectangle 6"/>
          <p:cNvSpPr/>
          <p:nvPr/>
        </p:nvSpPr>
        <p:spPr>
          <a:xfrm>
            <a:off x="6272784" y="1645920"/>
            <a:ext cx="5303520" cy="3749039"/>
          </a:xfrm>
          <a:prstGeom prst="roundRect">
            <a:avLst>
              <a:gd name="adj" fmla="val 5000"/>
            </a:avLst>
          </a:prstGeom>
          <a:solidFill>
            <a:srgbClr val="FFFFFF"/>
          </a:solidFill>
          <a:ln w="28575">
            <a:solidFill>
              <a:srgbClr val="8F0072"/>
            </a:solidFill>
          </a:ln>
          <a:effectLst/>
        </p:spPr>
        <p:style>
          <a:lnRef idx="1">
            <a:schemeClr val="accent1"/>
          </a:lnRef>
          <a:fillRef idx="3">
            <a:schemeClr val="accent1"/>
          </a:fillRef>
          <a:effectRef idx="2">
            <a:schemeClr val="accent1"/>
          </a:effectRef>
          <a:fontRef idx="minor">
            <a:schemeClr val="lt1"/>
          </a:fontRef>
        </p:style>
        <p:txBody>
          <a:bodyPr wrap="square" lIns="256032" tIns="841248" rIns="256032" bIns="54864" rtlCol="0" anchor="t"/>
          <a:lstStyle/>
          <a:p>
            <a:pPr algn="l">
              <a:spcAft>
                <a:spcPts val="700"/>
              </a:spcAft>
              <a:defRPr sz="2300" b="0" i="0">
                <a:solidFill>
                  <a:srgbClr val="232B37"/>
                </a:solidFill>
                <a:latin typeface="Amazon Ember Display"/>
              </a:defRPr>
            </a:pPr>
            <a:r>
              <a:rPr dirty="0"/>
              <a:t>SNS and </a:t>
            </a:r>
            <a:r>
              <a:rPr dirty="0" err="1"/>
              <a:t>EventBridge</a:t>
            </a:r>
            <a:r>
              <a:rPr dirty="0"/>
              <a:t> push one</a:t>
            </a:r>
          </a:p>
          <a:p>
            <a:pPr algn="l">
              <a:spcAft>
                <a:spcPts val="700"/>
              </a:spcAft>
              <a:defRPr sz="2300" b="0" i="0">
                <a:solidFill>
                  <a:srgbClr val="232B37"/>
                </a:solidFill>
                <a:latin typeface="Amazon Ember Display"/>
              </a:defRPr>
            </a:pPr>
            <a:r>
              <a:rPr dirty="0"/>
              <a:t>message out to many consumers.</a:t>
            </a:r>
          </a:p>
          <a:p>
            <a:pPr algn="l">
              <a:spcAft>
                <a:spcPts val="700"/>
              </a:spcAft>
              <a:defRPr sz="2300" b="0" i="0">
                <a:solidFill>
                  <a:srgbClr val="232B37"/>
                </a:solidFill>
                <a:latin typeface="Amazon Ember Display"/>
              </a:defRPr>
            </a:pPr>
            <a:endParaRPr dirty="0"/>
          </a:p>
          <a:p>
            <a:pPr algn="l">
              <a:spcAft>
                <a:spcPts val="700"/>
              </a:spcAft>
              <a:defRPr sz="2300" b="0" i="0">
                <a:solidFill>
                  <a:srgbClr val="232B37"/>
                </a:solidFill>
                <a:latin typeface="Amazon Ember Display"/>
              </a:defRPr>
            </a:pPr>
            <a:r>
              <a:rPr dirty="0"/>
              <a:t>Retries and filtering keep</a:t>
            </a:r>
          </a:p>
          <a:p>
            <a:pPr algn="l">
              <a:spcAft>
                <a:spcPts val="700"/>
              </a:spcAft>
              <a:defRPr sz="2300" b="0" i="0">
                <a:solidFill>
                  <a:srgbClr val="232B37"/>
                </a:solidFill>
                <a:latin typeface="Amazon Ember Display"/>
              </a:defRPr>
            </a:pPr>
            <a:r>
              <a:rPr dirty="0"/>
              <a:t>producers and consumers</a:t>
            </a:r>
          </a:p>
          <a:p>
            <a:pPr algn="l">
              <a:spcAft>
                <a:spcPts val="700"/>
              </a:spcAft>
              <a:defRPr sz="2300" b="0" i="0">
                <a:solidFill>
                  <a:srgbClr val="232B37"/>
                </a:solidFill>
                <a:latin typeface="Amazon Ember Display"/>
              </a:defRPr>
            </a:pPr>
            <a:r>
              <a:rPr dirty="0"/>
              <a:t>decoupled.</a:t>
            </a:r>
          </a:p>
        </p:txBody>
      </p:sp>
      <p:sp>
        <p:nvSpPr>
          <p:cNvPr id="8" name="Rounded Rectangle 7"/>
          <p:cNvSpPr/>
          <p:nvPr/>
        </p:nvSpPr>
        <p:spPr>
          <a:xfrm>
            <a:off x="6272784" y="1645920"/>
            <a:ext cx="5303520" cy="658368"/>
          </a:xfrm>
          <a:prstGeom prst="roundRect">
            <a:avLst>
              <a:gd name="adj" fmla="val 16000"/>
            </a:avLst>
          </a:prstGeom>
          <a:solidFill>
            <a:srgbClr val="8F0072"/>
          </a:solidFill>
          <a:ln>
            <a:noFill/>
          </a:ln>
          <a:effectLst/>
        </p:spPr>
        <p:style>
          <a:lnRef idx="1">
            <a:schemeClr val="accent1"/>
          </a:lnRef>
          <a:fillRef idx="3">
            <a:schemeClr val="accent1"/>
          </a:fillRef>
          <a:effectRef idx="2">
            <a:schemeClr val="accent1"/>
          </a:effectRef>
          <a:fontRef idx="minor">
            <a:schemeClr val="lt1"/>
          </a:fontRef>
        </p:style>
        <p:txBody>
          <a:bodyPr wrap="square" lIns="731520" tIns="54864" rIns="731520" bIns="54864" rtlCol="0" anchor="ctr"/>
          <a:lstStyle/>
          <a:p>
            <a:pPr algn="l">
              <a:spcAft>
                <a:spcPts val="700"/>
              </a:spcAft>
              <a:defRPr sz="2600" b="1" i="0">
                <a:solidFill>
                  <a:srgbClr val="FFFFFF"/>
                </a:solidFill>
                <a:latin typeface="Amazon Ember Display"/>
              </a:defRPr>
            </a:pPr>
            <a:r>
              <a:t>EVENT ROUTERS</a:t>
            </a:r>
          </a:p>
        </p:txBody>
      </p:sp>
      <p:sp>
        <p:nvSpPr>
          <p:cNvPr id="9" name="Oval 8"/>
          <p:cNvSpPr/>
          <p:nvPr/>
        </p:nvSpPr>
        <p:spPr>
          <a:xfrm>
            <a:off x="6089904" y="1408176"/>
            <a:ext cx="749808" cy="749808"/>
          </a:xfrm>
          <a:prstGeom prst="ellipse">
            <a:avLst/>
          </a:prstGeom>
          <a:solidFill>
            <a:srgbClr val="8F007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tIns="54864" rIns="18288" bIns="54864" rtlCol="0" anchor="ctr"/>
          <a:lstStyle/>
          <a:p>
            <a:pPr algn="ctr">
              <a:spcAft>
                <a:spcPts val="700"/>
              </a:spcAft>
              <a:defRPr sz="3000" b="1" i="0">
                <a:solidFill>
                  <a:srgbClr val="FFFFFF"/>
                </a:solidFill>
                <a:latin typeface="Amazon Ember Display"/>
              </a:defRPr>
            </a:pPr>
            <a:r>
              <a:t>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dead-letter queue catches failing messages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2651760" cy="1828800"/>
          </a:xfrm>
          <a:prstGeom prst="roundRect">
            <a:avLst>
              <a:gd name="adj" fmla="val 80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40664" y="1911096"/>
            <a:ext cx="2395728" cy="346049"/>
          </a:xfrm>
          <a:prstGeom prst="rect">
            <a:avLst/>
          </a:prstGeom>
          <a:noFill/>
        </p:spPr>
        <p:txBody>
          <a:bodyPr wrap="square" anchor="ctr">
            <a:noAutofit/>
          </a:bodyPr>
          <a:lstStyle/>
          <a:p>
            <a:pPr algn="ctr"/>
            <a:r>
              <a:rPr sz="1600" b="1" i="0">
                <a:solidFill>
                  <a:srgbClr val="8F0072"/>
                </a:solidFill>
                <a:latin typeface="Amazon Ember Display"/>
              </a:rPr>
              <a:t>SOURCE QUEUE</a:t>
            </a:r>
          </a:p>
        </p:txBody>
      </p:sp>
      <p:pic>
        <p:nvPicPr>
          <p:cNvPr id="6" name="Picture 5" descr="Arch_Amazon-Simple-Queue-Service_64.png"/>
          <p:cNvPicPr>
            <a:picLocks noChangeAspect="1"/>
          </p:cNvPicPr>
          <p:nvPr/>
        </p:nvPicPr>
        <p:blipFill>
          <a:blip r:embed="rId3"/>
          <a:stretch>
            <a:fillRect/>
          </a:stretch>
        </p:blipFill>
        <p:spPr>
          <a:xfrm>
            <a:off x="795528" y="2551176"/>
            <a:ext cx="731520" cy="731520"/>
          </a:xfrm>
          <a:prstGeom prst="rect">
            <a:avLst/>
          </a:prstGeom>
        </p:spPr>
      </p:pic>
      <p:sp>
        <p:nvSpPr>
          <p:cNvPr id="7" name="Rounded Rectangle 6"/>
          <p:cNvSpPr/>
          <p:nvPr/>
        </p:nvSpPr>
        <p:spPr>
          <a:xfrm>
            <a:off x="1622176" y="2642616"/>
            <a:ext cx="598932" cy="640080"/>
          </a:xfrm>
          <a:prstGeom prst="roundRect">
            <a:avLst>
              <a:gd name="adj" fmla="val 15267"/>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22176" y="2816352"/>
            <a:ext cx="598932" cy="346049"/>
          </a:xfrm>
          <a:prstGeom prst="rect">
            <a:avLst/>
          </a:prstGeom>
          <a:noFill/>
        </p:spPr>
        <p:txBody>
          <a:bodyPr wrap="square" anchor="ctr">
            <a:noAutofit/>
          </a:bodyPr>
          <a:lstStyle/>
          <a:p>
            <a:pPr algn="ctr"/>
            <a:r>
              <a:rPr sz="1600" b="1" i="0" dirty="0">
                <a:solidFill>
                  <a:srgbClr val="8F0072"/>
                </a:solidFill>
                <a:latin typeface="Amazon Ember Display"/>
              </a:rPr>
              <a:t>msg</a:t>
            </a:r>
          </a:p>
        </p:txBody>
      </p:sp>
      <p:sp>
        <p:nvSpPr>
          <p:cNvPr id="9" name="Rounded Rectangle 8"/>
          <p:cNvSpPr/>
          <p:nvPr/>
        </p:nvSpPr>
        <p:spPr>
          <a:xfrm>
            <a:off x="2327148" y="2642616"/>
            <a:ext cx="598932" cy="640080"/>
          </a:xfrm>
          <a:prstGeom prst="roundRect">
            <a:avLst>
              <a:gd name="adj" fmla="val 15267"/>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327148" y="2816352"/>
            <a:ext cx="598932" cy="346049"/>
          </a:xfrm>
          <a:prstGeom prst="rect">
            <a:avLst/>
          </a:prstGeom>
          <a:noFill/>
        </p:spPr>
        <p:txBody>
          <a:bodyPr wrap="square" anchor="ctr">
            <a:noAutofit/>
          </a:bodyPr>
          <a:lstStyle/>
          <a:p>
            <a:pPr algn="ctr"/>
            <a:r>
              <a:rPr sz="1600" b="1" i="0">
                <a:solidFill>
                  <a:srgbClr val="8F0072"/>
                </a:solidFill>
                <a:latin typeface="Amazon Ember Display"/>
              </a:rPr>
              <a:t>msg</a:t>
            </a:r>
          </a:p>
        </p:txBody>
      </p:sp>
      <p:sp>
        <p:nvSpPr>
          <p:cNvPr id="11" name="Rounded Rectangle 10"/>
          <p:cNvSpPr/>
          <p:nvPr/>
        </p:nvSpPr>
        <p:spPr>
          <a:xfrm>
            <a:off x="3794760" y="2194560"/>
            <a:ext cx="2560320" cy="1005840"/>
          </a:xfrm>
          <a:prstGeom prst="roundRect">
            <a:avLst>
              <a:gd name="adj" fmla="val 12727"/>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Arch_AWS-Lambda_64.png"/>
          <p:cNvPicPr>
            <a:picLocks noChangeAspect="1"/>
          </p:cNvPicPr>
          <p:nvPr/>
        </p:nvPicPr>
        <p:blipFill>
          <a:blip r:embed="rId4"/>
          <a:stretch>
            <a:fillRect/>
          </a:stretch>
        </p:blipFill>
        <p:spPr>
          <a:xfrm>
            <a:off x="3986784" y="2468880"/>
            <a:ext cx="457200" cy="457200"/>
          </a:xfrm>
          <a:prstGeom prst="rect">
            <a:avLst/>
          </a:prstGeom>
        </p:spPr>
      </p:pic>
      <p:sp>
        <p:nvSpPr>
          <p:cNvPr id="13" name="TextBox 12"/>
          <p:cNvSpPr txBox="1"/>
          <p:nvPr/>
        </p:nvSpPr>
        <p:spPr>
          <a:xfrm>
            <a:off x="4553712" y="2386584"/>
            <a:ext cx="1673351" cy="346049"/>
          </a:xfrm>
          <a:prstGeom prst="rect">
            <a:avLst/>
          </a:prstGeom>
          <a:noFill/>
        </p:spPr>
        <p:txBody>
          <a:bodyPr wrap="square" anchor="ctr">
            <a:noAutofit/>
          </a:bodyPr>
          <a:lstStyle/>
          <a:p>
            <a:pPr algn="l"/>
            <a:r>
              <a:rPr sz="1600" b="1" i="0">
                <a:solidFill>
                  <a:srgbClr val="8F0072"/>
                </a:solidFill>
                <a:latin typeface="Amazon Ember Display"/>
              </a:rPr>
              <a:t>Consumer</a:t>
            </a:r>
          </a:p>
        </p:txBody>
      </p:sp>
      <p:sp>
        <p:nvSpPr>
          <p:cNvPr id="14" name="TextBox 13"/>
          <p:cNvSpPr txBox="1"/>
          <p:nvPr/>
        </p:nvSpPr>
        <p:spPr>
          <a:xfrm>
            <a:off x="4553712" y="2706624"/>
            <a:ext cx="1673351" cy="346049"/>
          </a:xfrm>
          <a:prstGeom prst="rect">
            <a:avLst/>
          </a:prstGeom>
          <a:noFill/>
        </p:spPr>
        <p:txBody>
          <a:bodyPr wrap="square" anchor="ctr">
            <a:noAutofit/>
          </a:bodyPr>
          <a:lstStyle/>
          <a:p>
            <a:pPr algn="l"/>
            <a:r>
              <a:rPr sz="1600" b="0" i="0">
                <a:solidFill>
                  <a:srgbClr val="232B37"/>
                </a:solidFill>
                <a:latin typeface="Amazon Ember Display"/>
              </a:rPr>
              <a:t>processing fails</a:t>
            </a:r>
          </a:p>
        </p:txBody>
      </p:sp>
      <p:sp>
        <p:nvSpPr>
          <p:cNvPr id="15" name="Freeform 14"/>
          <p:cNvSpPr/>
          <p:nvPr/>
        </p:nvSpPr>
        <p:spPr>
          <a:xfrm>
            <a:off x="3300984" y="2697480"/>
            <a:ext cx="438912" cy="0"/>
          </a:xfrm>
          <a:custGeom>
            <a:avLst/>
            <a:gdLst/>
            <a:ahLst/>
            <a:cxnLst/>
            <a:rect l="l" t="t" r="r" b="b"/>
            <a:pathLst>
              <a:path w="438912">
                <a:moveTo>
                  <a:pt x="0" y="0"/>
                </a:moveTo>
                <a:lnTo>
                  <a:pt x="43891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3566160" y="25786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741664" y="1783080"/>
            <a:ext cx="2834640" cy="1828800"/>
          </a:xfrm>
          <a:prstGeom prst="roundRect">
            <a:avLst>
              <a:gd name="adj" fmla="val 80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69680" y="1911096"/>
            <a:ext cx="2578608" cy="346049"/>
          </a:xfrm>
          <a:prstGeom prst="rect">
            <a:avLst/>
          </a:prstGeom>
          <a:noFill/>
        </p:spPr>
        <p:txBody>
          <a:bodyPr wrap="square" anchor="ctr">
            <a:noAutofit/>
          </a:bodyPr>
          <a:lstStyle/>
          <a:p>
            <a:pPr algn="ctr"/>
            <a:r>
              <a:rPr sz="1600" b="1" i="0">
                <a:solidFill>
                  <a:srgbClr val="8F0072"/>
                </a:solidFill>
                <a:latin typeface="Amazon Ember Display"/>
              </a:rPr>
              <a:t>DEAD-LETTER QUEUE</a:t>
            </a:r>
          </a:p>
        </p:txBody>
      </p:sp>
      <p:pic>
        <p:nvPicPr>
          <p:cNvPr id="19" name="Picture 18" descr="Arch_Amazon-Simple-Queue-Service_64.png"/>
          <p:cNvPicPr>
            <a:picLocks noChangeAspect="1"/>
          </p:cNvPicPr>
          <p:nvPr/>
        </p:nvPicPr>
        <p:blipFill>
          <a:blip r:embed="rId3"/>
          <a:stretch>
            <a:fillRect/>
          </a:stretch>
        </p:blipFill>
        <p:spPr>
          <a:xfrm>
            <a:off x="8924544" y="2368296"/>
            <a:ext cx="731520" cy="731520"/>
          </a:xfrm>
          <a:prstGeom prst="rect">
            <a:avLst/>
          </a:prstGeom>
        </p:spPr>
      </p:pic>
      <p:sp>
        <p:nvSpPr>
          <p:cNvPr id="20" name="Rounded Rectangle 19"/>
          <p:cNvSpPr/>
          <p:nvPr/>
        </p:nvSpPr>
        <p:spPr>
          <a:xfrm>
            <a:off x="9710928" y="2440736"/>
            <a:ext cx="598932" cy="640080"/>
          </a:xfrm>
          <a:prstGeom prst="roundRect">
            <a:avLst>
              <a:gd name="adj" fmla="val 15267"/>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710928" y="2642616"/>
            <a:ext cx="598932" cy="346049"/>
          </a:xfrm>
          <a:prstGeom prst="rect">
            <a:avLst/>
          </a:prstGeom>
          <a:noFill/>
        </p:spPr>
        <p:txBody>
          <a:bodyPr wrap="square" anchor="ctr">
            <a:noAutofit/>
          </a:bodyPr>
          <a:lstStyle/>
          <a:p>
            <a:pPr algn="ctr"/>
            <a:r>
              <a:rPr sz="1600" b="1" i="0" dirty="0">
                <a:solidFill>
                  <a:srgbClr val="8F0072"/>
                </a:solidFill>
                <a:latin typeface="Amazon Ember Display"/>
              </a:rPr>
              <a:t>msg</a:t>
            </a:r>
          </a:p>
        </p:txBody>
      </p:sp>
      <p:sp>
        <p:nvSpPr>
          <p:cNvPr id="22" name="TextBox 21"/>
          <p:cNvSpPr txBox="1"/>
          <p:nvPr/>
        </p:nvSpPr>
        <p:spPr>
          <a:xfrm>
            <a:off x="8869680" y="3264408"/>
            <a:ext cx="2578608" cy="346049"/>
          </a:xfrm>
          <a:prstGeom prst="rect">
            <a:avLst/>
          </a:prstGeom>
          <a:noFill/>
        </p:spPr>
        <p:txBody>
          <a:bodyPr wrap="square" anchor="ctr">
            <a:noAutofit/>
          </a:bodyPr>
          <a:lstStyle/>
          <a:p>
            <a:pPr algn="ctr"/>
            <a:r>
              <a:rPr sz="1600" b="0" i="0">
                <a:solidFill>
                  <a:srgbClr val="232B37"/>
                </a:solidFill>
                <a:latin typeface="Amazon Ember Display"/>
              </a:rPr>
              <a:t>isolated for inspection</a:t>
            </a:r>
          </a:p>
        </p:txBody>
      </p:sp>
      <p:sp>
        <p:nvSpPr>
          <p:cNvPr id="23" name="Freeform 22"/>
          <p:cNvSpPr/>
          <p:nvPr/>
        </p:nvSpPr>
        <p:spPr>
          <a:xfrm>
            <a:off x="6409944" y="2697480"/>
            <a:ext cx="2276856" cy="0"/>
          </a:xfrm>
          <a:custGeom>
            <a:avLst/>
            <a:gdLst/>
            <a:ahLst/>
            <a:cxnLst/>
            <a:rect l="l" t="t" r="r" b="b"/>
            <a:pathLst>
              <a:path w="2276856">
                <a:moveTo>
                  <a:pt x="0" y="0"/>
                </a:moveTo>
                <a:lnTo>
                  <a:pt x="2276856"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8513064" y="25786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237130"/>
            <a:ext cx="2203704" cy="346049"/>
          </a:xfrm>
          <a:prstGeom prst="rect">
            <a:avLst/>
          </a:prstGeom>
          <a:noFill/>
        </p:spPr>
        <p:txBody>
          <a:bodyPr wrap="square" anchor="t">
            <a:noAutofit/>
          </a:bodyPr>
          <a:lstStyle/>
          <a:p>
            <a:pPr algn="ctr"/>
            <a:r>
              <a:rPr sz="1600" b="0" i="0">
                <a:solidFill>
                  <a:srgbClr val="5A6B7B"/>
                </a:solidFill>
                <a:latin typeface="Amazon Ember Display"/>
              </a:rPr>
              <a:t>after max retries</a:t>
            </a:r>
          </a:p>
        </p:txBody>
      </p:sp>
      <p:sp>
        <p:nvSpPr>
          <p:cNvPr id="26" name="Freeform 25"/>
          <p:cNvSpPr/>
          <p:nvPr/>
        </p:nvSpPr>
        <p:spPr>
          <a:xfrm>
            <a:off x="1938528" y="3611880"/>
            <a:ext cx="8220456" cy="1097280"/>
          </a:xfrm>
          <a:custGeom>
            <a:avLst/>
            <a:gdLst/>
            <a:ahLst/>
            <a:cxnLst/>
            <a:rect l="l" t="t" r="r" b="b"/>
            <a:pathLst>
              <a:path w="8220456" h="1097280">
                <a:moveTo>
                  <a:pt x="8220456" y="0"/>
                </a:moveTo>
                <a:lnTo>
                  <a:pt x="8220456" y="1097280"/>
                </a:lnTo>
                <a:lnTo>
                  <a:pt x="0" y="1097280"/>
                </a:lnTo>
                <a:lnTo>
                  <a:pt x="0"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1819656" y="3611880"/>
            <a:ext cx="237744" cy="192024"/>
          </a:xfrm>
          <a:custGeom>
            <a:avLst/>
            <a:gdLst/>
            <a:ahLst/>
            <a:cxnLst/>
            <a:rect l="l" t="t" r="r" b="b"/>
            <a:pathLst>
              <a:path w="237744" h="192024">
                <a:moveTo>
                  <a:pt x="0" y="192024"/>
                </a:moveTo>
                <a:lnTo>
                  <a:pt x="118872" y="0"/>
                </a:lnTo>
                <a:lnTo>
                  <a:pt x="237744" y="192024"/>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60520" y="4398264"/>
            <a:ext cx="3840480" cy="346049"/>
          </a:xfrm>
          <a:prstGeom prst="rect">
            <a:avLst/>
          </a:prstGeom>
          <a:noFill/>
        </p:spPr>
        <p:txBody>
          <a:bodyPr wrap="square" anchor="t">
            <a:noAutofit/>
          </a:bodyPr>
          <a:lstStyle/>
          <a:p>
            <a:pPr algn="ctr"/>
            <a:r>
              <a:rPr sz="1600" b="0" i="0">
                <a:solidFill>
                  <a:srgbClr val="5A6B7B"/>
                </a:solidFill>
                <a:latin typeface="Amazon Ember Display"/>
              </a:rPr>
              <a:t>redrive after the fix</a:t>
            </a:r>
          </a:p>
        </p:txBody>
      </p:sp>
      <p:sp>
        <p:nvSpPr>
          <p:cNvPr id="29" name="TextBox 28">
            <a:hlinkClick r:id="rId5"/>
          </p:cNvPr>
          <p:cNvSpPr txBox="1"/>
          <p:nvPr/>
        </p:nvSpPr>
        <p:spPr>
          <a:xfrm>
            <a:off x="612648" y="5943600"/>
            <a:ext cx="6383642" cy="274320"/>
          </a:xfrm>
          <a:prstGeom prst="rect">
            <a:avLst/>
          </a:prstGeom>
          <a:noFill/>
        </p:spPr>
        <p:txBody>
          <a:bodyPr wrap="none">
            <a:noAutofit/>
          </a:bodyPr>
          <a:lstStyle/>
          <a:p>
            <a:r>
              <a:rPr sz="1100" b="1" dirty="0">
                <a:solidFill>
                  <a:srgbClr val="5A6B7B"/>
                </a:solidFill>
                <a:latin typeface="Amazon Ember"/>
              </a:rPr>
              <a:t>SOURCE  </a:t>
            </a:r>
            <a:r>
              <a:rPr sz="1200" u="sng" dirty="0">
                <a:solidFill>
                  <a:srgbClr val="0563C1"/>
                </a:solidFill>
                <a:latin typeface="Consolas"/>
                <a:hlinkClick r:id="rId5"/>
              </a:rPr>
              <a:t>docs.aws.amazon.com · Using dead-letter queues in Amazon SQS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Standard scales throughput, FIFO preserves order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20240"/>
            <a:ext cx="10972800" cy="1691640"/>
          </a:xfrm>
          <a:prstGeom prst="roundRect">
            <a:avLst>
              <a:gd name="adj" fmla="val 864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86968" y="2066544"/>
            <a:ext cx="1874519" cy="346049"/>
          </a:xfrm>
          <a:prstGeom prst="rect">
            <a:avLst/>
          </a:prstGeom>
          <a:noFill/>
        </p:spPr>
        <p:txBody>
          <a:bodyPr wrap="square" anchor="ctr">
            <a:noAutofit/>
          </a:bodyPr>
          <a:lstStyle/>
          <a:p>
            <a:pPr algn="l"/>
            <a:r>
              <a:rPr sz="1600" b="1" i="0">
                <a:solidFill>
                  <a:srgbClr val="8F0072"/>
                </a:solidFill>
                <a:latin typeface="Amazon Ember Display"/>
              </a:rPr>
              <a:t>STANDARD</a:t>
            </a:r>
          </a:p>
        </p:txBody>
      </p:sp>
      <p:sp>
        <p:nvSpPr>
          <p:cNvPr id="6" name="TextBox 5"/>
          <p:cNvSpPr txBox="1"/>
          <p:nvPr/>
        </p:nvSpPr>
        <p:spPr>
          <a:xfrm>
            <a:off x="886968" y="2468880"/>
            <a:ext cx="2103120" cy="822960"/>
          </a:xfrm>
          <a:prstGeom prst="rect">
            <a:avLst/>
          </a:prstGeom>
          <a:noFill/>
        </p:spPr>
        <p:txBody>
          <a:bodyPr wrap="square" anchor="ctr">
            <a:noAutofit/>
          </a:bodyPr>
          <a:lstStyle/>
          <a:p>
            <a:pPr algn="l"/>
            <a:r>
              <a:rPr sz="1600" b="0" i="0">
                <a:solidFill>
                  <a:srgbClr val="232B37"/>
                </a:solidFill>
                <a:latin typeface="Amazon Ember Display"/>
              </a:rPr>
              <a:t>best-effort order, at-least-once</a:t>
            </a:r>
          </a:p>
        </p:txBody>
      </p:sp>
      <p:sp>
        <p:nvSpPr>
          <p:cNvPr id="7" name="Rounded Rectangle 6"/>
          <p:cNvSpPr/>
          <p:nvPr/>
        </p:nvSpPr>
        <p:spPr>
          <a:xfrm>
            <a:off x="3310128" y="2395728"/>
            <a:ext cx="768096" cy="749808"/>
          </a:xfrm>
          <a:prstGeom prst="roundRect">
            <a:avLst>
              <a:gd name="adj" fmla="val 12195"/>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310128" y="2624328"/>
            <a:ext cx="768096" cy="346049"/>
          </a:xfrm>
          <a:prstGeom prst="rect">
            <a:avLst/>
          </a:prstGeom>
          <a:noFill/>
        </p:spPr>
        <p:txBody>
          <a:bodyPr wrap="square" anchor="ctr">
            <a:noAutofit/>
          </a:bodyPr>
          <a:lstStyle/>
          <a:p>
            <a:pPr algn="ctr"/>
            <a:r>
              <a:rPr sz="1600" b="1" i="0">
                <a:solidFill>
                  <a:srgbClr val="8F0072"/>
                </a:solidFill>
                <a:latin typeface="Amazon Ember Display"/>
              </a:rPr>
              <a:t>3</a:t>
            </a:r>
          </a:p>
        </p:txBody>
      </p:sp>
      <p:sp>
        <p:nvSpPr>
          <p:cNvPr id="9" name="Rounded Rectangle 8"/>
          <p:cNvSpPr/>
          <p:nvPr/>
        </p:nvSpPr>
        <p:spPr>
          <a:xfrm>
            <a:off x="4242816" y="2395728"/>
            <a:ext cx="768096" cy="749808"/>
          </a:xfrm>
          <a:prstGeom prst="roundRect">
            <a:avLst>
              <a:gd name="adj" fmla="val 12195"/>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42816" y="2624328"/>
            <a:ext cx="768096" cy="346049"/>
          </a:xfrm>
          <a:prstGeom prst="rect">
            <a:avLst/>
          </a:prstGeom>
          <a:noFill/>
        </p:spPr>
        <p:txBody>
          <a:bodyPr wrap="square" anchor="ctr">
            <a:noAutofit/>
          </a:bodyPr>
          <a:lstStyle/>
          <a:p>
            <a:pPr algn="ctr"/>
            <a:r>
              <a:rPr sz="1600" b="1" i="0">
                <a:solidFill>
                  <a:srgbClr val="8F0072"/>
                </a:solidFill>
                <a:latin typeface="Amazon Ember Display"/>
              </a:rPr>
              <a:t>1</a:t>
            </a:r>
          </a:p>
        </p:txBody>
      </p:sp>
      <p:sp>
        <p:nvSpPr>
          <p:cNvPr id="11" name="Rounded Rectangle 10"/>
          <p:cNvSpPr/>
          <p:nvPr/>
        </p:nvSpPr>
        <p:spPr>
          <a:xfrm>
            <a:off x="5175504" y="2395728"/>
            <a:ext cx="768096" cy="749808"/>
          </a:xfrm>
          <a:prstGeom prst="roundRect">
            <a:avLst>
              <a:gd name="adj" fmla="val 12195"/>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175504" y="2624328"/>
            <a:ext cx="768096" cy="346049"/>
          </a:xfrm>
          <a:prstGeom prst="rect">
            <a:avLst/>
          </a:prstGeom>
          <a:noFill/>
        </p:spPr>
        <p:txBody>
          <a:bodyPr wrap="square" anchor="ctr">
            <a:noAutofit/>
          </a:bodyPr>
          <a:lstStyle/>
          <a:p>
            <a:pPr algn="ctr"/>
            <a:r>
              <a:rPr sz="1600" b="1" i="0">
                <a:solidFill>
                  <a:srgbClr val="8F0072"/>
                </a:solidFill>
                <a:latin typeface="Amazon Ember Display"/>
              </a:rPr>
              <a:t>4</a:t>
            </a:r>
          </a:p>
        </p:txBody>
      </p:sp>
      <p:sp>
        <p:nvSpPr>
          <p:cNvPr id="13" name="Rounded Rectangle 12"/>
          <p:cNvSpPr/>
          <p:nvPr/>
        </p:nvSpPr>
        <p:spPr>
          <a:xfrm>
            <a:off x="6108192" y="2395728"/>
            <a:ext cx="768096" cy="749808"/>
          </a:xfrm>
          <a:prstGeom prst="roundRect">
            <a:avLst>
              <a:gd name="adj" fmla="val 12195"/>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08192" y="2624328"/>
            <a:ext cx="768096" cy="346049"/>
          </a:xfrm>
          <a:prstGeom prst="rect">
            <a:avLst/>
          </a:prstGeom>
          <a:noFill/>
        </p:spPr>
        <p:txBody>
          <a:bodyPr wrap="square" anchor="ctr">
            <a:noAutofit/>
          </a:bodyPr>
          <a:lstStyle/>
          <a:p>
            <a:pPr algn="ctr"/>
            <a:r>
              <a:rPr sz="1600" b="1" i="0">
                <a:solidFill>
                  <a:srgbClr val="8F0072"/>
                </a:solidFill>
                <a:latin typeface="Amazon Ember Display"/>
              </a:rPr>
              <a:t>2</a:t>
            </a:r>
          </a:p>
        </p:txBody>
      </p:sp>
      <p:sp>
        <p:nvSpPr>
          <p:cNvPr id="15" name="Rounded Rectangle 14"/>
          <p:cNvSpPr/>
          <p:nvPr/>
        </p:nvSpPr>
        <p:spPr>
          <a:xfrm>
            <a:off x="7040880" y="2395728"/>
            <a:ext cx="768096" cy="749808"/>
          </a:xfrm>
          <a:prstGeom prst="roundRect">
            <a:avLst>
              <a:gd name="adj" fmla="val 12195"/>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040880" y="2624328"/>
            <a:ext cx="768096" cy="346049"/>
          </a:xfrm>
          <a:prstGeom prst="rect">
            <a:avLst/>
          </a:prstGeom>
          <a:noFill/>
        </p:spPr>
        <p:txBody>
          <a:bodyPr wrap="square" anchor="ctr">
            <a:noAutofit/>
          </a:bodyPr>
          <a:lstStyle/>
          <a:p>
            <a:pPr algn="ctr"/>
            <a:r>
              <a:rPr sz="1600" b="1" i="0">
                <a:solidFill>
                  <a:srgbClr val="8F0072"/>
                </a:solidFill>
                <a:latin typeface="Amazon Ember Display"/>
              </a:rPr>
              <a:t>5</a:t>
            </a:r>
          </a:p>
        </p:txBody>
      </p:sp>
      <p:sp>
        <p:nvSpPr>
          <p:cNvPr id="17" name="TextBox 16"/>
          <p:cNvSpPr txBox="1"/>
          <p:nvPr/>
        </p:nvSpPr>
        <p:spPr>
          <a:xfrm>
            <a:off x="8156448" y="2619756"/>
            <a:ext cx="3017520" cy="346049"/>
          </a:xfrm>
          <a:prstGeom prst="rect">
            <a:avLst/>
          </a:prstGeom>
          <a:noFill/>
        </p:spPr>
        <p:txBody>
          <a:bodyPr wrap="square" anchor="ctr">
            <a:noAutofit/>
          </a:bodyPr>
          <a:lstStyle/>
          <a:p>
            <a:pPr algn="l"/>
            <a:r>
              <a:rPr sz="1600" b="1" i="0">
                <a:solidFill>
                  <a:srgbClr val="FF57E9"/>
                </a:solidFill>
                <a:latin typeface="Amazon Ember Display"/>
              </a:rPr>
              <a:t>high throughput</a:t>
            </a:r>
          </a:p>
        </p:txBody>
      </p:sp>
      <p:sp>
        <p:nvSpPr>
          <p:cNvPr id="18" name="Rounded Rectangle 17"/>
          <p:cNvSpPr/>
          <p:nvPr/>
        </p:nvSpPr>
        <p:spPr>
          <a:xfrm>
            <a:off x="612648" y="3886200"/>
            <a:ext cx="10972800" cy="1691640"/>
          </a:xfrm>
          <a:prstGeom prst="roundRect">
            <a:avLst>
              <a:gd name="adj" fmla="val 864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86968" y="4032504"/>
            <a:ext cx="1874519" cy="346049"/>
          </a:xfrm>
          <a:prstGeom prst="rect">
            <a:avLst/>
          </a:prstGeom>
          <a:noFill/>
        </p:spPr>
        <p:txBody>
          <a:bodyPr wrap="square" anchor="ctr">
            <a:noAutofit/>
          </a:bodyPr>
          <a:lstStyle/>
          <a:p>
            <a:pPr algn="l"/>
            <a:r>
              <a:rPr sz="1600" b="1" i="0">
                <a:solidFill>
                  <a:srgbClr val="8F0072"/>
                </a:solidFill>
                <a:latin typeface="Amazon Ember Display"/>
              </a:rPr>
              <a:t>FIFO</a:t>
            </a:r>
          </a:p>
        </p:txBody>
      </p:sp>
      <p:sp>
        <p:nvSpPr>
          <p:cNvPr id="20" name="TextBox 19"/>
          <p:cNvSpPr txBox="1"/>
          <p:nvPr/>
        </p:nvSpPr>
        <p:spPr>
          <a:xfrm>
            <a:off x="886968" y="4434840"/>
            <a:ext cx="2103120" cy="822960"/>
          </a:xfrm>
          <a:prstGeom prst="rect">
            <a:avLst/>
          </a:prstGeom>
          <a:noFill/>
        </p:spPr>
        <p:txBody>
          <a:bodyPr wrap="square" anchor="ctr">
            <a:noAutofit/>
          </a:bodyPr>
          <a:lstStyle/>
          <a:p>
            <a:pPr algn="l"/>
            <a:r>
              <a:rPr sz="1600" b="0" i="0">
                <a:solidFill>
                  <a:srgbClr val="232B37"/>
                </a:solidFill>
                <a:latin typeface="Amazon Ember Display"/>
              </a:rPr>
              <a:t>strict order, exactly once</a:t>
            </a:r>
          </a:p>
        </p:txBody>
      </p:sp>
      <p:sp>
        <p:nvSpPr>
          <p:cNvPr id="21" name="Rounded Rectangle 20"/>
          <p:cNvSpPr/>
          <p:nvPr/>
        </p:nvSpPr>
        <p:spPr>
          <a:xfrm>
            <a:off x="3310128" y="4361688"/>
            <a:ext cx="768096" cy="749808"/>
          </a:xfrm>
          <a:prstGeom prst="roundRect">
            <a:avLst>
              <a:gd name="adj" fmla="val 12195"/>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310128" y="4590288"/>
            <a:ext cx="768096" cy="346049"/>
          </a:xfrm>
          <a:prstGeom prst="rect">
            <a:avLst/>
          </a:prstGeom>
          <a:noFill/>
        </p:spPr>
        <p:txBody>
          <a:bodyPr wrap="square" anchor="ctr">
            <a:noAutofit/>
          </a:bodyPr>
          <a:lstStyle/>
          <a:p>
            <a:pPr algn="ctr"/>
            <a:r>
              <a:rPr sz="1600" b="1" i="0">
                <a:solidFill>
                  <a:srgbClr val="8F0072"/>
                </a:solidFill>
                <a:latin typeface="Amazon Ember Display"/>
              </a:rPr>
              <a:t>1</a:t>
            </a:r>
          </a:p>
        </p:txBody>
      </p:sp>
      <p:sp>
        <p:nvSpPr>
          <p:cNvPr id="23" name="Rounded Rectangle 22"/>
          <p:cNvSpPr/>
          <p:nvPr/>
        </p:nvSpPr>
        <p:spPr>
          <a:xfrm>
            <a:off x="4242816" y="4361688"/>
            <a:ext cx="768096" cy="749808"/>
          </a:xfrm>
          <a:prstGeom prst="roundRect">
            <a:avLst>
              <a:gd name="adj" fmla="val 12195"/>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242816" y="4590288"/>
            <a:ext cx="768096" cy="346049"/>
          </a:xfrm>
          <a:prstGeom prst="rect">
            <a:avLst/>
          </a:prstGeom>
          <a:noFill/>
        </p:spPr>
        <p:txBody>
          <a:bodyPr wrap="square" anchor="ctr">
            <a:noAutofit/>
          </a:bodyPr>
          <a:lstStyle/>
          <a:p>
            <a:pPr algn="ctr"/>
            <a:r>
              <a:rPr sz="1600" b="1" i="0">
                <a:solidFill>
                  <a:srgbClr val="8F0072"/>
                </a:solidFill>
                <a:latin typeface="Amazon Ember Display"/>
              </a:rPr>
              <a:t>2</a:t>
            </a:r>
          </a:p>
        </p:txBody>
      </p:sp>
      <p:sp>
        <p:nvSpPr>
          <p:cNvPr id="25" name="Rounded Rectangle 24"/>
          <p:cNvSpPr/>
          <p:nvPr/>
        </p:nvSpPr>
        <p:spPr>
          <a:xfrm>
            <a:off x="5175504" y="4361688"/>
            <a:ext cx="768096" cy="749808"/>
          </a:xfrm>
          <a:prstGeom prst="roundRect">
            <a:avLst>
              <a:gd name="adj" fmla="val 12195"/>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175504" y="4590288"/>
            <a:ext cx="768096" cy="346049"/>
          </a:xfrm>
          <a:prstGeom prst="rect">
            <a:avLst/>
          </a:prstGeom>
          <a:noFill/>
        </p:spPr>
        <p:txBody>
          <a:bodyPr wrap="square" anchor="ctr">
            <a:noAutofit/>
          </a:bodyPr>
          <a:lstStyle/>
          <a:p>
            <a:pPr algn="ctr"/>
            <a:r>
              <a:rPr sz="1600" b="1" i="0">
                <a:solidFill>
                  <a:srgbClr val="8F0072"/>
                </a:solidFill>
                <a:latin typeface="Amazon Ember Display"/>
              </a:rPr>
              <a:t>3</a:t>
            </a:r>
          </a:p>
        </p:txBody>
      </p:sp>
      <p:sp>
        <p:nvSpPr>
          <p:cNvPr id="27" name="Rounded Rectangle 26"/>
          <p:cNvSpPr/>
          <p:nvPr/>
        </p:nvSpPr>
        <p:spPr>
          <a:xfrm>
            <a:off x="6108192" y="4361688"/>
            <a:ext cx="768096" cy="749808"/>
          </a:xfrm>
          <a:prstGeom prst="roundRect">
            <a:avLst>
              <a:gd name="adj" fmla="val 12195"/>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108192" y="4590288"/>
            <a:ext cx="768096" cy="346049"/>
          </a:xfrm>
          <a:prstGeom prst="rect">
            <a:avLst/>
          </a:prstGeom>
          <a:noFill/>
        </p:spPr>
        <p:txBody>
          <a:bodyPr wrap="square" anchor="ctr">
            <a:noAutofit/>
          </a:bodyPr>
          <a:lstStyle/>
          <a:p>
            <a:pPr algn="ctr"/>
            <a:r>
              <a:rPr sz="1600" b="1" i="0">
                <a:solidFill>
                  <a:srgbClr val="8F0072"/>
                </a:solidFill>
                <a:latin typeface="Amazon Ember Display"/>
              </a:rPr>
              <a:t>4</a:t>
            </a:r>
          </a:p>
        </p:txBody>
      </p:sp>
      <p:sp>
        <p:nvSpPr>
          <p:cNvPr id="29" name="Rounded Rectangle 28"/>
          <p:cNvSpPr/>
          <p:nvPr/>
        </p:nvSpPr>
        <p:spPr>
          <a:xfrm>
            <a:off x="7040880" y="4361688"/>
            <a:ext cx="768096" cy="749808"/>
          </a:xfrm>
          <a:prstGeom prst="roundRect">
            <a:avLst>
              <a:gd name="adj" fmla="val 12195"/>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040880" y="4590288"/>
            <a:ext cx="768096" cy="346049"/>
          </a:xfrm>
          <a:prstGeom prst="rect">
            <a:avLst/>
          </a:prstGeom>
          <a:noFill/>
        </p:spPr>
        <p:txBody>
          <a:bodyPr wrap="square" anchor="ctr">
            <a:noAutofit/>
          </a:bodyPr>
          <a:lstStyle/>
          <a:p>
            <a:pPr algn="ctr"/>
            <a:r>
              <a:rPr sz="1600" b="1" i="0">
                <a:solidFill>
                  <a:srgbClr val="8F0072"/>
                </a:solidFill>
                <a:latin typeface="Amazon Ember Display"/>
              </a:rPr>
              <a:t>5</a:t>
            </a:r>
          </a:p>
        </p:txBody>
      </p:sp>
      <p:sp>
        <p:nvSpPr>
          <p:cNvPr id="31" name="TextBox 30"/>
          <p:cNvSpPr txBox="1"/>
          <p:nvPr/>
        </p:nvSpPr>
        <p:spPr>
          <a:xfrm>
            <a:off x="8156448" y="4585716"/>
            <a:ext cx="3017520" cy="346049"/>
          </a:xfrm>
          <a:prstGeom prst="rect">
            <a:avLst/>
          </a:prstGeom>
          <a:noFill/>
        </p:spPr>
        <p:txBody>
          <a:bodyPr wrap="square" anchor="ctr">
            <a:noAutofit/>
          </a:bodyPr>
          <a:lstStyle/>
          <a:p>
            <a:pPr algn="l"/>
            <a:r>
              <a:rPr sz="1600" b="1" i="0">
                <a:solidFill>
                  <a:srgbClr val="FF57E9"/>
                </a:solidFill>
                <a:latin typeface="Amazon Ember Display"/>
              </a:rPr>
              <a:t>ordered delivery</a:t>
            </a:r>
          </a:p>
        </p:txBody>
      </p:sp>
      <p:sp>
        <p:nvSpPr>
          <p:cNvPr id="32" name="TextBox 31"/>
          <p:cNvSpPr txBox="1"/>
          <p:nvPr/>
        </p:nvSpPr>
        <p:spPr>
          <a:xfrm>
            <a:off x="612648" y="1591056"/>
            <a:ext cx="10972800" cy="346049"/>
          </a:xfrm>
          <a:prstGeom prst="rect">
            <a:avLst/>
          </a:prstGeom>
          <a:noFill/>
        </p:spPr>
        <p:txBody>
          <a:bodyPr wrap="square" anchor="t">
            <a:noAutofit/>
          </a:bodyPr>
          <a:lstStyle/>
          <a:p>
            <a:pPr algn="ctr"/>
            <a:r>
              <a:rPr sz="1600" b="0" i="0">
                <a:solidFill>
                  <a:srgbClr val="5A6B7B"/>
                </a:solidFill>
                <a:latin typeface="Amazon Ember Display"/>
              </a:rPr>
              <a:t>the same five messages enter each queue</a:t>
            </a:r>
          </a:p>
        </p:txBody>
      </p:sp>
      <p:sp>
        <p:nvSpPr>
          <p:cNvPr id="33" name="TextBox 32">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Simple Queue Service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a:xfrm>
            <a:off x="365760" y="304800"/>
            <a:ext cx="11582400" cy="638175"/>
          </a:xfrm>
        </p:spPr>
        <p:txBody>
          <a:bodyPr/>
          <a:lstStyle/>
          <a:p>
            <a:r>
              <a:rPr sz="3600" b="1" dirty="0">
                <a:solidFill>
                  <a:srgbClr val="232B37"/>
                </a:solidFill>
                <a:latin typeface="Amazon Ember Display"/>
              </a:rPr>
              <a:t>A topic pushes one message to every subscriber</a:t>
            </a:r>
          </a:p>
        </p:txBody>
      </p:sp>
      <p:sp>
        <p:nvSpPr>
          <p:cNvPr id="3" name="Rectangle 2"/>
          <p:cNvSpPr/>
          <p:nvPr/>
        </p:nvSpPr>
        <p:spPr>
          <a:xfrm>
            <a:off x="361188" y="1027557"/>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645920"/>
            <a:ext cx="10360152" cy="2103120"/>
          </a:xfrm>
          <a:prstGeom prst="roundRect">
            <a:avLst>
              <a:gd name="adj" fmla="val 7000"/>
            </a:avLst>
          </a:prstGeom>
          <a:solidFill>
            <a:srgbClr val="FFFFFF"/>
          </a:solidFill>
          <a:ln w="28575">
            <a:solidFill>
              <a:srgbClr val="8F00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1883664"/>
            <a:ext cx="9354312" cy="676656"/>
          </a:xfrm>
          <a:prstGeom prst="rect">
            <a:avLst/>
          </a:prstGeom>
          <a:noFill/>
        </p:spPr>
        <p:txBody>
          <a:bodyPr wrap="square">
            <a:spAutoFit/>
          </a:bodyPr>
          <a:lstStyle/>
          <a:p>
            <a:r>
              <a:rPr sz="3600" b="1">
                <a:solidFill>
                  <a:srgbClr val="232B37"/>
                </a:solidFill>
                <a:latin typeface="Amazon Ember Display"/>
              </a:rPr>
              <a:t>Amazon SNS</a:t>
            </a:r>
            <a:r>
              <a:rPr sz="2200" i="1">
                <a:solidFill>
                  <a:srgbClr val="8C8C99"/>
                </a:solidFill>
                <a:latin typeface="Amazon Ember Display"/>
              </a:rPr>
              <a:t>    AWS service</a:t>
            </a:r>
          </a:p>
        </p:txBody>
      </p:sp>
      <p:sp>
        <p:nvSpPr>
          <p:cNvPr id="6" name="TextBox 5"/>
          <p:cNvSpPr txBox="1"/>
          <p:nvPr/>
        </p:nvSpPr>
        <p:spPr>
          <a:xfrm>
            <a:off x="1444752" y="2578608"/>
            <a:ext cx="8805672" cy="960120"/>
          </a:xfrm>
          <a:prstGeom prst="rect">
            <a:avLst/>
          </a:prstGeom>
          <a:noFill/>
        </p:spPr>
        <p:txBody>
          <a:bodyPr wrap="square" lIns="18288" tIns="54864" rIns="18288" bIns="54864" anchor="t">
            <a:spAutoFit/>
          </a:bodyPr>
          <a:lstStyle/>
          <a:p>
            <a:pPr algn="l">
              <a:spcAft>
                <a:spcPts val="700"/>
              </a:spcAft>
              <a:defRPr sz="2300" b="0" i="0">
                <a:solidFill>
                  <a:srgbClr val="232B37"/>
                </a:solidFill>
                <a:latin typeface="Amazon Ember Display"/>
              </a:defRPr>
            </a:pPr>
            <a:r>
              <a:t>A managed pub/sub messaging service: a publisher sends one message to a topic and every subscriber receives its own copy.</a:t>
            </a:r>
          </a:p>
        </p:txBody>
      </p:sp>
      <p:sp>
        <p:nvSpPr>
          <p:cNvPr id="7" name="Rounded Rectangle 6"/>
          <p:cNvSpPr/>
          <p:nvPr/>
        </p:nvSpPr>
        <p:spPr>
          <a:xfrm>
            <a:off x="1444752" y="4133087"/>
            <a:ext cx="128016" cy="1444752"/>
          </a:xfrm>
          <a:prstGeom prst="roundRect">
            <a:avLst>
              <a:gd name="adj" fmla="val 5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73936" y="4114800"/>
            <a:ext cx="8897112" cy="402336"/>
          </a:xfrm>
          <a:prstGeom prst="rect">
            <a:avLst/>
          </a:prstGeom>
          <a:noFill/>
        </p:spPr>
        <p:txBody>
          <a:bodyPr wrap="square" lIns="18288" tIns="54864" rIns="18288" bIns="54864" anchor="ctr">
            <a:spAutoFit/>
          </a:bodyPr>
          <a:lstStyle/>
          <a:p>
            <a:pPr algn="l">
              <a:spcAft>
                <a:spcPts val="700"/>
              </a:spcAft>
              <a:defRPr sz="1800" b="1" i="0">
                <a:solidFill>
                  <a:srgbClr val="D600BA"/>
                </a:solidFill>
                <a:latin typeface="Amazon Ember Display"/>
              </a:defRPr>
            </a:pPr>
            <a:r>
              <a:t>IN PLAIN TERMS</a:t>
            </a:r>
          </a:p>
        </p:txBody>
      </p:sp>
      <p:sp>
        <p:nvSpPr>
          <p:cNvPr id="9" name="TextBox 8"/>
          <p:cNvSpPr txBox="1"/>
          <p:nvPr/>
        </p:nvSpPr>
        <p:spPr>
          <a:xfrm>
            <a:off x="1773936" y="4553712"/>
            <a:ext cx="8805672" cy="1024128"/>
          </a:xfrm>
          <a:prstGeom prst="rect">
            <a:avLst/>
          </a:prstGeom>
          <a:noFill/>
        </p:spPr>
        <p:txBody>
          <a:bodyPr wrap="square" lIns="18288" tIns="54864" rIns="18288" bIns="54864" anchor="t">
            <a:spAutoFit/>
          </a:bodyPr>
          <a:lstStyle/>
          <a:p>
            <a:pPr algn="l">
              <a:spcAft>
                <a:spcPts val="700"/>
              </a:spcAft>
              <a:defRPr sz="2700" b="1" i="0">
                <a:solidFill>
                  <a:srgbClr val="D600BA"/>
                </a:solidFill>
                <a:latin typeface="Amazon Ember Display"/>
              </a:defRPr>
            </a:pPr>
            <a:r>
              <a:t>publish once to a topic -- every subscriber gets a copy, pushed not pulled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EventBridge routes on the content of an event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148840"/>
            <a:ext cx="2788920" cy="1371600"/>
          </a:xfrm>
          <a:prstGeom prst="roundRect">
            <a:avLst>
              <a:gd name="adj" fmla="val 9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EventBridge_64.png"/>
          <p:cNvPicPr>
            <a:picLocks noChangeAspect="1"/>
          </p:cNvPicPr>
          <p:nvPr/>
        </p:nvPicPr>
        <p:blipFill>
          <a:blip r:embed="rId3"/>
          <a:stretch>
            <a:fillRect/>
          </a:stretch>
        </p:blipFill>
        <p:spPr>
          <a:xfrm>
            <a:off x="804671" y="2606040"/>
            <a:ext cx="457200" cy="457200"/>
          </a:xfrm>
          <a:prstGeom prst="rect">
            <a:avLst/>
          </a:prstGeom>
        </p:spPr>
      </p:pic>
      <p:sp>
        <p:nvSpPr>
          <p:cNvPr id="6" name="TextBox 5"/>
          <p:cNvSpPr txBox="1"/>
          <p:nvPr/>
        </p:nvSpPr>
        <p:spPr>
          <a:xfrm>
            <a:off x="1371600" y="2523744"/>
            <a:ext cx="1901951" cy="346049"/>
          </a:xfrm>
          <a:prstGeom prst="rect">
            <a:avLst/>
          </a:prstGeom>
          <a:noFill/>
        </p:spPr>
        <p:txBody>
          <a:bodyPr wrap="square" anchor="ctr">
            <a:noAutofit/>
          </a:bodyPr>
          <a:lstStyle/>
          <a:p>
            <a:pPr algn="l"/>
            <a:r>
              <a:rPr sz="1600" b="1" i="0">
                <a:solidFill>
                  <a:srgbClr val="8F0072"/>
                </a:solidFill>
                <a:latin typeface="Amazon Ember Display"/>
              </a:rPr>
              <a:t>An event</a:t>
            </a:r>
          </a:p>
        </p:txBody>
      </p:sp>
      <p:sp>
        <p:nvSpPr>
          <p:cNvPr id="7" name="TextBox 6"/>
          <p:cNvSpPr txBox="1"/>
          <p:nvPr/>
        </p:nvSpPr>
        <p:spPr>
          <a:xfrm>
            <a:off x="1371600" y="2843784"/>
            <a:ext cx="1901951" cy="346049"/>
          </a:xfrm>
          <a:prstGeom prst="rect">
            <a:avLst/>
          </a:prstGeom>
          <a:noFill/>
        </p:spPr>
        <p:txBody>
          <a:bodyPr wrap="square" anchor="ctr">
            <a:noAutofit/>
          </a:bodyPr>
          <a:lstStyle/>
          <a:p>
            <a:pPr algn="l"/>
            <a:r>
              <a:rPr sz="1600" b="0" i="0">
                <a:solidFill>
                  <a:srgbClr val="232B37"/>
                </a:solidFill>
                <a:latin typeface="Amazon Ember Display"/>
              </a:rPr>
              <a:t>has a detail-type</a:t>
            </a:r>
          </a:p>
        </p:txBody>
      </p:sp>
      <p:sp>
        <p:nvSpPr>
          <p:cNvPr id="8" name="Rounded Rectangle 7"/>
          <p:cNvSpPr/>
          <p:nvPr/>
        </p:nvSpPr>
        <p:spPr>
          <a:xfrm>
            <a:off x="4160520" y="1783080"/>
            <a:ext cx="3246120" cy="3246120"/>
          </a:xfrm>
          <a:prstGeom prst="roundRect">
            <a:avLst>
              <a:gd name="adj" fmla="val 4507"/>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160520" y="1911095"/>
            <a:ext cx="3246120" cy="346049"/>
          </a:xfrm>
          <a:prstGeom prst="rect">
            <a:avLst/>
          </a:prstGeom>
          <a:noFill/>
        </p:spPr>
        <p:txBody>
          <a:bodyPr wrap="square" anchor="ctr">
            <a:noAutofit/>
          </a:bodyPr>
          <a:lstStyle/>
          <a:p>
            <a:pPr algn="ctr"/>
            <a:r>
              <a:rPr sz="1600" b="1" i="0">
                <a:solidFill>
                  <a:srgbClr val="8F0072"/>
                </a:solidFill>
                <a:latin typeface="Amazon Ember Display"/>
              </a:rPr>
              <a:t>EVENT BUS</a:t>
            </a:r>
          </a:p>
        </p:txBody>
      </p:sp>
      <p:sp>
        <p:nvSpPr>
          <p:cNvPr id="10" name="Rounded Rectangle 9"/>
          <p:cNvSpPr/>
          <p:nvPr/>
        </p:nvSpPr>
        <p:spPr>
          <a:xfrm>
            <a:off x="4416552" y="2386584"/>
            <a:ext cx="2734056" cy="1005840"/>
          </a:xfrm>
          <a:prstGeom prst="roundRect">
            <a:avLst>
              <a:gd name="adj" fmla="val 10909"/>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562856" y="2514600"/>
            <a:ext cx="2441448" cy="346049"/>
          </a:xfrm>
          <a:prstGeom prst="rect">
            <a:avLst/>
          </a:prstGeom>
          <a:noFill/>
        </p:spPr>
        <p:txBody>
          <a:bodyPr wrap="square" anchor="ctr">
            <a:noAutofit/>
          </a:bodyPr>
          <a:lstStyle/>
          <a:p>
            <a:pPr algn="l"/>
            <a:r>
              <a:rPr sz="1600" b="1" i="0">
                <a:solidFill>
                  <a:srgbClr val="8F0072"/>
                </a:solidFill>
                <a:latin typeface="Amazon Ember Display"/>
              </a:rPr>
              <a:t>RULE</a:t>
            </a:r>
          </a:p>
        </p:txBody>
      </p:sp>
      <p:sp>
        <p:nvSpPr>
          <p:cNvPr id="12" name="TextBox 11"/>
          <p:cNvSpPr txBox="1"/>
          <p:nvPr/>
        </p:nvSpPr>
        <p:spPr>
          <a:xfrm>
            <a:off x="4562856" y="2862072"/>
            <a:ext cx="2441448" cy="420624"/>
          </a:xfrm>
          <a:prstGeom prst="rect">
            <a:avLst/>
          </a:prstGeom>
          <a:noFill/>
        </p:spPr>
        <p:txBody>
          <a:bodyPr wrap="square" anchor="ctr">
            <a:noAutofit/>
          </a:bodyPr>
          <a:lstStyle/>
          <a:p>
            <a:pPr algn="l"/>
            <a:r>
              <a:rPr sz="1600" b="0" i="0">
                <a:solidFill>
                  <a:srgbClr val="232B37"/>
                </a:solidFill>
                <a:latin typeface="Amazon Ember Display"/>
              </a:rPr>
              <a:t>rule: “order placed”</a:t>
            </a:r>
          </a:p>
        </p:txBody>
      </p:sp>
      <p:sp>
        <p:nvSpPr>
          <p:cNvPr id="13" name="Rounded Rectangle 12"/>
          <p:cNvSpPr/>
          <p:nvPr/>
        </p:nvSpPr>
        <p:spPr>
          <a:xfrm>
            <a:off x="4416552" y="3703320"/>
            <a:ext cx="2734056" cy="1005840"/>
          </a:xfrm>
          <a:prstGeom prst="roundRect">
            <a:avLst>
              <a:gd name="adj" fmla="val 10909"/>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62856" y="3831335"/>
            <a:ext cx="2441448" cy="346049"/>
          </a:xfrm>
          <a:prstGeom prst="rect">
            <a:avLst/>
          </a:prstGeom>
          <a:noFill/>
        </p:spPr>
        <p:txBody>
          <a:bodyPr wrap="square" anchor="ctr">
            <a:noAutofit/>
          </a:bodyPr>
          <a:lstStyle/>
          <a:p>
            <a:pPr algn="l"/>
            <a:r>
              <a:rPr sz="1600" b="1" i="0">
                <a:solidFill>
                  <a:srgbClr val="8F0072"/>
                </a:solidFill>
                <a:latin typeface="Amazon Ember Display"/>
              </a:rPr>
              <a:t>RULE</a:t>
            </a:r>
          </a:p>
        </p:txBody>
      </p:sp>
      <p:sp>
        <p:nvSpPr>
          <p:cNvPr id="15" name="TextBox 14"/>
          <p:cNvSpPr txBox="1"/>
          <p:nvPr/>
        </p:nvSpPr>
        <p:spPr>
          <a:xfrm>
            <a:off x="4562856" y="4178808"/>
            <a:ext cx="2441448" cy="420624"/>
          </a:xfrm>
          <a:prstGeom prst="rect">
            <a:avLst/>
          </a:prstGeom>
          <a:noFill/>
        </p:spPr>
        <p:txBody>
          <a:bodyPr wrap="square" anchor="ctr">
            <a:noAutofit/>
          </a:bodyPr>
          <a:lstStyle/>
          <a:p>
            <a:pPr algn="l"/>
            <a:r>
              <a:rPr sz="1600" b="0" i="0">
                <a:solidFill>
                  <a:srgbClr val="232B37"/>
                </a:solidFill>
                <a:latin typeface="Amazon Ember Display"/>
              </a:rPr>
              <a:t>rule: “refund issued”</a:t>
            </a:r>
          </a:p>
        </p:txBody>
      </p:sp>
      <p:sp>
        <p:nvSpPr>
          <p:cNvPr id="16" name="Freeform 15"/>
          <p:cNvSpPr/>
          <p:nvPr/>
        </p:nvSpPr>
        <p:spPr>
          <a:xfrm>
            <a:off x="3401568" y="2834640"/>
            <a:ext cx="704088" cy="0"/>
          </a:xfrm>
          <a:custGeom>
            <a:avLst/>
            <a:gdLst/>
            <a:ahLst/>
            <a:cxnLst/>
            <a:rect l="l" t="t" r="r" b="b"/>
            <a:pathLst>
              <a:path w="704088">
                <a:moveTo>
                  <a:pt x="0" y="0"/>
                </a:moveTo>
                <a:lnTo>
                  <a:pt x="7040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3931920" y="27157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503920" y="2386584"/>
            <a:ext cx="30632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Arch_AWS-Lambda_64.png"/>
          <p:cNvPicPr>
            <a:picLocks noChangeAspect="1"/>
          </p:cNvPicPr>
          <p:nvPr/>
        </p:nvPicPr>
        <p:blipFill>
          <a:blip r:embed="rId4"/>
          <a:stretch>
            <a:fillRect/>
          </a:stretch>
        </p:blipFill>
        <p:spPr>
          <a:xfrm>
            <a:off x="8695944" y="2660904"/>
            <a:ext cx="457200" cy="457200"/>
          </a:xfrm>
          <a:prstGeom prst="rect">
            <a:avLst/>
          </a:prstGeom>
        </p:spPr>
      </p:pic>
      <p:sp>
        <p:nvSpPr>
          <p:cNvPr id="20" name="TextBox 19"/>
          <p:cNvSpPr txBox="1"/>
          <p:nvPr/>
        </p:nvSpPr>
        <p:spPr>
          <a:xfrm>
            <a:off x="9262872" y="2743200"/>
            <a:ext cx="2176272" cy="346049"/>
          </a:xfrm>
          <a:prstGeom prst="rect">
            <a:avLst/>
          </a:prstGeom>
          <a:noFill/>
        </p:spPr>
        <p:txBody>
          <a:bodyPr wrap="square" anchor="ctr">
            <a:noAutofit/>
          </a:bodyPr>
          <a:lstStyle/>
          <a:p>
            <a:pPr algn="l"/>
            <a:r>
              <a:rPr sz="1600" b="1" i="0">
                <a:solidFill>
                  <a:srgbClr val="8F0072"/>
                </a:solidFill>
                <a:latin typeface="Amazon Ember Display"/>
              </a:rPr>
              <a:t>Fulfillment</a:t>
            </a:r>
          </a:p>
        </p:txBody>
      </p:sp>
      <p:sp>
        <p:nvSpPr>
          <p:cNvPr id="21" name="Freeform 20"/>
          <p:cNvSpPr/>
          <p:nvPr/>
        </p:nvSpPr>
        <p:spPr>
          <a:xfrm>
            <a:off x="7443215" y="2889504"/>
            <a:ext cx="1005841" cy="0"/>
          </a:xfrm>
          <a:custGeom>
            <a:avLst/>
            <a:gdLst/>
            <a:ahLst/>
            <a:cxnLst/>
            <a:rect l="l" t="t" r="r" b="b"/>
            <a:pathLst>
              <a:path w="1005841">
                <a:moveTo>
                  <a:pt x="0" y="0"/>
                </a:moveTo>
                <a:lnTo>
                  <a:pt x="1005841"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8275319" y="2770632"/>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03920" y="3703320"/>
            <a:ext cx="30632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Arch_Amazon-Simple-Queue-Service_64.png"/>
          <p:cNvPicPr>
            <a:picLocks noChangeAspect="1"/>
          </p:cNvPicPr>
          <p:nvPr/>
        </p:nvPicPr>
        <p:blipFill>
          <a:blip r:embed="rId5"/>
          <a:stretch>
            <a:fillRect/>
          </a:stretch>
        </p:blipFill>
        <p:spPr>
          <a:xfrm>
            <a:off x="8695944" y="3977639"/>
            <a:ext cx="457200" cy="457200"/>
          </a:xfrm>
          <a:prstGeom prst="rect">
            <a:avLst/>
          </a:prstGeom>
        </p:spPr>
      </p:pic>
      <p:sp>
        <p:nvSpPr>
          <p:cNvPr id="25" name="TextBox 24"/>
          <p:cNvSpPr txBox="1"/>
          <p:nvPr/>
        </p:nvSpPr>
        <p:spPr>
          <a:xfrm>
            <a:off x="9262872" y="4059935"/>
            <a:ext cx="2176272" cy="346049"/>
          </a:xfrm>
          <a:prstGeom prst="rect">
            <a:avLst/>
          </a:prstGeom>
          <a:noFill/>
        </p:spPr>
        <p:txBody>
          <a:bodyPr wrap="square" anchor="ctr">
            <a:noAutofit/>
          </a:bodyPr>
          <a:lstStyle/>
          <a:p>
            <a:pPr algn="l"/>
            <a:r>
              <a:rPr sz="1600" b="1" i="0">
                <a:solidFill>
                  <a:srgbClr val="8F0072"/>
                </a:solidFill>
                <a:latin typeface="Amazon Ember Display"/>
              </a:rPr>
              <a:t>Refund queue</a:t>
            </a:r>
          </a:p>
        </p:txBody>
      </p:sp>
      <p:sp>
        <p:nvSpPr>
          <p:cNvPr id="26" name="Freeform 25"/>
          <p:cNvSpPr/>
          <p:nvPr/>
        </p:nvSpPr>
        <p:spPr>
          <a:xfrm>
            <a:off x="7443215" y="4206240"/>
            <a:ext cx="1005841" cy="0"/>
          </a:xfrm>
          <a:custGeom>
            <a:avLst/>
            <a:gdLst/>
            <a:ahLst/>
            <a:cxnLst/>
            <a:rect l="l" t="t" r="r" b="b"/>
            <a:pathLst>
              <a:path w="1005841">
                <a:moveTo>
                  <a:pt x="0" y="0"/>
                </a:moveTo>
                <a:lnTo>
                  <a:pt x="1005841"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8275319" y="4087368"/>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 y="5212080"/>
            <a:ext cx="10972800" cy="346049"/>
          </a:xfrm>
          <a:prstGeom prst="rect">
            <a:avLst/>
          </a:prstGeom>
          <a:noFill/>
        </p:spPr>
        <p:txBody>
          <a:bodyPr wrap="square" anchor="t">
            <a:noAutofit/>
          </a:bodyPr>
          <a:lstStyle/>
          <a:p>
            <a:pPr algn="ctr"/>
            <a:r>
              <a:rPr sz="1600" b="0" i="0">
                <a:solidFill>
                  <a:srgbClr val="5A6B7B"/>
                </a:solidFill>
                <a:latin typeface="Amazon Ember Display"/>
              </a:rPr>
              <a:t>a rule matches the event content, so only the matching target fires</a:t>
            </a:r>
          </a:p>
        </p:txBody>
      </p:sp>
      <p:sp>
        <p:nvSpPr>
          <p:cNvPr id="29" name="TextBox 28">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Rules in Amazon EventBridge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one message, too many queues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KnowBe4 Seamlessly Scales to 22 Billion Events…</a:t>
            </a:r>
          </a:p>
        </p:txBody>
      </p:sp>
      <p:sp>
        <p:nvSpPr>
          <p:cNvPr id="5" name="Rounded Rectangle 4"/>
          <p:cNvSpPr/>
          <p:nvPr/>
        </p:nvSpPr>
        <p:spPr>
          <a:xfrm>
            <a:off x="731520" y="2176272"/>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176272"/>
            <a:ext cx="5486400" cy="859536"/>
          </a:xfrm>
          <a:prstGeom prst="rect">
            <a:avLst/>
          </a:prstGeom>
          <a:noFill/>
        </p:spPr>
        <p:txBody>
          <a:bodyPr wrap="square" anchor="ctr">
            <a:noAutofit/>
          </a:bodyPr>
          <a:lstStyle/>
          <a:p>
            <a:pPr algn="l"/>
            <a:r>
              <a:rPr sz="1900" b="0" i="0">
                <a:solidFill>
                  <a:srgbClr val="232B37"/>
                </a:solidFill>
                <a:latin typeface="Amazon Ember Display"/>
              </a:rPr>
              <a:t>The same message fed many services</a:t>
            </a:r>
          </a:p>
        </p:txBody>
      </p:sp>
      <p:sp>
        <p:nvSpPr>
          <p:cNvPr id="7" name="Freeform 6"/>
          <p:cNvSpPr/>
          <p:nvPr/>
        </p:nvSpPr>
        <p:spPr>
          <a:xfrm>
            <a:off x="6931151" y="2606039"/>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487168"/>
            <a:ext cx="192024" cy="237743"/>
          </a:xfrm>
          <a:custGeom>
            <a:avLst/>
            <a:gdLst/>
            <a:ahLst/>
            <a:cxnLst/>
            <a:rect l="l" t="t" r="r" b="b"/>
            <a:pathLst>
              <a:path w="192024" h="237743">
                <a:moveTo>
                  <a:pt x="0" y="0"/>
                </a:moveTo>
                <a:lnTo>
                  <a:pt x="192024" y="118871"/>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2176272"/>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212251"/>
            <a:ext cx="3584448" cy="409702"/>
          </a:xfrm>
          <a:prstGeom prst="rect">
            <a:avLst/>
          </a:prstGeom>
          <a:noFill/>
        </p:spPr>
        <p:txBody>
          <a:bodyPr wrap="square" anchor="t">
            <a:noAutofit/>
          </a:bodyPr>
          <a:lstStyle/>
          <a:p>
            <a:pPr algn="l"/>
            <a:r>
              <a:rPr sz="2000" b="1" i="0">
                <a:solidFill>
                  <a:srgbClr val="8F0072"/>
                </a:solidFill>
                <a:latin typeface="Amazon Ember Display"/>
              </a:rPr>
              <a:t>Stop duplicating queues</a:t>
            </a:r>
          </a:p>
        </p:txBody>
      </p:sp>
      <p:sp>
        <p:nvSpPr>
          <p:cNvPr id="11" name="TextBox 10"/>
          <p:cNvSpPr txBox="1"/>
          <p:nvPr/>
        </p:nvSpPr>
        <p:spPr>
          <a:xfrm>
            <a:off x="7781544" y="2621953"/>
            <a:ext cx="3584448" cy="377875"/>
          </a:xfrm>
          <a:prstGeom prst="rect">
            <a:avLst/>
          </a:prstGeom>
          <a:noFill/>
        </p:spPr>
        <p:txBody>
          <a:bodyPr wrap="square" anchor="t">
            <a:noAutofit/>
          </a:bodyPr>
          <a:lstStyle/>
          <a:p>
            <a:pPr algn="l"/>
            <a:r>
              <a:rPr sz="1800" b="0" i="0">
                <a:solidFill>
                  <a:srgbClr val="232B37"/>
                </a:solidFill>
                <a:latin typeface="Amazon Ember Display"/>
              </a:rPr>
              <a:t>one event, many consumers</a:t>
            </a:r>
          </a:p>
        </p:txBody>
      </p:sp>
      <p:sp>
        <p:nvSpPr>
          <p:cNvPr id="12" name="Rounded Rectangle 11"/>
          <p:cNvSpPr/>
          <p:nvPr/>
        </p:nvSpPr>
        <p:spPr>
          <a:xfrm>
            <a:off x="731520" y="3145536"/>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145536"/>
            <a:ext cx="5486400" cy="859536"/>
          </a:xfrm>
          <a:prstGeom prst="rect">
            <a:avLst/>
          </a:prstGeom>
          <a:noFill/>
        </p:spPr>
        <p:txBody>
          <a:bodyPr wrap="square" anchor="ctr">
            <a:noAutofit/>
          </a:bodyPr>
          <a:lstStyle/>
          <a:p>
            <a:pPr algn="l"/>
            <a:r>
              <a:rPr sz="1900" b="0" i="0">
                <a:solidFill>
                  <a:srgbClr val="232B37"/>
                </a:solidFill>
                <a:latin typeface="Amazon Ember Display"/>
              </a:rPr>
              <a:t>A monolith slowed new features</a:t>
            </a:r>
          </a:p>
        </p:txBody>
      </p:sp>
      <p:sp>
        <p:nvSpPr>
          <p:cNvPr id="14" name="Freeform 13"/>
          <p:cNvSpPr/>
          <p:nvPr/>
        </p:nvSpPr>
        <p:spPr>
          <a:xfrm>
            <a:off x="6931151"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3145536"/>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3181515"/>
            <a:ext cx="3584448" cy="409702"/>
          </a:xfrm>
          <a:prstGeom prst="rect">
            <a:avLst/>
          </a:prstGeom>
          <a:noFill/>
        </p:spPr>
        <p:txBody>
          <a:bodyPr wrap="square" anchor="t">
            <a:noAutofit/>
          </a:bodyPr>
          <a:lstStyle/>
          <a:p>
            <a:pPr algn="l"/>
            <a:r>
              <a:rPr sz="2000" b="1" i="0">
                <a:solidFill>
                  <a:srgbClr val="8F0072"/>
                </a:solidFill>
                <a:latin typeface="Amazon Ember Display"/>
              </a:rPr>
              <a:t>Decouple with events</a:t>
            </a:r>
          </a:p>
        </p:txBody>
      </p:sp>
      <p:sp>
        <p:nvSpPr>
          <p:cNvPr id="18" name="TextBox 17"/>
          <p:cNvSpPr txBox="1"/>
          <p:nvPr/>
        </p:nvSpPr>
        <p:spPr>
          <a:xfrm>
            <a:off x="7781544" y="3591217"/>
            <a:ext cx="3584448" cy="377875"/>
          </a:xfrm>
          <a:prstGeom prst="rect">
            <a:avLst/>
          </a:prstGeom>
          <a:noFill/>
        </p:spPr>
        <p:txBody>
          <a:bodyPr wrap="square" anchor="t">
            <a:noAutofit/>
          </a:bodyPr>
          <a:lstStyle/>
          <a:p>
            <a:pPr algn="l"/>
            <a:r>
              <a:rPr sz="1800" b="0" i="0">
                <a:solidFill>
                  <a:srgbClr val="232B37"/>
                </a:solidFill>
                <a:latin typeface="Amazon Ember Display"/>
              </a:rPr>
              <a:t>Amazon EventBridge as the bus</a:t>
            </a:r>
          </a:p>
        </p:txBody>
      </p:sp>
      <p:sp>
        <p:nvSpPr>
          <p:cNvPr id="19" name="Rounded Rectangle 18"/>
          <p:cNvSpPr/>
          <p:nvPr/>
        </p:nvSpPr>
        <p:spPr>
          <a:xfrm>
            <a:off x="731520" y="4114800"/>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114800"/>
            <a:ext cx="5486400" cy="859536"/>
          </a:xfrm>
          <a:prstGeom prst="rect">
            <a:avLst/>
          </a:prstGeom>
          <a:noFill/>
        </p:spPr>
        <p:txBody>
          <a:bodyPr wrap="square" anchor="ctr">
            <a:noAutofit/>
          </a:bodyPr>
          <a:lstStyle/>
          <a:p>
            <a:pPr algn="l"/>
            <a:r>
              <a:rPr sz="1900" b="0" i="0">
                <a:solidFill>
                  <a:srgbClr val="232B37"/>
                </a:solidFill>
                <a:latin typeface="Amazon Ember Display"/>
              </a:rPr>
              <a:t>A failed service could lose data</a:t>
            </a:r>
          </a:p>
        </p:txBody>
      </p:sp>
      <p:sp>
        <p:nvSpPr>
          <p:cNvPr id="21" name="Freeform 20"/>
          <p:cNvSpPr/>
          <p:nvPr/>
        </p:nvSpPr>
        <p:spPr>
          <a:xfrm>
            <a:off x="6931151" y="4544568"/>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442569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4114800"/>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4150779"/>
            <a:ext cx="3584448" cy="409702"/>
          </a:xfrm>
          <a:prstGeom prst="rect">
            <a:avLst/>
          </a:prstGeom>
          <a:noFill/>
        </p:spPr>
        <p:txBody>
          <a:bodyPr wrap="square" anchor="t">
            <a:noAutofit/>
          </a:bodyPr>
          <a:lstStyle/>
          <a:p>
            <a:pPr algn="l"/>
            <a:r>
              <a:rPr sz="2000" b="1" i="0">
                <a:solidFill>
                  <a:srgbClr val="8F0072"/>
                </a:solidFill>
                <a:latin typeface="Amazon Ember Display"/>
              </a:rPr>
              <a:t>Replay what was missed</a:t>
            </a:r>
          </a:p>
        </p:txBody>
      </p:sp>
      <p:sp>
        <p:nvSpPr>
          <p:cNvPr id="25" name="TextBox 24"/>
          <p:cNvSpPr txBox="1"/>
          <p:nvPr/>
        </p:nvSpPr>
        <p:spPr>
          <a:xfrm>
            <a:off x="7781544" y="4560481"/>
            <a:ext cx="3584448" cy="377875"/>
          </a:xfrm>
          <a:prstGeom prst="rect">
            <a:avLst/>
          </a:prstGeom>
          <a:noFill/>
        </p:spPr>
        <p:txBody>
          <a:bodyPr wrap="square" anchor="t">
            <a:noAutofit/>
          </a:bodyPr>
          <a:lstStyle/>
          <a:p>
            <a:pPr algn="l"/>
            <a:r>
              <a:rPr sz="1800" b="0" i="0">
                <a:solidFill>
                  <a:srgbClr val="232B37"/>
                </a:solidFill>
                <a:latin typeface="Amazon Ember Display"/>
              </a:rPr>
              <a:t>events recover on retry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When is a cache the right call?</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DATABASE CACHING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a:xfrm>
            <a:off x="365760" y="304800"/>
            <a:ext cx="11582400" cy="638175"/>
          </a:xfrm>
        </p:spPr>
        <p:txBody>
          <a:bodyPr/>
          <a:lstStyle/>
          <a:p>
            <a:r>
              <a:rPr sz="3600" b="1" dirty="0" err="1">
                <a:solidFill>
                  <a:srgbClr val="232B37"/>
                </a:solidFill>
                <a:latin typeface="Amazon Ember Display"/>
              </a:rPr>
              <a:t>ElastiCache</a:t>
            </a:r>
            <a:r>
              <a:rPr sz="3600" b="1" dirty="0">
                <a:solidFill>
                  <a:srgbClr val="232B37"/>
                </a:solidFill>
                <a:latin typeface="Amazon Ember Display"/>
              </a:rPr>
              <a:t> is managed, in-memory caching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645920"/>
            <a:ext cx="10360152" cy="2103120"/>
          </a:xfrm>
          <a:prstGeom prst="roundRect">
            <a:avLst>
              <a:gd name="adj" fmla="val 7000"/>
            </a:avLst>
          </a:prstGeom>
          <a:solidFill>
            <a:srgbClr val="FFFFFF"/>
          </a:solidFill>
          <a:ln w="28575">
            <a:solidFill>
              <a:srgbClr val="8F00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1745352"/>
            <a:ext cx="9354312" cy="676656"/>
          </a:xfrm>
          <a:prstGeom prst="rect">
            <a:avLst/>
          </a:prstGeom>
          <a:noFill/>
        </p:spPr>
        <p:txBody>
          <a:bodyPr wrap="square">
            <a:spAutoFit/>
          </a:bodyPr>
          <a:lstStyle/>
          <a:p>
            <a:r>
              <a:rPr sz="3600" b="1" dirty="0">
                <a:solidFill>
                  <a:srgbClr val="232B37"/>
                </a:solidFill>
                <a:latin typeface="Amazon Ember Display"/>
              </a:rPr>
              <a:t>Amazon </a:t>
            </a:r>
            <a:r>
              <a:rPr sz="3600" b="1" dirty="0" err="1">
                <a:solidFill>
                  <a:srgbClr val="232B37"/>
                </a:solidFill>
                <a:latin typeface="Amazon Ember Display"/>
              </a:rPr>
              <a:t>ElastiCache</a:t>
            </a:r>
            <a:r>
              <a:rPr sz="2200" i="1" dirty="0">
                <a:solidFill>
                  <a:srgbClr val="8C8C99"/>
                </a:solidFill>
                <a:latin typeface="Amazon Ember Display"/>
              </a:rPr>
              <a:t>    AWS service</a:t>
            </a:r>
          </a:p>
        </p:txBody>
      </p:sp>
      <p:sp>
        <p:nvSpPr>
          <p:cNvPr id="6" name="TextBox 5"/>
          <p:cNvSpPr txBox="1"/>
          <p:nvPr/>
        </p:nvSpPr>
        <p:spPr>
          <a:xfrm>
            <a:off x="1444752" y="2440296"/>
            <a:ext cx="8805672" cy="960120"/>
          </a:xfrm>
          <a:prstGeom prst="rect">
            <a:avLst/>
          </a:prstGeom>
          <a:noFill/>
        </p:spPr>
        <p:txBody>
          <a:bodyPr wrap="square" lIns="18288" tIns="54864" rIns="18288" bIns="54864" anchor="t">
            <a:spAutoFit/>
          </a:bodyPr>
          <a:lstStyle/>
          <a:p>
            <a:pPr algn="l">
              <a:spcAft>
                <a:spcPts val="700"/>
              </a:spcAft>
              <a:defRPr sz="2300" b="0" i="0">
                <a:solidFill>
                  <a:srgbClr val="232B37"/>
                </a:solidFill>
                <a:latin typeface="Amazon Ember Display"/>
              </a:defRPr>
            </a:pPr>
            <a:r>
              <a:t>A fully managed, in-memory key-value store giving an application submillisecond access to copies of data held in a slower backing store.</a:t>
            </a:r>
          </a:p>
        </p:txBody>
      </p:sp>
      <p:sp>
        <p:nvSpPr>
          <p:cNvPr id="7" name="Rounded Rectangle 6"/>
          <p:cNvSpPr/>
          <p:nvPr/>
        </p:nvSpPr>
        <p:spPr>
          <a:xfrm>
            <a:off x="1444752" y="4133087"/>
            <a:ext cx="128016" cy="1444752"/>
          </a:xfrm>
          <a:prstGeom prst="roundRect">
            <a:avLst>
              <a:gd name="adj" fmla="val 5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73936" y="4114800"/>
            <a:ext cx="8897112" cy="402336"/>
          </a:xfrm>
          <a:prstGeom prst="rect">
            <a:avLst/>
          </a:prstGeom>
          <a:noFill/>
        </p:spPr>
        <p:txBody>
          <a:bodyPr wrap="square" lIns="18288" tIns="54864" rIns="18288" bIns="54864" anchor="ctr">
            <a:spAutoFit/>
          </a:bodyPr>
          <a:lstStyle/>
          <a:p>
            <a:pPr algn="l">
              <a:spcAft>
                <a:spcPts val="700"/>
              </a:spcAft>
              <a:defRPr sz="1800" b="1" i="0">
                <a:solidFill>
                  <a:srgbClr val="D600BA"/>
                </a:solidFill>
                <a:latin typeface="Amazon Ember Display"/>
              </a:defRPr>
            </a:pPr>
            <a:r>
              <a:t>IN PLAIN TERMS</a:t>
            </a:r>
          </a:p>
        </p:txBody>
      </p:sp>
      <p:sp>
        <p:nvSpPr>
          <p:cNvPr id="9" name="TextBox 8"/>
          <p:cNvSpPr txBox="1"/>
          <p:nvPr/>
        </p:nvSpPr>
        <p:spPr>
          <a:xfrm>
            <a:off x="1773936" y="4553712"/>
            <a:ext cx="8805672" cy="1024128"/>
          </a:xfrm>
          <a:prstGeom prst="rect">
            <a:avLst/>
          </a:prstGeom>
          <a:noFill/>
        </p:spPr>
        <p:txBody>
          <a:bodyPr wrap="square" lIns="18288" tIns="54864" rIns="18288" bIns="54864" anchor="t">
            <a:spAutoFit/>
          </a:bodyPr>
          <a:lstStyle/>
          <a:p>
            <a:pPr algn="l">
              <a:spcAft>
                <a:spcPts val="700"/>
              </a:spcAft>
              <a:defRPr sz="2700" b="1" i="0">
                <a:solidFill>
                  <a:srgbClr val="D600BA"/>
                </a:solidFill>
                <a:latin typeface="Amazon Ember Display"/>
              </a:defRPr>
            </a:pPr>
            <a:r>
              <a:t>a hot copy of slow data, kept in memory so reads are fast and cheap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304800"/>
            <a:ext cx="11582400" cy="638175"/>
          </a:xfrm>
        </p:spPr>
        <p:txBody>
          <a:bodyPr/>
          <a:lstStyle/>
          <a:p>
            <a:r>
              <a:rPr sz="3600" b="1" dirty="0">
                <a:solidFill>
                  <a:srgbClr val="232B37"/>
                </a:solidFill>
                <a:latin typeface="Amazon Ember Display"/>
              </a:rPr>
              <a:t>Memcached is simple, Redis adds data structures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645920"/>
            <a:ext cx="5303520" cy="3749039"/>
          </a:xfrm>
          <a:prstGeom prst="roundRect">
            <a:avLst>
              <a:gd name="adj" fmla="val 5000"/>
            </a:avLst>
          </a:prstGeom>
          <a:solidFill>
            <a:srgbClr val="FFFFFF"/>
          </a:solidFill>
          <a:ln w="28575">
            <a:solidFill>
              <a:srgbClr val="D600BA"/>
            </a:solidFill>
          </a:ln>
          <a:effectLst/>
        </p:spPr>
        <p:style>
          <a:lnRef idx="1">
            <a:schemeClr val="accent1"/>
          </a:lnRef>
          <a:fillRef idx="3">
            <a:schemeClr val="accent1"/>
          </a:fillRef>
          <a:effectRef idx="2">
            <a:schemeClr val="accent1"/>
          </a:effectRef>
          <a:fontRef idx="minor">
            <a:schemeClr val="lt1"/>
          </a:fontRef>
        </p:style>
        <p:txBody>
          <a:bodyPr wrap="square" lIns="256032" tIns="841248" rIns="256032" bIns="54864" rtlCol="0" anchor="t"/>
          <a:lstStyle/>
          <a:p>
            <a:pPr algn="l">
              <a:spcAft>
                <a:spcPts val="700"/>
              </a:spcAft>
              <a:defRPr sz="2300" b="0" i="0">
                <a:solidFill>
                  <a:srgbClr val="232B37"/>
                </a:solidFill>
                <a:latin typeface="Amazon Ember Display"/>
              </a:defRPr>
            </a:pPr>
            <a:r>
              <a:t>A simple distributed</a:t>
            </a:r>
          </a:p>
          <a:p>
            <a:pPr algn="l">
              <a:spcAft>
                <a:spcPts val="700"/>
              </a:spcAft>
              <a:defRPr sz="2300" b="0" i="0">
                <a:solidFill>
                  <a:srgbClr val="232B37"/>
                </a:solidFill>
                <a:latin typeface="Amazon Ember Display"/>
              </a:defRPr>
            </a:pPr>
            <a:r>
              <a:t>in-memory cache.</a:t>
            </a:r>
          </a:p>
          <a:p>
            <a:pPr algn="l">
              <a:spcAft>
                <a:spcPts val="700"/>
              </a:spcAft>
              <a:defRPr sz="2300" b="0" i="0">
                <a:solidFill>
                  <a:srgbClr val="232B37"/>
                </a:solidFill>
                <a:latin typeface="Amazon Ember Display"/>
              </a:defRPr>
            </a:pPr>
            <a:endParaRPr/>
          </a:p>
          <a:p>
            <a:pPr algn="l">
              <a:spcAft>
                <a:spcPts val="700"/>
              </a:spcAft>
              <a:defRPr sz="2300" b="0" i="0">
                <a:solidFill>
                  <a:srgbClr val="232B37"/>
                </a:solidFill>
                <a:latin typeface="Amazon Ember Display"/>
              </a:defRPr>
            </a:pPr>
            <a:r>
              <a:t>Good as a cache or a</a:t>
            </a:r>
          </a:p>
          <a:p>
            <a:pPr algn="l">
              <a:spcAft>
                <a:spcPts val="700"/>
              </a:spcAft>
              <a:defRPr sz="2300" b="0" i="0">
                <a:solidFill>
                  <a:srgbClr val="232B37"/>
                </a:solidFill>
                <a:latin typeface="Amazon Ember Display"/>
              </a:defRPr>
            </a:pPr>
            <a:r>
              <a:t>session store; scales</a:t>
            </a:r>
          </a:p>
          <a:p>
            <a:pPr algn="l">
              <a:spcAft>
                <a:spcPts val="700"/>
              </a:spcAft>
              <a:defRPr sz="2300" b="0" i="0">
                <a:solidFill>
                  <a:srgbClr val="232B37"/>
                </a:solidFill>
                <a:latin typeface="Amazon Ember Display"/>
              </a:defRPr>
            </a:pPr>
            <a:r>
              <a:t>out across nodes.</a:t>
            </a:r>
          </a:p>
        </p:txBody>
      </p:sp>
      <p:sp>
        <p:nvSpPr>
          <p:cNvPr id="5" name="Rounded Rectangle 4"/>
          <p:cNvSpPr/>
          <p:nvPr/>
        </p:nvSpPr>
        <p:spPr>
          <a:xfrm>
            <a:off x="612648" y="1645920"/>
            <a:ext cx="5303520" cy="658368"/>
          </a:xfrm>
          <a:prstGeom prst="roundRect">
            <a:avLst>
              <a:gd name="adj" fmla="val 16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square" lIns="731520" tIns="54864" rIns="731520" bIns="54864" rtlCol="0" anchor="ctr"/>
          <a:lstStyle/>
          <a:p>
            <a:pPr algn="l">
              <a:spcAft>
                <a:spcPts val="700"/>
              </a:spcAft>
              <a:defRPr sz="2600" b="1" i="0">
                <a:solidFill>
                  <a:srgbClr val="FFFFFF"/>
                </a:solidFill>
                <a:latin typeface="Amazon Ember Display"/>
              </a:defRPr>
            </a:pPr>
            <a:r>
              <a:t>MEMCACHED</a:t>
            </a:r>
          </a:p>
        </p:txBody>
      </p:sp>
      <p:sp>
        <p:nvSpPr>
          <p:cNvPr id="6" name="Oval 5"/>
          <p:cNvSpPr/>
          <p:nvPr/>
        </p:nvSpPr>
        <p:spPr>
          <a:xfrm>
            <a:off x="429768" y="1408176"/>
            <a:ext cx="749808" cy="749808"/>
          </a:xfrm>
          <a:prstGeom prst="ellipse">
            <a:avLst/>
          </a:prstGeom>
          <a:solidFill>
            <a:srgbClr val="D600BA"/>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tIns="54864" rIns="18288" bIns="54864" rtlCol="0" anchor="ctr"/>
          <a:lstStyle/>
          <a:p>
            <a:pPr algn="ctr">
              <a:spcAft>
                <a:spcPts val="700"/>
              </a:spcAft>
              <a:defRPr sz="3000" b="1" i="0">
                <a:solidFill>
                  <a:srgbClr val="FFFFFF"/>
                </a:solidFill>
                <a:latin typeface="Amazon Ember Display"/>
              </a:defRPr>
            </a:pPr>
            <a:r>
              <a:t>M</a:t>
            </a:r>
          </a:p>
        </p:txBody>
      </p:sp>
      <p:sp>
        <p:nvSpPr>
          <p:cNvPr id="7" name="Rounded Rectangle 6"/>
          <p:cNvSpPr/>
          <p:nvPr/>
        </p:nvSpPr>
        <p:spPr>
          <a:xfrm>
            <a:off x="6272784" y="1645920"/>
            <a:ext cx="5303520" cy="3749039"/>
          </a:xfrm>
          <a:prstGeom prst="roundRect">
            <a:avLst>
              <a:gd name="adj" fmla="val 5000"/>
            </a:avLst>
          </a:prstGeom>
          <a:solidFill>
            <a:srgbClr val="FFFFFF"/>
          </a:solidFill>
          <a:ln w="28575">
            <a:solidFill>
              <a:srgbClr val="8F0072"/>
            </a:solidFill>
          </a:ln>
          <a:effectLst/>
        </p:spPr>
        <p:style>
          <a:lnRef idx="1">
            <a:schemeClr val="accent1"/>
          </a:lnRef>
          <a:fillRef idx="3">
            <a:schemeClr val="accent1"/>
          </a:fillRef>
          <a:effectRef idx="2">
            <a:schemeClr val="accent1"/>
          </a:effectRef>
          <a:fontRef idx="minor">
            <a:schemeClr val="lt1"/>
          </a:fontRef>
        </p:style>
        <p:txBody>
          <a:bodyPr wrap="square" lIns="256032" tIns="841248" rIns="256032" bIns="54864" rtlCol="0" anchor="t"/>
          <a:lstStyle/>
          <a:p>
            <a:pPr algn="l">
              <a:spcAft>
                <a:spcPts val="700"/>
              </a:spcAft>
              <a:defRPr sz="2300" b="0" i="0">
                <a:solidFill>
                  <a:srgbClr val="232B37"/>
                </a:solidFill>
                <a:latin typeface="Amazon Ember Display"/>
              </a:defRPr>
            </a:pPr>
            <a:r>
              <a:t>Rich data structures --</a:t>
            </a:r>
          </a:p>
          <a:p>
            <a:pPr algn="l">
              <a:spcAft>
                <a:spcPts val="700"/>
              </a:spcAft>
              <a:defRPr sz="2300" b="0" i="0">
                <a:solidFill>
                  <a:srgbClr val="232B37"/>
                </a:solidFill>
                <a:latin typeface="Amazon Ember Display"/>
              </a:defRPr>
            </a:pPr>
            <a:r>
              <a:t>lists, sets, hashes.</a:t>
            </a:r>
          </a:p>
          <a:p>
            <a:pPr algn="l">
              <a:spcAft>
                <a:spcPts val="700"/>
              </a:spcAft>
              <a:defRPr sz="2300" b="0" i="0">
                <a:solidFill>
                  <a:srgbClr val="232B37"/>
                </a:solidFill>
                <a:latin typeface="Amazon Ember Display"/>
              </a:defRPr>
            </a:pPr>
            <a:endParaRPr/>
          </a:p>
          <a:p>
            <a:pPr algn="l">
              <a:spcAft>
                <a:spcPts val="700"/>
              </a:spcAft>
              <a:defRPr sz="2300" b="0" i="0">
                <a:solidFill>
                  <a:srgbClr val="232B37"/>
                </a:solidFill>
                <a:latin typeface="Amazon Ember Display"/>
              </a:defRPr>
            </a:pPr>
            <a:r>
              <a:t>Cache, store, or broker;</a:t>
            </a:r>
          </a:p>
          <a:p>
            <a:pPr algn="l">
              <a:spcAft>
                <a:spcPts val="700"/>
              </a:spcAft>
              <a:defRPr sz="2300" b="0" i="0">
                <a:solidFill>
                  <a:srgbClr val="232B37"/>
                </a:solidFill>
                <a:latin typeface="Amazon Ember Display"/>
              </a:defRPr>
            </a:pPr>
            <a:r>
              <a:t>adds replication and</a:t>
            </a:r>
          </a:p>
          <a:p>
            <a:pPr algn="l">
              <a:spcAft>
                <a:spcPts val="700"/>
              </a:spcAft>
              <a:defRPr sz="2300" b="0" i="0">
                <a:solidFill>
                  <a:srgbClr val="232B37"/>
                </a:solidFill>
                <a:latin typeface="Amazon Ember Display"/>
              </a:defRPr>
            </a:pPr>
            <a:r>
              <a:t>persistence.</a:t>
            </a:r>
          </a:p>
        </p:txBody>
      </p:sp>
      <p:sp>
        <p:nvSpPr>
          <p:cNvPr id="8" name="Rounded Rectangle 7"/>
          <p:cNvSpPr/>
          <p:nvPr/>
        </p:nvSpPr>
        <p:spPr>
          <a:xfrm>
            <a:off x="6272784" y="1645920"/>
            <a:ext cx="5303520" cy="658368"/>
          </a:xfrm>
          <a:prstGeom prst="roundRect">
            <a:avLst>
              <a:gd name="adj" fmla="val 16000"/>
            </a:avLst>
          </a:prstGeom>
          <a:solidFill>
            <a:srgbClr val="8F0072"/>
          </a:solidFill>
          <a:ln>
            <a:noFill/>
          </a:ln>
          <a:effectLst/>
        </p:spPr>
        <p:style>
          <a:lnRef idx="1">
            <a:schemeClr val="accent1"/>
          </a:lnRef>
          <a:fillRef idx="3">
            <a:schemeClr val="accent1"/>
          </a:fillRef>
          <a:effectRef idx="2">
            <a:schemeClr val="accent1"/>
          </a:effectRef>
          <a:fontRef idx="minor">
            <a:schemeClr val="lt1"/>
          </a:fontRef>
        </p:style>
        <p:txBody>
          <a:bodyPr wrap="square" lIns="731520" tIns="54864" rIns="731520" bIns="54864" rtlCol="0" anchor="ctr"/>
          <a:lstStyle/>
          <a:p>
            <a:pPr algn="l">
              <a:spcAft>
                <a:spcPts val="700"/>
              </a:spcAft>
              <a:defRPr sz="2600" b="1" i="0">
                <a:solidFill>
                  <a:srgbClr val="FFFFFF"/>
                </a:solidFill>
                <a:latin typeface="Amazon Ember Display"/>
              </a:defRPr>
            </a:pPr>
            <a:r>
              <a:t>REDIS OSS</a:t>
            </a:r>
          </a:p>
        </p:txBody>
      </p:sp>
      <p:sp>
        <p:nvSpPr>
          <p:cNvPr id="9" name="Oval 8"/>
          <p:cNvSpPr/>
          <p:nvPr/>
        </p:nvSpPr>
        <p:spPr>
          <a:xfrm>
            <a:off x="6089904" y="1408176"/>
            <a:ext cx="749808" cy="749808"/>
          </a:xfrm>
          <a:prstGeom prst="ellipse">
            <a:avLst/>
          </a:prstGeom>
          <a:solidFill>
            <a:srgbClr val="8F007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tIns="54864" rIns="18288" bIns="54864" rtlCol="0" anchor="ctr"/>
          <a:lstStyle/>
          <a:p>
            <a:pPr algn="ctr">
              <a:spcAft>
                <a:spcPts val="700"/>
              </a:spcAft>
              <a:defRPr sz="3000" b="1" i="0">
                <a:solidFill>
                  <a:srgbClr val="FFFFFF"/>
                </a:solidFill>
                <a:latin typeface="Amazon Ember Display"/>
              </a:defRPr>
            </a:pPr>
            <a:r>
              <a:t>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232B37"/>
                </a:solidFill>
                <a:latin typeface="Amazon Ember Display"/>
              </a:rPr>
              <a:t>Lazy loading fills on read, write-through on write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874519"/>
            <a:ext cx="10972800" cy="1783080"/>
          </a:xfrm>
          <a:prstGeom prst="roundRect">
            <a:avLst>
              <a:gd name="adj" fmla="val 820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2002536"/>
            <a:ext cx="4023360" cy="346049"/>
          </a:xfrm>
          <a:prstGeom prst="rect">
            <a:avLst/>
          </a:prstGeom>
          <a:noFill/>
        </p:spPr>
        <p:txBody>
          <a:bodyPr wrap="square" anchor="ctr">
            <a:noAutofit/>
          </a:bodyPr>
          <a:lstStyle/>
          <a:p>
            <a:pPr algn="l"/>
            <a:r>
              <a:rPr sz="1600" b="1" i="0">
                <a:solidFill>
                  <a:srgbClr val="8F0072"/>
                </a:solidFill>
                <a:latin typeface="Amazon Ember Display"/>
              </a:rPr>
              <a:t>LAZY LOADING  (read)</a:t>
            </a:r>
          </a:p>
        </p:txBody>
      </p:sp>
      <p:sp>
        <p:nvSpPr>
          <p:cNvPr id="6" name="Rounded Rectangle 5"/>
          <p:cNvSpPr/>
          <p:nvPr/>
        </p:nvSpPr>
        <p:spPr>
          <a:xfrm>
            <a:off x="978408" y="24048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Arch_AWS-Lambda_64.png"/>
          <p:cNvPicPr>
            <a:picLocks noChangeAspect="1"/>
          </p:cNvPicPr>
          <p:nvPr/>
        </p:nvPicPr>
        <p:blipFill>
          <a:blip r:embed="rId3"/>
          <a:stretch>
            <a:fillRect/>
          </a:stretch>
        </p:blipFill>
        <p:spPr>
          <a:xfrm>
            <a:off x="1170432" y="2578608"/>
            <a:ext cx="457200" cy="457200"/>
          </a:xfrm>
          <a:prstGeom prst="rect">
            <a:avLst/>
          </a:prstGeom>
        </p:spPr>
      </p:pic>
      <p:sp>
        <p:nvSpPr>
          <p:cNvPr id="8" name="TextBox 7"/>
          <p:cNvSpPr txBox="1"/>
          <p:nvPr/>
        </p:nvSpPr>
        <p:spPr>
          <a:xfrm>
            <a:off x="1737360" y="2660903"/>
            <a:ext cx="1444752" cy="346049"/>
          </a:xfrm>
          <a:prstGeom prst="rect">
            <a:avLst/>
          </a:prstGeom>
          <a:noFill/>
        </p:spPr>
        <p:txBody>
          <a:bodyPr wrap="square" anchor="ctr">
            <a:noAutofit/>
          </a:bodyPr>
          <a:lstStyle/>
          <a:p>
            <a:pPr algn="l"/>
            <a:r>
              <a:rPr sz="1600" b="1" i="0">
                <a:solidFill>
                  <a:srgbClr val="8F0072"/>
                </a:solidFill>
                <a:latin typeface="Amazon Ember Display"/>
              </a:rPr>
              <a:t>App</a:t>
            </a:r>
          </a:p>
        </p:txBody>
      </p:sp>
      <p:sp>
        <p:nvSpPr>
          <p:cNvPr id="9" name="Rounded Rectangle 8"/>
          <p:cNvSpPr/>
          <p:nvPr/>
        </p:nvSpPr>
        <p:spPr>
          <a:xfrm>
            <a:off x="4928616" y="24048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rch_Amazon-ElastiCache_64.png"/>
          <p:cNvPicPr>
            <a:picLocks noChangeAspect="1"/>
          </p:cNvPicPr>
          <p:nvPr/>
        </p:nvPicPr>
        <p:blipFill>
          <a:blip r:embed="rId4"/>
          <a:stretch>
            <a:fillRect/>
          </a:stretch>
        </p:blipFill>
        <p:spPr>
          <a:xfrm>
            <a:off x="5120640" y="2578608"/>
            <a:ext cx="457200" cy="457200"/>
          </a:xfrm>
          <a:prstGeom prst="rect">
            <a:avLst/>
          </a:prstGeom>
        </p:spPr>
      </p:pic>
      <p:sp>
        <p:nvSpPr>
          <p:cNvPr id="11" name="TextBox 10"/>
          <p:cNvSpPr txBox="1"/>
          <p:nvPr/>
        </p:nvSpPr>
        <p:spPr>
          <a:xfrm>
            <a:off x="5687568" y="2660903"/>
            <a:ext cx="1444751" cy="346049"/>
          </a:xfrm>
          <a:prstGeom prst="rect">
            <a:avLst/>
          </a:prstGeom>
          <a:noFill/>
        </p:spPr>
        <p:txBody>
          <a:bodyPr wrap="square" anchor="ctr">
            <a:noAutofit/>
          </a:bodyPr>
          <a:lstStyle/>
          <a:p>
            <a:pPr algn="l"/>
            <a:r>
              <a:rPr sz="1600" b="1" i="0">
                <a:solidFill>
                  <a:srgbClr val="8F0072"/>
                </a:solidFill>
                <a:latin typeface="Amazon Ember Display"/>
              </a:rPr>
              <a:t>Cache</a:t>
            </a:r>
          </a:p>
        </p:txBody>
      </p:sp>
      <p:sp>
        <p:nvSpPr>
          <p:cNvPr id="12" name="Rounded Rectangle 11"/>
          <p:cNvSpPr/>
          <p:nvPr/>
        </p:nvSpPr>
        <p:spPr>
          <a:xfrm>
            <a:off x="8878824" y="24048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Arch_Amazon-DynamoDB_64.png"/>
          <p:cNvPicPr>
            <a:picLocks noChangeAspect="1"/>
          </p:cNvPicPr>
          <p:nvPr/>
        </p:nvPicPr>
        <p:blipFill>
          <a:blip r:embed="rId5"/>
          <a:stretch>
            <a:fillRect/>
          </a:stretch>
        </p:blipFill>
        <p:spPr>
          <a:xfrm>
            <a:off x="9070848" y="2578608"/>
            <a:ext cx="457200" cy="457200"/>
          </a:xfrm>
          <a:prstGeom prst="rect">
            <a:avLst/>
          </a:prstGeom>
        </p:spPr>
      </p:pic>
      <p:sp>
        <p:nvSpPr>
          <p:cNvPr id="14" name="TextBox 13"/>
          <p:cNvSpPr txBox="1"/>
          <p:nvPr/>
        </p:nvSpPr>
        <p:spPr>
          <a:xfrm>
            <a:off x="9637776" y="2660903"/>
            <a:ext cx="1444751" cy="346049"/>
          </a:xfrm>
          <a:prstGeom prst="rect">
            <a:avLst/>
          </a:prstGeom>
          <a:noFill/>
        </p:spPr>
        <p:txBody>
          <a:bodyPr wrap="square" anchor="ctr">
            <a:noAutofit/>
          </a:bodyPr>
          <a:lstStyle/>
          <a:p>
            <a:pPr algn="l"/>
            <a:r>
              <a:rPr sz="1600" b="1" i="0">
                <a:solidFill>
                  <a:srgbClr val="8F0072"/>
                </a:solidFill>
                <a:latin typeface="Amazon Ember Display"/>
              </a:rPr>
              <a:t>Database</a:t>
            </a:r>
          </a:p>
        </p:txBody>
      </p:sp>
      <p:sp>
        <p:nvSpPr>
          <p:cNvPr id="15" name="Freeform 14"/>
          <p:cNvSpPr/>
          <p:nvPr/>
        </p:nvSpPr>
        <p:spPr>
          <a:xfrm>
            <a:off x="3364992" y="2807208"/>
            <a:ext cx="1490472" cy="0"/>
          </a:xfrm>
          <a:custGeom>
            <a:avLst/>
            <a:gdLst/>
            <a:ahLst/>
            <a:cxnLst/>
            <a:rect l="l" t="t" r="r" b="b"/>
            <a:pathLst>
              <a:path w="1490472">
                <a:moveTo>
                  <a:pt x="0" y="0"/>
                </a:moveTo>
                <a:lnTo>
                  <a:pt x="149047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4681728" y="2688336"/>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927348" y="2615184"/>
            <a:ext cx="384048" cy="384048"/>
          </a:xfrm>
          <a:prstGeom prst="ellipse">
            <a:avLst/>
          </a:prstGeom>
          <a:solidFill>
            <a:srgbClr val="FF57E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232B37"/>
                </a:solidFill>
                <a:latin typeface="Amazon Ember Display"/>
              </a:rPr>
              <a:t>1</a:t>
            </a:r>
          </a:p>
        </p:txBody>
      </p:sp>
      <p:sp>
        <p:nvSpPr>
          <p:cNvPr id="18" name="Freeform 17"/>
          <p:cNvSpPr/>
          <p:nvPr/>
        </p:nvSpPr>
        <p:spPr>
          <a:xfrm>
            <a:off x="7315199" y="2807208"/>
            <a:ext cx="1490473" cy="0"/>
          </a:xfrm>
          <a:custGeom>
            <a:avLst/>
            <a:gdLst/>
            <a:ahLst/>
            <a:cxnLst/>
            <a:rect l="l" t="t" r="r" b="b"/>
            <a:pathLst>
              <a:path w="1490473">
                <a:moveTo>
                  <a:pt x="0" y="0"/>
                </a:moveTo>
                <a:lnTo>
                  <a:pt x="1490473"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631935" y="2688336"/>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877555" y="2615184"/>
            <a:ext cx="384048" cy="384048"/>
          </a:xfrm>
          <a:prstGeom prst="ellipse">
            <a:avLst/>
          </a:prstGeom>
          <a:solidFill>
            <a:srgbClr val="FF57E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232B37"/>
                </a:solidFill>
                <a:latin typeface="Amazon Ember Display"/>
              </a:rPr>
              <a:t>2</a:t>
            </a:r>
          </a:p>
        </p:txBody>
      </p:sp>
      <p:sp>
        <p:nvSpPr>
          <p:cNvPr id="21" name="TextBox 20"/>
          <p:cNvSpPr txBox="1"/>
          <p:nvPr/>
        </p:nvSpPr>
        <p:spPr>
          <a:xfrm>
            <a:off x="868680" y="3273552"/>
            <a:ext cx="10460736" cy="346049"/>
          </a:xfrm>
          <a:prstGeom prst="rect">
            <a:avLst/>
          </a:prstGeom>
          <a:noFill/>
        </p:spPr>
        <p:txBody>
          <a:bodyPr wrap="square" anchor="ctr">
            <a:noAutofit/>
          </a:bodyPr>
          <a:lstStyle/>
          <a:p>
            <a:pPr algn="l"/>
            <a:r>
              <a:rPr sz="1600" b="0" i="0">
                <a:solidFill>
                  <a:srgbClr val="232B37"/>
                </a:solidFill>
                <a:latin typeface="Amazon Ember Display"/>
              </a:rPr>
              <a:t>1 read cache · 2 read DB on miss — the app then writes the value back to the cache, so the next read is a hit</a:t>
            </a:r>
          </a:p>
        </p:txBody>
      </p:sp>
      <p:sp>
        <p:nvSpPr>
          <p:cNvPr id="22" name="Rounded Rectangle 21"/>
          <p:cNvSpPr/>
          <p:nvPr/>
        </p:nvSpPr>
        <p:spPr>
          <a:xfrm>
            <a:off x="612648" y="3931920"/>
            <a:ext cx="10972800" cy="1783080"/>
          </a:xfrm>
          <a:prstGeom prst="roundRect">
            <a:avLst>
              <a:gd name="adj" fmla="val 820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8680" y="4059935"/>
            <a:ext cx="4023360" cy="346049"/>
          </a:xfrm>
          <a:prstGeom prst="rect">
            <a:avLst/>
          </a:prstGeom>
          <a:noFill/>
        </p:spPr>
        <p:txBody>
          <a:bodyPr wrap="square" anchor="ctr">
            <a:noAutofit/>
          </a:bodyPr>
          <a:lstStyle/>
          <a:p>
            <a:pPr algn="l"/>
            <a:r>
              <a:rPr sz="1600" b="1" i="0">
                <a:solidFill>
                  <a:srgbClr val="8F0072"/>
                </a:solidFill>
                <a:latin typeface="Amazon Ember Display"/>
              </a:rPr>
              <a:t>WRITE-THROUGH  (write)</a:t>
            </a:r>
          </a:p>
        </p:txBody>
      </p:sp>
      <p:sp>
        <p:nvSpPr>
          <p:cNvPr id="24" name="Rounded Rectangle 23"/>
          <p:cNvSpPr/>
          <p:nvPr/>
        </p:nvSpPr>
        <p:spPr>
          <a:xfrm>
            <a:off x="978408" y="44622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Arch_AWS-Lambda_64.png"/>
          <p:cNvPicPr>
            <a:picLocks noChangeAspect="1"/>
          </p:cNvPicPr>
          <p:nvPr/>
        </p:nvPicPr>
        <p:blipFill>
          <a:blip r:embed="rId3"/>
          <a:stretch>
            <a:fillRect/>
          </a:stretch>
        </p:blipFill>
        <p:spPr>
          <a:xfrm>
            <a:off x="1170432" y="4636008"/>
            <a:ext cx="457200" cy="457200"/>
          </a:xfrm>
          <a:prstGeom prst="rect">
            <a:avLst/>
          </a:prstGeom>
        </p:spPr>
      </p:pic>
      <p:sp>
        <p:nvSpPr>
          <p:cNvPr id="26" name="TextBox 25"/>
          <p:cNvSpPr txBox="1"/>
          <p:nvPr/>
        </p:nvSpPr>
        <p:spPr>
          <a:xfrm>
            <a:off x="1737360" y="4718304"/>
            <a:ext cx="1444752" cy="346049"/>
          </a:xfrm>
          <a:prstGeom prst="rect">
            <a:avLst/>
          </a:prstGeom>
          <a:noFill/>
        </p:spPr>
        <p:txBody>
          <a:bodyPr wrap="square" anchor="ctr">
            <a:noAutofit/>
          </a:bodyPr>
          <a:lstStyle/>
          <a:p>
            <a:pPr algn="l"/>
            <a:r>
              <a:rPr sz="1600" b="1" i="0">
                <a:solidFill>
                  <a:srgbClr val="8F0072"/>
                </a:solidFill>
                <a:latin typeface="Amazon Ember Display"/>
              </a:rPr>
              <a:t>App</a:t>
            </a:r>
          </a:p>
        </p:txBody>
      </p:sp>
      <p:sp>
        <p:nvSpPr>
          <p:cNvPr id="27" name="Rounded Rectangle 26"/>
          <p:cNvSpPr/>
          <p:nvPr/>
        </p:nvSpPr>
        <p:spPr>
          <a:xfrm>
            <a:off x="4928616" y="44622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Arch_Amazon-ElastiCache_64.png"/>
          <p:cNvPicPr>
            <a:picLocks noChangeAspect="1"/>
          </p:cNvPicPr>
          <p:nvPr/>
        </p:nvPicPr>
        <p:blipFill>
          <a:blip r:embed="rId4"/>
          <a:stretch>
            <a:fillRect/>
          </a:stretch>
        </p:blipFill>
        <p:spPr>
          <a:xfrm>
            <a:off x="5120640" y="4636008"/>
            <a:ext cx="457200" cy="457200"/>
          </a:xfrm>
          <a:prstGeom prst="rect">
            <a:avLst/>
          </a:prstGeom>
        </p:spPr>
      </p:pic>
      <p:sp>
        <p:nvSpPr>
          <p:cNvPr id="29" name="TextBox 28"/>
          <p:cNvSpPr txBox="1"/>
          <p:nvPr/>
        </p:nvSpPr>
        <p:spPr>
          <a:xfrm>
            <a:off x="5687568" y="4718304"/>
            <a:ext cx="1444751" cy="346049"/>
          </a:xfrm>
          <a:prstGeom prst="rect">
            <a:avLst/>
          </a:prstGeom>
          <a:noFill/>
        </p:spPr>
        <p:txBody>
          <a:bodyPr wrap="square" anchor="ctr">
            <a:noAutofit/>
          </a:bodyPr>
          <a:lstStyle/>
          <a:p>
            <a:pPr algn="l"/>
            <a:r>
              <a:rPr sz="1600" b="1" i="0">
                <a:solidFill>
                  <a:srgbClr val="8F0072"/>
                </a:solidFill>
                <a:latin typeface="Amazon Ember Display"/>
              </a:rPr>
              <a:t>Cache</a:t>
            </a:r>
          </a:p>
        </p:txBody>
      </p:sp>
      <p:sp>
        <p:nvSpPr>
          <p:cNvPr id="30" name="Rounded Rectangle 29"/>
          <p:cNvSpPr/>
          <p:nvPr/>
        </p:nvSpPr>
        <p:spPr>
          <a:xfrm>
            <a:off x="8878824" y="4462272"/>
            <a:ext cx="2331720" cy="804672"/>
          </a:xfrm>
          <a:prstGeom prst="roundRect">
            <a:avLst>
              <a:gd name="adj" fmla="val 1590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Arch_Amazon-DynamoDB_64.png"/>
          <p:cNvPicPr>
            <a:picLocks noChangeAspect="1"/>
          </p:cNvPicPr>
          <p:nvPr/>
        </p:nvPicPr>
        <p:blipFill>
          <a:blip r:embed="rId5"/>
          <a:stretch>
            <a:fillRect/>
          </a:stretch>
        </p:blipFill>
        <p:spPr>
          <a:xfrm>
            <a:off x="9070848" y="4636008"/>
            <a:ext cx="457200" cy="457200"/>
          </a:xfrm>
          <a:prstGeom prst="rect">
            <a:avLst/>
          </a:prstGeom>
        </p:spPr>
      </p:pic>
      <p:sp>
        <p:nvSpPr>
          <p:cNvPr id="32" name="TextBox 31"/>
          <p:cNvSpPr txBox="1"/>
          <p:nvPr/>
        </p:nvSpPr>
        <p:spPr>
          <a:xfrm>
            <a:off x="9637776" y="4718304"/>
            <a:ext cx="1444751" cy="346049"/>
          </a:xfrm>
          <a:prstGeom prst="rect">
            <a:avLst/>
          </a:prstGeom>
          <a:noFill/>
        </p:spPr>
        <p:txBody>
          <a:bodyPr wrap="square" anchor="ctr">
            <a:noAutofit/>
          </a:bodyPr>
          <a:lstStyle/>
          <a:p>
            <a:pPr algn="l"/>
            <a:r>
              <a:rPr sz="1600" b="1" i="0">
                <a:solidFill>
                  <a:srgbClr val="8F0072"/>
                </a:solidFill>
                <a:latin typeface="Amazon Ember Display"/>
              </a:rPr>
              <a:t>Database</a:t>
            </a:r>
          </a:p>
        </p:txBody>
      </p:sp>
      <p:sp>
        <p:nvSpPr>
          <p:cNvPr id="33" name="Freeform 32"/>
          <p:cNvSpPr/>
          <p:nvPr/>
        </p:nvSpPr>
        <p:spPr>
          <a:xfrm>
            <a:off x="3364992" y="4864608"/>
            <a:ext cx="1490472" cy="0"/>
          </a:xfrm>
          <a:custGeom>
            <a:avLst/>
            <a:gdLst/>
            <a:ahLst/>
            <a:cxnLst/>
            <a:rect l="l" t="t" r="r" b="b"/>
            <a:pathLst>
              <a:path w="1490472">
                <a:moveTo>
                  <a:pt x="0" y="0"/>
                </a:moveTo>
                <a:lnTo>
                  <a:pt x="149047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reeform 33"/>
          <p:cNvSpPr/>
          <p:nvPr/>
        </p:nvSpPr>
        <p:spPr>
          <a:xfrm>
            <a:off x="4681728" y="474573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927348" y="4672584"/>
            <a:ext cx="384048" cy="384048"/>
          </a:xfrm>
          <a:prstGeom prst="ellipse">
            <a:avLst/>
          </a:prstGeom>
          <a:solidFill>
            <a:srgbClr val="FF57E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232B37"/>
                </a:solidFill>
                <a:latin typeface="Amazon Ember Display"/>
              </a:rPr>
              <a:t>1</a:t>
            </a:r>
          </a:p>
        </p:txBody>
      </p:sp>
      <p:sp>
        <p:nvSpPr>
          <p:cNvPr id="36" name="Freeform 35"/>
          <p:cNvSpPr/>
          <p:nvPr/>
        </p:nvSpPr>
        <p:spPr>
          <a:xfrm>
            <a:off x="7315199" y="4864608"/>
            <a:ext cx="1490473" cy="0"/>
          </a:xfrm>
          <a:custGeom>
            <a:avLst/>
            <a:gdLst/>
            <a:ahLst/>
            <a:cxnLst/>
            <a:rect l="l" t="t" r="r" b="b"/>
            <a:pathLst>
              <a:path w="1490473">
                <a:moveTo>
                  <a:pt x="0" y="0"/>
                </a:moveTo>
                <a:lnTo>
                  <a:pt x="1490473"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reeform 36"/>
          <p:cNvSpPr/>
          <p:nvPr/>
        </p:nvSpPr>
        <p:spPr>
          <a:xfrm>
            <a:off x="8631935" y="474573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877555" y="4672584"/>
            <a:ext cx="384048" cy="384048"/>
          </a:xfrm>
          <a:prstGeom prst="ellipse">
            <a:avLst/>
          </a:prstGeom>
          <a:solidFill>
            <a:srgbClr val="FF57E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232B37"/>
                </a:solidFill>
                <a:latin typeface="Amazon Ember Display"/>
              </a:rPr>
              <a:t>2</a:t>
            </a:r>
          </a:p>
        </p:txBody>
      </p:sp>
      <p:sp>
        <p:nvSpPr>
          <p:cNvPr id="39" name="TextBox 38"/>
          <p:cNvSpPr txBox="1"/>
          <p:nvPr/>
        </p:nvSpPr>
        <p:spPr>
          <a:xfrm>
            <a:off x="868680" y="5330952"/>
            <a:ext cx="10460736" cy="346049"/>
          </a:xfrm>
          <a:prstGeom prst="rect">
            <a:avLst/>
          </a:prstGeom>
          <a:noFill/>
        </p:spPr>
        <p:txBody>
          <a:bodyPr wrap="square" anchor="ctr">
            <a:noAutofit/>
          </a:bodyPr>
          <a:lstStyle/>
          <a:p>
            <a:pPr algn="l"/>
            <a:r>
              <a:rPr sz="1600" b="0" i="0">
                <a:solidFill>
                  <a:srgbClr val="232B37"/>
                </a:solidFill>
                <a:latin typeface="Amazon Ember Display"/>
              </a:rPr>
              <a:t>1 write cache · 2 write DB too — every write updates both, so the cache is always current</a:t>
            </a:r>
          </a:p>
        </p:txBody>
      </p:sp>
      <p:sp>
        <p:nvSpPr>
          <p:cNvPr id="40" name="TextBox 39">
            <a:hlinkClick r:id="rId6"/>
          </p:cNvPr>
          <p:cNvSpPr txBox="1"/>
          <p:nvPr/>
        </p:nvSpPr>
        <p:spPr>
          <a:xfrm>
            <a:off x="612648" y="5943600"/>
            <a:ext cx="58350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Caching strategies for Memcached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users sign in and get access?</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AUTHENTICATION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lstStyle/>
          <a:p>
            <a:r>
              <a:rPr sz="3600" b="1">
                <a:solidFill>
                  <a:srgbClr val="232B37"/>
                </a:solidFill>
                <a:latin typeface="Amazon Ember Display"/>
              </a:rPr>
              <a:t>Cognito handles sign-in and AWS access</a:t>
            </a:r>
          </a:p>
        </p:txBody>
      </p:sp>
      <p:sp>
        <p:nvSpPr>
          <p:cNvPr id="3" name="Rectangle 2"/>
          <p:cNvSpPr/>
          <p:nvPr/>
        </p:nvSpPr>
        <p:spPr>
          <a:xfrm>
            <a:off x="361188" y="1029517"/>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645920"/>
            <a:ext cx="10360152" cy="2103120"/>
          </a:xfrm>
          <a:prstGeom prst="roundRect">
            <a:avLst>
              <a:gd name="adj" fmla="val 7000"/>
            </a:avLst>
          </a:prstGeom>
          <a:solidFill>
            <a:srgbClr val="FFFFFF"/>
          </a:solidFill>
          <a:ln w="28575">
            <a:solidFill>
              <a:srgbClr val="8F00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20" y="1753036"/>
            <a:ext cx="9354312" cy="676656"/>
          </a:xfrm>
          <a:prstGeom prst="rect">
            <a:avLst/>
          </a:prstGeom>
          <a:noFill/>
        </p:spPr>
        <p:txBody>
          <a:bodyPr wrap="square">
            <a:spAutoFit/>
          </a:bodyPr>
          <a:lstStyle/>
          <a:p>
            <a:r>
              <a:rPr sz="3600" b="1" dirty="0">
                <a:solidFill>
                  <a:srgbClr val="232B37"/>
                </a:solidFill>
                <a:latin typeface="Amazon Ember Display"/>
              </a:rPr>
              <a:t>Amazon Cognito</a:t>
            </a:r>
            <a:r>
              <a:rPr sz="2200" i="1" dirty="0">
                <a:solidFill>
                  <a:srgbClr val="8C8C99"/>
                </a:solidFill>
                <a:latin typeface="Amazon Ember Display"/>
              </a:rPr>
              <a:t>    AWS service</a:t>
            </a:r>
          </a:p>
        </p:txBody>
      </p:sp>
      <p:sp>
        <p:nvSpPr>
          <p:cNvPr id="6" name="TextBox 5"/>
          <p:cNvSpPr txBox="1"/>
          <p:nvPr/>
        </p:nvSpPr>
        <p:spPr>
          <a:xfrm>
            <a:off x="1444752" y="2447980"/>
            <a:ext cx="8805672" cy="960120"/>
          </a:xfrm>
          <a:prstGeom prst="rect">
            <a:avLst/>
          </a:prstGeom>
          <a:noFill/>
        </p:spPr>
        <p:txBody>
          <a:bodyPr wrap="square" lIns="18288" tIns="54864" rIns="18288" bIns="54864" anchor="t">
            <a:spAutoFit/>
          </a:bodyPr>
          <a:lstStyle/>
          <a:p>
            <a:pPr algn="l">
              <a:spcAft>
                <a:spcPts val="700"/>
              </a:spcAft>
              <a:defRPr sz="2300" b="0" i="0">
                <a:solidFill>
                  <a:srgbClr val="232B37"/>
                </a:solidFill>
                <a:latin typeface="Amazon Ember Display"/>
              </a:defRPr>
            </a:pPr>
            <a:r>
              <a:rPr dirty="0"/>
              <a:t>Authentication, authorization, and user management for web and mobile apps, via a user pool for sign-in and an identity pool for AWS access.</a:t>
            </a:r>
          </a:p>
        </p:txBody>
      </p:sp>
      <p:sp>
        <p:nvSpPr>
          <p:cNvPr id="7" name="Rounded Rectangle 6"/>
          <p:cNvSpPr/>
          <p:nvPr/>
        </p:nvSpPr>
        <p:spPr>
          <a:xfrm>
            <a:off x="1444752" y="4133087"/>
            <a:ext cx="128016" cy="1444752"/>
          </a:xfrm>
          <a:prstGeom prst="roundRect">
            <a:avLst>
              <a:gd name="adj" fmla="val 5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73936" y="4114800"/>
            <a:ext cx="8897112" cy="402336"/>
          </a:xfrm>
          <a:prstGeom prst="rect">
            <a:avLst/>
          </a:prstGeom>
          <a:noFill/>
        </p:spPr>
        <p:txBody>
          <a:bodyPr wrap="square" lIns="18288" tIns="54864" rIns="18288" bIns="54864" anchor="ctr">
            <a:spAutoFit/>
          </a:bodyPr>
          <a:lstStyle/>
          <a:p>
            <a:pPr algn="l">
              <a:spcAft>
                <a:spcPts val="700"/>
              </a:spcAft>
              <a:defRPr sz="1800" b="1" i="0">
                <a:solidFill>
                  <a:srgbClr val="D600BA"/>
                </a:solidFill>
                <a:latin typeface="Amazon Ember Display"/>
              </a:defRPr>
            </a:pPr>
            <a:r>
              <a:t>IN PLAIN TERMS</a:t>
            </a:r>
          </a:p>
        </p:txBody>
      </p:sp>
      <p:sp>
        <p:nvSpPr>
          <p:cNvPr id="9" name="TextBox 8"/>
          <p:cNvSpPr txBox="1"/>
          <p:nvPr/>
        </p:nvSpPr>
        <p:spPr>
          <a:xfrm>
            <a:off x="1773936" y="4553712"/>
            <a:ext cx="8805672" cy="1024128"/>
          </a:xfrm>
          <a:prstGeom prst="rect">
            <a:avLst/>
          </a:prstGeom>
          <a:noFill/>
        </p:spPr>
        <p:txBody>
          <a:bodyPr wrap="square" lIns="18288" tIns="54864" rIns="18288" bIns="54864" anchor="t">
            <a:spAutoFit/>
          </a:bodyPr>
          <a:lstStyle/>
          <a:p>
            <a:pPr algn="l">
              <a:spcAft>
                <a:spcPts val="700"/>
              </a:spcAft>
              <a:defRPr sz="2700" b="1" i="0">
                <a:solidFill>
                  <a:srgbClr val="D600BA"/>
                </a:solidFill>
                <a:latin typeface="Amazon Ember Display"/>
              </a:defRPr>
            </a:pPr>
            <a:r>
              <a:t>sign your users in, then hand them temporary AWS credentials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Sign in to a user pool, then access AWS services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040483"/>
            <a:ext cx="2240280" cy="1496872"/>
          </a:xfrm>
          <a:prstGeom prst="roundRect">
            <a:avLst>
              <a:gd name="adj" fmla="val 977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159355"/>
            <a:ext cx="2240280" cy="346049"/>
          </a:xfrm>
          <a:prstGeom prst="rect">
            <a:avLst/>
          </a:prstGeom>
          <a:noFill/>
        </p:spPr>
        <p:txBody>
          <a:bodyPr wrap="square" anchor="ctr">
            <a:noAutofit/>
          </a:bodyPr>
          <a:lstStyle/>
          <a:p>
            <a:pPr algn="ctr"/>
            <a:r>
              <a:rPr sz="1600" b="1" i="0">
                <a:solidFill>
                  <a:srgbClr val="8F0072"/>
                </a:solidFill>
                <a:latin typeface="Amazon Ember Display"/>
              </a:rPr>
              <a:t>User</a:t>
            </a:r>
          </a:p>
        </p:txBody>
      </p:sp>
      <p:pic>
        <p:nvPicPr>
          <p:cNvPr id="6" name="Picture 5" descr="Res_User_48_Light.png"/>
          <p:cNvPicPr>
            <a:picLocks noChangeAspect="1"/>
          </p:cNvPicPr>
          <p:nvPr/>
        </p:nvPicPr>
        <p:blipFill>
          <a:blip r:embed="rId3"/>
          <a:stretch>
            <a:fillRect/>
          </a:stretch>
        </p:blipFill>
        <p:spPr>
          <a:xfrm>
            <a:off x="1504188" y="2560320"/>
            <a:ext cx="457200" cy="457200"/>
          </a:xfrm>
          <a:prstGeom prst="rect">
            <a:avLst/>
          </a:prstGeom>
        </p:spPr>
      </p:pic>
      <p:sp>
        <p:nvSpPr>
          <p:cNvPr id="7" name="TextBox 6"/>
          <p:cNvSpPr txBox="1"/>
          <p:nvPr/>
        </p:nvSpPr>
        <p:spPr>
          <a:xfrm>
            <a:off x="704088" y="3182112"/>
            <a:ext cx="2057400" cy="346049"/>
          </a:xfrm>
          <a:prstGeom prst="rect">
            <a:avLst/>
          </a:prstGeom>
          <a:noFill/>
        </p:spPr>
        <p:txBody>
          <a:bodyPr wrap="square" anchor="ctr">
            <a:noAutofit/>
          </a:bodyPr>
          <a:lstStyle/>
          <a:p>
            <a:pPr algn="ctr"/>
            <a:r>
              <a:rPr sz="1600" b="0" i="0">
                <a:solidFill>
                  <a:srgbClr val="232B37"/>
                </a:solidFill>
                <a:latin typeface="Amazon Ember Display"/>
              </a:rPr>
              <a:t>signs in</a:t>
            </a:r>
          </a:p>
        </p:txBody>
      </p:sp>
      <p:sp>
        <p:nvSpPr>
          <p:cNvPr id="8" name="Rounded Rectangle 7"/>
          <p:cNvSpPr/>
          <p:nvPr/>
        </p:nvSpPr>
        <p:spPr>
          <a:xfrm>
            <a:off x="3493008" y="2040483"/>
            <a:ext cx="2240280" cy="1496872"/>
          </a:xfrm>
          <a:prstGeom prst="roundRect">
            <a:avLst>
              <a:gd name="adj" fmla="val 977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493008" y="2159355"/>
            <a:ext cx="2240280" cy="346049"/>
          </a:xfrm>
          <a:prstGeom prst="rect">
            <a:avLst/>
          </a:prstGeom>
          <a:noFill/>
        </p:spPr>
        <p:txBody>
          <a:bodyPr wrap="square" anchor="ctr">
            <a:noAutofit/>
          </a:bodyPr>
          <a:lstStyle/>
          <a:p>
            <a:pPr algn="ctr"/>
            <a:r>
              <a:rPr sz="1600" b="1" i="0">
                <a:solidFill>
                  <a:srgbClr val="8F0072"/>
                </a:solidFill>
                <a:latin typeface="Amazon Ember Display"/>
              </a:rPr>
              <a:t>User pool</a:t>
            </a:r>
          </a:p>
        </p:txBody>
      </p:sp>
      <p:pic>
        <p:nvPicPr>
          <p:cNvPr id="10" name="Picture 9" descr="Arch_Amazon-Cognito_64.png"/>
          <p:cNvPicPr>
            <a:picLocks noChangeAspect="1"/>
          </p:cNvPicPr>
          <p:nvPr/>
        </p:nvPicPr>
        <p:blipFill>
          <a:blip r:embed="rId4"/>
          <a:stretch>
            <a:fillRect/>
          </a:stretch>
        </p:blipFill>
        <p:spPr>
          <a:xfrm>
            <a:off x="4384548" y="2560320"/>
            <a:ext cx="457200" cy="457200"/>
          </a:xfrm>
          <a:prstGeom prst="rect">
            <a:avLst/>
          </a:prstGeom>
        </p:spPr>
      </p:pic>
      <p:sp>
        <p:nvSpPr>
          <p:cNvPr id="11" name="TextBox 10"/>
          <p:cNvSpPr txBox="1"/>
          <p:nvPr/>
        </p:nvSpPr>
        <p:spPr>
          <a:xfrm>
            <a:off x="3584448" y="3182112"/>
            <a:ext cx="2057400" cy="346049"/>
          </a:xfrm>
          <a:prstGeom prst="rect">
            <a:avLst/>
          </a:prstGeom>
          <a:noFill/>
        </p:spPr>
        <p:txBody>
          <a:bodyPr wrap="square" anchor="ctr">
            <a:noAutofit/>
          </a:bodyPr>
          <a:lstStyle/>
          <a:p>
            <a:pPr algn="ctr"/>
            <a:r>
              <a:rPr sz="1600" b="0" i="0">
                <a:solidFill>
                  <a:srgbClr val="232B37"/>
                </a:solidFill>
                <a:latin typeface="Amazon Ember Display"/>
              </a:rPr>
              <a:t>authenticate</a:t>
            </a:r>
          </a:p>
        </p:txBody>
      </p:sp>
      <p:sp>
        <p:nvSpPr>
          <p:cNvPr id="12" name="Rounded Rectangle 11"/>
          <p:cNvSpPr/>
          <p:nvPr/>
        </p:nvSpPr>
        <p:spPr>
          <a:xfrm>
            <a:off x="6373368" y="2040483"/>
            <a:ext cx="2240280" cy="1496872"/>
          </a:xfrm>
          <a:prstGeom prst="roundRect">
            <a:avLst>
              <a:gd name="adj" fmla="val 977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73368" y="2159355"/>
            <a:ext cx="2240280" cy="346049"/>
          </a:xfrm>
          <a:prstGeom prst="rect">
            <a:avLst/>
          </a:prstGeom>
          <a:noFill/>
        </p:spPr>
        <p:txBody>
          <a:bodyPr wrap="square" anchor="ctr">
            <a:noAutofit/>
          </a:bodyPr>
          <a:lstStyle/>
          <a:p>
            <a:pPr algn="ctr"/>
            <a:r>
              <a:rPr sz="1600" b="1" i="0">
                <a:solidFill>
                  <a:srgbClr val="8F0072"/>
                </a:solidFill>
                <a:latin typeface="Amazon Ember Display"/>
              </a:rPr>
              <a:t>Identity pool</a:t>
            </a:r>
          </a:p>
        </p:txBody>
      </p:sp>
      <p:pic>
        <p:nvPicPr>
          <p:cNvPr id="14" name="Picture 13" descr="Arch_Amazon-Cognito_64.png"/>
          <p:cNvPicPr>
            <a:picLocks noChangeAspect="1"/>
          </p:cNvPicPr>
          <p:nvPr/>
        </p:nvPicPr>
        <p:blipFill>
          <a:blip r:embed="rId4"/>
          <a:stretch>
            <a:fillRect/>
          </a:stretch>
        </p:blipFill>
        <p:spPr>
          <a:xfrm>
            <a:off x="7264908" y="2560320"/>
            <a:ext cx="457200" cy="457200"/>
          </a:xfrm>
          <a:prstGeom prst="rect">
            <a:avLst/>
          </a:prstGeom>
        </p:spPr>
      </p:pic>
      <p:sp>
        <p:nvSpPr>
          <p:cNvPr id="15" name="TextBox 14"/>
          <p:cNvSpPr txBox="1"/>
          <p:nvPr/>
        </p:nvSpPr>
        <p:spPr>
          <a:xfrm>
            <a:off x="6464807" y="3182112"/>
            <a:ext cx="2057400" cy="346049"/>
          </a:xfrm>
          <a:prstGeom prst="rect">
            <a:avLst/>
          </a:prstGeom>
          <a:noFill/>
        </p:spPr>
        <p:txBody>
          <a:bodyPr wrap="square" anchor="ctr">
            <a:noAutofit/>
          </a:bodyPr>
          <a:lstStyle/>
          <a:p>
            <a:pPr algn="ctr"/>
            <a:r>
              <a:rPr sz="1600" b="0" i="0">
                <a:solidFill>
                  <a:srgbClr val="232B37"/>
                </a:solidFill>
                <a:latin typeface="Amazon Ember Display"/>
              </a:rPr>
              <a:t>get credentials</a:t>
            </a:r>
          </a:p>
        </p:txBody>
      </p:sp>
      <p:sp>
        <p:nvSpPr>
          <p:cNvPr id="16" name="Rounded Rectangle 15"/>
          <p:cNvSpPr/>
          <p:nvPr/>
        </p:nvSpPr>
        <p:spPr>
          <a:xfrm>
            <a:off x="9253728" y="2040483"/>
            <a:ext cx="2240280" cy="1496872"/>
          </a:xfrm>
          <a:prstGeom prst="roundRect">
            <a:avLst>
              <a:gd name="adj" fmla="val 977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253728" y="2159355"/>
            <a:ext cx="2240280" cy="346049"/>
          </a:xfrm>
          <a:prstGeom prst="rect">
            <a:avLst/>
          </a:prstGeom>
          <a:noFill/>
        </p:spPr>
        <p:txBody>
          <a:bodyPr wrap="square" anchor="ctr">
            <a:noAutofit/>
          </a:bodyPr>
          <a:lstStyle/>
          <a:p>
            <a:pPr algn="ctr"/>
            <a:r>
              <a:rPr sz="1600" b="1" i="0">
                <a:solidFill>
                  <a:srgbClr val="8F0072"/>
                </a:solidFill>
                <a:latin typeface="Amazon Ember Display"/>
              </a:rPr>
              <a:t>Amazon S3</a:t>
            </a:r>
          </a:p>
        </p:txBody>
      </p:sp>
      <p:pic>
        <p:nvPicPr>
          <p:cNvPr id="18" name="Picture 17" descr="Arch_Amazon-Simple-Storage-Service_64.png"/>
          <p:cNvPicPr>
            <a:picLocks noChangeAspect="1"/>
          </p:cNvPicPr>
          <p:nvPr/>
        </p:nvPicPr>
        <p:blipFill>
          <a:blip r:embed="rId5"/>
          <a:stretch>
            <a:fillRect/>
          </a:stretch>
        </p:blipFill>
        <p:spPr>
          <a:xfrm>
            <a:off x="10145267" y="2560320"/>
            <a:ext cx="457200" cy="457200"/>
          </a:xfrm>
          <a:prstGeom prst="rect">
            <a:avLst/>
          </a:prstGeom>
        </p:spPr>
      </p:pic>
      <p:sp>
        <p:nvSpPr>
          <p:cNvPr id="19" name="TextBox 18"/>
          <p:cNvSpPr txBox="1"/>
          <p:nvPr/>
        </p:nvSpPr>
        <p:spPr>
          <a:xfrm>
            <a:off x="9345167" y="3182112"/>
            <a:ext cx="2057400" cy="346049"/>
          </a:xfrm>
          <a:prstGeom prst="rect">
            <a:avLst/>
          </a:prstGeom>
          <a:noFill/>
        </p:spPr>
        <p:txBody>
          <a:bodyPr wrap="square" anchor="ctr">
            <a:noAutofit/>
          </a:bodyPr>
          <a:lstStyle/>
          <a:p>
            <a:pPr algn="ctr"/>
            <a:r>
              <a:rPr sz="1600" b="0" i="0">
                <a:solidFill>
                  <a:srgbClr val="232B37"/>
                </a:solidFill>
                <a:latin typeface="Amazon Ember Display"/>
              </a:rPr>
              <a:t>access granted</a:t>
            </a:r>
          </a:p>
        </p:txBody>
      </p:sp>
      <p:sp>
        <p:nvSpPr>
          <p:cNvPr id="20" name="Freeform 19"/>
          <p:cNvSpPr/>
          <p:nvPr/>
        </p:nvSpPr>
        <p:spPr>
          <a:xfrm>
            <a:off x="2889504" y="2788920"/>
            <a:ext cx="548640" cy="0"/>
          </a:xfrm>
          <a:custGeom>
            <a:avLst/>
            <a:gdLst/>
            <a:ahLst/>
            <a:cxnLst/>
            <a:rect l="l" t="t" r="r" b="b"/>
            <a:pathLst>
              <a:path w="548640">
                <a:moveTo>
                  <a:pt x="0" y="0"/>
                </a:moveTo>
                <a:lnTo>
                  <a:pt x="54864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3264408" y="26700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12848" y="3701948"/>
            <a:ext cx="1920240" cy="346049"/>
          </a:xfrm>
          <a:prstGeom prst="rect">
            <a:avLst/>
          </a:prstGeom>
          <a:noFill/>
        </p:spPr>
        <p:txBody>
          <a:bodyPr wrap="square" anchor="t">
            <a:noAutofit/>
          </a:bodyPr>
          <a:lstStyle/>
          <a:p>
            <a:pPr algn="ctr"/>
            <a:r>
              <a:rPr sz="1600" b="0" i="0">
                <a:solidFill>
                  <a:srgbClr val="5A6B7B"/>
                </a:solidFill>
                <a:latin typeface="Amazon Ember Display"/>
              </a:rPr>
              <a:t>1  sign in</a:t>
            </a:r>
          </a:p>
        </p:txBody>
      </p:sp>
      <p:sp>
        <p:nvSpPr>
          <p:cNvPr id="23" name="Freeform 22"/>
          <p:cNvSpPr/>
          <p:nvPr/>
        </p:nvSpPr>
        <p:spPr>
          <a:xfrm>
            <a:off x="5769864" y="2788920"/>
            <a:ext cx="548640" cy="0"/>
          </a:xfrm>
          <a:custGeom>
            <a:avLst/>
            <a:gdLst/>
            <a:ahLst/>
            <a:cxnLst/>
            <a:rect l="l" t="t" r="r" b="b"/>
            <a:pathLst>
              <a:path w="548640">
                <a:moveTo>
                  <a:pt x="0" y="0"/>
                </a:moveTo>
                <a:lnTo>
                  <a:pt x="54864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6144768" y="26700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93207" y="3701948"/>
            <a:ext cx="1920240" cy="346049"/>
          </a:xfrm>
          <a:prstGeom prst="rect">
            <a:avLst/>
          </a:prstGeom>
          <a:noFill/>
        </p:spPr>
        <p:txBody>
          <a:bodyPr wrap="square" anchor="t">
            <a:noAutofit/>
          </a:bodyPr>
          <a:lstStyle/>
          <a:p>
            <a:pPr algn="ctr"/>
            <a:r>
              <a:rPr sz="1600" b="0" i="0">
                <a:solidFill>
                  <a:srgbClr val="5A6B7B"/>
                </a:solidFill>
                <a:latin typeface="Amazon Ember Display"/>
              </a:rPr>
              <a:t>2  exchange tokens</a:t>
            </a:r>
          </a:p>
        </p:txBody>
      </p:sp>
      <p:sp>
        <p:nvSpPr>
          <p:cNvPr id="26" name="Freeform 25"/>
          <p:cNvSpPr/>
          <p:nvPr/>
        </p:nvSpPr>
        <p:spPr>
          <a:xfrm>
            <a:off x="8650224" y="2788920"/>
            <a:ext cx="548640" cy="0"/>
          </a:xfrm>
          <a:custGeom>
            <a:avLst/>
            <a:gdLst/>
            <a:ahLst/>
            <a:cxnLst/>
            <a:rect l="l" t="t" r="r" b="b"/>
            <a:pathLst>
              <a:path w="548640">
                <a:moveTo>
                  <a:pt x="0" y="0"/>
                </a:moveTo>
                <a:lnTo>
                  <a:pt x="54864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9025128" y="26700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73567" y="3701948"/>
            <a:ext cx="1920240" cy="346049"/>
          </a:xfrm>
          <a:prstGeom prst="rect">
            <a:avLst/>
          </a:prstGeom>
          <a:noFill/>
        </p:spPr>
        <p:txBody>
          <a:bodyPr wrap="square" anchor="t">
            <a:noAutofit/>
          </a:bodyPr>
          <a:lstStyle/>
          <a:p>
            <a:pPr algn="ctr"/>
            <a:r>
              <a:rPr sz="1600" b="0" i="0">
                <a:solidFill>
                  <a:srgbClr val="5A6B7B"/>
                </a:solidFill>
                <a:latin typeface="Amazon Ember Display"/>
              </a:rPr>
              <a:t>3  temp credentials</a:t>
            </a:r>
          </a:p>
        </p:txBody>
      </p:sp>
      <p:sp>
        <p:nvSpPr>
          <p:cNvPr id="29" name="Freeform 28"/>
          <p:cNvSpPr/>
          <p:nvPr/>
        </p:nvSpPr>
        <p:spPr>
          <a:xfrm>
            <a:off x="612648" y="4526280"/>
            <a:ext cx="10966399" cy="0"/>
          </a:xfrm>
          <a:custGeom>
            <a:avLst/>
            <a:gdLst/>
            <a:ahLst/>
            <a:cxnLst/>
            <a:rect l="l" t="t" r="r" b="b"/>
            <a:pathLst>
              <a:path w="10966399">
                <a:moveTo>
                  <a:pt x="0" y="0"/>
                </a:moveTo>
                <a:lnTo>
                  <a:pt x="10966399" y="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8" y="4617720"/>
            <a:ext cx="3840480" cy="346049"/>
          </a:xfrm>
          <a:prstGeom prst="rect">
            <a:avLst/>
          </a:prstGeom>
          <a:noFill/>
        </p:spPr>
        <p:txBody>
          <a:bodyPr wrap="square" anchor="t">
            <a:noAutofit/>
          </a:bodyPr>
          <a:lstStyle/>
          <a:p>
            <a:pPr algn="l"/>
            <a:r>
              <a:rPr sz="1600" b="0" i="0">
                <a:solidFill>
                  <a:srgbClr val="5A6B7B"/>
                </a:solidFill>
                <a:latin typeface="Amazon Ember Display"/>
              </a:rPr>
              <a:t>authentication (who you are)</a:t>
            </a:r>
          </a:p>
        </p:txBody>
      </p:sp>
      <p:sp>
        <p:nvSpPr>
          <p:cNvPr id="31" name="TextBox 30"/>
          <p:cNvSpPr txBox="1"/>
          <p:nvPr/>
        </p:nvSpPr>
        <p:spPr>
          <a:xfrm>
            <a:off x="7738567" y="4617720"/>
            <a:ext cx="3840480" cy="346049"/>
          </a:xfrm>
          <a:prstGeom prst="rect">
            <a:avLst/>
          </a:prstGeom>
          <a:noFill/>
        </p:spPr>
        <p:txBody>
          <a:bodyPr wrap="square" anchor="t">
            <a:noAutofit/>
          </a:bodyPr>
          <a:lstStyle/>
          <a:p>
            <a:pPr algn="r"/>
            <a:r>
              <a:rPr sz="1600" b="0" i="0">
                <a:solidFill>
                  <a:srgbClr val="5A6B7B"/>
                </a:solidFill>
                <a:latin typeface="Amazon Ember Display"/>
              </a:rPr>
              <a:t>authorization (what you may do)</a:t>
            </a:r>
          </a:p>
        </p:txBody>
      </p:sp>
      <p:sp>
        <p:nvSpPr>
          <p:cNvPr id="32" name="TextBox 31">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Amazon Cognito user pools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you see what your app does?</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MONITORING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CloudTrail logs who acted, CloudWatch how it runs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5349240" cy="3383280"/>
          </a:xfrm>
          <a:prstGeom prst="roundRect">
            <a:avLst>
              <a:gd name="adj" fmla="val 4324"/>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CloudTrail_64.png"/>
          <p:cNvPicPr>
            <a:picLocks noChangeAspect="1"/>
          </p:cNvPicPr>
          <p:nvPr/>
        </p:nvPicPr>
        <p:blipFill>
          <a:blip r:embed="rId3"/>
          <a:stretch>
            <a:fillRect/>
          </a:stretch>
        </p:blipFill>
        <p:spPr>
          <a:xfrm>
            <a:off x="795528" y="1965960"/>
            <a:ext cx="914400" cy="914400"/>
          </a:xfrm>
          <a:prstGeom prst="rect">
            <a:avLst/>
          </a:prstGeom>
        </p:spPr>
      </p:pic>
      <p:sp>
        <p:nvSpPr>
          <p:cNvPr id="6" name="TextBox 5"/>
          <p:cNvSpPr txBox="1"/>
          <p:nvPr/>
        </p:nvSpPr>
        <p:spPr>
          <a:xfrm>
            <a:off x="1837944" y="2039112"/>
            <a:ext cx="3886200" cy="346049"/>
          </a:xfrm>
          <a:prstGeom prst="rect">
            <a:avLst/>
          </a:prstGeom>
          <a:noFill/>
        </p:spPr>
        <p:txBody>
          <a:bodyPr wrap="square" anchor="ctr">
            <a:noAutofit/>
          </a:bodyPr>
          <a:lstStyle/>
          <a:p>
            <a:pPr algn="l"/>
            <a:r>
              <a:rPr sz="1600" b="1" i="0">
                <a:solidFill>
                  <a:srgbClr val="8F0072"/>
                </a:solidFill>
                <a:latin typeface="Amazon Ember Display"/>
              </a:rPr>
              <a:t>CLOUDTRAIL</a:t>
            </a:r>
          </a:p>
        </p:txBody>
      </p:sp>
      <p:sp>
        <p:nvSpPr>
          <p:cNvPr id="7" name="Rounded Rectangle 6"/>
          <p:cNvSpPr/>
          <p:nvPr/>
        </p:nvSpPr>
        <p:spPr>
          <a:xfrm>
            <a:off x="2531059" y="2798064"/>
            <a:ext cx="1512417" cy="310896"/>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WHO ACTED</a:t>
            </a:r>
          </a:p>
        </p:txBody>
      </p:sp>
      <p:sp>
        <p:nvSpPr>
          <p:cNvPr id="8" name="TextBox 7"/>
          <p:cNvSpPr txBox="1"/>
          <p:nvPr/>
        </p:nvSpPr>
        <p:spPr>
          <a:xfrm>
            <a:off x="1115568" y="3483864"/>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Records API calls</a:t>
            </a:r>
          </a:p>
        </p:txBody>
      </p:sp>
      <p:sp>
        <p:nvSpPr>
          <p:cNvPr id="9" name="TextBox 8"/>
          <p:cNvSpPr txBox="1"/>
          <p:nvPr/>
        </p:nvSpPr>
        <p:spPr>
          <a:xfrm>
            <a:off x="1115568" y="3959352"/>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Identity, time, source IP</a:t>
            </a:r>
          </a:p>
        </p:txBody>
      </p:sp>
      <p:sp>
        <p:nvSpPr>
          <p:cNvPr id="10" name="TextBox 9"/>
          <p:cNvSpPr txBox="1"/>
          <p:nvPr/>
        </p:nvSpPr>
        <p:spPr>
          <a:xfrm>
            <a:off x="1115568" y="4434840"/>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For auditing and forensics</a:t>
            </a:r>
          </a:p>
        </p:txBody>
      </p:sp>
      <p:sp>
        <p:nvSpPr>
          <p:cNvPr id="11" name="Rounded Rectangle 10"/>
          <p:cNvSpPr/>
          <p:nvPr/>
        </p:nvSpPr>
        <p:spPr>
          <a:xfrm>
            <a:off x="6236208" y="1783080"/>
            <a:ext cx="5349240" cy="3383280"/>
          </a:xfrm>
          <a:prstGeom prst="roundRect">
            <a:avLst>
              <a:gd name="adj" fmla="val 4324"/>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Arch_Amazon-CloudWatch_64.png"/>
          <p:cNvPicPr>
            <a:picLocks noChangeAspect="1"/>
          </p:cNvPicPr>
          <p:nvPr/>
        </p:nvPicPr>
        <p:blipFill>
          <a:blip r:embed="rId4"/>
          <a:stretch>
            <a:fillRect/>
          </a:stretch>
        </p:blipFill>
        <p:spPr>
          <a:xfrm>
            <a:off x="6419088" y="1965960"/>
            <a:ext cx="914400" cy="914400"/>
          </a:xfrm>
          <a:prstGeom prst="rect">
            <a:avLst/>
          </a:prstGeom>
        </p:spPr>
      </p:pic>
      <p:sp>
        <p:nvSpPr>
          <p:cNvPr id="13" name="TextBox 12"/>
          <p:cNvSpPr txBox="1"/>
          <p:nvPr/>
        </p:nvSpPr>
        <p:spPr>
          <a:xfrm>
            <a:off x="7461504" y="2039112"/>
            <a:ext cx="3886200" cy="346049"/>
          </a:xfrm>
          <a:prstGeom prst="rect">
            <a:avLst/>
          </a:prstGeom>
          <a:noFill/>
        </p:spPr>
        <p:txBody>
          <a:bodyPr wrap="square" anchor="ctr">
            <a:noAutofit/>
          </a:bodyPr>
          <a:lstStyle/>
          <a:p>
            <a:pPr algn="l"/>
            <a:r>
              <a:rPr sz="1600" b="1" i="0">
                <a:solidFill>
                  <a:srgbClr val="8F0072"/>
                </a:solidFill>
                <a:latin typeface="Amazon Ember Display"/>
              </a:rPr>
              <a:t>CLOUDWATCH</a:t>
            </a:r>
          </a:p>
        </p:txBody>
      </p:sp>
      <p:sp>
        <p:nvSpPr>
          <p:cNvPr id="14" name="Rounded Rectangle 13"/>
          <p:cNvSpPr/>
          <p:nvPr/>
        </p:nvSpPr>
        <p:spPr>
          <a:xfrm>
            <a:off x="7584846" y="2798064"/>
            <a:ext cx="2651963" cy="310896"/>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HOW IS IT PERFORMING</a:t>
            </a:r>
          </a:p>
        </p:txBody>
      </p:sp>
      <p:sp>
        <p:nvSpPr>
          <p:cNvPr id="15" name="TextBox 14"/>
          <p:cNvSpPr txBox="1"/>
          <p:nvPr/>
        </p:nvSpPr>
        <p:spPr>
          <a:xfrm>
            <a:off x="6739128" y="3483864"/>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Collects metrics and logs</a:t>
            </a:r>
          </a:p>
        </p:txBody>
      </p:sp>
      <p:sp>
        <p:nvSpPr>
          <p:cNvPr id="16" name="TextBox 15"/>
          <p:cNvSpPr txBox="1"/>
          <p:nvPr/>
        </p:nvSpPr>
        <p:spPr>
          <a:xfrm>
            <a:off x="6739128" y="3959352"/>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Dashboards and alarms</a:t>
            </a:r>
          </a:p>
        </p:txBody>
      </p:sp>
      <p:sp>
        <p:nvSpPr>
          <p:cNvPr id="17" name="TextBox 16"/>
          <p:cNvSpPr txBox="1"/>
          <p:nvPr/>
        </p:nvSpPr>
        <p:spPr>
          <a:xfrm>
            <a:off x="6739128" y="4434840"/>
            <a:ext cx="4343400" cy="402336"/>
          </a:xfrm>
          <a:prstGeom prst="rect">
            <a:avLst/>
          </a:prstGeom>
          <a:noFill/>
        </p:spPr>
        <p:txBody>
          <a:bodyPr wrap="square" anchor="ctr">
            <a:noAutofit/>
          </a:bodyPr>
          <a:lstStyle/>
          <a:p>
            <a:pPr marL="285750" indent="-285750" algn="l">
              <a:buFont typeface="Arial" panose="020B0604020202020204" pitchFamily="34" charset="0"/>
              <a:buChar char="•"/>
            </a:pPr>
            <a:r>
              <a:rPr sz="1600" b="0" i="0" dirty="0">
                <a:solidFill>
                  <a:srgbClr val="232B37"/>
                </a:solidFill>
                <a:latin typeface="Amazon Ember Display"/>
              </a:rPr>
              <a:t>For health and performance</a:t>
            </a:r>
          </a:p>
        </p:txBody>
      </p:sp>
      <p:sp>
        <p:nvSpPr>
          <p:cNvPr id="18" name="TextBox 17">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Amazon CloudWatch?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Reading a CloudTrail management event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3906316"/>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1161288" y="2276246"/>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"eventTime"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"2026-08-27T14:29:45Z"</a:t>
            </a:r>
            <a:r>
              <a:rPr sz="1600" b="0">
                <a:solidFill>
                  <a:srgbClr val="CCCCD1"/>
                </a:solidFill>
                <a:latin typeface="Menlo"/>
              </a:rPr>
              <a:t>,</a:t>
            </a:r>
          </a:p>
        </p:txBody>
      </p:sp>
      <p:sp>
        <p:nvSpPr>
          <p:cNvPr id="9" name="TextBox 8"/>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10" name="TextBox 9"/>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"eventName"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"DeleteBucket"</a:t>
            </a:r>
            <a:r>
              <a:rPr sz="1600" b="0">
                <a:solidFill>
                  <a:srgbClr val="CCCCD1"/>
                </a:solidFill>
                <a:latin typeface="Menlo"/>
              </a:rPr>
              <a:t>,</a:t>
            </a:r>
          </a:p>
        </p:txBody>
      </p:sp>
      <p:sp>
        <p:nvSpPr>
          <p:cNvPr id="11" name="TextBox 10"/>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2" name="TextBox 11"/>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"eventSource"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"s3.amazonaws.com"</a:t>
            </a:r>
            <a:r>
              <a:rPr sz="1600" b="0">
                <a:solidFill>
                  <a:srgbClr val="CCCCD1"/>
                </a:solidFill>
                <a:latin typeface="Menlo"/>
              </a:rPr>
              <a:t>,</a:t>
            </a:r>
          </a:p>
        </p:txBody>
      </p:sp>
      <p:sp>
        <p:nvSpPr>
          <p:cNvPr id="13" name="TextBox 12"/>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4" name="TextBox 13"/>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"userIdentity"</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15" name="TextBox 14"/>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6" name="TextBox 15"/>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"type"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"IAMUser"</a:t>
            </a:r>
            <a:r>
              <a:rPr sz="1600" b="0">
                <a:solidFill>
                  <a:srgbClr val="CCCCD1"/>
                </a:solidFill>
                <a:latin typeface="Menlo"/>
              </a:rPr>
              <a:t>,</a:t>
            </a:r>
          </a:p>
        </p:txBody>
      </p:sp>
      <p:sp>
        <p:nvSpPr>
          <p:cNvPr id="17" name="TextBox 16"/>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8" name="TextBox 17"/>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"userName"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"dev-oncall"</a:t>
            </a:r>
          </a:p>
        </p:txBody>
      </p:sp>
      <p:sp>
        <p:nvSpPr>
          <p:cNvPr id="19" name="TextBox 18"/>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20" name="TextBox 19"/>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1" name="TextBox 20"/>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2" name="TextBox 21"/>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"sourceIPAddress"</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"203.0.113.12"</a:t>
            </a:r>
            <a:r>
              <a:rPr sz="1600" b="0">
                <a:solidFill>
                  <a:srgbClr val="CCCCD1"/>
                </a:solidFill>
                <a:latin typeface="Menlo"/>
              </a:rPr>
              <a:t>,</a:t>
            </a:r>
          </a:p>
        </p:txBody>
      </p:sp>
      <p:sp>
        <p:nvSpPr>
          <p:cNvPr id="23" name="TextBox 22"/>
          <p:cNvSpPr txBox="1"/>
          <p:nvPr/>
        </p:nvSpPr>
        <p:spPr>
          <a:xfrm>
            <a:off x="859536" y="4539081"/>
            <a:ext cx="274320" cy="282854"/>
          </a:xfrm>
          <a:prstGeom prst="rect">
            <a:avLst/>
          </a:prstGeom>
          <a:noFill/>
        </p:spPr>
        <p:txBody>
          <a:bodyPr wrap="none" lIns="0" tIns="0" rIns="0" bIns="0" anchor="ctr">
            <a:spAutoFit/>
          </a:bodyPr>
          <a:lstStyle/>
          <a:p>
            <a:pPr algn="r"/>
            <a:r>
              <a:rPr sz="1280" b="0">
                <a:solidFill>
                  <a:srgbClr val="72747E"/>
                </a:solidFill>
                <a:latin typeface="Menlo"/>
              </a:rPr>
              <a:t>10</a:t>
            </a:r>
          </a:p>
        </p:txBody>
      </p:sp>
      <p:sp>
        <p:nvSpPr>
          <p:cNvPr id="24" name="TextBox 23"/>
          <p:cNvSpPr txBox="1"/>
          <p:nvPr/>
        </p:nvSpPr>
        <p:spPr>
          <a:xfrm>
            <a:off x="1161288" y="4539081"/>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"errorCode"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"AccessDenied"</a:t>
            </a:r>
          </a:p>
        </p:txBody>
      </p:sp>
      <p:sp>
        <p:nvSpPr>
          <p:cNvPr id="25" name="TextBox 24"/>
          <p:cNvSpPr txBox="1"/>
          <p:nvPr/>
        </p:nvSpPr>
        <p:spPr>
          <a:xfrm>
            <a:off x="859536" y="4821935"/>
            <a:ext cx="274320" cy="282854"/>
          </a:xfrm>
          <a:prstGeom prst="rect">
            <a:avLst/>
          </a:prstGeom>
          <a:noFill/>
        </p:spPr>
        <p:txBody>
          <a:bodyPr wrap="none" lIns="0" tIns="0" rIns="0" bIns="0" anchor="ctr">
            <a:spAutoFit/>
          </a:bodyPr>
          <a:lstStyle/>
          <a:p>
            <a:pPr algn="r"/>
            <a:r>
              <a:rPr sz="1280" b="0">
                <a:solidFill>
                  <a:srgbClr val="72747E"/>
                </a:solidFill>
                <a:latin typeface="Menlo"/>
              </a:rPr>
              <a:t>11</a:t>
            </a:r>
          </a:p>
        </p:txBody>
      </p:sp>
      <p:sp>
        <p:nvSpPr>
          <p:cNvPr id="26" name="TextBox 25"/>
          <p:cNvSpPr txBox="1"/>
          <p:nvPr/>
        </p:nvSpPr>
        <p:spPr>
          <a:xfrm>
            <a:off x="1161288" y="4821935"/>
            <a:ext cx="5120639" cy="282854"/>
          </a:xfrm>
          <a:prstGeom prst="rect">
            <a:avLst/>
          </a:prstGeom>
          <a:noFill/>
        </p:spPr>
        <p:txBody>
          <a:bodyPr wrap="none" lIns="0" tIns="0" rIns="0" bIns="0" anchor="ctr">
            <a:spAutoFit/>
          </a:bodyPr>
          <a:lstStyle/>
          <a:p>
            <a:pPr algn="l"/>
            <a:r>
              <a:rPr sz="1600" b="0">
                <a:solidFill>
                  <a:srgbClr val="8C8C94"/>
                </a:solidFill>
                <a:latin typeface="Menlo"/>
              </a:rPr>
              <a:t>  // additional fields omitted</a:t>
            </a:r>
          </a:p>
        </p:txBody>
      </p:sp>
      <p:sp>
        <p:nvSpPr>
          <p:cNvPr id="27" name="TextBox 26"/>
          <p:cNvSpPr txBox="1"/>
          <p:nvPr/>
        </p:nvSpPr>
        <p:spPr>
          <a:xfrm>
            <a:off x="859536" y="5104790"/>
            <a:ext cx="274320" cy="282854"/>
          </a:xfrm>
          <a:prstGeom prst="rect">
            <a:avLst/>
          </a:prstGeom>
          <a:noFill/>
        </p:spPr>
        <p:txBody>
          <a:bodyPr wrap="none" lIns="0" tIns="0" rIns="0" bIns="0" anchor="ctr">
            <a:spAutoFit/>
          </a:bodyPr>
          <a:lstStyle/>
          <a:p>
            <a:pPr algn="r"/>
            <a:r>
              <a:rPr sz="1280" b="0">
                <a:solidFill>
                  <a:srgbClr val="72747E"/>
                </a:solidFill>
                <a:latin typeface="Menlo"/>
              </a:rPr>
              <a:t>12</a:t>
            </a:r>
          </a:p>
        </p:txBody>
      </p:sp>
      <p:sp>
        <p:nvSpPr>
          <p:cNvPr id="28" name="TextBox 27"/>
          <p:cNvSpPr txBox="1"/>
          <p:nvPr/>
        </p:nvSpPr>
        <p:spPr>
          <a:xfrm>
            <a:off x="1161288" y="5104790"/>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29" name="Oval 28"/>
          <p:cNvSpPr/>
          <p:nvPr/>
        </p:nvSpPr>
        <p:spPr>
          <a:xfrm>
            <a:off x="521207" y="226222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0" name="Oval 29"/>
          <p:cNvSpPr/>
          <p:nvPr/>
        </p:nvSpPr>
        <p:spPr>
          <a:xfrm>
            <a:off x="521207" y="3110788"/>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1" name="Oval 30"/>
          <p:cNvSpPr/>
          <p:nvPr/>
        </p:nvSpPr>
        <p:spPr>
          <a:xfrm>
            <a:off x="521207" y="424220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2" name="TextBox 31"/>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3" name="Oval 32"/>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4" name="TextBox 33"/>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eventName</a:t>
            </a:r>
          </a:p>
          <a:p>
            <a:pPr>
              <a:spcBef>
                <a:spcPts val="200"/>
              </a:spcBef>
            </a:pPr>
            <a:r>
              <a:rPr sz="1600">
                <a:solidFill>
                  <a:srgbClr val="333B45"/>
                </a:solidFill>
                <a:latin typeface="Amazon Ember"/>
              </a:rPr>
              <a:t>The API action, the service it hit, and the timestamp -- what happened, and when.</a:t>
            </a:r>
          </a:p>
        </p:txBody>
      </p:sp>
      <p:sp>
        <p:nvSpPr>
          <p:cNvPr id="35" name="Oval 34"/>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6" name="TextBox 35"/>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userIdentity</a:t>
            </a:r>
          </a:p>
          <a:p>
            <a:pPr>
              <a:spcBef>
                <a:spcPts val="200"/>
              </a:spcBef>
            </a:pPr>
            <a:r>
              <a:rPr sz="1600">
                <a:solidFill>
                  <a:srgbClr val="333B45"/>
                </a:solidFill>
                <a:latin typeface="Amazon Ember"/>
              </a:rPr>
              <a:t>Who made the call: the principal type and name from the IAM identity.</a:t>
            </a:r>
          </a:p>
        </p:txBody>
      </p:sp>
      <p:sp>
        <p:nvSpPr>
          <p:cNvPr id="37" name="Oval 36"/>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8" name="TextBox 37"/>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errorCode</a:t>
            </a:r>
          </a:p>
          <a:p>
            <a:pPr>
              <a:spcBef>
                <a:spcPts val="200"/>
              </a:spcBef>
            </a:pPr>
            <a:r>
              <a:rPr sz="1600">
                <a:solidFill>
                  <a:srgbClr val="333B45"/>
                </a:solidFill>
                <a:latin typeface="Amazon Ember"/>
              </a:rPr>
              <a:t>Where it came from, and that it was denied -- the call is logged even though it failed.</a:t>
            </a:r>
          </a:p>
        </p:txBody>
      </p:sp>
      <p:sp>
        <p:nvSpPr>
          <p:cNvPr id="39" name="TextBox 38">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AWS CloudTrail User Guide -- record contents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log group holds streams, a stream holds events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10972800" cy="3383280"/>
          </a:xfrm>
          <a:prstGeom prst="roundRect">
            <a:avLst>
              <a:gd name="adj" fmla="val 486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CloudWatch_64.png"/>
          <p:cNvPicPr>
            <a:picLocks noChangeAspect="1"/>
          </p:cNvPicPr>
          <p:nvPr/>
        </p:nvPicPr>
        <p:blipFill>
          <a:blip r:embed="rId3"/>
          <a:stretch>
            <a:fillRect/>
          </a:stretch>
        </p:blipFill>
        <p:spPr>
          <a:xfrm>
            <a:off x="804672" y="2011680"/>
            <a:ext cx="457200" cy="457200"/>
          </a:xfrm>
          <a:prstGeom prst="rect">
            <a:avLst/>
          </a:prstGeom>
        </p:spPr>
      </p:pic>
      <p:sp>
        <p:nvSpPr>
          <p:cNvPr id="6" name="TextBox 5"/>
          <p:cNvSpPr txBox="1"/>
          <p:nvPr/>
        </p:nvSpPr>
        <p:spPr>
          <a:xfrm>
            <a:off x="1380744" y="1929384"/>
            <a:ext cx="5852160" cy="346049"/>
          </a:xfrm>
          <a:prstGeom prst="rect">
            <a:avLst/>
          </a:prstGeom>
          <a:noFill/>
        </p:spPr>
        <p:txBody>
          <a:bodyPr wrap="square" anchor="ctr">
            <a:noAutofit/>
          </a:bodyPr>
          <a:lstStyle/>
          <a:p>
            <a:pPr algn="l"/>
            <a:r>
              <a:rPr sz="1600" b="1" i="0">
                <a:solidFill>
                  <a:srgbClr val="8F0072"/>
                </a:solidFill>
                <a:latin typeface="Amazon Ember Display"/>
              </a:rPr>
              <a:t>LOG GROUP  /my-app</a:t>
            </a:r>
          </a:p>
        </p:txBody>
      </p:sp>
      <p:sp>
        <p:nvSpPr>
          <p:cNvPr id="7" name="TextBox 6"/>
          <p:cNvSpPr txBox="1"/>
          <p:nvPr/>
        </p:nvSpPr>
        <p:spPr>
          <a:xfrm>
            <a:off x="1380744" y="2293721"/>
            <a:ext cx="7315200" cy="272897"/>
          </a:xfrm>
          <a:prstGeom prst="rect">
            <a:avLst/>
          </a:prstGeom>
          <a:noFill/>
        </p:spPr>
        <p:txBody>
          <a:bodyPr wrap="square" tIns="9144" bIns="9144" anchor="ctr">
            <a:noAutofit/>
          </a:bodyPr>
          <a:lstStyle/>
          <a:p>
            <a:pPr algn="l"/>
            <a:r>
              <a:rPr sz="1600" b="0" i="0">
                <a:solidFill>
                  <a:srgbClr val="232B37"/>
                </a:solidFill>
                <a:latin typeface="Amazon Ember Display"/>
              </a:rPr>
              <a:t>one per application</a:t>
            </a:r>
          </a:p>
        </p:txBody>
      </p:sp>
      <p:sp>
        <p:nvSpPr>
          <p:cNvPr id="8" name="Rounded Rectangle 7"/>
          <p:cNvSpPr/>
          <p:nvPr/>
        </p:nvSpPr>
        <p:spPr>
          <a:xfrm>
            <a:off x="886968" y="2615184"/>
            <a:ext cx="5111496" cy="2331720"/>
          </a:xfrm>
          <a:prstGeom prst="roundRect">
            <a:avLst>
              <a:gd name="adj" fmla="val 6274"/>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51560" y="2706624"/>
            <a:ext cx="4782312" cy="346049"/>
          </a:xfrm>
          <a:prstGeom prst="rect">
            <a:avLst/>
          </a:prstGeom>
          <a:noFill/>
        </p:spPr>
        <p:txBody>
          <a:bodyPr wrap="square" anchor="ctr">
            <a:noAutofit/>
          </a:bodyPr>
          <a:lstStyle/>
          <a:p>
            <a:pPr algn="l"/>
            <a:r>
              <a:rPr sz="1600" b="1" i="0">
                <a:solidFill>
                  <a:srgbClr val="8F0072"/>
                </a:solidFill>
                <a:latin typeface="Amazon Ember Display"/>
              </a:rPr>
              <a:t>LOG STREAM  instance-a</a:t>
            </a:r>
          </a:p>
        </p:txBody>
      </p:sp>
      <p:sp>
        <p:nvSpPr>
          <p:cNvPr id="10" name="Rounded Rectangle 9"/>
          <p:cNvSpPr/>
          <p:nvPr/>
        </p:nvSpPr>
        <p:spPr>
          <a:xfrm>
            <a:off x="1143000" y="3090672"/>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7592" y="3172968"/>
            <a:ext cx="4288536" cy="346049"/>
          </a:xfrm>
          <a:prstGeom prst="rect">
            <a:avLst/>
          </a:prstGeom>
          <a:noFill/>
        </p:spPr>
        <p:txBody>
          <a:bodyPr wrap="square" anchor="ctr">
            <a:noAutofit/>
          </a:bodyPr>
          <a:lstStyle/>
          <a:p>
            <a:pPr algn="l"/>
            <a:r>
              <a:rPr sz="1600" b="0" i="0">
                <a:solidFill>
                  <a:srgbClr val="232B37"/>
                </a:solidFill>
                <a:latin typeface="Amazon Ember Display"/>
              </a:rPr>
              <a:t>12:00:01  request received</a:t>
            </a:r>
          </a:p>
        </p:txBody>
      </p:sp>
      <p:sp>
        <p:nvSpPr>
          <p:cNvPr id="12" name="Rounded Rectangle 11"/>
          <p:cNvSpPr/>
          <p:nvPr/>
        </p:nvSpPr>
        <p:spPr>
          <a:xfrm>
            <a:off x="1143000" y="3657600"/>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7592" y="3739896"/>
            <a:ext cx="4288536" cy="346049"/>
          </a:xfrm>
          <a:prstGeom prst="rect">
            <a:avLst/>
          </a:prstGeom>
          <a:noFill/>
        </p:spPr>
        <p:txBody>
          <a:bodyPr wrap="square" anchor="ctr">
            <a:noAutofit/>
          </a:bodyPr>
          <a:lstStyle/>
          <a:p>
            <a:pPr algn="l"/>
            <a:r>
              <a:rPr sz="1600" b="0" i="0">
                <a:solidFill>
                  <a:srgbClr val="232B37"/>
                </a:solidFill>
                <a:latin typeface="Amazon Ember Display"/>
              </a:rPr>
              <a:t>12:00:02  handler invoked</a:t>
            </a:r>
          </a:p>
        </p:txBody>
      </p:sp>
      <p:sp>
        <p:nvSpPr>
          <p:cNvPr id="14" name="Rounded Rectangle 13"/>
          <p:cNvSpPr/>
          <p:nvPr/>
        </p:nvSpPr>
        <p:spPr>
          <a:xfrm>
            <a:off x="1143000" y="4224528"/>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07592" y="4306824"/>
            <a:ext cx="4288536" cy="346049"/>
          </a:xfrm>
          <a:prstGeom prst="rect">
            <a:avLst/>
          </a:prstGeom>
          <a:noFill/>
        </p:spPr>
        <p:txBody>
          <a:bodyPr wrap="square" anchor="ctr">
            <a:noAutofit/>
          </a:bodyPr>
          <a:lstStyle/>
          <a:p>
            <a:pPr algn="l"/>
            <a:r>
              <a:rPr sz="1600" b="0" i="0">
                <a:solidFill>
                  <a:srgbClr val="232B37"/>
                </a:solidFill>
                <a:latin typeface="Amazon Ember Display"/>
              </a:rPr>
              <a:t>12:00:03  response sent</a:t>
            </a:r>
          </a:p>
        </p:txBody>
      </p:sp>
      <p:sp>
        <p:nvSpPr>
          <p:cNvPr id="16" name="Rounded Rectangle 15"/>
          <p:cNvSpPr/>
          <p:nvPr/>
        </p:nvSpPr>
        <p:spPr>
          <a:xfrm>
            <a:off x="6199632" y="2615184"/>
            <a:ext cx="5111496" cy="2331720"/>
          </a:xfrm>
          <a:prstGeom prst="roundRect">
            <a:avLst>
              <a:gd name="adj" fmla="val 6274"/>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64224" y="2706624"/>
            <a:ext cx="4782312" cy="346049"/>
          </a:xfrm>
          <a:prstGeom prst="rect">
            <a:avLst/>
          </a:prstGeom>
          <a:noFill/>
        </p:spPr>
        <p:txBody>
          <a:bodyPr wrap="square" anchor="ctr">
            <a:noAutofit/>
          </a:bodyPr>
          <a:lstStyle/>
          <a:p>
            <a:pPr algn="l"/>
            <a:r>
              <a:rPr sz="1600" b="1" i="0">
                <a:solidFill>
                  <a:srgbClr val="8F0072"/>
                </a:solidFill>
                <a:latin typeface="Amazon Ember Display"/>
              </a:rPr>
              <a:t>LOG STREAM  instance-b</a:t>
            </a:r>
          </a:p>
        </p:txBody>
      </p:sp>
      <p:sp>
        <p:nvSpPr>
          <p:cNvPr id="18" name="Rounded Rectangle 17"/>
          <p:cNvSpPr/>
          <p:nvPr/>
        </p:nvSpPr>
        <p:spPr>
          <a:xfrm>
            <a:off x="6455664" y="3090672"/>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620256" y="3172968"/>
            <a:ext cx="4288536" cy="346049"/>
          </a:xfrm>
          <a:prstGeom prst="rect">
            <a:avLst/>
          </a:prstGeom>
          <a:noFill/>
        </p:spPr>
        <p:txBody>
          <a:bodyPr wrap="square" anchor="ctr">
            <a:noAutofit/>
          </a:bodyPr>
          <a:lstStyle/>
          <a:p>
            <a:pPr algn="l"/>
            <a:r>
              <a:rPr sz="1600" b="0" i="0">
                <a:solidFill>
                  <a:srgbClr val="232B37"/>
                </a:solidFill>
                <a:latin typeface="Amazon Ember Display"/>
              </a:rPr>
              <a:t>12:00:01  request received</a:t>
            </a:r>
          </a:p>
        </p:txBody>
      </p:sp>
      <p:sp>
        <p:nvSpPr>
          <p:cNvPr id="20" name="Rounded Rectangle 19"/>
          <p:cNvSpPr/>
          <p:nvPr/>
        </p:nvSpPr>
        <p:spPr>
          <a:xfrm>
            <a:off x="6455664" y="3657600"/>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620256" y="3739896"/>
            <a:ext cx="4288536" cy="346049"/>
          </a:xfrm>
          <a:prstGeom prst="rect">
            <a:avLst/>
          </a:prstGeom>
          <a:noFill/>
        </p:spPr>
        <p:txBody>
          <a:bodyPr wrap="square" anchor="ctr">
            <a:noAutofit/>
          </a:bodyPr>
          <a:lstStyle/>
          <a:p>
            <a:pPr algn="l"/>
            <a:r>
              <a:rPr sz="1600" b="0" i="0">
                <a:solidFill>
                  <a:srgbClr val="232B37"/>
                </a:solidFill>
                <a:latin typeface="Amazon Ember Display"/>
              </a:rPr>
              <a:t>12:00:02  handler invoked</a:t>
            </a:r>
          </a:p>
        </p:txBody>
      </p:sp>
      <p:sp>
        <p:nvSpPr>
          <p:cNvPr id="22" name="Rounded Rectangle 21"/>
          <p:cNvSpPr/>
          <p:nvPr/>
        </p:nvSpPr>
        <p:spPr>
          <a:xfrm>
            <a:off x="6455664" y="4224528"/>
            <a:ext cx="4599431"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620256" y="4306824"/>
            <a:ext cx="4288536" cy="346049"/>
          </a:xfrm>
          <a:prstGeom prst="rect">
            <a:avLst/>
          </a:prstGeom>
          <a:noFill/>
        </p:spPr>
        <p:txBody>
          <a:bodyPr wrap="square" anchor="ctr">
            <a:noAutofit/>
          </a:bodyPr>
          <a:lstStyle/>
          <a:p>
            <a:pPr algn="l"/>
            <a:r>
              <a:rPr sz="1600" b="0" i="0">
                <a:solidFill>
                  <a:srgbClr val="232B37"/>
                </a:solidFill>
                <a:latin typeface="Amazon Ember Display"/>
              </a:rPr>
              <a:t>12:00:03  response sent</a:t>
            </a:r>
          </a:p>
        </p:txBody>
      </p:sp>
      <p:sp>
        <p:nvSpPr>
          <p:cNvPr id="24" name="TextBox 23">
            <a:hlinkClick r:id="rId4"/>
          </p:cNvPr>
          <p:cNvSpPr txBox="1"/>
          <p:nvPr/>
        </p:nvSpPr>
        <p:spPr>
          <a:xfrm>
            <a:off x="612648" y="5943600"/>
            <a:ext cx="57435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Amazon CloudWatch Logs concepts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metric crosses a threshold and the alarm acts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194560"/>
            <a:ext cx="2743200" cy="1097280"/>
          </a:xfrm>
          <a:prstGeom prst="roundRect">
            <a:avLst>
              <a:gd name="adj" fmla="val 1166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CloudWatch_64.png"/>
          <p:cNvPicPr>
            <a:picLocks noChangeAspect="1"/>
          </p:cNvPicPr>
          <p:nvPr/>
        </p:nvPicPr>
        <p:blipFill>
          <a:blip r:embed="rId3"/>
          <a:stretch>
            <a:fillRect/>
          </a:stretch>
        </p:blipFill>
        <p:spPr>
          <a:xfrm>
            <a:off x="804671" y="2514600"/>
            <a:ext cx="457200" cy="457200"/>
          </a:xfrm>
          <a:prstGeom prst="rect">
            <a:avLst/>
          </a:prstGeom>
        </p:spPr>
      </p:pic>
      <p:sp>
        <p:nvSpPr>
          <p:cNvPr id="6" name="TextBox 5"/>
          <p:cNvSpPr txBox="1"/>
          <p:nvPr/>
        </p:nvSpPr>
        <p:spPr>
          <a:xfrm>
            <a:off x="1371600" y="2432304"/>
            <a:ext cx="1856231" cy="346049"/>
          </a:xfrm>
          <a:prstGeom prst="rect">
            <a:avLst/>
          </a:prstGeom>
          <a:noFill/>
        </p:spPr>
        <p:txBody>
          <a:bodyPr wrap="square" anchor="ctr">
            <a:noAutofit/>
          </a:bodyPr>
          <a:lstStyle/>
          <a:p>
            <a:pPr algn="l"/>
            <a:r>
              <a:rPr sz="1600" b="1" i="0">
                <a:solidFill>
                  <a:srgbClr val="8F0072"/>
                </a:solidFill>
                <a:latin typeface="Amazon Ember Display"/>
              </a:rPr>
              <a:t>Metric</a:t>
            </a:r>
          </a:p>
        </p:txBody>
      </p:sp>
      <p:sp>
        <p:nvSpPr>
          <p:cNvPr id="7" name="TextBox 6"/>
          <p:cNvSpPr txBox="1"/>
          <p:nvPr/>
        </p:nvSpPr>
        <p:spPr>
          <a:xfrm>
            <a:off x="1371600" y="2752344"/>
            <a:ext cx="1856231" cy="346049"/>
          </a:xfrm>
          <a:prstGeom prst="rect">
            <a:avLst/>
          </a:prstGeom>
          <a:noFill/>
        </p:spPr>
        <p:txBody>
          <a:bodyPr wrap="square" anchor="ctr">
            <a:noAutofit/>
          </a:bodyPr>
          <a:lstStyle/>
          <a:p>
            <a:pPr algn="l"/>
            <a:r>
              <a:rPr sz="1600" b="0" i="0">
                <a:solidFill>
                  <a:srgbClr val="232B37"/>
                </a:solidFill>
                <a:latin typeface="Amazon Ember Display"/>
              </a:rPr>
              <a:t>CPU or latency</a:t>
            </a:r>
          </a:p>
        </p:txBody>
      </p:sp>
      <p:sp>
        <p:nvSpPr>
          <p:cNvPr id="8" name="Freeform 7"/>
          <p:cNvSpPr/>
          <p:nvPr/>
        </p:nvSpPr>
        <p:spPr>
          <a:xfrm>
            <a:off x="3410712" y="2743200"/>
            <a:ext cx="1655064" cy="0"/>
          </a:xfrm>
          <a:custGeom>
            <a:avLst/>
            <a:gdLst/>
            <a:ahLst/>
            <a:cxnLst/>
            <a:rect l="l" t="t" r="r" b="b"/>
            <a:pathLst>
              <a:path w="1655064">
                <a:moveTo>
                  <a:pt x="0" y="0"/>
                </a:moveTo>
                <a:lnTo>
                  <a:pt x="1655064"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4892040" y="26243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15284" y="2282850"/>
            <a:ext cx="1645920" cy="346049"/>
          </a:xfrm>
          <a:prstGeom prst="rect">
            <a:avLst/>
          </a:prstGeom>
          <a:noFill/>
        </p:spPr>
        <p:txBody>
          <a:bodyPr wrap="square" anchor="t">
            <a:noAutofit/>
          </a:bodyPr>
          <a:lstStyle/>
          <a:p>
            <a:pPr algn="ctr"/>
            <a:r>
              <a:rPr sz="1600" b="0" i="0">
                <a:solidFill>
                  <a:srgbClr val="5A6B7B"/>
                </a:solidFill>
                <a:latin typeface="Amazon Ember Display"/>
              </a:rPr>
              <a:t>over threshold</a:t>
            </a:r>
          </a:p>
        </p:txBody>
      </p:sp>
      <p:sp>
        <p:nvSpPr>
          <p:cNvPr id="11" name="Rounded Rectangle 10"/>
          <p:cNvSpPr/>
          <p:nvPr/>
        </p:nvSpPr>
        <p:spPr>
          <a:xfrm>
            <a:off x="5120640" y="2194560"/>
            <a:ext cx="2468880" cy="1097280"/>
          </a:xfrm>
          <a:prstGeom prst="roundRect">
            <a:avLst>
              <a:gd name="adj" fmla="val 11666"/>
            </a:avLst>
          </a:prstGeom>
          <a:solidFill>
            <a:srgbClr val="FF57E9"/>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120640" y="2388006"/>
            <a:ext cx="2468880" cy="346049"/>
          </a:xfrm>
          <a:prstGeom prst="rect">
            <a:avLst/>
          </a:prstGeom>
          <a:noFill/>
        </p:spPr>
        <p:txBody>
          <a:bodyPr wrap="square" anchor="ctr">
            <a:noAutofit/>
          </a:bodyPr>
          <a:lstStyle/>
          <a:p>
            <a:pPr algn="ctr"/>
            <a:r>
              <a:rPr sz="1600" b="1" i="0">
                <a:solidFill>
                  <a:srgbClr val="FFFFFF"/>
                </a:solidFill>
                <a:latin typeface="Amazon Ember Display"/>
              </a:rPr>
              <a:t>ALARM</a:t>
            </a:r>
          </a:p>
        </p:txBody>
      </p:sp>
      <p:sp>
        <p:nvSpPr>
          <p:cNvPr id="13" name="TextBox 12"/>
          <p:cNvSpPr txBox="1"/>
          <p:nvPr/>
        </p:nvSpPr>
        <p:spPr>
          <a:xfrm>
            <a:off x="5120640" y="2752344"/>
            <a:ext cx="2468880" cy="346049"/>
          </a:xfrm>
          <a:prstGeom prst="rect">
            <a:avLst/>
          </a:prstGeom>
          <a:noFill/>
        </p:spPr>
        <p:txBody>
          <a:bodyPr wrap="square" anchor="ctr">
            <a:noAutofit/>
          </a:bodyPr>
          <a:lstStyle/>
          <a:p>
            <a:pPr algn="ctr"/>
            <a:r>
              <a:rPr sz="1600" b="0" i="0">
                <a:solidFill>
                  <a:srgbClr val="FFFFFF"/>
                </a:solidFill>
                <a:latin typeface="Amazon Ember Display"/>
              </a:rPr>
              <a:t>state = in alarm</a:t>
            </a:r>
          </a:p>
        </p:txBody>
      </p:sp>
      <p:sp>
        <p:nvSpPr>
          <p:cNvPr id="14" name="Freeform 13"/>
          <p:cNvSpPr/>
          <p:nvPr/>
        </p:nvSpPr>
        <p:spPr>
          <a:xfrm>
            <a:off x="7589520" y="2743200"/>
            <a:ext cx="457200" cy="0"/>
          </a:xfrm>
          <a:custGeom>
            <a:avLst/>
            <a:gdLst/>
            <a:ahLst/>
            <a:cxnLst/>
            <a:rect l="l" t="t" r="r" b="b"/>
            <a:pathLst>
              <a:path w="457200">
                <a:moveTo>
                  <a:pt x="0" y="0"/>
                </a:moveTo>
                <a:lnTo>
                  <a:pt x="457200"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8046720" y="2103120"/>
            <a:ext cx="0" cy="1280160"/>
          </a:xfrm>
          <a:custGeom>
            <a:avLst/>
            <a:gdLst/>
            <a:ahLst/>
            <a:cxnLst/>
            <a:rect l="l" t="t" r="r" b="b"/>
            <a:pathLst>
              <a:path h="1280160">
                <a:moveTo>
                  <a:pt x="0" y="0"/>
                </a:moveTo>
                <a:lnTo>
                  <a:pt x="0" y="128016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549640" y="1600199"/>
            <a:ext cx="278892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Simple-Notification-Service_64.png"/>
          <p:cNvPicPr>
            <a:picLocks noChangeAspect="1"/>
          </p:cNvPicPr>
          <p:nvPr/>
        </p:nvPicPr>
        <p:blipFill>
          <a:blip r:embed="rId4"/>
          <a:stretch>
            <a:fillRect/>
          </a:stretch>
        </p:blipFill>
        <p:spPr>
          <a:xfrm>
            <a:off x="8741664" y="1874519"/>
            <a:ext cx="457200" cy="457200"/>
          </a:xfrm>
          <a:prstGeom prst="rect">
            <a:avLst/>
          </a:prstGeom>
        </p:spPr>
      </p:pic>
      <p:sp>
        <p:nvSpPr>
          <p:cNvPr id="18" name="TextBox 17"/>
          <p:cNvSpPr txBox="1"/>
          <p:nvPr/>
        </p:nvSpPr>
        <p:spPr>
          <a:xfrm>
            <a:off x="9308592" y="1792223"/>
            <a:ext cx="1901951" cy="346049"/>
          </a:xfrm>
          <a:prstGeom prst="rect">
            <a:avLst/>
          </a:prstGeom>
          <a:noFill/>
        </p:spPr>
        <p:txBody>
          <a:bodyPr wrap="square" anchor="ctr">
            <a:noAutofit/>
          </a:bodyPr>
          <a:lstStyle/>
          <a:p>
            <a:pPr algn="l"/>
            <a:r>
              <a:rPr sz="1600" b="1" i="0">
                <a:solidFill>
                  <a:srgbClr val="8F0072"/>
                </a:solidFill>
                <a:latin typeface="Amazon Ember Display"/>
              </a:rPr>
              <a:t>Notify</a:t>
            </a:r>
          </a:p>
        </p:txBody>
      </p:sp>
      <p:sp>
        <p:nvSpPr>
          <p:cNvPr id="19" name="TextBox 18"/>
          <p:cNvSpPr txBox="1"/>
          <p:nvPr/>
        </p:nvSpPr>
        <p:spPr>
          <a:xfrm>
            <a:off x="9308592" y="2112263"/>
            <a:ext cx="1901951" cy="346049"/>
          </a:xfrm>
          <a:prstGeom prst="rect">
            <a:avLst/>
          </a:prstGeom>
          <a:noFill/>
        </p:spPr>
        <p:txBody>
          <a:bodyPr wrap="square" anchor="ctr">
            <a:noAutofit/>
          </a:bodyPr>
          <a:lstStyle/>
          <a:p>
            <a:pPr algn="l"/>
            <a:r>
              <a:rPr sz="1600" b="0" i="0">
                <a:solidFill>
                  <a:srgbClr val="232B37"/>
                </a:solidFill>
                <a:latin typeface="Amazon Ember Display"/>
              </a:rPr>
              <a:t>send to a topic</a:t>
            </a:r>
          </a:p>
        </p:txBody>
      </p:sp>
      <p:sp>
        <p:nvSpPr>
          <p:cNvPr id="20" name="Freeform 19"/>
          <p:cNvSpPr/>
          <p:nvPr/>
        </p:nvSpPr>
        <p:spPr>
          <a:xfrm>
            <a:off x="8046720" y="2103120"/>
            <a:ext cx="448056" cy="0"/>
          </a:xfrm>
          <a:custGeom>
            <a:avLst/>
            <a:gdLst/>
            <a:ahLst/>
            <a:cxnLst/>
            <a:rect l="l" t="t" r="r" b="b"/>
            <a:pathLst>
              <a:path w="448056">
                <a:moveTo>
                  <a:pt x="0" y="0"/>
                </a:moveTo>
                <a:lnTo>
                  <a:pt x="448056"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8321040" y="19842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549640" y="2880360"/>
            <a:ext cx="278892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Arch_Amazon-EC2-Auto-Scaling_64.png"/>
          <p:cNvPicPr>
            <a:picLocks noChangeAspect="1"/>
          </p:cNvPicPr>
          <p:nvPr/>
        </p:nvPicPr>
        <p:blipFill>
          <a:blip r:embed="rId5"/>
          <a:stretch>
            <a:fillRect/>
          </a:stretch>
        </p:blipFill>
        <p:spPr>
          <a:xfrm>
            <a:off x="8741664" y="3154680"/>
            <a:ext cx="457200" cy="457200"/>
          </a:xfrm>
          <a:prstGeom prst="rect">
            <a:avLst/>
          </a:prstGeom>
        </p:spPr>
      </p:pic>
      <p:sp>
        <p:nvSpPr>
          <p:cNvPr id="24" name="TextBox 23"/>
          <p:cNvSpPr txBox="1"/>
          <p:nvPr/>
        </p:nvSpPr>
        <p:spPr>
          <a:xfrm>
            <a:off x="9308592" y="3072384"/>
            <a:ext cx="1901951" cy="346049"/>
          </a:xfrm>
          <a:prstGeom prst="rect">
            <a:avLst/>
          </a:prstGeom>
          <a:noFill/>
        </p:spPr>
        <p:txBody>
          <a:bodyPr wrap="square" anchor="ctr">
            <a:noAutofit/>
          </a:bodyPr>
          <a:lstStyle/>
          <a:p>
            <a:pPr algn="l"/>
            <a:r>
              <a:rPr sz="1600" b="1" i="0">
                <a:solidFill>
                  <a:srgbClr val="8F0072"/>
                </a:solidFill>
                <a:latin typeface="Amazon Ember Display"/>
              </a:rPr>
              <a:t>Auto Scaling</a:t>
            </a:r>
          </a:p>
        </p:txBody>
      </p:sp>
      <p:sp>
        <p:nvSpPr>
          <p:cNvPr id="25" name="TextBox 24"/>
          <p:cNvSpPr txBox="1"/>
          <p:nvPr/>
        </p:nvSpPr>
        <p:spPr>
          <a:xfrm>
            <a:off x="9308592" y="3392424"/>
            <a:ext cx="1901951" cy="346049"/>
          </a:xfrm>
          <a:prstGeom prst="rect">
            <a:avLst/>
          </a:prstGeom>
          <a:noFill/>
        </p:spPr>
        <p:txBody>
          <a:bodyPr wrap="square" anchor="ctr">
            <a:noAutofit/>
          </a:bodyPr>
          <a:lstStyle/>
          <a:p>
            <a:pPr algn="l"/>
            <a:r>
              <a:rPr sz="1600" b="0" i="0">
                <a:solidFill>
                  <a:srgbClr val="232B37"/>
                </a:solidFill>
                <a:latin typeface="Amazon Ember Display"/>
              </a:rPr>
              <a:t>add capacity</a:t>
            </a:r>
          </a:p>
        </p:txBody>
      </p:sp>
      <p:sp>
        <p:nvSpPr>
          <p:cNvPr id="26" name="Freeform 25"/>
          <p:cNvSpPr/>
          <p:nvPr/>
        </p:nvSpPr>
        <p:spPr>
          <a:xfrm>
            <a:off x="8046720" y="3383280"/>
            <a:ext cx="448056" cy="0"/>
          </a:xfrm>
          <a:custGeom>
            <a:avLst/>
            <a:gdLst/>
            <a:ahLst/>
            <a:cxnLst/>
            <a:rect l="l" t="t" r="r" b="b"/>
            <a:pathLst>
              <a:path w="448056">
                <a:moveTo>
                  <a:pt x="0" y="0"/>
                </a:moveTo>
                <a:lnTo>
                  <a:pt x="448056"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8321040" y="32644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 y="4892040"/>
            <a:ext cx="10972800" cy="346049"/>
          </a:xfrm>
          <a:prstGeom prst="rect">
            <a:avLst/>
          </a:prstGeom>
          <a:noFill/>
        </p:spPr>
        <p:txBody>
          <a:bodyPr wrap="square" anchor="t">
            <a:noAutofit/>
          </a:bodyPr>
          <a:lstStyle/>
          <a:p>
            <a:pPr algn="ctr"/>
            <a:r>
              <a:rPr sz="1600" b="0" i="0">
                <a:solidFill>
                  <a:srgbClr val="5A6B7B"/>
                </a:solidFill>
                <a:latin typeface="Amazon Ember Display"/>
              </a:rPr>
              <a:t>the alarm watches continuously and acts the moment the threshold is breached</a:t>
            </a:r>
          </a:p>
        </p:txBody>
      </p:sp>
      <p:sp>
        <p:nvSpPr>
          <p:cNvPr id="29" name="TextBox 28">
            <a:hlinkClick r:id="rId6"/>
          </p:cNvPr>
          <p:cNvSpPr txBox="1"/>
          <p:nvPr/>
        </p:nvSpPr>
        <p:spPr>
          <a:xfrm>
            <a:off x="612648" y="5943600"/>
            <a:ext cx="56521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Using Amazon CloudWatch alarms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spend changed in one click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Optimizing Costs and Promoting Innovation…</a:t>
            </a:r>
          </a:p>
        </p:txBody>
      </p:sp>
      <p:sp>
        <p:nvSpPr>
          <p:cNvPr id="5" name="Rounded Rectangle 4"/>
          <p:cNvSpPr/>
          <p:nvPr/>
        </p:nvSpPr>
        <p:spPr>
          <a:xfrm>
            <a:off x="731520" y="2176272"/>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176272"/>
            <a:ext cx="5486400" cy="859536"/>
          </a:xfrm>
          <a:prstGeom prst="rect">
            <a:avLst/>
          </a:prstGeom>
          <a:noFill/>
        </p:spPr>
        <p:txBody>
          <a:bodyPr wrap="square" anchor="ctr">
            <a:noAutofit/>
          </a:bodyPr>
          <a:lstStyle/>
          <a:p>
            <a:pPr algn="l"/>
            <a:r>
              <a:rPr sz="1900" b="0" i="0">
                <a:solidFill>
                  <a:srgbClr val="232B37"/>
                </a:solidFill>
                <a:latin typeface="Amazon Ember Display"/>
              </a:rPr>
              <a:t>Costs could change in one click</a:t>
            </a:r>
          </a:p>
        </p:txBody>
      </p:sp>
      <p:sp>
        <p:nvSpPr>
          <p:cNvPr id="7" name="Freeform 6"/>
          <p:cNvSpPr/>
          <p:nvPr/>
        </p:nvSpPr>
        <p:spPr>
          <a:xfrm>
            <a:off x="6931151" y="2606039"/>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487168"/>
            <a:ext cx="192024" cy="237743"/>
          </a:xfrm>
          <a:custGeom>
            <a:avLst/>
            <a:gdLst/>
            <a:ahLst/>
            <a:cxnLst/>
            <a:rect l="l" t="t" r="r" b="b"/>
            <a:pathLst>
              <a:path w="192024" h="237743">
                <a:moveTo>
                  <a:pt x="0" y="0"/>
                </a:moveTo>
                <a:lnTo>
                  <a:pt x="192024" y="118871"/>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2176272"/>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212251"/>
            <a:ext cx="3584448" cy="409702"/>
          </a:xfrm>
          <a:prstGeom prst="rect">
            <a:avLst/>
          </a:prstGeom>
          <a:noFill/>
        </p:spPr>
        <p:txBody>
          <a:bodyPr wrap="square" anchor="t">
            <a:noAutofit/>
          </a:bodyPr>
          <a:lstStyle/>
          <a:p>
            <a:pPr algn="l"/>
            <a:r>
              <a:rPr sz="2000" b="1" i="0">
                <a:solidFill>
                  <a:srgbClr val="8F0072"/>
                </a:solidFill>
                <a:latin typeface="Amazon Ember Display"/>
              </a:rPr>
              <a:t>Watch it in near real time</a:t>
            </a:r>
          </a:p>
        </p:txBody>
      </p:sp>
      <p:sp>
        <p:nvSpPr>
          <p:cNvPr id="11" name="TextBox 10"/>
          <p:cNvSpPr txBox="1"/>
          <p:nvPr/>
        </p:nvSpPr>
        <p:spPr>
          <a:xfrm>
            <a:off x="7781544" y="2621953"/>
            <a:ext cx="3584448" cy="377875"/>
          </a:xfrm>
          <a:prstGeom prst="rect">
            <a:avLst/>
          </a:prstGeom>
          <a:noFill/>
        </p:spPr>
        <p:txBody>
          <a:bodyPr wrap="square" anchor="t">
            <a:noAutofit/>
          </a:bodyPr>
          <a:lstStyle/>
          <a:p>
            <a:pPr algn="l"/>
            <a:r>
              <a:rPr sz="1800" b="0" i="0">
                <a:solidFill>
                  <a:srgbClr val="232B37"/>
                </a:solidFill>
                <a:latin typeface="Amazon Ember Display"/>
              </a:rPr>
              <a:t>Amazon CloudWatch metrics</a:t>
            </a:r>
          </a:p>
        </p:txBody>
      </p:sp>
      <p:sp>
        <p:nvSpPr>
          <p:cNvPr id="12" name="Rounded Rectangle 11"/>
          <p:cNvSpPr/>
          <p:nvPr/>
        </p:nvSpPr>
        <p:spPr>
          <a:xfrm>
            <a:off x="731520" y="3145536"/>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145536"/>
            <a:ext cx="5486400" cy="859536"/>
          </a:xfrm>
          <a:prstGeom prst="rect">
            <a:avLst/>
          </a:prstGeom>
          <a:noFill/>
        </p:spPr>
        <p:txBody>
          <a:bodyPr wrap="square" anchor="ctr">
            <a:noAutofit/>
          </a:bodyPr>
          <a:lstStyle/>
          <a:p>
            <a:pPr algn="l"/>
            <a:r>
              <a:rPr sz="1900" b="0" i="0">
                <a:solidFill>
                  <a:srgbClr val="232B37"/>
                </a:solidFill>
                <a:latin typeface="Amazon Ember Display"/>
              </a:rPr>
              <a:t>Waste hid across the stack</a:t>
            </a:r>
          </a:p>
        </p:txBody>
      </p:sp>
      <p:sp>
        <p:nvSpPr>
          <p:cNvPr id="14" name="Freeform 13"/>
          <p:cNvSpPr/>
          <p:nvPr/>
        </p:nvSpPr>
        <p:spPr>
          <a:xfrm>
            <a:off x="6931151"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3145536"/>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3181515"/>
            <a:ext cx="3584448" cy="409702"/>
          </a:xfrm>
          <a:prstGeom prst="rect">
            <a:avLst/>
          </a:prstGeom>
          <a:noFill/>
        </p:spPr>
        <p:txBody>
          <a:bodyPr wrap="square" anchor="t">
            <a:noAutofit/>
          </a:bodyPr>
          <a:lstStyle/>
          <a:p>
            <a:pPr algn="l"/>
            <a:r>
              <a:rPr sz="2000" b="1" i="0">
                <a:solidFill>
                  <a:srgbClr val="8F0072"/>
                </a:solidFill>
                <a:latin typeface="Amazon Ember Display"/>
              </a:rPr>
              <a:t>A daily metrics dashboard</a:t>
            </a:r>
          </a:p>
        </p:txBody>
      </p:sp>
      <p:sp>
        <p:nvSpPr>
          <p:cNvPr id="18" name="TextBox 17"/>
          <p:cNvSpPr txBox="1"/>
          <p:nvPr/>
        </p:nvSpPr>
        <p:spPr>
          <a:xfrm>
            <a:off x="7781544" y="3591217"/>
            <a:ext cx="3584448" cy="377875"/>
          </a:xfrm>
          <a:prstGeom prst="rect">
            <a:avLst/>
          </a:prstGeom>
          <a:noFill/>
        </p:spPr>
        <p:txBody>
          <a:bodyPr wrap="square" anchor="t">
            <a:noAutofit/>
          </a:bodyPr>
          <a:lstStyle/>
          <a:p>
            <a:pPr algn="l"/>
            <a:r>
              <a:rPr sz="1800" b="0" i="0">
                <a:solidFill>
                  <a:srgbClr val="232B37"/>
                </a:solidFill>
                <a:latin typeface="Amazon Ember Display"/>
              </a:rPr>
              <a:t>rightsize from real usage</a:t>
            </a:r>
          </a:p>
        </p:txBody>
      </p:sp>
      <p:sp>
        <p:nvSpPr>
          <p:cNvPr id="19" name="Rounded Rectangle 18"/>
          <p:cNvSpPr/>
          <p:nvPr/>
        </p:nvSpPr>
        <p:spPr>
          <a:xfrm>
            <a:off x="731520" y="4114800"/>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114800"/>
            <a:ext cx="5486400" cy="859536"/>
          </a:xfrm>
          <a:prstGeom prst="rect">
            <a:avLst/>
          </a:prstGeom>
          <a:noFill/>
        </p:spPr>
        <p:txBody>
          <a:bodyPr wrap="square" anchor="ctr">
            <a:noAutofit/>
          </a:bodyPr>
          <a:lstStyle/>
          <a:p>
            <a:pPr algn="l"/>
            <a:r>
              <a:rPr sz="1900" b="0" i="0">
                <a:solidFill>
                  <a:srgbClr val="232B37"/>
                </a:solidFill>
                <a:latin typeface="Amazon Ember Display"/>
              </a:rPr>
              <a:t>Anomalies had to reach a team</a:t>
            </a:r>
          </a:p>
        </p:txBody>
      </p:sp>
      <p:sp>
        <p:nvSpPr>
          <p:cNvPr id="21" name="Freeform 20"/>
          <p:cNvSpPr/>
          <p:nvPr/>
        </p:nvSpPr>
        <p:spPr>
          <a:xfrm>
            <a:off x="6931151" y="4544568"/>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442569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4114800"/>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4150779"/>
            <a:ext cx="3584448" cy="409702"/>
          </a:xfrm>
          <a:prstGeom prst="rect">
            <a:avLst/>
          </a:prstGeom>
          <a:noFill/>
        </p:spPr>
        <p:txBody>
          <a:bodyPr wrap="square" anchor="t">
            <a:noAutofit/>
          </a:bodyPr>
          <a:lstStyle/>
          <a:p>
            <a:pPr algn="l"/>
            <a:r>
              <a:rPr sz="2000" b="1" i="0">
                <a:solidFill>
                  <a:srgbClr val="8F0072"/>
                </a:solidFill>
                <a:latin typeface="Amazon Ember Display"/>
              </a:rPr>
              <a:t>Alarm on the metric</a:t>
            </a:r>
          </a:p>
        </p:txBody>
      </p:sp>
      <p:sp>
        <p:nvSpPr>
          <p:cNvPr id="25" name="TextBox 24"/>
          <p:cNvSpPr txBox="1"/>
          <p:nvPr/>
        </p:nvSpPr>
        <p:spPr>
          <a:xfrm>
            <a:off x="7781544" y="4560481"/>
            <a:ext cx="3584448" cy="377875"/>
          </a:xfrm>
          <a:prstGeom prst="rect">
            <a:avLst/>
          </a:prstGeom>
          <a:noFill/>
        </p:spPr>
        <p:txBody>
          <a:bodyPr wrap="square" anchor="t">
            <a:noAutofit/>
          </a:bodyPr>
          <a:lstStyle/>
          <a:p>
            <a:pPr algn="l"/>
            <a:r>
              <a:rPr sz="1800" b="0" i="0">
                <a:solidFill>
                  <a:srgbClr val="232B37"/>
                </a:solidFill>
                <a:latin typeface="Amazon Ember Display"/>
              </a:rPr>
              <a:t>alert routes to the owner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Apply what you've learned</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PRACTICE QUESTIONS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One event, three independent actions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an event-driven application. When a new user registers, the application must send a welcome email, create a record in a CRM system, and provision a default workspace. Each action is handled by a separate AWS Lambda function. The three functions must all receive the registration event but must process independently. A failure in one function must not affect the others.</a:t>
            </a:r>
          </a:p>
          <a:p>
            <a:r>
              <a:rPr sz="1600" b="1">
                <a:solidFill>
                  <a:srgbClr val="232B37"/>
                </a:solidFill>
                <a:latin typeface="Amazon Ember Display"/>
              </a:rPr>
              <a:t>The developer must implement a solution that delivers the event to all three functions.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Amazon SNS topic. Subscribe each Lambda function to the topic. Publish the registration event to the topic.</a:t>
            </a:r>
          </a:p>
          <a:p>
            <a:pPr marL="342900" indent="-342900">
              <a:spcBef>
                <a:spcPts val="600"/>
              </a:spcBef>
            </a:pPr>
            <a:r>
              <a:rPr sz="1600" b="0">
                <a:solidFill>
                  <a:srgbClr val="232B37"/>
                </a:solidFill>
                <a:latin typeface="Amazon Ember Display"/>
              </a:rPr>
              <a:t>B.  Create an Amazon SQS queue. Configure each Lambda function to poll the same queue for registration events.</a:t>
            </a:r>
          </a:p>
          <a:p>
            <a:pPr marL="342900" indent="-342900">
              <a:spcBef>
                <a:spcPts val="600"/>
              </a:spcBef>
            </a:pPr>
            <a:r>
              <a:rPr sz="1600" b="0">
                <a:solidFill>
                  <a:srgbClr val="232B37"/>
                </a:solidFill>
                <a:latin typeface="Amazon Ember Display"/>
              </a:rPr>
              <a:t>C.  Create an AWS Step Functions state machine with three parallel branches. Configure each branch to invoke one of the Lambda functions.</a:t>
            </a:r>
          </a:p>
          <a:p>
            <a:pPr marL="342900" indent="-342900">
              <a:spcBef>
                <a:spcPts val="600"/>
              </a:spcBef>
            </a:pPr>
            <a:r>
              <a:rPr sz="1600" b="0">
                <a:solidFill>
                  <a:srgbClr val="232B37"/>
                </a:solidFill>
                <a:latin typeface="Amazon Ember Display"/>
              </a:rPr>
              <a:t>D.  Create a single Lambda function that calls the three processing functions sequentially using the AWS SDK Invoke API.</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One event, three independent actions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an event-driven application. When a new user registers, the application must send a welcome email, create a record in a CRM system, and provision a default workspace. Each action is handled by a separate AWS Lambda function. The three functions must all receive the registration event but must process independently. A failure in one function must not affect the others.</a:t>
            </a:r>
          </a:p>
          <a:p>
            <a:r>
              <a:rPr sz="1600" b="1">
                <a:solidFill>
                  <a:srgbClr val="232B37"/>
                </a:solidFill>
                <a:latin typeface="Amazon Ember Display"/>
              </a:rPr>
              <a:t>The developer must implement a solution that delivers the event to all three functions.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Amazon SNS topic. Subscribe each Lambda function to the topic. Publish the registration event to the topic.</a:t>
            </a:r>
          </a:p>
          <a:p>
            <a:pPr marL="342900" indent="-342900">
              <a:spcBef>
                <a:spcPts val="600"/>
              </a:spcBef>
            </a:pPr>
            <a:r>
              <a:rPr sz="1600" b="0">
                <a:solidFill>
                  <a:srgbClr val="232B37"/>
                </a:solidFill>
                <a:latin typeface="Amazon Ember Display"/>
              </a:rPr>
              <a:t>B.  Create an Amazon SQS queue. Configure each Lambda function to poll the same queue for registration events.</a:t>
            </a:r>
          </a:p>
          <a:p>
            <a:pPr marL="342900" indent="-342900">
              <a:spcBef>
                <a:spcPts val="600"/>
              </a:spcBef>
            </a:pPr>
            <a:r>
              <a:rPr sz="1600" b="0">
                <a:solidFill>
                  <a:srgbClr val="232B37"/>
                </a:solidFill>
                <a:latin typeface="Amazon Ember Display"/>
              </a:rPr>
              <a:t>C.  Create an AWS Step Functions state machine with three parallel branches. Configure each branch to invoke one of the Lambda functions.</a:t>
            </a:r>
          </a:p>
          <a:p>
            <a:pPr marL="342900" indent="-342900">
              <a:spcBef>
                <a:spcPts val="600"/>
              </a:spcBef>
            </a:pPr>
            <a:r>
              <a:rPr sz="1600" b="0">
                <a:solidFill>
                  <a:srgbClr val="232B37"/>
                </a:solidFill>
                <a:latin typeface="Amazon Ember Display"/>
              </a:rPr>
              <a:t>D.  Create a single Lambda function that calls the three processing functions sequentially using the AWS SDK Invoke API.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One event, three independent actions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an event-driven application. When a new user registers, the application must send a welcome email, create a record in a CRM system, and provision a default workspace. Each action is handled by a separate AWS Lambda function. The three functions must all receive the registration event but must process independently. A failure in one function must not affect the others.</a:t>
            </a:r>
          </a:p>
          <a:p>
            <a:r>
              <a:rPr sz="1600" b="1">
                <a:solidFill>
                  <a:srgbClr val="232B37"/>
                </a:solidFill>
                <a:latin typeface="Amazon Ember Display"/>
              </a:rPr>
              <a:t>The developer must implement a solution that delivers the event to all three functions.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an Amazon SNS topic. Subscribe each Lambda function to the topic. Publish the registration event to the topic.  [CORRECT]</a:t>
            </a:r>
          </a:p>
          <a:p>
            <a:pPr marL="342900" indent="-342900">
              <a:spcBef>
                <a:spcPts val="600"/>
              </a:spcBef>
            </a:pPr>
            <a:r>
              <a:rPr sz="1600" b="0">
                <a:solidFill>
                  <a:srgbClr val="232B37"/>
                </a:solidFill>
                <a:latin typeface="Amazon Ember Display"/>
              </a:rPr>
              <a:t>B.  Create an Amazon SQS queue. Configure each Lambda function to poll the same queue for registration events.</a:t>
            </a:r>
          </a:p>
          <a:p>
            <a:pPr marL="342900" indent="-342900">
              <a:spcBef>
                <a:spcPts val="600"/>
              </a:spcBef>
            </a:pPr>
            <a:r>
              <a:rPr sz="1600" b="0">
                <a:solidFill>
                  <a:srgbClr val="232B37"/>
                </a:solidFill>
                <a:latin typeface="Amazon Ember Display"/>
              </a:rPr>
              <a:t>C.  Create an AWS Step Functions state machine with three parallel branches. Configure each branch to invoke one of the Lambda functions.</a:t>
            </a:r>
          </a:p>
          <a:p>
            <a:pPr marL="342900" indent="-342900">
              <a:spcBef>
                <a:spcPts val="600"/>
              </a:spcBef>
            </a:pPr>
            <a:r>
              <a:rPr sz="1600" b="0">
                <a:solidFill>
                  <a:srgbClr val="232B37"/>
                </a:solidFill>
                <a:latin typeface="Amazon Ember Display"/>
              </a:rPr>
              <a:t>D.  Create a single Lambda function that calls the three processing functions sequentially using the AWS SDK Invoke API.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One event, three independent actions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Simple Notification Service</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SNS delivers every event to all subscribers, independently</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One queue hands each message to just one consumer</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Step Functions couples the three into one orchestration</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Sequential SDK calls stop at the first failure</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“must all receive the registration event but must process independently”</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Deliver one event to many independent consumers points to an SNS topic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Cache a catalog that updates hourly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developer is implementing caching for a product catalog API. The application reads product data from an Amazon RDS database. Product prices update every hour through a batch process. Between updates, the data remains static. The developer wants to minimize database load while ensuring users always see the most recent prices after a batch update completes.</a:t>
            </a:r>
          </a:p>
          <a:p>
            <a:r>
              <a:rPr sz="1600" b="1">
                <a:solidFill>
                  <a:srgbClr val="232B37"/>
                </a:solidFill>
                <a:latin typeface="Amazon Ember Display"/>
              </a:rPr>
              <a:t>The developer must select a caching strategy for Amazon ElastiCache.</a:t>
            </a:r>
          </a:p>
          <a:p>
            <a:r>
              <a:rPr sz="1600" b="1">
                <a:solidFill>
                  <a:srgbClr val="232B37"/>
                </a:solidFill>
                <a:latin typeface="Amazon Ember Display"/>
              </a:rPr>
              <a:t>Which caching strategy should the developer implement?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Implement a write-through strategy that updates the cache whenever the application writes to the database.</a:t>
            </a:r>
          </a:p>
          <a:p>
            <a:pPr marL="342900" indent="-342900">
              <a:spcBef>
                <a:spcPts val="600"/>
              </a:spcBef>
            </a:pPr>
            <a:r>
              <a:rPr sz="1600" b="0">
                <a:solidFill>
                  <a:srgbClr val="232B37"/>
                </a:solidFill>
                <a:latin typeface="Amazon Ember Display"/>
              </a:rPr>
              <a:t>B.  Implement a lazy loading strategy with a TTL set to 1 hour. Invalidate the cache keys after the batch process completes.</a:t>
            </a:r>
          </a:p>
          <a:p>
            <a:pPr marL="342900" indent="-342900">
              <a:spcBef>
                <a:spcPts val="600"/>
              </a:spcBef>
            </a:pPr>
            <a:r>
              <a:rPr sz="1600" b="0">
                <a:solidFill>
                  <a:srgbClr val="232B37"/>
                </a:solidFill>
                <a:latin typeface="Amazon Ember Display"/>
              </a:rPr>
              <a:t>C.  Implement a lazy loading strategy without TTL. Rely on the cache to expire items using the default eviction policy.</a:t>
            </a:r>
          </a:p>
          <a:p>
            <a:pPr marL="342900" indent="-342900">
              <a:spcBef>
                <a:spcPts val="600"/>
              </a:spcBef>
            </a:pPr>
            <a:r>
              <a:rPr sz="1600" b="0">
                <a:solidFill>
                  <a:srgbClr val="232B37"/>
                </a:solidFill>
                <a:latin typeface="Amazon Ember Display"/>
              </a:rPr>
              <a:t>D.  Implement a write-behind strategy that queues database writes and updates the cache first.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Cache a catalog that updates hourly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developer is implementing caching for a product catalog API. The application reads product data from an Amazon RDS database. Product prices update every hour through a batch process. Between updates, the data remains static. The developer wants to minimize database load while ensuring users always see the most recent prices after a batch update completes.</a:t>
            </a:r>
          </a:p>
          <a:p>
            <a:r>
              <a:rPr sz="1600" b="1">
                <a:solidFill>
                  <a:srgbClr val="232B37"/>
                </a:solidFill>
                <a:latin typeface="Amazon Ember Display"/>
              </a:rPr>
              <a:t>The developer must select a caching strategy for Amazon ElastiCache.</a:t>
            </a:r>
          </a:p>
          <a:p>
            <a:r>
              <a:rPr sz="1600" b="1">
                <a:solidFill>
                  <a:srgbClr val="232B37"/>
                </a:solidFill>
                <a:latin typeface="Amazon Ember Display"/>
              </a:rPr>
              <a:t>Which caching strategy should the developer implement?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Implement a write-through strategy that updates the cache whenever the application writes to the database.</a:t>
            </a:r>
          </a:p>
          <a:p>
            <a:pPr marL="342900" indent="-342900">
              <a:spcBef>
                <a:spcPts val="600"/>
              </a:spcBef>
            </a:pPr>
            <a:r>
              <a:rPr sz="1600" b="0">
                <a:solidFill>
                  <a:srgbClr val="232B37"/>
                </a:solidFill>
                <a:latin typeface="Amazon Ember Display"/>
              </a:rPr>
              <a:t>B.  Implement a lazy loading strategy with a TTL set to 1 hour. Invalidate the cache keys after the batch process completes.</a:t>
            </a:r>
          </a:p>
          <a:p>
            <a:pPr marL="342900" indent="-342900">
              <a:spcBef>
                <a:spcPts val="600"/>
              </a:spcBef>
            </a:pPr>
            <a:r>
              <a:rPr sz="1600" b="0">
                <a:solidFill>
                  <a:srgbClr val="232B37"/>
                </a:solidFill>
                <a:latin typeface="Amazon Ember Display"/>
              </a:rPr>
              <a:t>C.  Implement a lazy loading strategy without TTL. Rely on the cache to expire items using the default eviction policy.</a:t>
            </a:r>
          </a:p>
          <a:p>
            <a:pPr marL="342900" indent="-342900">
              <a:spcBef>
                <a:spcPts val="600"/>
              </a:spcBef>
            </a:pPr>
            <a:r>
              <a:rPr sz="1600" b="0">
                <a:solidFill>
                  <a:srgbClr val="232B37"/>
                </a:solidFill>
                <a:latin typeface="Amazon Ember Display"/>
              </a:rPr>
              <a:t>D.  Implement a write-behind strategy that queues database writes and updates the cache first.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Cache a catalog that updates hourly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developer is implementing caching for a product catalog API. The application reads product data from an Amazon RDS database. Product prices update every hour through a batch process. Between updates, the data remains static. The developer wants to minimize database load while ensuring users always see the most recent prices after a batch update completes.</a:t>
            </a:r>
          </a:p>
          <a:p>
            <a:r>
              <a:rPr sz="1600" b="1">
                <a:solidFill>
                  <a:srgbClr val="232B37"/>
                </a:solidFill>
                <a:latin typeface="Amazon Ember Display"/>
              </a:rPr>
              <a:t>The developer must select a caching strategy for Amazon ElastiCache.</a:t>
            </a:r>
          </a:p>
          <a:p>
            <a:r>
              <a:rPr sz="1600" b="1">
                <a:solidFill>
                  <a:srgbClr val="232B37"/>
                </a:solidFill>
                <a:latin typeface="Amazon Ember Display"/>
              </a:rPr>
              <a:t>Which caching strategy should the developer implement?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Implement a write-through strategy that updates the cache whenever the application writes to the database.</a:t>
            </a:r>
          </a:p>
          <a:p>
            <a:pPr marL="342900" indent="-342900">
              <a:spcBef>
                <a:spcPts val="600"/>
              </a:spcBef>
            </a:pPr>
            <a:r>
              <a:rPr sz="1600" b="1">
                <a:solidFill>
                  <a:srgbClr val="2E7D32"/>
                </a:solidFill>
                <a:latin typeface="Amazon Ember Display"/>
              </a:rPr>
              <a:t>B.  Implement a lazy loading strategy with a TTL set to 1 hour. Invalidate the cache keys after the batch process completes.  [CORRECT]</a:t>
            </a:r>
          </a:p>
          <a:p>
            <a:pPr marL="342900" indent="-342900">
              <a:spcBef>
                <a:spcPts val="600"/>
              </a:spcBef>
            </a:pPr>
            <a:r>
              <a:rPr sz="1600" b="0">
                <a:solidFill>
                  <a:srgbClr val="232B37"/>
                </a:solidFill>
                <a:latin typeface="Amazon Ember Display"/>
              </a:rPr>
              <a:t>C.  Implement a lazy loading strategy without TTL. Rely on the cache to expire items using the default eviction policy.</a:t>
            </a:r>
          </a:p>
          <a:p>
            <a:pPr marL="342900" indent="-342900">
              <a:spcBef>
                <a:spcPts val="600"/>
              </a:spcBef>
            </a:pPr>
            <a:r>
              <a:rPr sz="1600" b="0">
                <a:solidFill>
                  <a:srgbClr val="232B37"/>
                </a:solidFill>
                <a:latin typeface="Amazon Ember Display"/>
              </a:rPr>
              <a:t>D.  Implement a write-behind strategy that queues database writes and updates the cache first.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Cache a catalog that updates hourly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Caching patterns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Lazy loading with a one-hour TTL bounds staleness</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Write-through never sees the batch's out-of-band update</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No TTL leaves stale prices until random eviction</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Write-behind suits write-heavy paths, not a read catalog</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“users always see the most recent prices after a batch update completes”</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Read-heavy with bounded staleness points to lazy loading plus a TTL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Sign in, then reach S3 as the user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is developing a mobile application that requires user authentication. Users must be able to sign in with their email and password. After authentication, the application must access an Amazon S3 bucket on behalf of the user. The company wants to manage its own user directory.</a:t>
            </a:r>
          </a:p>
          <a:p>
            <a:r>
              <a:rPr sz="1600" b="1">
                <a:solidFill>
                  <a:srgbClr val="232B37"/>
                </a:solidFill>
                <a:latin typeface="Amazon Ember Display"/>
              </a:rPr>
              <a:t>The developer must implement authentication and authorization with the LEAST operational overhead.</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Amazon Cognito user pool for authentication. Create an identity pool that uses the user pool as an authentication provider. Configure the identity pool to provide temporary AWS credentials with an IAM role that grants S3 access.</a:t>
            </a:r>
          </a:p>
          <a:p>
            <a:pPr marL="342900" indent="-342900">
              <a:spcBef>
                <a:spcPts val="600"/>
              </a:spcBef>
            </a:pPr>
            <a:r>
              <a:rPr sz="1600" b="0">
                <a:solidFill>
                  <a:srgbClr val="232B37"/>
                </a:solidFill>
                <a:latin typeface="Amazon Ember Display"/>
              </a:rPr>
              <a:t>B.  Deploy an OpenID Connect provider on Amazon EC2. Create a Cognito identity pool that federates with the provider. Configure IAM roles for S3 access.</a:t>
            </a:r>
          </a:p>
          <a:p>
            <a:pPr marL="342900" indent="-342900">
              <a:spcBef>
                <a:spcPts val="600"/>
              </a:spcBef>
            </a:pPr>
            <a:r>
              <a:rPr sz="1600" b="0">
                <a:solidFill>
                  <a:srgbClr val="232B37"/>
                </a:solidFill>
                <a:latin typeface="Amazon Ember Display"/>
              </a:rPr>
              <a:t>C.  Create IAM users for each application user. Generate access keys for each user. Embed the access keys in the mobile application for S3 access.</a:t>
            </a:r>
          </a:p>
          <a:p>
            <a:pPr marL="342900" indent="-342900">
              <a:spcBef>
                <a:spcPts val="600"/>
              </a:spcBef>
            </a:pPr>
            <a:r>
              <a:rPr sz="1600" b="0">
                <a:solidFill>
                  <a:srgbClr val="232B37"/>
                </a:solidFill>
                <a:latin typeface="Amazon Ember Display"/>
              </a:rPr>
              <a:t>D.  Create a Lambda function that validates user credentials against a DynamoDB table. Issue custom JWT tokens. Configure S3 bucket policies to validate the JWT on each request.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Sign in, then reach S3 as the user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is developing a mobile application that requires user authentication. Users must be able to sign in with their email and password. After authentication, the application must access an Amazon S3 bucket on behalf of the user. The company wants to manage its own user directory.</a:t>
            </a:r>
          </a:p>
          <a:p>
            <a:r>
              <a:rPr sz="1600" b="1">
                <a:solidFill>
                  <a:srgbClr val="232B37"/>
                </a:solidFill>
                <a:latin typeface="Amazon Ember Display"/>
              </a:rPr>
              <a:t>The developer must implement authentication and authorization with the LEAST operational overhead.</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Amazon Cognito user pool for authentication. Create an identity pool that uses the user pool as an authentication provider. Configure the identity pool to provide temporary AWS credentials with an IAM role that grants S3 access.</a:t>
            </a:r>
          </a:p>
          <a:p>
            <a:pPr marL="342900" indent="-342900">
              <a:spcBef>
                <a:spcPts val="600"/>
              </a:spcBef>
            </a:pPr>
            <a:r>
              <a:rPr sz="1600" b="0">
                <a:solidFill>
                  <a:srgbClr val="232B37"/>
                </a:solidFill>
                <a:latin typeface="Amazon Ember Display"/>
              </a:rPr>
              <a:t>B.  Deploy an OpenID Connect provider on Amazon EC2. Create a Cognito identity pool that federates with the provider. Configure IAM roles for S3 access.</a:t>
            </a:r>
          </a:p>
          <a:p>
            <a:pPr marL="342900" indent="-342900">
              <a:spcBef>
                <a:spcPts val="600"/>
              </a:spcBef>
            </a:pPr>
            <a:r>
              <a:rPr sz="1600" b="0">
                <a:solidFill>
                  <a:srgbClr val="232B37"/>
                </a:solidFill>
                <a:latin typeface="Amazon Ember Display"/>
              </a:rPr>
              <a:t>C.  Create IAM users for each application user. Generate access keys for each user. Embed the access keys in the mobile application for S3 access.</a:t>
            </a:r>
          </a:p>
          <a:p>
            <a:pPr marL="342900" indent="-342900">
              <a:spcBef>
                <a:spcPts val="600"/>
              </a:spcBef>
            </a:pPr>
            <a:r>
              <a:rPr sz="1600" b="0">
                <a:solidFill>
                  <a:srgbClr val="232B37"/>
                </a:solidFill>
                <a:latin typeface="Amazon Ember Display"/>
              </a:rPr>
              <a:t>D.  Create a Lambda function that validates user credentials against a DynamoDB table. Issue custom JWT tokens. Configure S3 bucket policies to validate the JWT on each request.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Sign in, then reach S3 as the user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is developing a mobile application that requires user authentication. Users must be able to sign in with their email and password. After authentication, the application must access an Amazon S3 bucket on behalf of the user. The company wants to manage its own user directory.</a:t>
            </a:r>
          </a:p>
          <a:p>
            <a:r>
              <a:rPr sz="1600" b="1">
                <a:solidFill>
                  <a:srgbClr val="232B37"/>
                </a:solidFill>
                <a:latin typeface="Amazon Ember Display"/>
              </a:rPr>
              <a:t>The developer must implement authentication and authorization with the LEAST operational overhead.</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an Amazon Cognito user pool for authentication. Create an identity pool that uses the user pool as an authentication provider. Configure the identity pool to provide temporary AWS credentials with an IAM role that grants S3 access.  [CORRECT]</a:t>
            </a:r>
          </a:p>
          <a:p>
            <a:pPr marL="342900" indent="-342900">
              <a:spcBef>
                <a:spcPts val="600"/>
              </a:spcBef>
            </a:pPr>
            <a:r>
              <a:rPr sz="1600" b="0">
                <a:solidFill>
                  <a:srgbClr val="232B37"/>
                </a:solidFill>
                <a:latin typeface="Amazon Ember Display"/>
              </a:rPr>
              <a:t>B.  Deploy an OpenID Connect provider on Amazon EC2. Create a Cognito identity pool that federates with the provider. Configure IAM roles for S3 access.</a:t>
            </a:r>
          </a:p>
          <a:p>
            <a:pPr marL="342900" indent="-342900">
              <a:spcBef>
                <a:spcPts val="600"/>
              </a:spcBef>
            </a:pPr>
            <a:r>
              <a:rPr sz="1600" b="0">
                <a:solidFill>
                  <a:srgbClr val="232B37"/>
                </a:solidFill>
                <a:latin typeface="Amazon Ember Display"/>
              </a:rPr>
              <a:t>C.  Create IAM users for each application user. Generate access keys for each user. Embed the access keys in the mobile application for S3 access.</a:t>
            </a:r>
          </a:p>
          <a:p>
            <a:pPr marL="342900" indent="-342900">
              <a:spcBef>
                <a:spcPts val="600"/>
              </a:spcBef>
            </a:pPr>
            <a:r>
              <a:rPr sz="1600" b="0">
                <a:solidFill>
                  <a:srgbClr val="232B37"/>
                </a:solidFill>
                <a:latin typeface="Amazon Ember Display"/>
              </a:rPr>
              <a:t>D.  Create a Lambda function that validates user credentials against a DynamoDB table. Issue custom JWT tokens. Configure S3 bucket policies to validate the JWT on each request.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Sign in, then reach S3 as the user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5606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Cognito identity pools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 user pool signs users in, an identity pool grants S3</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Running your own OIDC server on EC2 adds overhead</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Embedding long-lived IAM keys in an app is unsafe</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S3 bucket policies cannot validate a custom JWT</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“manage its own user directory”</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Own directory plus temporary AWS credentials points to Cognito pools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Alarm when orders run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developer has deployed an application that uses Amazon CloudWatch for monitoring. The application emits a custom metric named OrderProcessingTime for each order. The developer must create a CloudWatch alarm that triggers when the average order processing time exceeds 5 seconds over a 5-minute period. When the alarm triggers, it must send a notification to the operations team through an existing Amazon SNS topic.</a:t>
            </a:r>
          </a:p>
          <a:p>
            <a:r>
              <a:rPr sz="1600" b="1">
                <a:solidFill>
                  <a:srgbClr val="232B37"/>
                </a:solidFill>
                <a:latin typeface="Amazon Ember Display"/>
              </a:rPr>
              <a:t>Which two steps should the developer take to meet these requirements? (Select TWO.)</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CloudWatch alarm on the OrderProcessingTime metric with a threshold of 5 seconds, a period of 5 minutes, and the Average statistic. Configure the alarm action to publish to the SNS topic.</a:t>
            </a:r>
          </a:p>
          <a:p>
            <a:pPr marL="342900" indent="-342900">
              <a:spcBef>
                <a:spcPts val="600"/>
              </a:spcBef>
            </a:pPr>
            <a:r>
              <a:rPr sz="1600" b="0">
                <a:solidFill>
                  <a:srgbClr val="232B37"/>
                </a:solidFill>
                <a:latin typeface="Amazon Ember Display"/>
              </a:rPr>
              <a:t>B.  Ensure the application publishes the OrderProcessingTime metric data points with the correct namespace and dimensions using the PutMetricData API.</a:t>
            </a:r>
          </a:p>
          <a:p>
            <a:pPr marL="342900" indent="-342900">
              <a:spcBef>
                <a:spcPts val="600"/>
              </a:spcBef>
            </a:pPr>
            <a:r>
              <a:rPr sz="1600" b="0">
                <a:solidFill>
                  <a:srgbClr val="232B37"/>
                </a:solidFill>
                <a:latin typeface="Amazon Ember Display"/>
              </a:rPr>
              <a:t>C.  Create a CloudWatch Logs metric filter that extracts OrderProcessingTime values from application log entries and creates the custom metric.</a:t>
            </a:r>
          </a:p>
          <a:p>
            <a:pPr marL="342900" indent="-342900">
              <a:spcBef>
                <a:spcPts val="600"/>
              </a:spcBef>
            </a:pPr>
            <a:r>
              <a:rPr sz="1600" b="0">
                <a:solidFill>
                  <a:srgbClr val="232B37"/>
                </a:solidFill>
                <a:latin typeface="Amazon Ember Display"/>
              </a:rPr>
              <a:t>D.  Create an Amazon EventBridge rule that matches CloudWatch alarm state change events. Configure the rule target to invoke the SNS topic.</a:t>
            </a:r>
          </a:p>
          <a:p>
            <a:pPr marL="342900" indent="-342900">
              <a:spcBef>
                <a:spcPts val="600"/>
              </a:spcBef>
            </a:pPr>
            <a:r>
              <a:rPr sz="1600" b="0">
                <a:solidFill>
                  <a:srgbClr val="232B37"/>
                </a:solidFill>
                <a:latin typeface="Amazon Ember Display"/>
              </a:rPr>
              <a:t>E.  Configure CloudWatch to use the Sum statistic with a 1-minute period and set the threshold to 25 seconds.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Alarm when orders run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developer has deployed an application that uses Amazon CloudWatch for monitoring. The application emits a custom metric named OrderProcessingTime for each order. The developer must create a CloudWatch alarm that triggers when the average order processing time exceeds 5 seconds over a 5-minute period. When the alarm triggers, it must send a notification to the operations team through an existing Amazon SNS topic.</a:t>
            </a:r>
          </a:p>
          <a:p>
            <a:r>
              <a:rPr sz="1600" b="1">
                <a:solidFill>
                  <a:srgbClr val="232B37"/>
                </a:solidFill>
                <a:latin typeface="Amazon Ember Display"/>
              </a:rPr>
              <a:t>Which two steps should the developer take to meet these requirements? (Select TWO.)</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CloudWatch alarm on the OrderProcessingTime metric with a threshold of 5 seconds, a period of 5 minutes, and the Average statistic. Configure the alarm action to publish to the SNS topic.</a:t>
            </a:r>
          </a:p>
          <a:p>
            <a:pPr marL="342900" indent="-342900">
              <a:spcBef>
                <a:spcPts val="600"/>
              </a:spcBef>
            </a:pPr>
            <a:r>
              <a:rPr sz="1600" b="0">
                <a:solidFill>
                  <a:srgbClr val="232B37"/>
                </a:solidFill>
                <a:latin typeface="Amazon Ember Display"/>
              </a:rPr>
              <a:t>B.  Ensure the application publishes the OrderProcessingTime metric data points with the correct namespace and dimensions using the PutMetricData API.</a:t>
            </a:r>
          </a:p>
          <a:p>
            <a:pPr marL="342900" indent="-342900">
              <a:spcBef>
                <a:spcPts val="600"/>
              </a:spcBef>
            </a:pPr>
            <a:r>
              <a:rPr sz="1600" b="0">
                <a:solidFill>
                  <a:srgbClr val="232B37"/>
                </a:solidFill>
                <a:latin typeface="Amazon Ember Display"/>
              </a:rPr>
              <a:t>C.  Create a CloudWatch Logs metric filter that extracts OrderProcessingTime values from application log entries and creates the custom metric.</a:t>
            </a:r>
          </a:p>
          <a:p>
            <a:pPr marL="342900" indent="-342900">
              <a:spcBef>
                <a:spcPts val="600"/>
              </a:spcBef>
            </a:pPr>
            <a:r>
              <a:rPr sz="1600" b="0">
                <a:solidFill>
                  <a:srgbClr val="232B37"/>
                </a:solidFill>
                <a:latin typeface="Amazon Ember Display"/>
              </a:rPr>
              <a:t>D.  Create an Amazon EventBridge rule that matches CloudWatch alarm state change events. Configure the rule target to invoke the SNS topic.</a:t>
            </a:r>
          </a:p>
          <a:p>
            <a:pPr marL="342900" indent="-342900">
              <a:spcBef>
                <a:spcPts val="600"/>
              </a:spcBef>
            </a:pPr>
            <a:r>
              <a:rPr sz="1600" b="0">
                <a:solidFill>
                  <a:srgbClr val="232B37"/>
                </a:solidFill>
                <a:latin typeface="Amazon Ember Display"/>
              </a:rPr>
              <a:t>E.  Configure CloudWatch to use the Sum statistic with a 1-minute period and set the threshold to 25 seconds.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Alarm when orders run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developer has deployed an application that uses Amazon CloudWatch for monitoring. The application emits a custom metric named OrderProcessingTime for each order. The developer must create a CloudWatch alarm that triggers when the average order processing time exceeds 5 seconds over a 5-minute period. When the alarm triggers, it must send a notification to the operations team through an existing Amazon SNS topic.</a:t>
            </a:r>
          </a:p>
          <a:p>
            <a:r>
              <a:rPr sz="1600" b="1">
                <a:solidFill>
                  <a:srgbClr val="232B37"/>
                </a:solidFill>
                <a:latin typeface="Amazon Ember Display"/>
              </a:rPr>
              <a:t>Which two steps should the developer take to meet these requirements? (Select TWO.)</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 CloudWatch alarm on the OrderProcessingTime metric with a threshold of 5 seconds, a period of 5 minutes, and the Average statistic. Configure the alarm action to publish to the SNS topic.  [CORRECT]</a:t>
            </a:r>
          </a:p>
          <a:p>
            <a:pPr marL="342900" indent="-342900">
              <a:spcBef>
                <a:spcPts val="600"/>
              </a:spcBef>
            </a:pPr>
            <a:r>
              <a:rPr sz="1600" b="1">
                <a:solidFill>
                  <a:srgbClr val="2E7D32"/>
                </a:solidFill>
                <a:latin typeface="Amazon Ember Display"/>
              </a:rPr>
              <a:t>B.  Ensure the application publishes the OrderProcessingTime metric data points with the correct namespace and dimensions using the PutMetricData API.  [CORRECT]</a:t>
            </a:r>
          </a:p>
          <a:p>
            <a:pPr marL="342900" indent="-342900">
              <a:spcBef>
                <a:spcPts val="600"/>
              </a:spcBef>
            </a:pPr>
            <a:r>
              <a:rPr sz="1600" b="0">
                <a:solidFill>
                  <a:srgbClr val="232B37"/>
                </a:solidFill>
                <a:latin typeface="Amazon Ember Display"/>
              </a:rPr>
              <a:t>C.  Create a CloudWatch Logs metric filter that extracts OrderProcessingTime values from application log entries and creates the custom metric.</a:t>
            </a:r>
          </a:p>
          <a:p>
            <a:pPr marL="342900" indent="-342900">
              <a:spcBef>
                <a:spcPts val="600"/>
              </a:spcBef>
            </a:pPr>
            <a:r>
              <a:rPr sz="1600" b="0">
                <a:solidFill>
                  <a:srgbClr val="232B37"/>
                </a:solidFill>
                <a:latin typeface="Amazon Ember Display"/>
              </a:rPr>
              <a:t>D.  Create an Amazon EventBridge rule that matches CloudWatch alarm state change events. Configure the rule target to invoke the SNS topic.</a:t>
            </a:r>
          </a:p>
          <a:p>
            <a:pPr marL="342900" indent="-342900">
              <a:spcBef>
                <a:spcPts val="600"/>
              </a:spcBef>
            </a:pPr>
            <a:r>
              <a:rPr sz="1600" b="0">
                <a:solidFill>
                  <a:srgbClr val="232B37"/>
                </a:solidFill>
                <a:latin typeface="Amazon Ember Display"/>
              </a:rPr>
              <a:t>E.  Configure CloudWatch to use the Sum statistic with a 1-minute period and set the threshold to 25 seconds.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Alarm when orders run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6521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Using Amazon CloudWatch alarms</a:t>
            </a:r>
          </a:p>
        </p:txBody>
      </p:sp>
      <p:sp>
        <p:nvSpPr>
          <p:cNvPr id="5" name="TextBox 4"/>
          <p:cNvSpPr txBox="1"/>
          <p:nvPr/>
        </p:nvSpPr>
        <p:spPr>
          <a:xfrm>
            <a:off x="612648" y="1136467"/>
            <a:ext cx="82296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ANSWERS ARE A and B</a:t>
            </a:r>
          </a:p>
        </p:txBody>
      </p:sp>
      <p:sp>
        <p:nvSpPr>
          <p:cNvPr id="6" name="TextBox 5"/>
          <p:cNvSpPr txBox="1"/>
          <p:nvPr/>
        </p:nvSpPr>
        <p:spPr>
          <a:xfrm>
            <a:off x="612648" y="1401644"/>
            <a:ext cx="10972800" cy="274320"/>
          </a:xfrm>
          <a:prstGeom prst="rect">
            <a:avLst/>
          </a:prstGeom>
          <a:noFill/>
        </p:spPr>
        <p:txBody>
          <a:bodyPr wrap="square" tIns="9144" bIns="9144" anchor="t">
            <a:noAutofit/>
          </a:bodyPr>
          <a:lstStyle/>
          <a:p>
            <a:pPr algn="l"/>
            <a:r>
              <a:rPr sz="1700" b="1" i="0">
                <a:solidFill>
                  <a:srgbClr val="232B37"/>
                </a:solidFill>
                <a:latin typeface="Amazon Ember Display"/>
              </a:rPr>
              <a:t>Publish the metric, then alarm on its five-minute average</a:t>
            </a:r>
          </a:p>
        </p:txBody>
      </p:sp>
      <p:sp>
        <p:nvSpPr>
          <p:cNvPr id="7" name="Rounded Rectangle 6"/>
          <p:cNvSpPr/>
          <p:nvPr/>
        </p:nvSpPr>
        <p:spPr>
          <a:xfrm>
            <a:off x="612648" y="1739972"/>
            <a:ext cx="10972800" cy="1243584"/>
          </a:xfrm>
          <a:prstGeom prst="roundRect">
            <a:avLst>
              <a:gd name="adj" fmla="val 12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795528" y="1936760"/>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95528" y="1950284"/>
            <a:ext cx="402336" cy="377875"/>
          </a:xfrm>
          <a:prstGeom prst="rect">
            <a:avLst/>
          </a:prstGeom>
          <a:noFill/>
        </p:spPr>
        <p:txBody>
          <a:bodyPr wrap="square" anchor="t">
            <a:noAutofit/>
          </a:bodyPr>
          <a:lstStyle/>
          <a:p>
            <a:pPr algn="ctr"/>
            <a:r>
              <a:rPr sz="1800" b="1" i="0" dirty="0">
                <a:solidFill>
                  <a:srgbClr val="FFFFFF"/>
                </a:solidFill>
                <a:latin typeface="Amazon Ember Display"/>
              </a:rPr>
              <a:t>A</a:t>
            </a:r>
          </a:p>
        </p:txBody>
      </p:sp>
      <p:sp>
        <p:nvSpPr>
          <p:cNvPr id="10" name="TextBox 9"/>
          <p:cNvSpPr txBox="1"/>
          <p:nvPr/>
        </p:nvSpPr>
        <p:spPr>
          <a:xfrm>
            <a:off x="1362456" y="1950284"/>
            <a:ext cx="9966960" cy="377875"/>
          </a:xfrm>
          <a:prstGeom prst="rect">
            <a:avLst/>
          </a:prstGeom>
          <a:noFill/>
        </p:spPr>
        <p:txBody>
          <a:bodyPr wrap="square" anchor="t">
            <a:noAutofit/>
          </a:bodyPr>
          <a:lstStyle/>
          <a:p>
            <a:pPr algn="l"/>
            <a:r>
              <a:rPr sz="1800" b="1" i="0">
                <a:solidFill>
                  <a:srgbClr val="232B37"/>
                </a:solidFill>
                <a:latin typeface="Amazon Ember Display"/>
              </a:rPr>
              <a:t>Alarm: Average statistic, 5-minute period, action to the SNS topic</a:t>
            </a:r>
          </a:p>
        </p:txBody>
      </p:sp>
      <p:sp>
        <p:nvSpPr>
          <p:cNvPr id="11" name="Rounded Rectangle 10"/>
          <p:cNvSpPr/>
          <p:nvPr/>
        </p:nvSpPr>
        <p:spPr>
          <a:xfrm>
            <a:off x="795528" y="2467112"/>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95528" y="2480636"/>
            <a:ext cx="402336" cy="377875"/>
          </a:xfrm>
          <a:prstGeom prst="rect">
            <a:avLst/>
          </a:prstGeom>
          <a:noFill/>
        </p:spPr>
        <p:txBody>
          <a:bodyPr wrap="square" anchor="t">
            <a:noAutofit/>
          </a:bodyPr>
          <a:lstStyle/>
          <a:p>
            <a:pPr algn="ctr"/>
            <a:r>
              <a:rPr sz="1800" b="1" i="0">
                <a:solidFill>
                  <a:srgbClr val="FFFFFF"/>
                </a:solidFill>
                <a:latin typeface="Amazon Ember Display"/>
              </a:rPr>
              <a:t>B</a:t>
            </a:r>
          </a:p>
        </p:txBody>
      </p:sp>
      <p:sp>
        <p:nvSpPr>
          <p:cNvPr id="13" name="TextBox 12"/>
          <p:cNvSpPr txBox="1"/>
          <p:nvPr/>
        </p:nvSpPr>
        <p:spPr>
          <a:xfrm>
            <a:off x="1362456" y="2480636"/>
            <a:ext cx="9966960" cy="377875"/>
          </a:xfrm>
          <a:prstGeom prst="rect">
            <a:avLst/>
          </a:prstGeom>
          <a:noFill/>
        </p:spPr>
        <p:txBody>
          <a:bodyPr wrap="square" anchor="t">
            <a:noAutofit/>
          </a:bodyPr>
          <a:lstStyle/>
          <a:p>
            <a:pPr algn="l"/>
            <a:r>
              <a:rPr sz="1800" b="1" i="0">
                <a:solidFill>
                  <a:srgbClr val="232B37"/>
                </a:solidFill>
                <a:latin typeface="Amazon Ember Display"/>
              </a:rPr>
              <a:t>Publish OrderProcessingTime first with the PutMetricData API</a:t>
            </a:r>
          </a:p>
        </p:txBody>
      </p:sp>
      <p:sp>
        <p:nvSpPr>
          <p:cNvPr id="14" name="TextBox 13"/>
          <p:cNvSpPr txBox="1"/>
          <p:nvPr/>
        </p:nvSpPr>
        <p:spPr>
          <a:xfrm>
            <a:off x="612648" y="3014292"/>
            <a:ext cx="5486400" cy="256032"/>
          </a:xfrm>
          <a:prstGeom prst="rect">
            <a:avLst/>
          </a:prstGeom>
          <a:noFill/>
        </p:spPr>
        <p:txBody>
          <a:bodyPr wrap="square" tIns="9144" bIns="9144" anchor="t">
            <a:noAutofit/>
          </a:bodyPr>
          <a:lstStyle/>
          <a:p>
            <a:pPr algn="l"/>
            <a:r>
              <a:rPr sz="1600" b="1" i="0" dirty="0">
                <a:solidFill>
                  <a:srgbClr val="5A6B7B"/>
                </a:solidFill>
                <a:latin typeface="Amazon Ember Display"/>
              </a:rPr>
              <a:t>RULED OUT</a:t>
            </a:r>
          </a:p>
        </p:txBody>
      </p:sp>
      <p:sp>
        <p:nvSpPr>
          <p:cNvPr id="15" name="Rounded Rectangle 14"/>
          <p:cNvSpPr/>
          <p:nvPr/>
        </p:nvSpPr>
        <p:spPr>
          <a:xfrm>
            <a:off x="612648" y="3299216"/>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399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395036"/>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404180"/>
            <a:ext cx="10186416" cy="361962"/>
          </a:xfrm>
          <a:prstGeom prst="rect">
            <a:avLst/>
          </a:prstGeom>
          <a:noFill/>
        </p:spPr>
        <p:txBody>
          <a:bodyPr wrap="square" anchor="t">
            <a:noAutofit/>
          </a:bodyPr>
          <a:lstStyle/>
          <a:p>
            <a:pPr algn="l"/>
            <a:r>
              <a:rPr sz="1700" b="0" i="0">
                <a:solidFill>
                  <a:srgbClr val="232B37"/>
                </a:solidFill>
                <a:latin typeface="Amazon Ember Display"/>
              </a:rPr>
              <a:t>The metric is emitted directly, not parsed from logs</a:t>
            </a:r>
          </a:p>
        </p:txBody>
      </p:sp>
      <p:sp>
        <p:nvSpPr>
          <p:cNvPr id="19" name="Rounded Rectangle 18"/>
          <p:cNvSpPr/>
          <p:nvPr/>
        </p:nvSpPr>
        <p:spPr>
          <a:xfrm>
            <a:off x="612648" y="3847856"/>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394844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3943676"/>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3952819"/>
            <a:ext cx="10186416" cy="361962"/>
          </a:xfrm>
          <a:prstGeom prst="rect">
            <a:avLst/>
          </a:prstGeom>
          <a:noFill/>
        </p:spPr>
        <p:txBody>
          <a:bodyPr wrap="square" anchor="t">
            <a:noAutofit/>
          </a:bodyPr>
          <a:lstStyle/>
          <a:p>
            <a:pPr algn="l"/>
            <a:r>
              <a:rPr sz="1700" b="0" i="0">
                <a:solidFill>
                  <a:srgbClr val="232B37"/>
                </a:solidFill>
                <a:latin typeface="Amazon Ember Display"/>
              </a:rPr>
              <a:t>The alarm action already notifies SNS without EventBridge</a:t>
            </a:r>
          </a:p>
        </p:txBody>
      </p:sp>
      <p:sp>
        <p:nvSpPr>
          <p:cNvPr id="23" name="Rounded Rectangle 22"/>
          <p:cNvSpPr/>
          <p:nvPr/>
        </p:nvSpPr>
        <p:spPr>
          <a:xfrm>
            <a:off x="612648" y="4396496"/>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758952" y="449708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6656" y="4492316"/>
            <a:ext cx="475488" cy="346049"/>
          </a:xfrm>
          <a:prstGeom prst="rect">
            <a:avLst/>
          </a:prstGeom>
          <a:noFill/>
        </p:spPr>
        <p:txBody>
          <a:bodyPr wrap="square" anchor="t">
            <a:noAutofit/>
          </a:bodyPr>
          <a:lstStyle/>
          <a:p>
            <a:pPr algn="ctr"/>
            <a:r>
              <a:rPr sz="1600" b="1" i="0">
                <a:solidFill>
                  <a:srgbClr val="5A6B7B"/>
                </a:solidFill>
                <a:latin typeface="Amazon Ember Display"/>
              </a:rPr>
              <a:t>E</a:t>
            </a:r>
          </a:p>
        </p:txBody>
      </p:sp>
      <p:sp>
        <p:nvSpPr>
          <p:cNvPr id="26" name="TextBox 25"/>
          <p:cNvSpPr txBox="1"/>
          <p:nvPr/>
        </p:nvSpPr>
        <p:spPr>
          <a:xfrm>
            <a:off x="1216152" y="4501460"/>
            <a:ext cx="10186416" cy="361962"/>
          </a:xfrm>
          <a:prstGeom prst="rect">
            <a:avLst/>
          </a:prstGeom>
          <a:noFill/>
        </p:spPr>
        <p:txBody>
          <a:bodyPr wrap="square" anchor="t">
            <a:noAutofit/>
          </a:bodyPr>
          <a:lstStyle/>
          <a:p>
            <a:pPr algn="l"/>
            <a:r>
              <a:rPr sz="1700" b="0" i="0">
                <a:solidFill>
                  <a:srgbClr val="232B37"/>
                </a:solidFill>
                <a:latin typeface="Amazon Ember Display"/>
              </a:rPr>
              <a:t>Sum over one minute changes what the threshold means</a:t>
            </a:r>
          </a:p>
        </p:txBody>
      </p:sp>
      <p:sp>
        <p:nvSpPr>
          <p:cNvPr id="27" name="Rounded Rectangle 26"/>
          <p:cNvSpPr/>
          <p:nvPr/>
        </p:nvSpPr>
        <p:spPr>
          <a:xfrm>
            <a:off x="612648" y="4929768"/>
            <a:ext cx="10972800" cy="914400"/>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2648" y="4922084"/>
            <a:ext cx="68580" cy="914400"/>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0392" y="519640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30" name="TextBox 29"/>
          <p:cNvSpPr txBox="1"/>
          <p:nvPr/>
        </p:nvSpPr>
        <p:spPr>
          <a:xfrm>
            <a:off x="2487168" y="5031812"/>
            <a:ext cx="8823960" cy="361962"/>
          </a:xfrm>
          <a:prstGeom prst="rect">
            <a:avLst/>
          </a:prstGeom>
          <a:noFill/>
        </p:spPr>
        <p:txBody>
          <a:bodyPr wrap="square" anchor="t">
            <a:noAutofit/>
          </a:bodyPr>
          <a:lstStyle/>
          <a:p>
            <a:pPr algn="l"/>
            <a:r>
              <a:rPr sz="1700" b="1" i="0">
                <a:solidFill>
                  <a:srgbClr val="8F0072"/>
                </a:solidFill>
                <a:latin typeface="Amazon Ember Display"/>
              </a:rPr>
              <a:t>“average order processing time exceeds 5 seconds over a 5-minute period”</a:t>
            </a:r>
          </a:p>
        </p:txBody>
      </p:sp>
      <p:sp>
        <p:nvSpPr>
          <p:cNvPr id="31" name="TextBox 30"/>
          <p:cNvSpPr txBox="1"/>
          <p:nvPr/>
        </p:nvSpPr>
        <p:spPr>
          <a:xfrm>
            <a:off x="2487168" y="5379284"/>
            <a:ext cx="8823960" cy="361962"/>
          </a:xfrm>
          <a:prstGeom prst="rect">
            <a:avLst/>
          </a:prstGeom>
          <a:noFill/>
        </p:spPr>
        <p:txBody>
          <a:bodyPr wrap="square" anchor="t">
            <a:noAutofit/>
          </a:bodyPr>
          <a:lstStyle/>
          <a:p>
            <a:pPr algn="l"/>
            <a:r>
              <a:rPr sz="1700" b="0" i="0">
                <a:solidFill>
                  <a:srgbClr val="232B37"/>
                </a:solidFill>
                <a:latin typeface="Amazon Ember Display"/>
              </a:rPr>
              <a:t>→  An average over a window plus a notification points to an alarm with an SNS action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Cut the hunt when an alarm fires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runs an application that spans several AWS services. The application returns elevated error rates for short periods. When an Amazon CloudWatch alarm enters the ALARM state, an on-call developer searches metrics, logs, and traces across each service by hand to find the cause, which delays recovery. The company wants related signals gathered and probable causes suggested automatically when the alarm triggers.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CloudWatch Logs Insights query that the developer runs against each log group.</a:t>
            </a:r>
          </a:p>
          <a:p>
            <a:pPr marL="342900" indent="-342900">
              <a:spcBef>
                <a:spcPts val="600"/>
              </a:spcBef>
            </a:pPr>
            <a:r>
              <a:rPr sz="1600" b="0">
                <a:solidFill>
                  <a:srgbClr val="232B37"/>
                </a:solidFill>
                <a:latin typeface="Amazon Ember Display"/>
              </a:rPr>
              <a:t>B.  Configure the alarm to publish to a notification topic so the on-call developer is paged.</a:t>
            </a:r>
          </a:p>
          <a:p>
            <a:pPr marL="342900" indent="-342900">
              <a:spcBef>
                <a:spcPts val="600"/>
              </a:spcBef>
            </a:pPr>
            <a:r>
              <a:rPr sz="1600" b="0">
                <a:solidFill>
                  <a:srgbClr val="232B37"/>
                </a:solidFill>
                <a:latin typeface="Amazon Ember Display"/>
              </a:rPr>
              <a:t>C.  Enable AWS X-Ray active tracing so the developer can review the trace map after the alarm.</a:t>
            </a:r>
          </a:p>
          <a:p>
            <a:pPr marL="342900" indent="-342900">
              <a:spcBef>
                <a:spcPts val="600"/>
              </a:spcBef>
            </a:pPr>
            <a:r>
              <a:rPr sz="1600" b="0">
                <a:solidFill>
                  <a:srgbClr val="232B37"/>
                </a:solidFill>
                <a:latin typeface="Amazon Ember Display"/>
              </a:rPr>
              <a:t>D.  Start a CloudWatch investigation from the alarm so that related signals and probable causes are surfaced.</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Cut the hunt when an alarm fires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runs an application that spans several AWS services. The application returns elevated error rates for short periods. When an Amazon CloudWatch alarm enters the ALARM state, an on-call developer searches metrics, logs, and traces across each service by hand to find the cause, which delays recovery. The company wants related signals gathered and probable causes suggested automatically when the alarm triggers.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CloudWatch Logs Insights query that the developer runs against each log group.</a:t>
            </a:r>
          </a:p>
          <a:p>
            <a:pPr marL="342900" indent="-342900">
              <a:spcBef>
                <a:spcPts val="600"/>
              </a:spcBef>
            </a:pPr>
            <a:r>
              <a:rPr sz="1600" b="0">
                <a:solidFill>
                  <a:srgbClr val="232B37"/>
                </a:solidFill>
                <a:latin typeface="Amazon Ember Display"/>
              </a:rPr>
              <a:t>B.  Configure the alarm to publish to a notification topic so the on-call developer is paged.</a:t>
            </a:r>
          </a:p>
          <a:p>
            <a:pPr marL="342900" indent="-342900">
              <a:spcBef>
                <a:spcPts val="600"/>
              </a:spcBef>
            </a:pPr>
            <a:r>
              <a:rPr sz="1600" b="0">
                <a:solidFill>
                  <a:srgbClr val="232B37"/>
                </a:solidFill>
                <a:latin typeface="Amazon Ember Display"/>
              </a:rPr>
              <a:t>C.  Enable AWS X-Ray active tracing so the developer can review the trace map after the alarm.</a:t>
            </a:r>
          </a:p>
          <a:p>
            <a:pPr marL="342900" indent="-342900">
              <a:spcBef>
                <a:spcPts val="600"/>
              </a:spcBef>
            </a:pPr>
            <a:r>
              <a:rPr sz="1600" b="0">
                <a:solidFill>
                  <a:srgbClr val="232B37"/>
                </a:solidFill>
                <a:latin typeface="Amazon Ember Display"/>
              </a:rPr>
              <a:t>D.  Start a CloudWatch investigation from the alarm so that related signals and probable causes are surfaced.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Cut the hunt when an alarm fires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60796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dirty="0">
                <a:solidFill>
                  <a:srgbClr val="232B37"/>
                </a:solidFill>
                <a:latin typeface="Amazon Ember Display"/>
              </a:rPr>
              <a:t>A company runs an application that spans several AWS services. The application returns elevated error rates for short periods. When an Amazon CloudWatch alarm enters the ALARM state, an on-call developer searches metrics, logs, and traces across each service by hand to find the cause, which delays recovery. The company wants related signals gathered and probable causes suggested automatically when the alarm triggers.</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Create a CloudWatch Logs Insights query that the developer runs against each log group.</a:t>
            </a:r>
          </a:p>
          <a:p>
            <a:pPr marL="342900" indent="-342900">
              <a:spcBef>
                <a:spcPts val="600"/>
              </a:spcBef>
            </a:pPr>
            <a:r>
              <a:rPr sz="1600" b="0" dirty="0">
                <a:solidFill>
                  <a:srgbClr val="232B37"/>
                </a:solidFill>
                <a:latin typeface="Amazon Ember Display"/>
              </a:rPr>
              <a:t>B.  Configure the alarm to publish to a notification topic so the on-call developer is paged.</a:t>
            </a:r>
          </a:p>
          <a:p>
            <a:pPr marL="342900" indent="-342900">
              <a:spcBef>
                <a:spcPts val="600"/>
              </a:spcBef>
            </a:pPr>
            <a:r>
              <a:rPr sz="1600" b="0" dirty="0">
                <a:solidFill>
                  <a:srgbClr val="232B37"/>
                </a:solidFill>
                <a:latin typeface="Amazon Ember Display"/>
              </a:rPr>
              <a:t>C.  Enable AWS X-Ray active tracing so the developer can review the trace map after the alarm.</a:t>
            </a:r>
          </a:p>
          <a:p>
            <a:pPr marL="342900" indent="-342900">
              <a:spcBef>
                <a:spcPts val="600"/>
              </a:spcBef>
            </a:pPr>
            <a:r>
              <a:rPr sz="1600" b="1" dirty="0">
                <a:solidFill>
                  <a:srgbClr val="2E7D32"/>
                </a:solidFill>
                <a:latin typeface="Amazon Ember Display"/>
              </a:rPr>
              <a:t>D.  Start a CloudWatch investigation from the alarm so that related signals and probable causes are surfaced.  [CORRECT]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Cut the hunt when an alarm fires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dirty="0">
                <a:solidFill>
                  <a:srgbClr val="5A6B7B"/>
                </a:solidFill>
                <a:latin typeface="Amazon Ember"/>
              </a:rPr>
              <a:t>SOURCE  </a:t>
            </a:r>
            <a:r>
              <a:rPr sz="1200" u="sng" dirty="0">
                <a:solidFill>
                  <a:srgbClr val="0563C1"/>
                </a:solidFill>
                <a:latin typeface="Consolas"/>
                <a:hlinkClick r:id="rId3"/>
              </a:rPr>
              <a:t>docs.aws.amazon.com · Start a CloudWatch investigations from an</a:t>
            </a:r>
            <a:r>
              <a:rPr lang="en-US" sz="1200" u="sng" dirty="0">
                <a:solidFill>
                  <a:srgbClr val="0563C1"/>
                </a:solidFill>
                <a:latin typeface="Consolas"/>
                <a:hlinkClick r:id="rId3"/>
              </a:rPr>
              <a:t> alarm</a:t>
            </a:r>
            <a:endParaRPr sz="1200" u="sng" dirty="0">
              <a:solidFill>
                <a:srgbClr val="0563C1"/>
              </a:solidFill>
              <a:latin typeface="Consolas"/>
              <a:hlinkClick r:id="rId3"/>
            </a:endParaRP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D</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D</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An investigation gathers signals and suggests causes automatically</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A Logs Insights query is still run by hand</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Paging notifies the developer, it gathers nothing</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X-Ray shows traces only, and after the fact</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“related signals gathered and probable causes suggested automatically”</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Auto-correlate signals and suggest causes points to a CloudWatch investigation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Find one customer across messy logs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runs a service on AWS Lambda that writes plain-text log lines to Amazon CloudWatch Logs. When an order fails, an on-call developer must find every log event for one customer identifier, but that identifier appears in a different position in each line. The team must be able to filter log events by customer identifier and by severity, and the logs must continue to go to the same log group.</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retention period of the CloudWatch log group so that more historical log events stay searchable.</a:t>
            </a:r>
          </a:p>
          <a:p>
            <a:pPr marL="342900" indent="-342900">
              <a:spcBef>
                <a:spcPts val="600"/>
              </a:spcBef>
            </a:pPr>
            <a:r>
              <a:rPr sz="1600" b="0">
                <a:solidFill>
                  <a:srgbClr val="232B37"/>
                </a:solidFill>
                <a:latin typeface="Amazon Ember Display"/>
              </a:rPr>
              <a:t>B.  Create a separate CloudWatch log group for each severity level, and write each plain-text line to its group.</a:t>
            </a:r>
          </a:p>
          <a:p>
            <a:pPr marL="342900" indent="-342900">
              <a:spcBef>
                <a:spcPts val="600"/>
              </a:spcBef>
            </a:pPr>
            <a:r>
              <a:rPr sz="1600" b="0">
                <a:solidFill>
                  <a:srgbClr val="232B37"/>
                </a:solidFill>
                <a:latin typeface="Amazon Ember Display"/>
              </a:rPr>
              <a:t>C.  Enable AWS X-Ray active tracing on the function, and review the trace map for the customer's failed orders.</a:t>
            </a:r>
          </a:p>
          <a:p>
            <a:pPr marL="342900" indent="-342900">
              <a:spcBef>
                <a:spcPts val="600"/>
              </a:spcBef>
            </a:pPr>
            <a:r>
              <a:rPr sz="1600" b="0">
                <a:solidFill>
                  <a:srgbClr val="232B37"/>
                </a:solidFill>
                <a:latin typeface="Amazon Ember Display"/>
              </a:rPr>
              <a:t>D.  Emit each log event as a structured JSON object with the customer identifier and the severity as named fields.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Find one customer across messy logs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runs a service on AWS Lambda that writes plain-text log lines to Amazon CloudWatch Logs. When an order fails, an on-call developer must find every log event for one customer identifier, but that identifier appears in a different position in each line. The team must be able to filter log events by customer identifier and by severity, and the logs must continue to go to the same log group.</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retention period of the CloudWatch log group so that more historical log events stay searchable.</a:t>
            </a:r>
          </a:p>
          <a:p>
            <a:pPr marL="342900" indent="-342900">
              <a:spcBef>
                <a:spcPts val="600"/>
              </a:spcBef>
            </a:pPr>
            <a:r>
              <a:rPr sz="1600" b="0">
                <a:solidFill>
                  <a:srgbClr val="232B37"/>
                </a:solidFill>
                <a:latin typeface="Amazon Ember Display"/>
              </a:rPr>
              <a:t>B.  Create a separate CloudWatch log group for each severity level, and write each plain-text line to its group.</a:t>
            </a:r>
          </a:p>
          <a:p>
            <a:pPr marL="342900" indent="-342900">
              <a:spcBef>
                <a:spcPts val="600"/>
              </a:spcBef>
            </a:pPr>
            <a:r>
              <a:rPr sz="1600" b="0">
                <a:solidFill>
                  <a:srgbClr val="232B37"/>
                </a:solidFill>
                <a:latin typeface="Amazon Ember Display"/>
              </a:rPr>
              <a:t>C.  Enable AWS X-Ray active tracing on the function, and review the trace map for the customer's failed orders.</a:t>
            </a:r>
          </a:p>
          <a:p>
            <a:pPr marL="342900" indent="-342900">
              <a:spcBef>
                <a:spcPts val="600"/>
              </a:spcBef>
            </a:pPr>
            <a:r>
              <a:rPr sz="1600" b="0">
                <a:solidFill>
                  <a:srgbClr val="232B37"/>
                </a:solidFill>
                <a:latin typeface="Amazon Ember Display"/>
              </a:rPr>
              <a:t>D.  Emit each log event as a structured JSON object with the customer identifier and the severity as named fields.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Find one customer across messy logs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runs a service on AWS Lambda that writes plain-text log lines to Amazon CloudWatch Logs. When an order fails, an on-call developer must find every log event for one customer identifier, but that identifier appears in a different position in each line. The team must be able to filter log events by customer identifier and by severity, and the logs must continue to go to the same log group.</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retention period of the CloudWatch log group so that more historical log events stay searchable.</a:t>
            </a:r>
          </a:p>
          <a:p>
            <a:pPr marL="342900" indent="-342900">
              <a:spcBef>
                <a:spcPts val="600"/>
              </a:spcBef>
            </a:pPr>
            <a:r>
              <a:rPr sz="1600" b="0">
                <a:solidFill>
                  <a:srgbClr val="232B37"/>
                </a:solidFill>
                <a:latin typeface="Amazon Ember Display"/>
              </a:rPr>
              <a:t>B.  Create a separate CloudWatch log group for each severity level, and write each plain-text line to its group.</a:t>
            </a:r>
          </a:p>
          <a:p>
            <a:pPr marL="342900" indent="-342900">
              <a:spcBef>
                <a:spcPts val="600"/>
              </a:spcBef>
            </a:pPr>
            <a:r>
              <a:rPr sz="1600" b="0">
                <a:solidFill>
                  <a:srgbClr val="232B37"/>
                </a:solidFill>
                <a:latin typeface="Amazon Ember Display"/>
              </a:rPr>
              <a:t>C.  Enable AWS X-Ray active tracing on the function, and review the trace map for the customer's failed orders.</a:t>
            </a:r>
          </a:p>
          <a:p>
            <a:pPr marL="342900" indent="-342900">
              <a:spcBef>
                <a:spcPts val="600"/>
              </a:spcBef>
            </a:pPr>
            <a:r>
              <a:rPr sz="1600" b="1">
                <a:solidFill>
                  <a:srgbClr val="2E7D32"/>
                </a:solidFill>
                <a:latin typeface="Amazon Ember Display"/>
              </a:rPr>
              <a:t>D.  Emit each log event as a structured JSON object with the customer identifier and the severity as named fields.  [CORRECT]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Find one customer across messy logs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Supported logs and discovered fields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D</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D</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Named JSON fields let you filter by any value</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Longer retention keeps lines, it does not filter fields</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Splitting by severity breaks the single log group</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X-Ray traces requests, it does not filter log fields</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“filter log events by customer identifier and by severity”</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Filter by a field regardless of position points to structured JSON logs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Coming up: Week 4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371600"/>
            <a:ext cx="6181344" cy="2148839"/>
          </a:xfrm>
          <a:prstGeom prst="roundRect">
            <a:avLst>
              <a:gd name="adj" fmla="val 50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517904"/>
            <a:ext cx="5815583" cy="374904"/>
          </a:xfrm>
          <a:prstGeom prst="rect">
            <a:avLst/>
          </a:prstGeom>
          <a:noFill/>
        </p:spPr>
        <p:txBody>
          <a:bodyPr wrap="square" anchor="t">
            <a:noAutofit/>
          </a:bodyPr>
          <a:lstStyle/>
          <a:p>
            <a:pPr algn="ctr"/>
            <a:r>
              <a:rPr sz="1800" b="1" i="0" dirty="0">
                <a:solidFill>
                  <a:srgbClr val="8F0072"/>
                </a:solidFill>
                <a:latin typeface="Amazon Ember Display"/>
              </a:rPr>
              <a:t>Learning Plan courses</a:t>
            </a:r>
          </a:p>
        </p:txBody>
      </p:sp>
      <p:sp>
        <p:nvSpPr>
          <p:cNvPr id="6" name="Rectangle 5"/>
          <p:cNvSpPr/>
          <p:nvPr/>
        </p:nvSpPr>
        <p:spPr>
          <a:xfrm>
            <a:off x="795528" y="1856231"/>
            <a:ext cx="5815583" cy="36576"/>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95528" y="1947672"/>
            <a:ext cx="5815583"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41832" y="2002536"/>
            <a:ext cx="5522976" cy="347472"/>
          </a:xfrm>
          <a:prstGeom prst="rect">
            <a:avLst/>
          </a:prstGeom>
          <a:noFill/>
        </p:spPr>
        <p:txBody>
          <a:bodyPr wrap="square" anchor="t">
            <a:noAutofit/>
          </a:bodyPr>
          <a:lstStyle/>
          <a:p>
            <a:pPr algn="l"/>
            <a:r>
              <a:rPr sz="1600" b="0" i="0">
                <a:solidFill>
                  <a:srgbClr val="232B37"/>
                </a:solidFill>
                <a:latin typeface="Amazon Ember Display"/>
              </a:rPr>
              <a:t>Getting Started with AWS CloudFormation</a:t>
            </a:r>
          </a:p>
        </p:txBody>
      </p:sp>
      <p:sp>
        <p:nvSpPr>
          <p:cNvPr id="9" name="Rounded Rectangle 8"/>
          <p:cNvSpPr/>
          <p:nvPr/>
        </p:nvSpPr>
        <p:spPr>
          <a:xfrm>
            <a:off x="795528" y="2331720"/>
            <a:ext cx="5815583"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832" y="2386584"/>
            <a:ext cx="5522976" cy="347472"/>
          </a:xfrm>
          <a:prstGeom prst="rect">
            <a:avLst/>
          </a:prstGeom>
          <a:noFill/>
        </p:spPr>
        <p:txBody>
          <a:bodyPr wrap="square" anchor="t">
            <a:noAutofit/>
          </a:bodyPr>
          <a:lstStyle/>
          <a:p>
            <a:pPr algn="l"/>
            <a:r>
              <a:rPr sz="1600" b="0" i="0">
                <a:solidFill>
                  <a:srgbClr val="232B37"/>
                </a:solidFill>
                <a:latin typeface="Amazon Ember Display"/>
              </a:rPr>
              <a:t>Deploying Serverless Applications</a:t>
            </a:r>
          </a:p>
        </p:txBody>
      </p:sp>
      <p:sp>
        <p:nvSpPr>
          <p:cNvPr id="11" name="Rounded Rectangle 10"/>
          <p:cNvSpPr/>
          <p:nvPr/>
        </p:nvSpPr>
        <p:spPr>
          <a:xfrm>
            <a:off x="795528" y="2715768"/>
            <a:ext cx="5815583" cy="65836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 y="2779775"/>
            <a:ext cx="5522976" cy="603504"/>
          </a:xfrm>
          <a:prstGeom prst="rect">
            <a:avLst/>
          </a:prstGeom>
          <a:noFill/>
        </p:spPr>
        <p:txBody>
          <a:bodyPr wrap="square" anchor="t">
            <a:noAutofit/>
          </a:bodyPr>
          <a:lstStyle/>
          <a:p>
            <a:pPr algn="l"/>
            <a:r>
              <a:rPr sz="1600" b="0" i="0">
                <a:solidFill>
                  <a:srgbClr val="232B37"/>
                </a:solidFill>
                <a:latin typeface="Amazon Ember Display"/>
              </a:rPr>
              <a:t>Deep Dive with Security: AWS Identity and Access Management (IAM)</a:t>
            </a:r>
          </a:p>
        </p:txBody>
      </p:sp>
      <p:sp>
        <p:nvSpPr>
          <p:cNvPr id="22" name="ComingUpCardR"/>
          <p:cNvSpPr/>
          <p:nvPr/>
        </p:nvSpPr>
        <p:spPr>
          <a:xfrm>
            <a:off x="7013448" y="1371600"/>
            <a:ext cx="4572000" cy="2148839"/>
          </a:xfrm>
          <a:prstGeom prst="roundRect">
            <a:avLst>
              <a:gd name="adj" fmla="val 50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96328" y="1517904"/>
            <a:ext cx="4206240" cy="374904"/>
          </a:xfrm>
          <a:prstGeom prst="rect">
            <a:avLst/>
          </a:prstGeom>
          <a:noFill/>
        </p:spPr>
        <p:txBody>
          <a:bodyPr wrap="square" anchor="t">
            <a:noAutofit/>
          </a:bodyPr>
          <a:lstStyle/>
          <a:p>
            <a:pPr algn="ctr"/>
            <a:r>
              <a:rPr sz="1800" b="1" i="0" dirty="0">
                <a:solidFill>
                  <a:srgbClr val="8F0072"/>
                </a:solidFill>
                <a:latin typeface="Amazon Ember Display"/>
              </a:rPr>
              <a:t>Optional Exam Prep Plan</a:t>
            </a:r>
          </a:p>
        </p:txBody>
      </p:sp>
      <p:sp>
        <p:nvSpPr>
          <p:cNvPr id="14" name="Rectangle 13"/>
          <p:cNvSpPr/>
          <p:nvPr/>
        </p:nvSpPr>
        <p:spPr>
          <a:xfrm>
            <a:off x="7196328" y="1856231"/>
            <a:ext cx="4206240" cy="36576"/>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196328" y="1947672"/>
            <a:ext cx="4206240" cy="65836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42631" y="2011679"/>
            <a:ext cx="3913632" cy="603504"/>
          </a:xfrm>
          <a:prstGeom prst="rect">
            <a:avLst/>
          </a:prstGeom>
          <a:noFill/>
        </p:spPr>
        <p:txBody>
          <a:bodyPr wrap="square" anchor="t">
            <a:noAutofit/>
          </a:bodyPr>
          <a:lstStyle/>
          <a:p>
            <a:pPr algn="l"/>
            <a:r>
              <a:rPr sz="1600" b="0" i="0">
                <a:solidFill>
                  <a:srgbClr val="232B37"/>
                </a:solidFill>
                <a:latin typeface="Amazon Ember Display"/>
              </a:rPr>
              <a:t>Continue: Cloud Quest: Serverless Developer*</a:t>
            </a:r>
          </a:p>
        </p:txBody>
      </p:sp>
      <p:sp>
        <p:nvSpPr>
          <p:cNvPr id="17" name="Rounded Rectangle 16"/>
          <p:cNvSpPr/>
          <p:nvPr/>
        </p:nvSpPr>
        <p:spPr>
          <a:xfrm>
            <a:off x="7196328" y="2606039"/>
            <a:ext cx="4206240"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42631" y="2660903"/>
            <a:ext cx="3913632" cy="347472"/>
          </a:xfrm>
          <a:prstGeom prst="rect">
            <a:avLst/>
          </a:prstGeom>
          <a:noFill/>
        </p:spPr>
        <p:txBody>
          <a:bodyPr wrap="square" anchor="t">
            <a:noAutofit/>
          </a:bodyPr>
          <a:lstStyle/>
          <a:p>
            <a:pPr algn="l"/>
            <a:r>
              <a:rPr sz="1600" b="0" i="0">
                <a:solidFill>
                  <a:srgbClr val="232B37"/>
                </a:solidFill>
                <a:latin typeface="Amazon Ember Display"/>
              </a:rPr>
              <a:t>Complete: Domain 4 review</a:t>
            </a:r>
          </a:p>
        </p:txBody>
      </p:sp>
      <p:sp>
        <p:nvSpPr>
          <p:cNvPr id="19" name="Rounded Rectangle 18"/>
          <p:cNvSpPr/>
          <p:nvPr/>
        </p:nvSpPr>
        <p:spPr>
          <a:xfrm>
            <a:off x="7196328" y="2990087"/>
            <a:ext cx="4206240"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342631" y="3044951"/>
            <a:ext cx="3913632" cy="347472"/>
          </a:xfrm>
          <a:prstGeom prst="rect">
            <a:avLst/>
          </a:prstGeom>
          <a:noFill/>
        </p:spPr>
        <p:txBody>
          <a:bodyPr wrap="square" anchor="t">
            <a:noAutofit/>
          </a:bodyPr>
          <a:lstStyle/>
          <a:p>
            <a:pPr algn="l"/>
            <a:r>
              <a:rPr sz="1600" b="0" i="0">
                <a:solidFill>
                  <a:srgbClr val="232B37"/>
                </a:solidFill>
                <a:latin typeface="Amazon Ember Display"/>
              </a:rPr>
              <a:t>Complete: Domain 4 practice*</a:t>
            </a:r>
          </a:p>
        </p:txBody>
      </p:sp>
      <p:sp>
        <p:nvSpPr>
          <p:cNvPr id="21" name="TextBox 20"/>
          <p:cNvSpPr txBox="1"/>
          <p:nvPr/>
        </p:nvSpPr>
        <p:spPr>
          <a:xfrm>
            <a:off x="612648" y="3611879"/>
            <a:ext cx="10972800" cy="346049"/>
          </a:xfrm>
          <a:prstGeom prst="rect">
            <a:avLst/>
          </a:prstGeom>
          <a:noFill/>
        </p:spPr>
        <p:txBody>
          <a:bodyPr wrap="square" anchor="ctr">
            <a:noAutofit/>
          </a:bodyPr>
          <a:lstStyle/>
          <a:p>
            <a:pPr algn="l"/>
            <a:r>
              <a:rPr sz="1600" b="0" i="0">
                <a:solidFill>
                  <a:srgbClr val="5A6B7B"/>
                </a:solidFill>
                <a:latin typeface="Amazon Ember Display"/>
              </a:rPr>
              <a:t>* Requires an AWS Skill Builder subscription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Q&amp;A time</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QUESTIONS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Thank you for joining!</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SEE YOU NEXT WEEK</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Appendix -- DVA-C02 reference</a:t>
            </a:r>
          </a:p>
        </p:txBody>
      </p:sp>
      <p:sp>
        <p:nvSpPr>
          <p:cNvPr id="3" name="Text Placeholder 2"/>
          <p:cNvSpPr>
            <a:spLocks noGrp="1"/>
          </p:cNvSpPr>
          <p:nvPr>
            <p:ph type="body" sz="quarter" idx="11"/>
          </p:nvPr>
        </p:nvSpPr>
        <p:spPr>
          <a:xfrm>
            <a:off x="322916" y="2434551"/>
            <a:ext cx="3695166" cy="377875"/>
          </a:xfrm>
        </p:spPr>
        <p:txBody>
          <a:bodyPr/>
          <a:lstStyle/>
          <a:p>
            <a:r>
              <a:rPr sz="1800" b="1">
                <a:solidFill>
                  <a:srgbClr val="FF57E9"/>
                </a:solidFill>
                <a:latin typeface="Amazon Ember Display"/>
              </a:rPr>
              <a:t>SELF-STUDY REFERENCE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How C02 and C03 differ for this week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Domain weightings: C02 to C03</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Development 32% to 30%</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Security 26%, unchanged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Testing and Deployment 24% to 22%</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346049"/>
          </a:xfrm>
          <a:prstGeom prst="rect">
            <a:avLst/>
          </a:prstGeom>
          <a:noFill/>
        </p:spPr>
        <p:txBody>
          <a:bodyPr wrap="square" anchor="t">
            <a:noAutofit/>
          </a:bodyPr>
          <a:lstStyle/>
          <a:p>
            <a:pPr algn="l"/>
            <a:r>
              <a:rPr sz="1600" b="1" i="0">
                <a:solidFill>
                  <a:srgbClr val="232B37"/>
                </a:solidFill>
                <a:latin typeface="Amazon Ember Display"/>
              </a:rPr>
              <a:t>Troubleshooting 18% to 22%</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Consolidated this week</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Observability: 8 skills to 5</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Nothing moved between domains</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AWS AppSync is on the C02 exam</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346049"/>
          </a:xfrm>
          <a:prstGeom prst="rect">
            <a:avLst/>
          </a:prstGeom>
          <a:noFill/>
        </p:spPr>
        <p:txBody>
          <a:bodyPr wrap="square" anchor="t">
            <a:noAutofit/>
          </a:bodyPr>
          <a:lstStyle/>
          <a:p>
            <a:pPr algn="l"/>
            <a:r>
              <a:rPr sz="1600" b="1" i="0">
                <a:solidFill>
                  <a:srgbClr val="232B37"/>
                </a:solidFill>
                <a:latin typeface="Amazon Ember Display"/>
              </a:rPr>
              <a:t>Core services serve both exams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What a DVA-C02 candidate needs here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C03-only here -- skip for C02</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Nothing here is C03-only</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Every week-3 service is on both exams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SQS, SNS, EventBridge, ElastiCache</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346049"/>
          </a:xfrm>
          <a:prstGeom prst="rect">
            <a:avLst/>
          </a:prstGeom>
          <a:noFill/>
        </p:spPr>
        <p:txBody>
          <a:bodyPr wrap="square" anchor="t">
            <a:noAutofit/>
          </a:bodyPr>
          <a:lstStyle/>
          <a:p>
            <a:pPr algn="l"/>
            <a:r>
              <a:rPr sz="1600" b="1" i="0">
                <a:solidFill>
                  <a:srgbClr val="232B37"/>
                </a:solidFill>
                <a:latin typeface="Amazon Ember Display"/>
              </a:rPr>
              <a:t>Cognito, CloudWatch, CloudTrail</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Needed for C02</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AWS AppSync -- taught this week</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In the C02 in-scope list</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Not taught in this C03 deck</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346049"/>
          </a:xfrm>
          <a:prstGeom prst="rect">
            <a:avLst/>
          </a:prstGeom>
          <a:noFill/>
        </p:spPr>
        <p:txBody>
          <a:bodyPr wrap="square" anchor="t">
            <a:noAutofit/>
          </a:bodyPr>
          <a:lstStyle/>
          <a:p>
            <a:pPr algn="l"/>
            <a:r>
              <a:rPr sz="1600" b="1" i="0">
                <a:solidFill>
                  <a:srgbClr val="232B37"/>
                </a:solidFill>
                <a:latin typeface="Amazon Ember Display"/>
              </a:rPr>
              <a:t>Everything else serves both exams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0563C1"/>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 Default 2020 Template_Light</Template>
  <TotalTime>18422</TotalTime>
  <Words>19349</Words>
  <Application>Microsoft Office PowerPoint</Application>
  <PresentationFormat>Widescreen</PresentationFormat>
  <Paragraphs>1145</Paragraphs>
  <Slides>58</Slides>
  <Notes>58</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Amazon Ember</vt:lpstr>
      <vt:lpstr>Amazon Ember Display</vt:lpstr>
      <vt:lpstr>Amazon Ember Light</vt:lpstr>
      <vt:lpstr>Amazon Ember Mono</vt:lpstr>
      <vt:lpstr>Amazon Ember Thin</vt:lpstr>
      <vt:lpstr>Arial</vt:lpstr>
      <vt:lpstr>Calibri</vt:lpstr>
      <vt:lpstr>Consolas</vt:lpstr>
      <vt:lpstr>Menlo</vt:lpstr>
      <vt:lpstr>Office Theme</vt:lpstr>
      <vt:lpstr>PowerPoint Presentation</vt:lpstr>
      <vt:lpstr>PowerPoint Presentation</vt:lpstr>
      <vt:lpstr>Content Review — Session 3</vt:lpstr>
      <vt:lpstr>Event check-in</vt:lpstr>
      <vt:lpstr>Week 3 digital training</vt:lpstr>
      <vt:lpstr>Today's focus: Development with AWS Services</vt:lpstr>
      <vt:lpstr>Your five weeks at a glance</vt:lpstr>
      <vt:lpstr>How do services stay decoupled?</vt:lpstr>
      <vt:lpstr>Two jobs: buffer the work, or route the event</vt:lpstr>
      <vt:lpstr>A dead-letter queue catches failing messages</vt:lpstr>
      <vt:lpstr>Standard scales throughput, FIFO preserves order</vt:lpstr>
      <vt:lpstr>A topic pushes one message to every subscriber</vt:lpstr>
      <vt:lpstr>EventBridge routes on the content of an event</vt:lpstr>
      <vt:lpstr>Working backwards: one message, too many queues</vt:lpstr>
      <vt:lpstr>When is a cache the right call?</vt:lpstr>
      <vt:lpstr>ElastiCache is managed, in-memory caching</vt:lpstr>
      <vt:lpstr>Memcached is simple, Redis adds data structures</vt:lpstr>
      <vt:lpstr>Lazy loading fills on read, write-through on write</vt:lpstr>
      <vt:lpstr>How do users sign in and get access?</vt:lpstr>
      <vt:lpstr>Cognito handles sign-in and AWS access</vt:lpstr>
      <vt:lpstr>Sign in to a user pool, then access AWS services</vt:lpstr>
      <vt:lpstr>How do you see what your app does?</vt:lpstr>
      <vt:lpstr>CloudTrail logs who acted, CloudWatch how it runs</vt:lpstr>
      <vt:lpstr>Reading a CloudTrail management event</vt:lpstr>
      <vt:lpstr>A log group holds streams, a stream holds events</vt:lpstr>
      <vt:lpstr>A metric crosses a threshold and the alarm acts</vt:lpstr>
      <vt:lpstr>Working backwards: spend changed in one click</vt:lpstr>
      <vt:lpstr>Apply what you've learned</vt:lpstr>
      <vt:lpstr>Question 11: One event, three independent actions</vt:lpstr>
      <vt:lpstr>Question 11: One event, three independent actions</vt:lpstr>
      <vt:lpstr>Question 11: One event, three independent actions</vt:lpstr>
      <vt:lpstr>Question 11: One event, three independent actions</vt:lpstr>
      <vt:lpstr>Question 12: Cache a catalog that updates hourly</vt:lpstr>
      <vt:lpstr>Question 12: Cache a catalog that updates hourly</vt:lpstr>
      <vt:lpstr>Question 12: Cache a catalog that updates hourly</vt:lpstr>
      <vt:lpstr>Question 12: Cache a catalog that updates hourly</vt:lpstr>
      <vt:lpstr>Question 13: Sign in, then reach S3 as the user</vt:lpstr>
      <vt:lpstr>Question 13: Sign in, then reach S3 as the user</vt:lpstr>
      <vt:lpstr>Question 13: Sign in, then reach S3 as the user</vt:lpstr>
      <vt:lpstr>Question 13: Sign in, then reach S3 as the user</vt:lpstr>
      <vt:lpstr>Question 14: Alarm when orders run slow</vt:lpstr>
      <vt:lpstr>Question 14: Alarm when orders run slow</vt:lpstr>
      <vt:lpstr>Question 14: Alarm when orders run slow</vt:lpstr>
      <vt:lpstr>Question 14: Alarm when orders run slow</vt:lpstr>
      <vt:lpstr>Question 29: Cut the hunt when an alarm fires</vt:lpstr>
      <vt:lpstr>Question 29: Cut the hunt when an alarm fires</vt:lpstr>
      <vt:lpstr>Question 29: Cut the hunt when an alarm fires</vt:lpstr>
      <vt:lpstr>Question 29: Cut the hunt when an alarm fires</vt:lpstr>
      <vt:lpstr>Question 33: Find one customer across messy logs</vt:lpstr>
      <vt:lpstr>Question 33: Find one customer across messy logs</vt:lpstr>
      <vt:lpstr>Question 33: Find one customer across messy logs</vt:lpstr>
      <vt:lpstr>Question 33: Find one customer across messy logs</vt:lpstr>
      <vt:lpstr>Coming up: Week 4 digital training</vt:lpstr>
      <vt:lpstr>Q&amp;A time</vt:lpstr>
      <vt:lpstr>Thank you for joining!</vt:lpstr>
      <vt:lpstr>Appendix -- DVA-C02 reference</vt:lpstr>
      <vt:lpstr>How C02 and C03 differ for this week</vt:lpstr>
      <vt:lpstr>What a DVA-C02 candidate needs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helcreig@amazon.com</dc:creator>
  <cp:lastModifiedBy>Smith, Brady</cp:lastModifiedBy>
  <cp:revision>300</cp:revision>
  <dcterms:created xsi:type="dcterms:W3CDTF">2021-08-17T14:22:37Z</dcterms:created>
  <dcterms:modified xsi:type="dcterms:W3CDTF">2026-09-09T04:23:15Z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2025-06-19T22:56:54Z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566bbf1c-001d-4d3d-b602-dd3bc6ae8cee</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